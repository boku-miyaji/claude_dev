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41_CE4A1EC4.xml" ContentType="application/vnd.ms-powerpoint.comments+xml"/>
  <Override PartName="/ppt/notesSlides/notesSlide10.xml" ContentType="application/vnd.openxmlformats-officedocument.presentationml.notesSlide+xml"/>
  <Override PartName="/ppt/comments/modernComment_150_5F270C0B.xml" ContentType="application/vnd.ms-powerpoint.comments+xml"/>
  <Override PartName="/ppt/notesSlides/notesSlide11.xml" ContentType="application/vnd.openxmlformats-officedocument.presentationml.notesSlide+xml"/>
  <Override PartName="/ppt/comments/modernComment_160_3DAEA38.xml" ContentType="application/vnd.ms-powerpoint.comments+xml"/>
  <Override PartName="/ppt/notesSlides/notesSlide12.xml" ContentType="application/vnd.openxmlformats-officedocument.presentationml.notesSlide+xml"/>
  <Override PartName="/ppt/comments/modernComment_15D_6C0D438.xml" ContentType="application/vnd.ms-powerpoint.comments+xml"/>
  <Override PartName="/ppt/notesSlides/notesSlide13.xml" ContentType="application/vnd.openxmlformats-officedocument.presentationml.notesSlide+xml"/>
  <Override PartName="/ppt/comments/modernComment_15E_4D2AF363.xml" ContentType="application/vnd.ms-powerpoint.comments+xml"/>
  <Override PartName="/ppt/notesSlides/notesSlide14.xml" ContentType="application/vnd.openxmlformats-officedocument.presentationml.notesSlide+xml"/>
  <Override PartName="/ppt/comments/modernComment_15F_C78AF61C.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Lst>
  <p:notesMasterIdLst>
    <p:notesMasterId r:id="rId37"/>
  </p:notesMasterIdLst>
  <p:sldIdLst>
    <p:sldId id="257" r:id="rId3"/>
    <p:sldId id="288" r:id="rId4"/>
    <p:sldId id="289" r:id="rId5"/>
    <p:sldId id="260" r:id="rId6"/>
    <p:sldId id="261" r:id="rId7"/>
    <p:sldId id="262" r:id="rId8"/>
    <p:sldId id="263" r:id="rId9"/>
    <p:sldId id="264" r:id="rId10"/>
    <p:sldId id="321" r:id="rId11"/>
    <p:sldId id="336" r:id="rId12"/>
    <p:sldId id="352" r:id="rId13"/>
    <p:sldId id="349" r:id="rId14"/>
    <p:sldId id="350" r:id="rId15"/>
    <p:sldId id="351" r:id="rId16"/>
    <p:sldId id="348" r:id="rId17"/>
    <p:sldId id="301"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80" r:id="rId31"/>
    <p:sldId id="281" r:id="rId32"/>
    <p:sldId id="282" r:id="rId33"/>
    <p:sldId id="283" r:id="rId34"/>
    <p:sldId id="284" r:id="rId35"/>
    <p:sldId id="285" r:id="rId36"/>
  </p:sldIdLst>
  <p:sldSz cx="9144000" cy="5143500" type="screen16x9"/>
  <p:notesSz cx="6858000" cy="9144000"/>
  <p:embeddedFontLst>
    <p:embeddedFont>
      <p:font typeface="Century Gothic" panose="020B0502020202020204" pitchFamily="34" charset="0"/>
      <p:regular r:id="rId38"/>
      <p:bold r:id="rId39"/>
      <p:italic r:id="rId40"/>
      <p:boldItalic r:id="rId41"/>
    </p:embeddedFont>
    <p:embeddedFont>
      <p:font typeface="游ゴシック" panose="020B0400000000000000" pitchFamily="50" charset="-128"/>
      <p:regular r:id="rId42"/>
      <p:bold r:id="rId43"/>
    </p:embeddedFont>
    <p:embeddedFont>
      <p:font typeface="游ゴシック" panose="020B0400000000000000" pitchFamily="50" charset="-128"/>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h+I9JMdcJOaLrXeBs4jpMg60mPL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03C3AB-DF2B-5B23-888C-119B8DA16063}" name="yoshihisa_kawada" initials="佳川" userId="S::yoshihisa.kawada@acesinc.co.jp::106f6240-58c8-45c1-a9c3-3c5b0ecfb7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565C0"/>
    <a:srgbClr val="3A7D44"/>
    <a:srgbClr val="333333"/>
    <a:srgbClr val="2C3E50"/>
    <a:srgbClr val="5555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0366FA-57FC-433F-9D8C-4C9D911C8FC5}">
  <a:tblStyle styleId="{230366FA-57FC-433F-9D8C-4C9D911C8FC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1F8A93-CA79-4AF6-B420-68E9A51CCC31}"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D0CD847-4B11-42B2-8B25-F69DAA7BF958}"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6"/>
    <p:restoredTop sz="94663"/>
  </p:normalViewPr>
  <p:slideViewPr>
    <p:cSldViewPr snapToGrid="0">
      <p:cViewPr>
        <p:scale>
          <a:sx n="125" d="100"/>
          <a:sy n="125" d="100"/>
        </p:scale>
        <p:origin x="852" y="3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s>
</file>

<file path=ppt/comments/modernComment_15D_6C0D438.xml><?xml version="1.0" encoding="utf-8"?>
<p188:cmLst xmlns:a="http://schemas.openxmlformats.org/drawingml/2006/main" xmlns:r="http://schemas.openxmlformats.org/officeDocument/2006/relationships" xmlns:p188="http://schemas.microsoft.com/office/powerpoint/2018/8/main">
  <p188:cm id="{F3819095-86B7-4AAD-88BC-25C1BAEBD147}" authorId="{2D03C3AB-DF2B-5B23-888C-119B8DA16063}" created="2026-04-10T11:09:44.666">
    <pc:sldMkLst xmlns:pc="http://schemas.microsoft.com/office/powerpoint/2013/main/command">
      <pc:docMk/>
      <pc:sldMk cId="113300536" sldId="349"/>
    </pc:sldMkLst>
    <p188:txBody>
      <a:bodyPr/>
      <a:lstStyle/>
      <a:p>
        <a:r>
          <a:rPr lang="ja-JP" altLang="en-US"/>
          <a:t>[4/10追記]RFPの評価観点でRFI回答を評価：移行確実性の比較</a:t>
        </a:r>
      </a:p>
    </p188:txBody>
  </p188:cm>
</p188:cmLst>
</file>

<file path=ppt/comments/modernComment_15E_4D2AF363.xml><?xml version="1.0" encoding="utf-8"?>
<p188:cmLst xmlns:a="http://schemas.openxmlformats.org/drawingml/2006/main" xmlns:r="http://schemas.openxmlformats.org/officeDocument/2006/relationships" xmlns:p188="http://schemas.microsoft.com/office/powerpoint/2018/8/main">
  <p188:cm id="{F1BBFE78-9871-474B-8FFA-4544E7D9BD32}" authorId="{2D03C3AB-DF2B-5B23-888C-119B8DA16063}" created="2026-04-10T11:10:09.013">
    <pc:sldMkLst xmlns:pc="http://schemas.microsoft.com/office/powerpoint/2013/main/command">
      <pc:docMk/>
      <pc:sldMk cId="1294660451" sldId="350"/>
    </pc:sldMkLst>
    <p188:txBody>
      <a:bodyPr/>
      <a:lstStyle/>
      <a:p>
        <a:r>
          <a:rPr lang="ja-JP" altLang="en-US"/>
          <a:t>4/10追記]RFPの評価観点でRFI回答を評価：運用・ガバナンスの比較</a:t>
        </a:r>
      </a:p>
    </p188:txBody>
  </p188:cm>
</p188:cmLst>
</file>

<file path=ppt/comments/modernComment_15F_C78AF61C.xml><?xml version="1.0" encoding="utf-8"?>
<p188:cmLst xmlns:a="http://schemas.openxmlformats.org/drawingml/2006/main" xmlns:r="http://schemas.openxmlformats.org/officeDocument/2006/relationships" xmlns:p188="http://schemas.microsoft.com/office/powerpoint/2018/8/main">
  <p188:cm id="{F9731645-7BE7-4791-988C-C8A7D5D92AC0}" authorId="{2D03C3AB-DF2B-5B23-888C-119B8DA16063}" created="2026-04-10T11:10:18.585">
    <pc:sldMkLst xmlns:pc="http://schemas.microsoft.com/office/powerpoint/2013/main/command">
      <pc:docMk/>
      <pc:sldMk cId="3347772956" sldId="351"/>
    </pc:sldMkLst>
    <p188:txBody>
      <a:bodyPr/>
      <a:lstStyle/>
      <a:p>
        <a:r>
          <a:rPr lang="ja-JP" altLang="en-US"/>
          <a:t>4/10追記]RFPの評価観点でRFI回答を評価：拡張性の比較</a:t>
        </a:r>
      </a:p>
    </p188:txBody>
  </p188:cm>
</p188:cmLst>
</file>

<file path=ppt/comments/modernComment_141_CE4A1EC4.xml><?xml version="1.0" encoding="utf-8"?>
<p188:cmLst xmlns:a="http://schemas.openxmlformats.org/drawingml/2006/main" xmlns:r="http://schemas.openxmlformats.org/officeDocument/2006/relationships" xmlns:p188="http://schemas.microsoft.com/office/powerpoint/2018/8/main">
  <p188:cm id="{8877BFD6-A421-437A-94A3-E062777629D3}" authorId="{2D03C3AB-DF2B-5B23-888C-119B8DA16063}" created="2026-04-10T11:08:36.768">
    <ac:txMkLst xmlns:ac="http://schemas.microsoft.com/office/drawing/2013/main/command">
      <pc:docMk xmlns:pc="http://schemas.microsoft.com/office/powerpoint/2013/main/command"/>
      <pc:sldMk xmlns:pc="http://schemas.microsoft.com/office/powerpoint/2013/main/command" cId="3460964036" sldId="321"/>
      <ac:spMk id="247" creationId="{B1EB1356-E490-9B62-8DEB-047C9E4D3094}"/>
      <ac:txMk cp="0" len="17">
        <ac:context len="18" hash="3325930929"/>
      </ac:txMk>
    </ac:txMkLst>
    <p188:pos x="3443400" y="186338"/>
    <p188:txBody>
      <a:bodyPr/>
      <a:lstStyle/>
      <a:p>
        <a:r>
          <a:rPr lang="ja-JP" altLang="en-US"/>
          <a:t>[4/10追記]RFPの評価観点でRFI回答を評価。まずは本ページで観点を整理</a:t>
        </a:r>
      </a:p>
    </p188:txBody>
  </p188:cm>
</p188:cmLst>
</file>

<file path=ppt/comments/modernComment_150_5F270C0B.xml><?xml version="1.0" encoding="utf-8"?>
<p188:cmLst xmlns:a="http://schemas.openxmlformats.org/drawingml/2006/main" xmlns:r="http://schemas.openxmlformats.org/officeDocument/2006/relationships" xmlns:p188="http://schemas.microsoft.com/office/powerpoint/2018/8/main">
  <p188:cm id="{13B1849B-5A4C-4A68-8166-7771058BB52C}" authorId="{2D03C3AB-DF2B-5B23-888C-119B8DA16063}" created="2026-04-10T11:09:04.186">
    <pc:sldMkLst xmlns:pc="http://schemas.microsoft.com/office/powerpoint/2013/main/command">
      <pc:docMk/>
      <pc:sldMk cId="1596394507" sldId="336"/>
    </pc:sldMkLst>
    <p188:txBody>
      <a:bodyPr/>
      <a:lstStyle/>
      <a:p>
        <a:r>
          <a:rPr lang="ja-JP" altLang="en-US"/>
          <a:t>[4/10追記]RFPの評価観点でRFI回答を評価：Databrics,Snowflake,AWSNative比較サマリーを本ページに記載</a:t>
        </a:r>
      </a:p>
    </p188:txBody>
  </p188:cm>
</p188:cmLst>
</file>

<file path=ppt/comments/modernComment_160_3DAEA38.xml><?xml version="1.0" encoding="utf-8"?>
<p188:cmLst xmlns:a="http://schemas.openxmlformats.org/drawingml/2006/main" xmlns:r="http://schemas.openxmlformats.org/officeDocument/2006/relationships" xmlns:p188="http://schemas.microsoft.com/office/powerpoint/2018/8/main">
  <p188:cm id="{A1E5B606-2872-491F-ABA0-3113E4D304F3}" authorId="{2D03C3AB-DF2B-5B23-888C-119B8DA16063}" created="2026-04-10T11:09:28.512">
    <pc:sldMkLst xmlns:pc="http://schemas.microsoft.com/office/powerpoint/2013/main/command">
      <pc:docMk/>
      <pc:sldMk cId="64678456" sldId="352"/>
    </pc:sldMkLst>
    <p188:txBody>
      <a:bodyPr/>
      <a:lstStyle/>
      <a:p>
        <a:r>
          <a:rPr lang="ja-JP" altLang="en-US"/>
          <a:t>[4/10追記]RFPの評価観点でRFI回答を評価：コストの比較</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游ゴシック" panose="020B0400000000000000" pitchFamily="50" charset="-128"/>
              <a:ea typeface="游ゴシック" panose="020B0400000000000000" pitchFamily="50" charset="-128"/>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41" name="Google Shape;141;p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5: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75" name="Google Shape;175;p5: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6: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87" name="Google Shape;187;p6: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5</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7: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98" name="Google Shape;198;p7: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6</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8</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CC6F7821-F650-D0F9-C796-2BB9FE8691DF}"/>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D55BCC6F-D3E0-272B-CE13-F09541F332E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9AEB37E1-D59D-FD10-3BD1-0811799F6CA0}"/>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5CB0ABB1-A9A0-48A9-2894-E66FF64C50B2}"/>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9</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2815293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4A0DD09B-CB31-8430-1887-C5FD50069470}"/>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AF311B83-1574-88BC-7F57-159458AD9B7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798EF8B8-BCFE-8BB1-2241-0FB3C264151D}"/>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6E27E458-9834-8F2F-E11B-915082FCC333}"/>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10</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3185035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7674EA36-7815-C432-998F-F8473DD86749}"/>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9AA3D3FD-D32F-3746-3F06-2036FCD1B11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E7892FF9-7328-9990-B723-9A4C82134A2A}"/>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E3937572-0355-B88F-27E8-48D65511B9CC}"/>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11</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3117301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8C6EC66B-A813-D68E-3672-A52E4CFD95C9}"/>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D56EB5AD-0CB0-5DAE-7C2F-65452E8B2621}"/>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D51080D9-0704-A65E-594E-AB3F5E27FD6C}"/>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24840F1E-F72B-83E9-974E-7EA80ADB4E1A}"/>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12</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1087640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D2CF6689-2AF3-A9DD-7239-A3416E0482FF}"/>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3E930995-4934-38A3-85CB-AA7F7520BB02}"/>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E8C31387-D956-F604-D375-470B090FE10D}"/>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6F4B4B26-8922-506A-AC30-12749FF43641}"/>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946338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9DE3BF2B-5A0F-DBAC-D8FC-8FF6F3B797A5}"/>
            </a:ext>
          </a:extLst>
        </p:cNvPr>
        <p:cNvGrpSpPr/>
        <p:nvPr/>
      </p:nvGrpSpPr>
      <p:grpSpPr>
        <a:xfrm>
          <a:off x="0" y="0"/>
          <a:ext cx="0" cy="0"/>
          <a:chOff x="0" y="0"/>
          <a:chExt cx="0" cy="0"/>
        </a:xfrm>
      </p:grpSpPr>
      <p:sp>
        <p:nvSpPr>
          <p:cNvPr id="243" name="Google Shape;243;p9:notes">
            <a:extLst>
              <a:ext uri="{FF2B5EF4-FFF2-40B4-BE49-F238E27FC236}">
                <a16:creationId xmlns:a16="http://schemas.microsoft.com/office/drawing/2014/main" id="{956A9082-8D31-160E-6779-4133700ABE4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a:extLst>
              <a:ext uri="{FF2B5EF4-FFF2-40B4-BE49-F238E27FC236}">
                <a16:creationId xmlns:a16="http://schemas.microsoft.com/office/drawing/2014/main" id="{712A5D50-F520-033D-6705-CD3F664C55A9}"/>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a:extLst>
              <a:ext uri="{FF2B5EF4-FFF2-40B4-BE49-F238E27FC236}">
                <a16:creationId xmlns:a16="http://schemas.microsoft.com/office/drawing/2014/main" id="{59D1E3E8-B19F-C384-7B57-07A0B09F9C08}"/>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892742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57" name="Google Shape;257;p1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15</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1998F9AC-C36D-B70C-0580-BE621FDDF85D}"/>
            </a:ext>
          </a:extLst>
        </p:cNvPr>
        <p:cNvGrpSpPr/>
        <p:nvPr/>
      </p:nvGrpSpPr>
      <p:grpSpPr>
        <a:xfrm>
          <a:off x="0" y="0"/>
          <a:ext cx="0" cy="0"/>
          <a:chOff x="0" y="0"/>
          <a:chExt cx="0" cy="0"/>
        </a:xfrm>
      </p:grpSpPr>
      <p:sp>
        <p:nvSpPr>
          <p:cNvPr id="255" name="Google Shape;255;p10:notes">
            <a:extLst>
              <a:ext uri="{FF2B5EF4-FFF2-40B4-BE49-F238E27FC236}">
                <a16:creationId xmlns:a16="http://schemas.microsoft.com/office/drawing/2014/main" id="{785E1BA6-FC2C-D7E3-4ACC-4995C3CCCD9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a:extLst>
              <a:ext uri="{FF2B5EF4-FFF2-40B4-BE49-F238E27FC236}">
                <a16:creationId xmlns:a16="http://schemas.microsoft.com/office/drawing/2014/main" id="{7FB07284-C7BB-1A78-E08E-4A8F9272A774}"/>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57" name="Google Shape;257;p10:notes">
            <a:extLst>
              <a:ext uri="{FF2B5EF4-FFF2-40B4-BE49-F238E27FC236}">
                <a16:creationId xmlns:a16="http://schemas.microsoft.com/office/drawing/2014/main" id="{64870D71-BEEF-B217-9458-4AE12B5404DA}"/>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16</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4258524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11: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69" name="Google Shape;269;p11: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17</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1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82" name="Google Shape;282;p1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18</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1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99" name="Google Shape;299;p1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20</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
        <p:nvSpPr>
          <p:cNvPr id="315" name="Google Shape;31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17: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24" name="Google Shape;324;p17: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23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18: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42" name="Google Shape;342;p18: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24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
        <p:nvSpPr>
          <p:cNvPr id="384" name="Google Shape;384;p19: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0: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99" name="Google Shape;399;p20: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1: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35" name="Google Shape;435;p21: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56" name="Google Shape;456;p22: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5: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25" name="Google Shape;525;p25: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6: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58" name="Google Shape;558;p26: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7: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96" name="Google Shape;596;p27: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28: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36" name="Google Shape;636;p28: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9: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76" name="Google Shape;676;p29: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30: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96" name="Google Shape;696;p30: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
        <p:cNvGrpSpPr/>
        <p:nvPr/>
      </p:nvGrpSpPr>
      <p:grpSpPr>
        <a:xfrm>
          <a:off x="0" y="0"/>
          <a:ext cx="0" cy="0"/>
          <a:chOff x="0" y="0"/>
          <a:chExt cx="0" cy="0"/>
        </a:xfrm>
      </p:grpSpPr>
      <p:sp>
        <p:nvSpPr>
          <p:cNvPr id="8" name="Google Shape;8;p33"/>
          <p:cNvSpPr txBox="1">
            <a:spLocks noGrp="1"/>
          </p:cNvSpPr>
          <p:nvPr>
            <p:ph type="dt" idx="10"/>
          </p:nvPr>
        </p:nvSpPr>
        <p:spPr>
          <a:xfrm>
            <a:off x="342900" y="4767263"/>
            <a:ext cx="16002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3"/>
          <p:cNvSpPr txBox="1">
            <a:spLocks noGrp="1"/>
          </p:cNvSpPr>
          <p:nvPr>
            <p:ph type="ftr" idx="11"/>
          </p:nvPr>
        </p:nvSpPr>
        <p:spPr>
          <a:xfrm>
            <a:off x="2343150" y="4767263"/>
            <a:ext cx="21717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3"/>
          <p:cNvSpPr txBox="1">
            <a:spLocks noGrp="1"/>
          </p:cNvSpPr>
          <p:nvPr>
            <p:ph type="sldNum" idx="12"/>
          </p:nvPr>
        </p:nvSpPr>
        <p:spPr>
          <a:xfrm>
            <a:off x="4914900" y="4767263"/>
            <a:ext cx="16002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7"/>
        <p:cNvGrpSpPr/>
        <p:nvPr/>
      </p:nvGrpSpPr>
      <p:grpSpPr>
        <a:xfrm>
          <a:off x="0" y="0"/>
          <a:ext cx="0" cy="0"/>
          <a:chOff x="0" y="0"/>
          <a:chExt cx="0" cy="0"/>
        </a:xfrm>
      </p:grpSpPr>
      <p:sp>
        <p:nvSpPr>
          <p:cNvPr id="18" name="Google Shape;18;p3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19" name="Google Shape;19;p35"/>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atin typeface="游ゴシック" panose="020B0400000000000000" pitchFamily="50" charset="-128"/>
                <a:ea typeface="游ゴシック" panose="020B0400000000000000" pitchFamily="50" charset="-128"/>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dirty="0"/>
          </a:p>
        </p:txBody>
      </p:sp>
      <p:sp>
        <p:nvSpPr>
          <p:cNvPr id="20" name="Google Shape;20;p3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1" name="Google Shape;21;p3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2" name="Google Shape;22;p3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23"/>
        <p:cNvGrpSpPr/>
        <p:nvPr/>
      </p:nvGrpSpPr>
      <p:grpSpPr>
        <a:xfrm>
          <a:off x="0" y="0"/>
          <a:ext cx="0" cy="0"/>
          <a:chOff x="0" y="0"/>
          <a:chExt cx="0" cy="0"/>
        </a:xfrm>
      </p:grpSpPr>
      <p:sp>
        <p:nvSpPr>
          <p:cNvPr id="24" name="Google Shape;24;p3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25" name="Google Shape;25;p36"/>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26" name="Google Shape;26;p3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7" name="Google Shape;27;p3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8" name="Google Shape;28;p3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9"/>
        <p:cNvGrpSpPr/>
        <p:nvPr/>
      </p:nvGrpSpPr>
      <p:grpSpPr>
        <a:xfrm>
          <a:off x="0" y="0"/>
          <a:ext cx="0" cy="0"/>
          <a:chOff x="0" y="0"/>
          <a:chExt cx="0" cy="0"/>
        </a:xfrm>
      </p:grpSpPr>
      <p:sp>
        <p:nvSpPr>
          <p:cNvPr id="30" name="Google Shape;30;p37"/>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31" name="Google Shape;31;p37"/>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dirty="0"/>
          </a:p>
        </p:txBody>
      </p:sp>
      <p:sp>
        <p:nvSpPr>
          <p:cNvPr id="32" name="Google Shape;32;p3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33" name="Google Shape;33;p3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34" name="Google Shape;34;p3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5"/>
        <p:cNvGrpSpPr/>
        <p:nvPr/>
      </p:nvGrpSpPr>
      <p:grpSpPr>
        <a:xfrm>
          <a:off x="0" y="0"/>
          <a:ext cx="0" cy="0"/>
          <a:chOff x="0" y="0"/>
          <a:chExt cx="0" cy="0"/>
        </a:xfrm>
      </p:grpSpPr>
      <p:sp>
        <p:nvSpPr>
          <p:cNvPr id="36" name="Google Shape;36;p3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37" name="Google Shape;37;p38"/>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8" name="Google Shape;38;p38"/>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9" name="Google Shape;39;p3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0" name="Google Shape;40;p3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1" name="Google Shape;41;p3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2"/>
        <p:cNvGrpSpPr/>
        <p:nvPr/>
      </p:nvGrpSpPr>
      <p:grpSpPr>
        <a:xfrm>
          <a:off x="0" y="0"/>
          <a:ext cx="0" cy="0"/>
          <a:chOff x="0" y="0"/>
          <a:chExt cx="0" cy="0"/>
        </a:xfrm>
      </p:grpSpPr>
      <p:sp>
        <p:nvSpPr>
          <p:cNvPr id="43" name="Google Shape;43;p39"/>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44" name="Google Shape;44;p39"/>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5" name="Google Shape;45;p39"/>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6" name="Google Shape;46;p39"/>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7" name="Google Shape;47;p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8" name="Google Shape;48;p3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9" name="Google Shape;49;p3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0" name="Google Shape;50;p3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53" name="Google Shape;53;p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4" name="Google Shape;54;p4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5" name="Google Shape;55;p4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6"/>
        <p:cNvGrpSpPr/>
        <p:nvPr/>
      </p:nvGrpSpPr>
      <p:grpSpPr>
        <a:xfrm>
          <a:off x="0" y="0"/>
          <a:ext cx="0" cy="0"/>
          <a:chOff x="0" y="0"/>
          <a:chExt cx="0" cy="0"/>
        </a:xfrm>
      </p:grpSpPr>
      <p:sp>
        <p:nvSpPr>
          <p:cNvPr id="57" name="Google Shape;57;p4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8" name="Google Shape;58;p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9" name="Google Shape;59;p4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60"/>
        <p:cNvGrpSpPr/>
        <p:nvPr/>
      </p:nvGrpSpPr>
      <p:grpSpPr>
        <a:xfrm>
          <a:off x="0" y="0"/>
          <a:ext cx="0" cy="0"/>
          <a:chOff x="0" y="0"/>
          <a:chExt cx="0" cy="0"/>
        </a:xfrm>
      </p:grpSpPr>
      <p:sp>
        <p:nvSpPr>
          <p:cNvPr id="61" name="Google Shape;61;p4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2" name="Google Shape;62;p4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atin typeface="游ゴシック" panose="020B0400000000000000" pitchFamily="50" charset="-128"/>
                <a:ea typeface="游ゴシック" panose="020B0400000000000000" pitchFamily="50" charset="-128"/>
              </a:defRPr>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dirty="0"/>
          </a:p>
        </p:txBody>
      </p:sp>
      <p:sp>
        <p:nvSpPr>
          <p:cNvPr id="63" name="Google Shape;63;p4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64" name="Google Shape;64;p4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65" name="Google Shape;65;p4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66" name="Google Shape;66;p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7"/>
        <p:cNvGrpSpPr/>
        <p:nvPr/>
      </p:nvGrpSpPr>
      <p:grpSpPr>
        <a:xfrm>
          <a:off x="0" y="0"/>
          <a:ext cx="0" cy="0"/>
          <a:chOff x="0" y="0"/>
          <a:chExt cx="0" cy="0"/>
        </a:xfrm>
      </p:grpSpPr>
      <p:sp>
        <p:nvSpPr>
          <p:cNvPr id="68" name="Google Shape;68;p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9" name="Google Shape;69;p43"/>
          <p:cNvSpPr>
            <a:spLocks noGrp="1"/>
          </p:cNvSpPr>
          <p:nvPr>
            <p:ph type="pic" idx="2"/>
          </p:nvPr>
        </p:nvSpPr>
        <p:spPr>
          <a:xfrm>
            <a:off x="3887391" y="740569"/>
            <a:ext cx="4629150" cy="3655219"/>
          </a:xfrm>
          <a:prstGeom prst="rect">
            <a:avLst/>
          </a:prstGeom>
          <a:noFill/>
          <a:ln>
            <a:noFill/>
          </a:ln>
        </p:spPr>
      </p:sp>
      <p:sp>
        <p:nvSpPr>
          <p:cNvPr id="70" name="Google Shape;70;p4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71" name="Google Shape;71;p4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2" name="Google Shape;72;p4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3" name="Google Shape;73;p4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4"/>
        <p:cNvGrpSpPr/>
        <p:nvPr/>
      </p:nvGrpSpPr>
      <p:grpSpPr>
        <a:xfrm>
          <a:off x="0" y="0"/>
          <a:ext cx="0" cy="0"/>
          <a:chOff x="0" y="0"/>
          <a:chExt cx="0" cy="0"/>
        </a:xfrm>
      </p:grpSpPr>
      <p:sp>
        <p:nvSpPr>
          <p:cNvPr id="75" name="Google Shape;75;p4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76" name="Google Shape;76;p4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77" name="Google Shape;77;p4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8" name="Google Shape;78;p4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9" name="Google Shape;79;p4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0"/>
        <p:cNvGrpSpPr/>
        <p:nvPr/>
      </p:nvGrpSpPr>
      <p:grpSpPr>
        <a:xfrm>
          <a:off x="0" y="0"/>
          <a:ext cx="0" cy="0"/>
          <a:chOff x="0" y="0"/>
          <a:chExt cx="0" cy="0"/>
        </a:xfrm>
      </p:grpSpPr>
      <p:sp>
        <p:nvSpPr>
          <p:cNvPr id="81" name="Google Shape;81;p4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82" name="Google Shape;82;p4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83" name="Google Shape;83;p4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84" name="Google Shape;84;p4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85" name="Google Shape;85;p4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3" name="Google Shape;13;p34"/>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dirty="0"/>
          </a:p>
        </p:txBody>
      </p:sp>
      <p:sp>
        <p:nvSpPr>
          <p:cNvPr id="14" name="Google Shape;14;p3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lang="ja-JP" altLang="en-US" dirty="0"/>
          </a:p>
        </p:txBody>
      </p:sp>
      <p:sp>
        <p:nvSpPr>
          <p:cNvPr id="15" name="Google Shape;15;p3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lang="ja-JP" altLang="en-US" dirty="0"/>
          </a:p>
        </p:txBody>
      </p:sp>
      <p:sp>
        <p:nvSpPr>
          <p:cNvPr id="16" name="Google Shape;16;p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41_CE4A1EC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50_5F270C0B.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60_3DAEA38.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seemoredata.io/blog/snowflake-cortex-ai/" TargetMode="External"/><Relationship Id="rId5" Type="http://schemas.openxmlformats.org/officeDocument/2006/relationships/hyperlink" Target="https://medium.com/@reliabledataengineering/i-cut-our-snowflake-bill-by-91-using-a-database-that-runs-on-my-laptop-and-queries-got-110x-2df8c3a3e8cd" TargetMode="External"/><Relationship Id="rId4" Type="http://schemas.openxmlformats.org/officeDocument/2006/relationships/hyperlink" Target="https://medium.com/@one.step.analytics.on.data/uncovering-databricks-costs-how-we-identified-expensive-and-idle-clusters-to-optimize-our-bill-beaaca6b260d" TargetMode="External"/></Relationships>
</file>

<file path=ppt/slides/_rels/slide12.xml.rels><?xml version="1.0" encoding="UTF-8" standalone="yes"?>
<Relationships xmlns="http://schemas.openxmlformats.org/package/2006/relationships"><Relationship Id="rId3" Type="http://schemas.microsoft.com/office/2018/10/relationships/comments" Target="../comments/modernComment_15D_6C0D438.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5E_4D2AF36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5F_C78AF61C.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1. </a:t>
            </a:r>
            <a:r>
              <a:rPr lang="ja-JP" altLang="en-US"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新分析基盤の背景・前提と選定要件</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p:nvPr/>
        </p:nvSpPr>
        <p:spPr>
          <a:xfrm>
            <a:off x="406400" y="228600"/>
            <a:ext cx="84963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1.1  </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新分析基盤の背景・前提</a:t>
            </a:r>
            <a:endParaRPr dirty="0">
              <a:latin typeface="游ゴシック" panose="020B0400000000000000" pitchFamily="50" charset="-128"/>
              <a:ea typeface="游ゴシック" panose="020B0400000000000000" pitchFamily="50" charset="-128"/>
            </a:endParaRPr>
          </a:p>
        </p:txBody>
      </p:sp>
      <p:sp>
        <p:nvSpPr>
          <p:cNvPr id="102" name="Google Shape;102;p3"/>
          <p:cNvSpPr txBox="1"/>
          <p:nvPr/>
        </p:nvSpPr>
        <p:spPr>
          <a:xfrm>
            <a:off x="406400" y="609600"/>
            <a:ext cx="8496300" cy="279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利用範囲に適したコスト構造で</a:t>
            </a:r>
            <a:r>
              <a:rPr lang="en" altLang="ja-JP"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SOMPO</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ケア固有のデータ資産を管理し、将来的に分析対象を段階的に広げられる共通基盤として整備する</a:t>
            </a:r>
            <a:endParaRPr b="1" dirty="0">
              <a:solidFill>
                <a:schemeClr val="tx1"/>
              </a:solidFill>
              <a:latin typeface="游ゴシック" panose="020B0400000000000000" pitchFamily="50" charset="-128"/>
              <a:ea typeface="游ゴシック" panose="020B0400000000000000" pitchFamily="50" charset="-128"/>
            </a:endParaRPr>
          </a:p>
        </p:txBody>
      </p:sp>
      <p:cxnSp>
        <p:nvCxnSpPr>
          <p:cNvPr id="103" name="Google Shape;103;p3"/>
          <p:cNvCxnSpPr/>
          <p:nvPr/>
        </p:nvCxnSpPr>
        <p:spPr>
          <a:xfrm>
            <a:off x="0" y="4876800"/>
            <a:ext cx="9144000" cy="0"/>
          </a:xfrm>
          <a:prstGeom prst="straightConnector1">
            <a:avLst/>
          </a:prstGeom>
          <a:noFill/>
          <a:ln w="9525" cap="flat" cmpd="sng">
            <a:solidFill>
              <a:srgbClr val="E0E0E0"/>
            </a:solidFill>
            <a:prstDash val="solid"/>
            <a:round/>
            <a:headEnd type="none" w="sm" len="sm"/>
            <a:tailEnd type="none" w="sm" len="sm"/>
          </a:ln>
        </p:spPr>
      </p:cxnSp>
      <p:sp>
        <p:nvSpPr>
          <p:cNvPr id="104" name="Google Shape;104;p3"/>
          <p:cNvSpPr txBox="1"/>
          <p:nvPr/>
        </p:nvSpPr>
        <p:spPr>
          <a:xfrm>
            <a:off x="406400" y="4927600"/>
            <a:ext cx="190500" cy="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dirty="0">
              <a:latin typeface="游ゴシック" panose="020B0400000000000000" pitchFamily="50" charset="-128"/>
              <a:ea typeface="游ゴシック" panose="020B0400000000000000" pitchFamily="50" charset="-128"/>
            </a:endParaRPr>
          </a:p>
        </p:txBody>
      </p:sp>
      <p:sp>
        <p:nvSpPr>
          <p:cNvPr id="105" name="Google Shape;105;p3"/>
          <p:cNvSpPr txBox="1"/>
          <p:nvPr/>
        </p:nvSpPr>
        <p:spPr>
          <a:xfrm>
            <a:off x="8096885" y="4927600"/>
            <a:ext cx="684530" cy="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1</a:t>
            </a:r>
            <a:endParaRPr dirty="0">
              <a:latin typeface="游ゴシック" panose="020B0400000000000000" pitchFamily="50" charset="-128"/>
              <a:ea typeface="游ゴシック" panose="020B0400000000000000" pitchFamily="50" charset="-128"/>
            </a:endParaRPr>
          </a:p>
        </p:txBody>
      </p:sp>
      <p:sp>
        <p:nvSpPr>
          <p:cNvPr id="106" name="Google Shape;106;p3"/>
          <p:cNvSpPr txBox="1"/>
          <p:nvPr/>
        </p:nvSpPr>
        <p:spPr>
          <a:xfrm>
            <a:off x="406400" y="1028700"/>
            <a:ext cx="4114800" cy="152400"/>
          </a:xfrm>
          <a:prstGeom prst="rect">
            <a:avLst/>
          </a:prstGeom>
          <a:noFill/>
          <a:ln>
            <a:noFill/>
          </a:ln>
        </p:spPr>
        <p:txBody>
          <a:bodyPr spcFirstLastPara="1" wrap="square" lIns="0" tIns="0" rIns="0" bIns="0" anchor="t" anchorCtr="0">
            <a:noAutofit/>
          </a:bodyPr>
          <a:lstStyle/>
          <a:p>
            <a:pPr>
              <a:buSzPts val="800"/>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新分析環境に求める</a:t>
            </a:r>
            <a:r>
              <a:rPr lang="en-US" altLang="ja-JP"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5</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つの目的</a:t>
            </a:r>
            <a:endParaRPr dirty="0">
              <a:latin typeface="游ゴシック" panose="020B0400000000000000" pitchFamily="50" charset="-128"/>
              <a:ea typeface="游ゴシック" panose="020B0400000000000000" pitchFamily="50" charset="-128"/>
            </a:endParaRPr>
          </a:p>
        </p:txBody>
      </p:sp>
      <p:cxnSp>
        <p:nvCxnSpPr>
          <p:cNvPr id="107" name="Google Shape;107;p3"/>
          <p:cNvCxnSpPr/>
          <p:nvPr/>
        </p:nvCxnSpPr>
        <p:spPr>
          <a:xfrm>
            <a:off x="4064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08" name="Google Shape;108;p3"/>
          <p:cNvSpPr txBox="1"/>
          <p:nvPr/>
        </p:nvSpPr>
        <p:spPr>
          <a:xfrm>
            <a:off x="534074" y="1282699"/>
            <a:ext cx="3987126" cy="1775970"/>
          </a:xfrm>
          <a:prstGeom prst="rect">
            <a:avLst/>
          </a:prstGeom>
          <a:noFill/>
          <a:ln>
            <a:noFill/>
          </a:ln>
        </p:spPr>
        <p:txBody>
          <a:bodyPr spcFirstLastPara="1" wrap="square" lIns="0" tIns="0" rIns="0" bIns="0" anchor="t" anchorCtr="0">
            <a:noAutofit/>
          </a:bodyPr>
          <a:lstStyle/>
          <a:p>
            <a:pPr marL="171450" marR="0" lvl="0" indent="-171450" algn="l" rtl="0">
              <a:lnSpc>
                <a:spcPct val="100000"/>
              </a:lnSpc>
              <a:spcBef>
                <a:spcPts val="0"/>
              </a:spcBef>
              <a:spcAft>
                <a:spcPts val="0"/>
              </a:spcAft>
              <a:buClr>
                <a:srgbClr val="000000"/>
              </a:buClr>
              <a:buSzPts val="900"/>
              <a:buFont typeface="Arial"/>
              <a:buAutoNum type="arabicPeriod"/>
            </a:pPr>
            <a:r>
              <a:rPr lang="en-US" sz="800" b="1" dirty="0">
                <a:latin typeface="游ゴシック" panose="020B0400000000000000" pitchFamily="50" charset="-128"/>
                <a:ea typeface="游ゴシック" panose="020B0400000000000000" pitchFamily="50" charset="-128"/>
              </a:rPr>
              <a:t>コストの最適化</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事業規模相応の費用対効果の高い環境を構築。コスト透明性を確保し、将来のスケーリングにも合理的に対応</a:t>
            </a:r>
          </a:p>
          <a:p>
            <a:pPr marL="171450" marR="0" lvl="0" indent="-171450" algn="l" rtl="0">
              <a:lnSpc>
                <a:spcPct val="100000"/>
              </a:lnSpc>
              <a:spcBef>
                <a:spcPts val="0"/>
              </a:spcBef>
              <a:spcAft>
                <a:spcPts val="0"/>
              </a:spcAft>
              <a:buClr>
                <a:srgbClr val="000000"/>
              </a:buClr>
              <a:buSzPts val="900"/>
              <a:buFont typeface="Arial"/>
              <a:buAutoNum type="arabicPeriod" startAt="2"/>
            </a:pPr>
            <a:r>
              <a:rPr lang="en-US" sz="800" b="1" dirty="0">
                <a:latin typeface="游ゴシック" panose="020B0400000000000000" pitchFamily="50" charset="-128"/>
                <a:ea typeface="游ゴシック" panose="020B0400000000000000" pitchFamily="50" charset="-128"/>
              </a:rPr>
              <a:t>運用安定化・ガバナンス強化</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パイプライン可視化・標準化。IT企画部門が主体的に保守運用できるよう監査ログ・アクセス制御・データリネージを整備</a:t>
            </a:r>
          </a:p>
          <a:p>
            <a:pPr marL="171450" marR="0" lvl="0" indent="-171450" algn="l" rtl="0">
              <a:lnSpc>
                <a:spcPct val="100000"/>
              </a:lnSpc>
              <a:spcBef>
                <a:spcPts val="0"/>
              </a:spcBef>
              <a:spcAft>
                <a:spcPts val="0"/>
              </a:spcAft>
              <a:buClr>
                <a:srgbClr val="000000"/>
              </a:buClr>
              <a:buSzPts val="900"/>
              <a:buFont typeface="Arial"/>
              <a:buAutoNum type="arabicPeriod" startAt="3"/>
            </a:pPr>
            <a:r>
              <a:rPr lang="en-US" sz="800" b="1" dirty="0">
                <a:latin typeface="游ゴシック" panose="020B0400000000000000" pitchFamily="50" charset="-128"/>
                <a:ea typeface="游ゴシック" panose="020B0400000000000000" pitchFamily="50" charset="-128"/>
              </a:rPr>
              <a:t>持続可能性・再現性の確保</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特定ベンダーに依存しないサステナブルな基盤を構築。ドキュメント整備と標準化を推進</a:t>
            </a:r>
          </a:p>
          <a:p>
            <a:pPr marL="171450" marR="0" lvl="0" indent="-171450" algn="l" rtl="0">
              <a:lnSpc>
                <a:spcPct val="100000"/>
              </a:lnSpc>
              <a:spcBef>
                <a:spcPts val="0"/>
              </a:spcBef>
              <a:spcAft>
                <a:spcPts val="0"/>
              </a:spcAft>
              <a:buClr>
                <a:srgbClr val="000000"/>
              </a:buClr>
              <a:buSzPts val="900"/>
              <a:buFont typeface="Arial"/>
              <a:buAutoNum type="arabicPeriod" startAt="4"/>
            </a:pPr>
            <a:r>
              <a:rPr lang="en-US" sz="800" b="1" dirty="0">
                <a:latin typeface="游ゴシック" panose="020B0400000000000000" pitchFamily="50" charset="-128"/>
                <a:ea typeface="游ゴシック" panose="020B0400000000000000" pitchFamily="50" charset="-128"/>
              </a:rPr>
              <a:t>現場主導のデータ活用</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プログラミング不要のセルフサービスBI環境を整備。施設長・オーナー部門が自らデータに基づく意思決定を行える状態を実現</a:t>
            </a:r>
          </a:p>
          <a:p>
            <a:pPr marL="171450" marR="0" lvl="0" indent="-171450" algn="l" rtl="0">
              <a:lnSpc>
                <a:spcPct val="100000"/>
              </a:lnSpc>
              <a:spcBef>
                <a:spcPts val="0"/>
              </a:spcBef>
              <a:spcAft>
                <a:spcPts val="0"/>
              </a:spcAft>
              <a:buClr>
                <a:srgbClr val="000000"/>
              </a:buClr>
              <a:buSzPts val="900"/>
              <a:buFont typeface="Arial"/>
              <a:buAutoNum type="arabicPeriod" startAt="5"/>
            </a:pPr>
            <a:r>
              <a:rPr lang="en-US" sz="800" b="1" dirty="0">
                <a:latin typeface="游ゴシック" panose="020B0400000000000000" pitchFamily="50" charset="-128"/>
                <a:ea typeface="游ゴシック" panose="020B0400000000000000" pitchFamily="50" charset="-128"/>
              </a:rPr>
              <a:t>AI対応・将来拡張性</a:t>
            </a:r>
          </a:p>
          <a:p>
            <a:pPr marL="171450" marR="0" lvl="0" indent="0" algn="l" rtl="0">
              <a:lnSpc>
                <a:spcPct val="100000"/>
              </a:lnSpc>
              <a:spcBef>
                <a:spcPts val="0"/>
              </a:spcBef>
              <a:spcAft>
                <a:spcPts val="0"/>
              </a:spcAft>
              <a:buNone/>
            </a:pPr>
            <a:r>
              <a:rPr lang="en-US" sz="700" dirty="0">
                <a:solidFill>
                  <a:srgbClr val="555555"/>
                </a:solidFill>
                <a:latin typeface="游ゴシック" panose="020B0400000000000000" pitchFamily="50" charset="-128"/>
                <a:ea typeface="游ゴシック" panose="020B0400000000000000" pitchFamily="50" charset="-128"/>
              </a:rPr>
              <a:t>AI/ML活用を実装可能なアーキテクチャを採用。セマンティック層の整備・AIエージェント連携を見据えた段階的な拡張</a:t>
            </a:r>
          </a:p>
        </p:txBody>
      </p:sp>
      <p:cxnSp>
        <p:nvCxnSpPr>
          <p:cNvPr id="113" name="Google Shape;113;p3"/>
          <p:cNvCxnSpPr/>
          <p:nvPr/>
        </p:nvCxnSpPr>
        <p:spPr>
          <a:xfrm>
            <a:off x="4597400" y="1028700"/>
            <a:ext cx="0" cy="1625600"/>
          </a:xfrm>
          <a:prstGeom prst="straightConnector1">
            <a:avLst/>
          </a:prstGeom>
          <a:noFill/>
          <a:ln w="9525" cap="flat" cmpd="sng">
            <a:solidFill>
              <a:srgbClr val="CCCCCC"/>
            </a:solidFill>
            <a:prstDash val="solid"/>
            <a:round/>
            <a:headEnd type="none" w="sm" len="sm"/>
            <a:tailEnd type="none" w="sm" len="sm"/>
          </a:ln>
        </p:spPr>
      </p:cxnSp>
      <p:sp>
        <p:nvSpPr>
          <p:cNvPr id="114" name="Google Shape;114;p3"/>
          <p:cNvSpPr txBox="1"/>
          <p:nvPr/>
        </p:nvSpPr>
        <p:spPr>
          <a:xfrm>
            <a:off x="46990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 想定する主なユースケース</a:t>
            </a:r>
            <a:endParaRPr dirty="0">
              <a:latin typeface="游ゴシック" panose="020B0400000000000000" pitchFamily="50" charset="-128"/>
              <a:ea typeface="游ゴシック" panose="020B0400000000000000" pitchFamily="50" charset="-128"/>
            </a:endParaRPr>
          </a:p>
        </p:txBody>
      </p:sp>
      <p:cxnSp>
        <p:nvCxnSpPr>
          <p:cNvPr id="115" name="Google Shape;115;p3"/>
          <p:cNvCxnSpPr/>
          <p:nvPr/>
        </p:nvCxnSpPr>
        <p:spPr>
          <a:xfrm>
            <a:off x="46990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16" name="Google Shape;116;p3"/>
          <p:cNvSpPr/>
          <p:nvPr/>
        </p:nvSpPr>
        <p:spPr>
          <a:xfrm>
            <a:off x="4699000" y="1282699"/>
            <a:ext cx="635000" cy="368299"/>
          </a:xfrm>
          <a:prstGeom prst="roundRect">
            <a:avLst>
              <a:gd name="adj" fmla="val 6000"/>
            </a:avLst>
          </a:prstGeom>
          <a:solidFill>
            <a:srgbClr val="E8F5E9"/>
          </a:solidFill>
          <a:ln w="9525" cap="flat" cmpd="sng">
            <a:solidFill>
              <a:srgbClr val="4CAF50"/>
            </a:solidFill>
            <a:prstDash val="solid"/>
            <a:round/>
            <a:headEnd type="none" w="sm" len="sm"/>
            <a:tailEnd type="none" w="sm" len="sm"/>
          </a:ln>
        </p:spPr>
        <p:txBody>
          <a:bodyPr spcFirstLastPara="1" wrap="square" lIns="45000" tIns="27000" rIns="45000" bIns="2700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ja" sz="650" b="1" i="0" u="none" strike="noStrike" cap="none" dirty="0">
                <a:solidFill>
                  <a:srgbClr val="2E7D32"/>
                </a:solidFill>
                <a:latin typeface="游ゴシック" panose="020B0400000000000000" pitchFamily="50" charset="-128"/>
                <a:ea typeface="游ゴシック" panose="020B0400000000000000" pitchFamily="50" charset="-128"/>
                <a:cs typeface="Century Gothic"/>
                <a:sym typeface="Century Gothic"/>
              </a:rPr>
              <a:t>今回</a:t>
            </a:r>
            <a:endParaRPr dirty="0">
              <a:latin typeface="游ゴシック" panose="020B0400000000000000" pitchFamily="50" charset="-128"/>
              <a:ea typeface="游ゴシック" panose="020B0400000000000000" pitchFamily="50" charset="-128"/>
            </a:endParaRPr>
          </a:p>
        </p:txBody>
      </p:sp>
      <p:sp>
        <p:nvSpPr>
          <p:cNvPr id="117" name="Google Shape;117;p3"/>
          <p:cNvSpPr txBox="1"/>
          <p:nvPr/>
        </p:nvSpPr>
        <p:spPr>
          <a:xfrm>
            <a:off x="5410200" y="1282700"/>
            <a:ext cx="3403600" cy="381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カスタムメイドケアサポートダッシュボード / 施設モニター / ナースコール分析 / 施設360</a:t>
            </a:r>
            <a:endParaRPr sz="800" dirty="0">
              <a:latin typeface="游ゴシック" panose="020B0400000000000000" pitchFamily="50" charset="-128"/>
              <a:ea typeface="游ゴシック" panose="020B0400000000000000" pitchFamily="50" charset="-128"/>
            </a:endParaRPr>
          </a:p>
        </p:txBody>
      </p:sp>
      <p:sp>
        <p:nvSpPr>
          <p:cNvPr id="118" name="Google Shape;118;p3"/>
          <p:cNvSpPr txBox="1"/>
          <p:nvPr/>
        </p:nvSpPr>
        <p:spPr>
          <a:xfrm>
            <a:off x="4927600" y="1714500"/>
            <a:ext cx="177800" cy="76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0" i="0" u="none" strike="noStrike" cap="none" dirty="0">
                <a:solidFill>
                  <a:srgbClr val="999999"/>
                </a:solidFill>
                <a:latin typeface="游ゴシック" panose="020B0400000000000000" pitchFamily="50" charset="-128"/>
                <a:ea typeface="游ゴシック" panose="020B0400000000000000" pitchFamily="50" charset="-128"/>
                <a:cs typeface="Century Gothic"/>
                <a:sym typeface="Century Gothic"/>
              </a:rPr>
              <a:t>▼</a:t>
            </a:r>
            <a:endParaRPr dirty="0">
              <a:latin typeface="游ゴシック" panose="020B0400000000000000" pitchFamily="50" charset="-128"/>
              <a:ea typeface="游ゴシック" panose="020B0400000000000000" pitchFamily="50" charset="-128"/>
            </a:endParaRPr>
          </a:p>
        </p:txBody>
      </p:sp>
      <p:sp>
        <p:nvSpPr>
          <p:cNvPr id="119" name="Google Shape;119;p3"/>
          <p:cNvSpPr/>
          <p:nvPr/>
        </p:nvSpPr>
        <p:spPr>
          <a:xfrm>
            <a:off x="4699000" y="1841499"/>
            <a:ext cx="635000" cy="961137"/>
          </a:xfrm>
          <a:prstGeom prst="roundRect">
            <a:avLst>
              <a:gd name="adj" fmla="val 6000"/>
            </a:avLst>
          </a:prstGeom>
          <a:solidFill>
            <a:srgbClr val="E3F2FD"/>
          </a:solidFill>
          <a:ln w="9525" cap="flat" cmpd="sng">
            <a:solidFill>
              <a:srgbClr val="1976D2"/>
            </a:solidFill>
            <a:prstDash val="solid"/>
            <a:round/>
            <a:headEnd type="none" w="sm" len="sm"/>
            <a:tailEnd type="none" w="sm" len="sm"/>
          </a:ln>
        </p:spPr>
        <p:txBody>
          <a:bodyPr spcFirstLastPara="1" wrap="square" lIns="45000" tIns="27000" rIns="45000" bIns="2700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ja" sz="65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将来</a:t>
            </a:r>
            <a:endParaRPr dirty="0">
              <a:latin typeface="游ゴシック" panose="020B0400000000000000" pitchFamily="50" charset="-128"/>
              <a:ea typeface="游ゴシック" panose="020B0400000000000000" pitchFamily="50" charset="-128"/>
            </a:endParaRPr>
          </a:p>
        </p:txBody>
      </p:sp>
      <p:sp>
        <p:nvSpPr>
          <p:cNvPr id="120" name="Google Shape;120;p3"/>
          <p:cNvSpPr txBox="1"/>
          <p:nvPr/>
        </p:nvSpPr>
        <p:spPr>
          <a:xfrm>
            <a:off x="5410200" y="1841500"/>
            <a:ext cx="3403600" cy="762000"/>
          </a:xfrm>
          <a:prstGeom prst="rect">
            <a:avLst/>
          </a:prstGeom>
          <a:noFill/>
          <a:ln>
            <a:noFill/>
          </a:ln>
        </p:spPr>
        <p:txBody>
          <a:bodyPr spcFirstLastPara="1" wrap="square" lIns="0" tIns="0" rIns="0" bIns="0" anchor="t" anchorCtr="0">
            <a:noAutofit/>
          </a:bodyPr>
          <a:lstStyle/>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アセスメント情報ヒアリング音声の自動フォーマット化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ケアプラン作成の自動化・標準化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カメラ・センサーの最大活用（施設装備標準化）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介護リアルデータのカスタムメイドケア活用（重度化予測等）</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社内問合せAI（RAG）</a:t>
            </a:r>
            <a:endParaRPr lang="en-US" alt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marL="114300" marR="0" lvl="0" indent="-114300" algn="l" rtl="0">
              <a:lnSpc>
                <a:spcPct val="130000"/>
              </a:lnSpc>
              <a:spcBef>
                <a:spcPts val="0"/>
              </a:spcBef>
              <a:spcAft>
                <a:spcPts val="0"/>
              </a:spcAft>
              <a:buClr>
                <a:srgbClr val="555555"/>
              </a:buClr>
              <a:buSzPts val="600"/>
              <a:buFont typeface="Arial"/>
              <a:buChar char="•"/>
            </a:pPr>
            <a:r>
              <a:rPr lang="en-US" altLang="ja" sz="800" b="0" i="0" u="none" strike="noStrike" cap="none" dirty="0" err="1">
                <a:solidFill>
                  <a:srgbClr val="555555"/>
                </a:solidFill>
                <a:latin typeface="游ゴシック" panose="020B0400000000000000" pitchFamily="50" charset="-128"/>
                <a:ea typeface="游ゴシック" panose="020B0400000000000000" pitchFamily="50" charset="-128"/>
                <a:cs typeface="Century Gothic"/>
                <a:sym typeface="Century Gothic"/>
              </a:rPr>
              <a:t>etc</a:t>
            </a:r>
            <a:endPar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121" name="Google Shape;121;p3"/>
          <p:cNvCxnSpPr/>
          <p:nvPr/>
        </p:nvCxnSpPr>
        <p:spPr>
          <a:xfrm>
            <a:off x="406400" y="3109468"/>
            <a:ext cx="8331200" cy="0"/>
          </a:xfrm>
          <a:prstGeom prst="straightConnector1">
            <a:avLst/>
          </a:prstGeom>
          <a:noFill/>
          <a:ln w="9525" cap="flat" cmpd="sng">
            <a:solidFill>
              <a:srgbClr val="E0E0E0"/>
            </a:solidFill>
            <a:prstDash val="solid"/>
            <a:round/>
            <a:headEnd type="none" w="sm" len="sm"/>
            <a:tailEnd type="none" w="sm" len="sm"/>
          </a:ln>
        </p:spPr>
      </p:cxnSp>
      <p:sp>
        <p:nvSpPr>
          <p:cNvPr id="122" name="Google Shape;122;p3"/>
          <p:cNvSpPr txBox="1"/>
          <p:nvPr/>
        </p:nvSpPr>
        <p:spPr>
          <a:xfrm>
            <a:off x="406400" y="3211068"/>
            <a:ext cx="83312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 </a:t>
            </a:r>
            <a:r>
              <a:rPr lang="ja-JP" altLang="en-US" sz="800" b="1" dirty="0">
                <a:solidFill>
                  <a:srgbClr val="5298BA"/>
                </a:solidFill>
                <a:latin typeface="游ゴシック" panose="020B0400000000000000" pitchFamily="50" charset="-128"/>
                <a:ea typeface="游ゴシック" panose="020B0400000000000000" pitchFamily="50" charset="-128"/>
                <a:cs typeface="Century Gothic"/>
                <a:sym typeface="Century Gothic"/>
              </a:rPr>
              <a:t>めざす</a:t>
            </a: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姿を</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考える上の前提・スコープ</a:t>
            </a:r>
            <a:endParaRPr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123" name="Google Shape;123;p3"/>
          <p:cNvCxnSpPr/>
          <p:nvPr/>
        </p:nvCxnSpPr>
        <p:spPr>
          <a:xfrm>
            <a:off x="406400" y="3388868"/>
            <a:ext cx="8331200" cy="0"/>
          </a:xfrm>
          <a:prstGeom prst="straightConnector1">
            <a:avLst/>
          </a:prstGeom>
          <a:noFill/>
          <a:ln w="9525" cap="flat" cmpd="sng">
            <a:solidFill>
              <a:srgbClr val="E0E0E0"/>
            </a:solidFill>
            <a:prstDash val="solid"/>
            <a:round/>
            <a:headEnd type="none" w="sm" len="sm"/>
            <a:tailEnd type="none" w="sm" len="sm"/>
          </a:ln>
        </p:spPr>
      </p:cxnSp>
      <p:sp>
        <p:nvSpPr>
          <p:cNvPr id="124" name="Google Shape;124;p3"/>
          <p:cNvSpPr txBox="1"/>
          <p:nvPr/>
        </p:nvSpPr>
        <p:spPr>
          <a:xfrm>
            <a:off x="406400" y="34650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en-US" sz="700" b="1" dirty="0" err="1">
                <a:solidFill>
                  <a:srgbClr val="2C3E50"/>
                </a:solidFill>
                <a:latin typeface="游ゴシック" panose="020B0400000000000000" pitchFamily="50" charset="-128"/>
                <a:ea typeface="游ゴシック" panose="020B0400000000000000" pitchFamily="50" charset="-128"/>
                <a:sym typeface="Century Gothic"/>
              </a:rPr>
              <a:t>移行スコープ</a:t>
            </a:r>
            <a:endParaRPr dirty="0">
              <a:latin typeface="游ゴシック" panose="020B0400000000000000" pitchFamily="50" charset="-128"/>
              <a:ea typeface="游ゴシック" panose="020B0400000000000000" pitchFamily="50" charset="-128"/>
            </a:endParaRPr>
          </a:p>
        </p:txBody>
      </p:sp>
      <p:sp>
        <p:nvSpPr>
          <p:cNvPr id="125" name="Google Shape;125;p3"/>
          <p:cNvSpPr txBox="1"/>
          <p:nvPr/>
        </p:nvSpPr>
        <p:spPr>
          <a:xfrm>
            <a:off x="1676400" y="34650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dirty="0">
                <a:solidFill>
                  <a:srgbClr val="555555"/>
                </a:solidFill>
                <a:latin typeface="游ゴシック" panose="020B0400000000000000" pitchFamily="50" charset="-128"/>
                <a:ea typeface="游ゴシック" panose="020B0400000000000000" pitchFamily="50" charset="-128"/>
                <a:cs typeface="Century Gothic"/>
                <a:sym typeface="Century Gothic"/>
              </a:rPr>
              <a:t>デ</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ータ統合・加工・ガバナンス機能および既存</a:t>
            </a:r>
            <a:r>
              <a:rPr lang="en" altLang="ja"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資産を業界標準設計で継承する。活用が限定的な機能は</a:t>
            </a: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ツールや</a:t>
            </a: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活用で軽量に代替</a:t>
            </a:r>
            <a:endParaRPr dirty="0">
              <a:latin typeface="游ゴシック" panose="020B0400000000000000" pitchFamily="50" charset="-128"/>
              <a:ea typeface="游ゴシック" panose="020B0400000000000000" pitchFamily="50" charset="-128"/>
            </a:endParaRPr>
          </a:p>
        </p:txBody>
      </p:sp>
      <p:cxnSp>
        <p:nvCxnSpPr>
          <p:cNvPr id="126" name="Google Shape;126;p3"/>
          <p:cNvCxnSpPr/>
          <p:nvPr/>
        </p:nvCxnSpPr>
        <p:spPr>
          <a:xfrm>
            <a:off x="406400" y="3769868"/>
            <a:ext cx="8331200" cy="0"/>
          </a:xfrm>
          <a:prstGeom prst="straightConnector1">
            <a:avLst/>
          </a:prstGeom>
          <a:noFill/>
          <a:ln w="9525" cap="flat" cmpd="sng">
            <a:solidFill>
              <a:srgbClr val="E0E0E0"/>
            </a:solidFill>
            <a:prstDash val="solid"/>
            <a:round/>
            <a:headEnd type="none" w="sm" len="sm"/>
            <a:tailEnd type="none" w="sm" len="sm"/>
          </a:ln>
        </p:spPr>
      </p:cxnSp>
      <p:sp>
        <p:nvSpPr>
          <p:cNvPr id="127" name="Google Shape;127;p3"/>
          <p:cNvSpPr txBox="1"/>
          <p:nvPr/>
        </p:nvSpPr>
        <p:spPr>
          <a:xfrm>
            <a:off x="406400" y="38206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管理対象</a:t>
            </a:r>
            <a:endParaRPr dirty="0">
              <a:latin typeface="游ゴシック" panose="020B0400000000000000" pitchFamily="50" charset="-128"/>
              <a:ea typeface="游ゴシック" panose="020B0400000000000000" pitchFamily="50" charset="-128"/>
            </a:endParaRPr>
          </a:p>
        </p:txBody>
      </p:sp>
      <p:sp>
        <p:nvSpPr>
          <p:cNvPr id="128" name="Google Shape;128;p3"/>
          <p:cNvSpPr txBox="1"/>
          <p:nvPr/>
        </p:nvSpPr>
        <p:spPr>
          <a:xfrm>
            <a:off x="1676400" y="38206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SOMPO</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ケア固有のデータ資産を管理対象とする。テキスト・映像等の非構造化データの生データも保管・カタログ登録の対象とする（</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Bronze</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層に格納）</a:t>
            </a:r>
            <a:endPar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lvl="0">
              <a:lnSpc>
                <a:spcPct val="150000"/>
              </a:lnSpc>
              <a:buSzPts val="700"/>
            </a:pPr>
            <a:r>
              <a:rPr lang="en" altLang="ja-JP" sz="700" dirty="0">
                <a:solidFill>
                  <a:srgbClr val="555555"/>
                </a:solidFill>
                <a:latin typeface="游ゴシック" panose="020B0400000000000000" pitchFamily="50" charset="-128"/>
                <a:ea typeface="游ゴシック" panose="020B0400000000000000" pitchFamily="50" charset="-128"/>
              </a:rPr>
              <a:t> NLP/</a:t>
            </a:r>
            <a:r>
              <a:rPr lang="ja-JP" altLang="en-US" sz="700" dirty="0">
                <a:solidFill>
                  <a:srgbClr val="555555"/>
                </a:solidFill>
                <a:latin typeface="游ゴシック" panose="020B0400000000000000" pitchFamily="50" charset="-128"/>
                <a:ea typeface="游ゴシック" panose="020B0400000000000000" pitchFamily="50" charset="-128"/>
              </a:rPr>
              <a:t>画像解析等の加工処理は難易度が高くユースケースごとに個別設計が必要。具体的な加工処理は段階的に内製化する</a:t>
            </a:r>
            <a:endParaRPr sz="700" dirty="0">
              <a:solidFill>
                <a:srgbClr val="555555"/>
              </a:solidFill>
              <a:latin typeface="游ゴシック" panose="020B0400000000000000" pitchFamily="50" charset="-128"/>
              <a:ea typeface="游ゴシック" panose="020B0400000000000000" pitchFamily="50" charset="-128"/>
            </a:endParaRPr>
          </a:p>
        </p:txBody>
      </p:sp>
      <p:cxnSp>
        <p:nvCxnSpPr>
          <p:cNvPr id="129" name="Google Shape;129;p3"/>
          <p:cNvCxnSpPr/>
          <p:nvPr/>
        </p:nvCxnSpPr>
        <p:spPr>
          <a:xfrm>
            <a:off x="406400" y="4125468"/>
            <a:ext cx="8331200" cy="0"/>
          </a:xfrm>
          <a:prstGeom prst="straightConnector1">
            <a:avLst/>
          </a:prstGeom>
          <a:noFill/>
          <a:ln w="9525" cap="flat" cmpd="sng">
            <a:solidFill>
              <a:srgbClr val="E0E0E0"/>
            </a:solidFill>
            <a:prstDash val="solid"/>
            <a:round/>
            <a:headEnd type="none" w="sm" len="sm"/>
            <a:tailEnd type="none" w="sm" len="sm"/>
          </a:ln>
        </p:spPr>
      </p:cxnSp>
      <p:sp>
        <p:nvSpPr>
          <p:cNvPr id="130" name="Google Shape;130;p3"/>
          <p:cNvSpPr txBox="1"/>
          <p:nvPr/>
        </p:nvSpPr>
        <p:spPr>
          <a:xfrm>
            <a:off x="406400" y="41762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dirty="0">
                <a:solidFill>
                  <a:srgbClr val="2C3E50"/>
                </a:solidFill>
                <a:latin typeface="游ゴシック" panose="020B0400000000000000" pitchFamily="50" charset="-128"/>
                <a:ea typeface="游ゴシック" panose="020B0400000000000000" pitchFamily="50" charset="-128"/>
                <a:sym typeface="Century Gothic"/>
              </a:rPr>
              <a:t>データオーナー</a:t>
            </a:r>
            <a:endParaRPr dirty="0">
              <a:latin typeface="游ゴシック" panose="020B0400000000000000" pitchFamily="50" charset="-128"/>
              <a:ea typeface="游ゴシック" panose="020B0400000000000000" pitchFamily="50" charset="-128"/>
            </a:endParaRPr>
          </a:p>
        </p:txBody>
      </p:sp>
      <p:sp>
        <p:nvSpPr>
          <p:cNvPr id="131" name="Google Shape;131;p3"/>
          <p:cNvSpPr txBox="1"/>
          <p:nvPr/>
        </p:nvSpPr>
        <p:spPr>
          <a:xfrm>
            <a:off x="1676400" y="41762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データオーナーは各データドメインごとに明確化し、各主体が責任を持って管理できる状態をつくる。中央集約だけでなく横断的に連携・活用できる構造を目指す</a:t>
            </a:r>
            <a:endParaRPr dirty="0">
              <a:latin typeface="游ゴシック" panose="020B0400000000000000" pitchFamily="50" charset="-128"/>
              <a:ea typeface="游ゴシック" panose="020B0400000000000000" pitchFamily="50" charset="-128"/>
            </a:endParaRPr>
          </a:p>
        </p:txBody>
      </p:sp>
      <p:cxnSp>
        <p:nvCxnSpPr>
          <p:cNvPr id="2" name="Google Shape;129;p3">
            <a:extLst>
              <a:ext uri="{FF2B5EF4-FFF2-40B4-BE49-F238E27FC236}">
                <a16:creationId xmlns:a16="http://schemas.microsoft.com/office/drawing/2014/main" id="{14389270-B52D-334D-A987-FAE76AF1FFBE}"/>
              </a:ext>
            </a:extLst>
          </p:cNvPr>
          <p:cNvCxnSpPr/>
          <p:nvPr/>
        </p:nvCxnSpPr>
        <p:spPr>
          <a:xfrm>
            <a:off x="406400" y="4432301"/>
            <a:ext cx="8331200" cy="0"/>
          </a:xfrm>
          <a:prstGeom prst="straightConnector1">
            <a:avLst/>
          </a:prstGeom>
          <a:noFill/>
          <a:ln w="9525" cap="flat" cmpd="sng">
            <a:solidFill>
              <a:srgbClr val="E0E0E0"/>
            </a:solidFill>
            <a:prstDash val="solid"/>
            <a:round/>
            <a:headEnd type="none" w="sm" len="sm"/>
            <a:tailEnd type="none" w="sm" len="sm"/>
          </a:ln>
        </p:spPr>
      </p:cxnSp>
      <p:sp>
        <p:nvSpPr>
          <p:cNvPr id="3" name="Google Shape;130;p3">
            <a:extLst>
              <a:ext uri="{FF2B5EF4-FFF2-40B4-BE49-F238E27FC236}">
                <a16:creationId xmlns:a16="http://schemas.microsoft.com/office/drawing/2014/main" id="{A605E3B2-C5BE-8A82-676B-0498E77737AA}"/>
              </a:ext>
            </a:extLst>
          </p:cNvPr>
          <p:cNvSpPr txBox="1"/>
          <p:nvPr/>
        </p:nvSpPr>
        <p:spPr>
          <a:xfrm>
            <a:off x="406400" y="4483101"/>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dirty="0">
                <a:solidFill>
                  <a:srgbClr val="2C3E50"/>
                </a:solidFill>
                <a:latin typeface="游ゴシック" panose="020B0400000000000000" pitchFamily="50" charset="-128"/>
                <a:ea typeface="游ゴシック" panose="020B0400000000000000" pitchFamily="50" charset="-128"/>
                <a:sym typeface="Century Gothic"/>
              </a:rPr>
              <a:t>分析の範囲</a:t>
            </a:r>
            <a:endParaRPr dirty="0">
              <a:latin typeface="游ゴシック" panose="020B0400000000000000" pitchFamily="50" charset="-128"/>
              <a:ea typeface="游ゴシック" panose="020B0400000000000000" pitchFamily="50" charset="-128"/>
            </a:endParaRPr>
          </a:p>
        </p:txBody>
      </p:sp>
      <p:sp>
        <p:nvSpPr>
          <p:cNvPr id="4" name="Google Shape;131;p3">
            <a:extLst>
              <a:ext uri="{FF2B5EF4-FFF2-40B4-BE49-F238E27FC236}">
                <a16:creationId xmlns:a16="http://schemas.microsoft.com/office/drawing/2014/main" id="{658364AB-C8A4-502D-EB76-1EDCE81F9D78}"/>
              </a:ext>
            </a:extLst>
          </p:cNvPr>
          <p:cNvSpPr txBox="1"/>
          <p:nvPr/>
        </p:nvSpPr>
        <p:spPr>
          <a:xfrm>
            <a:off x="1676400" y="4483101"/>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ダッシュボード閲覧（施設長・本部管理者 ）、セルフ</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ミドル部門・経営企画等）、自由な分析（</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IT</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企画部・データ分析チーム）を今回の自走範囲とする</a:t>
            </a:r>
            <a:endPar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50000"/>
              </a:lnSpc>
              <a:spcBef>
                <a:spcPts val="0"/>
              </a:spcBef>
              <a:spcAft>
                <a:spcPts val="0"/>
              </a:spcAft>
              <a:buClr>
                <a:srgbClr val="000000"/>
              </a:buClr>
              <a:buSzPts val="700"/>
              <a:buFont typeface="Arial"/>
              <a:buNone/>
            </a:pP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AI/ML</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分析は基盤として枠を確保し、段階的に拡張</a:t>
            </a:r>
            <a:endParaRPr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38570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143" name="Google Shape;143;p4"/>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1.2  AI時代のデータ基盤選定</a:t>
            </a:r>
            <a:endParaRPr sz="1800" b="0" i="0" u="none" strike="noStrike" cap="none" dirty="0">
              <a:solidFill>
                <a:schemeClr val="dk1"/>
              </a:solidFill>
              <a:latin typeface="Calibri"/>
              <a:ea typeface="Calibri"/>
              <a:cs typeface="Calibri"/>
              <a:sym typeface="Calibri"/>
            </a:endParaRPr>
          </a:p>
        </p:txBody>
      </p:sp>
      <p:sp>
        <p:nvSpPr>
          <p:cNvPr id="144" name="Google Shape;144;p4"/>
          <p:cNvSpPr/>
          <p:nvPr/>
        </p:nvSpPr>
        <p:spPr>
          <a:xfrm>
            <a:off x="406301" y="609600"/>
            <a:ext cx="8498100" cy="20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重要なのは特定のLLMや個別ツールの選定ではなく、データを適切な権限で蓄積・加工・探索できる基盤の選定である。</a:t>
            </a:r>
            <a:endParaRPr sz="1000" b="1" i="0" u="none" strike="noStrike" cap="none" dirty="0">
              <a:solidFill>
                <a:schemeClr val="tx1"/>
              </a:solidFill>
              <a:latin typeface="Calibri"/>
              <a:ea typeface="Calibri"/>
              <a:cs typeface="Calibri"/>
              <a:sym typeface="Calibri"/>
            </a:endParaRPr>
          </a:p>
        </p:txBody>
      </p:sp>
      <p:cxnSp>
        <p:nvCxnSpPr>
          <p:cNvPr id="145" name="Google Shape;145;p4"/>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46" name="Google Shape;146;p4"/>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47" name="Google Shape;147;p4"/>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2</a:t>
            </a:r>
            <a:endParaRPr sz="550" b="0" i="0" u="none" strike="noStrike" cap="none" dirty="0">
              <a:solidFill>
                <a:schemeClr val="dk1"/>
              </a:solidFill>
              <a:latin typeface="Calibri"/>
              <a:ea typeface="Calibri"/>
              <a:cs typeface="Calibri"/>
              <a:sym typeface="Calibri"/>
            </a:endParaRPr>
          </a:p>
        </p:txBody>
      </p:sp>
      <p:sp>
        <p:nvSpPr>
          <p:cNvPr id="148" name="Google Shape;148;p4"/>
          <p:cNvSpPr txBox="1"/>
          <p:nvPr/>
        </p:nvSpPr>
        <p:spPr>
          <a:xfrm>
            <a:off x="4064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 今回のRFPにおける基盤選定の意味</a:t>
            </a:r>
            <a:endParaRPr dirty="0">
              <a:latin typeface="游ゴシック" panose="020B0400000000000000" pitchFamily="50" charset="-128"/>
              <a:ea typeface="游ゴシック" panose="020B0400000000000000" pitchFamily="50" charset="-128"/>
            </a:endParaRPr>
          </a:p>
        </p:txBody>
      </p:sp>
      <p:cxnSp>
        <p:nvCxnSpPr>
          <p:cNvPr id="149" name="Google Shape;149;p4"/>
          <p:cNvCxnSpPr/>
          <p:nvPr/>
        </p:nvCxnSpPr>
        <p:spPr>
          <a:xfrm>
            <a:off x="4064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50" name="Google Shape;150;p4"/>
          <p:cNvSpPr txBox="1"/>
          <p:nvPr/>
        </p:nvSpPr>
        <p:spPr>
          <a:xfrm>
            <a:off x="406400" y="1257300"/>
            <a:ext cx="4114800" cy="13335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今回のRFPの主目的は、Foundry基盤からの確実な移行である。</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一方で、移行先の基盤は、今後のデータ活用・AI活用の自由度を決める。</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00"/>
              <a:buFont typeface="Arial"/>
              <a:buNone/>
            </a:pPr>
            <a:r>
              <a:rPr lang="ja-JP" altLang="en-US"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t>
            </a: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今回の基盤選定は単なる移行先比較ではなく、</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50"/>
              <a:buFont typeface="Arial"/>
              <a:buNone/>
            </a:pP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　</a:t>
            </a: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今後の拡張余地をどこまで確保できるかを見極める判断</a:t>
            </a: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 でもある</a:t>
            </a:r>
            <a:endParaRPr sz="900" dirty="0">
              <a:latin typeface="游ゴシック" panose="020B0400000000000000" pitchFamily="50" charset="-128"/>
              <a:ea typeface="游ゴシック" panose="020B0400000000000000" pitchFamily="50" charset="-128"/>
            </a:endParaRPr>
          </a:p>
        </p:txBody>
      </p:sp>
      <p:sp>
        <p:nvSpPr>
          <p:cNvPr id="151" name="Google Shape;151;p4"/>
          <p:cNvSpPr txBox="1"/>
          <p:nvPr/>
        </p:nvSpPr>
        <p:spPr>
          <a:xfrm>
            <a:off x="46990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 AI時代に基盤で重要になること</a:t>
            </a:r>
            <a:endParaRPr dirty="0">
              <a:latin typeface="游ゴシック" panose="020B0400000000000000" pitchFamily="50" charset="-128"/>
              <a:ea typeface="游ゴシック" panose="020B0400000000000000" pitchFamily="50" charset="-128"/>
            </a:endParaRPr>
          </a:p>
        </p:txBody>
      </p:sp>
      <p:cxnSp>
        <p:nvCxnSpPr>
          <p:cNvPr id="152" name="Google Shape;152;p4"/>
          <p:cNvCxnSpPr/>
          <p:nvPr/>
        </p:nvCxnSpPr>
        <p:spPr>
          <a:xfrm>
            <a:off x="46990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53" name="Google Shape;153;p4"/>
          <p:cNvSpPr txBox="1"/>
          <p:nvPr/>
        </p:nvSpPr>
        <p:spPr>
          <a:xfrm>
            <a:off x="4699000" y="1257300"/>
            <a:ext cx="4114800" cy="3302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AI活用の成否はモデル単体の性能だけでは決まらない。実務で継続的に価値を出すには、基盤として次の条件が必要になる</a:t>
            </a:r>
            <a:endParaRPr sz="1600" dirty="0">
              <a:latin typeface="游ゴシック" panose="020B0400000000000000" pitchFamily="50" charset="-128"/>
              <a:ea typeface="游ゴシック" panose="020B0400000000000000" pitchFamily="50" charset="-128"/>
            </a:endParaRPr>
          </a:p>
        </p:txBody>
      </p:sp>
      <p:sp>
        <p:nvSpPr>
          <p:cNvPr id="154" name="Google Shape;154;p4"/>
          <p:cNvSpPr txBox="1"/>
          <p:nvPr/>
        </p:nvSpPr>
        <p:spPr>
          <a:xfrm>
            <a:off x="4807373" y="1692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必要なデータが継続的に蓄積されること</a:t>
            </a:r>
            <a:endParaRPr sz="1800" dirty="0">
              <a:latin typeface="游ゴシック" panose="020B0400000000000000" pitchFamily="50" charset="-128"/>
              <a:ea typeface="游ゴシック" panose="020B0400000000000000" pitchFamily="50" charset="-128"/>
            </a:endParaRPr>
          </a:p>
        </p:txBody>
      </p:sp>
      <p:sp>
        <p:nvSpPr>
          <p:cNvPr id="155" name="Google Shape;155;p4"/>
          <p:cNvSpPr txBox="1"/>
          <p:nvPr/>
        </p:nvSpPr>
        <p:spPr>
          <a:xfrm>
            <a:off x="4807373" y="18829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データが加工・検索・横断利用しやすい形で整備されていること</a:t>
            </a:r>
            <a:endParaRPr sz="1800" dirty="0">
              <a:latin typeface="游ゴシック" panose="020B0400000000000000" pitchFamily="50" charset="-128"/>
              <a:ea typeface="游ゴシック" panose="020B0400000000000000" pitchFamily="50" charset="-128"/>
            </a:endParaRPr>
          </a:p>
        </p:txBody>
      </p:sp>
      <p:sp>
        <p:nvSpPr>
          <p:cNvPr id="156" name="Google Shape;156;p4"/>
          <p:cNvSpPr txBox="1"/>
          <p:nvPr/>
        </p:nvSpPr>
        <p:spPr>
          <a:xfrm>
            <a:off x="4807373" y="2073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施設・部門・職種に応じた権限制御が効いていること</a:t>
            </a:r>
            <a:endParaRPr sz="1800" dirty="0">
              <a:latin typeface="游ゴシック" panose="020B0400000000000000" pitchFamily="50" charset="-128"/>
              <a:ea typeface="游ゴシック" panose="020B0400000000000000" pitchFamily="50" charset="-128"/>
            </a:endParaRPr>
          </a:p>
        </p:txBody>
      </p:sp>
      <p:sp>
        <p:nvSpPr>
          <p:cNvPr id="157" name="Google Shape;157;p4"/>
          <p:cNvSpPr txBox="1"/>
          <p:nvPr/>
        </p:nvSpPr>
        <p:spPr>
          <a:xfrm>
            <a:off x="4807373" y="22639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監査や運用ルールを含めて継続利用できること</a:t>
            </a:r>
            <a:endParaRPr sz="1800" dirty="0">
              <a:latin typeface="游ゴシック" panose="020B0400000000000000" pitchFamily="50" charset="-128"/>
              <a:ea typeface="游ゴシック" panose="020B0400000000000000" pitchFamily="50" charset="-128"/>
            </a:endParaRPr>
          </a:p>
        </p:txBody>
      </p:sp>
      <p:sp>
        <p:nvSpPr>
          <p:cNvPr id="158" name="Google Shape;158;p4"/>
          <p:cNvSpPr txBox="1"/>
          <p:nvPr/>
        </p:nvSpPr>
        <p:spPr>
          <a:xfrm>
            <a:off x="4807373" y="2454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新しいAI技術や処理方式を追加しやすいこと</a:t>
            </a:r>
            <a:endParaRPr sz="1800" dirty="0">
              <a:latin typeface="游ゴシック" panose="020B0400000000000000" pitchFamily="50" charset="-128"/>
              <a:ea typeface="游ゴシック" panose="020B0400000000000000" pitchFamily="50" charset="-128"/>
            </a:endParaRPr>
          </a:p>
        </p:txBody>
      </p:sp>
      <p:cxnSp>
        <p:nvCxnSpPr>
          <p:cNvPr id="159" name="Google Shape;159;p4"/>
          <p:cNvCxnSpPr/>
          <p:nvPr/>
        </p:nvCxnSpPr>
        <p:spPr>
          <a:xfrm>
            <a:off x="4597400" y="1028700"/>
            <a:ext cx="0" cy="1689100"/>
          </a:xfrm>
          <a:prstGeom prst="straightConnector1">
            <a:avLst/>
          </a:prstGeom>
          <a:noFill/>
          <a:ln w="9525" cap="flat" cmpd="sng">
            <a:solidFill>
              <a:srgbClr val="CCCCCC"/>
            </a:solidFill>
            <a:prstDash val="solid"/>
            <a:round/>
            <a:headEnd type="none" w="sm" len="sm"/>
            <a:tailEnd type="none" w="sm" len="sm"/>
          </a:ln>
        </p:spPr>
      </p:cxnSp>
      <p:cxnSp>
        <p:nvCxnSpPr>
          <p:cNvPr id="160" name="Google Shape;160;p4"/>
          <p:cNvCxnSpPr/>
          <p:nvPr/>
        </p:nvCxnSpPr>
        <p:spPr>
          <a:xfrm>
            <a:off x="406400" y="2743200"/>
            <a:ext cx="8331200" cy="0"/>
          </a:xfrm>
          <a:prstGeom prst="straightConnector1">
            <a:avLst/>
          </a:prstGeom>
          <a:noFill/>
          <a:ln w="9525" cap="flat" cmpd="sng">
            <a:solidFill>
              <a:srgbClr val="E0E0E0"/>
            </a:solidFill>
            <a:prstDash val="solid"/>
            <a:round/>
            <a:headEnd type="none" w="sm" len="sm"/>
            <a:tailEnd type="none" w="sm" len="sm"/>
          </a:ln>
        </p:spPr>
      </p:cxnSp>
      <p:sp>
        <p:nvSpPr>
          <p:cNvPr id="161" name="Google Shape;161;p4"/>
          <p:cNvSpPr txBox="1"/>
          <p:nvPr/>
        </p:nvSpPr>
        <p:spPr>
          <a:xfrm>
            <a:off x="406400" y="28448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 変わるもの / 変わりにくいもの</a:t>
            </a:r>
            <a:endParaRPr dirty="0">
              <a:latin typeface="游ゴシック" panose="020B0400000000000000" pitchFamily="50" charset="-128"/>
              <a:ea typeface="游ゴシック" panose="020B0400000000000000" pitchFamily="50" charset="-128"/>
            </a:endParaRPr>
          </a:p>
        </p:txBody>
      </p:sp>
      <p:cxnSp>
        <p:nvCxnSpPr>
          <p:cNvPr id="162" name="Google Shape;162;p4"/>
          <p:cNvCxnSpPr/>
          <p:nvPr/>
        </p:nvCxnSpPr>
        <p:spPr>
          <a:xfrm>
            <a:off x="406400" y="3022600"/>
            <a:ext cx="4114800" cy="0"/>
          </a:xfrm>
          <a:prstGeom prst="straightConnector1">
            <a:avLst/>
          </a:prstGeom>
          <a:noFill/>
          <a:ln w="9525" cap="flat" cmpd="sng">
            <a:solidFill>
              <a:srgbClr val="E0E0E0"/>
            </a:solidFill>
            <a:prstDash val="solid"/>
            <a:round/>
            <a:headEnd type="none" w="sm" len="sm"/>
            <a:tailEnd type="none" w="sm" len="sm"/>
          </a:ln>
        </p:spPr>
      </p:cxnSp>
      <p:sp>
        <p:nvSpPr>
          <p:cNvPr id="163" name="Google Shape;163;p4"/>
          <p:cNvSpPr txBox="1"/>
          <p:nvPr/>
        </p:nvSpPr>
        <p:spPr>
          <a:xfrm>
            <a:off x="406400" y="3060700"/>
            <a:ext cx="4114800" cy="177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変化の速い領域と、土台として価値が残る領域を分けて考える</a:t>
            </a:r>
            <a:endParaRPr sz="1800" dirty="0">
              <a:latin typeface="游ゴシック" panose="020B0400000000000000" pitchFamily="50" charset="-128"/>
              <a:ea typeface="游ゴシック" panose="020B0400000000000000" pitchFamily="50" charset="-128"/>
            </a:endParaRPr>
          </a:p>
        </p:txBody>
      </p:sp>
      <p:sp>
        <p:nvSpPr>
          <p:cNvPr id="164" name="Google Shape;164;p4"/>
          <p:cNvSpPr/>
          <p:nvPr/>
        </p:nvSpPr>
        <p:spPr>
          <a:xfrm>
            <a:off x="406400" y="3276600"/>
            <a:ext cx="4114800" cy="330200"/>
          </a:xfrm>
          <a:prstGeom prst="roundRect">
            <a:avLst>
              <a:gd name="adj" fmla="val 6000"/>
            </a:avLst>
          </a:prstGeom>
          <a:solidFill>
            <a:srgbClr val="F3F8FF"/>
          </a:solidFill>
          <a:ln w="9525" cap="flat" cmpd="sng">
            <a:solidFill>
              <a:srgbClr val="5298BA"/>
            </a:solidFill>
            <a:prstDash val="solid"/>
            <a:round/>
            <a:headEnd type="none" w="sm" len="sm"/>
            <a:tailEnd type="none" w="sm" len="sm"/>
          </a:ln>
        </p:spPr>
        <p:txBody>
          <a:bodyPr spcFirstLastPara="1" wrap="square" lIns="36000" tIns="27000" rIns="36000" bIns="27000" anchor="t" anchorCtr="0">
            <a:noAutofit/>
          </a:bodyPr>
          <a:lstStyle/>
          <a:p>
            <a:pPr marL="0" indent="0" algn="l">
              <a:lnSpc>
                <a:spcPct val="100000"/>
              </a:lnSpc>
              <a:spcBef>
                <a:spcPts val="0"/>
              </a:spcBef>
              <a:spcAft>
                <a:spcPts val="0"/>
              </a:spcAft>
              <a:buNone/>
            </a:pPr>
            <a:r>
              <a:rPr lang="ja" sz="900" b="1" dirty="0">
                <a:solidFill>
                  <a:srgbClr val="5298BA"/>
                </a:solidFill>
                <a:latin typeface="游ゴシック" panose="020B0400000000000000" pitchFamily="50" charset="-128"/>
                <a:ea typeface="游ゴシック" panose="020B0400000000000000" pitchFamily="50" charset="-128"/>
                <a:cs typeface="Century Gothic"/>
                <a:sym typeface="Century Gothic"/>
              </a:rPr>
              <a:t>変わるもの: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LLM、AIエージェント、AI関連ツール、実装パターン</a:t>
            </a:r>
          </a:p>
        </p:txBody>
      </p:sp>
      <p:sp>
        <p:nvSpPr>
          <p:cNvPr id="166" name="Google Shape;166;p4"/>
          <p:cNvSpPr/>
          <p:nvPr/>
        </p:nvSpPr>
        <p:spPr>
          <a:xfrm>
            <a:off x="406400" y="3657600"/>
            <a:ext cx="4114800" cy="330200"/>
          </a:xfrm>
          <a:prstGeom prst="roundRect">
            <a:avLst>
              <a:gd name="adj" fmla="val 6000"/>
            </a:avLst>
          </a:prstGeom>
          <a:solidFill>
            <a:srgbClr val="FFF8E1"/>
          </a:solidFill>
          <a:ln w="9525" cap="flat" cmpd="sng">
            <a:solidFill>
              <a:srgbClr val="F57C00"/>
            </a:solidFill>
            <a:prstDash val="solid"/>
            <a:round/>
            <a:headEnd type="none" w="sm" len="sm"/>
            <a:tailEnd type="none" w="sm" len="sm"/>
          </a:ln>
        </p:spPr>
        <p:txBody>
          <a:bodyPr spcFirstLastPara="1" wrap="square" lIns="36000" tIns="27000" rIns="36000" bIns="27000" anchor="t" anchorCtr="0">
            <a:noAutofit/>
          </a:bodyPr>
          <a:lstStyle/>
          <a:p>
            <a:pPr marL="0" indent="0" algn="l">
              <a:lnSpc>
                <a:spcPct val="100000"/>
              </a:lnSpc>
              <a:spcBef>
                <a:spcPts val="0"/>
              </a:spcBef>
              <a:spcAft>
                <a:spcPts val="0"/>
              </a:spcAft>
              <a:buNone/>
            </a:pPr>
            <a:r>
              <a:rPr lang="ja" sz="900" b="1" dirty="0">
                <a:solidFill>
                  <a:srgbClr val="E65100"/>
                </a:solidFill>
                <a:latin typeface="游ゴシック" panose="020B0400000000000000" pitchFamily="50" charset="-128"/>
                <a:ea typeface="游ゴシック" panose="020B0400000000000000" pitchFamily="50" charset="-128"/>
                <a:cs typeface="Century Gothic"/>
                <a:sym typeface="Century Gothic"/>
              </a:rPr>
              <a:t>変わりにくいもの: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データの蓄積・加工・探索、権限制御、ガバナンス</a:t>
            </a:r>
          </a:p>
        </p:txBody>
      </p:sp>
      <p:sp>
        <p:nvSpPr>
          <p:cNvPr id="167" name="Google Shape;167;p4"/>
          <p:cNvSpPr txBox="1"/>
          <p:nvPr/>
        </p:nvSpPr>
        <p:spPr>
          <a:xfrm>
            <a:off x="406400" y="4038600"/>
            <a:ext cx="4114800" cy="330200"/>
          </a:xfrm>
          <a:prstGeom prst="rect">
            <a:avLst/>
          </a:prstGeom>
          <a:noFill/>
          <a:ln>
            <a:noFill/>
          </a:ln>
        </p:spPr>
        <p:txBody>
          <a:bodyPr spcFirstLastPara="1" wrap="square" lIns="0" tIns="0" rIns="0" bIns="0" anchor="t" anchorCtr="0">
            <a:noAutofit/>
          </a:bodyPr>
          <a:lstStyle/>
          <a:p>
            <a:pPr marL="0" indent="0" algn="l">
              <a:lnSpc>
                <a:spcPct val="100000"/>
              </a:lnSpc>
              <a:spcBef>
                <a:spcPts val="0"/>
              </a:spcBef>
              <a:spcAft>
                <a:spcPts val="0"/>
              </a:spcAft>
              <a:buNone/>
            </a:pPr>
            <a:r>
              <a:rPr lang="ja" sz="900" b="1" dirty="0">
                <a:solidFill>
                  <a:srgbClr val="7B1FA2"/>
                </a:solidFill>
                <a:latin typeface="游ゴシック" panose="020B0400000000000000" pitchFamily="50" charset="-128"/>
                <a:ea typeface="游ゴシック" panose="020B0400000000000000" pitchFamily="50" charset="-128"/>
                <a:cs typeface="Century Gothic"/>
                <a:sym typeface="Century Gothic"/>
              </a:rPr>
              <a:t>技術では解決しないもの: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運用体制の設計、ナレッジの属人化解消、利用者の教育・定着</a:t>
            </a:r>
          </a:p>
        </p:txBody>
      </p:sp>
      <p:sp>
        <p:nvSpPr>
          <p:cNvPr id="168" name="Google Shape;168;p4"/>
          <p:cNvSpPr txBox="1"/>
          <p:nvPr/>
        </p:nvSpPr>
        <p:spPr>
          <a:xfrm>
            <a:off x="4699000" y="28448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 SOMPOケアにおける示唆</a:t>
            </a:r>
            <a:endParaRPr dirty="0">
              <a:latin typeface="游ゴシック" panose="020B0400000000000000" pitchFamily="50" charset="-128"/>
              <a:ea typeface="游ゴシック" panose="020B0400000000000000" pitchFamily="50" charset="-128"/>
            </a:endParaRPr>
          </a:p>
        </p:txBody>
      </p:sp>
      <p:cxnSp>
        <p:nvCxnSpPr>
          <p:cNvPr id="169" name="Google Shape;169;p4"/>
          <p:cNvCxnSpPr/>
          <p:nvPr/>
        </p:nvCxnSpPr>
        <p:spPr>
          <a:xfrm>
            <a:off x="4699000" y="3022600"/>
            <a:ext cx="4114800" cy="0"/>
          </a:xfrm>
          <a:prstGeom prst="straightConnector1">
            <a:avLst/>
          </a:prstGeom>
          <a:noFill/>
          <a:ln w="9525" cap="flat" cmpd="sng">
            <a:solidFill>
              <a:srgbClr val="E0E0E0"/>
            </a:solidFill>
            <a:prstDash val="solid"/>
            <a:round/>
            <a:headEnd type="none" w="sm" len="sm"/>
            <a:tailEnd type="none" w="sm" len="sm"/>
          </a:ln>
        </p:spPr>
      </p:cxnSp>
      <p:sp>
        <p:nvSpPr>
          <p:cNvPr id="170" name="Google Shape;170;p4"/>
          <p:cNvSpPr txBox="1"/>
          <p:nvPr/>
        </p:nvSpPr>
        <p:spPr>
          <a:xfrm>
            <a:off x="4699000" y="3060700"/>
            <a:ext cx="4114800" cy="1270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SOMPOケアは、多数施設にまたがる業務データ・介護記録・センサーデータを保有しており、基盤が整えばAI進化の恩恵を大きく受けられる。</a:t>
            </a:r>
            <a:endParaRPr sz="18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20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一方、基盤選定を誤ると、将来の活用が特定ベンダーや構成に制約され、追加対応や再設計が必要になる</a:t>
            </a:r>
            <a:endParaRPr sz="18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200"/>
              </a:spcBef>
              <a:spcAft>
                <a:spcPts val="0"/>
              </a:spcAft>
              <a:buClr>
                <a:srgbClr val="000000"/>
              </a:buClr>
              <a:buSzPts val="750"/>
              <a:buFont typeface="Arial"/>
              <a:buNone/>
            </a:pP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⇒「今動くか」「</a:t>
            </a:r>
            <a:r>
              <a:rPr lang="en" altLang="ja-JP"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Foundry</a:t>
            </a: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より安くなるか」「社内で回せるか」</a:t>
            </a:r>
            <a:endParaRPr lang="en-US" altLang="ja-JP"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60000"/>
              </a:lnSpc>
              <a:spcBef>
                <a:spcPts val="200"/>
              </a:spcBef>
              <a:spcAft>
                <a:spcPts val="0"/>
              </a:spcAft>
              <a:buClr>
                <a:srgbClr val="000000"/>
              </a:buClr>
              <a:buSzPts val="750"/>
              <a:buFont typeface="Arial"/>
              <a:buNone/>
            </a:pPr>
            <a:r>
              <a:rPr lang="ja-JP" altLang="en-US" sz="900" b="1" dirty="0">
                <a:solidFill>
                  <a:srgbClr val="2C3E50"/>
                </a:solidFill>
                <a:latin typeface="游ゴシック" panose="020B0400000000000000" pitchFamily="50" charset="-128"/>
                <a:ea typeface="游ゴシック" panose="020B0400000000000000" pitchFamily="50" charset="-128"/>
                <a:cs typeface="Century Gothic"/>
                <a:sym typeface="Century Gothic"/>
              </a:rPr>
              <a:t>　</a:t>
            </a: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「将来を阻害しないか」 をあわせて見る必要がある</a:t>
            </a:r>
          </a:p>
          <a:p>
            <a:pPr marL="0" marR="0" lvl="0" indent="0" algn="l" rtl="0">
              <a:lnSpc>
                <a:spcPct val="160000"/>
              </a:lnSpc>
              <a:spcBef>
                <a:spcPts val="200"/>
              </a:spcBef>
              <a:spcAft>
                <a:spcPts val="0"/>
              </a:spcAft>
              <a:buClr>
                <a:srgbClr val="000000"/>
              </a:buClr>
              <a:buSzPts val="750"/>
              <a:buFont typeface="Arial"/>
              <a:buNone/>
            </a:pPr>
            <a:br>
              <a:rPr lang="ja-JP" altLang="en-US" sz="75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endParaRPr dirty="0">
              <a:latin typeface="游ゴシック" panose="020B0400000000000000" pitchFamily="50" charset="-128"/>
              <a:ea typeface="游ゴシック" panose="020B0400000000000000" pitchFamily="50" charset="-128"/>
            </a:endParaRPr>
          </a:p>
        </p:txBody>
      </p:sp>
      <p:cxnSp>
        <p:nvCxnSpPr>
          <p:cNvPr id="171" name="Google Shape;171;p4"/>
          <p:cNvCxnSpPr/>
          <p:nvPr/>
        </p:nvCxnSpPr>
        <p:spPr>
          <a:xfrm>
            <a:off x="4597400" y="2743200"/>
            <a:ext cx="0" cy="1879600"/>
          </a:xfrm>
          <a:prstGeom prst="straightConnector1">
            <a:avLst/>
          </a:prstGeom>
          <a:noFill/>
          <a:ln w="9525" cap="flat" cmpd="sng">
            <a:solidFill>
              <a:srgbClr val="CCCCCC"/>
            </a:solidFill>
            <a:prstDash val="solid"/>
            <a:round/>
            <a:headEnd type="none" w="sm" len="sm"/>
            <a:tailEnd type="none" w="sm" len="sm"/>
          </a:ln>
        </p:spPr>
      </p:cxnSp>
    </p:spTree>
    <p:extLst>
      <p:ext uri="{BB962C8B-B14F-4D97-AF65-F5344CB8AC3E}">
        <p14:creationId xmlns:p14="http://schemas.microsoft.com/office/powerpoint/2010/main" val="215281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5"/>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1.3  AI活用も見据えたデータ基盤に求められる7つの観点</a:t>
            </a:r>
            <a:endParaRPr sz="1800" b="0" i="0" u="none" strike="noStrike" cap="none" dirty="0">
              <a:solidFill>
                <a:schemeClr val="dk1"/>
              </a:solidFill>
              <a:latin typeface="Calibri"/>
              <a:ea typeface="Calibri"/>
              <a:cs typeface="Calibri"/>
              <a:sym typeface="Calibri"/>
            </a:endParaRPr>
          </a:p>
        </p:txBody>
      </p:sp>
      <p:sp>
        <p:nvSpPr>
          <p:cNvPr id="178" name="Google Shape;178;p5"/>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今回の選定対象はデータ基盤であるが、将来の</a:t>
            </a:r>
            <a:r>
              <a:rPr lang="en" altLang="ja-JP"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活用やデータ連携の広がりも阻害しないことを前提に、</a:t>
            </a:r>
            <a:r>
              <a:rPr lang="en-US" altLang="ja-JP"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7</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つの観点で必須要件と将来を阻害しないための確認事項を整理する。</a:t>
            </a:r>
            <a:endParaRPr b="1" dirty="0">
              <a:solidFill>
                <a:schemeClr val="tx1"/>
              </a:solidFill>
              <a:latin typeface="游ゴシック" panose="020B0400000000000000" pitchFamily="50" charset="-128"/>
              <a:ea typeface="游ゴシック" panose="020B0400000000000000" pitchFamily="50" charset="-128"/>
            </a:endParaRPr>
          </a:p>
        </p:txBody>
      </p:sp>
      <p:cxnSp>
        <p:nvCxnSpPr>
          <p:cNvPr id="179" name="Google Shape;179;p5"/>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80" name="Google Shape;180;p5"/>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graphicFrame>
        <p:nvGraphicFramePr>
          <p:cNvPr id="182" name="Google Shape;182;p5"/>
          <p:cNvGraphicFramePr/>
          <p:nvPr>
            <p:extLst>
              <p:ext uri="{D42A27DB-BD31-4B8C-83A1-F6EECF244321}">
                <p14:modId xmlns:p14="http://schemas.microsoft.com/office/powerpoint/2010/main" val="423324507"/>
              </p:ext>
            </p:extLst>
          </p:nvPr>
        </p:nvGraphicFramePr>
        <p:xfrm>
          <a:off x="406399" y="1017637"/>
          <a:ext cx="8497927" cy="3637815"/>
        </p:xfrm>
        <a:graphic>
          <a:graphicData uri="http://schemas.openxmlformats.org/drawingml/2006/table">
            <a:tbl>
              <a:tblPr firstRow="1" bandRow="1">
                <a:noFill/>
                <a:tableStyleId>{831F8A93-CA79-4AF6-B420-68E9A51CCC31}</a:tableStyleId>
              </a:tblPr>
              <a:tblGrid>
                <a:gridCol w="1428223">
                  <a:extLst>
                    <a:ext uri="{9D8B030D-6E8A-4147-A177-3AD203B41FA5}">
                      <a16:colId xmlns:a16="http://schemas.microsoft.com/office/drawing/2014/main" val="20000"/>
                    </a:ext>
                  </a:extLst>
                </a:gridCol>
                <a:gridCol w="3570558">
                  <a:extLst>
                    <a:ext uri="{9D8B030D-6E8A-4147-A177-3AD203B41FA5}">
                      <a16:colId xmlns:a16="http://schemas.microsoft.com/office/drawing/2014/main" val="20002"/>
                    </a:ext>
                  </a:extLst>
                </a:gridCol>
                <a:gridCol w="3499146">
                  <a:extLst>
                    <a:ext uri="{9D8B030D-6E8A-4147-A177-3AD203B41FA5}">
                      <a16:colId xmlns:a16="http://schemas.microsoft.com/office/drawing/2014/main" val="20003"/>
                    </a:ext>
                  </a:extLst>
                </a:gridCol>
              </a:tblGrid>
              <a:tr h="237145">
                <a:tc>
                  <a:txBody>
                    <a:bodyPr/>
                    <a:lstStyle/>
                    <a:p>
                      <a:pPr marL="0" marR="0" lvl="0" indent="0" algn="l" rtl="0">
                        <a:lnSpc>
                          <a:spcPct val="11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観点</a:t>
                      </a:r>
                      <a:endParaRPr sz="18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10000"/>
                        </a:lnSpc>
                        <a:spcBef>
                          <a:spcPts val="0"/>
                        </a:spcBef>
                        <a:spcAft>
                          <a:spcPts val="0"/>
                        </a:spcAft>
                        <a:buNone/>
                      </a:pPr>
                      <a:r>
                        <a:rPr lang="en-US" sz="1000" b="1" u="none" strike="noStrike" cap="none" dirty="0" err="1">
                          <a:latin typeface="游ゴシック" panose="020B0400000000000000" pitchFamily="50" charset="-128"/>
                          <a:ea typeface="游ゴシック" panose="020B0400000000000000" pitchFamily="50" charset="-128"/>
                          <a:sym typeface="Century Gothic"/>
                        </a:rPr>
                        <a:t>必須要件</a:t>
                      </a:r>
                      <a:endParaRPr sz="1800" dirty="0"/>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10000"/>
                        </a:lnSpc>
                        <a:spcBef>
                          <a:spcPts val="0"/>
                        </a:spcBef>
                        <a:spcAft>
                          <a:spcPts val="0"/>
                        </a:spcAft>
                        <a:buNone/>
                      </a:pP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加点要件</a:t>
                      </a:r>
                      <a:r>
                        <a:rPr lang="en-US" altLang="ja-JP" sz="1000" b="1" u="none" strike="noStrike" cap="none" dirty="0">
                          <a:latin typeface="游ゴシック" panose="020B0400000000000000" pitchFamily="50" charset="-128"/>
                          <a:ea typeface="游ゴシック" panose="020B0400000000000000" pitchFamily="50" charset="-128"/>
                          <a:cs typeface="Century Gothic"/>
                          <a:sym typeface="Century Gothic"/>
                        </a:rPr>
                        <a:t>(</a:t>
                      </a: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将来を阻害しないために今回確認すること</a:t>
                      </a:r>
                      <a:r>
                        <a:rPr lang="en-US" altLang="ja-JP" sz="1000" b="1" u="none" strike="noStrike" cap="none" dirty="0">
                          <a:latin typeface="游ゴシック" panose="020B0400000000000000" pitchFamily="50" charset="-128"/>
                          <a:ea typeface="游ゴシック" panose="020B0400000000000000" pitchFamily="50" charset="-128"/>
                          <a:cs typeface="Century Gothic"/>
                          <a:sym typeface="Century Gothic"/>
                        </a:rPr>
                        <a:t>)</a:t>
                      </a:r>
                      <a:endParaRPr lang="ja-JP" altLang="en-US" sz="18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① 連携性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ほのぼの、Axist、眠りSCAN、ナースコール等の既存接続に対応できるか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IoT・映像等の連携先が増えても大きな再設計なく拡張できるか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② 安全性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要配慮個人情報を扱う前提で、施設・部門・役割単位のアクセス制御、監査ログ、権限管理を実現できるか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AI活用時にも同様の統制を維持できる構造か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③ 進化性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Foundry固有制約から脱却し、標準的なデータ形式・疎結合な構成で継続運用できるか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LLMや構造化処理を追加しても全体を大きく作り直さずに拡張できるか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④ 実効性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219本のパイプライン移行、既存BI再現、大容量データ移行を現実的に実現できるか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テキスト・映像等の活用対象が広がっても基盤側で受け止められるか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9144">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⑤ 運用性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データの所在・定義・更新状況を把握できるか。</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セルフサービス</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BI</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環境が整備され、施設長・ミドル部門が</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部門への依頼なしにデータ閲覧・分析できるか。</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企画部・データチームが自由な分析を完結できるか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AI活用時にも利用データや処理内容を追跡できる構造か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⑥ 開発速度</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開発環境の標準構成、権限付与、PoCから本番への移行を進めやすい構成か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テキスト分析や映像構造化などの新ユースケースを段階的に追加しやすいか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⑦ スケール</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約1,000施設規模、利用者数増、分析対象拡大に対応できるか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将来、AI活用が増加しても性能・運用・コスト面で破綻しないか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83" name="Google Shape;183;p5"/>
          <p:cNvSpPr txBox="1"/>
          <p:nvPr/>
        </p:nvSpPr>
        <p:spPr>
          <a:xfrm>
            <a:off x="406400" y="4638725"/>
            <a:ext cx="8331200" cy="29210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 なお、</a:t>
            </a:r>
            <a:r>
              <a:rPr lang="en-US" alt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AI</a:t>
            </a:r>
            <a:r>
              <a:rPr lang="ja-JP" altLang="en-US"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活用における</a:t>
            </a: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将来の詳細論点は、後続の「AI活用に向けた将来論点」で別途整理する。</a:t>
            </a:r>
            <a:endParaRPr sz="800" dirty="0">
              <a:latin typeface="游ゴシック" panose="020B0400000000000000" pitchFamily="50" charset="-128"/>
              <a:ea typeface="游ゴシック" panose="020B0400000000000000" pitchFamily="50" charset="-128"/>
            </a:endParaRPr>
          </a:p>
        </p:txBody>
      </p:sp>
      <p:sp>
        <p:nvSpPr>
          <p:cNvPr id="2" name="Google Shape;147;p4">
            <a:extLst>
              <a:ext uri="{FF2B5EF4-FFF2-40B4-BE49-F238E27FC236}">
                <a16:creationId xmlns:a16="http://schemas.microsoft.com/office/drawing/2014/main" id="{233844B2-67AE-BC1D-1123-993911CA410C}"/>
              </a:ext>
            </a:extLst>
          </p:cNvPr>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3</a:t>
            </a:r>
            <a:endParaRPr sz="5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6"/>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1.4  貴社ニーズに合わせた優先選定要件</a:t>
            </a:r>
            <a:endParaRPr sz="1800" b="0" i="0" u="none" strike="noStrike" cap="none" dirty="0">
              <a:solidFill>
                <a:schemeClr val="dk1"/>
              </a:solidFill>
              <a:latin typeface="Calibri"/>
              <a:ea typeface="Calibri"/>
              <a:cs typeface="Calibri"/>
              <a:sym typeface="Calibri"/>
            </a:endParaRPr>
          </a:p>
        </p:txBody>
      </p:sp>
      <p:sp>
        <p:nvSpPr>
          <p:cNvPr id="190" name="Google Shape;190;p6"/>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1.3で整理した7つの観点をそのまま並列に扱うのではなく、SOMPOケアの現行課題と目的に照らして、今回の選定で特に重視すべき4つの優先要件に束ねて判断する。</a:t>
            </a:r>
            <a:endParaRPr b="1" dirty="0">
              <a:solidFill>
                <a:schemeClr val="tx1"/>
              </a:solidFill>
              <a:latin typeface="游ゴシック" panose="020B0400000000000000" pitchFamily="50" charset="-128"/>
              <a:ea typeface="游ゴシック" panose="020B0400000000000000" pitchFamily="50" charset="-128"/>
            </a:endParaRPr>
          </a:p>
        </p:txBody>
      </p:sp>
      <p:cxnSp>
        <p:nvCxnSpPr>
          <p:cNvPr id="191" name="Google Shape;191;p6"/>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92" name="Google Shape;192;p6"/>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93" name="Google Shape;193;p6"/>
          <p:cNvSpPr/>
          <p:nvPr/>
        </p:nvSpPr>
        <p:spPr>
          <a:xfrm>
            <a:off x="8101702" y="4930825"/>
            <a:ext cx="678962"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4</a:t>
            </a:r>
            <a:endParaRPr sz="550" b="0" i="0" u="none" strike="noStrike" cap="none" dirty="0">
              <a:solidFill>
                <a:schemeClr val="dk1"/>
              </a:solidFill>
              <a:latin typeface="Calibri"/>
              <a:ea typeface="Calibri"/>
              <a:cs typeface="Calibri"/>
              <a:sym typeface="Calibri"/>
            </a:endParaRPr>
          </a:p>
        </p:txBody>
      </p:sp>
      <p:graphicFrame>
        <p:nvGraphicFramePr>
          <p:cNvPr id="194" name="Google Shape;194;p6"/>
          <p:cNvGraphicFramePr/>
          <p:nvPr>
            <p:extLst>
              <p:ext uri="{D42A27DB-BD31-4B8C-83A1-F6EECF244321}">
                <p14:modId xmlns:p14="http://schemas.microsoft.com/office/powerpoint/2010/main" val="1566064781"/>
              </p:ext>
            </p:extLst>
          </p:nvPr>
        </p:nvGraphicFramePr>
        <p:xfrm>
          <a:off x="406400" y="988903"/>
          <a:ext cx="8331200" cy="3708400"/>
        </p:xfrm>
        <a:graphic>
          <a:graphicData uri="http://schemas.openxmlformats.org/drawingml/2006/table">
            <a:tbl>
              <a:tblPr firstRow="1" bandRow="1">
                <a:noFill/>
                <a:tableStyleId>{831F8A93-CA79-4AF6-B420-68E9A51CCC31}</a:tableStyleId>
              </a:tblPr>
              <a:tblGrid>
                <a:gridCol w="1968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235200">
                  <a:extLst>
                    <a:ext uri="{9D8B030D-6E8A-4147-A177-3AD203B41FA5}">
                      <a16:colId xmlns:a16="http://schemas.microsoft.com/office/drawing/2014/main" val="20003"/>
                    </a:ext>
                  </a:extLst>
                </a:gridCol>
              </a:tblGrid>
              <a:tr h="254000">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優先選定要件</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対応する観点</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今回特に重視する確認事項</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この要件を置く理由</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1</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コスト体系の透明性、データ量増加・利用拡大時のコスト予測可能性、投資対効果の定量的な説明可能性を確保できるか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事業規模に見合う合理的なコスト構造がなければ、継続投資の正当性を説明できないため</a:t>
                      </a:r>
                      <a:endPar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529432"/>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2</a:t>
                      </a:r>
                      <a:endParaRPr lang="ja-JP" altLang="en-US"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lang="ja-JP" altLang="en-US"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①連携性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④実効性</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既存ソース接続、219本のパイプライン移行、既存BI再現、大容量データ移行を現実的に実現できるか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移行そのものが成立しなければ、以降の活用に進めないため</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3</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②安全性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内部チームで日常運用が完結し、</a:t>
                      </a:r>
                    </a:p>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施設長・ミドル部門によるダッシュボード閲覧・セルフ</a:t>
                      </a: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BI</a:t>
                      </a:r>
                      <a:r>
                        <a:rPr lang="ja-JP" altLang="en" sz="800" u="none" strike="noStrike" cap="none" dirty="0">
                          <a:latin typeface="游ゴシック" panose="020B0400000000000000" pitchFamily="50" charset="-128"/>
                          <a:ea typeface="游ゴシック" panose="020B0400000000000000" pitchFamily="50" charset="-128"/>
                          <a:cs typeface="Century Gothic"/>
                          <a:sym typeface="Century Gothic"/>
                        </a:rPr>
                        <a:t>、</a:t>
                      </a:r>
                    </a:p>
                    <a:p>
                      <a:pPr marL="0" marR="0" lvl="0" indent="0" algn="l" rtl="0">
                        <a:lnSpc>
                          <a:spcPct val="120000"/>
                        </a:lnSpc>
                        <a:spcBef>
                          <a:spcPts val="0"/>
                        </a:spcBef>
                        <a:spcAft>
                          <a:spcPts val="0"/>
                        </a:spcAft>
                        <a:buNone/>
                      </a:pP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企画部・データチームによる自由な分析が自走できること。</a:t>
                      </a:r>
                    </a:p>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全拠点（</a:t>
                      </a:r>
                      <a:r>
                        <a:rPr lang="en-US"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1,000+</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）の</a:t>
                      </a: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RLS</a:t>
                      </a:r>
                      <a:r>
                        <a:rPr lang="ja-JP" altLang="en" sz="800" u="none" strike="noStrike" cap="none" dirty="0">
                          <a:latin typeface="游ゴシック" panose="020B0400000000000000" pitchFamily="50" charset="-128"/>
                          <a:ea typeface="游ゴシック" panose="020B0400000000000000" pitchFamily="50" charset="-128"/>
                          <a:cs typeface="Century Gothic"/>
                          <a:sym typeface="Century Gothic"/>
                        </a:rPr>
                        <a:t>・</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要配慮個人情報保護が実現すること</a:t>
                      </a: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ja-JP" altLang="en-US" sz="800" b="0" i="0" dirty="0">
                          <a:effectLst/>
                          <a:latin typeface="游ゴシック" panose="020B0400000000000000" pitchFamily="50" charset="-128"/>
                          <a:ea typeface="游ゴシック" panose="020B0400000000000000" pitchFamily="50" charset="-128"/>
                        </a:rPr>
                        <a:t>移行後にベンダー依存が再発すれば、</a:t>
                      </a:r>
                      <a:r>
                        <a:rPr lang="en" altLang="ja-JP" sz="800" b="0" i="0" dirty="0">
                          <a:effectLst/>
                          <a:latin typeface="游ゴシック" panose="020B0400000000000000" pitchFamily="50" charset="-128"/>
                          <a:ea typeface="游ゴシック" panose="020B0400000000000000" pitchFamily="50" charset="-128"/>
                        </a:rPr>
                        <a:t>Foundry</a:t>
                      </a:r>
                      <a:r>
                        <a:rPr lang="ja-JP" altLang="en-US" sz="800" b="0" i="0" dirty="0">
                          <a:effectLst/>
                          <a:latin typeface="游ゴシック" panose="020B0400000000000000" pitchFamily="50" charset="-128"/>
                          <a:ea typeface="游ゴシック" panose="020B0400000000000000" pitchFamily="50" charset="-128"/>
                        </a:rPr>
                        <a:t>と同じ課題を繰り返すことになるため</a:t>
                      </a:r>
                      <a:endParaRPr lang="en-US" altLang="ja" sz="800" b="0" u="none" strike="noStrike" cap="none" dirty="0">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20000"/>
                        </a:lnSpc>
                        <a:spcBef>
                          <a:spcPts val="0"/>
                        </a:spcBef>
                        <a:spcAft>
                          <a:spcPts val="0"/>
                        </a:spcAft>
                        <a:buNone/>
                      </a:pPr>
                      <a:r>
                        <a:rPr lang="ja" sz="800" b="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要配慮個人情報を扱う以上、安全性</a:t>
                      </a:r>
                      <a:r>
                        <a:rPr lang="ja"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は</a:t>
                      </a:r>
                      <a:r>
                        <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rPr>
                        <a:t>must</a:t>
                      </a:r>
                      <a:br>
                        <a:rPr lang="ja-JP" altLang="en-US" sz="800" dirty="0">
                          <a:latin typeface="游ゴシック" panose="020B0400000000000000" pitchFamily="50" charset="-128"/>
                          <a:ea typeface="游ゴシック" panose="020B0400000000000000" pitchFamily="50" charset="-128"/>
                        </a:rPr>
                      </a:br>
                      <a:endPar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4</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⑥開発速度</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標準的なデータ形式、疎結合な構成、PoCから本番へ進めやすい構成、新ユースケースを段階的に追加しやすい構造か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今回は移行が主目的でも、基盤選定が将来のAI活用余地を左右するため</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7"/>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1.5  課題・目的・観点・要件のつながり</a:t>
            </a:r>
            <a:endParaRPr sz="1800" b="0" i="0" u="none" strike="noStrike" cap="none" dirty="0">
              <a:solidFill>
                <a:schemeClr val="dk1"/>
              </a:solidFill>
              <a:latin typeface="Calibri"/>
              <a:ea typeface="Calibri"/>
              <a:cs typeface="Calibri"/>
              <a:sym typeface="Calibri"/>
            </a:endParaRPr>
          </a:p>
        </p:txBody>
      </p:sp>
      <p:sp>
        <p:nvSpPr>
          <p:cNvPr id="201" name="Google Shape;201;p7"/>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4つの優先選定要件は、現行環境の具体的な課題を起点に、達成すべき目的と基盤選定の観点を通じて整理したものである。</a:t>
            </a:r>
            <a:endParaRPr b="1" dirty="0">
              <a:solidFill>
                <a:schemeClr val="tx1"/>
              </a:solidFill>
              <a:latin typeface="游ゴシック" panose="020B0400000000000000" pitchFamily="50" charset="-128"/>
              <a:ea typeface="游ゴシック" panose="020B0400000000000000" pitchFamily="50" charset="-128"/>
            </a:endParaRPr>
          </a:p>
        </p:txBody>
      </p:sp>
      <p:cxnSp>
        <p:nvCxnSpPr>
          <p:cNvPr id="202" name="Google Shape;202;p7"/>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03" name="Google Shape;203;p7"/>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204" name="Google Shape;204;p7"/>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5</a:t>
            </a:r>
            <a:endParaRPr sz="550" b="0" i="0" u="none" strike="noStrike" cap="none" dirty="0">
              <a:solidFill>
                <a:schemeClr val="dk1"/>
              </a:solidFill>
              <a:latin typeface="Calibri"/>
              <a:ea typeface="Calibri"/>
              <a:cs typeface="Calibri"/>
              <a:sym typeface="Calibri"/>
            </a:endParaRPr>
          </a:p>
        </p:txBody>
      </p:sp>
      <p:sp>
        <p:nvSpPr>
          <p:cNvPr id="205" name="Google Shape;205;p7"/>
          <p:cNvSpPr/>
          <p:nvPr/>
        </p:nvSpPr>
        <p:spPr>
          <a:xfrm>
            <a:off x="406400" y="914400"/>
            <a:ext cx="19685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課題</a:t>
            </a:r>
            <a:endParaRPr dirty="0">
              <a:latin typeface="游ゴシック" panose="020B0400000000000000" pitchFamily="50" charset="-128"/>
              <a:ea typeface="游ゴシック" panose="020B0400000000000000" pitchFamily="50" charset="-128"/>
            </a:endParaRPr>
          </a:p>
        </p:txBody>
      </p:sp>
      <p:sp>
        <p:nvSpPr>
          <p:cNvPr id="206" name="Google Shape;206;p7"/>
          <p:cNvSpPr/>
          <p:nvPr/>
        </p:nvSpPr>
        <p:spPr>
          <a:xfrm>
            <a:off x="2552700" y="914400"/>
            <a:ext cx="14605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目的</a:t>
            </a:r>
            <a:endParaRPr dirty="0">
              <a:latin typeface="游ゴシック" panose="020B0400000000000000" pitchFamily="50" charset="-128"/>
              <a:ea typeface="游ゴシック" panose="020B0400000000000000" pitchFamily="50" charset="-128"/>
            </a:endParaRPr>
          </a:p>
        </p:txBody>
      </p:sp>
      <p:sp>
        <p:nvSpPr>
          <p:cNvPr id="207" name="Google Shape;207;p7"/>
          <p:cNvSpPr/>
          <p:nvPr/>
        </p:nvSpPr>
        <p:spPr>
          <a:xfrm>
            <a:off x="4191000" y="914400"/>
            <a:ext cx="12700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7観点</a:t>
            </a:r>
            <a:endParaRPr dirty="0">
              <a:latin typeface="游ゴシック" panose="020B0400000000000000" pitchFamily="50" charset="-128"/>
              <a:ea typeface="游ゴシック" panose="020B0400000000000000" pitchFamily="50" charset="-128"/>
            </a:endParaRPr>
          </a:p>
        </p:txBody>
      </p:sp>
      <p:sp>
        <p:nvSpPr>
          <p:cNvPr id="208" name="Google Shape;208;p7"/>
          <p:cNvSpPr/>
          <p:nvPr/>
        </p:nvSpPr>
        <p:spPr>
          <a:xfrm>
            <a:off x="5638800" y="914400"/>
            <a:ext cx="30988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4要件</a:t>
            </a:r>
            <a:endParaRPr dirty="0">
              <a:latin typeface="游ゴシック" panose="020B0400000000000000" pitchFamily="50" charset="-128"/>
              <a:ea typeface="游ゴシック" panose="020B0400000000000000" pitchFamily="50" charset="-128"/>
            </a:endParaRPr>
          </a:p>
        </p:txBody>
      </p:sp>
      <p:sp>
        <p:nvSpPr>
          <p:cNvPr id="209" name="Google Shape;209;p7"/>
          <p:cNvSpPr/>
          <p:nvPr/>
        </p:nvSpPr>
        <p:spPr>
          <a:xfrm>
            <a:off x="406400" y="11938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過剰コスト</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コスト体系不透明</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データ量増加時のコスト増</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投資対効果説明困難</a:t>
            </a:r>
            <a:endParaRPr dirty="0">
              <a:latin typeface="游ゴシック" panose="020B0400000000000000" pitchFamily="50" charset="-128"/>
              <a:ea typeface="游ゴシック" panose="020B0400000000000000" pitchFamily="50" charset="-128"/>
            </a:endParaRPr>
          </a:p>
        </p:txBody>
      </p:sp>
      <p:sp>
        <p:nvSpPr>
          <p:cNvPr id="210" name="Google Shape;210;p7"/>
          <p:cNvSpPr/>
          <p:nvPr/>
        </p:nvSpPr>
        <p:spPr>
          <a:xfrm>
            <a:off x="2552700" y="11938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①コストの最適化</a:t>
            </a:r>
            <a:endParaRPr sz="900" dirty="0">
              <a:latin typeface="游ゴシック" panose="020B0400000000000000" pitchFamily="50" charset="-128"/>
              <a:ea typeface="游ゴシック" panose="020B0400000000000000" pitchFamily="50" charset="-128"/>
            </a:endParaRPr>
          </a:p>
        </p:txBody>
      </p:sp>
      <p:sp>
        <p:nvSpPr>
          <p:cNvPr id="211" name="Google Shape;211;p7"/>
          <p:cNvSpPr/>
          <p:nvPr/>
        </p:nvSpPr>
        <p:spPr>
          <a:xfrm>
            <a:off x="4191000" y="11938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p:txBody>
      </p:sp>
      <p:sp>
        <p:nvSpPr>
          <p:cNvPr id="212" name="Google Shape;212;p7"/>
          <p:cNvSpPr/>
          <p:nvPr/>
        </p:nvSpPr>
        <p:spPr>
          <a:xfrm>
            <a:off x="5638800" y="11938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1000" dirty="0">
              <a:latin typeface="游ゴシック" panose="020B0400000000000000" pitchFamily="50" charset="-128"/>
              <a:ea typeface="游ゴシック" panose="020B0400000000000000" pitchFamily="50" charset="-128"/>
            </a:endParaRPr>
          </a:p>
        </p:txBody>
      </p:sp>
      <p:sp>
        <p:nvSpPr>
          <p:cNvPr id="213" name="Google Shape;213;p7"/>
          <p:cNvSpPr/>
          <p:nvPr/>
        </p:nvSpPr>
        <p:spPr>
          <a:xfrm>
            <a:off x="406400" y="21082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JP" altLang="en-US" sz="1000" b="1" dirty="0">
                <a:solidFill>
                  <a:srgbClr val="2C3E50"/>
                </a:solidFill>
                <a:latin typeface="游ゴシック" panose="020B0400000000000000" pitchFamily="50" charset="-128"/>
                <a:ea typeface="游ゴシック" panose="020B0400000000000000" pitchFamily="50" charset="-128"/>
                <a:cs typeface="Century Gothic"/>
                <a:sym typeface="Century Gothic"/>
              </a:rPr>
              <a:t>ブラックボックス化</a:t>
            </a:r>
            <a:endPar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0"/>
              </a:spcBef>
              <a:spcAft>
                <a:spcPts val="0"/>
              </a:spcAft>
              <a:buNone/>
            </a:pPr>
            <a:r>
              <a:rPr lang="ja-JP" altLang="en-US"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ベンダー依存による移行困難</a:t>
            </a:r>
            <a:endPar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予告なしUI変更</a:t>
            </a:r>
            <a:endParaRPr lang="en-US" altLang="ja" sz="600"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50"/>
              </a:spcBef>
              <a:spcAft>
                <a:spcPts val="0"/>
              </a:spcAft>
              <a:buNone/>
            </a:pPr>
            <a:r>
              <a:rPr lang="ja-JP" altLang="en-US"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処理ブラックボックス</a:t>
            </a:r>
            <a:endPar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a:p>
            <a:pPr algn="ctr">
              <a:lnSpc>
                <a:spcPct val="110000"/>
              </a:lnSpc>
              <a:spcBef>
                <a:spcPts val="50"/>
              </a:spcBef>
            </a:pPr>
            <a:r>
              <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Foundry</a:t>
            </a:r>
            <a:r>
              <a:rPr lang="ja-JP" altLang="en-US"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固有仕様への依存</a:t>
            </a:r>
            <a:endPar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p:txBody>
      </p:sp>
      <p:sp>
        <p:nvSpPr>
          <p:cNvPr id="214" name="Google Shape;214;p7"/>
          <p:cNvSpPr/>
          <p:nvPr/>
        </p:nvSpPr>
        <p:spPr>
          <a:xfrm>
            <a:off x="2552700" y="21082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③持続可能性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再現性の確保</a:t>
            </a:r>
            <a:endParaRPr sz="900" dirty="0">
              <a:latin typeface="游ゴシック" panose="020B0400000000000000" pitchFamily="50" charset="-128"/>
              <a:ea typeface="游ゴシック" panose="020B0400000000000000" pitchFamily="50" charset="-128"/>
            </a:endParaRPr>
          </a:p>
        </p:txBody>
      </p:sp>
      <p:sp>
        <p:nvSpPr>
          <p:cNvPr id="215" name="Google Shape;215;p7"/>
          <p:cNvSpPr/>
          <p:nvPr/>
        </p:nvSpPr>
        <p:spPr>
          <a:xfrm>
            <a:off x="4191000" y="21082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④実効性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p:txBody>
      </p:sp>
      <p:sp>
        <p:nvSpPr>
          <p:cNvPr id="216" name="Google Shape;216;p7"/>
          <p:cNvSpPr/>
          <p:nvPr/>
        </p:nvSpPr>
        <p:spPr>
          <a:xfrm>
            <a:off x="5638800" y="21082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sz="1000" dirty="0">
              <a:latin typeface="游ゴシック" panose="020B0400000000000000" pitchFamily="50" charset="-128"/>
              <a:ea typeface="游ゴシック" panose="020B0400000000000000" pitchFamily="50" charset="-128"/>
            </a:endParaRPr>
          </a:p>
        </p:txBody>
      </p:sp>
      <p:sp>
        <p:nvSpPr>
          <p:cNvPr id="217" name="Google Shape;217;p7"/>
          <p:cNvSpPr/>
          <p:nvPr/>
        </p:nvSpPr>
        <p:spPr>
          <a:xfrm>
            <a:off x="406400" y="30226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現場データ活用の停滞</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セルフ分析不可、BI分散</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データ所在不明</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IT企画部門に依頼集中</a:t>
            </a:r>
            <a:endParaRPr dirty="0">
              <a:latin typeface="游ゴシック" panose="020B0400000000000000" pitchFamily="50" charset="-128"/>
              <a:ea typeface="游ゴシック" panose="020B0400000000000000" pitchFamily="50" charset="-128"/>
            </a:endParaRPr>
          </a:p>
        </p:txBody>
      </p:sp>
      <p:sp>
        <p:nvSpPr>
          <p:cNvPr id="218" name="Google Shape;218;p7"/>
          <p:cNvSpPr/>
          <p:nvPr/>
        </p:nvSpPr>
        <p:spPr>
          <a:xfrm>
            <a:off x="2552700" y="30226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④現場主導の</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データ活用</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②運用安定化</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ガバナンス強化</a:t>
            </a:r>
            <a:endParaRPr sz="900" dirty="0">
              <a:latin typeface="游ゴシック" panose="020B0400000000000000" pitchFamily="50" charset="-128"/>
              <a:ea typeface="游ゴシック" panose="020B0400000000000000" pitchFamily="50" charset="-128"/>
            </a:endParaRPr>
          </a:p>
        </p:txBody>
      </p:sp>
      <p:sp>
        <p:nvSpPr>
          <p:cNvPr id="219" name="Google Shape;219;p7"/>
          <p:cNvSpPr/>
          <p:nvPr/>
        </p:nvSpPr>
        <p:spPr>
          <a:xfrm>
            <a:off x="4191000" y="30226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②安全性</a:t>
            </a:r>
            <a:endParaRPr sz="900" dirty="0">
              <a:latin typeface="游ゴシック" panose="020B0400000000000000" pitchFamily="50" charset="-128"/>
              <a:ea typeface="游ゴシック" panose="020B0400000000000000" pitchFamily="50" charset="-128"/>
            </a:endParaRPr>
          </a:p>
        </p:txBody>
      </p:sp>
      <p:sp>
        <p:nvSpPr>
          <p:cNvPr id="220" name="Google Shape;220;p7"/>
          <p:cNvSpPr/>
          <p:nvPr/>
        </p:nvSpPr>
        <p:spPr>
          <a:xfrm>
            <a:off x="5638800" y="30226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1000" dirty="0">
              <a:latin typeface="游ゴシック" panose="020B0400000000000000" pitchFamily="50" charset="-128"/>
              <a:ea typeface="游ゴシック" panose="020B0400000000000000" pitchFamily="50" charset="-128"/>
            </a:endParaRPr>
          </a:p>
        </p:txBody>
      </p:sp>
      <p:sp>
        <p:nvSpPr>
          <p:cNvPr id="221" name="Google Shape;221;p7"/>
          <p:cNvSpPr/>
          <p:nvPr/>
        </p:nvSpPr>
        <p:spPr>
          <a:xfrm>
            <a:off x="406400" y="39370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AI活用を前提とした</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設計不足</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非構造化データ活用余地不足</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将来AI拡張性不足</a:t>
            </a:r>
            <a:endParaRPr dirty="0">
              <a:latin typeface="游ゴシック" panose="020B0400000000000000" pitchFamily="50" charset="-128"/>
              <a:ea typeface="游ゴシック" panose="020B0400000000000000" pitchFamily="50" charset="-128"/>
            </a:endParaRPr>
          </a:p>
        </p:txBody>
      </p:sp>
      <p:sp>
        <p:nvSpPr>
          <p:cNvPr id="222" name="Google Shape;222;p7"/>
          <p:cNvSpPr/>
          <p:nvPr/>
        </p:nvSpPr>
        <p:spPr>
          <a:xfrm>
            <a:off x="2552700" y="39370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⑤AI対応</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将来拡張性</a:t>
            </a:r>
            <a:endParaRPr sz="900" dirty="0">
              <a:latin typeface="游ゴシック" panose="020B0400000000000000" pitchFamily="50" charset="-128"/>
              <a:ea typeface="游ゴシック" panose="020B0400000000000000" pitchFamily="50" charset="-128"/>
            </a:endParaRPr>
          </a:p>
        </p:txBody>
      </p:sp>
      <p:sp>
        <p:nvSpPr>
          <p:cNvPr id="223" name="Google Shape;223;p7"/>
          <p:cNvSpPr/>
          <p:nvPr/>
        </p:nvSpPr>
        <p:spPr>
          <a:xfrm>
            <a:off x="4191000" y="39370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⑥開発速度</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p:txBody>
      </p:sp>
      <p:sp>
        <p:nvSpPr>
          <p:cNvPr id="224" name="Google Shape;224;p7"/>
          <p:cNvSpPr/>
          <p:nvPr/>
        </p:nvSpPr>
        <p:spPr>
          <a:xfrm>
            <a:off x="5638800" y="39370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1000" dirty="0">
              <a:latin typeface="游ゴシック" panose="020B0400000000000000" pitchFamily="50" charset="-128"/>
              <a:ea typeface="游ゴシック" panose="020B0400000000000000" pitchFamily="50" charset="-128"/>
            </a:endParaRPr>
          </a:p>
        </p:txBody>
      </p:sp>
      <p:sp>
        <p:nvSpPr>
          <p:cNvPr id="225" name="Google Shape;225;p7"/>
          <p:cNvSpPr/>
          <p:nvPr/>
        </p:nvSpPr>
        <p:spPr>
          <a:xfrm>
            <a:off x="24130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6" name="Google Shape;226;p7"/>
          <p:cNvSpPr/>
          <p:nvPr/>
        </p:nvSpPr>
        <p:spPr>
          <a:xfrm>
            <a:off x="40513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7" name="Google Shape;227;p7"/>
          <p:cNvSpPr/>
          <p:nvPr/>
        </p:nvSpPr>
        <p:spPr>
          <a:xfrm>
            <a:off x="54991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8" name="Google Shape;228;p7"/>
          <p:cNvSpPr/>
          <p:nvPr/>
        </p:nvSpPr>
        <p:spPr>
          <a:xfrm>
            <a:off x="24130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9" name="Google Shape;229;p7"/>
          <p:cNvSpPr/>
          <p:nvPr/>
        </p:nvSpPr>
        <p:spPr>
          <a:xfrm>
            <a:off x="40513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0" name="Google Shape;230;p7"/>
          <p:cNvSpPr/>
          <p:nvPr/>
        </p:nvSpPr>
        <p:spPr>
          <a:xfrm>
            <a:off x="54991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1" name="Google Shape;231;p7"/>
          <p:cNvSpPr/>
          <p:nvPr/>
        </p:nvSpPr>
        <p:spPr>
          <a:xfrm>
            <a:off x="24130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2" name="Google Shape;232;p7"/>
          <p:cNvSpPr/>
          <p:nvPr/>
        </p:nvSpPr>
        <p:spPr>
          <a:xfrm>
            <a:off x="40513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3" name="Google Shape;233;p7"/>
          <p:cNvSpPr/>
          <p:nvPr/>
        </p:nvSpPr>
        <p:spPr>
          <a:xfrm>
            <a:off x="54991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4" name="Google Shape;234;p7"/>
          <p:cNvSpPr/>
          <p:nvPr/>
        </p:nvSpPr>
        <p:spPr>
          <a:xfrm>
            <a:off x="24130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5" name="Google Shape;235;p7"/>
          <p:cNvSpPr/>
          <p:nvPr/>
        </p:nvSpPr>
        <p:spPr>
          <a:xfrm>
            <a:off x="40513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6" name="Google Shape;236;p7"/>
          <p:cNvSpPr/>
          <p:nvPr/>
        </p:nvSpPr>
        <p:spPr>
          <a:xfrm>
            <a:off x="54991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8"/>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2. RFPの評価観点</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6"/>
        <p:cNvGrpSpPr/>
        <p:nvPr/>
      </p:nvGrpSpPr>
      <p:grpSpPr>
        <a:xfrm>
          <a:off x="0" y="0"/>
          <a:ext cx="0" cy="0"/>
          <a:chOff x="0" y="0"/>
          <a:chExt cx="0" cy="0"/>
        </a:xfrm>
      </p:grpSpPr>
      <p:sp>
        <p:nvSpPr>
          <p:cNvPr id="247" name="Google Shape;247;p9"/>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2.1 RFP評価観点</a:t>
            </a:r>
            <a:endParaRPr sz="1800" b="0" i="0" u="none" strike="noStrike" cap="none" dirty="0">
              <a:solidFill>
                <a:schemeClr val="dk1"/>
              </a:solidFill>
              <a:latin typeface="Calibri"/>
              <a:ea typeface="Calibri"/>
              <a:cs typeface="Calibri"/>
              <a:sym typeface="Calibri"/>
            </a:endParaRPr>
          </a:p>
        </p:txBody>
      </p:sp>
      <p:cxnSp>
        <p:nvCxnSpPr>
          <p:cNvPr id="248" name="Google Shape;248;p9"/>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50" name="Google Shape;250;p9"/>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6</a:t>
            </a:r>
            <a:endParaRPr sz="500" b="0" i="0" u="none" strike="noStrike" cap="none" dirty="0">
              <a:solidFill>
                <a:schemeClr val="dk1"/>
              </a:solidFill>
              <a:latin typeface="Calibri"/>
              <a:ea typeface="Calibri"/>
              <a:cs typeface="Calibri"/>
              <a:sym typeface="Calibri"/>
            </a:endParaRPr>
          </a:p>
        </p:txBody>
      </p:sp>
      <p:sp>
        <p:nvSpPr>
          <p:cNvPr id="251" name="Google Shape;251;p9"/>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優先要件からRFPで特に注視すべき評価観点と確認事項を整理</a:t>
            </a:r>
            <a:r>
              <a:rPr lang="ja"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a:t>
            </a:r>
            <a:r>
              <a:rPr lang="en-US" altLang="ja"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4</a:t>
            </a:r>
            <a:r>
              <a:rPr lang="ja-JP" altLang="en-US"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要件や</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RFI</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回答を踏まえ、重点的に評価した方がいい観点を整理</a:t>
            </a:r>
            <a:endParaRPr sz="1000" b="1" i="0" u="none" strike="noStrike" cap="none" dirty="0">
              <a:solidFill>
                <a:schemeClr val="tx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endParaRPr>
          </a:p>
        </p:txBody>
      </p:sp>
      <p:graphicFrame>
        <p:nvGraphicFramePr>
          <p:cNvPr id="252" name="Google Shape;252;p9"/>
          <p:cNvGraphicFramePr/>
          <p:nvPr>
            <p:extLst>
              <p:ext uri="{D42A27DB-BD31-4B8C-83A1-F6EECF244321}">
                <p14:modId xmlns:p14="http://schemas.microsoft.com/office/powerpoint/2010/main" val="3714627785"/>
              </p:ext>
            </p:extLst>
          </p:nvPr>
        </p:nvGraphicFramePr>
        <p:xfrm>
          <a:off x="406397" y="799174"/>
          <a:ext cx="8331300" cy="4052511"/>
        </p:xfrm>
        <a:graphic>
          <a:graphicData uri="http://schemas.openxmlformats.org/drawingml/2006/table">
            <a:tbl>
              <a:tblPr firstRow="1" bandRow="1">
                <a:noFill/>
                <a:tableStyleId>{831F8A93-CA79-4AF6-B420-68E9A51CCC31}</a:tableStyleId>
              </a:tblPr>
              <a:tblGrid>
                <a:gridCol w="1113931">
                  <a:extLst>
                    <a:ext uri="{9D8B030D-6E8A-4147-A177-3AD203B41FA5}">
                      <a16:colId xmlns:a16="http://schemas.microsoft.com/office/drawing/2014/main" val="20000"/>
                    </a:ext>
                  </a:extLst>
                </a:gridCol>
                <a:gridCol w="881349">
                  <a:extLst>
                    <a:ext uri="{9D8B030D-6E8A-4147-A177-3AD203B41FA5}">
                      <a16:colId xmlns:a16="http://schemas.microsoft.com/office/drawing/2014/main" val="20003"/>
                    </a:ext>
                  </a:extLst>
                </a:gridCol>
                <a:gridCol w="3216925">
                  <a:extLst>
                    <a:ext uri="{9D8B030D-6E8A-4147-A177-3AD203B41FA5}">
                      <a16:colId xmlns:a16="http://schemas.microsoft.com/office/drawing/2014/main" val="20004"/>
                    </a:ext>
                  </a:extLst>
                </a:gridCol>
                <a:gridCol w="869036">
                  <a:extLst>
                    <a:ext uri="{9D8B030D-6E8A-4147-A177-3AD203B41FA5}">
                      <a16:colId xmlns:a16="http://schemas.microsoft.com/office/drawing/2014/main" val="483496891"/>
                    </a:ext>
                  </a:extLst>
                </a:gridCol>
                <a:gridCol w="2250059">
                  <a:extLst>
                    <a:ext uri="{9D8B030D-6E8A-4147-A177-3AD203B41FA5}">
                      <a16:colId xmlns:a16="http://schemas.microsoft.com/office/drawing/2014/main" val="2620691722"/>
                    </a:ext>
                  </a:extLst>
                </a:gridCol>
              </a:tblGrid>
              <a:tr h="206746">
                <a:tc>
                  <a:txBody>
                    <a:bodyPr/>
                    <a:lstStyle/>
                    <a:p>
                      <a:pPr marL="0" marR="0" lvl="0" indent="0" algn="ctr" rtl="0">
                        <a:lnSpc>
                          <a:spcPct val="105000"/>
                        </a:lnSpc>
                        <a:spcBef>
                          <a:spcPts val="0"/>
                        </a:spcBef>
                        <a:spcAft>
                          <a:spcPts val="0"/>
                        </a:spcAft>
                        <a:buNone/>
                      </a:pPr>
                      <a:r>
                        <a:rPr lang="ja"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4要件</a:t>
                      </a:r>
                      <a:endParaRPr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評価観点</a:t>
                      </a:r>
                      <a:endParaRPr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JP" altLang="en-US"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評価内容</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JP" altLang="en-US" sz="1050" b="1" u="none" strike="noStrike" cap="none" dirty="0">
                          <a:solidFill>
                            <a:srgbClr val="FFFFFF"/>
                          </a:solidFill>
                          <a:latin typeface="游ゴシック" panose="020B0400000000000000" pitchFamily="50" charset="-128"/>
                          <a:ea typeface="游ゴシック" panose="020B0400000000000000" pitchFamily="50" charset="-128"/>
                          <a:sym typeface="Century Gothic"/>
                        </a:rPr>
                        <a:t>優先度</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lang="ja-JP" altLang="en-US" sz="1100" b="1" u="none" strike="noStrike" cap="none" dirty="0">
                          <a:solidFill>
                            <a:srgbClr val="FFFFFF"/>
                          </a:solidFill>
                          <a:latin typeface="游ゴシック" panose="020B0400000000000000" pitchFamily="50" charset="-128"/>
                          <a:ea typeface="游ゴシック" panose="020B0400000000000000" pitchFamily="50" charset="-128"/>
                          <a:sym typeface="Century Gothic"/>
                        </a:rPr>
                        <a:t>優先度の理由</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extLst>
                  <a:ext uri="{0D108BD9-81ED-4DB2-BD59-A6C34878D82A}">
                    <a16:rowId xmlns:a16="http://schemas.microsoft.com/office/drawing/2014/main" val="10000"/>
                  </a:ext>
                </a:extLst>
              </a:tr>
              <a:tr h="321604">
                <a:tc rowSpan="2">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開発・運用コスト</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試算の妥当性。初期費用、月額・年額費用、従量課金の内訳と前提条件が明確で、費用試算に妥当性があるかを評価する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今回検討の経緯の一つ</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2263541526"/>
                  </a:ext>
                </a:extLst>
              </a:tr>
              <a:tr h="321604">
                <a:tc vMerge="1">
                  <a:txBody>
                    <a:bodyPr/>
                    <a:lstStyle/>
                    <a:p>
                      <a:pPr marL="0" marR="0" lvl="0" indent="0" algn="l" rtl="0">
                        <a:lnSpc>
                          <a:spcPct val="105000"/>
                        </a:lnSpc>
                        <a:spcBef>
                          <a:spcPts val="0"/>
                        </a:spcBef>
                        <a:spcAft>
                          <a:spcPts val="0"/>
                        </a:spcAft>
                        <a:buNone/>
                      </a:pP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JP" altLang="en-US" sz="800" b="1" u="none" strike="noStrike" cap="none">
                          <a:solidFill>
                            <a:srgbClr val="2C3E50"/>
                          </a:solidFill>
                          <a:latin typeface="游ゴシック" panose="020B0400000000000000" pitchFamily="50" charset="-128"/>
                          <a:ea typeface="游ゴシック" panose="020B0400000000000000" pitchFamily="50" charset="-128"/>
                          <a:sym typeface="Century Gothic"/>
                        </a:rPr>
                        <a:t>透明性</a:t>
                      </a:r>
                      <a:r>
                        <a:rPr lang="en-US" altLang="ja-JP" sz="800" b="1" u="none" strike="noStrike" cap="none" dirty="0">
                          <a:solidFill>
                            <a:srgbClr val="2C3E50"/>
                          </a:solidFill>
                          <a:latin typeface="游ゴシック" panose="020B0400000000000000" pitchFamily="50" charset="-128"/>
                          <a:ea typeface="游ゴシック" panose="020B0400000000000000" pitchFamily="50" charset="-128"/>
                          <a:sym typeface="Century Gothic"/>
                        </a:rPr>
                        <a:t>/</a:t>
                      </a:r>
                      <a:r>
                        <a:rPr lang="ja-JP" altLang="en-US" sz="800" b="1" u="none" strike="noStrike" cap="none">
                          <a:solidFill>
                            <a:srgbClr val="2C3E50"/>
                          </a:solidFill>
                          <a:latin typeface="游ゴシック" panose="020B0400000000000000" pitchFamily="50" charset="-128"/>
                          <a:ea typeface="游ゴシック" panose="020B0400000000000000" pitchFamily="50" charset="-128"/>
                          <a:sym typeface="Century Gothic"/>
                        </a:rPr>
                        <a:t>予見可能性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75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コスト構造の透明性・</a:t>
                      </a:r>
                      <a:r>
                        <a:rPr lang="en" altLang="ja-JP"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TCO</a:t>
                      </a:r>
                      <a:r>
                        <a:rPr lang="ja-JP" altLang="en-US" sz="75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管理。データ量増加時のコスト変化の予見可能性を評価する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a:effectLst/>
                          <a:latin typeface="游ゴシック" panose="020B0400000000000000" pitchFamily="50" charset="-128"/>
                          <a:ea typeface="游ゴシック" panose="020B0400000000000000" pitchFamily="50" charset="-128"/>
                        </a:rPr>
                        <a:t>運用改善の示唆に必須</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449570700"/>
                  </a:ext>
                </a:extLst>
              </a:tr>
              <a:tr h="321604">
                <a:tc rowSpan="4">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推進体制</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本PJを推進する体制が、役割分担・人数・主要メンバーの経験・実績の観点で十分かを評価する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運用停止の場合、通常業務に大きな支障が発生するため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1"/>
                  </a:ext>
                </a:extLst>
              </a:tr>
              <a:tr h="321604">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移行実効性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Foundryパイプラインや関連資産について、移行方針が妥当か、想定工数や移行ステップに実現性があるかを評価する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移行できなければ通常業務に支障</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2"/>
                  </a:ext>
                </a:extLst>
              </a:tr>
              <a:tr h="321604">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資産継承性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chemeClr val="bg1">
                        <a:lumMod val="85000"/>
                      </a:schemeClr>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PySpark資産の移植/書き換え方針の妥当性を評価する。Tableauや既存ダッシュボードの再現性を評価する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chemeClr val="bg1">
                        <a:lumMod val="85000"/>
                      </a:schemeClr>
                    </a:solidFill>
                  </a:tcPr>
                </a:tc>
                <a:tc>
                  <a:txBody>
                    <a:bodyPr/>
                    <a:lstStyle/>
                    <a:p>
                      <a:pPr marL="0" marR="0" lvl="0" indent="0" algn="ctr" rtl="0">
                        <a:lnSpc>
                          <a:spcPct val="105000"/>
                        </a:lnSpc>
                        <a:spcBef>
                          <a:spcPts val="0"/>
                        </a:spcBef>
                        <a:spcAft>
                          <a:spcPts val="0"/>
                        </a:spcAft>
                        <a:buNone/>
                      </a:pPr>
                      <a:r>
                        <a:rPr lang="ja-JP" altLang="en-US" sz="1000" u="none" strike="noStrike" cap="none" dirty="0">
                          <a:solidFill>
                            <a:srgbClr val="333333"/>
                          </a:solidFill>
                          <a:latin typeface="游ゴシック" panose="020B0400000000000000" pitchFamily="50" charset="-128"/>
                          <a:ea typeface="游ゴシック" panose="020B0400000000000000" pitchFamily="50" charset="-128"/>
                          <a:sym typeface="Century Gothic"/>
                        </a:rPr>
                        <a:t>推奨</a:t>
                      </a:r>
                      <a:endParaRPr sz="1000" dirty="0">
                        <a:latin typeface="游ゴシック" panose="020B0400000000000000" pitchFamily="50" charset="-128"/>
                        <a:ea typeface="游ゴシック" panose="020B0400000000000000" pitchFamily="50" charset="-128"/>
                      </a:endParaRPr>
                    </a:p>
                  </a:txBody>
                  <a:tcPr marL="27000" marR="27000" marT="9000" marB="9000" anchor="ctr">
                    <a:solidFill>
                      <a:schemeClr val="bg1">
                        <a:lumMod val="85000"/>
                      </a:schemeClr>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将来移行性の高いコードにリプレースも可</a:t>
                      </a:r>
                      <a:endParaRPr dirty="0">
                        <a:latin typeface="游ゴシック" panose="020B0400000000000000" pitchFamily="50" charset="-128"/>
                        <a:ea typeface="游ゴシック" panose="020B0400000000000000" pitchFamily="50" charset="-128"/>
                      </a:endParaRPr>
                    </a:p>
                  </a:txBody>
                  <a:tcPr marL="27000" marR="27000" marT="9000" marB="9000">
                    <a:solidFill>
                      <a:schemeClr val="bg1">
                        <a:lumMod val="85000"/>
                      </a:schemeClr>
                    </a:solidFill>
                  </a:tcPr>
                </a:tc>
                <a:extLst>
                  <a:ext uri="{0D108BD9-81ED-4DB2-BD59-A6C34878D82A}">
                    <a16:rowId xmlns:a16="http://schemas.microsoft.com/office/drawing/2014/main" val="10003"/>
                  </a:ext>
                </a:extLst>
              </a:tr>
              <a:tr h="321604">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移行安全性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段階移行、並行稼働、切戻し、テスト、移行リハーサル等を含め、安全に切り替えられる計画かを評価する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移行できなければ通常業務に支障</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4"/>
                  </a:ext>
                </a:extLst>
              </a:tr>
              <a:tr h="321604">
                <a:tc rowSpan="4">
                  <a:txBody>
                    <a:bodyPr/>
                    <a:lstStyle/>
                    <a:p>
                      <a:pPr marL="0" marR="0" lvl="0" indent="0" algn="l" rtl="0">
                        <a:lnSpc>
                          <a:spcPct val="105000"/>
                        </a:lnSpc>
                        <a:spcBef>
                          <a:spcPts val="0"/>
                        </a:spcBef>
                        <a:spcAft>
                          <a:spcPts val="0"/>
                        </a:spcAft>
                        <a:buClr>
                          <a:srgbClr val="000000"/>
                        </a:buClr>
                        <a:buFont typeface="Arial"/>
                        <a:buNone/>
                      </a:pPr>
                      <a: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b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運用体制</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運用監視、再実行、障害切り分け、問い合わせ対応、変更管理等を含め、移行後に継続運用できる体制かを評価する</a:t>
                      </a:r>
                      <a:r>
                        <a:rPr lang="ja" altLang="en-US"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運用停止の場合、通常業務に大きな支障が発生するため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8"/>
                  </a:ext>
                </a:extLst>
              </a:tr>
              <a:tr h="321604">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データセット、パイプライン、ダッシュボード等を対象に、カタログ化・リネージ追跡・品質管理できるかを評価する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障害対応・メンテナンス・運用に必須</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9"/>
                  </a:ext>
                </a:extLst>
              </a:tr>
              <a:tr h="321604">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セキュリティ</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既存認証基盤との連携、権限制御粒度、個人情報マスキング、監査ログの取得範囲を踏まえ、データアクセスを適切に統制できるかを評価する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コンプライアンスのため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10"/>
                  </a:ext>
                </a:extLst>
              </a:tr>
              <a:tr h="250174">
                <a:tc vMerge="1">
                  <a:txBody>
                    <a:bodyPr/>
                    <a:lstStyle/>
                    <a:p>
                      <a:pPr marL="0" marR="0" lvl="0" indent="0" algn="l" rtl="0">
                        <a:lnSpc>
                          <a:spcPct val="105000"/>
                        </a:lnSpc>
                        <a:spcBef>
                          <a:spcPts val="0"/>
                        </a:spcBef>
                        <a:spcAft>
                          <a:spcPts val="0"/>
                        </a:spcAft>
                        <a:buNone/>
                      </a:pPr>
                      <a:endParaRPr sz="800" dirty="0"/>
                    </a:p>
                  </a:txBody>
                  <a:tcPr marL="27000" marR="27000" marT="9000" marB="9000" anchor="ctr">
                    <a:noFill/>
                  </a:tcPr>
                </a:tc>
                <a:tc>
                  <a:txBody>
                    <a:bodyPr/>
                    <a:lstStyle/>
                    <a:p>
                      <a:pPr marL="0" marR="0" lvl="0" indent="0" algn="l" rtl="0">
                        <a:lnSpc>
                          <a:spcPct val="105000"/>
                        </a:lnSpc>
                        <a:spcBef>
                          <a:spcPts val="0"/>
                        </a:spcBef>
                        <a:spcAft>
                          <a:spcPts val="0"/>
                        </a:spcAft>
                        <a:buClr>
                          <a:srgbClr val="000000"/>
                        </a:buClr>
                        <a:buFont typeface="Arial"/>
                        <a:buNone/>
                      </a:pPr>
                      <a:r>
                        <a:rPr lang="ja-JP" altLang="en-US" sz="800" b="1" i="0" u="none" strike="noStrike" cap="none" dirty="0">
                          <a:solidFill>
                            <a:srgbClr val="2C3E50"/>
                          </a:solidFill>
                          <a:latin typeface="游ゴシック" panose="020B0400000000000000" pitchFamily="50" charset="-128"/>
                          <a:ea typeface="游ゴシック" panose="020B0400000000000000" pitchFamily="50" charset="-128"/>
                          <a:sym typeface="Arial"/>
                        </a:rPr>
                        <a:t>属人化解消</a:t>
                      </a:r>
                      <a:endParaRPr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27000" marR="27000" marT="9000" marB="9000"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JP" altLang="en-US" sz="750" b="0" i="0" dirty="0">
                          <a:effectLst/>
                          <a:latin typeface="游ゴシック" panose="020B0400000000000000" pitchFamily="50" charset="-128"/>
                          <a:ea typeface="游ゴシック" panose="020B0400000000000000" pitchFamily="50" charset="-128"/>
                        </a:rPr>
                        <a:t>コーディングスキル不要で</a:t>
                      </a:r>
                      <a:r>
                        <a:rPr lang="en" altLang="ja-JP" sz="750" b="0" i="0" dirty="0">
                          <a:effectLst/>
                          <a:latin typeface="游ゴシック" panose="020B0400000000000000" pitchFamily="50" charset="-128"/>
                          <a:ea typeface="游ゴシック" panose="020B0400000000000000" pitchFamily="50" charset="-128"/>
                        </a:rPr>
                        <a:t>BI</a:t>
                      </a:r>
                      <a:r>
                        <a:rPr lang="ja-JP" altLang="en-US" sz="750" b="0" i="0" dirty="0">
                          <a:effectLst/>
                          <a:latin typeface="游ゴシック" panose="020B0400000000000000" pitchFamily="50" charset="-128"/>
                          <a:ea typeface="游ゴシック" panose="020B0400000000000000" pitchFamily="50" charset="-128"/>
                        </a:rPr>
                        <a:t>接続・ダッシュボード表示が可能か。施設長・ミドル部門が</a:t>
                      </a:r>
                      <a:r>
                        <a:rPr lang="en" altLang="ja-JP" sz="750" b="0" i="0" dirty="0">
                          <a:effectLst/>
                          <a:latin typeface="游ゴシック" panose="020B0400000000000000" pitchFamily="50" charset="-128"/>
                          <a:ea typeface="游ゴシック" panose="020B0400000000000000" pitchFamily="50" charset="-128"/>
                        </a:rPr>
                        <a:t>IT</a:t>
                      </a:r>
                      <a:r>
                        <a:rPr lang="ja-JP" altLang="en-US" sz="750" b="0" i="0" dirty="0">
                          <a:effectLst/>
                          <a:latin typeface="游ゴシック" panose="020B0400000000000000" pitchFamily="50" charset="-128"/>
                          <a:ea typeface="游ゴシック" panose="020B0400000000000000" pitchFamily="50" charset="-128"/>
                        </a:rPr>
                        <a:t>部門への依頼なしにデータ閲覧・分析できるか</a:t>
                      </a:r>
                      <a:endParaRPr sz="750" b="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JP" altLang="en-US" sz="800" b="0" i="0" dirty="0">
                          <a:effectLst/>
                          <a:latin typeface="游ゴシック" panose="020B0400000000000000" pitchFamily="50" charset="-128"/>
                          <a:ea typeface="游ゴシック" panose="020B0400000000000000" pitchFamily="50" charset="-128"/>
                        </a:rPr>
                        <a:t>今回検討の経緯の一つ</a:t>
                      </a:r>
                      <a:endParaRPr sz="80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3603099633"/>
                  </a:ext>
                </a:extLst>
              </a:tr>
              <a:tr h="321604">
                <a:tc rowSpan="2">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オープン性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採用するデータ形式や周辺仕様が、特定サービスへの過度な依存を生まず、将来の移行・再構築を阻害しにくいかを評価する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将来の拡張可能性・移行コスト削減のため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877195312"/>
                  </a:ext>
                </a:extLst>
              </a:tr>
              <a:tr h="367985">
                <a:tc vMerge="1">
                  <a:txBody>
                    <a:bodyPr/>
                    <a:lstStyle/>
                    <a:p>
                      <a:endParaRPr lang="ja-JP"/>
                    </a:p>
                  </a:txBody>
                  <a:tcPr>
                    <a:solidFill>
                      <a:srgbClr val="FDF5F0"/>
                    </a:solid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AI拡張性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chemeClr val="bg2">
                        <a:lumMod val="20000"/>
                        <a:lumOff val="80000"/>
                      </a:schemeClr>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AI開発環境の構成が、特定製品や独自実装への依存度を抑えつつ、PoCから本番移行、</a:t>
                      </a:r>
                      <a:r>
                        <a:rPr lang="en" altLang="ja-JP" sz="750" dirty="0">
                          <a:latin typeface="游ゴシック" panose="020B0400000000000000" pitchFamily="50" charset="-128"/>
                          <a:ea typeface="游ゴシック" panose="020B0400000000000000" pitchFamily="50" charset="-128"/>
                        </a:rPr>
                        <a:t>AI</a:t>
                      </a:r>
                      <a:r>
                        <a:rPr lang="ja-JP" altLang="en-US" sz="750">
                          <a:latin typeface="游ゴシック" panose="020B0400000000000000" pitchFamily="50" charset="-128"/>
                          <a:ea typeface="游ゴシック" panose="020B0400000000000000" pitchFamily="50" charset="-128"/>
                        </a:rPr>
                        <a:t>資産のカタログ管理、非構造化データの拡張性など</a:t>
                      </a:r>
                    </a:p>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将来拡張まで見据えた構成になっているかを評価する</a:t>
                      </a:r>
                      <a:r>
                        <a:rPr lang="en-US" alt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p>
                  </a:txBody>
                  <a:tcPr marL="27000" marR="27000" marT="9000" marB="9000">
                    <a:solidFill>
                      <a:schemeClr val="bg2">
                        <a:lumMod val="20000"/>
                        <a:lumOff val="80000"/>
                      </a:schemeClr>
                    </a:solidFill>
                  </a:tcPr>
                </a:tc>
                <a:tc>
                  <a:txBody>
                    <a:bodyPr/>
                    <a:lstStyle/>
                    <a:p>
                      <a:pPr marL="0" marR="0" lvl="0" indent="0" algn="ctr" rtl="0">
                        <a:lnSpc>
                          <a:spcPct val="105000"/>
                        </a:lnSpc>
                        <a:spcBef>
                          <a:spcPts val="0"/>
                        </a:spcBef>
                        <a:spcAft>
                          <a:spcPts val="0"/>
                        </a:spcAft>
                        <a:buNone/>
                      </a:pPr>
                      <a:r>
                        <a:rPr lang="ja-JP" altLang="en-US" sz="1000" u="none" strike="noStrike" cap="none" dirty="0">
                          <a:solidFill>
                            <a:srgbClr val="333333"/>
                          </a:solidFill>
                          <a:latin typeface="游ゴシック" panose="020B0400000000000000" pitchFamily="50" charset="-128"/>
                          <a:ea typeface="游ゴシック" panose="020B0400000000000000" pitchFamily="50" charset="-128"/>
                          <a:sym typeface="Century Gothic"/>
                        </a:rPr>
                        <a:t>重要</a:t>
                      </a:r>
                      <a:endParaRPr sz="1000" dirty="0">
                        <a:latin typeface="游ゴシック" panose="020B0400000000000000" pitchFamily="50" charset="-128"/>
                        <a:ea typeface="游ゴシック" panose="020B0400000000000000" pitchFamily="50" charset="-128"/>
                      </a:endParaRPr>
                    </a:p>
                  </a:txBody>
                  <a:tcPr marL="27000" marR="27000" marT="9000" marB="9000" anchor="ctr">
                    <a:solidFill>
                      <a:schemeClr val="bg2">
                        <a:lumMod val="20000"/>
                        <a:lumOff val="80000"/>
                      </a:schemeClr>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将来の</a:t>
                      </a:r>
                      <a:r>
                        <a:rPr lang="en" altLang="ja-JP" sz="800" b="0" i="0" dirty="0">
                          <a:effectLst/>
                          <a:latin typeface="游ゴシック" panose="020B0400000000000000" pitchFamily="50" charset="-128"/>
                          <a:ea typeface="游ゴシック" panose="020B0400000000000000" pitchFamily="50" charset="-128"/>
                        </a:rPr>
                        <a:t>AI</a:t>
                      </a:r>
                      <a:r>
                        <a:rPr lang="ja-JP" altLang="en-US" sz="800" b="0" i="0" dirty="0">
                          <a:effectLst/>
                          <a:latin typeface="游ゴシック" panose="020B0400000000000000" pitchFamily="50" charset="-128"/>
                          <a:ea typeface="游ゴシック" panose="020B0400000000000000" pitchFamily="50" charset="-128"/>
                        </a:rPr>
                        <a:t>ドリブンな業務を前提としているため</a:t>
                      </a:r>
                      <a:endParaRPr dirty="0">
                        <a:latin typeface="游ゴシック" panose="020B0400000000000000" pitchFamily="50" charset="-128"/>
                        <a:ea typeface="游ゴシック" panose="020B0400000000000000" pitchFamily="50" charset="-128"/>
                      </a:endParaRPr>
                    </a:p>
                  </a:txBody>
                  <a:tcPr marL="27000" marR="27000" marT="9000" marB="9000">
                    <a:solidFill>
                      <a:schemeClr val="bg2">
                        <a:lumMod val="20000"/>
                        <a:lumOff val="80000"/>
                      </a:schemeClr>
                    </a:solidFill>
                  </a:tcPr>
                </a:tc>
                <a:extLst>
                  <a:ext uri="{0D108BD9-81ED-4DB2-BD59-A6C34878D82A}">
                    <a16:rowId xmlns:a16="http://schemas.microsoft.com/office/drawing/2014/main" val="2264222606"/>
                  </a:ext>
                </a:extLst>
              </a:tr>
            </a:tbl>
          </a:graphicData>
        </a:graphic>
      </p:graphicFrame>
      <p:sp>
        <p:nvSpPr>
          <p:cNvPr id="3" name="Google Shape;203;p7">
            <a:extLst>
              <a:ext uri="{FF2B5EF4-FFF2-40B4-BE49-F238E27FC236}">
                <a16:creationId xmlns:a16="http://schemas.microsoft.com/office/drawing/2014/main" id="{B85CA7E3-7EF0-A31A-F79C-0774B75C0525}"/>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D0D3CB4A-82A1-3087-0853-E9EF766C317D}"/>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B1EB1356-E490-9B62-8DEB-047C9E4D3094}"/>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技術</a:t>
            </a:r>
            <a:r>
              <a:rPr lang="ja"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ベンダー</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評価観点整理</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257AAEF3-366A-1FD9-24D3-9B055ECB2774}"/>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50FEEBE9-201A-8397-C168-E147B994E693}"/>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11053468-6F96-4FD0-B04B-D1C0405799EA}"/>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7</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21F228DA-95FF-9BA8-58A8-AC918D889675}"/>
              </a:ext>
            </a:extLst>
          </p:cNvPr>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評価観点</a:t>
            </a:r>
            <a:r>
              <a:rPr lang="ja"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を</a:t>
            </a:r>
            <a:r>
              <a:rPr lang="ja-JP" altLang="en-US" sz="1000" b="1" i="0" u="none" strike="noStrike" cap="none">
                <a:solidFill>
                  <a:schemeClr val="tx1"/>
                </a:solidFill>
                <a:latin typeface="游ゴシック" panose="020B0400000000000000" pitchFamily="50" charset="-128"/>
                <a:ea typeface="游ゴシック" panose="020B0400000000000000" pitchFamily="50" charset="-128"/>
                <a:cs typeface="Century Gothic"/>
                <a:sym typeface="Century Gothic"/>
              </a:rPr>
              <a:t>それぞれ</a:t>
            </a: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技術面（機能の有無）とベンダー面（実績・体制）</a:t>
            </a:r>
            <a:r>
              <a:rPr lang="ja" altLang="en-US"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で</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分けて、技術面の評価を実施する</a:t>
            </a:r>
            <a:endParaRPr sz="1400" b="1" i="0" u="none" strike="noStrike" cap="none" dirty="0">
              <a:solidFill>
                <a:schemeClr val="tx1"/>
              </a:solidFill>
              <a:latin typeface="游ゴシック" panose="020B0400000000000000" pitchFamily="50" charset="-128"/>
              <a:ea typeface="游ゴシック" panose="020B0400000000000000" pitchFamily="50" charset="-128"/>
              <a:sym typeface="Arial"/>
            </a:endParaRPr>
          </a:p>
        </p:txBody>
      </p:sp>
      <p:graphicFrame>
        <p:nvGraphicFramePr>
          <p:cNvPr id="252" name="Google Shape;252;p9">
            <a:extLst>
              <a:ext uri="{FF2B5EF4-FFF2-40B4-BE49-F238E27FC236}">
                <a16:creationId xmlns:a16="http://schemas.microsoft.com/office/drawing/2014/main" id="{65652AEC-7F8E-B58C-AAD8-13632C148CF7}"/>
              </a:ext>
            </a:extLst>
          </p:cNvPr>
          <p:cNvGraphicFramePr/>
          <p:nvPr>
            <p:extLst>
              <p:ext uri="{D42A27DB-BD31-4B8C-83A1-F6EECF244321}">
                <p14:modId xmlns:p14="http://schemas.microsoft.com/office/powerpoint/2010/main" val="1705344438"/>
              </p:ext>
            </p:extLst>
          </p:nvPr>
        </p:nvGraphicFramePr>
        <p:xfrm>
          <a:off x="406400" y="838199"/>
          <a:ext cx="8332400" cy="3874815"/>
        </p:xfrm>
        <a:graphic>
          <a:graphicData uri="http://schemas.openxmlformats.org/drawingml/2006/table">
            <a:tbl>
              <a:tblPr firstRow="1" bandRow="1">
                <a:noFill/>
                <a:tableStyleId>{831F8A93-CA79-4AF6-B420-68E9A51CCC31}</a:tableStyleId>
              </a:tblPr>
              <a:tblGrid>
                <a:gridCol w="900000">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3166200">
                  <a:extLst>
                    <a:ext uri="{9D8B030D-6E8A-4147-A177-3AD203B41FA5}">
                      <a16:colId xmlns:a16="http://schemas.microsoft.com/office/drawing/2014/main" val="20002"/>
                    </a:ext>
                  </a:extLst>
                </a:gridCol>
                <a:gridCol w="2866200">
                  <a:extLst>
                    <a:ext uri="{9D8B030D-6E8A-4147-A177-3AD203B41FA5}">
                      <a16:colId xmlns:a16="http://schemas.microsoft.com/office/drawing/2014/main" val="20003"/>
                    </a:ext>
                  </a:extLst>
                </a:gridCol>
              </a:tblGrid>
              <a:tr h="291679">
                <a:tc>
                  <a:txBody>
                    <a:bodyPr/>
                    <a:lstStyle/>
                    <a:p>
                      <a:pPr marL="0" marR="0" lvl="0" indent="0" algn="ctr" rtl="0">
                        <a:lnSpc>
                          <a:spcPct val="105000"/>
                        </a:lnSpc>
                        <a:spcBef>
                          <a:spcPts val="0"/>
                        </a:spcBef>
                        <a:spcAft>
                          <a:spcPts val="0"/>
                        </a:spcAft>
                        <a:buNone/>
                      </a:pPr>
                      <a:r>
                        <a:rPr lang="ja" sz="14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要件</a:t>
                      </a:r>
                    </a:p>
                  </a:txBody>
                  <a:tcPr marL="68600" marR="68600" marT="25400" marB="25400" anchor="ctr">
                    <a:solidFill>
                      <a:srgbClr val="2C3E50"/>
                    </a:solidFill>
                  </a:tcPr>
                </a:tc>
                <a:tc>
                  <a:txBody>
                    <a:bodyPr/>
                    <a:lstStyle/>
                    <a:p>
                      <a:pPr marL="0" marR="0" lvl="0" indent="0" algn="ctr" rtl="0">
                        <a:lnSpc>
                          <a:spcPct val="105000"/>
                        </a:lnSpc>
                        <a:spcBef>
                          <a:spcPts val="0"/>
                        </a:spcBef>
                        <a:spcAft>
                          <a:spcPts val="0"/>
                        </a:spcAft>
                        <a:buNone/>
                      </a:pPr>
                      <a:r>
                        <a:rPr lang="ja" sz="14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評価観点</a:t>
                      </a:r>
                    </a:p>
                  </a:txBody>
                  <a:tcPr marL="68600" marR="68600" marT="25400" marB="25400" anchor="ctr">
                    <a:solidFill>
                      <a:srgbClr val="2C3E50"/>
                    </a:solidFill>
                  </a:tcPr>
                </a:tc>
                <a:tc>
                  <a:txBody>
                    <a:bodyPr/>
                    <a:lstStyle/>
                    <a:p>
                      <a:pPr marL="0" marR="0" lvl="0" indent="0" algn="ctr" rtl="0">
                        <a:lnSpc>
                          <a:spcPct val="105000"/>
                        </a:lnSpc>
                        <a:spcBef>
                          <a:spcPts val="0"/>
                        </a:spcBef>
                        <a:spcAft>
                          <a:spcPts val="0"/>
                        </a:spcAft>
                        <a:buNone/>
                      </a:pPr>
                      <a:r>
                        <a:rPr lang="ja-JP" altLang="en-US" sz="1400" b="1" u="none" strike="noStrike" cap="none">
                          <a:solidFill>
                            <a:srgbClr val="FFFFFF"/>
                          </a:solidFill>
                          <a:latin typeface="游ゴシック" panose="020B0400000000000000" pitchFamily="50" charset="-128"/>
                          <a:ea typeface="游ゴシック" panose="020B0400000000000000" pitchFamily="50" charset="-128"/>
                          <a:cs typeface="Century Gothic"/>
                          <a:sym typeface="Century Gothic"/>
                        </a:rPr>
                        <a:t>技術観点</a:t>
                      </a:r>
                      <a:endParaRPr lang="ja" sz="14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endParaRPr>
                    </a:p>
                  </a:txBody>
                  <a:tcPr marL="68600" marR="68600" marT="25400" marB="25400" anchor="ctr">
                    <a:solidFill>
                      <a:srgbClr val="2C3E50"/>
                    </a:solidFill>
                  </a:tcPr>
                </a:tc>
                <a:tc>
                  <a:txBody>
                    <a:bodyPr/>
                    <a:lstStyle/>
                    <a:p>
                      <a:pPr marL="0" marR="0" lvl="0" indent="0" algn="ctr" rtl="0">
                        <a:lnSpc>
                          <a:spcPct val="105000"/>
                        </a:lnSpc>
                        <a:spcBef>
                          <a:spcPts val="0"/>
                        </a:spcBef>
                        <a:spcAft>
                          <a:spcPts val="0"/>
                        </a:spcAft>
                        <a:buNone/>
                      </a:pPr>
                      <a:r>
                        <a:rPr lang="ja-JP" altLang="en-US" sz="14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ベンダー観点</a:t>
                      </a:r>
                      <a:endParaRPr lang="ja" sz="14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endParaRPr>
                    </a:p>
                  </a:txBody>
                  <a:tcPr marL="68600" marR="68600" marT="25400" marB="25400" anchor="ctr">
                    <a:solidFill>
                      <a:srgbClr val="2C3E50"/>
                    </a:solidFill>
                  </a:tcPr>
                </a:tc>
                <a:extLst>
                  <a:ext uri="{0D108BD9-81ED-4DB2-BD59-A6C34878D82A}">
                    <a16:rowId xmlns:a16="http://schemas.microsoft.com/office/drawing/2014/main" val="10000"/>
                  </a:ext>
                </a:extLst>
              </a:tr>
              <a:tr h="291679">
                <a:tc rowSpan="2">
                  <a:txBody>
                    <a:bodyPr/>
                    <a:lstStyle/>
                    <a:p>
                      <a:pPr marL="0" marR="0" lvl="0" indent="0" algn="l" rtl="0">
                        <a:lnSpc>
                          <a:spcPct val="105000"/>
                        </a:lnSpc>
                        <a:spcBef>
                          <a:spcPts val="0"/>
                        </a:spcBef>
                        <a:spcAft>
                          <a:spcPts val="0"/>
                        </a:spcAft>
                        <a:buNone/>
                      </a:pPr>
                      <a: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b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lang="ja-JP" altLang="en-US" sz="800" dirty="0">
                        <a:latin typeface="游ゴシック" panose="020B0400000000000000" pitchFamily="50" charset="-128"/>
                        <a:ea typeface="游ゴシック" panose="020B0400000000000000" pitchFamily="50" charset="-128"/>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開発・運用コスト</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課金モデルの構造</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金額試算</a:t>
                      </a:r>
                    </a:p>
                  </a:txBody>
                  <a:tcPr marL="68600" marR="68600" marT="25400" marB="25400" anchor="ctr">
                    <a:noFill/>
                  </a:tcPr>
                </a:tc>
                <a:extLst>
                  <a:ext uri="{0D108BD9-81ED-4DB2-BD59-A6C34878D82A}">
                    <a16:rowId xmlns:a16="http://schemas.microsoft.com/office/drawing/2014/main" val="10001"/>
                  </a:ext>
                </a:extLst>
              </a:tr>
              <a:tr h="291679">
                <a:tc vMerge="1">
                  <a:txBody>
                    <a:bodyPr/>
                    <a:lstStyle/>
                    <a:p>
                      <a:endParaRPr lang="ja" dirty="0"/>
                    </a:p>
                  </a:txBody>
                  <a:tcPr marL="68600" marR="68600" marT="25400" marB="25400" anchor="ctr">
                    <a:solidFill>
                      <a:srgbClr val="EBF5FB"/>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透明性/予見可能性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コスト急増リスクの構造特性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データ量増加時の試算</a:t>
                      </a:r>
                    </a:p>
                  </a:txBody>
                  <a:tcPr marL="68600" marR="68600" marT="25400" marB="25400" anchor="ctr">
                    <a:noFill/>
                  </a:tcPr>
                </a:tc>
                <a:extLst>
                  <a:ext uri="{0D108BD9-81ED-4DB2-BD59-A6C34878D82A}">
                    <a16:rowId xmlns:a16="http://schemas.microsoft.com/office/drawing/2014/main" val="10002"/>
                  </a:ext>
                </a:extLst>
              </a:tr>
              <a:tr h="291679">
                <a:tc rowSpan="4">
                  <a:txBody>
                    <a:bodyPr/>
                    <a:lstStyle/>
                    <a:p>
                      <a:pPr marL="0" marR="0" lvl="0" indent="0" algn="l" rtl="0">
                        <a:lnSpc>
                          <a:spcPct val="105000"/>
                        </a:lnSpc>
                        <a:spcBef>
                          <a:spcPts val="0"/>
                        </a:spcBef>
                        <a:spcAft>
                          <a:spcPts val="0"/>
                        </a:spcAft>
                        <a:buNone/>
                      </a:pPr>
                      <a: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b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lang="ja-JP" altLang="en-US" sz="800" dirty="0">
                        <a:latin typeface="游ゴシック" panose="020B0400000000000000" pitchFamily="50" charset="-128"/>
                        <a:ea typeface="游ゴシック" panose="020B0400000000000000" pitchFamily="50" charset="-128"/>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推進体制</a:t>
                      </a:r>
                    </a:p>
                  </a:txBody>
                  <a:tcPr marL="68600" marR="68600" marT="25400" marB="25400" anchor="ctr">
                    <a:noFill/>
                  </a:tcPr>
                </a:tc>
                <a:tc>
                  <a:txBody>
                    <a:bodyPr/>
                    <a:lstStyle/>
                    <a:p>
                      <a:pPr marL="0" marR="0" lvl="0" indent="0" algn="ctr" rtl="0">
                        <a:lnSpc>
                          <a:spcPct val="105000"/>
                        </a:lnSpc>
                        <a:spcBef>
                          <a:spcPts val="0"/>
                        </a:spcBef>
                        <a:spcAft>
                          <a:spcPts val="0"/>
                        </a:spcAft>
                        <a:buNone/>
                      </a:pPr>
                      <a:r>
                        <a:rPr lang="ja" sz="1000" u="none" strike="noStrike" cap="none" dirty="0">
                          <a:solidFill>
                            <a:srgbClr val="AAAAAA"/>
                          </a:solidFill>
                          <a:latin typeface="游ゴシック" panose="020B0400000000000000" pitchFamily="50" charset="-128"/>
                          <a:ea typeface="游ゴシック" panose="020B0400000000000000" pitchFamily="50" charset="-128"/>
                          <a:cs typeface="Century Gothic"/>
                          <a:sym typeface="Century Gothic"/>
                        </a:rPr>
                        <a:t>—</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主としてベンダー評価</a:t>
                      </a:r>
                    </a:p>
                  </a:txBody>
                  <a:tcPr marL="68600" marR="68600" marT="25400" marB="25400" anchor="ctr">
                    <a:noFill/>
                  </a:tcPr>
                </a:tc>
                <a:extLst>
                  <a:ext uri="{0D108BD9-81ED-4DB2-BD59-A6C34878D82A}">
                    <a16:rowId xmlns:a16="http://schemas.microsoft.com/office/drawing/2014/main" val="10003"/>
                  </a:ext>
                </a:extLst>
              </a:tr>
              <a:tr h="291679">
                <a:tc vMerge="1">
                  <a:txBody>
                    <a:bodyPr/>
                    <a:lstStyle/>
                    <a:p>
                      <a:endParaRPr lang="ja" dirty="0"/>
                    </a:p>
                  </a:txBody>
                  <a:tcPr marL="68600" marR="68600" marT="25400" marB="25400" anchor="ctr">
                    <a:solidFill>
                      <a:srgbClr val="E8F8F5"/>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移行実効性</a:t>
                      </a:r>
                    </a:p>
                  </a:txBody>
                  <a:tcPr marL="68600" marR="68600" marT="25400" marB="25400" anchor="ctr">
                    <a:noFill/>
                  </a:tcPr>
                </a:tc>
                <a:tc>
                  <a:txBody>
                    <a:bodyPr/>
                    <a:lstStyle/>
                    <a:p>
                      <a:pPr marL="0" marR="0" lvl="0" indent="0" algn="ctr" rtl="0">
                        <a:lnSpc>
                          <a:spcPct val="105000"/>
                        </a:lnSpc>
                        <a:spcBef>
                          <a:spcPts val="0"/>
                        </a:spcBef>
                        <a:spcAft>
                          <a:spcPts val="0"/>
                        </a:spcAft>
                        <a:buNone/>
                      </a:pPr>
                      <a:r>
                        <a:rPr lang="ja" sz="1000" u="none" strike="noStrike" cap="none" dirty="0">
                          <a:solidFill>
                            <a:srgbClr val="AAAAAA"/>
                          </a:solidFill>
                          <a:latin typeface="游ゴシック" panose="020B0400000000000000" pitchFamily="50" charset="-128"/>
                          <a:ea typeface="游ゴシック" panose="020B0400000000000000" pitchFamily="50" charset="-128"/>
                          <a:cs typeface="Century Gothic"/>
                          <a:sym typeface="Century Gothic"/>
                        </a:rPr>
                        <a:t>—</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主としてベンダー評価</a:t>
                      </a:r>
                    </a:p>
                  </a:txBody>
                  <a:tcPr marL="68600" marR="68600" marT="25400" marB="25400" anchor="ctr">
                    <a:noFill/>
                  </a:tcPr>
                </a:tc>
                <a:extLst>
                  <a:ext uri="{0D108BD9-81ED-4DB2-BD59-A6C34878D82A}">
                    <a16:rowId xmlns:a16="http://schemas.microsoft.com/office/drawing/2014/main" val="10004"/>
                  </a:ext>
                </a:extLst>
              </a:tr>
              <a:tr h="291679">
                <a:tc vMerge="1">
                  <a:txBody>
                    <a:bodyPr/>
                    <a:lstStyle/>
                    <a:p>
                      <a:endParaRPr lang="ja" dirty="0"/>
                    </a:p>
                  </a:txBody>
                  <a:tcPr marL="68600" marR="68600" marT="25400" marB="25400" anchor="ctr">
                    <a:solidFill>
                      <a:srgbClr val="E8F8F5"/>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資産継承性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PySpark互換性</a:t>
                      </a:r>
                      <a:r>
                        <a:rPr lang="ja" altLang="en-US"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r>
                        <a:rPr lang="en-US" alt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Tableau/BI</a:t>
                      </a:r>
                      <a:r>
                        <a:rPr lang="ja-JP" altLang="en-US" sz="100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接続</a:t>
                      </a:r>
                      <a:endPar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書き換え方針</a:t>
                      </a:r>
                    </a:p>
                  </a:txBody>
                  <a:tcPr marL="68600" marR="68600" marT="25400" marB="25400" anchor="ctr">
                    <a:noFill/>
                  </a:tcPr>
                </a:tc>
                <a:extLst>
                  <a:ext uri="{0D108BD9-81ED-4DB2-BD59-A6C34878D82A}">
                    <a16:rowId xmlns:a16="http://schemas.microsoft.com/office/drawing/2014/main" val="10005"/>
                  </a:ext>
                </a:extLst>
              </a:tr>
              <a:tr h="291679">
                <a:tc vMerge="1">
                  <a:txBody>
                    <a:bodyPr/>
                    <a:lstStyle/>
                    <a:p>
                      <a:endParaRPr lang="ja" dirty="0"/>
                    </a:p>
                  </a:txBody>
                  <a:tcPr marL="68600" marR="68600" marT="25400" marB="25400" anchor="ctr">
                    <a:solidFill>
                      <a:srgbClr val="E8F8F5"/>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移行安全性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切り戻し機能</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移行計画</a:t>
                      </a:r>
                    </a:p>
                  </a:txBody>
                  <a:tcPr marL="68600" marR="68600" marT="25400" marB="25400" anchor="ctr">
                    <a:noFill/>
                  </a:tcPr>
                </a:tc>
                <a:extLst>
                  <a:ext uri="{0D108BD9-81ED-4DB2-BD59-A6C34878D82A}">
                    <a16:rowId xmlns:a16="http://schemas.microsoft.com/office/drawing/2014/main" val="10006"/>
                  </a:ext>
                </a:extLst>
              </a:tr>
              <a:tr h="291679">
                <a:tc rowSpan="4">
                  <a:txBody>
                    <a:bodyPr/>
                    <a:lstStyle/>
                    <a:p>
                      <a:pPr marL="0" marR="0" lvl="0" indent="0" algn="l" rtl="0">
                        <a:lnSpc>
                          <a:spcPct val="105000"/>
                        </a:lnSpc>
                        <a:spcBef>
                          <a:spcPts val="0"/>
                        </a:spcBef>
                        <a:spcAft>
                          <a:spcPts val="0"/>
                        </a:spcAft>
                        <a:buClr>
                          <a:srgbClr val="000000"/>
                        </a:buClr>
                        <a:buFont typeface="Arial"/>
                        <a:buNone/>
                      </a:pPr>
                      <a:r>
                        <a:rPr lang="ja-JP" altLang="en-US" sz="1000" b="1" i="0"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br>
                        <a:rPr lang="ja-JP" altLang="en-US" sz="1000" b="1" i="0"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i="0"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lang="ja-JP" altLang="en-US"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運用体制</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必要スキル・学習曲線</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支援体制</a:t>
                      </a:r>
                    </a:p>
                  </a:txBody>
                  <a:tcPr marL="68600" marR="68600" marT="25400" marB="25400" anchor="ctr">
                    <a:noFill/>
                  </a:tcPr>
                </a:tc>
                <a:extLst>
                  <a:ext uri="{0D108BD9-81ED-4DB2-BD59-A6C34878D82A}">
                    <a16:rowId xmlns:a16="http://schemas.microsoft.com/office/drawing/2014/main" val="10007"/>
                  </a:ext>
                </a:extLst>
              </a:tr>
              <a:tr h="291679">
                <a:tc vMerge="1">
                  <a:txBody>
                    <a:bodyPr/>
                    <a:lstStyle/>
                    <a:p>
                      <a:endParaRPr lang="ja" dirty="0"/>
                    </a:p>
                  </a:txBody>
                  <a:tcPr marL="68600" marR="68600" marT="25400" marB="25400" anchor="ctr">
                    <a:solidFill>
                      <a:srgbClr val="FEF9E7"/>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機能の有無（カタログ・リネージ・品質・監査）</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構築実績・設計経験</a:t>
                      </a:r>
                    </a:p>
                  </a:txBody>
                  <a:tcPr marL="68600" marR="68600" marT="25400" marB="25400" anchor="ctr">
                    <a:noFill/>
                  </a:tcPr>
                </a:tc>
                <a:extLst>
                  <a:ext uri="{0D108BD9-81ED-4DB2-BD59-A6C34878D82A}">
                    <a16:rowId xmlns:a16="http://schemas.microsoft.com/office/drawing/2014/main" val="10008"/>
                  </a:ext>
                </a:extLst>
              </a:tr>
              <a:tr h="291679">
                <a:tc vMerge="1">
                  <a:txBody>
                    <a:bodyPr/>
                    <a:lstStyle/>
                    <a:p>
                      <a:endParaRPr lang="ja" dirty="0"/>
                    </a:p>
                  </a:txBody>
                  <a:tcPr marL="68600" marR="68600" marT="25400" marB="25400" anchor="ctr">
                    <a:solidFill>
                      <a:srgbClr val="FEF9E7"/>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セキュリティ</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機能の有無（RLS・列マスク・PII検出）</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対応実績・権限設計</a:t>
                      </a:r>
                    </a:p>
                  </a:txBody>
                  <a:tcPr marL="68600" marR="68600" marT="25400" marB="25400" anchor="ctr">
                    <a:noFill/>
                  </a:tcPr>
                </a:tc>
                <a:extLst>
                  <a:ext uri="{0D108BD9-81ED-4DB2-BD59-A6C34878D82A}">
                    <a16:rowId xmlns:a16="http://schemas.microsoft.com/office/drawing/2014/main" val="10009"/>
                  </a:ext>
                </a:extLst>
              </a:tr>
              <a:tr h="291679">
                <a:tc vMerge="1">
                  <a:txBody>
                    <a:bodyPr/>
                    <a:lstStyle/>
                    <a:p>
                      <a:endParaRPr lang="ja" dirty="0"/>
                    </a:p>
                  </a:txBody>
                  <a:tcPr marL="68600" marR="68600" marT="25400" marB="25400" anchor="ctr">
                    <a:solidFill>
                      <a:srgbClr val="FEF9E7"/>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属人化解消</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機能の有無（セルフBI・自然言語→SQL）</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導入・定着支援実績</a:t>
                      </a:r>
                    </a:p>
                  </a:txBody>
                  <a:tcPr marL="68600" marR="68600" marT="25400" marB="25400" anchor="ctr">
                    <a:noFill/>
                  </a:tcPr>
                </a:tc>
                <a:extLst>
                  <a:ext uri="{0D108BD9-81ED-4DB2-BD59-A6C34878D82A}">
                    <a16:rowId xmlns:a16="http://schemas.microsoft.com/office/drawing/2014/main" val="10010"/>
                  </a:ext>
                </a:extLst>
              </a:tr>
              <a:tr h="291679">
                <a:tc rowSpan="2">
                  <a:txBody>
                    <a:bodyPr/>
                    <a:lstStyle/>
                    <a:p>
                      <a:pPr marL="0" marR="0" lvl="0" indent="0" algn="l" rtl="0">
                        <a:lnSpc>
                          <a:spcPct val="105000"/>
                        </a:lnSpc>
                        <a:spcBef>
                          <a:spcPts val="0"/>
                        </a:spcBef>
                        <a:spcAft>
                          <a:spcPts val="0"/>
                        </a:spcAft>
                        <a:buNone/>
                      </a:pPr>
                      <a: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br>
                        <a:rPr lang="ja-JP" altLang="en-US" sz="10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将来の</a:t>
                      </a:r>
                      <a:r>
                        <a:rPr lang="en"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a:t>
                      </a:r>
                      <a:r>
                        <a:rPr lang="ja-JP" altLang="en-US" sz="800" b="1" u="none" strike="noStrike" cap="none">
                          <a:solidFill>
                            <a:srgbClr val="2C3E50"/>
                          </a:solidFill>
                          <a:latin typeface="游ゴシック" panose="020B0400000000000000" pitchFamily="50" charset="-128"/>
                          <a:ea typeface="游ゴシック" panose="020B0400000000000000" pitchFamily="50" charset="-128"/>
                          <a:cs typeface="Century Gothic"/>
                          <a:sym typeface="Century Gothic"/>
                        </a:rPr>
                        <a:t>活用を阻害しない拡張性があること</a:t>
                      </a:r>
                      <a:endParaRPr lang="ja-JP" altLang="en-US" sz="800" dirty="0">
                        <a:latin typeface="游ゴシック" panose="020B0400000000000000" pitchFamily="50" charset="-128"/>
                        <a:ea typeface="游ゴシック" panose="020B0400000000000000" pitchFamily="50" charset="-128"/>
                      </a:endParaRP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オープン性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仕様のオープン性（Delta/Iceberg/</a:t>
                      </a:r>
                      <a:r>
                        <a:rPr lang="ja-JP" altLang="en-US" sz="1000" u="none" strike="noStrike" cap="none">
                          <a:solidFill>
                            <a:srgbClr val="333333"/>
                          </a:solidFill>
                          <a:latin typeface="游ゴシック" panose="020B0400000000000000" pitchFamily="50" charset="-128"/>
                          <a:ea typeface="游ゴシック" panose="020B0400000000000000" pitchFamily="50" charset="-128"/>
                          <a:cs typeface="Century Gothic"/>
                          <a:sym typeface="Century Gothic"/>
                        </a:rPr>
                        <a:t>業界標準</a:t>
                      </a: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移行実績・運用知見</a:t>
                      </a:r>
                    </a:p>
                  </a:txBody>
                  <a:tcPr marL="68600" marR="68600" marT="25400" marB="25400" anchor="ctr">
                    <a:noFill/>
                  </a:tcPr>
                </a:tc>
                <a:extLst>
                  <a:ext uri="{0D108BD9-81ED-4DB2-BD59-A6C34878D82A}">
                    <a16:rowId xmlns:a16="http://schemas.microsoft.com/office/drawing/2014/main" val="10011"/>
                  </a:ext>
                </a:extLst>
              </a:tr>
              <a:tr h="346936">
                <a:tc vMerge="1">
                  <a:txBody>
                    <a:bodyPr/>
                    <a:lstStyle/>
                    <a:p>
                      <a:endParaRPr lang="ja" dirty="0"/>
                    </a:p>
                  </a:txBody>
                  <a:tcPr marL="68600" marR="68600" marT="25400" marB="25400" anchor="ctr">
                    <a:solidFill>
                      <a:srgbClr val="FDEDEC"/>
                    </a:solidFill>
                  </a:tcPr>
                </a:tc>
                <a:tc>
                  <a:txBody>
                    <a:bodyPr/>
                    <a:lstStyle/>
                    <a:p>
                      <a:pPr marL="0" marR="0" lvl="0" indent="0" algn="l" rtl="0">
                        <a:lnSpc>
                          <a:spcPct val="105000"/>
                        </a:lnSpc>
                        <a:spcBef>
                          <a:spcPts val="0"/>
                        </a:spcBef>
                        <a:spcAft>
                          <a:spcPts val="0"/>
                        </a:spcAft>
                        <a:buNone/>
                      </a:pPr>
                      <a:r>
                        <a:rPr lang="ja" sz="10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AI拡張性</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機能の有無（ML実験管理・非構造化データ対応・マルチモデル対応）</a:t>
                      </a:r>
                    </a:p>
                  </a:txBody>
                  <a:tcPr marL="68600" marR="68600" marT="25400" marB="25400" anchor="ctr">
                    <a:noFill/>
                  </a:tcPr>
                </a:tc>
                <a:tc>
                  <a:txBody>
                    <a:bodyPr/>
                    <a:lstStyle/>
                    <a:p>
                      <a:pPr marL="0" marR="0" lvl="0" indent="0" algn="l" rtl="0">
                        <a:lnSpc>
                          <a:spcPct val="105000"/>
                        </a:lnSpc>
                        <a:spcBef>
                          <a:spcPts val="0"/>
                        </a:spcBef>
                        <a:spcAft>
                          <a:spcPts val="0"/>
                        </a:spcAft>
                        <a:buNone/>
                      </a:pPr>
                      <a:r>
                        <a:rPr lang="ja" sz="10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構築実績・設計経験</a:t>
                      </a:r>
                    </a:p>
                  </a:txBody>
                  <a:tcPr marL="68600" marR="68600" marT="25400" marB="25400" anchor="c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46096403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F9F79A93-152F-187E-3926-99841A590C2C}"/>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FC07E907-9645-E939-01BB-E0F38A8AFAC9}"/>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2.3 </a:t>
            </a:r>
            <a:r>
              <a:rPr lang="ja-JP" altLang="en-US" sz="1800" b="1" i="0" u="none" strike="noStrike" cap="none">
                <a:solidFill>
                  <a:srgbClr val="121212"/>
                </a:solidFill>
                <a:latin typeface="游ゴシック" panose="020B0400000000000000" pitchFamily="50" charset="-128"/>
                <a:ea typeface="游ゴシック" panose="020B0400000000000000" pitchFamily="50" charset="-128"/>
                <a:cs typeface="Century Gothic"/>
                <a:sym typeface="Century Gothic"/>
              </a:rPr>
              <a:t>分析基盤</a:t>
            </a:r>
            <a:r>
              <a:rPr lang="en-US" altLang="ja-JP"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a:t>
            </a:r>
            <a:r>
              <a:rPr lang="ja-JP" altLang="en-US" sz="1800" b="1" i="0" u="none" strike="noStrike" cap="none">
                <a:solidFill>
                  <a:srgbClr val="121212"/>
                </a:solidFill>
                <a:latin typeface="游ゴシック" panose="020B0400000000000000" pitchFamily="50" charset="-128"/>
                <a:ea typeface="游ゴシック" panose="020B0400000000000000" pitchFamily="50" charset="-128"/>
                <a:cs typeface="Century Gothic"/>
                <a:sym typeface="Century Gothic"/>
              </a:rPr>
              <a:t>技術観点比較まとめ</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963984AC-8FA4-48B8-267D-6169007BDAC9}"/>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E9858315-0135-D22A-0892-82D98BC7BBA0}"/>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6A900CB4-CA43-1AED-6947-5B10B8E20926}"/>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8</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950CD202-F3E4-928E-0F59-418981070B25}"/>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55555"/>
              </a:buClr>
              <a:buSzPts val="700"/>
              <a:buFont typeface="Century Gothic"/>
              <a:buNone/>
            </a:pP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AWS</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基盤前提で </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Databricks / Snowflake / AWS Native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を比較。</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Databricks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は </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Spark/</a:t>
            </a:r>
            <a:r>
              <a:rPr lang="en-US" altLang="ja" sz="1000" b="1" i="0" u="none" strike="noStrike" cap="none" dirty="0" err="1">
                <a:solidFill>
                  <a:schemeClr val="tx1"/>
                </a:solidFill>
                <a:latin typeface="游ゴシック" panose="020B0400000000000000" pitchFamily="50" charset="-128"/>
                <a:ea typeface="游ゴシック" panose="020B0400000000000000" pitchFamily="50" charset="-128"/>
                <a:cs typeface="Century Gothic"/>
                <a:sym typeface="Century Gothic"/>
              </a:rPr>
              <a:t>PySpark</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親和性、統合ガバナンス、</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AI/BI</a:t>
            </a:r>
            <a:r>
              <a:rPr lang="ja"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ML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統合の観点で優位性あり。</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Snowflake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は </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SQL/</a:t>
            </a:r>
            <a:r>
              <a:rPr lang="en-US" altLang="ja" sz="1000" b="1" i="0" u="none" strike="noStrike" cap="none" dirty="0" err="1">
                <a:solidFill>
                  <a:schemeClr val="tx1"/>
                </a:solidFill>
                <a:latin typeface="游ゴシック" panose="020B0400000000000000" pitchFamily="50" charset="-128"/>
                <a:ea typeface="游ゴシック" panose="020B0400000000000000" pitchFamily="50" charset="-128"/>
                <a:cs typeface="Century Gothic"/>
                <a:sym typeface="Century Gothic"/>
              </a:rPr>
              <a:t>Snowsight</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中心の運用性と </a:t>
            </a:r>
            <a:r>
              <a:rPr lang="en-US" alt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Semantic Views + Cortex Analyst </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が強みとしてあり次点候補。</a:t>
            </a:r>
            <a:endParaRPr sz="1000" b="1" i="0" u="none" strike="noStrike" cap="none" dirty="0">
              <a:solidFill>
                <a:schemeClr val="tx1"/>
              </a:solidFill>
              <a:latin typeface="游ゴシック" panose="020B0400000000000000" pitchFamily="50" charset="-128"/>
              <a:ea typeface="游ゴシック" panose="020B0400000000000000" pitchFamily="50" charset="-128"/>
              <a:sym typeface="Arial"/>
            </a:endParaRPr>
          </a:p>
        </p:txBody>
      </p:sp>
      <p:graphicFrame>
        <p:nvGraphicFramePr>
          <p:cNvPr id="4" name="表 3">
            <a:extLst>
              <a:ext uri="{FF2B5EF4-FFF2-40B4-BE49-F238E27FC236}">
                <a16:creationId xmlns:a16="http://schemas.microsoft.com/office/drawing/2014/main" id="{DC2EAD39-BE06-B823-9749-350755E7CD21}"/>
              </a:ext>
            </a:extLst>
          </p:cNvPr>
          <p:cNvGraphicFramePr>
            <a:graphicFrameLocks noGrp="1"/>
          </p:cNvGraphicFramePr>
          <p:nvPr>
            <p:extLst>
              <p:ext uri="{D42A27DB-BD31-4B8C-83A1-F6EECF244321}">
                <p14:modId xmlns:p14="http://schemas.microsoft.com/office/powerpoint/2010/main" val="2788667734"/>
              </p:ext>
            </p:extLst>
          </p:nvPr>
        </p:nvGraphicFramePr>
        <p:xfrm>
          <a:off x="708211" y="2679646"/>
          <a:ext cx="8029488" cy="2137869"/>
        </p:xfrm>
        <a:graphic>
          <a:graphicData uri="http://schemas.openxmlformats.org/drawingml/2006/table">
            <a:tbl>
              <a:tblPr/>
              <a:tblGrid>
                <a:gridCol w="1335742">
                  <a:extLst>
                    <a:ext uri="{9D8B030D-6E8A-4147-A177-3AD203B41FA5}">
                      <a16:colId xmlns:a16="http://schemas.microsoft.com/office/drawing/2014/main" val="898083665"/>
                    </a:ext>
                  </a:extLst>
                </a:gridCol>
                <a:gridCol w="806823">
                  <a:extLst>
                    <a:ext uri="{9D8B030D-6E8A-4147-A177-3AD203B41FA5}">
                      <a16:colId xmlns:a16="http://schemas.microsoft.com/office/drawing/2014/main" val="3099974519"/>
                    </a:ext>
                  </a:extLst>
                </a:gridCol>
                <a:gridCol w="5886923">
                  <a:extLst>
                    <a:ext uri="{9D8B030D-6E8A-4147-A177-3AD203B41FA5}">
                      <a16:colId xmlns:a16="http://schemas.microsoft.com/office/drawing/2014/main" val="1146324623"/>
                    </a:ext>
                  </a:extLst>
                </a:gridCol>
              </a:tblGrid>
              <a:tr h="184781">
                <a:tc>
                  <a:txBody>
                    <a:bodyPr/>
                    <a:lstStyle/>
                    <a:p>
                      <a:pPr algn="l">
                        <a:buNone/>
                      </a:pPr>
                      <a:r>
                        <a:rPr lang="ja-JP" altLang="en-US" sz="1000" b="1">
                          <a:solidFill>
                            <a:schemeClr val="bg1"/>
                          </a:solidFill>
                          <a:effectLst/>
                          <a:latin typeface="游ゴシック" panose="020B0400000000000000" pitchFamily="50" charset="-128"/>
                          <a:ea typeface="游ゴシック" panose="020B0400000000000000" pitchFamily="50" charset="-128"/>
                        </a:rPr>
                        <a:t>要件</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b="1">
                          <a:solidFill>
                            <a:schemeClr val="bg1"/>
                          </a:solidFill>
                          <a:effectLst/>
                          <a:latin typeface="游ゴシック" panose="020B0400000000000000" pitchFamily="50" charset="-128"/>
                          <a:ea typeface="游ゴシック" panose="020B0400000000000000" pitchFamily="50" charset="-128"/>
                        </a:rPr>
                        <a:t>優位な基盤</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b="1" dirty="0">
                          <a:solidFill>
                            <a:schemeClr val="bg1"/>
                          </a:solidFill>
                          <a:effectLst/>
                          <a:latin typeface="游ゴシック" panose="020B0400000000000000" pitchFamily="50" charset="-128"/>
                          <a:ea typeface="游ゴシック" panose="020B0400000000000000" pitchFamily="50" charset="-128"/>
                        </a:rPr>
                        <a:t>理由</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extLst>
                  <a:ext uri="{0D108BD9-81ED-4DB2-BD59-A6C34878D82A}">
                    <a16:rowId xmlns:a16="http://schemas.microsoft.com/office/drawing/2014/main" val="126481780"/>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dirty="0">
                          <a:effectLst/>
                          <a:latin typeface="游ゴシック" panose="020B0400000000000000" pitchFamily="50" charset="-128"/>
                          <a:ea typeface="游ゴシック" panose="020B0400000000000000" pitchFamily="50" charset="-128"/>
                        </a:rPr>
                        <a:t>1: </a:t>
                      </a:r>
                      <a:r>
                        <a:rPr lang="ja-JP" altLang="en-US" sz="1000">
                          <a:effectLst/>
                          <a:latin typeface="游ゴシック" panose="020B0400000000000000" pitchFamily="50" charset="-128"/>
                          <a:ea typeface="游ゴシック" panose="020B0400000000000000" pitchFamily="50" charset="-128"/>
                        </a:rPr>
                        <a:t>コスト</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a:effectLst/>
                          <a:latin typeface="游ゴシック" panose="020B0400000000000000" pitchFamily="50" charset="-128"/>
                          <a:ea typeface="游ゴシック" panose="020B0400000000000000" pitchFamily="50" charset="-128"/>
                        </a:rPr>
                        <a:t>条件次第</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b="0" i="0" dirty="0">
                          <a:effectLst/>
                          <a:latin typeface="游ゴシック" panose="020B0400000000000000" pitchFamily="50" charset="-128"/>
                          <a:ea typeface="游ゴシック" panose="020B0400000000000000" pitchFamily="50" charset="-128"/>
                        </a:rPr>
                        <a:t>インフラコスト単体では</a:t>
                      </a:r>
                      <a:r>
                        <a:rPr lang="en" altLang="ja-JP" sz="1000" b="0" i="0" dirty="0">
                          <a:effectLst/>
                          <a:latin typeface="游ゴシック" panose="020B0400000000000000" pitchFamily="50" charset="-128"/>
                          <a:ea typeface="游ゴシック" panose="020B0400000000000000" pitchFamily="50" charset="-128"/>
                        </a:rPr>
                        <a:t>AWS Native</a:t>
                      </a:r>
                      <a:r>
                        <a:rPr lang="ja-JP" altLang="en-US" sz="1000" b="0" i="0" dirty="0">
                          <a:effectLst/>
                          <a:latin typeface="游ゴシック" panose="020B0400000000000000" pitchFamily="50" charset="-128"/>
                          <a:ea typeface="游ゴシック" panose="020B0400000000000000" pitchFamily="50" charset="-128"/>
                        </a:rPr>
                        <a:t>が最安の可能性。ただし運用人件費を含めた</a:t>
                      </a:r>
                      <a:r>
                        <a:rPr lang="en" altLang="ja-JP" sz="1000" b="0" i="0" dirty="0">
                          <a:effectLst/>
                          <a:latin typeface="游ゴシック" panose="020B0400000000000000" pitchFamily="50" charset="-128"/>
                          <a:ea typeface="游ゴシック" panose="020B0400000000000000" pitchFamily="50" charset="-128"/>
                        </a:rPr>
                        <a:t>TCO</a:t>
                      </a:r>
                      <a:r>
                        <a:rPr lang="ja-JP" altLang="en-US" sz="1000" b="0" i="0" dirty="0">
                          <a:effectLst/>
                          <a:latin typeface="游ゴシック" panose="020B0400000000000000" pitchFamily="50" charset="-128"/>
                          <a:ea typeface="游ゴシック" panose="020B0400000000000000" pitchFamily="50" charset="-128"/>
                        </a:rPr>
                        <a:t>の比較が必要</a:t>
                      </a:r>
                      <a:endParaRPr lang="ja-JP" altLang="en-US" sz="1000" dirty="0">
                        <a:effectLst/>
                        <a:latin typeface="游ゴシック" panose="020B0400000000000000" pitchFamily="50" charset="-128"/>
                        <a:ea typeface="游ゴシック" panose="020B0400000000000000" pitchFamily="50" charset="-128"/>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364110"/>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a:effectLst/>
                          <a:latin typeface="游ゴシック" panose="020B0400000000000000" pitchFamily="50" charset="-128"/>
                          <a:ea typeface="游ゴシック" panose="020B0400000000000000" pitchFamily="50" charset="-128"/>
                        </a:rPr>
                        <a:t>2: </a:t>
                      </a:r>
                      <a:r>
                        <a:rPr lang="ja-JP" altLang="en-US" sz="1000">
                          <a:effectLst/>
                          <a:latin typeface="游ゴシック" panose="020B0400000000000000" pitchFamily="50" charset="-128"/>
                          <a:ea typeface="游ゴシック" panose="020B0400000000000000" pitchFamily="50" charset="-128"/>
                        </a:rPr>
                        <a:t>移行確実性</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latin typeface="游ゴシック" panose="020B0400000000000000" pitchFamily="50" charset="-128"/>
                          <a:ea typeface="游ゴシック" panose="020B0400000000000000" pitchFamily="50" charset="-128"/>
                        </a:rPr>
                        <a:t>Databricks</a:t>
                      </a:r>
                      <a:endParaRPr lang="en" sz="1000" dirty="0">
                        <a:effectLst/>
                        <a:latin typeface="游ゴシック" panose="020B0400000000000000" pitchFamily="50" charset="-128"/>
                        <a:ea typeface="游ゴシック" panose="020B0400000000000000" pitchFamily="50" charset="-128"/>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err="1">
                          <a:effectLst/>
                          <a:latin typeface="游ゴシック" panose="020B0400000000000000" pitchFamily="50" charset="-128"/>
                          <a:ea typeface="游ゴシック" panose="020B0400000000000000" pitchFamily="50" charset="-128"/>
                        </a:rPr>
                        <a:t>PySpark</a:t>
                      </a:r>
                      <a:r>
                        <a:rPr lang="en" sz="1000" dirty="0">
                          <a:effectLst/>
                          <a:latin typeface="游ゴシック" panose="020B0400000000000000" pitchFamily="50" charset="-128"/>
                          <a:ea typeface="游ゴシック" panose="020B0400000000000000" pitchFamily="50" charset="-128"/>
                        </a:rPr>
                        <a:t> 219</a:t>
                      </a:r>
                      <a:r>
                        <a:rPr lang="ja-JP" altLang="en-US" sz="1000">
                          <a:effectLst/>
                          <a:latin typeface="游ゴシック" panose="020B0400000000000000" pitchFamily="50" charset="-128"/>
                          <a:ea typeface="游ゴシック" panose="020B0400000000000000" pitchFamily="50" charset="-128"/>
                        </a:rPr>
                        <a:t>本の再利用可能性が決定的な差。</a:t>
                      </a:r>
                      <a:r>
                        <a:rPr lang="en" sz="1000" dirty="0">
                          <a:effectLst/>
                          <a:latin typeface="游ゴシック" panose="020B0400000000000000" pitchFamily="50" charset="-128"/>
                          <a:ea typeface="游ゴシック" panose="020B0400000000000000" pitchFamily="50" charset="-128"/>
                        </a:rPr>
                        <a:t>Snowflake</a:t>
                      </a:r>
                      <a:r>
                        <a:rPr lang="ja-JP" altLang="en-US" sz="1000">
                          <a:effectLst/>
                          <a:latin typeface="游ゴシック" panose="020B0400000000000000" pitchFamily="50" charset="-128"/>
                          <a:ea typeface="游ゴシック" panose="020B0400000000000000" pitchFamily="50" charset="-128"/>
                        </a:rPr>
                        <a:t>は書き直しが必要</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912755"/>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a:effectLst/>
                          <a:latin typeface="游ゴシック" panose="020B0400000000000000" pitchFamily="50" charset="-128"/>
                          <a:ea typeface="游ゴシック" panose="020B0400000000000000" pitchFamily="50" charset="-128"/>
                        </a:rPr>
                        <a:t>3: </a:t>
                      </a:r>
                      <a:r>
                        <a:rPr lang="ja-JP" altLang="en-US" sz="1000">
                          <a:effectLst/>
                          <a:latin typeface="游ゴシック" panose="020B0400000000000000" pitchFamily="50" charset="-128"/>
                          <a:ea typeface="游ゴシック" panose="020B0400000000000000" pitchFamily="50" charset="-128"/>
                        </a:rPr>
                        <a:t>運用</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latin typeface="游ゴシック" panose="020B0400000000000000" pitchFamily="50" charset="-128"/>
                          <a:ea typeface="游ゴシック" panose="020B0400000000000000" pitchFamily="50" charset="-128"/>
                        </a:rPr>
                        <a:t>Snowflake</a:t>
                      </a:r>
                      <a:endParaRPr lang="en" sz="1000" dirty="0">
                        <a:effectLst/>
                        <a:latin typeface="游ゴシック" panose="020B0400000000000000" pitchFamily="50" charset="-128"/>
                        <a:ea typeface="游ゴシック" panose="020B0400000000000000" pitchFamily="50" charset="-128"/>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 sz="1000" dirty="0">
                          <a:effectLst/>
                          <a:latin typeface="游ゴシック" panose="020B0400000000000000" pitchFamily="50" charset="-128"/>
                          <a:ea typeface="游ゴシック" panose="020B0400000000000000" pitchFamily="50" charset="-128"/>
                        </a:rPr>
                        <a:t>SQL</a:t>
                      </a:r>
                      <a:r>
                        <a:rPr lang="ja-JP" altLang="en-US" sz="1000" dirty="0">
                          <a:effectLst/>
                          <a:latin typeface="游ゴシック" panose="020B0400000000000000" pitchFamily="50" charset="-128"/>
                          <a:ea typeface="游ゴシック" panose="020B0400000000000000" pitchFamily="50" charset="-128"/>
                        </a:rPr>
                        <a:t>完結・学習曲線最小・日本語情報豊富。少数体制での自走に最も現実的</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155124"/>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a:effectLst/>
                          <a:latin typeface="游ゴシック" panose="020B0400000000000000" pitchFamily="50" charset="-128"/>
                          <a:ea typeface="游ゴシック" panose="020B0400000000000000" pitchFamily="50" charset="-128"/>
                        </a:rPr>
                        <a:t>3: </a:t>
                      </a:r>
                      <a:r>
                        <a:rPr lang="ja-JP" altLang="en-US" sz="1000">
                          <a:effectLst/>
                          <a:latin typeface="游ゴシック" panose="020B0400000000000000" pitchFamily="50" charset="-128"/>
                          <a:ea typeface="游ゴシック" panose="020B0400000000000000" pitchFamily="50" charset="-128"/>
                        </a:rPr>
                        <a:t>ガバナンス</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latin typeface="游ゴシック" panose="020B0400000000000000" pitchFamily="50" charset="-128"/>
                          <a:ea typeface="游ゴシック" panose="020B0400000000000000" pitchFamily="50" charset="-128"/>
                        </a:rPr>
                        <a:t>Databricks</a:t>
                      </a:r>
                      <a:endParaRPr lang="en" sz="1000" dirty="0">
                        <a:effectLst/>
                        <a:latin typeface="游ゴシック" panose="020B0400000000000000" pitchFamily="50" charset="-128"/>
                        <a:ea typeface="游ゴシック" panose="020B0400000000000000" pitchFamily="50" charset="-128"/>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a:effectLst/>
                          <a:latin typeface="游ゴシック" panose="020B0400000000000000" pitchFamily="50" charset="-128"/>
                          <a:ea typeface="游ゴシック" panose="020B0400000000000000" pitchFamily="50" charset="-128"/>
                        </a:rPr>
                        <a:t>Unity Catalog</a:t>
                      </a:r>
                      <a:r>
                        <a:rPr lang="ja-JP" altLang="en-US" sz="1000" dirty="0">
                          <a:effectLst/>
                          <a:latin typeface="游ゴシック" panose="020B0400000000000000" pitchFamily="50" charset="-128"/>
                          <a:ea typeface="游ゴシック" panose="020B0400000000000000" pitchFamily="50" charset="-128"/>
                        </a:rPr>
                        <a:t>がデータ</a:t>
                      </a:r>
                      <a:r>
                        <a:rPr lang="en-US" altLang="ja-JP" sz="1000" dirty="0">
                          <a:effectLst/>
                          <a:latin typeface="游ゴシック" panose="020B0400000000000000" pitchFamily="50" charset="-128"/>
                          <a:ea typeface="游ゴシック" panose="020B0400000000000000" pitchFamily="50" charset="-128"/>
                        </a:rPr>
                        <a:t>+</a:t>
                      </a:r>
                      <a:r>
                        <a:rPr lang="en" sz="1000" dirty="0">
                          <a:effectLst/>
                          <a:latin typeface="游ゴシック" panose="020B0400000000000000" pitchFamily="50" charset="-128"/>
                          <a:ea typeface="游ゴシック" panose="020B0400000000000000" pitchFamily="50" charset="-128"/>
                        </a:rPr>
                        <a:t>ML+AI</a:t>
                      </a:r>
                      <a:r>
                        <a:rPr lang="ja-JP" altLang="en-US" sz="1000" dirty="0">
                          <a:effectLst/>
                          <a:latin typeface="游ゴシック" panose="020B0400000000000000" pitchFamily="50" charset="-128"/>
                          <a:ea typeface="游ゴシック" panose="020B0400000000000000" pitchFamily="50" charset="-128"/>
                        </a:rPr>
                        <a:t>資産を一元管理。ただし</a:t>
                      </a:r>
                      <a:r>
                        <a:rPr lang="en" sz="1000" dirty="0">
                          <a:effectLst/>
                          <a:latin typeface="游ゴシック" panose="020B0400000000000000" pitchFamily="50" charset="-128"/>
                          <a:ea typeface="游ゴシック" panose="020B0400000000000000" pitchFamily="50" charset="-128"/>
                        </a:rPr>
                        <a:t>Markings</a:t>
                      </a:r>
                      <a:r>
                        <a:rPr lang="ja-JP" altLang="en-US" sz="1000" dirty="0">
                          <a:effectLst/>
                          <a:latin typeface="游ゴシック" panose="020B0400000000000000" pitchFamily="50" charset="-128"/>
                          <a:ea typeface="游ゴシック" panose="020B0400000000000000" pitchFamily="50" charset="-128"/>
                        </a:rPr>
                        <a:t>自動伝播がなく</a:t>
                      </a:r>
                      <a:r>
                        <a:rPr lang="en" sz="1000" dirty="0">
                          <a:effectLst/>
                          <a:latin typeface="游ゴシック" panose="020B0400000000000000" pitchFamily="50" charset="-128"/>
                          <a:ea typeface="游ゴシック" panose="020B0400000000000000" pitchFamily="50" charset="-128"/>
                        </a:rPr>
                        <a:t>CI/CD</a:t>
                      </a:r>
                      <a:r>
                        <a:rPr lang="ja-JP" altLang="en-US" sz="1000" dirty="0">
                          <a:effectLst/>
                          <a:latin typeface="游ゴシック" panose="020B0400000000000000" pitchFamily="50" charset="-128"/>
                          <a:ea typeface="游ゴシック" panose="020B0400000000000000" pitchFamily="50" charset="-128"/>
                        </a:rPr>
                        <a:t>補完が必要</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468435"/>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a:effectLst/>
                          <a:latin typeface="游ゴシック" panose="020B0400000000000000" pitchFamily="50" charset="-128"/>
                          <a:ea typeface="游ゴシック" panose="020B0400000000000000" pitchFamily="50" charset="-128"/>
                        </a:rPr>
                        <a:t>3: </a:t>
                      </a:r>
                      <a:r>
                        <a:rPr lang="ja-JP" altLang="en-US" sz="1000">
                          <a:effectLst/>
                          <a:latin typeface="游ゴシック" panose="020B0400000000000000" pitchFamily="50" charset="-128"/>
                          <a:ea typeface="游ゴシック" panose="020B0400000000000000" pitchFamily="50" charset="-128"/>
                        </a:rPr>
                        <a:t>セキュリティ</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a:effectLst/>
                          <a:latin typeface="游ゴシック" panose="020B0400000000000000" pitchFamily="50" charset="-128"/>
                          <a:ea typeface="游ゴシック" panose="020B0400000000000000" pitchFamily="50" charset="-128"/>
                        </a:rPr>
                        <a:t>同等</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dirty="0">
                          <a:effectLst/>
                          <a:latin typeface="游ゴシック" panose="020B0400000000000000" pitchFamily="50" charset="-128"/>
                          <a:ea typeface="游ゴシック" panose="020B0400000000000000" pitchFamily="50" charset="-128"/>
                        </a:rPr>
                        <a:t>機能面は同等。</a:t>
                      </a:r>
                      <a:r>
                        <a:rPr lang="en" sz="1000" dirty="0">
                          <a:effectLst/>
                          <a:latin typeface="游ゴシック" panose="020B0400000000000000" pitchFamily="50" charset="-128"/>
                          <a:ea typeface="游ゴシック" panose="020B0400000000000000" pitchFamily="50" charset="-128"/>
                        </a:rPr>
                        <a:t>Snowflake</a:t>
                      </a:r>
                      <a:r>
                        <a:rPr lang="ja-JP" altLang="en-US" sz="1000" dirty="0">
                          <a:effectLst/>
                          <a:latin typeface="游ゴシック" panose="020B0400000000000000" pitchFamily="50" charset="-128"/>
                          <a:ea typeface="游ゴシック" panose="020B0400000000000000" pitchFamily="50" charset="-128"/>
                        </a:rPr>
                        <a:t>はデータが外に出ない</a:t>
                      </a:r>
                      <a:r>
                        <a:rPr lang="en" sz="1000" dirty="0">
                          <a:effectLst/>
                          <a:latin typeface="游ゴシック" panose="020B0400000000000000" pitchFamily="50" charset="-128"/>
                          <a:ea typeface="游ゴシック" panose="020B0400000000000000" pitchFamily="50" charset="-128"/>
                        </a:rPr>
                        <a:t>AI</a:t>
                      </a:r>
                      <a:r>
                        <a:rPr lang="ja-JP" altLang="en-US" sz="1000" dirty="0">
                          <a:effectLst/>
                          <a:latin typeface="游ゴシック" panose="020B0400000000000000" pitchFamily="50" charset="-128"/>
                          <a:ea typeface="游ゴシック" panose="020B0400000000000000" pitchFamily="50" charset="-128"/>
                        </a:rPr>
                        <a:t>チャット設計でコンプライアンス説明が容易</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0651335"/>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a:effectLst/>
                          <a:latin typeface="游ゴシック" panose="020B0400000000000000" pitchFamily="50" charset="-128"/>
                          <a:ea typeface="游ゴシック" panose="020B0400000000000000" pitchFamily="50" charset="-128"/>
                        </a:rPr>
                        <a:t>4: </a:t>
                      </a:r>
                      <a:r>
                        <a:rPr lang="ja-JP" altLang="en-US" sz="1000">
                          <a:effectLst/>
                          <a:latin typeface="游ゴシック" panose="020B0400000000000000" pitchFamily="50" charset="-128"/>
                          <a:ea typeface="游ゴシック" panose="020B0400000000000000" pitchFamily="50" charset="-128"/>
                        </a:rPr>
                        <a:t>オープン性</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latin typeface="游ゴシック" panose="020B0400000000000000" pitchFamily="50" charset="-128"/>
                          <a:ea typeface="游ゴシック" panose="020B0400000000000000" pitchFamily="50" charset="-128"/>
                        </a:rPr>
                        <a:t>Databricks</a:t>
                      </a:r>
                      <a:endParaRPr lang="en" sz="1000" dirty="0">
                        <a:effectLst/>
                        <a:latin typeface="游ゴシック" panose="020B0400000000000000" pitchFamily="50" charset="-128"/>
                        <a:ea typeface="游ゴシック" panose="020B0400000000000000" pitchFamily="50" charset="-128"/>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a:effectLst/>
                          <a:latin typeface="游ゴシック" panose="020B0400000000000000" pitchFamily="50" charset="-128"/>
                          <a:ea typeface="游ゴシック" panose="020B0400000000000000" pitchFamily="50" charset="-128"/>
                        </a:rPr>
                        <a:t>Delta </a:t>
                      </a:r>
                      <a:r>
                        <a:rPr lang="en" sz="1000" dirty="0" err="1">
                          <a:effectLst/>
                          <a:latin typeface="游ゴシック" panose="020B0400000000000000" pitchFamily="50" charset="-128"/>
                          <a:ea typeface="游ゴシック" panose="020B0400000000000000" pitchFamily="50" charset="-128"/>
                        </a:rPr>
                        <a:t>Lake（OSS</a:t>
                      </a:r>
                      <a:r>
                        <a:rPr lang="en" sz="1000" dirty="0">
                          <a:effectLst/>
                          <a:latin typeface="游ゴシック" panose="020B0400000000000000" pitchFamily="50" charset="-128"/>
                          <a:ea typeface="游ゴシック" panose="020B0400000000000000" pitchFamily="50" charset="-128"/>
                        </a:rPr>
                        <a:t>）+ </a:t>
                      </a:r>
                      <a:r>
                        <a:rPr lang="en" sz="1000" dirty="0" err="1">
                          <a:effectLst/>
                          <a:latin typeface="游ゴシック" panose="020B0400000000000000" pitchFamily="50" charset="-128"/>
                          <a:ea typeface="游ゴシック" panose="020B0400000000000000" pitchFamily="50" charset="-128"/>
                        </a:rPr>
                        <a:t>UniForm</a:t>
                      </a:r>
                      <a:r>
                        <a:rPr lang="en" sz="1000" dirty="0">
                          <a:effectLst/>
                          <a:latin typeface="游ゴシック" panose="020B0400000000000000" pitchFamily="50" charset="-128"/>
                          <a:ea typeface="游ゴシック" panose="020B0400000000000000" pitchFamily="50" charset="-128"/>
                        </a:rPr>
                        <a:t>。</a:t>
                      </a:r>
                      <a:r>
                        <a:rPr lang="ja-JP" altLang="en-US" sz="1000">
                          <a:effectLst/>
                          <a:latin typeface="游ゴシック" panose="020B0400000000000000" pitchFamily="50" charset="-128"/>
                          <a:ea typeface="游ゴシック" panose="020B0400000000000000" pitchFamily="50" charset="-128"/>
                        </a:rPr>
                        <a:t>データの持ち出しが容易</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149917"/>
                  </a:ext>
                </a:extLst>
              </a:tr>
              <a:tr h="275171">
                <a:tc>
                  <a:txBody>
                    <a:bodyPr/>
                    <a:lstStyle/>
                    <a:p>
                      <a:pPr>
                        <a:buNone/>
                      </a:pPr>
                      <a:r>
                        <a:rPr lang="ja-JP" altLang="en-US" sz="1000">
                          <a:effectLst/>
                          <a:latin typeface="游ゴシック" panose="020B0400000000000000" pitchFamily="50" charset="-128"/>
                          <a:ea typeface="游ゴシック" panose="020B0400000000000000" pitchFamily="50" charset="-128"/>
                        </a:rPr>
                        <a:t>要件</a:t>
                      </a:r>
                      <a:r>
                        <a:rPr lang="en-US" altLang="ja-JP" sz="1000">
                          <a:effectLst/>
                          <a:latin typeface="游ゴシック" panose="020B0400000000000000" pitchFamily="50" charset="-128"/>
                          <a:ea typeface="游ゴシック" panose="020B0400000000000000" pitchFamily="50" charset="-128"/>
                        </a:rPr>
                        <a:t>4: </a:t>
                      </a:r>
                      <a:r>
                        <a:rPr lang="en" sz="1000">
                          <a:effectLst/>
                          <a:latin typeface="游ゴシック" panose="020B0400000000000000" pitchFamily="50" charset="-128"/>
                          <a:ea typeface="游ゴシック" panose="020B0400000000000000" pitchFamily="50" charset="-128"/>
                        </a:rPr>
                        <a:t>AI</a:t>
                      </a:r>
                      <a:r>
                        <a:rPr lang="ja-JP" altLang="en-US" sz="1000">
                          <a:effectLst/>
                          <a:latin typeface="游ゴシック" panose="020B0400000000000000" pitchFamily="50" charset="-128"/>
                          <a:ea typeface="游ゴシック" panose="020B0400000000000000" pitchFamily="50" charset="-128"/>
                        </a:rPr>
                        <a:t>拡張性</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b="1" dirty="0">
                          <a:effectLst/>
                          <a:latin typeface="游ゴシック" panose="020B0400000000000000" pitchFamily="50" charset="-128"/>
                          <a:ea typeface="游ゴシック" panose="020B0400000000000000" pitchFamily="50" charset="-128"/>
                        </a:rPr>
                        <a:t>Databricks</a:t>
                      </a:r>
                      <a:endParaRPr lang="en" sz="1000" dirty="0">
                        <a:effectLst/>
                        <a:latin typeface="游ゴシック" panose="020B0400000000000000" pitchFamily="50" charset="-128"/>
                        <a:ea typeface="游ゴシック" panose="020B0400000000000000" pitchFamily="50" charset="-128"/>
                      </a:endParaRP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en" sz="1000" dirty="0" err="1">
                          <a:effectLst/>
                          <a:latin typeface="游ゴシック" panose="020B0400000000000000" pitchFamily="50" charset="-128"/>
                          <a:ea typeface="游ゴシック" panose="020B0400000000000000" pitchFamily="50" charset="-128"/>
                        </a:rPr>
                        <a:t>MLflow・AI-BI</a:t>
                      </a:r>
                      <a:r>
                        <a:rPr lang="en" sz="1000" dirty="0">
                          <a:effectLst/>
                          <a:latin typeface="游ゴシック" panose="020B0400000000000000" pitchFamily="50" charset="-128"/>
                          <a:ea typeface="游ゴシック" panose="020B0400000000000000" pitchFamily="50" charset="-128"/>
                        </a:rPr>
                        <a:t> </a:t>
                      </a:r>
                      <a:r>
                        <a:rPr lang="en" sz="1000" dirty="0" err="1">
                          <a:effectLst/>
                          <a:latin typeface="游ゴシック" panose="020B0400000000000000" pitchFamily="50" charset="-128"/>
                          <a:ea typeface="游ゴシック" panose="020B0400000000000000" pitchFamily="50" charset="-128"/>
                        </a:rPr>
                        <a:t>Genie・Vector</a:t>
                      </a:r>
                      <a:r>
                        <a:rPr lang="en" sz="1000" dirty="0">
                          <a:effectLst/>
                          <a:latin typeface="游ゴシック" panose="020B0400000000000000" pitchFamily="50" charset="-128"/>
                          <a:ea typeface="游ゴシック" panose="020B0400000000000000" pitchFamily="50" charset="-128"/>
                        </a:rPr>
                        <a:t> Search</a:t>
                      </a:r>
                      <a:r>
                        <a:rPr lang="ja-JP" altLang="en-US" sz="1000" dirty="0">
                          <a:effectLst/>
                          <a:latin typeface="游ゴシック" panose="020B0400000000000000" pitchFamily="50" charset="-128"/>
                          <a:ea typeface="游ゴシック" panose="020B0400000000000000" pitchFamily="50" charset="-128"/>
                        </a:rPr>
                        <a:t>がネイティブ統合</a:t>
                      </a:r>
                    </a:p>
                  </a:txBody>
                  <a:tcPr marL="59272" marR="59272" marT="29636" marB="296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3700710"/>
                  </a:ext>
                </a:extLst>
              </a:tr>
            </a:tbl>
          </a:graphicData>
        </a:graphic>
      </p:graphicFrame>
      <p:graphicFrame>
        <p:nvGraphicFramePr>
          <p:cNvPr id="5" name="表 4">
            <a:extLst>
              <a:ext uri="{FF2B5EF4-FFF2-40B4-BE49-F238E27FC236}">
                <a16:creationId xmlns:a16="http://schemas.microsoft.com/office/drawing/2014/main" id="{1FF28D3B-2CDD-D894-9DD3-DCA96DE22C8C}"/>
              </a:ext>
            </a:extLst>
          </p:cNvPr>
          <p:cNvGraphicFramePr>
            <a:graphicFrameLocks noGrp="1"/>
          </p:cNvGraphicFramePr>
          <p:nvPr>
            <p:extLst>
              <p:ext uri="{D42A27DB-BD31-4B8C-83A1-F6EECF244321}">
                <p14:modId xmlns:p14="http://schemas.microsoft.com/office/powerpoint/2010/main" val="83788347"/>
              </p:ext>
            </p:extLst>
          </p:nvPr>
        </p:nvGraphicFramePr>
        <p:xfrm>
          <a:off x="708211" y="1065356"/>
          <a:ext cx="8035470" cy="1486800"/>
        </p:xfrm>
        <a:graphic>
          <a:graphicData uri="http://schemas.openxmlformats.org/drawingml/2006/table">
            <a:tbl>
              <a:tblPr/>
              <a:tblGrid>
                <a:gridCol w="1168554">
                  <a:extLst>
                    <a:ext uri="{9D8B030D-6E8A-4147-A177-3AD203B41FA5}">
                      <a16:colId xmlns:a16="http://schemas.microsoft.com/office/drawing/2014/main" val="2238691230"/>
                    </a:ext>
                  </a:extLst>
                </a:gridCol>
                <a:gridCol w="1174208">
                  <a:extLst>
                    <a:ext uri="{9D8B030D-6E8A-4147-A177-3AD203B41FA5}">
                      <a16:colId xmlns:a16="http://schemas.microsoft.com/office/drawing/2014/main" val="2895955024"/>
                    </a:ext>
                  </a:extLst>
                </a:gridCol>
                <a:gridCol w="5692708">
                  <a:extLst>
                    <a:ext uri="{9D8B030D-6E8A-4147-A177-3AD203B41FA5}">
                      <a16:colId xmlns:a16="http://schemas.microsoft.com/office/drawing/2014/main" val="3293840136"/>
                    </a:ext>
                  </a:extLst>
                </a:gridCol>
              </a:tblGrid>
              <a:tr h="219279">
                <a:tc>
                  <a:txBody>
                    <a:bodyPr/>
                    <a:lstStyle/>
                    <a:p>
                      <a:pPr algn="l">
                        <a:buNone/>
                      </a:pPr>
                      <a:r>
                        <a:rPr lang="ja-JP" altLang="en-US" sz="1000" b="1">
                          <a:solidFill>
                            <a:schemeClr val="bg1"/>
                          </a:solidFill>
                          <a:effectLst/>
                          <a:latin typeface="游ゴシック" panose="020B0400000000000000" pitchFamily="50" charset="-128"/>
                          <a:ea typeface="游ゴシック" panose="020B0400000000000000" pitchFamily="50" charset="-128"/>
                        </a:rPr>
                        <a:t>基盤</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b="1">
                          <a:solidFill>
                            <a:schemeClr val="bg1"/>
                          </a:solidFill>
                          <a:effectLst/>
                          <a:latin typeface="游ゴシック" panose="020B0400000000000000" pitchFamily="50" charset="-128"/>
                          <a:ea typeface="游ゴシック" panose="020B0400000000000000" pitchFamily="50" charset="-128"/>
                        </a:rPr>
                        <a:t>評価</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l">
                        <a:buNone/>
                      </a:pPr>
                      <a:r>
                        <a:rPr lang="ja-JP" altLang="en-US" sz="1000" b="1" dirty="0">
                          <a:solidFill>
                            <a:schemeClr val="bg1"/>
                          </a:solidFill>
                          <a:effectLst/>
                          <a:latin typeface="游ゴシック" panose="020B0400000000000000" pitchFamily="50" charset="-128"/>
                          <a:ea typeface="游ゴシック" panose="020B0400000000000000" pitchFamily="50" charset="-128"/>
                        </a:rPr>
                        <a:t>コメント</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extLst>
                  <a:ext uri="{0D108BD9-81ED-4DB2-BD59-A6C34878D82A}">
                    <a16:rowId xmlns:a16="http://schemas.microsoft.com/office/drawing/2014/main" val="3061545389"/>
                  </a:ext>
                </a:extLst>
              </a:tr>
              <a:tr h="371700">
                <a:tc>
                  <a:txBody>
                    <a:bodyPr/>
                    <a:lstStyle/>
                    <a:p>
                      <a:pPr>
                        <a:buNone/>
                      </a:pPr>
                      <a:r>
                        <a:rPr lang="en" sz="1000" b="1" dirty="0">
                          <a:effectLst/>
                          <a:latin typeface="游ゴシック" panose="020B0400000000000000" pitchFamily="50" charset="-128"/>
                          <a:ea typeface="游ゴシック" panose="020B0400000000000000" pitchFamily="50" charset="-128"/>
                        </a:rPr>
                        <a:t>Databricks</a:t>
                      </a:r>
                      <a:endParaRPr lang="en" sz="1000" dirty="0">
                        <a:effectLst/>
                        <a:latin typeface="游ゴシック" panose="020B0400000000000000" pitchFamily="50" charset="-128"/>
                        <a:ea typeface="游ゴシック" panose="020B0400000000000000" pitchFamily="50" charset="-128"/>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buNone/>
                      </a:pPr>
                      <a:r>
                        <a:rPr lang="ja-JP" altLang="en-US" sz="1000" b="1">
                          <a:effectLst/>
                          <a:latin typeface="游ゴシック" panose="020B0400000000000000" pitchFamily="50" charset="-128"/>
                          <a:ea typeface="游ゴシック" panose="020B0400000000000000" pitchFamily="50" charset="-128"/>
                        </a:rPr>
                        <a:t>◎ 第一候補</a:t>
                      </a:r>
                      <a:endParaRPr lang="ja-JP" altLang="en-US" sz="1000">
                        <a:effectLst/>
                        <a:latin typeface="游ゴシック" panose="020B0400000000000000" pitchFamily="50" charset="-128"/>
                        <a:ea typeface="游ゴシック" panose="020B0400000000000000" pitchFamily="50" charset="-128"/>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dirty="0">
                          <a:effectLst/>
                          <a:latin typeface="游ゴシック" panose="020B0400000000000000" pitchFamily="50" charset="-128"/>
                          <a:ea typeface="游ゴシック" panose="020B0400000000000000" pitchFamily="50" charset="-128"/>
                        </a:rPr>
                        <a:t>Spark/</a:t>
                      </a:r>
                      <a:r>
                        <a:rPr lang="en" sz="1000" dirty="0" err="1">
                          <a:effectLst/>
                          <a:latin typeface="游ゴシック" panose="020B0400000000000000" pitchFamily="50" charset="-128"/>
                          <a:ea typeface="游ゴシック" panose="020B0400000000000000" pitchFamily="50" charset="-128"/>
                        </a:rPr>
                        <a:t>PySpark</a:t>
                      </a:r>
                      <a:r>
                        <a:rPr lang="en" sz="1000" dirty="0">
                          <a:effectLst/>
                          <a:latin typeface="游ゴシック" panose="020B0400000000000000" pitchFamily="50" charset="-128"/>
                          <a:ea typeface="游ゴシック" panose="020B0400000000000000" pitchFamily="50" charset="-128"/>
                        </a:rPr>
                        <a:t> </a:t>
                      </a:r>
                      <a:r>
                        <a:rPr lang="ja-JP" altLang="en-US" sz="1000">
                          <a:effectLst/>
                          <a:latin typeface="游ゴシック" panose="020B0400000000000000" pitchFamily="50" charset="-128"/>
                          <a:ea typeface="游ゴシック" panose="020B0400000000000000" pitchFamily="50" charset="-128"/>
                        </a:rPr>
                        <a:t>との親和性が高く、</a:t>
                      </a:r>
                      <a:r>
                        <a:rPr lang="en" sz="1000" dirty="0">
                          <a:effectLst/>
                          <a:latin typeface="游ゴシック" panose="020B0400000000000000" pitchFamily="50" charset="-128"/>
                          <a:ea typeface="游ゴシック" panose="020B0400000000000000" pitchFamily="50" charset="-128"/>
                        </a:rPr>
                        <a:t>Unity </a:t>
                      </a:r>
                      <a:r>
                        <a:rPr lang="en" sz="1000" dirty="0" err="1">
                          <a:effectLst/>
                          <a:latin typeface="游ゴシック" panose="020B0400000000000000" pitchFamily="50" charset="-128"/>
                          <a:ea typeface="游ゴシック" panose="020B0400000000000000" pitchFamily="50" charset="-128"/>
                        </a:rPr>
                        <a:t>Catalog・MLflow・AI</a:t>
                      </a:r>
                      <a:r>
                        <a:rPr lang="en" sz="1000" dirty="0">
                          <a:effectLst/>
                          <a:latin typeface="游ゴシック" panose="020B0400000000000000" pitchFamily="50" charset="-128"/>
                          <a:ea typeface="游ゴシック" panose="020B0400000000000000" pitchFamily="50" charset="-128"/>
                        </a:rPr>
                        <a:t>/</a:t>
                      </a:r>
                      <a:r>
                        <a:rPr lang="en" sz="1000" dirty="0" err="1">
                          <a:effectLst/>
                          <a:latin typeface="游ゴシック" panose="020B0400000000000000" pitchFamily="50" charset="-128"/>
                          <a:ea typeface="游ゴシック" panose="020B0400000000000000" pitchFamily="50" charset="-128"/>
                        </a:rPr>
                        <a:t>BI・Genie</a:t>
                      </a:r>
                      <a:r>
                        <a:rPr lang="en" sz="1000" dirty="0">
                          <a:effectLst/>
                          <a:latin typeface="游ゴシック" panose="020B0400000000000000" pitchFamily="50" charset="-128"/>
                          <a:ea typeface="游ゴシック" panose="020B0400000000000000" pitchFamily="50" charset="-128"/>
                        </a:rPr>
                        <a:t> spaces </a:t>
                      </a:r>
                      <a:r>
                        <a:rPr lang="ja-JP" altLang="en-US" sz="1000">
                          <a:effectLst/>
                          <a:latin typeface="游ゴシック" panose="020B0400000000000000" pitchFamily="50" charset="-128"/>
                          <a:ea typeface="游ゴシック" panose="020B0400000000000000" pitchFamily="50" charset="-128"/>
                        </a:rPr>
                        <a:t>により、データ</a:t>
                      </a:r>
                      <a:r>
                        <a:rPr lang="en-US" altLang="ja-JP" sz="1000" dirty="0">
                          <a:effectLst/>
                          <a:latin typeface="游ゴシック" panose="020B0400000000000000" pitchFamily="50" charset="-128"/>
                          <a:ea typeface="游ゴシック" panose="020B0400000000000000" pitchFamily="50" charset="-128"/>
                        </a:rPr>
                        <a:t>/</a:t>
                      </a:r>
                      <a:r>
                        <a:rPr lang="en" sz="1000" dirty="0">
                          <a:effectLst/>
                          <a:latin typeface="游ゴシック" panose="020B0400000000000000" pitchFamily="50" charset="-128"/>
                          <a:ea typeface="游ゴシック" panose="020B0400000000000000" pitchFamily="50" charset="-128"/>
                        </a:rPr>
                        <a:t>AI </a:t>
                      </a:r>
                      <a:r>
                        <a:rPr lang="ja-JP" altLang="en-US" sz="1000">
                          <a:effectLst/>
                          <a:latin typeface="游ゴシック" panose="020B0400000000000000" pitchFamily="50" charset="-128"/>
                          <a:ea typeface="游ゴシック" panose="020B0400000000000000" pitchFamily="50" charset="-128"/>
                        </a:rPr>
                        <a:t>ガバナンスと拡張性がある。</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559404"/>
                  </a:ext>
                </a:extLst>
              </a:tr>
              <a:tr h="524121">
                <a:tc>
                  <a:txBody>
                    <a:bodyPr/>
                    <a:lstStyle/>
                    <a:p>
                      <a:pPr>
                        <a:buNone/>
                      </a:pPr>
                      <a:r>
                        <a:rPr lang="en" sz="1000" b="1" dirty="0">
                          <a:effectLst/>
                          <a:latin typeface="游ゴシック" panose="020B0400000000000000" pitchFamily="50" charset="-128"/>
                          <a:ea typeface="游ゴシック" panose="020B0400000000000000" pitchFamily="50" charset="-128"/>
                        </a:rPr>
                        <a:t>Snowflake</a:t>
                      </a:r>
                      <a:endParaRPr lang="en" sz="1000" dirty="0">
                        <a:effectLst/>
                        <a:latin typeface="游ゴシック" panose="020B0400000000000000" pitchFamily="50" charset="-128"/>
                        <a:ea typeface="游ゴシック" panose="020B0400000000000000" pitchFamily="50" charset="-128"/>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ja-JP" altLang="en-US" sz="1000" b="1">
                          <a:effectLst/>
                          <a:latin typeface="游ゴシック" panose="020B0400000000000000" pitchFamily="50" charset="-128"/>
                          <a:ea typeface="游ゴシック" panose="020B0400000000000000" pitchFamily="50" charset="-128"/>
                        </a:rPr>
                        <a:t>○ 代替案</a:t>
                      </a:r>
                      <a:endParaRPr lang="ja-JP" altLang="en-US" sz="1000">
                        <a:effectLst/>
                        <a:latin typeface="游ゴシック" panose="020B0400000000000000" pitchFamily="50" charset="-128"/>
                        <a:ea typeface="游ゴシック" panose="020B0400000000000000" pitchFamily="50" charset="-128"/>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 sz="1000" dirty="0">
                          <a:effectLst/>
                          <a:latin typeface="游ゴシック" panose="020B0400000000000000" pitchFamily="50" charset="-128"/>
                          <a:ea typeface="游ゴシック" panose="020B0400000000000000" pitchFamily="50" charset="-128"/>
                        </a:rPr>
                        <a:t>SQL/</a:t>
                      </a:r>
                      <a:r>
                        <a:rPr lang="en" sz="1000" dirty="0" err="1">
                          <a:effectLst/>
                          <a:latin typeface="游ゴシック" panose="020B0400000000000000" pitchFamily="50" charset="-128"/>
                          <a:ea typeface="游ゴシック" panose="020B0400000000000000" pitchFamily="50" charset="-128"/>
                        </a:rPr>
                        <a:t>Snowsight</a:t>
                      </a:r>
                      <a:r>
                        <a:rPr lang="en" sz="1000" dirty="0">
                          <a:effectLst/>
                          <a:latin typeface="游ゴシック" panose="020B0400000000000000" pitchFamily="50" charset="-128"/>
                          <a:ea typeface="游ゴシック" panose="020B0400000000000000" pitchFamily="50" charset="-128"/>
                        </a:rPr>
                        <a:t> </a:t>
                      </a:r>
                      <a:r>
                        <a:rPr lang="ja-JP" altLang="en-US" sz="1000">
                          <a:effectLst/>
                          <a:latin typeface="游ゴシック" panose="020B0400000000000000" pitchFamily="50" charset="-128"/>
                          <a:ea typeface="游ゴシック" panose="020B0400000000000000" pitchFamily="50" charset="-128"/>
                        </a:rPr>
                        <a:t>中心で利用しやすく、</a:t>
                      </a:r>
                      <a:r>
                        <a:rPr lang="en" sz="1000" dirty="0">
                          <a:effectLst/>
                          <a:latin typeface="游ゴシック" panose="020B0400000000000000" pitchFamily="50" charset="-128"/>
                          <a:ea typeface="游ゴシック" panose="020B0400000000000000" pitchFamily="50" charset="-128"/>
                        </a:rPr>
                        <a:t>Semantic Views + Cortex Analyst </a:t>
                      </a:r>
                      <a:r>
                        <a:rPr lang="ja-JP" altLang="en-US" sz="1000">
                          <a:effectLst/>
                          <a:latin typeface="游ゴシック" panose="020B0400000000000000" pitchFamily="50" charset="-128"/>
                          <a:ea typeface="游ゴシック" panose="020B0400000000000000" pitchFamily="50" charset="-128"/>
                        </a:rPr>
                        <a:t>による自然言語分析が強い。</a:t>
                      </a:r>
                      <a:r>
                        <a:rPr lang="en" sz="1000" dirty="0">
                          <a:effectLst/>
                          <a:latin typeface="游ゴシック" panose="020B0400000000000000" pitchFamily="50" charset="-128"/>
                          <a:ea typeface="游ゴシック" panose="020B0400000000000000" pitchFamily="50" charset="-128"/>
                        </a:rPr>
                        <a:t>Model Registry </a:t>
                      </a:r>
                      <a:r>
                        <a:rPr lang="ja-JP" altLang="en-US" sz="1000">
                          <a:effectLst/>
                          <a:latin typeface="游ゴシック" panose="020B0400000000000000" pitchFamily="50" charset="-128"/>
                          <a:ea typeface="游ゴシック" panose="020B0400000000000000" pitchFamily="50" charset="-128"/>
                        </a:rPr>
                        <a:t>もあり </a:t>
                      </a:r>
                      <a:r>
                        <a:rPr lang="en" sz="1000" dirty="0">
                          <a:effectLst/>
                          <a:latin typeface="游ゴシック" panose="020B0400000000000000" pitchFamily="50" charset="-128"/>
                          <a:ea typeface="游ゴシック" panose="020B0400000000000000" pitchFamily="50" charset="-128"/>
                        </a:rPr>
                        <a:t>AI </a:t>
                      </a:r>
                      <a:r>
                        <a:rPr lang="ja-JP" altLang="en-US" sz="1000">
                          <a:effectLst/>
                          <a:latin typeface="游ゴシック" panose="020B0400000000000000" pitchFamily="50" charset="-128"/>
                          <a:ea typeface="游ゴシック" panose="020B0400000000000000" pitchFamily="50" charset="-128"/>
                        </a:rPr>
                        <a:t>資産管理は可能。</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7573168"/>
                  </a:ext>
                </a:extLst>
              </a:tr>
              <a:tr h="371700">
                <a:tc>
                  <a:txBody>
                    <a:bodyPr/>
                    <a:lstStyle/>
                    <a:p>
                      <a:pPr>
                        <a:buNone/>
                      </a:pPr>
                      <a:r>
                        <a:rPr lang="en" sz="1000" b="1" dirty="0">
                          <a:effectLst/>
                          <a:latin typeface="游ゴシック" panose="020B0400000000000000" pitchFamily="50" charset="-128"/>
                          <a:ea typeface="游ゴシック" panose="020B0400000000000000" pitchFamily="50" charset="-128"/>
                        </a:rPr>
                        <a:t>AWS Native</a:t>
                      </a:r>
                      <a:endParaRPr lang="en" sz="1000" dirty="0">
                        <a:effectLst/>
                        <a:latin typeface="游ゴシック" panose="020B0400000000000000" pitchFamily="50" charset="-128"/>
                        <a:ea typeface="游ゴシック" panose="020B0400000000000000" pitchFamily="50" charset="-128"/>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ja-JP" altLang="en-US" sz="1000" b="1">
                          <a:effectLst/>
                          <a:latin typeface="游ゴシック" panose="020B0400000000000000" pitchFamily="50" charset="-128"/>
                          <a:ea typeface="游ゴシック" panose="020B0400000000000000" pitchFamily="50" charset="-128"/>
                        </a:rPr>
                        <a:t>○ コスト優位だが運用負荷が高い</a:t>
                      </a:r>
                      <a:endParaRPr lang="ja-JP" altLang="en-US" sz="1000">
                        <a:effectLst/>
                        <a:latin typeface="游ゴシック" panose="020B0400000000000000" pitchFamily="50" charset="-128"/>
                        <a:ea typeface="游ゴシック" panose="020B0400000000000000" pitchFamily="50" charset="-128"/>
                      </a:endParaRP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000" dirty="0">
                          <a:effectLst/>
                          <a:latin typeface="游ゴシック" panose="020B0400000000000000" pitchFamily="50" charset="-128"/>
                          <a:ea typeface="游ゴシック" panose="020B0400000000000000" pitchFamily="50" charset="-128"/>
                        </a:rPr>
                        <a:t>プラットフォームライセンスがなくインフラコスト単体では最安の可能性がある。ただし</a:t>
                      </a:r>
                      <a:r>
                        <a:rPr lang="en-US" altLang="ja-JP" sz="1000" dirty="0">
                          <a:effectLst/>
                          <a:latin typeface="游ゴシック" panose="020B0400000000000000" pitchFamily="50" charset="-128"/>
                          <a:ea typeface="游ゴシック" panose="020B0400000000000000" pitchFamily="50" charset="-128"/>
                        </a:rPr>
                        <a:t>6</a:t>
                      </a:r>
                      <a:r>
                        <a:rPr lang="ja-JP" altLang="en-US" sz="1000" dirty="0">
                          <a:effectLst/>
                          <a:latin typeface="游ゴシック" panose="020B0400000000000000" pitchFamily="50" charset="-128"/>
                          <a:ea typeface="游ゴシック" panose="020B0400000000000000" pitchFamily="50" charset="-128"/>
                        </a:rPr>
                        <a:t>つ以上のサービスを横断管理する必要。運用人件費を含めた</a:t>
                      </a:r>
                      <a:r>
                        <a:rPr lang="en" sz="1000" dirty="0">
                          <a:effectLst/>
                          <a:latin typeface="游ゴシック" panose="020B0400000000000000" pitchFamily="50" charset="-128"/>
                          <a:ea typeface="游ゴシック" panose="020B0400000000000000" pitchFamily="50" charset="-128"/>
                        </a:rPr>
                        <a:t>TCO</a:t>
                      </a:r>
                      <a:r>
                        <a:rPr lang="ja-JP" altLang="en-US" sz="1000" dirty="0">
                          <a:effectLst/>
                          <a:latin typeface="游ゴシック" panose="020B0400000000000000" pitchFamily="50" charset="-128"/>
                          <a:ea typeface="游ゴシック" panose="020B0400000000000000" pitchFamily="50" charset="-128"/>
                        </a:rPr>
                        <a:t>で比較する必要がある</a:t>
                      </a:r>
                    </a:p>
                  </a:txBody>
                  <a:tcPr marL="66851" marR="66851" marT="33425" marB="33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6952455"/>
                  </a:ext>
                </a:extLst>
              </a:tr>
            </a:tbl>
          </a:graphicData>
        </a:graphic>
      </p:graphicFrame>
      <p:sp>
        <p:nvSpPr>
          <p:cNvPr id="6" name="正方形/長方形 5">
            <a:extLst>
              <a:ext uri="{FF2B5EF4-FFF2-40B4-BE49-F238E27FC236}">
                <a16:creationId xmlns:a16="http://schemas.microsoft.com/office/drawing/2014/main" id="{E0934C12-AC08-21C5-5D80-73F3BF93EA4F}"/>
              </a:ext>
            </a:extLst>
          </p:cNvPr>
          <p:cNvSpPr/>
          <p:nvPr/>
        </p:nvSpPr>
        <p:spPr>
          <a:xfrm>
            <a:off x="298491" y="1065356"/>
            <a:ext cx="301910" cy="1506394"/>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総評</a:t>
            </a:r>
          </a:p>
        </p:txBody>
      </p:sp>
      <p:sp>
        <p:nvSpPr>
          <p:cNvPr id="7" name="正方形/長方形 6">
            <a:extLst>
              <a:ext uri="{FF2B5EF4-FFF2-40B4-BE49-F238E27FC236}">
                <a16:creationId xmlns:a16="http://schemas.microsoft.com/office/drawing/2014/main" id="{8CC64FC0-A7AB-36ED-EAC5-F4E88A8FD7E5}"/>
              </a:ext>
            </a:extLst>
          </p:cNvPr>
          <p:cNvSpPr/>
          <p:nvPr/>
        </p:nvSpPr>
        <p:spPr>
          <a:xfrm>
            <a:off x="298492" y="2679642"/>
            <a:ext cx="301910" cy="213787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要件毎評価</a:t>
            </a:r>
          </a:p>
        </p:txBody>
      </p:sp>
    </p:spTree>
    <p:extLst>
      <p:ext uri="{BB962C8B-B14F-4D97-AF65-F5344CB8AC3E}">
        <p14:creationId xmlns:p14="http://schemas.microsoft.com/office/powerpoint/2010/main" val="159639450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42A1B925-DD31-7F72-12C7-6FE5279F4BDB}"/>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F5CE7A3F-D9A7-2753-92B5-9CEEB355CFBE}"/>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2.3.1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要件1（コスト）の技術比較</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3A56F9E8-27D0-32CA-9387-464AFB408CE4}"/>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A531FC37-2E3A-14FD-0B4B-0945C3ED7671}"/>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F367D179-63FF-12F4-3063-2493C1699635}"/>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9</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6A89E15F-74A4-A758-142B-89274AE22D01}"/>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コスト構造は</a:t>
            </a:r>
            <a:r>
              <a:rPr lang="en-US"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3</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基盤とも従量課金だが、請求構造・コスト急増リスク・可視性に違いがある。</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RFP</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で同一条件の</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TCO</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比較が必要</a:t>
            </a:r>
            <a:endParaRPr lang="ja-JP" altLang="en-US" sz="1000" b="1" dirty="0">
              <a:solidFill>
                <a:schemeClr val="tx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4D490E63-C3BD-CDCA-81A9-E31C4877A41E}"/>
              </a:ext>
            </a:extLst>
          </p:cNvPr>
          <p:cNvGraphicFramePr/>
          <p:nvPr>
            <p:extLst>
              <p:ext uri="{D42A27DB-BD31-4B8C-83A1-F6EECF244321}">
                <p14:modId xmlns:p14="http://schemas.microsoft.com/office/powerpoint/2010/main" val="1950249133"/>
              </p:ext>
            </p:extLst>
          </p:nvPr>
        </p:nvGraphicFramePr>
        <p:xfrm>
          <a:off x="406301" y="1071280"/>
          <a:ext cx="8343364" cy="3668637"/>
        </p:xfrm>
        <a:graphic>
          <a:graphicData uri="http://schemas.openxmlformats.org/drawingml/2006/table">
            <a:tbl>
              <a:tblPr firstRow="1" bandRow="1">
                <a:noFill/>
                <a:tableStyleId>{831F8A93-CA79-4AF6-B420-68E9A51CCC31}</a:tableStyleId>
              </a:tblPr>
              <a:tblGrid>
                <a:gridCol w="1153558">
                  <a:extLst>
                    <a:ext uri="{9D8B030D-6E8A-4147-A177-3AD203B41FA5}">
                      <a16:colId xmlns:a16="http://schemas.microsoft.com/office/drawing/2014/main" val="20001"/>
                    </a:ext>
                  </a:extLst>
                </a:gridCol>
                <a:gridCol w="2466914">
                  <a:extLst>
                    <a:ext uri="{9D8B030D-6E8A-4147-A177-3AD203B41FA5}">
                      <a16:colId xmlns:a16="http://schemas.microsoft.com/office/drawing/2014/main" val="20002"/>
                    </a:ext>
                  </a:extLst>
                </a:gridCol>
                <a:gridCol w="2554154">
                  <a:extLst>
                    <a:ext uri="{9D8B030D-6E8A-4147-A177-3AD203B41FA5}">
                      <a16:colId xmlns:a16="http://schemas.microsoft.com/office/drawing/2014/main" val="20003"/>
                    </a:ext>
                  </a:extLst>
                </a:gridCol>
                <a:gridCol w="2168738">
                  <a:extLst>
                    <a:ext uri="{9D8B030D-6E8A-4147-A177-3AD203B41FA5}">
                      <a16:colId xmlns:a16="http://schemas.microsoft.com/office/drawing/2014/main" val="20004"/>
                    </a:ext>
                  </a:extLst>
                </a:gridCol>
              </a:tblGrid>
              <a:tr h="280295">
                <a:tc>
                  <a:txBody>
                    <a:bodyPr/>
                    <a:lstStyle/>
                    <a:p>
                      <a:pPr algn="ctr">
                        <a:lnSpc>
                          <a:spcPct val="105000"/>
                        </a:lnSpc>
                        <a:spcBef>
                          <a:spcPts val="0"/>
                        </a:spcBef>
                        <a:spcAft>
                          <a:spcPts val="0"/>
                        </a:spcAft>
                        <a:buNone/>
                      </a:pPr>
                      <a:r>
                        <a:rPr lang="ja" sz="12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1758844">
                <a:tc>
                  <a:txBody>
                    <a:bodyPr/>
                    <a:lstStyle/>
                    <a:p>
                      <a:pPr algn="l">
                        <a:lnSpc>
                          <a:spcPct val="105000"/>
                        </a:lnSpc>
                        <a:spcBef>
                          <a:spcPts val="0"/>
                        </a:spcBef>
                        <a:spcAft>
                          <a:spcPts val="0"/>
                        </a:spcAft>
                        <a:buNone/>
                      </a:pPr>
                      <a:r>
                        <a:rPr lang="ja" sz="1000" b="1" dirty="0">
                          <a:solidFill>
                            <a:srgbClr val="2C3E50"/>
                          </a:solidFill>
                          <a:latin typeface="游ゴシック" panose="020B0400000000000000" pitchFamily="50" charset="-128"/>
                          <a:ea typeface="游ゴシック" panose="020B0400000000000000" pitchFamily="50" charset="-128"/>
                        </a:rPr>
                        <a:t>開発・運用コスト</a:t>
                      </a: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33333"/>
                          </a:solidFill>
                          <a:effectLst/>
                          <a:latin typeface="Yu Gothic" panose="020B0400000000000000" pitchFamily="34" charset="-128"/>
                          <a:ea typeface="Yu Gothic" panose="020B0400000000000000" pitchFamily="34" charset="-128"/>
                        </a:rPr>
                        <a:t>DBU </a:t>
                      </a:r>
                      <a:r>
                        <a:rPr lang="ja-JP" altLang="en-US" sz="1000" b="0" i="0">
                          <a:solidFill>
                            <a:srgbClr val="333333"/>
                          </a:solidFill>
                          <a:effectLst/>
                          <a:latin typeface="Yu Gothic" panose="020B0400000000000000" pitchFamily="34" charset="-128"/>
                          <a:ea typeface="Yu Gothic" panose="020B0400000000000000" pitchFamily="34" charset="-128"/>
                        </a:rPr>
                        <a:t>課金に加え、クラシックコンピュートは顧客クラウド側にデプロイされるため、クラウドインフラ費を含めた </a:t>
                      </a:r>
                      <a:r>
                        <a:rPr lang="en" altLang="ja-JP" sz="1000" b="0" i="0" dirty="0">
                          <a:solidFill>
                            <a:srgbClr val="333333"/>
                          </a:solidFill>
                          <a:effectLst/>
                          <a:latin typeface="Yu Gothic" panose="020B0400000000000000" pitchFamily="34" charset="-128"/>
                          <a:ea typeface="Yu Gothic" panose="020B0400000000000000" pitchFamily="34" charset="-128"/>
                        </a:rPr>
                        <a:t>TCO </a:t>
                      </a:r>
                      <a:r>
                        <a:rPr lang="ja-JP" altLang="en-US" sz="1000" b="0" i="0">
                          <a:solidFill>
                            <a:srgbClr val="333333"/>
                          </a:solidFill>
                          <a:effectLst/>
                          <a:latin typeface="Yu Gothic" panose="020B0400000000000000" pitchFamily="34" charset="-128"/>
                          <a:ea typeface="Yu Gothic" panose="020B0400000000000000" pitchFamily="34" charset="-128"/>
                        </a:rPr>
                        <a:t>で比較が必要。</a:t>
                      </a:r>
                      <a:endParaRPr lang="en-US" altLang="ja-JP" sz="1000" b="0" i="0" dirty="0">
                        <a:solidFill>
                          <a:srgbClr val="333333"/>
                        </a:solidFill>
                        <a:effectLst/>
                        <a:latin typeface="Yu Gothic" panose="020B0400000000000000" pitchFamily="34" charset="-128"/>
                        <a:ea typeface="Yu Gothic" panose="020B0400000000000000" pitchFamily="34" charset="-128"/>
                      </a:endParaRPr>
                    </a:p>
                    <a:p>
                      <a:pPr algn="l">
                        <a:lnSpc>
                          <a:spcPct val="105000"/>
                        </a:lnSpc>
                        <a:spcBef>
                          <a:spcPts val="0"/>
                        </a:spcBef>
                        <a:spcAft>
                          <a:spcPts val="0"/>
                        </a:spcAft>
                        <a:buNone/>
                      </a:pPr>
                      <a:endParaRPr lang="en-US" altLang="ja-JP" sz="1000" b="0" i="0" dirty="0">
                        <a:effectLst/>
                      </a:endParaRPr>
                    </a:p>
                    <a:p>
                      <a:pPr algn="l">
                        <a:lnSpc>
                          <a:spcPct val="105000"/>
                        </a:lnSpc>
                        <a:spcBef>
                          <a:spcPts val="0"/>
                        </a:spcBef>
                        <a:spcAft>
                          <a:spcPts val="0"/>
                        </a:spcAft>
                        <a:buNone/>
                      </a:pPr>
                      <a:r>
                        <a:rPr lang="ja-JP" altLang="en-US" sz="1000" b="0" i="0">
                          <a:solidFill>
                            <a:srgbClr val="CC6600"/>
                          </a:solidFill>
                          <a:effectLst/>
                        </a:rPr>
                        <a:t>⚠ 開発者がクラスタを立ち上げたまま退勤すると夜間・週末も課金が継続する。ある企業では放置クラスタが月額の約</a:t>
                      </a:r>
                      <a:r>
                        <a:rPr lang="en-US" altLang="ja-JP" sz="1000" b="0" i="0" dirty="0">
                          <a:solidFill>
                            <a:srgbClr val="CC6600"/>
                          </a:solidFill>
                          <a:effectLst/>
                        </a:rPr>
                        <a:t>15%</a:t>
                      </a:r>
                      <a:r>
                        <a:rPr lang="ja-JP" altLang="en-US" sz="1000" b="0" i="0">
                          <a:solidFill>
                            <a:srgbClr val="CC6600"/>
                          </a:solidFill>
                          <a:effectLst/>
                        </a:rPr>
                        <a:t>を占めていた（</a:t>
                      </a:r>
                      <a:r>
                        <a:rPr lang="ja-JP" altLang="en-US" sz="1000" b="0" i="0" u="none" strike="noStrike">
                          <a:solidFill>
                            <a:srgbClr val="CC6600"/>
                          </a:solidFill>
                          <a:effectLst/>
                          <a:hlinkClick r:id="rId4"/>
                        </a:rPr>
                        <a:t>参考</a:t>
                      </a:r>
                      <a:r>
                        <a:rPr lang="ja-JP" altLang="en-US" sz="1000" b="0" i="0">
                          <a:solidFill>
                            <a:srgbClr val="CC6600"/>
                          </a:solidFill>
                          <a:effectLst/>
                        </a:rPr>
                        <a:t>）</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dirty="0">
                          <a:solidFill>
                            <a:srgbClr val="333333"/>
                          </a:solidFill>
                          <a:latin typeface="游ゴシック" panose="020B0400000000000000" pitchFamily="50" charset="-128"/>
                          <a:ea typeface="游ゴシック" panose="020B0400000000000000" pitchFamily="50" charset="-128"/>
                        </a:rPr>
                        <a:t>クレジット従量課金。利用量に応じた課金で仕組みは明快だが、設定次第でコストが急増するリスクがある</a:t>
                      </a:r>
                      <a:endParaRPr lang="en-US" altLang="ja" sz="1000" dirty="0">
                        <a:solidFill>
                          <a:srgbClr val="333333"/>
                        </a:solidFill>
                        <a:latin typeface="游ゴシック" panose="020B0400000000000000" pitchFamily="50" charset="-128"/>
                        <a:ea typeface="游ゴシック" panose="020B0400000000000000" pitchFamily="50" charset="-128"/>
                      </a:endParaRPr>
                    </a:p>
                    <a:p>
                      <a:pPr algn="just">
                        <a:lnSpc>
                          <a:spcPct val="105000"/>
                        </a:lnSpc>
                        <a:spcBef>
                          <a:spcPts val="0"/>
                        </a:spcBef>
                        <a:spcAft>
                          <a:spcPts val="0"/>
                        </a:spcAft>
                        <a:buNone/>
                      </a:pPr>
                      <a:endParaRPr lang="en-US" altLang="ja-JP" sz="1000" b="0" i="0" dirty="0">
                        <a:effectLst/>
                      </a:endParaRPr>
                    </a:p>
                    <a:p>
                      <a:pPr algn="just">
                        <a:lnSpc>
                          <a:spcPct val="105000"/>
                        </a:lnSpc>
                        <a:spcBef>
                          <a:spcPts val="0"/>
                        </a:spcBef>
                        <a:spcAft>
                          <a:spcPts val="0"/>
                        </a:spcAft>
                        <a:buNone/>
                      </a:pPr>
                      <a:r>
                        <a:rPr lang="ja-JP" altLang="en-US" sz="1000" b="0" i="0">
                          <a:solidFill>
                            <a:srgbClr val="CC6600"/>
                          </a:solidFill>
                          <a:effectLst/>
                        </a:rPr>
                        <a:t>⚠ ある企業で月額</a:t>
                      </a:r>
                      <a:r>
                        <a:rPr lang="en-US" altLang="ja-JP" sz="1000" b="0" i="0" dirty="0">
                          <a:solidFill>
                            <a:srgbClr val="CC6600"/>
                          </a:solidFill>
                          <a:effectLst/>
                        </a:rPr>
                        <a:t>$8,000</a:t>
                      </a:r>
                      <a:r>
                        <a:rPr lang="ja-JP" altLang="en-US" sz="1000" b="0" i="0">
                          <a:solidFill>
                            <a:srgbClr val="CC6600"/>
                          </a:solidFill>
                          <a:effectLst/>
                        </a:rPr>
                        <a:t>から急騰し、最終的に別基盤へ移行した事例がある（</a:t>
                      </a:r>
                      <a:r>
                        <a:rPr lang="ja-JP" altLang="en-US" sz="1000" b="0" i="0" u="none" strike="noStrike">
                          <a:solidFill>
                            <a:srgbClr val="CC6600"/>
                          </a:solidFill>
                          <a:effectLst/>
                          <a:hlinkClick r:id="rId5"/>
                        </a:rPr>
                        <a:t>参考</a:t>
                      </a:r>
                      <a:r>
                        <a:rPr lang="ja-JP" altLang="en-US" sz="1000" b="0" i="0">
                          <a:solidFill>
                            <a:srgbClr val="CC6600"/>
                          </a:solidFill>
                          <a:effectLst/>
                        </a:rPr>
                        <a:t>）。原因は重複クエリと探索的クエリの大量スキャン</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a:solidFill>
                            <a:srgbClr val="333333"/>
                          </a:solidFill>
                          <a:latin typeface="游ゴシック" panose="020B0400000000000000" pitchFamily="50" charset="-128"/>
                          <a:ea typeface="游ゴシック" panose="020B0400000000000000" pitchFamily="50" charset="-128"/>
                        </a:rPr>
                        <a:t>各サービス（Glue/Redshift/S3等）の従量課金合算。全体像の把握に工夫が必要</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10001"/>
                  </a:ext>
                </a:extLst>
              </a:tr>
              <a:tr h="1587085">
                <a:tc>
                  <a:txBody>
                    <a:bodyPr/>
                    <a:lstStyle/>
                    <a:p>
                      <a:pPr algn="l">
                        <a:lnSpc>
                          <a:spcPct val="105000"/>
                        </a:lnSpc>
                        <a:spcBef>
                          <a:spcPts val="0"/>
                        </a:spcBef>
                        <a:spcAft>
                          <a:spcPts val="0"/>
                        </a:spcAft>
                        <a:buNone/>
                      </a:pPr>
                      <a:r>
                        <a:rPr lang="ja" sz="1000" b="1" dirty="0">
                          <a:solidFill>
                            <a:srgbClr val="2C3E50"/>
                          </a:solidFill>
                          <a:latin typeface="游ゴシック" panose="020B0400000000000000" pitchFamily="50" charset="-128"/>
                          <a:ea typeface="游ゴシック" panose="020B0400000000000000" pitchFamily="50" charset="-128"/>
                        </a:rPr>
                        <a:t>透明性/予見可能性</a:t>
                      </a:r>
                    </a:p>
                  </a:txBody>
                  <a:tcPr marL="45700" marR="45700" marT="18300" marB="18300">
                    <a:noFill/>
                  </a:tcPr>
                </a:tc>
                <a:tc>
                  <a:txBody>
                    <a:bodyPr/>
                    <a:lstStyle/>
                    <a:p>
                      <a:pPr algn="l">
                        <a:lnSpc>
                          <a:spcPct val="105000"/>
                        </a:lnSpc>
                        <a:spcBef>
                          <a:spcPts val="0"/>
                        </a:spcBef>
                        <a:spcAft>
                          <a:spcPts val="0"/>
                        </a:spcAft>
                        <a:buNone/>
                      </a:pPr>
                      <a:r>
                        <a:rPr lang="en" altLang="ja" sz="1000" dirty="0">
                          <a:solidFill>
                            <a:srgbClr val="333333"/>
                          </a:solidFill>
                          <a:latin typeface="游ゴシック" panose="020B0400000000000000" pitchFamily="50" charset="-128"/>
                          <a:ea typeface="游ゴシック" panose="020B0400000000000000" pitchFamily="50" charset="-128"/>
                        </a:rPr>
                        <a:t>System tables </a:t>
                      </a:r>
                      <a:r>
                        <a:rPr lang="ja-JP" altLang="en-US" sz="1000">
                          <a:solidFill>
                            <a:srgbClr val="333333"/>
                          </a:solidFill>
                          <a:latin typeface="游ゴシック" panose="020B0400000000000000" pitchFamily="50" charset="-128"/>
                          <a:ea typeface="游ゴシック" panose="020B0400000000000000" pitchFamily="50" charset="-128"/>
                        </a:rPr>
                        <a:t>により利用状況分析は可能。</a:t>
                      </a:r>
                      <a:endParaRPr lang="en-US" altLang="ja-JP" sz="1000" b="0" i="0" dirty="0">
                        <a:effectLst/>
                      </a:endParaRPr>
                    </a:p>
                    <a:p>
                      <a:pPr algn="l">
                        <a:lnSpc>
                          <a:spcPct val="105000"/>
                        </a:lnSpc>
                        <a:spcBef>
                          <a:spcPts val="0"/>
                        </a:spcBef>
                        <a:spcAft>
                          <a:spcPts val="0"/>
                        </a:spcAft>
                        <a:buNone/>
                      </a:pPr>
                      <a:endParaRPr lang="en-US" altLang="ja-JP" sz="1000" b="0" i="0" dirty="0">
                        <a:solidFill>
                          <a:srgbClr val="CC6600"/>
                        </a:solidFill>
                        <a:effectLst/>
                      </a:endParaRPr>
                    </a:p>
                    <a:p>
                      <a:pPr algn="l">
                        <a:lnSpc>
                          <a:spcPct val="105000"/>
                        </a:lnSpc>
                        <a:spcBef>
                          <a:spcPts val="0"/>
                        </a:spcBef>
                        <a:spcAft>
                          <a:spcPts val="0"/>
                        </a:spcAft>
                        <a:buNone/>
                      </a:pPr>
                      <a:r>
                        <a:rPr lang="ja-JP" altLang="en-US" sz="1000" b="0" i="0">
                          <a:solidFill>
                            <a:srgbClr val="CC6600"/>
                          </a:solidFill>
                          <a:effectLst/>
                        </a:rPr>
                        <a:t>⚠ コスト制御は自前でダッシュボード構築が必要</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 sz="1000" dirty="0">
                          <a:solidFill>
                            <a:srgbClr val="333333"/>
                          </a:solidFill>
                          <a:latin typeface="游ゴシック" panose="020B0400000000000000" pitchFamily="50" charset="-128"/>
                          <a:ea typeface="游ゴシック" panose="020B0400000000000000" pitchFamily="50" charset="-128"/>
                        </a:rPr>
                        <a:t>Resource Monitor </a:t>
                      </a:r>
                      <a:r>
                        <a:rPr lang="ja-JP" altLang="en-US" sz="1000">
                          <a:solidFill>
                            <a:srgbClr val="333333"/>
                          </a:solidFill>
                          <a:latin typeface="游ゴシック" panose="020B0400000000000000" pitchFamily="50" charset="-128"/>
                          <a:ea typeface="游ゴシック" panose="020B0400000000000000" pitchFamily="50" charset="-128"/>
                        </a:rPr>
                        <a:t>で </a:t>
                      </a:r>
                      <a:r>
                        <a:rPr lang="en" altLang="ja" sz="1000" dirty="0">
                          <a:solidFill>
                            <a:srgbClr val="333333"/>
                          </a:solidFill>
                          <a:latin typeface="游ゴシック" panose="020B0400000000000000" pitchFamily="50" charset="-128"/>
                          <a:ea typeface="游ゴシック" panose="020B0400000000000000" pitchFamily="50" charset="-128"/>
                        </a:rPr>
                        <a:t>warehouse </a:t>
                      </a:r>
                      <a:r>
                        <a:rPr lang="ja-JP" altLang="en-US" sz="1000">
                          <a:solidFill>
                            <a:srgbClr val="333333"/>
                          </a:solidFill>
                          <a:latin typeface="游ゴシック" panose="020B0400000000000000" pitchFamily="50" charset="-128"/>
                          <a:ea typeface="游ゴシック" panose="020B0400000000000000" pitchFamily="50" charset="-128"/>
                        </a:rPr>
                        <a:t>コストの監視・制御はしやすい。一方、</a:t>
                      </a:r>
                      <a:r>
                        <a:rPr lang="en" altLang="ja" sz="1000" dirty="0">
                          <a:solidFill>
                            <a:srgbClr val="333333"/>
                          </a:solidFill>
                          <a:latin typeface="游ゴシック" panose="020B0400000000000000" pitchFamily="50" charset="-128"/>
                          <a:ea typeface="游ゴシック" panose="020B0400000000000000" pitchFamily="50" charset="-128"/>
                        </a:rPr>
                        <a:t>serverless features </a:t>
                      </a:r>
                      <a:r>
                        <a:rPr lang="ja-JP" altLang="en-US" sz="1000">
                          <a:solidFill>
                            <a:srgbClr val="333333"/>
                          </a:solidFill>
                          <a:latin typeface="游ゴシック" panose="020B0400000000000000" pitchFamily="50" charset="-128"/>
                          <a:ea typeface="游ゴシック" panose="020B0400000000000000" pitchFamily="50" charset="-128"/>
                        </a:rPr>
                        <a:t>と </a:t>
                      </a:r>
                      <a:r>
                        <a:rPr lang="en" altLang="ja" sz="1000" dirty="0">
                          <a:solidFill>
                            <a:srgbClr val="333333"/>
                          </a:solidFill>
                          <a:latin typeface="游ゴシック" panose="020B0400000000000000" pitchFamily="50" charset="-128"/>
                          <a:ea typeface="游ゴシック" panose="020B0400000000000000" pitchFamily="50" charset="-128"/>
                        </a:rPr>
                        <a:t>AI services </a:t>
                      </a:r>
                      <a:r>
                        <a:rPr lang="ja-JP" altLang="en-US" sz="1000">
                          <a:solidFill>
                            <a:srgbClr val="333333"/>
                          </a:solidFill>
                          <a:latin typeface="游ゴシック" panose="020B0400000000000000" pitchFamily="50" charset="-128"/>
                          <a:ea typeface="游ゴシック" panose="020B0400000000000000" pitchFamily="50" charset="-128"/>
                        </a:rPr>
                        <a:t>は </a:t>
                      </a:r>
                      <a:r>
                        <a:rPr lang="en" altLang="ja" sz="1000" dirty="0">
                          <a:solidFill>
                            <a:srgbClr val="333333"/>
                          </a:solidFill>
                          <a:latin typeface="游ゴシック" panose="020B0400000000000000" pitchFamily="50" charset="-128"/>
                          <a:ea typeface="游ゴシック" panose="020B0400000000000000" pitchFamily="50" charset="-128"/>
                        </a:rPr>
                        <a:t>Resource Monitor </a:t>
                      </a:r>
                      <a:r>
                        <a:rPr lang="ja-JP" altLang="en-US" sz="1000">
                          <a:solidFill>
                            <a:srgbClr val="333333"/>
                          </a:solidFill>
                          <a:latin typeface="游ゴシック" panose="020B0400000000000000" pitchFamily="50" charset="-128"/>
                          <a:ea typeface="游ゴシック" panose="020B0400000000000000" pitchFamily="50" charset="-128"/>
                        </a:rPr>
                        <a:t>対象外のため、</a:t>
                      </a:r>
                      <a:r>
                        <a:rPr lang="en" altLang="ja" sz="1000" dirty="0">
                          <a:solidFill>
                            <a:srgbClr val="333333"/>
                          </a:solidFill>
                          <a:latin typeface="游ゴシック" panose="020B0400000000000000" pitchFamily="50" charset="-128"/>
                          <a:ea typeface="游ゴシック" panose="020B0400000000000000" pitchFamily="50" charset="-128"/>
                        </a:rPr>
                        <a:t>Budgets </a:t>
                      </a:r>
                      <a:r>
                        <a:rPr lang="ja-JP" altLang="en-US" sz="1000">
                          <a:solidFill>
                            <a:srgbClr val="333333"/>
                          </a:solidFill>
                          <a:latin typeface="游ゴシック" panose="020B0400000000000000" pitchFamily="50" charset="-128"/>
                          <a:ea typeface="游ゴシック" panose="020B0400000000000000" pitchFamily="50" charset="-128"/>
                        </a:rPr>
                        <a:t>等で別管理が必要。</a:t>
                      </a:r>
                      <a:endParaRPr lang="en-US" altLang="ja-JP" sz="1000" b="1" i="0" dirty="0">
                        <a:effectLst/>
                      </a:endParaRPr>
                    </a:p>
                    <a:p>
                      <a:pPr algn="l">
                        <a:lnSpc>
                          <a:spcPct val="105000"/>
                        </a:lnSpc>
                        <a:spcBef>
                          <a:spcPts val="0"/>
                        </a:spcBef>
                        <a:spcAft>
                          <a:spcPts val="0"/>
                        </a:spcAft>
                        <a:buNone/>
                      </a:pPr>
                      <a:r>
                        <a:rPr lang="ja-JP" altLang="en-US" sz="1000" b="1" i="0">
                          <a:solidFill>
                            <a:srgbClr val="CC6600"/>
                          </a:solidFill>
                          <a:effectLst/>
                        </a:rPr>
                        <a:t>⚠ </a:t>
                      </a:r>
                      <a:r>
                        <a:rPr lang="en" altLang="ja-JP" sz="1000" b="1" i="0" dirty="0">
                          <a:solidFill>
                            <a:srgbClr val="CC6600"/>
                          </a:solidFill>
                          <a:effectLst/>
                        </a:rPr>
                        <a:t>Cortex AI</a:t>
                      </a:r>
                      <a:r>
                        <a:rPr lang="ja-JP" altLang="en" sz="1000" b="1" i="0">
                          <a:solidFill>
                            <a:srgbClr val="CC6600"/>
                          </a:solidFill>
                          <a:effectLst/>
                        </a:rPr>
                        <a:t>（</a:t>
                      </a:r>
                      <a:r>
                        <a:rPr lang="ja-JP" altLang="en-US" sz="1000" b="1" i="0">
                          <a:solidFill>
                            <a:srgbClr val="CC6600"/>
                          </a:solidFill>
                          <a:effectLst/>
                        </a:rPr>
                        <a:t>自然言語分析）は</a:t>
                      </a:r>
                      <a:r>
                        <a:rPr lang="en" altLang="ja-JP" sz="1000" b="1" i="0" dirty="0">
                          <a:solidFill>
                            <a:srgbClr val="CC6600"/>
                          </a:solidFill>
                          <a:effectLst/>
                        </a:rPr>
                        <a:t>Resource Monitor</a:t>
                      </a:r>
                      <a:r>
                        <a:rPr lang="ja-JP" altLang="en-US" sz="1000" b="1" i="0">
                          <a:solidFill>
                            <a:srgbClr val="CC6600"/>
                          </a:solidFill>
                          <a:effectLst/>
                        </a:rPr>
                        <a:t>の対象外。</a:t>
                      </a:r>
                      <a:r>
                        <a:rPr lang="ja-JP" altLang="en-US" sz="1000" b="0" i="0">
                          <a:solidFill>
                            <a:srgbClr val="CC6600"/>
                          </a:solidFill>
                          <a:effectLst/>
                        </a:rPr>
                        <a:t> </a:t>
                      </a:r>
                      <a:r>
                        <a:rPr lang="en-US" altLang="ja-JP" sz="1000" b="0" i="0" dirty="0">
                          <a:solidFill>
                            <a:srgbClr val="CC6600"/>
                          </a:solidFill>
                          <a:effectLst/>
                        </a:rPr>
                        <a:t>1</a:t>
                      </a:r>
                      <a:r>
                        <a:rPr lang="ja-JP" altLang="en-US" sz="1000" b="0" i="0">
                          <a:solidFill>
                            <a:srgbClr val="CC6600"/>
                          </a:solidFill>
                          <a:effectLst/>
                        </a:rPr>
                        <a:t>回のクエリで約</a:t>
                      </a:r>
                      <a:r>
                        <a:rPr lang="en-US" altLang="ja-JP" sz="1000" b="0" i="0" dirty="0">
                          <a:solidFill>
                            <a:srgbClr val="CC6600"/>
                          </a:solidFill>
                          <a:effectLst/>
                        </a:rPr>
                        <a:t>$5,000</a:t>
                      </a:r>
                      <a:r>
                        <a:rPr lang="ja-JP" altLang="en-US" sz="1000" b="0" i="0">
                          <a:solidFill>
                            <a:srgbClr val="CC6600"/>
                          </a:solidFill>
                          <a:effectLst/>
                        </a:rPr>
                        <a:t>が発生した事例がある。トークン課金のため従来のコスト管理の仕組みが効かない（</a:t>
                      </a:r>
                      <a:r>
                        <a:rPr lang="ja-JP" altLang="en-US" sz="1000" b="0" i="0" u="none" strike="noStrike">
                          <a:solidFill>
                            <a:srgbClr val="CC6600"/>
                          </a:solidFill>
                          <a:effectLst/>
                          <a:hlinkClick r:id="rId6"/>
                        </a:rPr>
                        <a:t>参考</a:t>
                      </a:r>
                      <a:r>
                        <a:rPr lang="ja-JP" altLang="en-US" sz="1000" b="0" i="0">
                          <a:solidFill>
                            <a:srgbClr val="CC6600"/>
                          </a:solidFill>
                          <a:effectLst/>
                        </a:rPr>
                        <a:t>）</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 sz="1000" dirty="0">
                          <a:solidFill>
                            <a:srgbClr val="333333"/>
                          </a:solidFill>
                          <a:latin typeface="游ゴシック" panose="020B0400000000000000" pitchFamily="50" charset="-128"/>
                          <a:ea typeface="游ゴシック" panose="020B0400000000000000" pitchFamily="50" charset="-128"/>
                        </a:rPr>
                        <a:t>Cost Explorer等のツールはあるが、サービスごとに分かれており横断的な管理には設計が必要</a:t>
                      </a:r>
                    </a:p>
                  </a:txBody>
                  <a:tcPr marL="45700" marR="45700" marT="18300" marB="18300">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4678456"/>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FB4D6FB3-B2B8-6EDF-5A3D-FF51F84944CB}"/>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9977D718-1D8A-7702-0D7C-1E60C0268C86}"/>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2.3.2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要件2（移行確実性）の技術比較</a:t>
            </a:r>
            <a:endParaRPr sz="1800" b="0" i="0" u="none" strike="noStrike" cap="none"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DEDDE77E-488B-D6B7-E886-8DB103F37B99}"/>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0719E781-C06A-FE3B-8956-799CC1EAD682}"/>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E4FCFF05-9BB0-134F-C25B-9BF54512BE33}"/>
              </a:ext>
            </a:extLst>
          </p:cNvPr>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10</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C07F2D63-9B97-A923-9C47-E1FA28E13388}"/>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en" altLang="ja-JP" sz="1000" b="1" dirty="0" err="1">
                <a:solidFill>
                  <a:schemeClr val="tx1"/>
                </a:solidFill>
                <a:latin typeface="Yu Gothic" panose="020B0400000000000000" pitchFamily="34" charset="-128"/>
                <a:ea typeface="Yu Gothic" panose="020B0400000000000000" pitchFamily="34" charset="-128"/>
              </a:rPr>
              <a:t>PySpark</a:t>
            </a:r>
            <a:r>
              <a:rPr lang="en" altLang="ja-JP" sz="1000" b="1" dirty="0">
                <a:solidFill>
                  <a:schemeClr val="tx1"/>
                </a:solidFill>
                <a:latin typeface="Yu Gothic" panose="020B0400000000000000" pitchFamily="34" charset="-128"/>
                <a:ea typeface="Yu Gothic" panose="020B0400000000000000" pitchFamily="34" charset="-128"/>
              </a:rPr>
              <a:t> 219</a:t>
            </a:r>
            <a:r>
              <a:rPr lang="ja-JP" altLang="en-US" sz="1000" b="1">
                <a:solidFill>
                  <a:schemeClr val="tx1"/>
                </a:solidFill>
                <a:latin typeface="Yu Gothic" panose="020B0400000000000000" pitchFamily="34" charset="-128"/>
                <a:ea typeface="Yu Gothic" panose="020B0400000000000000" pitchFamily="34" charset="-128"/>
              </a:rPr>
              <a:t>本の再利用可能性が</a:t>
            </a:r>
            <a:r>
              <a:rPr lang="en" altLang="ja-JP" sz="1000" b="1" dirty="0">
                <a:solidFill>
                  <a:schemeClr val="tx1"/>
                </a:solidFill>
                <a:latin typeface="Yu Gothic" panose="020B0400000000000000" pitchFamily="34" charset="-128"/>
                <a:ea typeface="Yu Gothic" panose="020B0400000000000000" pitchFamily="34" charset="-128"/>
              </a:rPr>
              <a:t>Databricks</a:t>
            </a:r>
            <a:r>
              <a:rPr lang="ja-JP" altLang="en-US" sz="1000" b="1">
                <a:solidFill>
                  <a:schemeClr val="tx1"/>
                </a:solidFill>
                <a:latin typeface="Yu Gothic" panose="020B0400000000000000" pitchFamily="34" charset="-128"/>
                <a:ea typeface="Yu Gothic" panose="020B0400000000000000" pitchFamily="34" charset="-128"/>
              </a:rPr>
              <a:t>の決定的な差別化要因</a:t>
            </a:r>
            <a:endParaRPr lang="ja-JP" altLang="en-US" sz="1000" b="1" dirty="0">
              <a:solidFill>
                <a:schemeClr val="tx1"/>
              </a:solidFill>
              <a:latin typeface="Yu Gothic" panose="020B0400000000000000" pitchFamily="34" charset="-128"/>
              <a:ea typeface="Yu Gothic" panose="020B0400000000000000" pitchFamily="34" charset="-128"/>
            </a:endParaRPr>
          </a:p>
        </p:txBody>
      </p:sp>
      <p:graphicFrame>
        <p:nvGraphicFramePr>
          <p:cNvPr id="252" name="Google Shape;252;p9">
            <a:extLst>
              <a:ext uri="{FF2B5EF4-FFF2-40B4-BE49-F238E27FC236}">
                <a16:creationId xmlns:a16="http://schemas.microsoft.com/office/drawing/2014/main" id="{7F41875B-CDFD-0E98-B8D2-4AF8D0EC0424}"/>
              </a:ext>
            </a:extLst>
          </p:cNvPr>
          <p:cNvGraphicFramePr/>
          <p:nvPr>
            <p:extLst>
              <p:ext uri="{D42A27DB-BD31-4B8C-83A1-F6EECF244321}">
                <p14:modId xmlns:p14="http://schemas.microsoft.com/office/powerpoint/2010/main" val="643600398"/>
              </p:ext>
            </p:extLst>
          </p:nvPr>
        </p:nvGraphicFramePr>
        <p:xfrm>
          <a:off x="406301" y="925284"/>
          <a:ext cx="8343364" cy="3762481"/>
        </p:xfrm>
        <a:graphic>
          <a:graphicData uri="http://schemas.openxmlformats.org/drawingml/2006/table">
            <a:tbl>
              <a:tblPr firstRow="1" bandRow="1">
                <a:noFill/>
                <a:tableStyleId>{831F8A93-CA79-4AF6-B420-68E9A51CCC31}</a:tableStyleId>
              </a:tblPr>
              <a:tblGrid>
                <a:gridCol w="1066318">
                  <a:extLst>
                    <a:ext uri="{9D8B030D-6E8A-4147-A177-3AD203B41FA5}">
                      <a16:colId xmlns:a16="http://schemas.microsoft.com/office/drawing/2014/main" val="20001"/>
                    </a:ext>
                  </a:extLst>
                </a:gridCol>
                <a:gridCol w="2554154">
                  <a:extLst>
                    <a:ext uri="{9D8B030D-6E8A-4147-A177-3AD203B41FA5}">
                      <a16:colId xmlns:a16="http://schemas.microsoft.com/office/drawing/2014/main" val="20002"/>
                    </a:ext>
                  </a:extLst>
                </a:gridCol>
                <a:gridCol w="2554154">
                  <a:extLst>
                    <a:ext uri="{9D8B030D-6E8A-4147-A177-3AD203B41FA5}">
                      <a16:colId xmlns:a16="http://schemas.microsoft.com/office/drawing/2014/main" val="20003"/>
                    </a:ext>
                  </a:extLst>
                </a:gridCol>
                <a:gridCol w="2168738">
                  <a:extLst>
                    <a:ext uri="{9D8B030D-6E8A-4147-A177-3AD203B41FA5}">
                      <a16:colId xmlns:a16="http://schemas.microsoft.com/office/drawing/2014/main" val="20004"/>
                    </a:ext>
                  </a:extLst>
                </a:gridCol>
              </a:tblGrid>
              <a:tr h="177408">
                <a:tc>
                  <a:txBody>
                    <a:bodyPr/>
                    <a:lstStyle/>
                    <a:p>
                      <a:pPr algn="ctr">
                        <a:lnSpc>
                          <a:spcPct val="105000"/>
                        </a:lnSpc>
                        <a:spcBef>
                          <a:spcPts val="0"/>
                        </a:spcBef>
                        <a:spcAft>
                          <a:spcPts val="0"/>
                        </a:spcAft>
                        <a:buNone/>
                      </a:pPr>
                      <a:r>
                        <a:rPr lang="ja" sz="12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1798666">
                <a:tc>
                  <a:txBody>
                    <a:bodyPr/>
                    <a:lstStyle/>
                    <a:p>
                      <a:pPr algn="l">
                        <a:lnSpc>
                          <a:spcPct val="105000"/>
                        </a:lnSpc>
                        <a:spcBef>
                          <a:spcPts val="0"/>
                        </a:spcBef>
                        <a:spcAft>
                          <a:spcPts val="0"/>
                        </a:spcAft>
                        <a:buNone/>
                      </a:pPr>
                      <a:r>
                        <a:rPr lang="ja-JP" altLang="en-US" sz="1000" b="1" i="0">
                          <a:effectLst/>
                        </a:rPr>
                        <a:t>資産継承性（</a:t>
                      </a:r>
                      <a:r>
                        <a:rPr lang="en" altLang="ja-JP" sz="1000" b="1" i="0" dirty="0" err="1">
                          <a:effectLst/>
                        </a:rPr>
                        <a:t>PySpark</a:t>
                      </a:r>
                      <a:r>
                        <a:rPr lang="ja-JP" altLang="en" sz="1000" b="1" i="0">
                          <a:effectLst/>
                        </a:rPr>
                        <a:t>）</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JP" altLang="en-US" sz="1000" b="1" i="0">
                          <a:solidFill>
                            <a:srgbClr val="1565C0"/>
                          </a:solidFill>
                          <a:effectLst/>
                        </a:rPr>
                        <a:t>◎ 既存の</a:t>
                      </a:r>
                      <a:r>
                        <a:rPr lang="en" altLang="ja-JP" sz="1000" b="1" i="0" dirty="0" err="1">
                          <a:solidFill>
                            <a:srgbClr val="1565C0"/>
                          </a:solidFill>
                          <a:effectLst/>
                        </a:rPr>
                        <a:t>PySpark</a:t>
                      </a:r>
                      <a:r>
                        <a:rPr lang="ja-JP" altLang="en-US" sz="1000" b="1" i="0">
                          <a:solidFill>
                            <a:srgbClr val="1565C0"/>
                          </a:solidFill>
                          <a:effectLst/>
                        </a:rPr>
                        <a:t>コードの大部分をそのまま利用可能。</a:t>
                      </a:r>
                      <a:r>
                        <a:rPr lang="ja-JP" altLang="en-US" sz="1000" b="0" i="0">
                          <a:solidFill>
                            <a:srgbClr val="1565C0"/>
                          </a:solidFill>
                          <a:effectLst/>
                        </a:rPr>
                        <a:t> </a:t>
                      </a:r>
                      <a:r>
                        <a:rPr lang="en" altLang="ja-JP" sz="1000" b="0" i="0" dirty="0">
                          <a:solidFill>
                            <a:srgbClr val="1565C0"/>
                          </a:solidFill>
                          <a:effectLst/>
                        </a:rPr>
                        <a:t>Foundry</a:t>
                      </a:r>
                      <a:r>
                        <a:rPr lang="ja-JP" altLang="en-US" sz="1000" b="0" i="0">
                          <a:solidFill>
                            <a:srgbClr val="1565C0"/>
                          </a:solidFill>
                          <a:effectLst/>
                        </a:rPr>
                        <a:t>固有の記法（デコレーター）を除去すれば動作する。ただし差分更新処理や</a:t>
                      </a:r>
                      <a:r>
                        <a:rPr lang="en" altLang="ja-JP" sz="1000" b="0" i="0" dirty="0">
                          <a:solidFill>
                            <a:srgbClr val="1565C0"/>
                          </a:solidFill>
                          <a:effectLst/>
                        </a:rPr>
                        <a:t>Ontology</a:t>
                      </a:r>
                      <a:r>
                        <a:rPr lang="ja-JP" altLang="en-US" sz="1000" b="0" i="0">
                          <a:solidFill>
                            <a:srgbClr val="1565C0"/>
                          </a:solidFill>
                          <a:effectLst/>
                        </a:rPr>
                        <a:t>参照部分は個別対応が必要。</a:t>
                      </a:r>
                      <a:endParaRPr lang="en-US" altLang="ja-JP" sz="1000" b="0" i="0" dirty="0">
                        <a:effectLst/>
                      </a:endParaRPr>
                    </a:p>
                    <a:p>
                      <a:pPr algn="l">
                        <a:lnSpc>
                          <a:spcPct val="105000"/>
                        </a:lnSpc>
                        <a:spcBef>
                          <a:spcPts val="0"/>
                        </a:spcBef>
                        <a:spcAft>
                          <a:spcPts val="0"/>
                        </a:spcAft>
                        <a:buNone/>
                      </a:pPr>
                      <a:endParaRPr lang="en-US" altLang="ja-JP" sz="1000" b="0" i="0" dirty="0">
                        <a:effectLst/>
                      </a:endParaRPr>
                    </a:p>
                    <a:p>
                      <a:pPr algn="l">
                        <a:lnSpc>
                          <a:spcPct val="105000"/>
                        </a:lnSpc>
                        <a:spcBef>
                          <a:spcPts val="0"/>
                        </a:spcBef>
                        <a:spcAft>
                          <a:spcPts val="0"/>
                        </a:spcAft>
                        <a:buNone/>
                      </a:pPr>
                      <a:r>
                        <a:rPr lang="ja-JP" altLang="en-US" sz="1000" b="0" i="0">
                          <a:solidFill>
                            <a:srgbClr val="CC6600"/>
                          </a:solidFill>
                          <a:effectLst/>
                        </a:rPr>
                        <a:t>⚠ </a:t>
                      </a:r>
                      <a:r>
                        <a:rPr lang="en-US" altLang="ja-JP" sz="1000" b="0" i="0" dirty="0">
                          <a:solidFill>
                            <a:srgbClr val="CC6600"/>
                          </a:solidFill>
                          <a:effectLst/>
                        </a:rPr>
                        <a:t>219</a:t>
                      </a:r>
                      <a:r>
                        <a:rPr lang="ja-JP" altLang="en-US" sz="1000" b="0" i="0">
                          <a:solidFill>
                            <a:srgbClr val="CC6600"/>
                          </a:solidFill>
                          <a:effectLst/>
                        </a:rPr>
                        <a:t>本全てが同じ工数ではない。パターン別に代表ジョブで検証すべき</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marL="0" marR="0" indent="0" algn="l" defTabSz="914400" eaLnBrk="1" fontAlgn="auto" latinLnBrk="0" hangingPunct="1">
                        <a:lnSpc>
                          <a:spcPct val="105000"/>
                        </a:lnSpc>
                        <a:spcBef>
                          <a:spcPts val="0"/>
                        </a:spcBef>
                        <a:spcAft>
                          <a:spcPts val="0"/>
                        </a:spcAft>
                        <a:buClrTx/>
                        <a:buSzTx/>
                        <a:buFontTx/>
                        <a:buNone/>
                        <a:tabLst/>
                        <a:defRPr/>
                      </a:pPr>
                      <a:r>
                        <a:rPr lang="en" altLang="ja-JP" sz="1000" b="1" i="0" dirty="0">
                          <a:solidFill>
                            <a:srgbClr val="B8860B"/>
                          </a:solidFill>
                          <a:effectLst/>
                        </a:rPr>
                        <a:t>△ Snowpark</a:t>
                      </a:r>
                      <a:r>
                        <a:rPr lang="ja-JP" altLang="en" sz="1000" b="1" i="0">
                          <a:solidFill>
                            <a:srgbClr val="B8860B"/>
                          </a:solidFill>
                          <a:effectLst/>
                        </a:rPr>
                        <a:t>（</a:t>
                      </a:r>
                      <a:r>
                        <a:rPr lang="en" altLang="ja-JP" sz="1000" b="1" i="0" dirty="0">
                          <a:solidFill>
                            <a:srgbClr val="B8860B"/>
                          </a:solidFill>
                          <a:effectLst/>
                        </a:rPr>
                        <a:t>Python</a:t>
                      </a:r>
                      <a:r>
                        <a:rPr lang="ja-JP" altLang="en" sz="1000" b="1" i="0">
                          <a:solidFill>
                            <a:srgbClr val="B8860B"/>
                          </a:solidFill>
                          <a:effectLst/>
                        </a:rPr>
                        <a:t>）</a:t>
                      </a:r>
                      <a:r>
                        <a:rPr lang="ja-JP" altLang="en-US" sz="1000" b="1" i="0">
                          <a:solidFill>
                            <a:srgbClr val="B8860B"/>
                          </a:solidFill>
                          <a:effectLst/>
                        </a:rPr>
                        <a:t>への書き直しが必要。</a:t>
                      </a:r>
                      <a:r>
                        <a:rPr lang="ja-JP" altLang="en-US" sz="1000" b="0" i="0">
                          <a:solidFill>
                            <a:srgbClr val="B8860B"/>
                          </a:solidFill>
                          <a:effectLst/>
                        </a:rPr>
                        <a:t> </a:t>
                      </a:r>
                      <a:r>
                        <a:rPr lang="en" altLang="ja-JP" sz="1000" b="0" i="0" dirty="0">
                          <a:solidFill>
                            <a:srgbClr val="B8860B"/>
                          </a:solidFill>
                          <a:effectLst/>
                        </a:rPr>
                        <a:t>Snowpark / Snowpark Connect / Migration Accelerator </a:t>
                      </a:r>
                      <a:r>
                        <a:rPr lang="ja-JP" altLang="en-US" sz="1000" b="0" i="0">
                          <a:solidFill>
                            <a:srgbClr val="B8860B"/>
                          </a:solidFill>
                          <a:effectLst/>
                        </a:rPr>
                        <a:t>により移行支援はあるが、</a:t>
                      </a:r>
                      <a:r>
                        <a:rPr lang="en" altLang="ja-JP" sz="1000" b="0" i="0" dirty="0">
                          <a:solidFill>
                            <a:srgbClr val="B8860B"/>
                          </a:solidFill>
                          <a:effectLst/>
                        </a:rPr>
                        <a:t>Spark </a:t>
                      </a:r>
                      <a:r>
                        <a:rPr lang="ja-JP" altLang="en-US" sz="1000" b="0" i="0">
                          <a:solidFill>
                            <a:srgbClr val="B8860B"/>
                          </a:solidFill>
                          <a:effectLst/>
                        </a:rPr>
                        <a:t>互換ギャップの評価が必要</a:t>
                      </a:r>
                      <a:endParaRPr lang="en-US" altLang="ja-JP" sz="1000" b="0" i="0" dirty="0">
                        <a:effectLst/>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A7D44"/>
                          </a:solidFill>
                          <a:effectLst/>
                        </a:rPr>
                        <a:t>○ Glue</a:t>
                      </a:r>
                      <a:r>
                        <a:rPr lang="ja-JP" altLang="en-US" sz="1000" b="0" i="0" dirty="0">
                          <a:solidFill>
                            <a:srgbClr val="3A7D44"/>
                          </a:solidFill>
                          <a:effectLst/>
                        </a:rPr>
                        <a:t>上の</a:t>
                      </a:r>
                      <a:r>
                        <a:rPr lang="en" altLang="ja-JP" sz="1000" b="0" i="0" dirty="0" err="1">
                          <a:solidFill>
                            <a:srgbClr val="3A7D44"/>
                          </a:solidFill>
                          <a:effectLst/>
                        </a:rPr>
                        <a:t>PySpark</a:t>
                      </a:r>
                      <a:r>
                        <a:rPr lang="ja-JP" altLang="en-US" sz="1000" b="0" i="0" dirty="0">
                          <a:solidFill>
                            <a:srgbClr val="3A7D44"/>
                          </a:solidFill>
                          <a:effectLst/>
                        </a:rPr>
                        <a:t>で基本的な処理は動作</a:t>
                      </a:r>
                      <a:br>
                        <a:rPr lang="en-US" altLang="ja-JP" sz="1000" b="0" i="0" dirty="0">
                          <a:effectLst/>
                        </a:rPr>
                      </a:br>
                      <a:r>
                        <a:rPr lang="en" altLang="ja-JP" sz="1000" b="0" i="0" dirty="0">
                          <a:solidFill>
                            <a:srgbClr val="3A7D44"/>
                          </a:solidFill>
                          <a:effectLst/>
                        </a:rPr>
                        <a:t>Glue</a:t>
                      </a:r>
                      <a:r>
                        <a:rPr lang="ja-JP" altLang="en-US" sz="1000" b="0" i="0" dirty="0">
                          <a:solidFill>
                            <a:srgbClr val="3A7D44"/>
                          </a:solidFill>
                          <a:effectLst/>
                        </a:rPr>
                        <a:t>固有の制約があり全てがそのまま動くわけではない</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10001"/>
                  </a:ext>
                </a:extLst>
              </a:tr>
              <a:tr h="765998">
                <a:tc>
                  <a:txBody>
                    <a:bodyPr/>
                    <a:lstStyle/>
                    <a:p>
                      <a:pPr algn="l">
                        <a:lnSpc>
                          <a:spcPct val="105000"/>
                        </a:lnSpc>
                        <a:spcBef>
                          <a:spcPts val="0"/>
                        </a:spcBef>
                        <a:spcAft>
                          <a:spcPts val="0"/>
                        </a:spcAft>
                        <a:buNone/>
                      </a:pPr>
                      <a:r>
                        <a:rPr lang="ja-JP" altLang="en-US" sz="1000" b="1" i="0">
                          <a:effectLst/>
                        </a:rPr>
                        <a:t>資産継承性（</a:t>
                      </a:r>
                      <a:r>
                        <a:rPr lang="en" altLang="ja-JP" sz="1000" b="1" i="0" dirty="0">
                          <a:effectLst/>
                        </a:rPr>
                        <a:t>Tableau/BI</a:t>
                      </a:r>
                      <a:r>
                        <a:rPr lang="ja-JP" altLang="en" sz="1000" b="1" i="0">
                          <a:effectLst/>
                        </a:rPr>
                        <a:t>）</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1565C0"/>
                          </a:solidFill>
                          <a:effectLst/>
                        </a:rPr>
                        <a:t>◎ SQL Warehouse</a:t>
                      </a:r>
                      <a:r>
                        <a:rPr lang="ja-JP" altLang="en-US" sz="1000" b="0" i="0">
                          <a:solidFill>
                            <a:srgbClr val="1565C0"/>
                          </a:solidFill>
                          <a:effectLst/>
                        </a:rPr>
                        <a:t>経由で</a:t>
                      </a:r>
                      <a:r>
                        <a:rPr lang="en" altLang="ja-JP" sz="1000" b="0" i="0" dirty="0">
                          <a:solidFill>
                            <a:srgbClr val="1565C0"/>
                          </a:solidFill>
                          <a:effectLst/>
                        </a:rPr>
                        <a:t>Tableau</a:t>
                      </a:r>
                      <a:r>
                        <a:rPr lang="ja-JP" altLang="en-US" sz="1000" b="0" i="0">
                          <a:solidFill>
                            <a:srgbClr val="1565C0"/>
                          </a:solidFill>
                          <a:effectLst/>
                        </a:rPr>
                        <a:t>接続可能。</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1565C0"/>
                          </a:solidFill>
                          <a:effectLst/>
                        </a:rPr>
                        <a:t>◎ Snowflake Connector</a:t>
                      </a:r>
                      <a:r>
                        <a:rPr lang="ja-JP" altLang="en-US" sz="1000" b="0" i="0">
                          <a:solidFill>
                            <a:srgbClr val="1565C0"/>
                          </a:solidFill>
                          <a:effectLst/>
                        </a:rPr>
                        <a:t>経由で接続可能。</a:t>
                      </a:r>
                      <a:endParaRPr lang="en-US" altLang="ja-JP" sz="1000" b="0" i="0" dirty="0">
                        <a:effectLst/>
                      </a:endParaRPr>
                    </a:p>
                    <a:p>
                      <a:pPr algn="l">
                        <a:lnSpc>
                          <a:spcPct val="105000"/>
                        </a:lnSpc>
                        <a:spcBef>
                          <a:spcPts val="0"/>
                        </a:spcBef>
                        <a:spcAft>
                          <a:spcPts val="0"/>
                        </a:spcAft>
                        <a:buNone/>
                      </a:pPr>
                      <a:r>
                        <a:rPr lang="en" altLang="ja-JP" sz="1000" b="0" i="0" dirty="0">
                          <a:solidFill>
                            <a:srgbClr val="1565C0"/>
                          </a:solidFill>
                          <a:effectLst/>
                        </a:rPr>
                        <a:t>Tableau</a:t>
                      </a:r>
                      <a:r>
                        <a:rPr lang="ja-JP" altLang="en-US" sz="1000" b="0" i="0">
                          <a:solidFill>
                            <a:srgbClr val="1565C0"/>
                          </a:solidFill>
                          <a:effectLst/>
                        </a:rPr>
                        <a:t>連携としては最も成熟した組み合わせ</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A7D44"/>
                          </a:solidFill>
                          <a:effectLst/>
                        </a:rPr>
                        <a:t>○ Redshift/Athena</a:t>
                      </a:r>
                      <a:r>
                        <a:rPr lang="ja-JP" altLang="en-US" sz="1000" b="0" i="0">
                          <a:solidFill>
                            <a:srgbClr val="3A7D44"/>
                          </a:solidFill>
                          <a:effectLst/>
                        </a:rPr>
                        <a:t>経由で接続可能</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3496318255"/>
                  </a:ext>
                </a:extLst>
              </a:tr>
              <a:tr h="974781">
                <a:tc>
                  <a:txBody>
                    <a:bodyPr/>
                    <a:lstStyle/>
                    <a:p>
                      <a:pPr algn="l">
                        <a:lnSpc>
                          <a:spcPct val="105000"/>
                        </a:lnSpc>
                        <a:spcBef>
                          <a:spcPts val="0"/>
                        </a:spcBef>
                        <a:spcAft>
                          <a:spcPts val="0"/>
                        </a:spcAft>
                        <a:buNone/>
                      </a:pPr>
                      <a:r>
                        <a:rPr lang="ja-JP" altLang="en-US" sz="1000" b="1">
                          <a:solidFill>
                            <a:srgbClr val="2C3E50"/>
                          </a:solidFill>
                          <a:latin typeface="游ゴシック" panose="020B0400000000000000" pitchFamily="50" charset="-128"/>
                          <a:ea typeface="游ゴシック" panose="020B0400000000000000" pitchFamily="50" charset="-128"/>
                        </a:rPr>
                        <a:t>移行安全性</a:t>
                      </a:r>
                      <a:endParaRPr lang="ja" sz="1000" b="1" dirty="0">
                        <a:solidFill>
                          <a:srgbClr val="2C3E50"/>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ja-JP" altLang="en-US" sz="1000" b="0" i="0">
                          <a:solidFill>
                            <a:srgbClr val="1565C0"/>
                          </a:solidFill>
                          <a:effectLst/>
                        </a:rPr>
                        <a:t>◎ 過去の任意の時点にデータを巻き戻せる機能（</a:t>
                      </a:r>
                      <a:r>
                        <a:rPr lang="en" altLang="ja-JP" sz="1000" b="0" i="0" dirty="0">
                          <a:solidFill>
                            <a:srgbClr val="1565C0"/>
                          </a:solidFill>
                          <a:effectLst/>
                        </a:rPr>
                        <a:t>Time Travel</a:t>
                      </a:r>
                      <a:r>
                        <a:rPr lang="ja-JP" altLang="en" sz="1000" b="0" i="0">
                          <a:solidFill>
                            <a:srgbClr val="1565C0"/>
                          </a:solidFill>
                          <a:effectLst/>
                        </a:rPr>
                        <a:t>）</a:t>
                      </a:r>
                      <a:r>
                        <a:rPr lang="ja-JP" altLang="en-US" sz="1000" b="0" i="0">
                          <a:solidFill>
                            <a:srgbClr val="1565C0"/>
                          </a:solidFill>
                          <a:effectLst/>
                        </a:rPr>
                        <a:t>あり。</a:t>
                      </a:r>
                      <a:endParaRPr lang="en-US" altLang="ja-JP" sz="1000" b="0" i="0" dirty="0">
                        <a:effectLst/>
                      </a:endParaRPr>
                    </a:p>
                    <a:p>
                      <a:pPr algn="l">
                        <a:lnSpc>
                          <a:spcPct val="105000"/>
                        </a:lnSpc>
                        <a:spcBef>
                          <a:spcPts val="0"/>
                        </a:spcBef>
                        <a:spcAft>
                          <a:spcPts val="0"/>
                        </a:spcAft>
                        <a:buNone/>
                      </a:pPr>
                      <a:r>
                        <a:rPr lang="ja-JP" altLang="en-US" sz="1000" b="0" i="0">
                          <a:solidFill>
                            <a:srgbClr val="1565C0"/>
                          </a:solidFill>
                          <a:effectLst/>
                        </a:rPr>
                        <a:t>開発・検証・本番の環境分離が標準機能。</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1565C0"/>
                          </a:solidFill>
                          <a:effectLst/>
                        </a:rPr>
                        <a:t>◎ Time Travel</a:t>
                      </a:r>
                      <a:r>
                        <a:rPr lang="ja-JP" altLang="en" sz="1000" b="0" i="0">
                          <a:solidFill>
                            <a:srgbClr val="1565C0"/>
                          </a:solidFill>
                          <a:effectLst/>
                        </a:rPr>
                        <a:t>（</a:t>
                      </a:r>
                      <a:r>
                        <a:rPr lang="ja-JP" altLang="en-US" sz="1000" b="0" i="0">
                          <a:solidFill>
                            <a:srgbClr val="1565C0"/>
                          </a:solidFill>
                          <a:effectLst/>
                        </a:rPr>
                        <a:t>最大</a:t>
                      </a:r>
                      <a:r>
                        <a:rPr lang="en-US" altLang="ja-JP" sz="1000" b="0" i="0" dirty="0">
                          <a:solidFill>
                            <a:srgbClr val="1565C0"/>
                          </a:solidFill>
                          <a:effectLst/>
                        </a:rPr>
                        <a:t>90</a:t>
                      </a:r>
                      <a:r>
                        <a:rPr lang="ja-JP" altLang="en-US" sz="1000" b="0" i="0">
                          <a:solidFill>
                            <a:srgbClr val="1565C0"/>
                          </a:solidFill>
                          <a:effectLst/>
                        </a:rPr>
                        <a:t>日分）あり。</a:t>
                      </a:r>
                      <a:endParaRPr lang="en-US" altLang="ja-JP" sz="1000" b="0" i="0" dirty="0">
                        <a:effectLst/>
                      </a:endParaRPr>
                    </a:p>
                    <a:p>
                      <a:pPr algn="l">
                        <a:lnSpc>
                          <a:spcPct val="105000"/>
                        </a:lnSpc>
                        <a:spcBef>
                          <a:spcPts val="0"/>
                        </a:spcBef>
                        <a:spcAft>
                          <a:spcPts val="0"/>
                        </a:spcAft>
                        <a:buNone/>
                      </a:pPr>
                      <a:r>
                        <a:rPr lang="ja-JP" altLang="en-US" sz="1000" b="0" i="0">
                          <a:solidFill>
                            <a:srgbClr val="1565C0"/>
                          </a:solidFill>
                          <a:effectLst/>
                        </a:rPr>
                        <a:t>環境分離も可能だが、</a:t>
                      </a:r>
                      <a:r>
                        <a:rPr lang="en" altLang="ja-JP" sz="1000" b="0" i="0" dirty="0">
                          <a:solidFill>
                            <a:srgbClr val="1565C0"/>
                          </a:solidFill>
                          <a:effectLst/>
                        </a:rPr>
                        <a:t>Databricks</a:t>
                      </a:r>
                      <a:r>
                        <a:rPr lang="ja-JP" altLang="en-US" sz="1000" b="0" i="0">
                          <a:solidFill>
                            <a:srgbClr val="1565C0"/>
                          </a:solidFill>
                          <a:effectLst/>
                        </a:rPr>
                        <a:t>の方が仕組みとしてネイティブ</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tc>
                  <a:txBody>
                    <a:bodyPr/>
                    <a:lstStyle/>
                    <a:p>
                      <a:pPr algn="l">
                        <a:lnSpc>
                          <a:spcPct val="105000"/>
                        </a:lnSpc>
                        <a:spcBef>
                          <a:spcPts val="0"/>
                        </a:spcBef>
                        <a:spcAft>
                          <a:spcPts val="0"/>
                        </a:spcAft>
                        <a:buNone/>
                      </a:pPr>
                      <a:r>
                        <a:rPr lang="en" altLang="ja-JP" sz="1000" b="0" i="0" dirty="0">
                          <a:solidFill>
                            <a:srgbClr val="3A7D44"/>
                          </a:solidFill>
                          <a:effectLst/>
                        </a:rPr>
                        <a:t>○ S3</a:t>
                      </a:r>
                      <a:r>
                        <a:rPr lang="ja-JP" altLang="en-US" sz="1000" b="0" i="0" dirty="0">
                          <a:solidFill>
                            <a:srgbClr val="3A7D44"/>
                          </a:solidFill>
                          <a:effectLst/>
                        </a:rPr>
                        <a:t>のバージョニングで対応。環境分離は各サービスで個別に設計が必要</a:t>
                      </a:r>
                      <a:endParaRPr lang="ja" sz="1000" dirty="0">
                        <a:solidFill>
                          <a:srgbClr val="333333"/>
                        </a:solidFill>
                        <a:latin typeface="游ゴシック" panose="020B0400000000000000" pitchFamily="50" charset="-128"/>
                        <a:ea typeface="游ゴシック" panose="020B0400000000000000" pitchFamily="50" charset="-128"/>
                      </a:endParaRPr>
                    </a:p>
                  </a:txBody>
                  <a:tcPr marL="45700" marR="45700" marT="18300" marB="18300">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3300536"/>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480F0DBC-DC9F-DEDA-9213-E4C78150C5DC}"/>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74E1E176-F905-2A07-74AD-7E6B1FC794F9}"/>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lvl="0">
              <a:buClr>
                <a:srgbClr val="121212"/>
              </a:buClr>
              <a:buSzPts val="1800"/>
            </a:pP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2.3.3 </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3</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（運用・ガバナンス）の技術比較</a:t>
            </a:r>
            <a:endParaRPr lang="ja-JP" altLang="en-US" sz="1800"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963EF0F6-CA43-5641-2619-DF1330B50226}"/>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6EF09D15-40EF-6247-A0A2-13FDC75D3F57}"/>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73B66A02-C1AC-243A-E3E9-E6FAB52B402F}"/>
              </a:ext>
            </a:extLst>
          </p:cNvPr>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11</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24318FE6-93E3-ECA1-2726-F8E4DE89EEC9}"/>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運用自走性は</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Snowflake</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が優位。ガバナンスは</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Databricks</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が優位（</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Unity Catalog</a:t>
            </a:r>
            <a:r>
              <a:rPr lang="ja-JP" altLang="en" sz="1000" b="1">
                <a:solidFill>
                  <a:schemeClr val="tx1"/>
                </a:solidFill>
                <a:latin typeface="游ゴシック" panose="020B0400000000000000" pitchFamily="50" charset="-128"/>
                <a:ea typeface="游ゴシック" panose="020B0400000000000000" pitchFamily="50" charset="-128"/>
                <a:cs typeface="Century Gothic"/>
                <a:sym typeface="Century Gothic"/>
              </a:rPr>
              <a:t>）</a:t>
            </a:r>
            <a:endParaRPr lang="ja-JP" altLang="en-US" sz="1000" b="1" dirty="0">
              <a:solidFill>
                <a:schemeClr val="tx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50B152F6-1AF9-A12E-5581-6F9EF627C70A}"/>
              </a:ext>
            </a:extLst>
          </p:cNvPr>
          <p:cNvGraphicFramePr/>
          <p:nvPr>
            <p:extLst>
              <p:ext uri="{D42A27DB-BD31-4B8C-83A1-F6EECF244321}">
                <p14:modId xmlns:p14="http://schemas.microsoft.com/office/powerpoint/2010/main" val="3465576108"/>
              </p:ext>
            </p:extLst>
          </p:nvPr>
        </p:nvGraphicFramePr>
        <p:xfrm>
          <a:off x="405799" y="790816"/>
          <a:ext cx="8331900" cy="4108768"/>
        </p:xfrm>
        <a:graphic>
          <a:graphicData uri="http://schemas.openxmlformats.org/drawingml/2006/table">
            <a:tbl>
              <a:tblPr firstRow="1" bandRow="1">
                <a:noFill/>
                <a:tableStyleId>{831F8A93-CA79-4AF6-B420-68E9A51CCC31}</a:tableStyleId>
              </a:tblPr>
              <a:tblGrid>
                <a:gridCol w="1064852">
                  <a:extLst>
                    <a:ext uri="{9D8B030D-6E8A-4147-A177-3AD203B41FA5}">
                      <a16:colId xmlns:a16="http://schemas.microsoft.com/office/drawing/2014/main" val="20001"/>
                    </a:ext>
                  </a:extLst>
                </a:gridCol>
                <a:gridCol w="2550645">
                  <a:extLst>
                    <a:ext uri="{9D8B030D-6E8A-4147-A177-3AD203B41FA5}">
                      <a16:colId xmlns:a16="http://schemas.microsoft.com/office/drawing/2014/main" val="20002"/>
                    </a:ext>
                  </a:extLst>
                </a:gridCol>
                <a:gridCol w="2550645">
                  <a:extLst>
                    <a:ext uri="{9D8B030D-6E8A-4147-A177-3AD203B41FA5}">
                      <a16:colId xmlns:a16="http://schemas.microsoft.com/office/drawing/2014/main" val="20003"/>
                    </a:ext>
                  </a:extLst>
                </a:gridCol>
                <a:gridCol w="2165758">
                  <a:extLst>
                    <a:ext uri="{9D8B030D-6E8A-4147-A177-3AD203B41FA5}">
                      <a16:colId xmlns:a16="http://schemas.microsoft.com/office/drawing/2014/main" val="20004"/>
                    </a:ext>
                  </a:extLst>
                </a:gridCol>
              </a:tblGrid>
              <a:tr h="183471">
                <a:tc>
                  <a:txBody>
                    <a:bodyPr/>
                    <a:lstStyle/>
                    <a:p>
                      <a:pPr algn="ctr">
                        <a:lnSpc>
                          <a:spcPct val="105000"/>
                        </a:lnSpc>
                        <a:spcBef>
                          <a:spcPts val="0"/>
                        </a:spcBef>
                        <a:spcAft>
                          <a:spcPts val="0"/>
                        </a:spcAft>
                        <a:buNone/>
                      </a:pPr>
                      <a:r>
                        <a:rPr lang="ja" sz="12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819232">
                <a:tc>
                  <a:txBody>
                    <a:bodyPr/>
                    <a:lstStyle/>
                    <a:p>
                      <a:pPr>
                        <a:buNone/>
                      </a:pPr>
                      <a:r>
                        <a:rPr lang="ja-JP" altLang="en-US" sz="1000" b="1">
                          <a:effectLst/>
                        </a:rPr>
                        <a:t>運用体制</a:t>
                      </a:r>
                      <a:endParaRPr lang="ja-JP" altLang="en-US" sz="1000">
                        <a:effectLst/>
                      </a:endParaRPr>
                    </a:p>
                  </a:txBody>
                  <a:tcPr marL="95250" marR="95250" marT="47625" marB="47625" anchor="ctr">
                    <a:noFill/>
                  </a:tcPr>
                </a:tc>
                <a:tc>
                  <a:txBody>
                    <a:bodyPr/>
                    <a:lstStyle/>
                    <a:p>
                      <a:pPr>
                        <a:buNone/>
                      </a:pPr>
                      <a:r>
                        <a:rPr lang="en" sz="1000" dirty="0">
                          <a:solidFill>
                            <a:srgbClr val="3A7D44"/>
                          </a:solidFill>
                          <a:effectLst/>
                        </a:rPr>
                        <a:t>○ SQL + Python + </a:t>
                      </a:r>
                      <a:r>
                        <a:rPr lang="ja-JP" altLang="en-US" sz="1000">
                          <a:solidFill>
                            <a:srgbClr val="3A7D44"/>
                          </a:solidFill>
                          <a:effectLst/>
                        </a:rPr>
                        <a:t>インフラ管理の基礎知識が必要。覚えることは多いが、習得すれば高度な運用ができる</a:t>
                      </a:r>
                    </a:p>
                  </a:txBody>
                  <a:tcPr marL="95250" marR="95250" marT="47625" marB="47625" anchor="ctr">
                    <a:no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 sz="1000" b="1" dirty="0">
                          <a:solidFill>
                            <a:srgbClr val="1565C0"/>
                          </a:solidFill>
                          <a:effectLst/>
                        </a:rPr>
                        <a:t>◎</a:t>
                      </a:r>
                      <a:r>
                        <a:rPr lang="ja-JP" altLang="en-US" sz="1000" b="1">
                          <a:solidFill>
                            <a:srgbClr val="1565C0"/>
                          </a:solidFill>
                          <a:effectLst/>
                        </a:rPr>
                        <a:t>主要な分析・管理は </a:t>
                      </a:r>
                      <a:r>
                        <a:rPr lang="en" sz="1000" b="1" dirty="0">
                          <a:solidFill>
                            <a:srgbClr val="1565C0"/>
                          </a:solidFill>
                          <a:effectLst/>
                        </a:rPr>
                        <a:t>SQL / </a:t>
                      </a:r>
                      <a:r>
                        <a:rPr lang="en" sz="1000" b="1" dirty="0" err="1">
                          <a:solidFill>
                            <a:srgbClr val="1565C0"/>
                          </a:solidFill>
                          <a:effectLst/>
                        </a:rPr>
                        <a:t>Snowsight</a:t>
                      </a:r>
                      <a:r>
                        <a:rPr lang="en" sz="1000" b="1" dirty="0">
                          <a:solidFill>
                            <a:srgbClr val="1565C0"/>
                          </a:solidFill>
                          <a:effectLst/>
                        </a:rPr>
                        <a:t> </a:t>
                      </a:r>
                      <a:r>
                        <a:rPr lang="ja-JP" altLang="en-US" sz="1000" b="1">
                          <a:solidFill>
                            <a:srgbClr val="1565C0"/>
                          </a:solidFill>
                          <a:effectLst/>
                        </a:rPr>
                        <a:t>中心で進めやすい。非エンジニア寄りの運用には親和性が高い。一方、</a:t>
                      </a:r>
                      <a:r>
                        <a:rPr lang="en" sz="1000" b="1" dirty="0">
                          <a:solidFill>
                            <a:srgbClr val="1565C0"/>
                          </a:solidFill>
                          <a:effectLst/>
                        </a:rPr>
                        <a:t>Snowpark </a:t>
                      </a:r>
                      <a:r>
                        <a:rPr lang="ja-JP" altLang="en-US" sz="1000" b="1">
                          <a:solidFill>
                            <a:srgbClr val="1565C0"/>
                          </a:solidFill>
                          <a:effectLst/>
                        </a:rPr>
                        <a:t>や自動化を含む場合は追加スキルが必要</a:t>
                      </a:r>
                      <a:endParaRPr lang="ja-JP" altLang="en-US" sz="1000">
                        <a:solidFill>
                          <a:srgbClr val="1565C0"/>
                        </a:solidFill>
                        <a:effectLst/>
                      </a:endParaRPr>
                    </a:p>
                  </a:txBody>
                  <a:tcPr marL="95250" marR="95250" marT="47625" marB="47625" anchor="ctr">
                    <a:noFill/>
                  </a:tcPr>
                </a:tc>
                <a:tc>
                  <a:txBody>
                    <a:bodyPr/>
                    <a:lstStyle/>
                    <a:p>
                      <a:pPr>
                        <a:buNone/>
                      </a:pPr>
                      <a:r>
                        <a:rPr lang="ja-JP" altLang="en-US" sz="1000">
                          <a:solidFill>
                            <a:srgbClr val="B8860B"/>
                          </a:solidFill>
                          <a:effectLst/>
                        </a:rPr>
                        <a:t>△ </a:t>
                      </a:r>
                      <a:r>
                        <a:rPr lang="en-US" altLang="ja-JP" sz="1000">
                          <a:solidFill>
                            <a:srgbClr val="B8860B"/>
                          </a:solidFill>
                          <a:effectLst/>
                        </a:rPr>
                        <a:t>6</a:t>
                      </a:r>
                      <a:r>
                        <a:rPr lang="ja-JP" altLang="en-US" sz="1000">
                          <a:solidFill>
                            <a:srgbClr val="B8860B"/>
                          </a:solidFill>
                          <a:effectLst/>
                        </a:rPr>
                        <a:t>つ以上のサービスを横断的に覚える必要がある</a:t>
                      </a:r>
                    </a:p>
                  </a:txBody>
                  <a:tcPr marL="95250" marR="95250" marT="47625" marB="47625" anchor="ctr">
                    <a:noFill/>
                  </a:tcPr>
                </a:tc>
                <a:extLst>
                  <a:ext uri="{0D108BD9-81ED-4DB2-BD59-A6C34878D82A}">
                    <a16:rowId xmlns:a16="http://schemas.microsoft.com/office/drawing/2014/main" val="10001"/>
                  </a:ext>
                </a:extLst>
              </a:tr>
              <a:tr h="964874">
                <a:tc>
                  <a:txBody>
                    <a:bodyPr/>
                    <a:lstStyle/>
                    <a:p>
                      <a:pPr>
                        <a:buNone/>
                      </a:pPr>
                      <a:r>
                        <a:rPr lang="ja-JP" altLang="en-US" sz="1000" b="1">
                          <a:effectLst/>
                        </a:rPr>
                        <a:t>属人化解消</a:t>
                      </a:r>
                      <a:endParaRPr lang="ja-JP" altLang="en-US" sz="1000">
                        <a:effectLst/>
                      </a:endParaRPr>
                    </a:p>
                  </a:txBody>
                  <a:tcPr marL="95250" marR="95250" marT="47625" marB="47625" anchor="ctr">
                    <a:noFill/>
                  </a:tcPr>
                </a:tc>
                <a:tc>
                  <a:txBody>
                    <a:bodyPr/>
                    <a:lstStyle/>
                    <a:p>
                      <a:pPr>
                        <a:buNone/>
                      </a:pPr>
                      <a:r>
                        <a:rPr lang="ja-JP" altLang="en-US" sz="1000">
                          <a:solidFill>
                            <a:srgbClr val="1565C0"/>
                          </a:solidFill>
                          <a:effectLst/>
                        </a:rPr>
                        <a:t>◎ ダッシュボード作成は</a:t>
                      </a:r>
                      <a:r>
                        <a:rPr lang="en" sz="1000">
                          <a:solidFill>
                            <a:srgbClr val="1565C0"/>
                          </a:solidFill>
                          <a:effectLst/>
                        </a:rPr>
                        <a:t>GUI</a:t>
                      </a:r>
                      <a:r>
                        <a:rPr lang="ja-JP" altLang="en-US" sz="1000">
                          <a:solidFill>
                            <a:srgbClr val="1565C0"/>
                          </a:solidFill>
                          <a:effectLst/>
                        </a:rPr>
                        <a:t>操作。データ変換は</a:t>
                      </a:r>
                      <a:r>
                        <a:rPr lang="en" sz="1000">
                          <a:solidFill>
                            <a:srgbClr val="1565C0"/>
                          </a:solidFill>
                          <a:effectLst/>
                        </a:rPr>
                        <a:t>SQL（dbt）</a:t>
                      </a:r>
                      <a:r>
                        <a:rPr lang="ja-JP" altLang="en-US" sz="1000">
                          <a:solidFill>
                            <a:srgbClr val="1565C0"/>
                          </a:solidFill>
                          <a:effectLst/>
                        </a:rPr>
                        <a:t>で記述可能。高度な処理だけ</a:t>
                      </a:r>
                      <a:r>
                        <a:rPr lang="en" sz="1000">
                          <a:solidFill>
                            <a:srgbClr val="1565C0"/>
                          </a:solidFill>
                          <a:effectLst/>
                        </a:rPr>
                        <a:t>Python</a:t>
                      </a:r>
                    </a:p>
                  </a:txBody>
                  <a:tcPr marL="95250" marR="95250" marT="47625" marB="47625" anchor="ctr">
                    <a:no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ja-JP" altLang="en-US" sz="1000" b="1">
                          <a:solidFill>
                            <a:srgbClr val="1565C0"/>
                          </a:solidFill>
                          <a:effectLst/>
                        </a:rPr>
                        <a:t>◎ </a:t>
                      </a:r>
                      <a:r>
                        <a:rPr lang="en" altLang="ja-JP" sz="1000" b="1" dirty="0" err="1">
                          <a:solidFill>
                            <a:srgbClr val="1565C0"/>
                          </a:solidFill>
                          <a:effectLst/>
                        </a:rPr>
                        <a:t>Snowsight</a:t>
                      </a:r>
                      <a:r>
                        <a:rPr lang="en" altLang="ja-JP" sz="1000" b="1" dirty="0">
                          <a:solidFill>
                            <a:srgbClr val="1565C0"/>
                          </a:solidFill>
                          <a:effectLst/>
                        </a:rPr>
                        <a:t> </a:t>
                      </a:r>
                      <a:r>
                        <a:rPr lang="ja-JP" altLang="en-US" sz="1000" b="1">
                          <a:solidFill>
                            <a:srgbClr val="1565C0"/>
                          </a:solidFill>
                          <a:effectLst/>
                        </a:rPr>
                        <a:t>上で </a:t>
                      </a:r>
                      <a:r>
                        <a:rPr lang="en" altLang="ja-JP" sz="1000" b="1" dirty="0">
                          <a:solidFill>
                            <a:srgbClr val="1565C0"/>
                          </a:solidFill>
                          <a:effectLst/>
                        </a:rPr>
                        <a:t>SQL/</a:t>
                      </a:r>
                      <a:r>
                        <a:rPr lang="ja-JP" altLang="en-US" sz="1000" b="1">
                          <a:solidFill>
                            <a:srgbClr val="1565C0"/>
                          </a:solidFill>
                          <a:effectLst/>
                        </a:rPr>
                        <a:t>ワークシートを起点にチャート化・ダッシュボード作成・共有が可能。主要な分析業務を </a:t>
                      </a:r>
                      <a:r>
                        <a:rPr lang="en" altLang="ja-JP" sz="1000" b="1" dirty="0">
                          <a:solidFill>
                            <a:srgbClr val="1565C0"/>
                          </a:solidFill>
                          <a:effectLst/>
                        </a:rPr>
                        <a:t>Snowflake </a:t>
                      </a:r>
                      <a:r>
                        <a:rPr lang="ja-JP" altLang="en-US" sz="1000" b="1">
                          <a:solidFill>
                            <a:srgbClr val="1565C0"/>
                          </a:solidFill>
                          <a:effectLst/>
                        </a:rPr>
                        <a:t>ネイティブに集約しやすく、非エンジニア部門にも比較的展開しやすい</a:t>
                      </a:r>
                      <a:endParaRPr lang="ja-JP" altLang="en-US" sz="1000">
                        <a:solidFill>
                          <a:srgbClr val="1565C0"/>
                        </a:solidFill>
                        <a:effectLst/>
                      </a:endParaRPr>
                    </a:p>
                  </a:txBody>
                  <a:tcPr marL="95250" marR="95250" marT="47625" marB="47625" anchor="ctr">
                    <a:noFill/>
                  </a:tcPr>
                </a:tc>
                <a:tc>
                  <a:txBody>
                    <a:bodyPr/>
                    <a:lstStyle/>
                    <a:p>
                      <a:pPr>
                        <a:buNone/>
                      </a:pPr>
                      <a:r>
                        <a:rPr lang="en" sz="1000">
                          <a:solidFill>
                            <a:srgbClr val="3A7D44"/>
                          </a:solidFill>
                          <a:effectLst/>
                        </a:rPr>
                        <a:t>○ GUI</a:t>
                      </a:r>
                      <a:r>
                        <a:rPr lang="ja-JP" altLang="en-US" sz="1000">
                          <a:solidFill>
                            <a:srgbClr val="3A7D44"/>
                          </a:solidFill>
                          <a:effectLst/>
                        </a:rPr>
                        <a:t>で</a:t>
                      </a:r>
                      <a:r>
                        <a:rPr lang="en" sz="1000">
                          <a:solidFill>
                            <a:srgbClr val="3A7D44"/>
                          </a:solidFill>
                          <a:effectLst/>
                        </a:rPr>
                        <a:t>BI</a:t>
                      </a:r>
                      <a:r>
                        <a:rPr lang="ja-JP" altLang="en-US" sz="1000">
                          <a:solidFill>
                            <a:srgbClr val="3A7D44"/>
                          </a:solidFill>
                          <a:effectLst/>
                        </a:rPr>
                        <a:t>可能。データ加工には</a:t>
                      </a:r>
                      <a:r>
                        <a:rPr lang="en" sz="1000">
                          <a:solidFill>
                            <a:srgbClr val="3A7D44"/>
                          </a:solidFill>
                          <a:effectLst/>
                        </a:rPr>
                        <a:t>Glue</a:t>
                      </a:r>
                      <a:r>
                        <a:rPr lang="ja-JP" altLang="en-US" sz="1000">
                          <a:solidFill>
                            <a:srgbClr val="3A7D44"/>
                          </a:solidFill>
                          <a:effectLst/>
                        </a:rPr>
                        <a:t>の学習が必要</a:t>
                      </a:r>
                    </a:p>
                  </a:txBody>
                  <a:tcPr marL="95250" marR="95250" marT="47625" marB="47625" anchor="ctr">
                    <a:noFill/>
                  </a:tcPr>
                </a:tc>
                <a:extLst>
                  <a:ext uri="{0D108BD9-81ED-4DB2-BD59-A6C34878D82A}">
                    <a16:rowId xmlns:a16="http://schemas.microsoft.com/office/drawing/2014/main" val="10002"/>
                  </a:ext>
                </a:extLst>
              </a:tr>
              <a:tr h="1180120">
                <a:tc>
                  <a:txBody>
                    <a:bodyPr/>
                    <a:lstStyle/>
                    <a:p>
                      <a:pPr>
                        <a:buNone/>
                      </a:pPr>
                      <a:r>
                        <a:rPr lang="ja-JP" altLang="en-US" sz="1000" b="1">
                          <a:effectLst/>
                        </a:rPr>
                        <a:t>ガバナンス</a:t>
                      </a:r>
                      <a:endParaRPr lang="ja-JP" altLang="en-US" sz="1000">
                        <a:effectLst/>
                      </a:endParaRPr>
                    </a:p>
                  </a:txBody>
                  <a:tcPr marL="95250" marR="95250" marT="47625" marB="47625" anchor="ctr">
                    <a:noFill/>
                  </a:tcPr>
                </a:tc>
                <a:tc>
                  <a:txBody>
                    <a:bodyPr/>
                    <a:lstStyle/>
                    <a:p>
                      <a:pPr>
                        <a:buNone/>
                      </a:pPr>
                      <a:r>
                        <a:rPr lang="ja-JP" altLang="en-US" sz="1000" b="1">
                          <a:solidFill>
                            <a:srgbClr val="1565C0"/>
                          </a:solidFill>
                          <a:effectLst/>
                        </a:rPr>
                        <a:t>◎</a:t>
                      </a:r>
                      <a:r>
                        <a:rPr lang="ja-JP" altLang="en-US" sz="1000">
                          <a:solidFill>
                            <a:srgbClr val="1565C0"/>
                          </a:solidFill>
                          <a:effectLst/>
                        </a:rPr>
                        <a:t> </a:t>
                      </a:r>
                      <a:r>
                        <a:rPr lang="en" altLang="ja-JP" sz="1000" dirty="0">
                          <a:solidFill>
                            <a:srgbClr val="1565C0"/>
                          </a:solidFill>
                          <a:effectLst/>
                        </a:rPr>
                        <a:t>Unity Catalog </a:t>
                      </a:r>
                      <a:r>
                        <a:rPr lang="ja-JP" altLang="en-US" sz="1000">
                          <a:solidFill>
                            <a:srgbClr val="1565C0"/>
                          </a:solidFill>
                          <a:effectLst/>
                        </a:rPr>
                        <a:t>により、データ</a:t>
                      </a:r>
                      <a:r>
                        <a:rPr lang="en-US" altLang="ja-JP" sz="1000" dirty="0">
                          <a:solidFill>
                            <a:srgbClr val="1565C0"/>
                          </a:solidFill>
                          <a:effectLst/>
                        </a:rPr>
                        <a:t>/</a:t>
                      </a:r>
                      <a:r>
                        <a:rPr lang="ja-JP" altLang="en-US" sz="1000">
                          <a:solidFill>
                            <a:srgbClr val="1565C0"/>
                          </a:solidFill>
                          <a:effectLst/>
                        </a:rPr>
                        <a:t>モデル等のガバナンスを統合しやすい。列レベル </a:t>
                      </a:r>
                      <a:r>
                        <a:rPr lang="en" altLang="ja-JP" sz="1000" dirty="0">
                          <a:solidFill>
                            <a:srgbClr val="1565C0"/>
                          </a:solidFill>
                          <a:effectLst/>
                        </a:rPr>
                        <a:t>lineage</a:t>
                      </a:r>
                      <a:r>
                        <a:rPr lang="ja-JP" altLang="en" sz="1000">
                          <a:solidFill>
                            <a:srgbClr val="1565C0"/>
                          </a:solidFill>
                          <a:effectLst/>
                        </a:rPr>
                        <a:t>、</a:t>
                      </a:r>
                      <a:r>
                        <a:rPr lang="en" altLang="ja-JP" sz="1000" dirty="0">
                          <a:solidFill>
                            <a:srgbClr val="1565C0"/>
                          </a:solidFill>
                          <a:effectLst/>
                        </a:rPr>
                        <a:t>row filters / column masks</a:t>
                      </a:r>
                      <a:r>
                        <a:rPr lang="ja-JP" altLang="en" sz="1000">
                          <a:solidFill>
                            <a:srgbClr val="1565C0"/>
                          </a:solidFill>
                          <a:effectLst/>
                        </a:rPr>
                        <a:t>、</a:t>
                      </a:r>
                      <a:r>
                        <a:rPr lang="en" altLang="ja-JP" sz="1000" dirty="0">
                          <a:solidFill>
                            <a:srgbClr val="1565C0"/>
                          </a:solidFill>
                          <a:effectLst/>
                        </a:rPr>
                        <a:t>ABAC + governed tags </a:t>
                      </a:r>
                      <a:r>
                        <a:rPr lang="ja-JP" altLang="en-US" sz="1000">
                          <a:solidFill>
                            <a:srgbClr val="1565C0"/>
                          </a:solidFill>
                          <a:effectLst/>
                        </a:rPr>
                        <a:t>も提供</a:t>
                      </a:r>
                      <a:endParaRPr lang="en-US" altLang="ja-JP" sz="1000" dirty="0">
                        <a:solidFill>
                          <a:srgbClr val="1565C0"/>
                        </a:solidFill>
                        <a:effectLst/>
                      </a:endParaRPr>
                    </a:p>
                  </a:txBody>
                  <a:tcPr marL="95250" marR="95250" marT="47625" marB="47625" anchor="ctr">
                    <a:noFill/>
                  </a:tcPr>
                </a:tc>
                <a:tc>
                  <a:txBody>
                    <a:bodyPr/>
                    <a:lstStyle/>
                    <a:p>
                      <a:pPr>
                        <a:buNone/>
                      </a:pPr>
                      <a:r>
                        <a:rPr lang="ja-JP" altLang="en-US" sz="1000">
                          <a:solidFill>
                            <a:srgbClr val="3A7D44"/>
                          </a:solidFill>
                          <a:effectLst/>
                        </a:rPr>
                        <a:t>○ </a:t>
                      </a:r>
                      <a:r>
                        <a:rPr lang="en" altLang="ja-JP" sz="1000" dirty="0">
                          <a:solidFill>
                            <a:srgbClr val="3A7D44"/>
                          </a:solidFill>
                          <a:effectLst/>
                        </a:rPr>
                        <a:t>Horizon </a:t>
                      </a:r>
                      <a:r>
                        <a:rPr lang="ja-JP" altLang="en-US" sz="1000">
                          <a:solidFill>
                            <a:srgbClr val="3A7D44"/>
                          </a:solidFill>
                          <a:effectLst/>
                        </a:rPr>
                        <a:t>により、行アクセス、動的マスキング、データ分類、リネージを提供。加えて </a:t>
                      </a:r>
                      <a:r>
                        <a:rPr lang="en" altLang="ja-JP" sz="1000" dirty="0">
                          <a:solidFill>
                            <a:srgbClr val="3A7D44"/>
                          </a:solidFill>
                          <a:effectLst/>
                        </a:rPr>
                        <a:t>Model Registry </a:t>
                      </a:r>
                      <a:r>
                        <a:rPr lang="ja-JP" altLang="en-US" sz="1000">
                          <a:solidFill>
                            <a:srgbClr val="3A7D44"/>
                          </a:solidFill>
                          <a:effectLst/>
                        </a:rPr>
                        <a:t>により </a:t>
                      </a:r>
                      <a:r>
                        <a:rPr lang="en" altLang="ja-JP" sz="1000" dirty="0">
                          <a:solidFill>
                            <a:srgbClr val="3A7D44"/>
                          </a:solidFill>
                          <a:effectLst/>
                        </a:rPr>
                        <a:t>ML </a:t>
                      </a:r>
                      <a:r>
                        <a:rPr lang="ja-JP" altLang="en-US" sz="1000">
                          <a:solidFill>
                            <a:srgbClr val="3A7D44"/>
                          </a:solidFill>
                          <a:effectLst/>
                        </a:rPr>
                        <a:t>モデル管理も可能。</a:t>
                      </a:r>
                      <a:r>
                        <a:rPr lang="en" altLang="ja-JP" sz="1000" dirty="0">
                          <a:solidFill>
                            <a:srgbClr val="3A7D44"/>
                          </a:solidFill>
                          <a:effectLst/>
                        </a:rPr>
                        <a:t>Databricks</a:t>
                      </a:r>
                      <a:r>
                        <a:rPr lang="ja-JP" altLang="en-US" sz="1000">
                          <a:solidFill>
                            <a:srgbClr val="3A7D44"/>
                          </a:solidFill>
                          <a:effectLst/>
                        </a:rPr>
                        <a:t>比では </a:t>
                      </a:r>
                      <a:r>
                        <a:rPr lang="en" altLang="ja-JP" sz="1000" dirty="0" err="1">
                          <a:solidFill>
                            <a:srgbClr val="3A7D44"/>
                          </a:solidFill>
                          <a:effectLst/>
                        </a:rPr>
                        <a:t>data+ML+AI</a:t>
                      </a:r>
                      <a:r>
                        <a:rPr lang="en" altLang="ja-JP" sz="1000" dirty="0">
                          <a:solidFill>
                            <a:srgbClr val="3A7D44"/>
                          </a:solidFill>
                          <a:effectLst/>
                        </a:rPr>
                        <a:t> </a:t>
                      </a:r>
                      <a:r>
                        <a:rPr lang="ja-JP" altLang="en-US" sz="1000">
                          <a:solidFill>
                            <a:srgbClr val="3A7D44"/>
                          </a:solidFill>
                          <a:effectLst/>
                        </a:rPr>
                        <a:t>の一体運用の見せ方が相対的に弱い</a:t>
                      </a:r>
                      <a:endParaRPr lang="ja-JP" altLang="en-US" sz="1000">
                        <a:solidFill>
                          <a:srgbClr val="CC6600"/>
                        </a:solidFill>
                        <a:effectLst/>
                      </a:endParaRPr>
                    </a:p>
                  </a:txBody>
                  <a:tcPr marL="95250" marR="95250" marT="47625" marB="47625" anchor="ctr">
                    <a:noFill/>
                  </a:tcPr>
                </a:tc>
                <a:tc>
                  <a:txBody>
                    <a:bodyPr/>
                    <a:lstStyle/>
                    <a:p>
                      <a:pPr>
                        <a:buNone/>
                      </a:pPr>
                      <a:r>
                        <a:rPr lang="ja-JP" altLang="en-US" sz="1000">
                          <a:solidFill>
                            <a:srgbClr val="B8860B"/>
                          </a:solidFill>
                          <a:effectLst/>
                        </a:rPr>
                        <a:t>△ カタログとアクセス制御が別サービスで設定が複雑。リネージは限定的</a:t>
                      </a:r>
                    </a:p>
                  </a:txBody>
                  <a:tcPr marL="95250" marR="95250" marT="47625" marB="47625" anchor="ctr">
                    <a:noFill/>
                  </a:tcPr>
                </a:tc>
                <a:extLst>
                  <a:ext uri="{0D108BD9-81ED-4DB2-BD59-A6C34878D82A}">
                    <a16:rowId xmlns:a16="http://schemas.microsoft.com/office/drawing/2014/main" val="3923677240"/>
                  </a:ext>
                </a:extLst>
              </a:tr>
              <a:tr h="838712">
                <a:tc>
                  <a:txBody>
                    <a:bodyPr/>
                    <a:lstStyle/>
                    <a:p>
                      <a:pPr>
                        <a:buNone/>
                      </a:pPr>
                      <a:r>
                        <a:rPr lang="ja-JP" altLang="en-US" sz="1000" b="1">
                          <a:effectLst/>
                        </a:rPr>
                        <a:t>セキュリティ</a:t>
                      </a:r>
                      <a:endParaRPr lang="ja-JP" altLang="en-US" sz="1000">
                        <a:effectLst/>
                      </a:endParaRPr>
                    </a:p>
                  </a:txBody>
                  <a:tcPr marL="95250" marR="95250" marT="47625" marB="47625" anchor="ctr">
                    <a:noFill/>
                  </a:tcPr>
                </a:tc>
                <a:tc>
                  <a:txBody>
                    <a:bodyPr/>
                    <a:lstStyle/>
                    <a:p>
                      <a:pPr>
                        <a:buNone/>
                      </a:pPr>
                      <a:r>
                        <a:rPr lang="ja-JP" altLang="en-US" sz="1000">
                          <a:solidFill>
                            <a:srgbClr val="1565C0"/>
                          </a:solidFill>
                          <a:effectLst/>
                        </a:rPr>
                        <a:t>◎ 施設・部門・役割ごとの閲覧制限（行・列レベル）に対応。監査ログを</a:t>
                      </a:r>
                      <a:r>
                        <a:rPr lang="en" sz="1000" dirty="0">
                          <a:solidFill>
                            <a:srgbClr val="1565C0"/>
                          </a:solidFill>
                          <a:effectLst/>
                        </a:rPr>
                        <a:t>SQL</a:t>
                      </a:r>
                      <a:r>
                        <a:rPr lang="ja-JP" altLang="en-US" sz="1000">
                          <a:solidFill>
                            <a:srgbClr val="1565C0"/>
                          </a:solidFill>
                          <a:effectLst/>
                        </a:rPr>
                        <a:t>で分析可能。</a:t>
                      </a:r>
                    </a:p>
                  </a:txBody>
                  <a:tcPr marL="95250" marR="95250" marT="47625" marB="47625" anchor="ctr">
                    <a:noFill/>
                  </a:tcPr>
                </a:tc>
                <a:tc>
                  <a:txBody>
                    <a:bodyPr/>
                    <a:lstStyle/>
                    <a:p>
                      <a:pPr>
                        <a:buNone/>
                      </a:pPr>
                      <a:r>
                        <a:rPr lang="ja-JP" altLang="en-US" sz="1000">
                          <a:solidFill>
                            <a:srgbClr val="1565C0"/>
                          </a:solidFill>
                          <a:effectLst/>
                        </a:rPr>
                        <a:t>◎ 閲覧制限は同等。</a:t>
                      </a:r>
                      <a:endParaRPr lang="en-US" altLang="ja-JP" sz="1000" dirty="0">
                        <a:effectLst/>
                      </a:endParaRPr>
                    </a:p>
                  </a:txBody>
                  <a:tcPr marL="95250" marR="95250" marT="47625" marB="47625" anchor="ctr">
                    <a:noFill/>
                  </a:tcPr>
                </a:tc>
                <a:tc>
                  <a:txBody>
                    <a:bodyPr/>
                    <a:lstStyle/>
                    <a:p>
                      <a:pPr>
                        <a:buNone/>
                      </a:pPr>
                      <a:r>
                        <a:rPr lang="ja-JP" altLang="en-US" sz="1000" dirty="0">
                          <a:solidFill>
                            <a:srgbClr val="3A7D44"/>
                          </a:solidFill>
                          <a:effectLst/>
                        </a:rPr>
                        <a:t>○ 閲覧制限はあるが読み取り中心。書き込み系は別管理</a:t>
                      </a:r>
                    </a:p>
                  </a:txBody>
                  <a:tcPr marL="95250" marR="95250" marT="47625" marB="47625" anchor="ctr">
                    <a:noFill/>
                  </a:tcPr>
                </a:tc>
                <a:extLst>
                  <a:ext uri="{0D108BD9-81ED-4DB2-BD59-A6C34878D82A}">
                    <a16:rowId xmlns:a16="http://schemas.microsoft.com/office/drawing/2014/main" val="4135941867"/>
                  </a:ext>
                </a:extLst>
              </a:tr>
            </a:tbl>
          </a:graphicData>
        </a:graphic>
      </p:graphicFrame>
    </p:spTree>
    <p:extLst>
      <p:ext uri="{BB962C8B-B14F-4D97-AF65-F5344CB8AC3E}">
        <p14:creationId xmlns:p14="http://schemas.microsoft.com/office/powerpoint/2010/main" val="1294660451"/>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E07D25EF-CABE-A4E1-AB83-F4AC79D67489}"/>
            </a:ext>
          </a:extLst>
        </p:cNvPr>
        <p:cNvGrpSpPr/>
        <p:nvPr/>
      </p:nvGrpSpPr>
      <p:grpSpPr>
        <a:xfrm>
          <a:off x="0" y="0"/>
          <a:ext cx="0" cy="0"/>
          <a:chOff x="0" y="0"/>
          <a:chExt cx="0" cy="0"/>
        </a:xfrm>
      </p:grpSpPr>
      <p:sp>
        <p:nvSpPr>
          <p:cNvPr id="247" name="Google Shape;247;p9">
            <a:extLst>
              <a:ext uri="{FF2B5EF4-FFF2-40B4-BE49-F238E27FC236}">
                <a16:creationId xmlns:a16="http://schemas.microsoft.com/office/drawing/2014/main" id="{C10141CC-0B58-CAB4-0BB0-7BBD116C86BD}"/>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lvl="0">
              <a:buClr>
                <a:srgbClr val="121212"/>
              </a:buClr>
              <a:buSzPts val="1800"/>
            </a:pP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2.3.4 </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要件</a:t>
            </a:r>
            <a:r>
              <a:rPr lang="en-US" altLang="ja-JP"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4</a:t>
            </a:r>
            <a:r>
              <a:rPr lang="ja-JP" altLang="en-US" sz="1800" b="1">
                <a:solidFill>
                  <a:srgbClr val="121212"/>
                </a:solidFill>
                <a:latin typeface="游ゴシック" panose="020B0400000000000000" pitchFamily="50" charset="-128"/>
                <a:ea typeface="游ゴシック" panose="020B0400000000000000" pitchFamily="50" charset="-128"/>
                <a:cs typeface="Century Gothic"/>
                <a:sym typeface="Century Gothic"/>
              </a:rPr>
              <a:t>（拡張性）の技術比較</a:t>
            </a:r>
            <a:endParaRPr lang="ja-JP" altLang="en-US" sz="1800" dirty="0">
              <a:solidFill>
                <a:schemeClr val="dk1"/>
              </a:solidFill>
              <a:latin typeface="Calibri"/>
              <a:ea typeface="Calibri"/>
              <a:cs typeface="Calibri"/>
              <a:sym typeface="Calibri"/>
            </a:endParaRPr>
          </a:p>
        </p:txBody>
      </p:sp>
      <p:cxnSp>
        <p:nvCxnSpPr>
          <p:cNvPr id="248" name="Google Shape;248;p9">
            <a:extLst>
              <a:ext uri="{FF2B5EF4-FFF2-40B4-BE49-F238E27FC236}">
                <a16:creationId xmlns:a16="http://schemas.microsoft.com/office/drawing/2014/main" id="{E024CB96-14F4-38FF-60E7-112A5A563EE5}"/>
              </a:ext>
            </a:extLst>
          </p:cNvPr>
          <p:cNvCxnSpPr/>
          <p:nvPr/>
        </p:nvCxnSpPr>
        <p:spPr>
          <a:xfrm>
            <a:off x="0" y="4929337"/>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a:extLst>
              <a:ext uri="{FF2B5EF4-FFF2-40B4-BE49-F238E27FC236}">
                <a16:creationId xmlns:a16="http://schemas.microsoft.com/office/drawing/2014/main" id="{0CFE9954-C4B4-5D93-8DC2-5C8CEC2E612C}"/>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a:extLst>
              <a:ext uri="{FF2B5EF4-FFF2-40B4-BE49-F238E27FC236}">
                <a16:creationId xmlns:a16="http://schemas.microsoft.com/office/drawing/2014/main" id="{63B2FB97-A75F-7041-C69F-4F94FB1A06AD}"/>
              </a:ext>
            </a:extLst>
          </p:cNvPr>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12</a:t>
            </a:r>
            <a:endParaRPr sz="500" b="0" i="0" u="none" strike="noStrike" cap="none" dirty="0">
              <a:solidFill>
                <a:schemeClr val="dk1"/>
              </a:solidFill>
              <a:latin typeface="Calibri"/>
              <a:ea typeface="Calibri"/>
              <a:cs typeface="Calibri"/>
              <a:sym typeface="Calibri"/>
            </a:endParaRPr>
          </a:p>
        </p:txBody>
      </p:sp>
      <p:sp>
        <p:nvSpPr>
          <p:cNvPr id="251" name="Google Shape;251;p9">
            <a:extLst>
              <a:ext uri="{FF2B5EF4-FFF2-40B4-BE49-F238E27FC236}">
                <a16:creationId xmlns:a16="http://schemas.microsoft.com/office/drawing/2014/main" id="{9D83A146-9717-BEFE-AFEF-190F61330E4C}"/>
              </a:ext>
            </a:extLst>
          </p:cNvPr>
          <p:cNvSpPr/>
          <p:nvPr/>
        </p:nvSpPr>
        <p:spPr>
          <a:xfrm>
            <a:off x="406301" y="609599"/>
            <a:ext cx="8498100" cy="304795"/>
          </a:xfrm>
          <a:prstGeom prst="rect">
            <a:avLst/>
          </a:prstGeom>
          <a:noFill/>
          <a:ln>
            <a:noFill/>
          </a:ln>
        </p:spPr>
        <p:txBody>
          <a:bodyPr spcFirstLastPara="1" wrap="square" lIns="0" tIns="0" rIns="0" bIns="0" anchor="t" anchorCtr="0">
            <a:noAutofit/>
          </a:bodyPr>
          <a:lstStyle/>
          <a:p>
            <a:pPr lvl="0">
              <a:buClr>
                <a:srgbClr val="777777"/>
              </a:buClr>
              <a:buSzPts val="1000"/>
            </a:pP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拡張性は</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Databricks</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が最も充実（</a:t>
            </a:r>
            <a:r>
              <a:rPr lang="en" altLang="ja-JP" sz="1000" b="1" dirty="0" err="1">
                <a:solidFill>
                  <a:schemeClr val="tx1"/>
                </a:solidFill>
                <a:latin typeface="游ゴシック" panose="020B0400000000000000" pitchFamily="50" charset="-128"/>
                <a:ea typeface="游ゴシック" panose="020B0400000000000000" pitchFamily="50" charset="-128"/>
                <a:cs typeface="Century Gothic"/>
                <a:sym typeface="Century Gothic"/>
              </a:rPr>
              <a:t>MLflow</a:t>
            </a:r>
            <a:r>
              <a:rPr lang="ja-JP" altLang="en" sz="1000" b="1">
                <a:solidFill>
                  <a:schemeClr val="tx1"/>
                </a:solidFill>
                <a:latin typeface="游ゴシック" panose="020B0400000000000000" pitchFamily="50" charset="-128"/>
                <a:ea typeface="游ゴシック" panose="020B0400000000000000" pitchFamily="50" charset="-128"/>
                <a:cs typeface="Century Gothic"/>
                <a:sym typeface="Century Gothic"/>
              </a:rPr>
              <a:t>・</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AI/BI Genie</a:t>
            </a:r>
            <a:r>
              <a:rPr lang="ja-JP" altLang="en" sz="1000" b="1">
                <a:solidFill>
                  <a:schemeClr val="tx1"/>
                </a:solidFill>
                <a:latin typeface="游ゴシック" panose="020B0400000000000000" pitchFamily="50" charset="-128"/>
                <a:ea typeface="游ゴシック" panose="020B0400000000000000" pitchFamily="50" charset="-128"/>
                <a:cs typeface="Century Gothic"/>
                <a:sym typeface="Century Gothic"/>
              </a:rPr>
              <a:t>・</a:t>
            </a:r>
            <a:r>
              <a:rPr lang="en" altLang="ja-JP" sz="1000" b="1" dirty="0">
                <a:solidFill>
                  <a:schemeClr val="tx1"/>
                </a:solidFill>
                <a:latin typeface="游ゴシック" panose="020B0400000000000000" pitchFamily="50" charset="-128"/>
                <a:ea typeface="游ゴシック" panose="020B0400000000000000" pitchFamily="50" charset="-128"/>
                <a:cs typeface="Century Gothic"/>
                <a:sym typeface="Century Gothic"/>
              </a:rPr>
              <a:t>Vector Search</a:t>
            </a:r>
            <a:r>
              <a:rPr lang="ja-JP" altLang="en-US" sz="1000" b="1">
                <a:solidFill>
                  <a:schemeClr val="tx1"/>
                </a:solidFill>
                <a:latin typeface="游ゴシック" panose="020B0400000000000000" pitchFamily="50" charset="-128"/>
                <a:ea typeface="游ゴシック" panose="020B0400000000000000" pitchFamily="50" charset="-128"/>
                <a:cs typeface="Century Gothic"/>
                <a:sym typeface="Century Gothic"/>
              </a:rPr>
              <a:t>統合）</a:t>
            </a:r>
            <a:endParaRPr lang="ja-JP" altLang="en-US" sz="1000" b="1" dirty="0">
              <a:solidFill>
                <a:schemeClr val="tx1"/>
              </a:solidFill>
              <a:latin typeface="游ゴシック" panose="020B0400000000000000" pitchFamily="50" charset="-128"/>
              <a:ea typeface="游ゴシック" panose="020B0400000000000000" pitchFamily="50" charset="-128"/>
            </a:endParaRPr>
          </a:p>
        </p:txBody>
      </p:sp>
      <p:graphicFrame>
        <p:nvGraphicFramePr>
          <p:cNvPr id="252" name="Google Shape;252;p9">
            <a:extLst>
              <a:ext uri="{FF2B5EF4-FFF2-40B4-BE49-F238E27FC236}">
                <a16:creationId xmlns:a16="http://schemas.microsoft.com/office/drawing/2014/main" id="{F58405B5-1FCF-504D-5368-5B1E6F880726}"/>
              </a:ext>
            </a:extLst>
          </p:cNvPr>
          <p:cNvGraphicFramePr/>
          <p:nvPr>
            <p:extLst>
              <p:ext uri="{D42A27DB-BD31-4B8C-83A1-F6EECF244321}">
                <p14:modId xmlns:p14="http://schemas.microsoft.com/office/powerpoint/2010/main" val="1176737204"/>
              </p:ext>
            </p:extLst>
          </p:nvPr>
        </p:nvGraphicFramePr>
        <p:xfrm>
          <a:off x="405798" y="925286"/>
          <a:ext cx="8343864" cy="3866331"/>
        </p:xfrm>
        <a:graphic>
          <a:graphicData uri="http://schemas.openxmlformats.org/drawingml/2006/table">
            <a:tbl>
              <a:tblPr firstRow="1" bandRow="1">
                <a:noFill/>
                <a:tableStyleId>{831F8A93-CA79-4AF6-B420-68E9A51CCC31}</a:tableStyleId>
              </a:tblPr>
              <a:tblGrid>
                <a:gridCol w="1066381">
                  <a:extLst>
                    <a:ext uri="{9D8B030D-6E8A-4147-A177-3AD203B41FA5}">
                      <a16:colId xmlns:a16="http://schemas.microsoft.com/office/drawing/2014/main" val="20001"/>
                    </a:ext>
                  </a:extLst>
                </a:gridCol>
                <a:gridCol w="2554307">
                  <a:extLst>
                    <a:ext uri="{9D8B030D-6E8A-4147-A177-3AD203B41FA5}">
                      <a16:colId xmlns:a16="http://schemas.microsoft.com/office/drawing/2014/main" val="20002"/>
                    </a:ext>
                  </a:extLst>
                </a:gridCol>
                <a:gridCol w="2554307">
                  <a:extLst>
                    <a:ext uri="{9D8B030D-6E8A-4147-A177-3AD203B41FA5}">
                      <a16:colId xmlns:a16="http://schemas.microsoft.com/office/drawing/2014/main" val="20003"/>
                    </a:ext>
                  </a:extLst>
                </a:gridCol>
                <a:gridCol w="2168869">
                  <a:extLst>
                    <a:ext uri="{9D8B030D-6E8A-4147-A177-3AD203B41FA5}">
                      <a16:colId xmlns:a16="http://schemas.microsoft.com/office/drawing/2014/main" val="20004"/>
                    </a:ext>
                  </a:extLst>
                </a:gridCol>
              </a:tblGrid>
              <a:tr h="200322">
                <a:tc>
                  <a:txBody>
                    <a:bodyPr/>
                    <a:lstStyle/>
                    <a:p>
                      <a:pPr algn="ctr">
                        <a:lnSpc>
                          <a:spcPct val="105000"/>
                        </a:lnSpc>
                        <a:spcBef>
                          <a:spcPts val="0"/>
                        </a:spcBef>
                        <a:spcAft>
                          <a:spcPts val="0"/>
                        </a:spcAft>
                        <a:buNone/>
                      </a:pPr>
                      <a:r>
                        <a:rPr lang="ja" sz="1200" b="1" dirty="0">
                          <a:solidFill>
                            <a:srgbClr val="FFFFFF"/>
                          </a:solidFill>
                          <a:latin typeface="游ゴシック" panose="020B0400000000000000" pitchFamily="50" charset="-128"/>
                          <a:ea typeface="游ゴシック" panose="020B0400000000000000" pitchFamily="50" charset="-128"/>
                        </a:rPr>
                        <a:t>評価観点</a:t>
                      </a:r>
                    </a:p>
                  </a:txBody>
                  <a:tcPr marL="45700" marR="45700" marT="18300" marB="18300" anchor="ctr">
                    <a:solidFill>
                      <a:srgbClr val="2C3E50"/>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Databricks</a:t>
                      </a:r>
                    </a:p>
                  </a:txBody>
                  <a:tcPr marL="45700" marR="45700" marT="18300" marB="18300" anchor="ctr">
                    <a:solidFill>
                      <a:schemeClr val="bg2">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Snowflake</a:t>
                      </a:r>
                    </a:p>
                  </a:txBody>
                  <a:tcPr marL="45700" marR="45700" marT="18300" marB="18300" anchor="ctr">
                    <a:solidFill>
                      <a:schemeClr val="accent5">
                        <a:lumMod val="20000"/>
                        <a:lumOff val="80000"/>
                      </a:schemeClr>
                    </a:solidFill>
                  </a:tcPr>
                </a:tc>
                <a:tc>
                  <a:txBody>
                    <a:bodyPr/>
                    <a:lstStyle/>
                    <a:p>
                      <a:pPr algn="ctr">
                        <a:lnSpc>
                          <a:spcPct val="105000"/>
                        </a:lnSpc>
                        <a:spcBef>
                          <a:spcPts val="0"/>
                        </a:spcBef>
                        <a:spcAft>
                          <a:spcPts val="0"/>
                        </a:spcAft>
                        <a:buNone/>
                      </a:pPr>
                      <a:r>
                        <a:rPr lang="ja" sz="1200" b="1" dirty="0">
                          <a:solidFill>
                            <a:schemeClr val="tx1"/>
                          </a:solidFill>
                          <a:latin typeface="游ゴシック" panose="020B0400000000000000" pitchFamily="50" charset="-128"/>
                          <a:ea typeface="游ゴシック" panose="020B0400000000000000" pitchFamily="50" charset="-128"/>
                        </a:rPr>
                        <a:t>AWS Native</a:t>
                      </a:r>
                    </a:p>
                  </a:txBody>
                  <a:tcPr marL="45700" marR="45700" marT="18300" marB="18300" anchor="ctr">
                    <a:solidFill>
                      <a:schemeClr val="accent2">
                        <a:lumMod val="20000"/>
                        <a:lumOff val="80000"/>
                      </a:schemeClr>
                    </a:solidFill>
                  </a:tcPr>
                </a:tc>
                <a:extLst>
                  <a:ext uri="{0D108BD9-81ED-4DB2-BD59-A6C34878D82A}">
                    <a16:rowId xmlns:a16="http://schemas.microsoft.com/office/drawing/2014/main" val="10000"/>
                  </a:ext>
                </a:extLst>
              </a:tr>
              <a:tr h="1287951">
                <a:tc>
                  <a:txBody>
                    <a:bodyPr/>
                    <a:lstStyle/>
                    <a:p>
                      <a:pPr>
                        <a:buNone/>
                      </a:pPr>
                      <a:r>
                        <a:rPr lang="ja-JP" altLang="en-US" sz="1000" b="1">
                          <a:effectLst/>
                        </a:rPr>
                        <a:t>オープン性</a:t>
                      </a:r>
                      <a:endParaRPr lang="ja-JP" altLang="en-US" sz="1000">
                        <a:effectLst/>
                      </a:endParaRPr>
                    </a:p>
                  </a:txBody>
                  <a:tcPr marL="95250" marR="95250" marT="47625" marB="47625" anchor="ctr">
                    <a:no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ja-JP" altLang="en-US" sz="1000" b="1">
                          <a:solidFill>
                            <a:srgbClr val="1565C0"/>
                          </a:solidFill>
                          <a:effectLst/>
                        </a:rPr>
                        <a:t>◎ </a:t>
                      </a:r>
                      <a:r>
                        <a:rPr lang="en" altLang="ja-JP" sz="1000" b="1" dirty="0">
                          <a:solidFill>
                            <a:srgbClr val="1565C0"/>
                          </a:solidFill>
                          <a:effectLst/>
                        </a:rPr>
                        <a:t>Delta Lake </a:t>
                      </a:r>
                      <a:r>
                        <a:rPr lang="ja-JP" altLang="en-US" sz="1000" b="1">
                          <a:solidFill>
                            <a:srgbClr val="1565C0"/>
                          </a:solidFill>
                          <a:effectLst/>
                        </a:rPr>
                        <a:t>を中核に、</a:t>
                      </a:r>
                      <a:r>
                        <a:rPr lang="en" altLang="ja-JP" sz="1000" b="1" dirty="0">
                          <a:solidFill>
                            <a:srgbClr val="1565C0"/>
                          </a:solidFill>
                          <a:effectLst/>
                        </a:rPr>
                        <a:t>Iceberg reads for Delta tables</a:t>
                      </a:r>
                      <a:r>
                        <a:rPr lang="ja-JP" altLang="en" sz="1000" b="1">
                          <a:solidFill>
                            <a:srgbClr val="1565C0"/>
                          </a:solidFill>
                          <a:effectLst/>
                        </a:rPr>
                        <a:t>（</a:t>
                      </a:r>
                      <a:r>
                        <a:rPr lang="ja-JP" altLang="en-US" sz="1000" b="1">
                          <a:solidFill>
                            <a:srgbClr val="1565C0"/>
                          </a:solidFill>
                          <a:effectLst/>
                        </a:rPr>
                        <a:t>旧 </a:t>
                      </a:r>
                      <a:r>
                        <a:rPr lang="en" altLang="ja-JP" sz="1000" b="1" dirty="0" err="1">
                          <a:solidFill>
                            <a:srgbClr val="1565C0"/>
                          </a:solidFill>
                          <a:effectLst/>
                        </a:rPr>
                        <a:t>UniForm</a:t>
                      </a:r>
                      <a:r>
                        <a:rPr lang="ja-JP" altLang="en" sz="1000" b="1">
                          <a:solidFill>
                            <a:srgbClr val="1565C0"/>
                          </a:solidFill>
                          <a:effectLst/>
                        </a:rPr>
                        <a:t>）</a:t>
                      </a:r>
                      <a:r>
                        <a:rPr lang="ja-JP" altLang="en-US" sz="1000" b="1">
                          <a:solidFill>
                            <a:srgbClr val="1565C0"/>
                          </a:solidFill>
                          <a:effectLst/>
                        </a:rPr>
                        <a:t>により外部 </a:t>
                      </a:r>
                      <a:r>
                        <a:rPr lang="en" altLang="ja-JP" sz="1000" b="1" dirty="0">
                          <a:solidFill>
                            <a:srgbClr val="1565C0"/>
                          </a:solidFill>
                          <a:effectLst/>
                        </a:rPr>
                        <a:t>Iceberg </a:t>
                      </a:r>
                      <a:r>
                        <a:rPr lang="ja-JP" altLang="en-US" sz="1000" b="1">
                          <a:solidFill>
                            <a:srgbClr val="1565C0"/>
                          </a:solidFill>
                          <a:effectLst/>
                        </a:rPr>
                        <a:t>クライアントからの読取り連携が可能。</a:t>
                      </a:r>
                      <a:r>
                        <a:rPr lang="en" altLang="ja-JP" sz="1000" b="1" dirty="0">
                          <a:solidFill>
                            <a:srgbClr val="1565C0"/>
                          </a:solidFill>
                          <a:effectLst/>
                        </a:rPr>
                        <a:t>Unity Catalog </a:t>
                      </a:r>
                      <a:r>
                        <a:rPr lang="ja-JP" altLang="en-US" sz="1000" b="1">
                          <a:solidFill>
                            <a:srgbClr val="1565C0"/>
                          </a:solidFill>
                          <a:effectLst/>
                        </a:rPr>
                        <a:t>管理テーブルは </a:t>
                      </a:r>
                      <a:r>
                        <a:rPr lang="en" altLang="ja-JP" sz="1000" b="1" dirty="0">
                          <a:solidFill>
                            <a:srgbClr val="1565C0"/>
                          </a:solidFill>
                          <a:effectLst/>
                        </a:rPr>
                        <a:t>delta / iceberg </a:t>
                      </a:r>
                      <a:r>
                        <a:rPr lang="ja-JP" altLang="en-US" sz="1000" b="1">
                          <a:solidFill>
                            <a:srgbClr val="1565C0"/>
                          </a:solidFill>
                          <a:effectLst/>
                        </a:rPr>
                        <a:t>を利用可能。</a:t>
                      </a:r>
                      <a:endParaRPr lang="ja-JP" altLang="en-US" sz="1000">
                        <a:solidFill>
                          <a:srgbClr val="1565C0"/>
                        </a:solidFill>
                        <a:effectLst/>
                      </a:endParaRPr>
                    </a:p>
                  </a:txBody>
                  <a:tcPr marL="95250" marR="95250" marT="47625" marB="47625" anchor="ctr">
                    <a:no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ja-JP" sz="1000" dirty="0">
                          <a:solidFill>
                            <a:srgbClr val="1565C0"/>
                          </a:solidFill>
                          <a:effectLst/>
                        </a:rPr>
                        <a:t>◎ </a:t>
                      </a:r>
                      <a:r>
                        <a:rPr lang="ja-JP" altLang="en-US" sz="1000">
                          <a:solidFill>
                            <a:srgbClr val="1565C0"/>
                          </a:solidFill>
                          <a:effectLst/>
                        </a:rPr>
                        <a:t>標準テーブルは </a:t>
                      </a:r>
                      <a:r>
                        <a:rPr lang="en-US" altLang="ja-JP" sz="1000" dirty="0">
                          <a:solidFill>
                            <a:srgbClr val="1565C0"/>
                          </a:solidFill>
                          <a:effectLst/>
                        </a:rPr>
                        <a:t>Snowflake </a:t>
                      </a:r>
                      <a:r>
                        <a:rPr lang="ja-JP" altLang="en-US" sz="1000">
                          <a:solidFill>
                            <a:srgbClr val="1565C0"/>
                          </a:solidFill>
                          <a:effectLst/>
                        </a:rPr>
                        <a:t>管理形式だが、</a:t>
                      </a:r>
                      <a:r>
                        <a:rPr lang="en-US" altLang="ja-JP" sz="1000" dirty="0">
                          <a:solidFill>
                            <a:srgbClr val="1565C0"/>
                          </a:solidFill>
                          <a:effectLst/>
                        </a:rPr>
                        <a:t>Iceberg </a:t>
                      </a:r>
                      <a:r>
                        <a:rPr lang="ja-JP" altLang="en-US" sz="1000">
                          <a:solidFill>
                            <a:srgbClr val="1565C0"/>
                          </a:solidFill>
                          <a:effectLst/>
                        </a:rPr>
                        <a:t>と </a:t>
                      </a:r>
                      <a:r>
                        <a:rPr lang="en-US" altLang="ja-JP" sz="1000" dirty="0">
                          <a:solidFill>
                            <a:srgbClr val="1565C0"/>
                          </a:solidFill>
                          <a:effectLst/>
                        </a:rPr>
                        <a:t>Horizon </a:t>
                      </a:r>
                      <a:r>
                        <a:rPr lang="ja-JP" altLang="en-US" sz="1000">
                          <a:solidFill>
                            <a:srgbClr val="1565C0"/>
                          </a:solidFill>
                          <a:effectLst/>
                        </a:rPr>
                        <a:t>により </a:t>
                      </a:r>
                      <a:r>
                        <a:rPr lang="en-US" altLang="ja-JP" sz="1000" dirty="0">
                          <a:solidFill>
                            <a:srgbClr val="1565C0"/>
                          </a:solidFill>
                          <a:effectLst/>
                        </a:rPr>
                        <a:t>multi-engine / multi-format </a:t>
                      </a:r>
                      <a:r>
                        <a:rPr lang="ja-JP" altLang="en-US" sz="1000">
                          <a:solidFill>
                            <a:srgbClr val="1565C0"/>
                          </a:solidFill>
                          <a:effectLst/>
                        </a:rPr>
                        <a:t>の整理が可能</a:t>
                      </a:r>
                    </a:p>
                  </a:txBody>
                  <a:tcPr marL="95250" marR="95250" marT="47625" marB="47625" anchor="ctr">
                    <a:noFill/>
                  </a:tcPr>
                </a:tc>
                <a:tc>
                  <a:txBody>
                    <a:bodyPr/>
                    <a:lstStyle/>
                    <a:p>
                      <a:pPr>
                        <a:buNone/>
                      </a:pPr>
                      <a:r>
                        <a:rPr lang="en" sz="1000" dirty="0">
                          <a:solidFill>
                            <a:srgbClr val="3A7D44"/>
                          </a:solidFill>
                          <a:effectLst/>
                        </a:rPr>
                        <a:t>○ S3</a:t>
                      </a:r>
                      <a:r>
                        <a:rPr lang="ja-JP" altLang="en-US" sz="1000" dirty="0">
                          <a:solidFill>
                            <a:srgbClr val="3A7D44"/>
                          </a:solidFill>
                          <a:effectLst/>
                        </a:rPr>
                        <a:t>上にオープン形式で保持。データの所有権は明確</a:t>
                      </a:r>
                    </a:p>
                  </a:txBody>
                  <a:tcPr marL="95250" marR="95250" marT="47625" marB="47625" anchor="ctr">
                    <a:noFill/>
                  </a:tcPr>
                </a:tc>
                <a:extLst>
                  <a:ext uri="{0D108BD9-81ED-4DB2-BD59-A6C34878D82A}">
                    <a16:rowId xmlns:a16="http://schemas.microsoft.com/office/drawing/2014/main" val="10001"/>
                  </a:ext>
                </a:extLst>
              </a:tr>
              <a:tr h="2355344">
                <a:tc>
                  <a:txBody>
                    <a:bodyPr/>
                    <a:lstStyle/>
                    <a:p>
                      <a:pPr>
                        <a:buNone/>
                      </a:pPr>
                      <a:r>
                        <a:rPr lang="en" sz="1000" b="1">
                          <a:effectLst/>
                        </a:rPr>
                        <a:t>AI</a:t>
                      </a:r>
                      <a:r>
                        <a:rPr lang="ja-JP" altLang="en-US" sz="1000" b="1">
                          <a:effectLst/>
                        </a:rPr>
                        <a:t>拡張性</a:t>
                      </a:r>
                      <a:endParaRPr lang="ja-JP" altLang="en-US" sz="1000">
                        <a:effectLst/>
                      </a:endParaRPr>
                    </a:p>
                  </a:txBody>
                  <a:tcPr marL="95250" marR="95250" marT="47625" marB="47625" anchor="ctr">
                    <a:noFill/>
                  </a:tcPr>
                </a:tc>
                <a:tc>
                  <a:txBody>
                    <a:bodyPr/>
                    <a:lstStyle/>
                    <a:p>
                      <a:pPr>
                        <a:buNone/>
                      </a:pPr>
                      <a:r>
                        <a:rPr lang="en" sz="1000" b="1">
                          <a:solidFill>
                            <a:srgbClr val="1565C0"/>
                          </a:solidFill>
                          <a:effectLst/>
                        </a:rPr>
                        <a:t>◎ AI</a:t>
                      </a:r>
                      <a:r>
                        <a:rPr lang="ja-JP" altLang="en-US" sz="1000" b="1">
                          <a:solidFill>
                            <a:srgbClr val="1565C0"/>
                          </a:solidFill>
                          <a:effectLst/>
                        </a:rPr>
                        <a:t>関連の機能が最も充実。</a:t>
                      </a:r>
                      <a:r>
                        <a:rPr lang="ja-JP" altLang="en-US" sz="1000">
                          <a:solidFill>
                            <a:srgbClr val="1565C0"/>
                          </a:solidFill>
                          <a:effectLst/>
                        </a:rPr>
                        <a:t> </a:t>
                      </a:r>
                      <a:r>
                        <a:rPr lang="en" sz="1000">
                          <a:solidFill>
                            <a:srgbClr val="1565C0"/>
                          </a:solidFill>
                          <a:effectLst/>
                        </a:rPr>
                        <a:t>ML</a:t>
                      </a:r>
                      <a:r>
                        <a:rPr lang="ja-JP" altLang="en-US" sz="1000">
                          <a:solidFill>
                            <a:srgbClr val="1565C0"/>
                          </a:solidFill>
                          <a:effectLst/>
                        </a:rPr>
                        <a:t>の実験管理（追加ライセンス不要）、自然言語でのデータ分析、非構造データの検索、</a:t>
                      </a:r>
                      <a:r>
                        <a:rPr lang="en" sz="1000">
                          <a:solidFill>
                            <a:srgbClr val="1565C0"/>
                          </a:solidFill>
                          <a:effectLst/>
                        </a:rPr>
                        <a:t>AI</a:t>
                      </a:r>
                      <a:r>
                        <a:rPr lang="ja-JP" altLang="en-US" sz="1000">
                          <a:solidFill>
                            <a:srgbClr val="1565C0"/>
                          </a:solidFill>
                          <a:effectLst/>
                        </a:rPr>
                        <a:t>資産のカタログ管理が全て</a:t>
                      </a:r>
                      <a:r>
                        <a:rPr lang="en-US" altLang="ja-JP" sz="1000">
                          <a:solidFill>
                            <a:srgbClr val="1565C0"/>
                          </a:solidFill>
                          <a:effectLst/>
                        </a:rPr>
                        <a:t>1</a:t>
                      </a:r>
                      <a:r>
                        <a:rPr lang="ja-JP" altLang="en-US" sz="1000">
                          <a:solidFill>
                            <a:srgbClr val="1565C0"/>
                          </a:solidFill>
                          <a:effectLst/>
                        </a:rPr>
                        <a:t>つの基盤に統合</a:t>
                      </a:r>
                    </a:p>
                  </a:txBody>
                  <a:tcPr marL="95250" marR="95250" marT="47625" marB="47625" anchor="ctr">
                    <a:noFill/>
                  </a:tcPr>
                </a:tc>
                <a:tc>
                  <a:txBody>
                    <a:bodyPr/>
                    <a:lstStyle/>
                    <a:p>
                      <a:pPr>
                        <a:buNone/>
                      </a:pPr>
                      <a:r>
                        <a:rPr lang="ja-JP" altLang="en-US" sz="1000">
                          <a:solidFill>
                            <a:srgbClr val="3A7D44"/>
                          </a:solidFill>
                          <a:effectLst/>
                        </a:rPr>
                        <a:t>○ 自然言語分析（</a:t>
                      </a:r>
                      <a:r>
                        <a:rPr lang="en" sz="1000" dirty="0">
                          <a:solidFill>
                            <a:srgbClr val="3A7D44"/>
                          </a:solidFill>
                          <a:effectLst/>
                        </a:rPr>
                        <a:t>Cortex Analyst）</a:t>
                      </a:r>
                      <a:r>
                        <a:rPr lang="ja-JP" altLang="en-US" sz="1000">
                          <a:solidFill>
                            <a:srgbClr val="3A7D44"/>
                          </a:solidFill>
                          <a:effectLst/>
                        </a:rPr>
                        <a:t>と</a:t>
                      </a:r>
                      <a:r>
                        <a:rPr lang="en" sz="1000" dirty="0">
                          <a:solidFill>
                            <a:srgbClr val="3A7D44"/>
                          </a:solidFill>
                          <a:effectLst/>
                        </a:rPr>
                        <a:t>KPI</a:t>
                      </a:r>
                      <a:r>
                        <a:rPr lang="ja-JP" altLang="en-US" sz="1000">
                          <a:solidFill>
                            <a:srgbClr val="3A7D44"/>
                          </a:solidFill>
                          <a:effectLst/>
                        </a:rPr>
                        <a:t>定義管理（</a:t>
                      </a:r>
                      <a:r>
                        <a:rPr lang="en" sz="1000" dirty="0">
                          <a:solidFill>
                            <a:srgbClr val="3A7D44"/>
                          </a:solidFill>
                          <a:effectLst/>
                        </a:rPr>
                        <a:t>Semantic Views）</a:t>
                      </a:r>
                      <a:r>
                        <a:rPr lang="ja-JP" altLang="en-US" sz="1000">
                          <a:solidFill>
                            <a:srgbClr val="3A7D44"/>
                          </a:solidFill>
                          <a:effectLst/>
                        </a:rPr>
                        <a:t>は充実。</a:t>
                      </a:r>
                      <a:r>
                        <a:rPr lang="en" sz="1000" dirty="0">
                          <a:solidFill>
                            <a:srgbClr val="3A7D44"/>
                          </a:solidFill>
                          <a:effectLst/>
                        </a:rPr>
                        <a:t>ML</a:t>
                      </a:r>
                      <a:r>
                        <a:rPr lang="ja-JP" altLang="en-US" sz="1000">
                          <a:solidFill>
                            <a:srgbClr val="3A7D44"/>
                          </a:solidFill>
                          <a:effectLst/>
                        </a:rPr>
                        <a:t>実験管理は限定的で、本格</a:t>
                      </a:r>
                      <a:r>
                        <a:rPr lang="en" sz="1000" dirty="0">
                          <a:solidFill>
                            <a:srgbClr val="3A7D44"/>
                          </a:solidFill>
                          <a:effectLst/>
                        </a:rPr>
                        <a:t>ML</a:t>
                      </a:r>
                      <a:r>
                        <a:rPr lang="ja-JP" altLang="en-US" sz="1000">
                          <a:solidFill>
                            <a:srgbClr val="3A7D44"/>
                          </a:solidFill>
                          <a:effectLst/>
                        </a:rPr>
                        <a:t>には別基盤との併用が一般的。</a:t>
                      </a:r>
                    </a:p>
                  </a:txBody>
                  <a:tcPr marL="95250" marR="95250" marT="47625" marB="47625" anchor="ctr">
                    <a:noFill/>
                  </a:tcPr>
                </a:tc>
                <a:tc>
                  <a:txBody>
                    <a:bodyPr/>
                    <a:lstStyle/>
                    <a:p>
                      <a:pPr>
                        <a:buNone/>
                      </a:pPr>
                      <a:r>
                        <a:rPr lang="en" sz="1000" dirty="0">
                          <a:solidFill>
                            <a:srgbClr val="B8860B"/>
                          </a:solidFill>
                          <a:effectLst/>
                        </a:rPr>
                        <a:t>△ ML</a:t>
                      </a:r>
                      <a:r>
                        <a:rPr lang="ja-JP" altLang="en-US" sz="1000" dirty="0">
                          <a:solidFill>
                            <a:srgbClr val="B8860B"/>
                          </a:solidFill>
                          <a:effectLst/>
                        </a:rPr>
                        <a:t>や</a:t>
                      </a:r>
                      <a:r>
                        <a:rPr lang="en" sz="1000" dirty="0">
                          <a:solidFill>
                            <a:srgbClr val="B8860B"/>
                          </a:solidFill>
                          <a:effectLst/>
                        </a:rPr>
                        <a:t>AI</a:t>
                      </a:r>
                      <a:r>
                        <a:rPr lang="ja-JP" altLang="en-US" sz="1000" dirty="0">
                          <a:solidFill>
                            <a:srgbClr val="B8860B"/>
                          </a:solidFill>
                          <a:effectLst/>
                        </a:rPr>
                        <a:t>は別サービス（</a:t>
                      </a:r>
                      <a:r>
                        <a:rPr lang="en" sz="1000" dirty="0">
                          <a:solidFill>
                            <a:srgbClr val="B8860B"/>
                          </a:solidFill>
                          <a:effectLst/>
                        </a:rPr>
                        <a:t>SageMaker</a:t>
                      </a:r>
                      <a:r>
                        <a:rPr lang="ja-JP" altLang="en-US" sz="1000" dirty="0">
                          <a:solidFill>
                            <a:srgbClr val="B8860B"/>
                          </a:solidFill>
                          <a:effectLst/>
                        </a:rPr>
                        <a:t>等）で追加のコスト・学習が必要。</a:t>
                      </a:r>
                      <a:r>
                        <a:rPr lang="en" sz="1000" dirty="0">
                          <a:solidFill>
                            <a:srgbClr val="B8860B"/>
                          </a:solidFill>
                          <a:effectLst/>
                        </a:rPr>
                        <a:t>LLM</a:t>
                      </a:r>
                      <a:r>
                        <a:rPr lang="ja-JP" altLang="en-US" sz="1000" dirty="0">
                          <a:solidFill>
                            <a:srgbClr val="B8860B"/>
                          </a:solidFill>
                          <a:effectLst/>
                        </a:rPr>
                        <a:t>連携（</a:t>
                      </a:r>
                      <a:r>
                        <a:rPr lang="en" sz="1000" dirty="0">
                          <a:solidFill>
                            <a:srgbClr val="B8860B"/>
                          </a:solidFill>
                          <a:effectLst/>
                        </a:rPr>
                        <a:t>Bedrock）</a:t>
                      </a:r>
                      <a:r>
                        <a:rPr lang="ja-JP" altLang="en-US" sz="1000" dirty="0">
                          <a:solidFill>
                            <a:srgbClr val="B8860B"/>
                          </a:solidFill>
                          <a:effectLst/>
                        </a:rPr>
                        <a:t>は充実しているが</a:t>
                      </a:r>
                      <a:r>
                        <a:rPr lang="en-US" altLang="ja-JP" sz="1000" dirty="0">
                          <a:solidFill>
                            <a:srgbClr val="B8860B"/>
                          </a:solidFill>
                          <a:effectLst/>
                        </a:rPr>
                        <a:t>1</a:t>
                      </a:r>
                      <a:r>
                        <a:rPr lang="ja-JP" altLang="en-US" sz="1000" dirty="0">
                          <a:solidFill>
                            <a:srgbClr val="B8860B"/>
                          </a:solidFill>
                          <a:effectLst/>
                        </a:rPr>
                        <a:t>つの画面で完結しない</a:t>
                      </a:r>
                    </a:p>
                  </a:txBody>
                  <a:tcPr marL="95250" marR="95250" marT="47625" marB="47625" anchor="c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47772956"/>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sp>
        <p:nvSpPr>
          <p:cNvPr id="259" name="Google Shape;259;p10"/>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2.4 </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RFI</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回答の評価まとめ</a:t>
            </a:r>
            <a:endParaRPr sz="1800" b="0" i="0" u="none" strike="noStrike" cap="none" dirty="0">
              <a:solidFill>
                <a:schemeClr val="dk1"/>
              </a:solidFill>
              <a:latin typeface="Calibri"/>
              <a:ea typeface="Calibri"/>
              <a:cs typeface="Calibri"/>
              <a:sym typeface="Calibri"/>
            </a:endParaRPr>
          </a:p>
        </p:txBody>
      </p:sp>
      <p:sp>
        <p:nvSpPr>
          <p:cNvPr id="260" name="Google Shape;260;p10"/>
          <p:cNvSpPr/>
          <p:nvPr/>
        </p:nvSpPr>
        <p:spPr>
          <a:xfrm>
            <a:off x="406301" y="575733"/>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ja" sz="1000" dirty="0">
                <a:solidFill>
                  <a:schemeClr val="tx1"/>
                </a:solidFill>
                <a:latin typeface="游ゴシック" panose="020B0400000000000000" pitchFamily="50" charset="-128"/>
                <a:ea typeface="游ゴシック" panose="020B0400000000000000" pitchFamily="50" charset="-128"/>
                <a:sym typeface="Arial"/>
              </a:rPr>
              <a:t>RFI時点では、Deloitte・Fujitsuが技術面で有力。</a:t>
            </a:r>
            <a:r>
              <a:rPr lang="ja-JP" altLang="en-US" sz="1000" dirty="0">
                <a:solidFill>
                  <a:schemeClr val="tx1"/>
                </a:solidFill>
                <a:latin typeface="游ゴシック" panose="020B0400000000000000" pitchFamily="50" charset="-128"/>
                <a:ea typeface="游ゴシック" panose="020B0400000000000000" pitchFamily="50" charset="-128"/>
                <a:sym typeface="Arial"/>
              </a:rPr>
              <a:t>ただし、各社ならではの強みがあるので、最終判断はコスト・体制・実装力など総合的に判断</a:t>
            </a:r>
            <a:endParaRPr lang="en-US" altLang="ja-JP" sz="1000" dirty="0">
              <a:solidFill>
                <a:schemeClr val="tx1"/>
              </a:solidFill>
              <a:latin typeface="游ゴシック" panose="020B0400000000000000" pitchFamily="50" charset="-128"/>
              <a:ea typeface="游ゴシック" panose="020B0400000000000000" pitchFamily="50" charset="-128"/>
              <a:sym typeface="Arial"/>
            </a:endParaRPr>
          </a:p>
        </p:txBody>
      </p:sp>
      <p:cxnSp>
        <p:nvCxnSpPr>
          <p:cNvPr id="261" name="Google Shape;261;p10"/>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62" name="Google Shape;262;p10"/>
          <p:cNvSpPr/>
          <p:nvPr/>
        </p:nvSpPr>
        <p:spPr>
          <a:xfrm>
            <a:off x="396596" y="4930825"/>
            <a:ext cx="2135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63" name="Google Shape;263;p10"/>
          <p:cNvSpPr/>
          <p:nvPr/>
        </p:nvSpPr>
        <p:spPr>
          <a:xfrm>
            <a:off x="8030434" y="4930825"/>
            <a:ext cx="82136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13</a:t>
            </a:r>
            <a:endParaRPr sz="500" b="0" i="0" u="none" strike="noStrike" cap="none" dirty="0">
              <a:solidFill>
                <a:schemeClr val="dk1"/>
              </a:solidFill>
              <a:latin typeface="Calibri"/>
              <a:ea typeface="Calibri"/>
              <a:cs typeface="Calibri"/>
              <a:sym typeface="Calibri"/>
            </a:endParaRPr>
          </a:p>
        </p:txBody>
      </p:sp>
      <p:graphicFrame>
        <p:nvGraphicFramePr>
          <p:cNvPr id="264" name="Google Shape;264;p10"/>
          <p:cNvGraphicFramePr/>
          <p:nvPr>
            <p:extLst>
              <p:ext uri="{D42A27DB-BD31-4B8C-83A1-F6EECF244321}">
                <p14:modId xmlns:p14="http://schemas.microsoft.com/office/powerpoint/2010/main" val="2648134483"/>
              </p:ext>
            </p:extLst>
          </p:nvPr>
        </p:nvGraphicFramePr>
        <p:xfrm>
          <a:off x="228600" y="939800"/>
          <a:ext cx="8763000" cy="3929253"/>
        </p:xfrm>
        <a:graphic>
          <a:graphicData uri="http://schemas.openxmlformats.org/drawingml/2006/table">
            <a:tbl>
              <a:tblPr firstRow="1" bandRow="1"/>
              <a:tblGrid>
                <a:gridCol w="571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540000">
                  <a:extLst>
                    <a:ext uri="{9D8B030D-6E8A-4147-A177-3AD203B41FA5}">
                      <a16:colId xmlns:a16="http://schemas.microsoft.com/office/drawing/2014/main" val="20004"/>
                    </a:ext>
                  </a:extLst>
                </a:gridCol>
              </a:tblGrid>
              <a:tr h="254000">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会社</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評価</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この会社ならではの定性的な強み</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なぜRFPに残すのか</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懸念・RFPで確認すること</a:t>
                      </a:r>
                    </a:p>
                  </a:txBody>
                  <a:tcPr marL="27000" marR="27000" marT="12700" marB="12700" anchor="ctr">
                    <a:solidFill>
                      <a:srgbClr val="333333"/>
                    </a:solidFill>
                  </a:tcPr>
                </a:tc>
                <a:extLst>
                  <a:ext uri="{0D108BD9-81ED-4DB2-BD59-A6C34878D82A}">
                    <a16:rowId xmlns:a16="http://schemas.microsoft.com/office/drawing/2014/main" val="10000"/>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Deloitte</a:t>
                      </a:r>
                    </a:p>
                  </a:txBody>
                  <a:tcPr marL="27000" marR="27000" marT="12700" marB="12700">
                    <a:noFill/>
                  </a:tcPr>
                </a:tc>
                <a:tc>
                  <a:txBody>
                    <a:bodyPr/>
                    <a:lstStyle/>
                    <a:p>
                      <a:pPr algn="ctr">
                        <a:lnSpc>
                          <a:spcPct val="115000"/>
                        </a:lnSpc>
                        <a:spcBef>
                          <a:spcPts val="0"/>
                        </a:spcBef>
                        <a:spcAft>
                          <a:spcPts val="0"/>
                        </a:spcAft>
                      </a:pPr>
                      <a:r>
                        <a:rPr lang="ja" sz="1000" b="1" dirty="0">
                          <a:solidFill>
                            <a:srgbClr val="3A7D44"/>
                          </a:solidFill>
                          <a:latin typeface="游ゴシック" panose="020B0400000000000000" pitchFamily="50" charset="-128"/>
                          <a:ea typeface="游ゴシック" panose="020B0400000000000000" pitchFamily="50" charset="-128"/>
                        </a:rPr>
                        <a:t>有力候補</a:t>
                      </a:r>
                    </a:p>
                  </a:txBody>
                  <a:tcPr marL="27000" marR="27000" marT="12700" marB="12700">
                    <a:noFill/>
                  </a:tcPr>
                </a:tc>
                <a:tc>
                  <a:txBody>
                    <a:bodyPr/>
                    <a:lstStyle/>
                    <a:p>
                      <a:pPr algn="l">
                        <a:lnSpc>
                          <a:spcPct val="115000"/>
                        </a:lnSpc>
                        <a:spcBef>
                          <a:spcPts val="0"/>
                        </a:spcBef>
                        <a:spcAft>
                          <a:spcPts val="0"/>
                        </a:spcAft>
                      </a:pPr>
                      <a:r>
                        <a:rPr lang="en" altLang="ja-JP" sz="900" b="0" i="0" dirty="0" err="1">
                          <a:effectLst/>
                        </a:rPr>
                        <a:t>PySpark</a:t>
                      </a:r>
                      <a:r>
                        <a:rPr lang="ja-JP" altLang="en-US" sz="900" b="0" i="0" dirty="0">
                          <a:effectLst/>
                        </a:rPr>
                        <a:t>互換性が高く移行計画も具体的。</a:t>
                      </a:r>
                      <a:endParaRPr lang="en-US" altLang="ja-JP" sz="900" b="0" i="0" dirty="0">
                        <a:effectLst/>
                      </a:endParaRPr>
                    </a:p>
                    <a:p>
                      <a:pPr algn="l">
                        <a:lnSpc>
                          <a:spcPct val="115000"/>
                        </a:lnSpc>
                        <a:spcBef>
                          <a:spcPts val="0"/>
                        </a:spcBef>
                        <a:spcAft>
                          <a:spcPts val="0"/>
                        </a:spcAft>
                      </a:pPr>
                      <a:r>
                        <a:rPr lang="en" altLang="ja-JP" sz="900" b="0" i="0" dirty="0">
                          <a:effectLst/>
                        </a:rPr>
                        <a:t>AI/ML</a:t>
                      </a:r>
                      <a:r>
                        <a:rPr lang="ja-JP" altLang="en-US" sz="900" b="0" i="0" dirty="0">
                          <a:effectLst/>
                        </a:rPr>
                        <a:t>含め技術面の具体性もある。</a:t>
                      </a:r>
                      <a:endParaRPr lang="en-US" altLang="ja-JP" sz="900" b="0" i="0" dirty="0">
                        <a:effectLst/>
                      </a:endParaRPr>
                    </a:p>
                    <a:p>
                      <a:pPr algn="l">
                        <a:lnSpc>
                          <a:spcPct val="115000"/>
                        </a:lnSpc>
                        <a:spcBef>
                          <a:spcPts val="0"/>
                        </a:spcBef>
                        <a:spcAft>
                          <a:spcPts val="0"/>
                        </a:spcAft>
                      </a:pPr>
                      <a:r>
                        <a:rPr lang="en" altLang="ja-JP" sz="900" b="0" i="0" dirty="0">
                          <a:effectLst/>
                        </a:rPr>
                        <a:t>SOMPO</a:t>
                      </a:r>
                      <a:r>
                        <a:rPr lang="ja-JP" altLang="en-US" sz="900" b="0" i="0" dirty="0">
                          <a:effectLst/>
                        </a:rPr>
                        <a:t>グループ</a:t>
                      </a:r>
                      <a:r>
                        <a:rPr lang="en-US" altLang="ja-JP" sz="900" b="0" i="0" dirty="0">
                          <a:effectLst/>
                        </a:rPr>
                        <a:t>12</a:t>
                      </a:r>
                      <a:r>
                        <a:rPr lang="ja-JP" altLang="en-US" sz="900" b="0" i="0" dirty="0">
                          <a:effectLst/>
                        </a:rPr>
                        <a:t>年以上の支援実績</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技術構成の包括性とコスト試算の具体性が最も高い</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日本側の運用体制の具体像。コスト試算の精緻化。内部チームへの移管計画</a:t>
                      </a:r>
                    </a:p>
                  </a:txBody>
                  <a:tcPr marL="27000" marR="27000" marT="12700" marB="12700">
                    <a:noFill/>
                  </a:tcPr>
                </a:tc>
                <a:extLst>
                  <a:ext uri="{0D108BD9-81ED-4DB2-BD59-A6C34878D82A}">
                    <a16:rowId xmlns:a16="http://schemas.microsoft.com/office/drawing/2014/main" val="10001"/>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Fujitsu</a:t>
                      </a:r>
                    </a:p>
                  </a:txBody>
                  <a:tcPr marL="27000" marR="27000" marT="12700" marB="12700">
                    <a:noFill/>
                  </a:tcPr>
                </a:tc>
                <a:tc>
                  <a:txBody>
                    <a:bodyPr/>
                    <a:lstStyle/>
                    <a:p>
                      <a:pPr algn="ctr">
                        <a:lnSpc>
                          <a:spcPct val="115000"/>
                        </a:lnSpc>
                        <a:spcBef>
                          <a:spcPts val="0"/>
                        </a:spcBef>
                        <a:spcAft>
                          <a:spcPts val="0"/>
                        </a:spcAft>
                      </a:pPr>
                      <a:r>
                        <a:rPr lang="ja" sz="1000" b="1" dirty="0">
                          <a:solidFill>
                            <a:srgbClr val="3A7D44"/>
                          </a:solidFill>
                          <a:latin typeface="游ゴシック" panose="020B0400000000000000" pitchFamily="50" charset="-128"/>
                          <a:ea typeface="游ゴシック" panose="020B0400000000000000" pitchFamily="50" charset="-128"/>
                        </a:rPr>
                        <a:t>有力候補</a:t>
                      </a:r>
                    </a:p>
                  </a:txBody>
                  <a:tcPr marL="27000" marR="27000" marT="12700" marB="12700">
                    <a:noFill/>
                  </a:tcPr>
                </a:tc>
                <a:tc>
                  <a:txBody>
                    <a:bodyPr/>
                    <a:lstStyle/>
                    <a:p>
                      <a:pPr algn="l">
                        <a:lnSpc>
                          <a:spcPct val="115000"/>
                        </a:lnSpc>
                        <a:spcBef>
                          <a:spcPts val="0"/>
                        </a:spcBef>
                        <a:spcAft>
                          <a:spcPts val="0"/>
                        </a:spcAft>
                      </a:pPr>
                      <a:r>
                        <a:rPr lang="en" altLang="ja-JP" sz="900" b="0" i="0" dirty="0" err="1">
                          <a:effectLst/>
                          <a:latin typeface="游ゴシック" panose="020B0400000000000000" pitchFamily="50" charset="-128"/>
                        </a:rPr>
                        <a:t>egaku</a:t>
                      </a:r>
                      <a:r>
                        <a:rPr lang="en" altLang="ja-JP" sz="900" b="0" i="0" dirty="0">
                          <a:effectLst/>
                          <a:latin typeface="游ゴシック" panose="020B0400000000000000" pitchFamily="50" charset="-128"/>
                        </a:rPr>
                        <a:t>/Foundry</a:t>
                      </a:r>
                      <a:r>
                        <a:rPr lang="ja-JP" altLang="en-US" sz="900" b="0" i="0" dirty="0">
                          <a:effectLst/>
                          <a:latin typeface="游ゴシック" panose="020B0400000000000000" pitchFamily="50" charset="-128"/>
                        </a:rPr>
                        <a:t>運用経験者が在籍する唯一の会社</a:t>
                      </a:r>
                      <a:endParaRPr lang="en-US" altLang="ja-JP" sz="900" b="0" i="0" dirty="0">
                        <a:effectLst/>
                      </a:endParaRPr>
                    </a:p>
                    <a:p>
                      <a:pPr algn="l">
                        <a:lnSpc>
                          <a:spcPct val="115000"/>
                        </a:lnSpc>
                        <a:spcBef>
                          <a:spcPts val="0"/>
                        </a:spcBef>
                        <a:spcAft>
                          <a:spcPts val="0"/>
                        </a:spcAft>
                      </a:pPr>
                      <a:r>
                        <a:rPr lang="ja-JP" altLang="en-US" sz="900" b="0" i="0" dirty="0">
                          <a:effectLst/>
                        </a:rPr>
                        <a:t>「移せるか」の不確実性を最も低減できる。</a:t>
                      </a:r>
                      <a:endParaRPr lang="en-US" altLang="ja-JP" sz="900" b="0" i="0" dirty="0">
                        <a:effectLst/>
                      </a:endParaRPr>
                    </a:p>
                    <a:p>
                      <a:pPr algn="l">
                        <a:lnSpc>
                          <a:spcPct val="115000"/>
                        </a:lnSpc>
                        <a:spcBef>
                          <a:spcPts val="0"/>
                        </a:spcBef>
                        <a:spcAft>
                          <a:spcPts val="0"/>
                        </a:spcAft>
                      </a:pPr>
                      <a:r>
                        <a:rPr lang="ja-JP" altLang="en-US" sz="900" b="0" i="0" dirty="0">
                          <a:effectLst/>
                        </a:rPr>
                        <a:t>パッケージ化で最短</a:t>
                      </a:r>
                      <a:r>
                        <a:rPr lang="en-US" altLang="ja-JP" sz="900" b="0" i="0" dirty="0">
                          <a:effectLst/>
                        </a:rPr>
                        <a:t>3</a:t>
                      </a:r>
                      <a:r>
                        <a:rPr lang="ja-JP" altLang="en-US" sz="900" b="0" i="0" dirty="0">
                          <a:effectLst/>
                        </a:rPr>
                        <a:t>ヶ月環境構築</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現行環境の知見は他社で代替できない</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コスト試算の提示。PySpark移行の具体策。AI基盤をKozuchiに限定しない構成が可能か</a:t>
                      </a:r>
                    </a:p>
                  </a:txBody>
                  <a:tcPr marL="27000" marR="27000" marT="12700" marB="12700">
                    <a:noFill/>
                  </a:tcPr>
                </a:tc>
                <a:extLst>
                  <a:ext uri="{0D108BD9-81ED-4DB2-BD59-A6C34878D82A}">
                    <a16:rowId xmlns:a16="http://schemas.microsoft.com/office/drawing/2014/main" val="10002"/>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Sky</a:t>
                      </a:r>
                    </a:p>
                  </a:txBody>
                  <a:tcPr marL="27000" marR="27000" marT="12700" marB="12700">
                    <a:noFill/>
                  </a:tcPr>
                </a:tc>
                <a:tc>
                  <a:txBody>
                    <a:bodyPr/>
                    <a:lstStyle/>
                    <a:p>
                      <a:pPr algn="ctr">
                        <a:lnSpc>
                          <a:spcPct val="115000"/>
                        </a:lnSpc>
                        <a:spcBef>
                          <a:spcPts val="0"/>
                        </a:spcBef>
                        <a:spcAft>
                          <a:spcPts val="0"/>
                        </a:spcAft>
                      </a:pPr>
                      <a:r>
                        <a:rPr lang="ja" sz="1000" b="1" dirty="0">
                          <a:solidFill>
                            <a:srgbClr val="B8860B"/>
                          </a:solidFill>
                          <a:latin typeface="游ゴシック" panose="020B0400000000000000" pitchFamily="50" charset="-128"/>
                          <a:ea typeface="游ゴシック" panose="020B0400000000000000" pitchFamily="50" charset="-128"/>
                        </a:rPr>
                        <a:t>比較継続</a:t>
                      </a:r>
                    </a:p>
                  </a:txBody>
                  <a:tcPr marL="27000" marR="27000" marT="12700" marB="12700">
                    <a:noFill/>
                  </a:tcPr>
                </a:tc>
                <a:tc>
                  <a:txBody>
                    <a:bodyPr/>
                    <a:lstStyle/>
                    <a:p>
                      <a:pPr algn="l">
                        <a:lnSpc>
                          <a:spcPct val="115000"/>
                        </a:lnSpc>
                        <a:spcBef>
                          <a:spcPts val="0"/>
                        </a:spcBef>
                        <a:spcAft>
                          <a:spcPts val="0"/>
                        </a:spcAft>
                      </a:pPr>
                      <a:r>
                        <a:rPr lang="en" altLang="ja-JP" sz="900" b="0" i="0" dirty="0">
                          <a:effectLst/>
                          <a:latin typeface="游ゴシック" panose="020B0400000000000000" pitchFamily="50" charset="-128"/>
                        </a:rPr>
                        <a:t>AI-Ready Data Platform</a:t>
                      </a:r>
                      <a:r>
                        <a:rPr lang="ja-JP" altLang="en-US" sz="900" b="0" i="0" dirty="0">
                          <a:effectLst/>
                          <a:latin typeface="游ゴシック" panose="020B0400000000000000" pitchFamily="50" charset="-128"/>
                        </a:rPr>
                        <a:t>として、データ品質・定義・リネージを</a:t>
                      </a:r>
                      <a:r>
                        <a:rPr lang="en" altLang="ja-JP" sz="900" b="0" i="0" dirty="0">
                          <a:effectLst/>
                          <a:latin typeface="游ゴシック" panose="020B0400000000000000" pitchFamily="50" charset="-128"/>
                        </a:rPr>
                        <a:t>AI</a:t>
                      </a:r>
                      <a:r>
                        <a:rPr lang="ja-JP" altLang="en-US" sz="900" b="0" i="0" dirty="0">
                          <a:effectLst/>
                        </a:rPr>
                        <a:t>活用の前提条件として体系化。</a:t>
                      </a:r>
                      <a:endParaRPr lang="en-US" altLang="ja-JP" sz="900" b="0" i="0" dirty="0">
                        <a:effectLst/>
                      </a:endParaRPr>
                    </a:p>
                    <a:p>
                      <a:pPr algn="l">
                        <a:lnSpc>
                          <a:spcPct val="115000"/>
                        </a:lnSpc>
                        <a:spcBef>
                          <a:spcPts val="0"/>
                        </a:spcBef>
                        <a:spcAft>
                          <a:spcPts val="0"/>
                        </a:spcAft>
                      </a:pP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将来のAI拡張を見据えた設計力が最も強い</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BIツールがQuick Suite固定で既存Tableau資産からの切替が必要。BI移行の実現性・影響範囲</a:t>
                      </a:r>
                    </a:p>
                  </a:txBody>
                  <a:tcPr marL="27000" marR="27000" marT="12700" marB="12700">
                    <a:noFill/>
                  </a:tcPr>
                </a:tc>
                <a:extLst>
                  <a:ext uri="{0D108BD9-81ED-4DB2-BD59-A6C34878D82A}">
                    <a16:rowId xmlns:a16="http://schemas.microsoft.com/office/drawing/2014/main" val="10003"/>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PwC</a:t>
                      </a:r>
                    </a:p>
                  </a:txBody>
                  <a:tcPr marL="27000" marR="27000" marT="12700" marB="12700">
                    <a:noFill/>
                  </a:tcPr>
                </a:tc>
                <a:tc>
                  <a:txBody>
                    <a:bodyPr/>
                    <a:lstStyle/>
                    <a:p>
                      <a:pPr algn="ctr">
                        <a:lnSpc>
                          <a:spcPct val="115000"/>
                        </a:lnSpc>
                        <a:spcBef>
                          <a:spcPts val="0"/>
                        </a:spcBef>
                        <a:spcAft>
                          <a:spcPts val="0"/>
                        </a:spcAft>
                      </a:pPr>
                      <a:r>
                        <a:rPr lang="ja" sz="1000" b="1" dirty="0">
                          <a:solidFill>
                            <a:srgbClr val="B8860B"/>
                          </a:solidFill>
                          <a:latin typeface="游ゴシック" panose="020B0400000000000000" pitchFamily="50" charset="-128"/>
                          <a:ea typeface="游ゴシック" panose="020B0400000000000000" pitchFamily="50" charset="-128"/>
                        </a:rPr>
                        <a:t>コスト次第</a:t>
                      </a:r>
                    </a:p>
                  </a:txBody>
                  <a:tcPr marL="27000" marR="27000" marT="12700" marB="12700">
                    <a:noFill/>
                  </a:tcPr>
                </a:tc>
                <a:tc>
                  <a:txBody>
                    <a:bodyPr/>
                    <a:lstStyle/>
                    <a:p>
                      <a:pPr algn="l">
                        <a:lnSpc>
                          <a:spcPct val="115000"/>
                        </a:lnSpc>
                        <a:spcBef>
                          <a:spcPts val="0"/>
                        </a:spcBef>
                        <a:spcAft>
                          <a:spcPts val="0"/>
                        </a:spcAft>
                      </a:pPr>
                      <a:r>
                        <a:rPr lang="en" altLang="ja-JP" sz="900" b="0" i="0" dirty="0">
                          <a:effectLst/>
                          <a:latin typeface="游ゴシック" panose="020B0400000000000000" pitchFamily="50" charset="-128"/>
                        </a:rPr>
                        <a:t>SOMPO</a:t>
                      </a:r>
                      <a:r>
                        <a:rPr lang="ja-JP" altLang="en-US" sz="900" b="0" i="0" dirty="0">
                          <a:effectLst/>
                          <a:latin typeface="游ゴシック" panose="020B0400000000000000" pitchFamily="50" charset="-128"/>
                        </a:rPr>
                        <a:t>グループ</a:t>
                      </a:r>
                      <a:r>
                        <a:rPr lang="en-US" altLang="ja-JP" sz="900" b="0" i="0" dirty="0">
                          <a:effectLst/>
                          <a:latin typeface="游ゴシック" panose="020B0400000000000000" pitchFamily="50" charset="-128"/>
                        </a:rPr>
                        <a:t>20</a:t>
                      </a:r>
                      <a:r>
                        <a:rPr lang="ja-JP" altLang="en-US" sz="900" b="0" i="0" dirty="0">
                          <a:effectLst/>
                        </a:rPr>
                        <a:t>件以上の支援実績。</a:t>
                      </a:r>
                      <a:endParaRPr lang="en-US" altLang="ja-JP" sz="900" b="0" i="0" dirty="0">
                        <a:effectLst/>
                      </a:endParaRPr>
                    </a:p>
                    <a:p>
                      <a:pPr algn="l">
                        <a:lnSpc>
                          <a:spcPct val="115000"/>
                        </a:lnSpc>
                        <a:spcBef>
                          <a:spcPts val="0"/>
                        </a:spcBef>
                        <a:spcAft>
                          <a:spcPts val="0"/>
                        </a:spcAft>
                      </a:pPr>
                      <a:r>
                        <a:rPr lang="ja-JP" altLang="en-US" sz="900" b="0" i="0" dirty="0">
                          <a:effectLst/>
                        </a:rPr>
                        <a:t>ガバナンス設計・マスターデータ管理・組織設計のコンサル力が最も高い。</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ガバナンス・組織設計の伴走者としての価値。技術ベンダーとの組合せも選択肢</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AWS個別サービスの運用負荷。内部での運用可否。コストが合うか</a:t>
                      </a:r>
                    </a:p>
                  </a:txBody>
                  <a:tcPr marL="27000" marR="27000" marT="12700" marB="12700">
                    <a:noFill/>
                  </a:tcPr>
                </a:tc>
                <a:extLst>
                  <a:ext uri="{0D108BD9-81ED-4DB2-BD59-A6C34878D82A}">
                    <a16:rowId xmlns:a16="http://schemas.microsoft.com/office/drawing/2014/main" val="10004"/>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Hitachi</a:t>
                      </a:r>
                    </a:p>
                  </a:txBody>
                  <a:tcPr marL="27000" marR="27000" marT="12700" marB="12700">
                    <a:noFill/>
                  </a:tcPr>
                </a:tc>
                <a:tc>
                  <a:txBody>
                    <a:bodyPr/>
                    <a:lstStyle/>
                    <a:p>
                      <a:pPr algn="ctr">
                        <a:lnSpc>
                          <a:spcPct val="115000"/>
                        </a:lnSpc>
                        <a:spcBef>
                          <a:spcPts val="0"/>
                        </a:spcBef>
                        <a:spcAft>
                          <a:spcPts val="0"/>
                        </a:spcAft>
                      </a:pPr>
                      <a:r>
                        <a:rPr lang="ja" sz="1000" b="1" dirty="0">
                          <a:solidFill>
                            <a:srgbClr val="B8860B"/>
                          </a:solidFill>
                          <a:latin typeface="游ゴシック" panose="020B0400000000000000" pitchFamily="50" charset="-128"/>
                          <a:ea typeface="游ゴシック" panose="020B0400000000000000" pitchFamily="50" charset="-128"/>
                        </a:rPr>
                        <a:t>コスト・工数次第</a:t>
                      </a:r>
                    </a:p>
                  </a:txBody>
                  <a:tcPr marL="27000" marR="27000" marT="12700" marB="12700">
                    <a:noFill/>
                  </a:tcPr>
                </a:tc>
                <a:tc>
                  <a:txBody>
                    <a:bodyPr/>
                    <a:lstStyle/>
                    <a:p>
                      <a:pPr algn="l">
                        <a:lnSpc>
                          <a:spcPct val="115000"/>
                        </a:lnSpc>
                        <a:spcBef>
                          <a:spcPts val="0"/>
                        </a:spcBef>
                        <a:spcAft>
                          <a:spcPts val="0"/>
                        </a:spcAft>
                      </a:pPr>
                      <a:r>
                        <a:rPr lang="ja-JP" altLang="en-US" sz="900" b="0" i="0" dirty="0">
                          <a:effectLst/>
                          <a:latin typeface="游ゴシック" panose="020B0400000000000000" pitchFamily="50" charset="-128"/>
                        </a:rPr>
                        <a:t>介護業界での</a:t>
                      </a:r>
                      <a:r>
                        <a:rPr lang="en" altLang="ja-JP" sz="900" b="0" i="0" dirty="0">
                          <a:effectLst/>
                          <a:latin typeface="游ゴシック" panose="020B0400000000000000" pitchFamily="50" charset="-128"/>
                        </a:rPr>
                        <a:t>Snowflake</a:t>
                      </a:r>
                      <a:r>
                        <a:rPr lang="ja-JP" altLang="en-US" sz="900" b="0" i="0" dirty="0">
                          <a:effectLst/>
                          <a:latin typeface="游ゴシック" panose="020B0400000000000000" pitchFamily="50" charset="-128"/>
                        </a:rPr>
                        <a:t>実績。</a:t>
                      </a:r>
                      <a:endParaRPr lang="en-US" altLang="ja-JP" sz="900" b="0" i="0" dirty="0">
                        <a:effectLst/>
                      </a:endParaRPr>
                    </a:p>
                    <a:p>
                      <a:pPr algn="l">
                        <a:lnSpc>
                          <a:spcPct val="115000"/>
                        </a:lnSpc>
                        <a:spcBef>
                          <a:spcPts val="0"/>
                        </a:spcBef>
                        <a:spcAft>
                          <a:spcPts val="0"/>
                        </a:spcAft>
                      </a:pPr>
                      <a:r>
                        <a:rPr lang="ja-JP" altLang="en-US" sz="900" b="0" i="0" dirty="0">
                          <a:effectLst/>
                        </a:rPr>
                        <a:t>データ分析民主化の育成計画が最も具体的。</a:t>
                      </a:r>
                      <a:endParaRPr lang="en-US" altLang="ja-JP" sz="900" b="0" i="0" dirty="0">
                        <a:effectLst/>
                      </a:endParaRPr>
                    </a:p>
                    <a:p>
                      <a:pPr algn="l">
                        <a:lnSpc>
                          <a:spcPct val="115000"/>
                        </a:lnSpc>
                        <a:spcBef>
                          <a:spcPts val="0"/>
                        </a:spcBef>
                        <a:spcAft>
                          <a:spcPts val="0"/>
                        </a:spcAft>
                      </a:pPr>
                      <a:r>
                        <a:rPr lang="en" altLang="ja-JP" sz="900" b="0" i="0" dirty="0">
                          <a:effectLst/>
                        </a:rPr>
                        <a:t>Snowflake</a:t>
                      </a:r>
                      <a:r>
                        <a:rPr lang="ja-JP" altLang="en-US" sz="900" b="0" i="0" dirty="0">
                          <a:effectLst/>
                        </a:rPr>
                        <a:t>のフルマネージドは少人数運用と相性が良い</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運用負荷の低さと業界理解・ユーザー育成は独自の価値</a:t>
                      </a: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PySpark全面書換えの工数・期間・費用。コスト試算。Databricks構成との比較判断材料</a:t>
                      </a:r>
                    </a:p>
                  </a:txBody>
                  <a:tcPr marL="27000" marR="27000" marT="12700" marB="12700">
                    <a:noFill/>
                  </a:tcPr>
                </a:tc>
                <a:extLst>
                  <a:ext uri="{0D108BD9-81ED-4DB2-BD59-A6C34878D82A}">
                    <a16:rowId xmlns:a16="http://schemas.microsoft.com/office/drawing/2014/main" val="10005"/>
                  </a:ext>
                </a:extLst>
              </a:tr>
              <a:tr h="60579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SF</a:t>
                      </a:r>
                    </a:p>
                  </a:txBody>
                  <a:tcPr marL="27000" marR="27000" marT="12700" marB="12700">
                    <a:noFill/>
                  </a:tcPr>
                </a:tc>
                <a:tc>
                  <a:txBody>
                    <a:bodyPr/>
                    <a:lstStyle/>
                    <a:p>
                      <a:pPr algn="ctr">
                        <a:lnSpc>
                          <a:spcPct val="115000"/>
                        </a:lnSpc>
                        <a:spcBef>
                          <a:spcPts val="0"/>
                        </a:spcBef>
                        <a:spcAft>
                          <a:spcPts val="0"/>
                        </a:spcAft>
                      </a:pPr>
                      <a:r>
                        <a:rPr lang="ja-JP" altLang="en-US" sz="1000" b="1">
                          <a:solidFill>
                            <a:srgbClr val="DB5F5F"/>
                          </a:solidFill>
                          <a:latin typeface="游ゴシック" panose="020B0400000000000000" pitchFamily="50" charset="-128"/>
                          <a:ea typeface="游ゴシック" panose="020B0400000000000000" pitchFamily="50" charset="-128"/>
                        </a:rPr>
                        <a:t>列後</a:t>
                      </a:r>
                      <a:endParaRPr lang="ja" sz="1000" b="1" dirty="0">
                        <a:solidFill>
                          <a:srgbClr val="DB5F5F"/>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en-US" altLang="ja" sz="900" dirty="0">
                          <a:solidFill>
                            <a:srgbClr val="121212"/>
                          </a:solidFill>
                          <a:latin typeface="游ゴシック" panose="020B0400000000000000" pitchFamily="50" charset="-128"/>
                          <a:ea typeface="游ゴシック" panose="020B0400000000000000" pitchFamily="50" charset="-128"/>
                        </a:rPr>
                        <a:t>CRM</a:t>
                      </a:r>
                      <a:r>
                        <a:rPr lang="ja-JP" altLang="en-US" sz="900" dirty="0">
                          <a:solidFill>
                            <a:srgbClr val="121212"/>
                          </a:solidFill>
                          <a:latin typeface="游ゴシック" panose="020B0400000000000000" pitchFamily="50" charset="-128"/>
                          <a:ea typeface="游ゴシック" panose="020B0400000000000000" pitchFamily="50" charset="-128"/>
                        </a:rPr>
                        <a:t>文脈では強い</a:t>
                      </a:r>
                      <a:endParaRPr lang="en-US" alt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900" dirty="0">
                          <a:solidFill>
                            <a:srgbClr val="121212"/>
                          </a:solidFill>
                          <a:latin typeface="游ゴシック" panose="020B0400000000000000" pitchFamily="50" charset="-128"/>
                          <a:ea typeface="游ゴシック" panose="020B0400000000000000" pitchFamily="50" charset="-128"/>
                        </a:rPr>
                        <a:t>—</a:t>
                      </a:r>
                    </a:p>
                  </a:txBody>
                  <a:tcPr marL="27000" marR="27000" marT="12700" marB="12700">
                    <a:noFill/>
                  </a:tcPr>
                </a:tc>
                <a:tc>
                  <a:txBody>
                    <a:bodyPr/>
                    <a:lstStyle/>
                    <a:p>
                      <a:pPr algn="l">
                        <a:lnSpc>
                          <a:spcPct val="115000"/>
                        </a:lnSpc>
                        <a:spcBef>
                          <a:spcPts val="0"/>
                        </a:spcBef>
                        <a:spcAft>
                          <a:spcPts val="0"/>
                        </a:spcAft>
                      </a:pPr>
                      <a:r>
                        <a:rPr lang="en-US" altLang="ja" sz="900" dirty="0">
                          <a:solidFill>
                            <a:srgbClr val="121212"/>
                          </a:solidFill>
                          <a:latin typeface="游ゴシック" panose="020B0400000000000000" pitchFamily="50" charset="-128"/>
                          <a:ea typeface="游ゴシック" panose="020B0400000000000000" pitchFamily="50" charset="-128"/>
                        </a:rPr>
                        <a:t>Data360</a:t>
                      </a:r>
                      <a:r>
                        <a:rPr lang="ja" altLang="en-US" sz="900" dirty="0">
                          <a:solidFill>
                            <a:srgbClr val="121212"/>
                          </a:solidFill>
                          <a:latin typeface="游ゴシック" panose="020B0400000000000000" pitchFamily="50" charset="-128"/>
                          <a:ea typeface="游ゴシック" panose="020B0400000000000000" pitchFamily="50" charset="-128"/>
                        </a:rPr>
                        <a:t>が</a:t>
                      </a:r>
                      <a:r>
                        <a:rPr lang="ja-JP" altLang="en-US" sz="900">
                          <a:solidFill>
                            <a:srgbClr val="121212"/>
                          </a:solidFill>
                          <a:latin typeface="游ゴシック" panose="020B0400000000000000" pitchFamily="50" charset="-128"/>
                          <a:ea typeface="游ゴシック" panose="020B0400000000000000" pitchFamily="50" charset="-128"/>
                        </a:rPr>
                        <a:t>業界標準とは離れているので、ベンダーロックインのリスクが高く、今回の目的に合わない</a:t>
                      </a:r>
                      <a:endParaRPr lang="ja" sz="9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94697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04F58301-DF4E-1FC4-4F19-13FDC043DD76}"/>
            </a:ext>
          </a:extLst>
        </p:cNvPr>
        <p:cNvGrpSpPr/>
        <p:nvPr/>
      </p:nvGrpSpPr>
      <p:grpSpPr>
        <a:xfrm>
          <a:off x="0" y="0"/>
          <a:ext cx="0" cy="0"/>
          <a:chOff x="0" y="0"/>
          <a:chExt cx="0" cy="0"/>
        </a:xfrm>
      </p:grpSpPr>
      <p:sp>
        <p:nvSpPr>
          <p:cNvPr id="259" name="Google Shape;259;p10">
            <a:extLst>
              <a:ext uri="{FF2B5EF4-FFF2-40B4-BE49-F238E27FC236}">
                <a16:creationId xmlns:a16="http://schemas.microsoft.com/office/drawing/2014/main" id="{2DC5F97F-0267-30BE-59BE-D6050A26858C}"/>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4.1</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４要件評価</a:t>
            </a:r>
            <a:endParaRPr sz="1800" b="0" i="0" u="none" strike="noStrike" cap="none" dirty="0">
              <a:solidFill>
                <a:schemeClr val="dk1"/>
              </a:solidFill>
              <a:latin typeface="Calibri"/>
              <a:ea typeface="Calibri"/>
              <a:cs typeface="Calibri"/>
              <a:sym typeface="Calibri"/>
            </a:endParaRPr>
          </a:p>
        </p:txBody>
      </p:sp>
      <p:sp>
        <p:nvSpPr>
          <p:cNvPr id="260" name="Google Shape;260;p10">
            <a:extLst>
              <a:ext uri="{FF2B5EF4-FFF2-40B4-BE49-F238E27FC236}">
                <a16:creationId xmlns:a16="http://schemas.microsoft.com/office/drawing/2014/main" id="{DD56A70F-F843-6A01-E03B-23AE4EBC790A}"/>
              </a:ext>
            </a:extLst>
          </p:cNvPr>
          <p:cNvSpPr/>
          <p:nvPr/>
        </p:nvSpPr>
        <p:spPr>
          <a:xfrm>
            <a:off x="406301" y="575733"/>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ja" altLang="en-US" sz="1000" b="1" dirty="0">
                <a:solidFill>
                  <a:schemeClr val="tx1"/>
                </a:solidFill>
                <a:latin typeface="游ゴシック" panose="020B0400000000000000" pitchFamily="50" charset="-128"/>
                <a:ea typeface="游ゴシック" panose="020B0400000000000000" pitchFamily="50" charset="-128"/>
              </a:rPr>
              <a:t>４</a:t>
            </a:r>
            <a:r>
              <a:rPr lang="ja-JP" altLang="en-US" sz="1000" b="1" dirty="0">
                <a:solidFill>
                  <a:schemeClr val="tx1"/>
                </a:solidFill>
                <a:latin typeface="游ゴシック" panose="020B0400000000000000" pitchFamily="50" charset="-128"/>
                <a:ea typeface="游ゴシック" panose="020B0400000000000000" pitchFamily="50" charset="-128"/>
              </a:rPr>
              <a:t>要件で各社の</a:t>
            </a:r>
            <a:r>
              <a:rPr lang="en-US" altLang="ja-JP" sz="1000" b="1" dirty="0">
                <a:solidFill>
                  <a:schemeClr val="tx1"/>
                </a:solidFill>
                <a:latin typeface="游ゴシック" panose="020B0400000000000000" pitchFamily="50" charset="-128"/>
                <a:ea typeface="游ゴシック" panose="020B0400000000000000" pitchFamily="50" charset="-128"/>
              </a:rPr>
              <a:t>RFI</a:t>
            </a:r>
            <a:r>
              <a:rPr lang="ja-JP" altLang="en-US" sz="1000" b="1" dirty="0">
                <a:solidFill>
                  <a:schemeClr val="tx1"/>
                </a:solidFill>
                <a:latin typeface="游ゴシック" panose="020B0400000000000000" pitchFamily="50" charset="-128"/>
                <a:ea typeface="游ゴシック" panose="020B0400000000000000" pitchFamily="50" charset="-128"/>
              </a:rPr>
              <a:t>を評価</a:t>
            </a:r>
            <a:endParaRPr lang="ja" sz="1000" b="1" dirty="0">
              <a:solidFill>
                <a:schemeClr val="tx1"/>
              </a:solidFill>
              <a:latin typeface="游ゴシック" panose="020B0400000000000000" pitchFamily="50" charset="-128"/>
              <a:ea typeface="游ゴシック" panose="020B0400000000000000" pitchFamily="50" charset="-128"/>
              <a:sym typeface="Arial"/>
            </a:endParaRPr>
          </a:p>
        </p:txBody>
      </p:sp>
      <p:cxnSp>
        <p:nvCxnSpPr>
          <p:cNvPr id="261" name="Google Shape;261;p10">
            <a:extLst>
              <a:ext uri="{FF2B5EF4-FFF2-40B4-BE49-F238E27FC236}">
                <a16:creationId xmlns:a16="http://schemas.microsoft.com/office/drawing/2014/main" id="{EC8ABBA6-5F59-A033-C651-03880311B3A4}"/>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62" name="Google Shape;262;p10">
            <a:extLst>
              <a:ext uri="{FF2B5EF4-FFF2-40B4-BE49-F238E27FC236}">
                <a16:creationId xmlns:a16="http://schemas.microsoft.com/office/drawing/2014/main" id="{7687D301-537A-AA52-F148-AB15BAA16010}"/>
              </a:ext>
            </a:extLst>
          </p:cNvPr>
          <p:cNvSpPr/>
          <p:nvPr/>
        </p:nvSpPr>
        <p:spPr>
          <a:xfrm>
            <a:off x="396596" y="4930825"/>
            <a:ext cx="2135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63" name="Google Shape;263;p10">
            <a:extLst>
              <a:ext uri="{FF2B5EF4-FFF2-40B4-BE49-F238E27FC236}">
                <a16:creationId xmlns:a16="http://schemas.microsoft.com/office/drawing/2014/main" id="{AEB5EF7F-1FD4-04F1-F01A-2F8F98E41C11}"/>
              </a:ext>
            </a:extLst>
          </p:cNvPr>
          <p:cNvSpPr/>
          <p:nvPr/>
        </p:nvSpPr>
        <p:spPr>
          <a:xfrm>
            <a:off x="7989366" y="4930825"/>
            <a:ext cx="903496"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14</a:t>
            </a:r>
            <a:endParaRPr sz="500" b="0" i="0" u="none" strike="noStrike" cap="none" dirty="0">
              <a:solidFill>
                <a:schemeClr val="dk1"/>
              </a:solidFill>
              <a:latin typeface="Calibri"/>
              <a:ea typeface="Calibri"/>
              <a:cs typeface="Calibri"/>
              <a:sym typeface="Calibri"/>
            </a:endParaRPr>
          </a:p>
        </p:txBody>
      </p:sp>
      <p:graphicFrame>
        <p:nvGraphicFramePr>
          <p:cNvPr id="264" name="Google Shape;264;p10">
            <a:extLst>
              <a:ext uri="{FF2B5EF4-FFF2-40B4-BE49-F238E27FC236}">
                <a16:creationId xmlns:a16="http://schemas.microsoft.com/office/drawing/2014/main" id="{E2B5E56E-8966-CE85-E101-2BCBC73BB331}"/>
              </a:ext>
            </a:extLst>
          </p:cNvPr>
          <p:cNvGraphicFramePr/>
          <p:nvPr>
            <p:extLst>
              <p:ext uri="{D42A27DB-BD31-4B8C-83A1-F6EECF244321}">
                <p14:modId xmlns:p14="http://schemas.microsoft.com/office/powerpoint/2010/main" val="1921568492"/>
              </p:ext>
            </p:extLst>
          </p:nvPr>
        </p:nvGraphicFramePr>
        <p:xfrm>
          <a:off x="228600" y="724648"/>
          <a:ext cx="8763000" cy="4076711"/>
        </p:xfrm>
        <a:graphic>
          <a:graphicData uri="http://schemas.openxmlformats.org/drawingml/2006/table">
            <a:tbl>
              <a:tblPr firstRow="1" bandRow="1"/>
              <a:tblGrid>
                <a:gridCol w="555171">
                  <a:extLst>
                    <a:ext uri="{9D8B030D-6E8A-4147-A177-3AD203B41FA5}">
                      <a16:colId xmlns:a16="http://schemas.microsoft.com/office/drawing/2014/main" val="20000"/>
                    </a:ext>
                  </a:extLst>
                </a:gridCol>
                <a:gridCol w="968829">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841500">
                  <a:extLst>
                    <a:ext uri="{9D8B030D-6E8A-4147-A177-3AD203B41FA5}">
                      <a16:colId xmlns:a16="http://schemas.microsoft.com/office/drawing/2014/main" val="20003"/>
                    </a:ext>
                  </a:extLst>
                </a:gridCol>
                <a:gridCol w="1841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254000">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会社</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提案基盤</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要件1: コスト</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要件2: 確実な移行</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要件3: 運用自走・ガバナンス</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要件4: AI拡張性</a:t>
                      </a:r>
                    </a:p>
                  </a:txBody>
                  <a:tcPr marL="27000" marR="27000" marT="12700" marB="12700">
                    <a:solidFill>
                      <a:srgbClr val="333333"/>
                    </a:solidFill>
                  </a:tcPr>
                </a:tc>
                <a:extLst>
                  <a:ext uri="{0D108BD9-81ED-4DB2-BD59-A6C34878D82A}">
                    <a16:rowId xmlns:a16="http://schemas.microsoft.com/office/drawing/2014/main" val="10000"/>
                  </a:ext>
                </a:extLst>
              </a:tr>
              <a:tr h="657034">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Deloitte</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Databricks on AWS</a:t>
                      </a:r>
                    </a:p>
                  </a:txBody>
                  <a:tcPr marL="27000" marR="27000" marT="12700" marB="12700">
                    <a:noFill/>
                  </a:tcPr>
                </a:tc>
                <a:tc>
                  <a:txBody>
                    <a:bodyPr/>
                    <a:lstStyle/>
                    <a:p>
                      <a:pPr marL="0" marR="0" indent="0" algn="l" defTabSz="914400" eaLnBrk="1" fontAlgn="auto" latinLnBrk="0" hangingPunct="1">
                        <a:lnSpc>
                          <a:spcPct val="115000"/>
                        </a:lnSpc>
                        <a:spcBef>
                          <a:spcPts val="0"/>
                        </a:spcBef>
                        <a:spcAft>
                          <a:spcPts val="0"/>
                        </a:spcAft>
                        <a:buClrTx/>
                        <a:buSzTx/>
                        <a:buFontTx/>
                        <a:buNone/>
                        <a:tabLst/>
                        <a:defRPr/>
                      </a:pPr>
                      <a:r>
                        <a:rPr lang="ja" sz="800" dirty="0">
                          <a:solidFill>
                            <a:srgbClr val="3A7D44"/>
                          </a:solidFill>
                          <a:latin typeface="游ゴシック" panose="020B0400000000000000" pitchFamily="50" charset="-128"/>
                          <a:ea typeface="游ゴシック" panose="020B0400000000000000" pitchFamily="50" charset="-128"/>
                        </a:rPr>
                        <a:t>○ </a:t>
                      </a:r>
                      <a:r>
                        <a:rPr lang="en" altLang="ja-JP" sz="800" dirty="0">
                          <a:solidFill>
                            <a:srgbClr val="3A7D44"/>
                          </a:solidFill>
                          <a:latin typeface="游ゴシック" panose="020B0400000000000000" pitchFamily="50" charset="-128"/>
                          <a:ea typeface="游ゴシック" panose="020B0400000000000000" pitchFamily="50" charset="-128"/>
                        </a:rPr>
                        <a:t>Databricks</a:t>
                      </a:r>
                      <a:r>
                        <a:rPr lang="ja-JP" altLang="en-US" sz="800">
                          <a:solidFill>
                            <a:srgbClr val="3A7D44"/>
                          </a:solidFill>
                          <a:latin typeface="游ゴシック" panose="020B0400000000000000" pitchFamily="50" charset="-128"/>
                          <a:ea typeface="游ゴシック" panose="020B0400000000000000" pitchFamily="50" charset="-128"/>
                        </a:rPr>
                        <a:t>構成</a:t>
                      </a:r>
                      <a:r>
                        <a:rPr lang="en-US" altLang="ja-JP" sz="800" dirty="0">
                          <a:solidFill>
                            <a:srgbClr val="3A7D44"/>
                          </a:solidFill>
                          <a:latin typeface="游ゴシック" panose="020B0400000000000000" pitchFamily="50" charset="-128"/>
                          <a:ea typeface="游ゴシック" panose="020B0400000000000000" pitchFamily="50" charset="-128"/>
                        </a:rPr>
                        <a:t>: </a:t>
                      </a:r>
                      <a:r>
                        <a:rPr lang="ja-JP" altLang="en-US" sz="800">
                          <a:solidFill>
                            <a:srgbClr val="3A7D44"/>
                          </a:solidFill>
                          <a:latin typeface="游ゴシック" panose="020B0400000000000000" pitchFamily="50" charset="-128"/>
                          <a:ea typeface="游ゴシック" panose="020B0400000000000000" pitchFamily="50" charset="-128"/>
                        </a:rPr>
                        <a:t>年</a:t>
                      </a:r>
                      <a:r>
                        <a:rPr lang="en-US" altLang="ja-JP" sz="800" dirty="0">
                          <a:solidFill>
                            <a:srgbClr val="3A7D44"/>
                          </a:solidFill>
                          <a:latin typeface="游ゴシック" panose="020B0400000000000000" pitchFamily="50" charset="-128"/>
                          <a:ea typeface="游ゴシック" panose="020B0400000000000000" pitchFamily="50" charset="-128"/>
                        </a:rPr>
                        <a:t>3,000</a:t>
                      </a:r>
                      <a:r>
                        <a:rPr lang="ja-JP" altLang="en-US" sz="800">
                          <a:solidFill>
                            <a:srgbClr val="3A7D44"/>
                          </a:solidFill>
                          <a:latin typeface="游ゴシック" panose="020B0400000000000000" pitchFamily="50" charset="-128"/>
                          <a:ea typeface="游ゴシック" panose="020B0400000000000000" pitchFamily="50" charset="-128"/>
                        </a:rPr>
                        <a:t>万</a:t>
                      </a:r>
                      <a:r>
                        <a:rPr lang="en-US" altLang="ja-JP" sz="800" dirty="0">
                          <a:solidFill>
                            <a:srgbClr val="3A7D44"/>
                          </a:solidFill>
                          <a:latin typeface="游ゴシック" panose="020B0400000000000000" pitchFamily="50" charset="-128"/>
                          <a:ea typeface="游ゴシック" panose="020B0400000000000000" pitchFamily="50" charset="-128"/>
                        </a:rPr>
                        <a:t>〜6,000</a:t>
                      </a:r>
                      <a:r>
                        <a:rPr lang="ja-JP" altLang="en-US" sz="800">
                          <a:solidFill>
                            <a:srgbClr val="3A7D44"/>
                          </a:solidFill>
                          <a:latin typeface="游ゴシック" panose="020B0400000000000000" pitchFamily="50" charset="-128"/>
                          <a:ea typeface="游ゴシック" panose="020B0400000000000000" pitchFamily="50" charset="-128"/>
                        </a:rPr>
                        <a:t>万円（ライセンス料のみ。構築費・運用保守は別途）。ただしこれは</a:t>
                      </a:r>
                      <a:r>
                        <a:rPr lang="en" altLang="ja-JP" sz="800" dirty="0">
                          <a:solidFill>
                            <a:srgbClr val="3A7D44"/>
                          </a:solidFill>
                          <a:latin typeface="游ゴシック" panose="020B0400000000000000" pitchFamily="50" charset="-128"/>
                          <a:ea typeface="游ゴシック" panose="020B0400000000000000" pitchFamily="50" charset="-128"/>
                        </a:rPr>
                        <a:t>DBU+AWS</a:t>
                      </a:r>
                      <a:r>
                        <a:rPr lang="ja-JP" altLang="en-US" sz="800">
                          <a:solidFill>
                            <a:srgbClr val="3A7D44"/>
                          </a:solidFill>
                          <a:latin typeface="游ゴシック" panose="020B0400000000000000" pitchFamily="50" charset="-128"/>
                          <a:ea typeface="游ゴシック" panose="020B0400000000000000" pitchFamily="50" charset="-128"/>
                        </a:rPr>
                        <a:t>インフラのライセンス費のみであり、初期構築費は未提示</a:t>
                      </a:r>
                      <a:endParaRPr lang="ja" sz="800" dirty="0">
                        <a:solidFill>
                          <a:srgbClr val="3A7D44"/>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PySpark互換。12ヶ月の段階移行計画。移行アクセラレータ資産あり</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24/365グローバル運用体制だが、日本側の要員数・対応範囲が不明</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US" altLang="ja" sz="800" dirty="0">
                          <a:solidFill>
                            <a:srgbClr val="B8860B"/>
                          </a:solidFill>
                          <a:latin typeface="游ゴシック" panose="020B0400000000000000" pitchFamily="50" charset="-128"/>
                          <a:ea typeface="游ゴシック" panose="020B0400000000000000" pitchFamily="50" charset="-128"/>
                        </a:rPr>
                        <a:t>AI/BI Genie</a:t>
                      </a:r>
                      <a:r>
                        <a:rPr lang="ja" altLang="en-US" sz="800" dirty="0">
                          <a:solidFill>
                            <a:srgbClr val="B8860B"/>
                          </a:solidFill>
                          <a:latin typeface="游ゴシック" panose="020B0400000000000000" pitchFamily="50" charset="-128"/>
                          <a:ea typeface="游ゴシック" panose="020B0400000000000000" pitchFamily="50" charset="-128"/>
                        </a:rPr>
                        <a:t>（</a:t>
                      </a:r>
                      <a:r>
                        <a:rPr lang="ja-JP" altLang="en-US" sz="800" dirty="0">
                          <a:solidFill>
                            <a:srgbClr val="B8860B"/>
                          </a:solidFill>
                          <a:latin typeface="游ゴシック" panose="020B0400000000000000" pitchFamily="50" charset="-128"/>
                          <a:ea typeface="游ゴシック" panose="020B0400000000000000" pitchFamily="50" charset="-128"/>
                        </a:rPr>
                        <a:t>自然言語クエリ）でセルフ分析を支援</a:t>
                      </a:r>
                      <a:endParaRPr lang="en-US" altLang="ja" sz="800" dirty="0">
                        <a:solidFill>
                          <a:srgbClr val="B8860B"/>
                        </a:solidFill>
                        <a:latin typeface="游ゴシック" panose="020B0400000000000000" pitchFamily="50" charset="-128"/>
                        <a:ea typeface="游ゴシック" panose="020B0400000000000000" pitchFamily="50" charset="-128"/>
                      </a:endParaRPr>
                    </a:p>
                    <a:p>
                      <a:pPr algn="l">
                        <a:lnSpc>
                          <a:spcPct val="115000"/>
                        </a:lnSpc>
                        <a:spcBef>
                          <a:spcPts val="0"/>
                        </a:spcBef>
                        <a:spcAft>
                          <a:spcPts val="0"/>
                        </a:spcAft>
                      </a:pP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MosaicML、MLflow、AutoML、AI/BI Genie等を包括的にカバー</a:t>
                      </a:r>
                    </a:p>
                  </a:txBody>
                  <a:tcPr marL="27000" marR="27000" marT="12700" marB="12700">
                    <a:noFill/>
                  </a:tcPr>
                </a:tc>
                <a:extLst>
                  <a:ext uri="{0D108BD9-81ED-4DB2-BD59-A6C34878D82A}">
                    <a16:rowId xmlns:a16="http://schemas.microsoft.com/office/drawing/2014/main" val="10001"/>
                  </a:ext>
                </a:extLst>
              </a:tr>
              <a:tr h="615132">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Fujitsu</a:t>
                      </a:r>
                    </a:p>
                  </a:txBody>
                  <a:tcPr marL="27000" marR="27000" marT="12700" marB="12700">
                    <a:noFill/>
                  </a:tcPr>
                </a:tc>
                <a:tc>
                  <a:txBody>
                    <a:bodyPr/>
                    <a:lstStyle/>
                    <a:p>
                      <a:pPr algn="l">
                        <a:lnSpc>
                          <a:spcPct val="115000"/>
                        </a:lnSpc>
                        <a:spcBef>
                          <a:spcPts val="0"/>
                        </a:spcBef>
                        <a:spcAft>
                          <a:spcPts val="0"/>
                        </a:spcAft>
                      </a:pPr>
                      <a:r>
                        <a:rPr lang="ja" sz="1000">
                          <a:solidFill>
                            <a:srgbClr val="121212"/>
                          </a:solidFill>
                          <a:latin typeface="游ゴシック" panose="020B0400000000000000" pitchFamily="50" charset="-128"/>
                          <a:ea typeface="游ゴシック" panose="020B0400000000000000" pitchFamily="50" charset="-128"/>
                        </a:rPr>
                        <a:t>DI Basic（Databricks + dbt Core on AWS）</a:t>
                      </a:r>
                      <a:endParaRPr lang="ja" sz="10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JP" altLang="en-US" sz="800">
                          <a:solidFill>
                            <a:srgbClr val="B8860B"/>
                          </a:solidFill>
                          <a:latin typeface="游ゴシック" panose="020B0400000000000000" pitchFamily="50" charset="-128"/>
                          <a:ea typeface="游ゴシック" panose="020B0400000000000000" pitchFamily="50" charset="-128"/>
                        </a:rPr>
                        <a:t>△ 初期費用</a:t>
                      </a:r>
                      <a:r>
                        <a:rPr lang="en-US" altLang="ja-JP" sz="800" dirty="0">
                          <a:solidFill>
                            <a:srgbClr val="B8860B"/>
                          </a:solidFill>
                          <a:latin typeface="游ゴシック" panose="020B0400000000000000" pitchFamily="50" charset="-128"/>
                          <a:ea typeface="游ゴシック" panose="020B0400000000000000" pitchFamily="50" charset="-128"/>
                        </a:rPr>
                        <a:t>: </a:t>
                      </a:r>
                      <a:r>
                        <a:rPr lang="ja-JP" altLang="en-US" sz="800">
                          <a:solidFill>
                            <a:srgbClr val="B8860B"/>
                          </a:solidFill>
                          <a:latin typeface="游ゴシック" panose="020B0400000000000000" pitchFamily="50" charset="-128"/>
                          <a:ea typeface="游ゴシック" panose="020B0400000000000000" pitchFamily="50" charset="-128"/>
                        </a:rPr>
                        <a:t>梅</a:t>
                      </a:r>
                      <a:r>
                        <a:rPr lang="en-US" altLang="ja-JP" sz="800" dirty="0">
                          <a:solidFill>
                            <a:srgbClr val="B8860B"/>
                          </a:solidFill>
                          <a:latin typeface="游ゴシック" panose="020B0400000000000000" pitchFamily="50" charset="-128"/>
                          <a:ea typeface="游ゴシック" panose="020B0400000000000000" pitchFamily="50" charset="-128"/>
                        </a:rPr>
                        <a:t>3,500</a:t>
                      </a:r>
                      <a:r>
                        <a:rPr lang="ja-JP" altLang="en-US" sz="800">
                          <a:solidFill>
                            <a:srgbClr val="B8860B"/>
                          </a:solidFill>
                          <a:latin typeface="游ゴシック" panose="020B0400000000000000" pitchFamily="50" charset="-128"/>
                          <a:ea typeface="游ゴシック" panose="020B0400000000000000" pitchFamily="50" charset="-128"/>
                        </a:rPr>
                        <a:t>万</a:t>
                      </a:r>
                      <a:r>
                        <a:rPr lang="en-US" altLang="ja-JP" sz="800" dirty="0">
                          <a:solidFill>
                            <a:srgbClr val="B8860B"/>
                          </a:solidFill>
                          <a:latin typeface="游ゴシック" panose="020B0400000000000000" pitchFamily="50" charset="-128"/>
                          <a:ea typeface="游ゴシック" panose="020B0400000000000000" pitchFamily="50" charset="-128"/>
                        </a:rPr>
                        <a:t>〜</a:t>
                      </a:r>
                      <a:r>
                        <a:rPr lang="ja-JP" altLang="en-US" sz="800">
                          <a:solidFill>
                            <a:srgbClr val="B8860B"/>
                          </a:solidFill>
                          <a:latin typeface="游ゴシック" panose="020B0400000000000000" pitchFamily="50" charset="-128"/>
                          <a:ea typeface="游ゴシック" panose="020B0400000000000000" pitchFamily="50" charset="-128"/>
                        </a:rPr>
                        <a:t>松</a:t>
                      </a:r>
                      <a:r>
                        <a:rPr lang="en-US" altLang="ja-JP" sz="800" dirty="0">
                          <a:solidFill>
                            <a:srgbClr val="B8860B"/>
                          </a:solidFill>
                          <a:latin typeface="游ゴシック" panose="020B0400000000000000" pitchFamily="50" charset="-128"/>
                          <a:ea typeface="游ゴシック" panose="020B0400000000000000" pitchFamily="50" charset="-128"/>
                        </a:rPr>
                        <a:t>8,000</a:t>
                      </a:r>
                      <a:r>
                        <a:rPr lang="ja-JP" altLang="en-US" sz="800">
                          <a:solidFill>
                            <a:srgbClr val="B8860B"/>
                          </a:solidFill>
                          <a:latin typeface="游ゴシック" panose="020B0400000000000000" pitchFamily="50" charset="-128"/>
                          <a:ea typeface="游ゴシック" panose="020B0400000000000000" pitchFamily="50" charset="-128"/>
                        </a:rPr>
                        <a:t>万円。月額</a:t>
                      </a:r>
                      <a:r>
                        <a:rPr lang="en-US" altLang="ja-JP" sz="800" dirty="0">
                          <a:solidFill>
                            <a:srgbClr val="B8860B"/>
                          </a:solidFill>
                          <a:latin typeface="游ゴシック" panose="020B0400000000000000" pitchFamily="50" charset="-128"/>
                          <a:ea typeface="游ゴシック" panose="020B0400000000000000" pitchFamily="50" charset="-128"/>
                        </a:rPr>
                        <a:t>: </a:t>
                      </a:r>
                      <a:r>
                        <a:rPr lang="ja-JP" altLang="en-US" sz="800">
                          <a:solidFill>
                            <a:srgbClr val="B8860B"/>
                          </a:solidFill>
                          <a:latin typeface="游ゴシック" panose="020B0400000000000000" pitchFamily="50" charset="-128"/>
                          <a:ea typeface="游ゴシック" panose="020B0400000000000000" pitchFamily="50" charset="-128"/>
                        </a:rPr>
                        <a:t>初期と月額は明示されているが、</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a:solidFill>
                            <a:srgbClr val="B8860B"/>
                          </a:solidFill>
                          <a:latin typeface="游ゴシック" panose="020B0400000000000000" pitchFamily="50" charset="-128"/>
                          <a:ea typeface="游ゴシック" panose="020B0400000000000000" pitchFamily="50" charset="-128"/>
                        </a:rPr>
                        <a:t>閲覧者数の前提が未記載。 運用支援は任意契約で別途</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PySpark互換。egaku運用経験者在籍で移行不確実性が最も低い。Ontology移行リスクを具体的に指摘</a:t>
                      </a:r>
                    </a:p>
                  </a:txBody>
                  <a:tcPr marL="27000" marR="27000" marT="12700" marB="12700">
                    <a:noFill/>
                  </a:tcPr>
                </a:tc>
                <a:tc>
                  <a:txBody>
                    <a:bodyPr/>
                    <a:lstStyle/>
                    <a:p>
                      <a:pPr marL="0" marR="0" indent="0" algn="l" defTabSz="914400" eaLnBrk="1" fontAlgn="auto" latinLnBrk="0" hangingPunct="1">
                        <a:lnSpc>
                          <a:spcPct val="115000"/>
                        </a:lnSpc>
                        <a:spcBef>
                          <a:spcPts val="0"/>
                        </a:spcBef>
                        <a:spcAft>
                          <a:spcPts val="0"/>
                        </a:spcAft>
                        <a:buClrTx/>
                        <a:buSzTx/>
                        <a:buFontTx/>
                        <a:buNone/>
                        <a:tabLst/>
                        <a:defRPr/>
                      </a:pPr>
                      <a:r>
                        <a:rPr lang="ja" sz="800" dirty="0">
                          <a:solidFill>
                            <a:srgbClr val="B8860B"/>
                          </a:solidFill>
                          <a:latin typeface="游ゴシック" panose="020B0400000000000000" pitchFamily="50" charset="-128"/>
                          <a:ea typeface="游ゴシック" panose="020B0400000000000000" pitchFamily="50" charset="-128"/>
                        </a:rPr>
                        <a:t>△ 社内チーム主導の運用モデル（ベンダーはヘルプデスク）。ガバナンス詳細が薄い</a:t>
                      </a:r>
                      <a:r>
                        <a:rPr lang="ja" altLang="en-US" sz="800" dirty="0">
                          <a:solidFill>
                            <a:srgbClr val="B8860B"/>
                          </a:solidFill>
                          <a:latin typeface="游ゴシック" panose="020B0400000000000000" pitchFamily="50" charset="-128"/>
                          <a:ea typeface="游ゴシック" panose="020B0400000000000000" pitchFamily="50" charset="-128"/>
                        </a:rPr>
                        <a:t>。</a:t>
                      </a: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対応。</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dirty="0">
                          <a:solidFill>
                            <a:srgbClr val="B8860B"/>
                          </a:solidFill>
                          <a:latin typeface="游ゴシック" panose="020B0400000000000000" pitchFamily="50" charset="-128"/>
                          <a:ea typeface="游ゴシック" panose="020B0400000000000000" pitchFamily="50" charset="-128"/>
                        </a:rPr>
                        <a:t>テンプレート提供で活用加速</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AI機能はKozuchi（富士通独自）中心。松プランのみ</a:t>
                      </a:r>
                    </a:p>
                  </a:txBody>
                  <a:tcPr marL="27000" marR="27000" marT="12700" marB="12700">
                    <a:noFill/>
                  </a:tcPr>
                </a:tc>
                <a:extLst>
                  <a:ext uri="{0D108BD9-81ED-4DB2-BD59-A6C34878D82A}">
                    <a16:rowId xmlns:a16="http://schemas.microsoft.com/office/drawing/2014/main" val="10002"/>
                  </a:ext>
                </a:extLst>
              </a:tr>
              <a:tr h="627961">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Sky</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AWS Native → Databricks段階移行</a:t>
                      </a:r>
                    </a:p>
                  </a:txBody>
                  <a:tcPr marL="27000" marR="27000" marT="12700" marB="12700">
                    <a:noFill/>
                  </a:tcPr>
                </a:tc>
                <a:tc>
                  <a:txBody>
                    <a:bodyPr/>
                    <a:lstStyle/>
                    <a:p>
                      <a:pPr algn="l">
                        <a:lnSpc>
                          <a:spcPct val="115000"/>
                        </a:lnSpc>
                        <a:spcBef>
                          <a:spcPts val="0"/>
                        </a:spcBef>
                        <a:spcAft>
                          <a:spcPts val="0"/>
                        </a:spcAft>
                      </a:pPr>
                      <a:r>
                        <a:rPr lang="ja-JP" altLang="en-US" sz="800">
                          <a:solidFill>
                            <a:srgbClr val="B8860B"/>
                          </a:solidFill>
                          <a:latin typeface="游ゴシック" panose="020B0400000000000000" pitchFamily="50" charset="-128"/>
                          <a:ea typeface="游ゴシック" panose="020B0400000000000000" pitchFamily="50" charset="-128"/>
                        </a:rPr>
                        <a:t>初期</a:t>
                      </a:r>
                      <a:r>
                        <a:rPr lang="en-US" altLang="ja-JP" sz="800" dirty="0">
                          <a:solidFill>
                            <a:srgbClr val="B8860B"/>
                          </a:solidFill>
                          <a:latin typeface="游ゴシック" panose="020B0400000000000000" pitchFamily="50" charset="-128"/>
                          <a:ea typeface="游ゴシック" panose="020B0400000000000000" pitchFamily="50" charset="-128"/>
                        </a:rPr>
                        <a:t>: </a:t>
                      </a:r>
                      <a:r>
                        <a:rPr lang="ja-JP" altLang="en-US" sz="800">
                          <a:solidFill>
                            <a:srgbClr val="B8860B"/>
                          </a:solidFill>
                          <a:latin typeface="游ゴシック" panose="020B0400000000000000" pitchFamily="50" charset="-128"/>
                          <a:ea typeface="游ゴシック" panose="020B0400000000000000" pitchFamily="50" charset="-128"/>
                        </a:rPr>
                        <a:t>梅</a:t>
                      </a:r>
                      <a:r>
                        <a:rPr lang="en-US" altLang="ja-JP" sz="800" dirty="0">
                          <a:solidFill>
                            <a:srgbClr val="B8860B"/>
                          </a:solidFill>
                          <a:latin typeface="游ゴシック" panose="020B0400000000000000" pitchFamily="50" charset="-128"/>
                          <a:ea typeface="游ゴシック" panose="020B0400000000000000" pitchFamily="50" charset="-128"/>
                        </a:rPr>
                        <a:t>1,147</a:t>
                      </a:r>
                      <a:r>
                        <a:rPr lang="ja-JP" altLang="en-US" sz="800">
                          <a:solidFill>
                            <a:srgbClr val="B8860B"/>
                          </a:solidFill>
                          <a:latin typeface="游ゴシック" panose="020B0400000000000000" pitchFamily="50" charset="-128"/>
                          <a:ea typeface="游ゴシック" panose="020B0400000000000000" pitchFamily="50" charset="-128"/>
                        </a:rPr>
                        <a:t>万</a:t>
                      </a:r>
                      <a:r>
                        <a:rPr lang="en-US" altLang="ja-JP" sz="800" dirty="0">
                          <a:solidFill>
                            <a:srgbClr val="B8860B"/>
                          </a:solidFill>
                          <a:latin typeface="游ゴシック" panose="020B0400000000000000" pitchFamily="50" charset="-128"/>
                          <a:ea typeface="游ゴシック" panose="020B0400000000000000" pitchFamily="50" charset="-128"/>
                        </a:rPr>
                        <a:t>〜</a:t>
                      </a:r>
                      <a:r>
                        <a:rPr lang="ja-JP" altLang="en-US" sz="800">
                          <a:solidFill>
                            <a:srgbClr val="B8860B"/>
                          </a:solidFill>
                          <a:latin typeface="游ゴシック" panose="020B0400000000000000" pitchFamily="50" charset="-128"/>
                          <a:ea typeface="游ゴシック" panose="020B0400000000000000" pitchFamily="50" charset="-128"/>
                        </a:rPr>
                        <a:t>松</a:t>
                      </a:r>
                      <a:r>
                        <a:rPr lang="en-US" altLang="ja-JP" sz="800" dirty="0">
                          <a:solidFill>
                            <a:srgbClr val="B8860B"/>
                          </a:solidFill>
                          <a:latin typeface="游ゴシック" panose="020B0400000000000000" pitchFamily="50" charset="-128"/>
                          <a:ea typeface="游ゴシック" panose="020B0400000000000000" pitchFamily="50" charset="-128"/>
                        </a:rPr>
                        <a:t>2,295</a:t>
                      </a:r>
                      <a:r>
                        <a:rPr lang="ja-JP" altLang="en-US" sz="800">
                          <a:solidFill>
                            <a:srgbClr val="B8860B"/>
                          </a:solidFill>
                          <a:latin typeface="游ゴシック" panose="020B0400000000000000" pitchFamily="50" charset="-128"/>
                          <a:ea typeface="游ゴシック" panose="020B0400000000000000" pitchFamily="50" charset="-128"/>
                        </a:rPr>
                        <a:t>万円。月額</a:t>
                      </a:r>
                      <a:r>
                        <a:rPr lang="en-US" altLang="ja-JP" sz="800" dirty="0">
                          <a:solidFill>
                            <a:srgbClr val="B8860B"/>
                          </a:solidFill>
                          <a:latin typeface="游ゴシック" panose="020B0400000000000000" pitchFamily="50" charset="-128"/>
                          <a:ea typeface="游ゴシック" panose="020B0400000000000000" pitchFamily="50" charset="-128"/>
                        </a:rPr>
                        <a:t>: </a:t>
                      </a:r>
                      <a:r>
                        <a:rPr lang="ja-JP" altLang="en-US" sz="800">
                          <a:solidFill>
                            <a:srgbClr val="B8860B"/>
                          </a:solidFill>
                          <a:latin typeface="游ゴシック" panose="020B0400000000000000" pitchFamily="50" charset="-128"/>
                          <a:ea typeface="游ゴシック" panose="020B0400000000000000" pitchFamily="50" charset="-128"/>
                        </a:rPr>
                        <a:t>梅</a:t>
                      </a:r>
                      <a:r>
                        <a:rPr lang="en-US" altLang="ja-JP" sz="800" dirty="0">
                          <a:solidFill>
                            <a:srgbClr val="B8860B"/>
                          </a:solidFill>
                          <a:latin typeface="游ゴシック" panose="020B0400000000000000" pitchFamily="50" charset="-128"/>
                          <a:ea typeface="游ゴシック" panose="020B0400000000000000" pitchFamily="50" charset="-128"/>
                        </a:rPr>
                        <a:t>$450〜</a:t>
                      </a:r>
                      <a:r>
                        <a:rPr lang="ja-JP" altLang="en-US" sz="800">
                          <a:solidFill>
                            <a:srgbClr val="B8860B"/>
                          </a:solidFill>
                          <a:latin typeface="游ゴシック" panose="020B0400000000000000" pitchFamily="50" charset="-128"/>
                          <a:ea typeface="游ゴシック" panose="020B0400000000000000" pitchFamily="50" charset="-128"/>
                        </a:rPr>
                        <a:t>松</a:t>
                      </a:r>
                      <a:r>
                        <a:rPr lang="en-US" altLang="ja-JP" sz="800" dirty="0">
                          <a:solidFill>
                            <a:srgbClr val="B8860B"/>
                          </a:solidFill>
                          <a:latin typeface="游ゴシック" panose="020B0400000000000000" pitchFamily="50" charset="-128"/>
                          <a:ea typeface="游ゴシック" panose="020B0400000000000000" pitchFamily="50" charset="-128"/>
                        </a:rPr>
                        <a:t>$4,590</a:t>
                      </a:r>
                      <a:r>
                        <a:rPr lang="ja-JP" altLang="en-US" sz="800">
                          <a:solidFill>
                            <a:srgbClr val="B8860B"/>
                          </a:solidFill>
                          <a:latin typeface="游ゴシック" panose="020B0400000000000000" pitchFamily="50" charset="-128"/>
                          <a:ea typeface="游ゴシック" panose="020B0400000000000000" pitchFamily="50" charset="-128"/>
                        </a:rPr>
                        <a:t>（</a:t>
                      </a:r>
                      <a:r>
                        <a:rPr lang="en" altLang="ja" sz="800" dirty="0">
                          <a:solidFill>
                            <a:srgbClr val="B8860B"/>
                          </a:solidFill>
                          <a:latin typeface="游ゴシック" panose="020B0400000000000000" pitchFamily="50" charset="-128"/>
                          <a:ea typeface="游ゴシック" panose="020B0400000000000000" pitchFamily="50" charset="-128"/>
                        </a:rPr>
                        <a:t>AWS</a:t>
                      </a:r>
                      <a:r>
                        <a:rPr lang="ja-JP" altLang="en-US" sz="800">
                          <a:solidFill>
                            <a:srgbClr val="B8860B"/>
                          </a:solidFill>
                          <a:latin typeface="游ゴシック" panose="020B0400000000000000" pitchFamily="50" charset="-128"/>
                          <a:ea typeface="游ゴシック" panose="020B0400000000000000" pitchFamily="50" charset="-128"/>
                        </a:rPr>
                        <a:t>インフラ費のみ）。</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a:solidFill>
                            <a:srgbClr val="B8860B"/>
                          </a:solidFill>
                          <a:latin typeface="游ゴシック" panose="020B0400000000000000" pitchFamily="50" charset="-128"/>
                          <a:ea typeface="游ゴシック" panose="020B0400000000000000" pitchFamily="50" charset="-128"/>
                        </a:rPr>
                        <a:t>閲覧者</a:t>
                      </a:r>
                      <a:r>
                        <a:rPr lang="en-US" altLang="ja-JP" sz="800" dirty="0">
                          <a:solidFill>
                            <a:srgbClr val="B8860B"/>
                          </a:solidFill>
                          <a:latin typeface="游ゴシック" panose="020B0400000000000000" pitchFamily="50" charset="-128"/>
                          <a:ea typeface="游ゴシック" panose="020B0400000000000000" pitchFamily="50" charset="-128"/>
                        </a:rPr>
                        <a:t>50</a:t>
                      </a:r>
                      <a:r>
                        <a:rPr lang="ja-JP" altLang="en-US" sz="800">
                          <a:solidFill>
                            <a:srgbClr val="B8860B"/>
                          </a:solidFill>
                          <a:latin typeface="游ゴシック" panose="020B0400000000000000" pitchFamily="50" charset="-128"/>
                          <a:ea typeface="游ゴシック" panose="020B0400000000000000" pitchFamily="50" charset="-128"/>
                        </a:rPr>
                        <a:t>名前提（実態</a:t>
                      </a:r>
                      <a:r>
                        <a:rPr lang="en-US" altLang="ja-JP" sz="800" dirty="0">
                          <a:solidFill>
                            <a:srgbClr val="B8860B"/>
                          </a:solidFill>
                          <a:latin typeface="游ゴシック" panose="020B0400000000000000" pitchFamily="50" charset="-128"/>
                          <a:ea typeface="游ゴシック" panose="020B0400000000000000" pitchFamily="50" charset="-128"/>
                        </a:rPr>
                        <a:t>3,000</a:t>
                      </a:r>
                      <a:r>
                        <a:rPr lang="ja-JP" altLang="en-US" sz="800">
                          <a:solidFill>
                            <a:srgbClr val="B8860B"/>
                          </a:solidFill>
                          <a:latin typeface="游ゴシック" panose="020B0400000000000000" pitchFamily="50" charset="-128"/>
                          <a:ea typeface="游ゴシック" panose="020B0400000000000000" pitchFamily="50" charset="-128"/>
                        </a:rPr>
                        <a:t>名と乖離）。</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松プランでPySpark互換。ただし段階移行（梅→竹→松）で互換性は後半。Foundry移行の具体策なし</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松プランでUnity Catalog対応。梅/竹ではガバナンスが限定的</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 altLang="ja" sz="800" dirty="0">
                          <a:solidFill>
                            <a:srgbClr val="B8860B"/>
                          </a:solidFill>
                          <a:latin typeface="游ゴシック" panose="020B0400000000000000" pitchFamily="50" charset="-128"/>
                          <a:ea typeface="游ゴシック" panose="020B0400000000000000" pitchFamily="50" charset="-128"/>
                        </a:rPr>
                        <a:t>Quick Suite</a:t>
                      </a:r>
                      <a:r>
                        <a:rPr lang="ja-JP" altLang="en-US" sz="800" dirty="0">
                          <a:solidFill>
                            <a:srgbClr val="B8860B"/>
                          </a:solidFill>
                          <a:latin typeface="游ゴシック" panose="020B0400000000000000" pitchFamily="50" charset="-128"/>
                          <a:ea typeface="游ゴシック" panose="020B0400000000000000" pitchFamily="50" charset="-128"/>
                        </a:rPr>
                        <a:t>で自然言語分析・レポート自動生成。ただし</a:t>
                      </a: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非対応</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565C0"/>
                          </a:solidFill>
                          <a:latin typeface="游ゴシック" panose="020B0400000000000000" pitchFamily="50" charset="-128"/>
                          <a:ea typeface="游ゴシック" panose="020B0400000000000000" pitchFamily="50" charset="-128"/>
                        </a:rPr>
                        <a:t>◎ Mosaic AI + MLflow + Agent Bricks + Genie。AI-Ready Data Platformとして体系化。最も具体的</a:t>
                      </a:r>
                    </a:p>
                  </a:txBody>
                  <a:tcPr marL="27000" marR="27000" marT="12700" marB="12700">
                    <a:noFill/>
                  </a:tcPr>
                </a:tc>
                <a:extLst>
                  <a:ext uri="{0D108BD9-81ED-4DB2-BD59-A6C34878D82A}">
                    <a16:rowId xmlns:a16="http://schemas.microsoft.com/office/drawing/2014/main" val="10003"/>
                  </a:ext>
                </a:extLst>
              </a:tr>
              <a:tr h="683046">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PwC</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AWS Native（S3 + Glue + Redshift）</a:t>
                      </a:r>
                    </a:p>
                  </a:txBody>
                  <a:tcPr marL="27000" marR="27000" marT="12700" marB="12700">
                    <a:noFill/>
                  </a:tcPr>
                </a:tc>
                <a:tc>
                  <a:txBody>
                    <a:bodyPr/>
                    <a:lstStyle/>
                    <a:p>
                      <a:pPr marL="0" marR="0" indent="0" algn="l" defTabSz="914400" eaLnBrk="1" fontAlgn="auto" latinLnBrk="0" hangingPunct="1">
                        <a:lnSpc>
                          <a:spcPct val="115000"/>
                        </a:lnSpc>
                        <a:spcBef>
                          <a:spcPts val="0"/>
                        </a:spcBef>
                        <a:spcAft>
                          <a:spcPts val="0"/>
                        </a:spcAft>
                        <a:buClrTx/>
                        <a:buSzTx/>
                        <a:buFontTx/>
                        <a:buNone/>
                        <a:tabLst/>
                        <a:defRPr/>
                      </a:pPr>
                      <a:r>
                        <a:rPr lang="ja" sz="800" dirty="0">
                          <a:solidFill>
                            <a:srgbClr val="3A7D44"/>
                          </a:solidFill>
                          <a:latin typeface="游ゴシック" panose="020B0400000000000000" pitchFamily="50" charset="-128"/>
                          <a:ea typeface="游ゴシック" panose="020B0400000000000000" pitchFamily="50" charset="-128"/>
                        </a:rPr>
                        <a:t>○</a:t>
                      </a:r>
                      <a:r>
                        <a:rPr lang="ja-JP" altLang="en-US" sz="800">
                          <a:solidFill>
                            <a:srgbClr val="3A7D44"/>
                          </a:solidFill>
                          <a:latin typeface="游ゴシック" panose="020B0400000000000000" pitchFamily="50" charset="-128"/>
                          <a:ea typeface="游ゴシック" panose="020B0400000000000000" pitchFamily="50" charset="-128"/>
                        </a:rPr>
                        <a:t>最も包括的な試算。</a:t>
                      </a:r>
                      <a:r>
                        <a:rPr lang="en" altLang="ja" sz="800" dirty="0">
                          <a:solidFill>
                            <a:srgbClr val="3A7D44"/>
                          </a:solidFill>
                          <a:latin typeface="游ゴシック" panose="020B0400000000000000" pitchFamily="50" charset="-128"/>
                          <a:ea typeface="游ゴシック" panose="020B0400000000000000" pitchFamily="50" charset="-128"/>
                        </a:rPr>
                        <a:t>Step2</a:t>
                      </a:r>
                      <a:r>
                        <a:rPr lang="ja-JP" altLang="en-US" sz="800">
                          <a:solidFill>
                            <a:srgbClr val="3A7D44"/>
                          </a:solidFill>
                          <a:latin typeface="游ゴシック" panose="020B0400000000000000" pitchFamily="50" charset="-128"/>
                          <a:ea typeface="游ゴシック" panose="020B0400000000000000" pitchFamily="50" charset="-128"/>
                        </a:rPr>
                        <a:t>推奨</a:t>
                      </a:r>
                      <a:r>
                        <a:rPr lang="en-US" altLang="ja-JP" sz="800" dirty="0">
                          <a:solidFill>
                            <a:srgbClr val="3A7D44"/>
                          </a:solidFill>
                          <a:latin typeface="游ゴシック" panose="020B0400000000000000" pitchFamily="50" charset="-128"/>
                          <a:ea typeface="游ゴシック" panose="020B0400000000000000" pitchFamily="50" charset="-128"/>
                        </a:rPr>
                        <a:t>: </a:t>
                      </a:r>
                      <a:r>
                        <a:rPr lang="ja-JP" altLang="en-US" sz="800">
                          <a:solidFill>
                            <a:srgbClr val="3A7D44"/>
                          </a:solidFill>
                          <a:latin typeface="游ゴシック" panose="020B0400000000000000" pitchFamily="50" charset="-128"/>
                          <a:ea typeface="游ゴシック" panose="020B0400000000000000" pitchFamily="50" charset="-128"/>
                        </a:rPr>
                        <a:t>初期</a:t>
                      </a:r>
                      <a:r>
                        <a:rPr lang="en-US" altLang="ja-JP" sz="800" dirty="0">
                          <a:solidFill>
                            <a:srgbClr val="3A7D44"/>
                          </a:solidFill>
                          <a:latin typeface="游ゴシック" panose="020B0400000000000000" pitchFamily="50" charset="-128"/>
                          <a:ea typeface="游ゴシック" panose="020B0400000000000000" pitchFamily="50" charset="-128"/>
                        </a:rPr>
                        <a:t>1.6〜2.3</a:t>
                      </a:r>
                      <a:r>
                        <a:rPr lang="ja-JP" altLang="en-US" sz="800">
                          <a:solidFill>
                            <a:srgbClr val="3A7D44"/>
                          </a:solidFill>
                          <a:latin typeface="游ゴシック" panose="020B0400000000000000" pitchFamily="50" charset="-128"/>
                          <a:ea typeface="游ゴシック" panose="020B0400000000000000" pitchFamily="50" charset="-128"/>
                        </a:rPr>
                        <a:t>億円、年間</a:t>
                      </a:r>
                      <a:r>
                        <a:rPr lang="en-US" altLang="ja-JP" sz="800" dirty="0">
                          <a:solidFill>
                            <a:srgbClr val="3A7D44"/>
                          </a:solidFill>
                          <a:latin typeface="游ゴシック" panose="020B0400000000000000" pitchFamily="50" charset="-128"/>
                          <a:ea typeface="游ゴシック" panose="020B0400000000000000" pitchFamily="50" charset="-128"/>
                        </a:rPr>
                        <a:t>2,400</a:t>
                      </a:r>
                      <a:r>
                        <a:rPr lang="ja-JP" altLang="en-US" sz="800">
                          <a:solidFill>
                            <a:srgbClr val="3A7D44"/>
                          </a:solidFill>
                          <a:latin typeface="游ゴシック" panose="020B0400000000000000" pitchFamily="50" charset="-128"/>
                          <a:ea typeface="游ゴシック" panose="020B0400000000000000" pitchFamily="50" charset="-128"/>
                        </a:rPr>
                        <a:t>万円。年間ランニングに</a:t>
                      </a:r>
                      <a:r>
                        <a:rPr lang="en" altLang="ja" sz="800" dirty="0">
                          <a:solidFill>
                            <a:srgbClr val="3A7D44"/>
                          </a:solidFill>
                          <a:latin typeface="游ゴシック" panose="020B0400000000000000" pitchFamily="50" charset="-128"/>
                          <a:ea typeface="游ゴシック" panose="020B0400000000000000" pitchFamily="50" charset="-128"/>
                        </a:rPr>
                        <a:t>AWS</a:t>
                      </a:r>
                      <a:r>
                        <a:rPr lang="ja-JP" altLang="en-US" sz="800">
                          <a:solidFill>
                            <a:srgbClr val="3A7D44"/>
                          </a:solidFill>
                          <a:latin typeface="游ゴシック" panose="020B0400000000000000" pitchFamily="50" charset="-128"/>
                          <a:ea typeface="游ゴシック" panose="020B0400000000000000" pitchFamily="50" charset="-128"/>
                        </a:rPr>
                        <a:t>費用</a:t>
                      </a:r>
                      <a:r>
                        <a:rPr lang="en-US" altLang="ja-JP" sz="800" dirty="0">
                          <a:solidFill>
                            <a:srgbClr val="3A7D44"/>
                          </a:solidFill>
                          <a:latin typeface="游ゴシック" panose="020B0400000000000000" pitchFamily="50" charset="-128"/>
                          <a:ea typeface="游ゴシック" panose="020B0400000000000000" pitchFamily="50" charset="-128"/>
                        </a:rPr>
                        <a:t>(1,200</a:t>
                      </a:r>
                      <a:r>
                        <a:rPr lang="ja-JP" altLang="en-US" sz="800">
                          <a:solidFill>
                            <a:srgbClr val="3A7D44"/>
                          </a:solidFill>
                          <a:latin typeface="游ゴシック" panose="020B0400000000000000" pitchFamily="50" charset="-128"/>
                          <a:ea typeface="游ゴシック" panose="020B0400000000000000" pitchFamily="50" charset="-128"/>
                        </a:rPr>
                        <a:t>万</a:t>
                      </a:r>
                      <a:r>
                        <a:rPr lang="en-US" altLang="ja-JP" sz="800" dirty="0">
                          <a:solidFill>
                            <a:srgbClr val="3A7D44"/>
                          </a:solidFill>
                          <a:latin typeface="游ゴシック" panose="020B0400000000000000" pitchFamily="50" charset="-128"/>
                          <a:ea typeface="游ゴシック" panose="020B0400000000000000" pitchFamily="50" charset="-128"/>
                        </a:rPr>
                        <a:t>)+</a:t>
                      </a:r>
                      <a:r>
                        <a:rPr lang="en" altLang="ja" sz="800" dirty="0">
                          <a:solidFill>
                            <a:srgbClr val="3A7D44"/>
                          </a:solidFill>
                          <a:latin typeface="游ゴシック" panose="020B0400000000000000" pitchFamily="50" charset="-128"/>
                          <a:ea typeface="游ゴシック" panose="020B0400000000000000" pitchFamily="50" charset="-128"/>
                        </a:rPr>
                        <a:t>Tableau(600</a:t>
                      </a:r>
                      <a:r>
                        <a:rPr lang="ja-JP" altLang="en-US" sz="800">
                          <a:solidFill>
                            <a:srgbClr val="3A7D44"/>
                          </a:solidFill>
                          <a:latin typeface="游ゴシック" panose="020B0400000000000000" pitchFamily="50" charset="-128"/>
                          <a:ea typeface="游ゴシック" panose="020B0400000000000000" pitchFamily="50" charset="-128"/>
                        </a:rPr>
                        <a:t>万</a:t>
                      </a:r>
                      <a:r>
                        <a:rPr lang="en-US" altLang="ja-JP" sz="800" dirty="0">
                          <a:solidFill>
                            <a:srgbClr val="3A7D44"/>
                          </a:solidFill>
                          <a:latin typeface="游ゴシック" panose="020B0400000000000000" pitchFamily="50" charset="-128"/>
                          <a:ea typeface="游ゴシック" panose="020B0400000000000000" pitchFamily="50" charset="-128"/>
                        </a:rPr>
                        <a:t>)+</a:t>
                      </a:r>
                      <a:r>
                        <a:rPr lang="ja-JP" altLang="en-US" sz="800">
                          <a:solidFill>
                            <a:srgbClr val="3A7D44"/>
                          </a:solidFill>
                          <a:latin typeface="游ゴシック" panose="020B0400000000000000" pitchFamily="50" charset="-128"/>
                          <a:ea typeface="游ゴシック" panose="020B0400000000000000" pitchFamily="50" charset="-128"/>
                        </a:rPr>
                        <a:t>運用保守</a:t>
                      </a:r>
                      <a:r>
                        <a:rPr lang="en-US" altLang="ja-JP" sz="800" dirty="0">
                          <a:solidFill>
                            <a:srgbClr val="3A7D44"/>
                          </a:solidFill>
                          <a:latin typeface="游ゴシック" panose="020B0400000000000000" pitchFamily="50" charset="-128"/>
                          <a:ea typeface="游ゴシック" panose="020B0400000000000000" pitchFamily="50" charset="-128"/>
                        </a:rPr>
                        <a:t>(600</a:t>
                      </a:r>
                      <a:r>
                        <a:rPr lang="ja-JP" altLang="en-US" sz="800">
                          <a:solidFill>
                            <a:srgbClr val="3A7D44"/>
                          </a:solidFill>
                          <a:latin typeface="游ゴシック" panose="020B0400000000000000" pitchFamily="50" charset="-128"/>
                          <a:ea typeface="游ゴシック" panose="020B0400000000000000" pitchFamily="50" charset="-128"/>
                        </a:rPr>
                        <a:t>万</a:t>
                      </a:r>
                      <a:r>
                        <a:rPr lang="en-US" altLang="ja-JP" sz="800" dirty="0">
                          <a:solidFill>
                            <a:srgbClr val="3A7D44"/>
                          </a:solidFill>
                          <a:latin typeface="游ゴシック" panose="020B0400000000000000" pitchFamily="50" charset="-128"/>
                          <a:ea typeface="游ゴシック" panose="020B0400000000000000" pitchFamily="50" charset="-128"/>
                        </a:rPr>
                        <a:t>)</a:t>
                      </a:r>
                      <a:r>
                        <a:rPr lang="ja-JP" altLang="en-US" sz="800">
                          <a:solidFill>
                            <a:srgbClr val="3A7D44"/>
                          </a:solidFill>
                          <a:latin typeface="游ゴシック" panose="020B0400000000000000" pitchFamily="50" charset="-128"/>
                          <a:ea typeface="游ゴシック" panose="020B0400000000000000" pitchFamily="50" charset="-128"/>
                        </a:rPr>
                        <a:t>が全て含まれる。</a:t>
                      </a:r>
                      <a:endParaRPr lang="ja" sz="800" dirty="0">
                        <a:solidFill>
                          <a:srgbClr val="3A7D44"/>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Glue上でPySpark動作可能だが、移行の具体策なし。ユーザー作成レポートはスコープ外</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ガバナンス・マスターデータ管理の設計は最も体系的。一方でAWS個別サービスの運用負荷が高い</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推奨。</a:t>
                      </a:r>
                      <a:r>
                        <a:rPr lang="en" altLang="ja" sz="800" dirty="0">
                          <a:solidFill>
                            <a:srgbClr val="B8860B"/>
                          </a:solidFill>
                          <a:latin typeface="游ゴシック" panose="020B0400000000000000" pitchFamily="50" charset="-128"/>
                          <a:ea typeface="游ゴシック" panose="020B0400000000000000" pitchFamily="50" charset="-128"/>
                        </a:rPr>
                        <a:t>Step2</a:t>
                      </a:r>
                      <a:r>
                        <a:rPr lang="ja-JP" altLang="en-US" sz="800" dirty="0">
                          <a:solidFill>
                            <a:srgbClr val="B8860B"/>
                          </a:solidFill>
                          <a:latin typeface="游ゴシック" panose="020B0400000000000000" pitchFamily="50" charset="-128"/>
                          <a:ea typeface="游ゴシック" panose="020B0400000000000000" pitchFamily="50" charset="-128"/>
                        </a:rPr>
                        <a:t>でセルフ</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dirty="0">
                          <a:solidFill>
                            <a:srgbClr val="B8860B"/>
                          </a:solidFill>
                          <a:latin typeface="游ゴシック" panose="020B0400000000000000" pitchFamily="50" charset="-128"/>
                          <a:ea typeface="游ゴシック" panose="020B0400000000000000" pitchFamily="50" charset="-128"/>
                        </a:rPr>
                        <a:t>環境整備</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Step1/2にAI機能なし。Step3のみ</a:t>
                      </a:r>
                    </a:p>
                  </a:txBody>
                  <a:tcPr marL="27000" marR="27000" marT="12700" marB="12700">
                    <a:noFill/>
                  </a:tcPr>
                </a:tc>
                <a:extLst>
                  <a:ext uri="{0D108BD9-81ED-4DB2-BD59-A6C34878D82A}">
                    <a16:rowId xmlns:a16="http://schemas.microsoft.com/office/drawing/2014/main" val="10004"/>
                  </a:ext>
                </a:extLst>
              </a:tr>
              <a:tr h="51816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Hitachi</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Snowflake + HULFT Square</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未提示（製薬会社の参考事例のみ）</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PySpark全面書換え（Snowpark）が必要。移行工数が読めない</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Snowflakeはフルマネージドで運用負荷が極めて低い。データ分析民主化の育成計画が最も具体的。HIPAA準拠</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DataRobot + Cortex AI。機能はあるがSnowflake内で完結</a:t>
                      </a:r>
                    </a:p>
                  </a:txBody>
                  <a:tcPr marL="27000" marR="27000" marT="12700" marB="12700">
                    <a:noFill/>
                  </a:tcPr>
                </a:tc>
                <a:extLst>
                  <a:ext uri="{0D108BD9-81ED-4DB2-BD59-A6C34878D82A}">
                    <a16:rowId xmlns:a16="http://schemas.microsoft.com/office/drawing/2014/main" val="10005"/>
                  </a:ext>
                </a:extLst>
              </a:tr>
              <a:tr h="518160">
                <a:tc>
                  <a:txBody>
                    <a:bodyPr/>
                    <a:lstStyle/>
                    <a:p>
                      <a:pPr algn="l">
                        <a:lnSpc>
                          <a:spcPct val="115000"/>
                        </a:lnSpc>
                        <a:spcBef>
                          <a:spcPts val="0"/>
                        </a:spcBef>
                        <a:spcAft>
                          <a:spcPts val="0"/>
                        </a:spcAft>
                      </a:pPr>
                      <a:r>
                        <a:rPr lang="ja" sz="1000" b="1" dirty="0">
                          <a:solidFill>
                            <a:srgbClr val="121212"/>
                          </a:solidFill>
                          <a:latin typeface="游ゴシック" panose="020B0400000000000000" pitchFamily="50" charset="-128"/>
                          <a:ea typeface="游ゴシック" panose="020B0400000000000000" pitchFamily="50" charset="-128"/>
                        </a:rPr>
                        <a:t>SF</a:t>
                      </a:r>
                    </a:p>
                  </a:txBody>
                  <a:tcPr marL="27000" marR="27000" marT="12700" marB="12700">
                    <a:noFill/>
                  </a:tcPr>
                </a:tc>
                <a:tc>
                  <a:txBody>
                    <a:bodyPr/>
                    <a:lstStyle/>
                    <a:p>
                      <a:pPr algn="l">
                        <a:lnSpc>
                          <a:spcPct val="115000"/>
                        </a:lnSpc>
                        <a:spcBef>
                          <a:spcPts val="0"/>
                        </a:spcBef>
                        <a:spcAft>
                          <a:spcPts val="0"/>
                        </a:spcAft>
                      </a:pPr>
                      <a:r>
                        <a:rPr lang="ja" sz="1000" dirty="0">
                          <a:solidFill>
                            <a:srgbClr val="121212"/>
                          </a:solidFill>
                          <a:latin typeface="游ゴシック" panose="020B0400000000000000" pitchFamily="50" charset="-128"/>
                          <a:ea typeface="游ゴシック" panose="020B0400000000000000" pitchFamily="50" charset="-128"/>
                        </a:rPr>
                        <a:t>Tableau Cloud + Data 360</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梅でも年6,500万円、松は年2.48億円</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データ基盤なし（BI専業）。PySpark非対応</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SaaS型でBI運用負荷は低いが、データ基盤の運用は別途必要</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松プランのData 360でBYOM対応。ただし松プランのみ</a:t>
                      </a:r>
                    </a:p>
                  </a:txBody>
                  <a:tcPr marL="27000" marR="27000" marT="12700" marB="12700">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2934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sp>
        <p:nvSpPr>
          <p:cNvPr id="271" name="Google Shape;271;p11"/>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4.2</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6社RFI回答のレビュー (AI</a:t>
            </a:r>
            <a:r>
              <a:rPr lang="ja-JP" altLang="en-US"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活用における優先</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観点)</a:t>
            </a:r>
            <a:endParaRPr sz="1800" b="0" i="0" u="none" strike="noStrike" cap="none" dirty="0">
              <a:solidFill>
                <a:schemeClr val="dk1"/>
              </a:solidFill>
              <a:latin typeface="Calibri"/>
              <a:ea typeface="Calibri"/>
              <a:cs typeface="Calibri"/>
              <a:sym typeface="Calibri"/>
            </a:endParaRPr>
          </a:p>
        </p:txBody>
      </p:sp>
      <p:sp>
        <p:nvSpPr>
          <p:cNvPr id="272" name="Google Shape;272;p11"/>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評価観点に照らし、AI観点で6社のRFI回答を評価する</a:t>
            </a:r>
            <a:endParaRPr sz="1000" b="1" i="0" u="none" strike="noStrike" cap="none" dirty="0">
              <a:solidFill>
                <a:schemeClr val="tx1"/>
              </a:solidFill>
              <a:latin typeface="Calibri"/>
              <a:ea typeface="Calibri"/>
              <a:cs typeface="Calibri"/>
              <a:sym typeface="Calibri"/>
            </a:endParaRPr>
          </a:p>
        </p:txBody>
      </p:sp>
      <p:cxnSp>
        <p:nvCxnSpPr>
          <p:cNvPr id="273" name="Google Shape;273;p11"/>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74" name="Google Shape;274;p11"/>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275" name="Google Shape;275;p11"/>
          <p:cNvSpPr/>
          <p:nvPr/>
        </p:nvSpPr>
        <p:spPr>
          <a:xfrm>
            <a:off x="8067754" y="4930825"/>
            <a:ext cx="74685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15</a:t>
            </a:r>
            <a:endParaRPr sz="550" b="0" i="0" u="none" strike="noStrike" cap="none" dirty="0">
              <a:solidFill>
                <a:schemeClr val="dk1"/>
              </a:solidFill>
              <a:latin typeface="Calibri"/>
              <a:ea typeface="Calibri"/>
              <a:cs typeface="Calibri"/>
              <a:sym typeface="Calibri"/>
            </a:endParaRPr>
          </a:p>
        </p:txBody>
      </p:sp>
      <p:graphicFrame>
        <p:nvGraphicFramePr>
          <p:cNvPr id="276" name="Google Shape;276;p11"/>
          <p:cNvGraphicFramePr/>
          <p:nvPr>
            <p:extLst>
              <p:ext uri="{D42A27DB-BD31-4B8C-83A1-F6EECF244321}">
                <p14:modId xmlns:p14="http://schemas.microsoft.com/office/powerpoint/2010/main" val="1752886119"/>
              </p:ext>
            </p:extLst>
          </p:nvPr>
        </p:nvGraphicFramePr>
        <p:xfrm>
          <a:off x="406400" y="877824"/>
          <a:ext cx="8331175" cy="3323555"/>
        </p:xfrm>
        <a:graphic>
          <a:graphicData uri="http://schemas.openxmlformats.org/drawingml/2006/table">
            <a:tbl>
              <a:tblPr>
                <a:noFill/>
                <a:tableStyleId>{831F8A93-CA79-4AF6-B420-68E9A51CCC31}</a:tableStyleId>
              </a:tblPr>
              <a:tblGrid>
                <a:gridCol w="418700">
                  <a:extLst>
                    <a:ext uri="{9D8B030D-6E8A-4147-A177-3AD203B41FA5}">
                      <a16:colId xmlns:a16="http://schemas.microsoft.com/office/drawing/2014/main" val="20000"/>
                    </a:ext>
                  </a:extLst>
                </a:gridCol>
                <a:gridCol w="837375">
                  <a:extLst>
                    <a:ext uri="{9D8B030D-6E8A-4147-A177-3AD203B41FA5}">
                      <a16:colId xmlns:a16="http://schemas.microsoft.com/office/drawing/2014/main" val="20001"/>
                    </a:ext>
                  </a:extLst>
                </a:gridCol>
                <a:gridCol w="1160225">
                  <a:extLst>
                    <a:ext uri="{9D8B030D-6E8A-4147-A177-3AD203B41FA5}">
                      <a16:colId xmlns:a16="http://schemas.microsoft.com/office/drawing/2014/main" val="20002"/>
                    </a:ext>
                  </a:extLst>
                </a:gridCol>
                <a:gridCol w="1160225">
                  <a:extLst>
                    <a:ext uri="{9D8B030D-6E8A-4147-A177-3AD203B41FA5}">
                      <a16:colId xmlns:a16="http://schemas.microsoft.com/office/drawing/2014/main" val="20003"/>
                    </a:ext>
                  </a:extLst>
                </a:gridCol>
                <a:gridCol w="1160225">
                  <a:extLst>
                    <a:ext uri="{9D8B030D-6E8A-4147-A177-3AD203B41FA5}">
                      <a16:colId xmlns:a16="http://schemas.microsoft.com/office/drawing/2014/main" val="20004"/>
                    </a:ext>
                  </a:extLst>
                </a:gridCol>
                <a:gridCol w="1160225">
                  <a:extLst>
                    <a:ext uri="{9D8B030D-6E8A-4147-A177-3AD203B41FA5}">
                      <a16:colId xmlns:a16="http://schemas.microsoft.com/office/drawing/2014/main" val="20005"/>
                    </a:ext>
                  </a:extLst>
                </a:gridCol>
                <a:gridCol w="1160225">
                  <a:extLst>
                    <a:ext uri="{9D8B030D-6E8A-4147-A177-3AD203B41FA5}">
                      <a16:colId xmlns:a16="http://schemas.microsoft.com/office/drawing/2014/main" val="20006"/>
                    </a:ext>
                  </a:extLst>
                </a:gridCol>
                <a:gridCol w="1273975">
                  <a:extLst>
                    <a:ext uri="{9D8B030D-6E8A-4147-A177-3AD203B41FA5}">
                      <a16:colId xmlns:a16="http://schemas.microsoft.com/office/drawing/2014/main" val="20007"/>
                    </a:ext>
                  </a:extLst>
                </a:gridCol>
              </a:tblGrid>
              <a:tr h="381000">
                <a:tc>
                  <a:txBody>
                    <a:bodyPr/>
                    <a:lstStyle/>
                    <a:p>
                      <a:pPr marL="0" marR="0" lvl="0" indent="0" algn="ctr" rtl="0">
                        <a:lnSpc>
                          <a:spcPct val="100000"/>
                        </a:lnSpc>
                        <a:spcBef>
                          <a:spcPts val="0"/>
                        </a:spcBef>
                        <a:spcAft>
                          <a:spcPts val="0"/>
                        </a:spcAft>
                        <a:buClr>
                          <a:srgbClr val="FFFFFF"/>
                        </a:buClr>
                        <a:buSzPts val="6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要件</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評価項目</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Deloitte</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Fujitsu</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PwC</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Hitachi</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SF</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Sky</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extLst>
                  <a:ext uri="{0D108BD9-81ED-4DB2-BD59-A6C34878D82A}">
                    <a16:rowId xmlns:a16="http://schemas.microsoft.com/office/drawing/2014/main" val="10000"/>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US" sz="800" b="1" u="none" strike="noStrike" cap="none" dirty="0" err="1">
                          <a:solidFill>
                            <a:srgbClr val="5298BA"/>
                          </a:solidFill>
                          <a:latin typeface="游ゴシック" panose="020B0400000000000000" pitchFamily="50" charset="-128"/>
                          <a:cs typeface="Arial"/>
                          <a:sym typeface="Arial"/>
                        </a:rPr>
                        <a:t>AI拡張</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非構造化</a:t>
                      </a:r>
                      <a:endParaRPr sz="800" u="none" strike="noStrike" cap="none" dirty="0"/>
                    </a:p>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データ対応</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+OpenSearch</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Step3先送り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Document AI</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+Cortex Search</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 360</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松プラン限定</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AI Functions+RAG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+AI-OCR</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2</a:t>
                      </a:r>
                      <a:endParaRPr lang="en-US" alt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endParaRPr>
                    </a:p>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cs typeface="Arial"/>
                          <a:sym typeface="Arial"/>
                        </a:rPr>
                        <a:t>運用</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カタログ</a:t>
                      </a:r>
                      <a:endParaRPr sz="800" u="none" strike="noStrike" cap="none" dirty="0"/>
                    </a:p>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・リネージ</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自動リネージ+品質</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DI Basic内蔵</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DataZone</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リネージ+MDM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Snowflake内蔵</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専用カタログなし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 360</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松プラン限定</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松プランのみ</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2</a:t>
                      </a:r>
                      <a:endPar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endParaRPr>
                    </a:p>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cs typeface="Arial"/>
                          <a:sym typeface="Arial"/>
                        </a:rPr>
                        <a:t>運用</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権限管理</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RLS+列マスキング</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IAM+Cognito</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RLS対応</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Snowflake RLS</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+マスキング</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Trust Layer</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RLS+CRLS</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IAM（梅竹）</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Unity Catalog RLS（松）</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rPr>
                        <a:t>AI開発</a:t>
                      </a: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ロックイン</a:t>
                      </a:r>
                      <a:endParaRPr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Delta Lake/MLflow</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rPr>
                        <a:t>aws構成での</a:t>
                      </a:r>
                      <a:endParaRPr sz="800" u="none" strike="noStrike" cap="none" dirty="0">
                        <a:solidFill>
                          <a:srgbClr val="B8860B"/>
                        </a:solidFill>
                      </a:endParaRPr>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Dify依存に注意</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AI層がKozuchi</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独自依存度大</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AWS標準サービス</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移行先あり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Snowflake内部形式</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移行時は書直し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SF閉域</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全面作直しリスク</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Delta Lake</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+Databricks（松）</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マルチLLM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t>
                      </a:r>
                      <a:r>
                        <a:rPr lang="ja" sz="800" u="none" strike="noStrike" cap="none" dirty="0">
                          <a:solidFill>
                            <a:srgbClr val="3A7D44"/>
                          </a:solidFill>
                        </a:rPr>
                        <a:t>databricks</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経由</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GPT/Claude/Llama等</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Kozuchi/Takane</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独自LLM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t>
                      </a: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Bedrock前提</a:t>
                      </a:r>
                      <a:endParaRPr sz="800" u="none" strike="noStrike" cap="none" dirty="0">
                        <a:solidFill>
                          <a:srgbClr val="B8860B"/>
                        </a:solidFill>
                      </a:endParaRPr>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マルチLLM可能</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Cortex経由</a:t>
                      </a:r>
                      <a:endParaRPr sz="800" u="none" strike="noStrike" cap="none" dirty="0">
                        <a:solidFill>
                          <a:srgbClr val="3A7D44"/>
                        </a:solidFill>
                      </a:endParaRPr>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Claude/Llama等</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Einstein独自</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SF内で完結</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t>
                      </a:r>
                      <a:r>
                        <a:rPr lang="ja" sz="800" u="none" strike="noStrike" cap="none" dirty="0">
                          <a:solidFill>
                            <a:srgbClr val="3A7D44"/>
                          </a:solidFill>
                        </a:rPr>
                        <a:t>databricks経由</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GPT/Claude/Llama等</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AI/ML開発環境・ 将来拡張性</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Agentic AI構成図</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MLflow+Registry</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Dev/Stg/Prod分離</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Notebook統合環境</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Basic内蔵</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詳細不明</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環境分離の具体設計なし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AI/MLは将来検討扱い</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実験環境の提案なし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DataRobot MLOps</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Snowflake内で完結</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環境分離方法不明</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松プランのみ</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Einstein Studio</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独自閉域環境</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Mosaic AI+MLflow</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Agent Bricks</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梅竹松で段階的環境提供</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松でSandbox設計あり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277" name="Google Shape;277;p11"/>
          <p:cNvSpPr txBox="1"/>
          <p:nvPr/>
        </p:nvSpPr>
        <p:spPr>
          <a:xfrm>
            <a:off x="406400" y="4224925"/>
            <a:ext cx="8331200" cy="660400"/>
          </a:xfrm>
          <a:prstGeom prst="rect">
            <a:avLst/>
          </a:prstGeom>
          <a:noFill/>
          <a:ln>
            <a:noFill/>
          </a:ln>
        </p:spPr>
        <p:txBody>
          <a:bodyPr spcFirstLastPara="1" wrap="square" lIns="36000" tIns="18000" rIns="36000" bIns="1800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333333"/>
                </a:solidFill>
                <a:latin typeface="游ゴシック" panose="020B0400000000000000" pitchFamily="50" charset="-128"/>
                <a:ea typeface="游ゴシック" panose="020B0400000000000000" pitchFamily="50" charset="-128"/>
                <a:sym typeface="Arial"/>
              </a:rPr>
              <a:t>補足: AI開発ロックインの評価基準</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50"/>
              </a:spcBef>
              <a:spcAft>
                <a:spcPts val="0"/>
              </a:spcAft>
              <a:buClr>
                <a:srgbClr val="000000"/>
              </a:buClr>
              <a:buSzPts val="800"/>
              <a:buFont typeface="Arial"/>
              <a:buNone/>
            </a:pPr>
            <a:r>
              <a:rPr lang="ja" sz="800" b="0" i="0" u="none" strike="noStrike" cap="none" dirty="0">
                <a:solidFill>
                  <a:srgbClr val="DB5F5F"/>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独自製品依存（乗り換え＝全面作り直し）… Kozuchi、Einstein等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25"/>
              </a:spcBef>
              <a:spcAft>
                <a:spcPts val="0"/>
              </a:spcAft>
              <a:buClr>
                <a:srgbClr val="000000"/>
              </a:buClr>
              <a:buSzPts val="800"/>
              <a:buFont typeface="Arial"/>
              <a:buNone/>
            </a:pPr>
            <a:r>
              <a:rPr lang="ja" sz="800" b="0" i="0" u="none" strike="noStrike" cap="none" dirty="0">
                <a:solidFill>
                  <a:srgbClr val="B8860B"/>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特定PF依存（乗り換え可能だが書き直しコスト発生）… Snowflake内部形式等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25"/>
              </a:spcBef>
              <a:spcAft>
                <a:spcPts val="0"/>
              </a:spcAft>
              <a:buClr>
                <a:srgbClr val="000000"/>
              </a:buClr>
              <a:buSzPts val="800"/>
              <a:buFont typeface="Arial"/>
              <a:buNone/>
            </a:pPr>
            <a:r>
              <a:rPr lang="ja" sz="800" b="0" i="0" u="none" strike="noStrike" cap="none" dirty="0">
                <a:solidFill>
                  <a:srgbClr val="3A7D44"/>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業界標準 or OSS（移行先が複数あり現実的に乗り換え可能）… AWS標準、Delta/Iceberg等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3"/>
        <p:cNvGrpSpPr/>
        <p:nvPr/>
      </p:nvGrpSpPr>
      <p:grpSpPr>
        <a:xfrm>
          <a:off x="0" y="0"/>
          <a:ext cx="0" cy="0"/>
          <a:chOff x="0" y="0"/>
          <a:chExt cx="0" cy="0"/>
        </a:xfrm>
      </p:grpSpPr>
      <p:sp>
        <p:nvSpPr>
          <p:cNvPr id="284" name="Google Shape;284;p12"/>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4.3</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6社RFI回答のレビュー (AI以外の観点)</a:t>
            </a:r>
            <a:endParaRPr sz="1800" b="0" i="0" u="none" strike="noStrike" cap="none" dirty="0">
              <a:solidFill>
                <a:schemeClr val="dk1"/>
              </a:solidFill>
              <a:latin typeface="Calibri"/>
              <a:ea typeface="Calibri"/>
              <a:cs typeface="Calibri"/>
              <a:sym typeface="Calibri"/>
            </a:endParaRPr>
          </a:p>
        </p:txBody>
      </p:sp>
      <p:sp>
        <p:nvSpPr>
          <p:cNvPr id="285" name="Google Shape;285;p12"/>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各社のRFI回答をAI以外の観点で評価</a:t>
            </a:r>
            <a:endParaRPr sz="1000" b="1" i="0" u="none" strike="noStrike" cap="none" dirty="0">
              <a:solidFill>
                <a:schemeClr val="tx1"/>
              </a:solidFill>
              <a:latin typeface="Calibri"/>
              <a:ea typeface="Calibri"/>
              <a:cs typeface="Calibri"/>
              <a:sym typeface="Calibri"/>
            </a:endParaRPr>
          </a:p>
        </p:txBody>
      </p:sp>
      <p:cxnSp>
        <p:nvCxnSpPr>
          <p:cNvPr id="286" name="Google Shape;286;p12"/>
          <p:cNvCxnSpPr/>
          <p:nvPr/>
        </p:nvCxnSpPr>
        <p:spPr>
          <a:xfrm>
            <a:off x="0" y="4867628"/>
            <a:ext cx="9144000" cy="0"/>
          </a:xfrm>
          <a:prstGeom prst="straightConnector1">
            <a:avLst/>
          </a:prstGeom>
          <a:noFill/>
          <a:ln w="9525" cap="flat" cmpd="sng">
            <a:solidFill>
              <a:srgbClr val="E0E0E0"/>
            </a:solidFill>
            <a:prstDash val="solid"/>
            <a:round/>
            <a:headEnd type="none" w="sm" len="sm"/>
            <a:tailEnd type="none" w="sm" len="sm"/>
          </a:ln>
        </p:spPr>
      </p:cxnSp>
      <p:sp>
        <p:nvSpPr>
          <p:cNvPr id="287" name="Google Shape;287;p12"/>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88" name="Google Shape;288;p12"/>
          <p:cNvSpPr/>
          <p:nvPr/>
        </p:nvSpPr>
        <p:spPr>
          <a:xfrm>
            <a:off x="8101709" y="4930825"/>
            <a:ext cx="67881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16</a:t>
            </a:r>
            <a:endParaRPr sz="500" b="0" i="0" u="none" strike="noStrike" cap="none" dirty="0">
              <a:solidFill>
                <a:schemeClr val="dk1"/>
              </a:solidFill>
              <a:latin typeface="Calibri"/>
              <a:ea typeface="Calibri"/>
              <a:cs typeface="Calibri"/>
              <a:sym typeface="Calibri"/>
            </a:endParaRPr>
          </a:p>
        </p:txBody>
      </p:sp>
      <p:graphicFrame>
        <p:nvGraphicFramePr>
          <p:cNvPr id="289" name="Google Shape;289;p12"/>
          <p:cNvGraphicFramePr/>
          <p:nvPr>
            <p:extLst>
              <p:ext uri="{D42A27DB-BD31-4B8C-83A1-F6EECF244321}">
                <p14:modId xmlns:p14="http://schemas.microsoft.com/office/powerpoint/2010/main" val="3789232422"/>
              </p:ext>
            </p:extLst>
          </p:nvPr>
        </p:nvGraphicFramePr>
        <p:xfrm>
          <a:off x="406400" y="877824"/>
          <a:ext cx="8331225" cy="3564270"/>
        </p:xfrm>
        <a:graphic>
          <a:graphicData uri="http://schemas.openxmlformats.org/drawingml/2006/table">
            <a:tbl>
              <a:tblPr>
                <a:noFill/>
                <a:tableStyleId>{831F8A93-CA79-4AF6-B420-68E9A51CCC31}</a:tableStyleId>
              </a:tblPr>
              <a:tblGrid>
                <a:gridCol w="1083475">
                  <a:extLst>
                    <a:ext uri="{9D8B030D-6E8A-4147-A177-3AD203B41FA5}">
                      <a16:colId xmlns:a16="http://schemas.microsoft.com/office/drawing/2014/main" val="20000"/>
                    </a:ext>
                  </a:extLst>
                </a:gridCol>
                <a:gridCol w="1354025">
                  <a:extLst>
                    <a:ext uri="{9D8B030D-6E8A-4147-A177-3AD203B41FA5}">
                      <a16:colId xmlns:a16="http://schemas.microsoft.com/office/drawing/2014/main" val="20001"/>
                    </a:ext>
                  </a:extLst>
                </a:gridCol>
                <a:gridCol w="1227725">
                  <a:extLst>
                    <a:ext uri="{9D8B030D-6E8A-4147-A177-3AD203B41FA5}">
                      <a16:colId xmlns:a16="http://schemas.microsoft.com/office/drawing/2014/main" val="20002"/>
                    </a:ext>
                  </a:extLst>
                </a:gridCol>
                <a:gridCol w="1125025">
                  <a:extLst>
                    <a:ext uri="{9D8B030D-6E8A-4147-A177-3AD203B41FA5}">
                      <a16:colId xmlns:a16="http://schemas.microsoft.com/office/drawing/2014/main" val="20003"/>
                    </a:ext>
                  </a:extLst>
                </a:gridCol>
                <a:gridCol w="1180325">
                  <a:extLst>
                    <a:ext uri="{9D8B030D-6E8A-4147-A177-3AD203B41FA5}">
                      <a16:colId xmlns:a16="http://schemas.microsoft.com/office/drawing/2014/main" val="20004"/>
                    </a:ext>
                  </a:extLst>
                </a:gridCol>
                <a:gridCol w="1180325">
                  <a:extLst>
                    <a:ext uri="{9D8B030D-6E8A-4147-A177-3AD203B41FA5}">
                      <a16:colId xmlns:a16="http://schemas.microsoft.com/office/drawing/2014/main" val="20005"/>
                    </a:ext>
                  </a:extLst>
                </a:gridCol>
                <a:gridCol w="1180325">
                  <a:extLst>
                    <a:ext uri="{9D8B030D-6E8A-4147-A177-3AD203B41FA5}">
                      <a16:colId xmlns:a16="http://schemas.microsoft.com/office/drawing/2014/main" val="20006"/>
                    </a:ext>
                  </a:extLst>
                </a:gridCol>
              </a:tblGrid>
              <a:tr h="381000">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評価項目</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Deloitte</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Fujitsu</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PwC</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Hitachi</a:t>
                      </a:r>
                      <a:endParaRPr sz="12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SF</a:t>
                      </a:r>
                      <a:endParaRPr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Sky</a:t>
                      </a:r>
                      <a:endParaRPr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extLst>
                  <a:ext uri="{0D108BD9-81ED-4DB2-BD59-A6C34878D82A}">
                    <a16:rowId xmlns:a16="http://schemas.microsoft.com/office/drawing/2014/main" val="10000"/>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コスト透明性/コスト</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○（Sケア個別の試算詳細）</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 △(試算はないが、現時点では不透明なため妥当)</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 (概算のみ)　</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△（Snowflake従量課金） </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700"/>
                        <a:buFont typeface="Arial"/>
                        <a:buNone/>
                        <a:tabLst/>
                        <a:defRPr/>
                      </a:pPr>
                      <a:r>
                        <a:rPr lang="en" altLang="ja" sz="800" u="none" strike="noStrike" cap="none" dirty="0">
                          <a:solidFill>
                            <a:srgbClr val="DB5F5F"/>
                          </a:solidFill>
                          <a:latin typeface="游ゴシック" panose="020B0400000000000000" pitchFamily="50" charset="-128"/>
                          <a:ea typeface="游ゴシック" panose="020B0400000000000000" pitchFamily="50" charset="-128"/>
                        </a:rPr>
                        <a:t>✕ (</a:t>
                      </a:r>
                      <a:r>
                        <a:rPr lang="ja-JP" altLang="en-US" sz="800" u="none" strike="noStrike" cap="none" dirty="0">
                          <a:solidFill>
                            <a:srgbClr val="DB5F5F"/>
                          </a:solidFill>
                          <a:latin typeface="游ゴシック" panose="020B0400000000000000" pitchFamily="50" charset="-128"/>
                          <a:ea typeface="游ゴシック" panose="020B0400000000000000" pitchFamily="50" charset="-128"/>
                        </a:rPr>
                        <a:t>オーバースペック</a:t>
                      </a:r>
                      <a:r>
                        <a:rPr lang="en-US" altLang="ja-JP" sz="800" u="none" strike="noStrike" cap="none" dirty="0">
                          <a:solidFill>
                            <a:srgbClr val="DB5F5F"/>
                          </a:solidFill>
                          <a:latin typeface="游ゴシック" panose="020B0400000000000000" pitchFamily="50" charset="-128"/>
                          <a:ea typeface="游ゴシック" panose="020B0400000000000000" pitchFamily="50" charset="-128"/>
                        </a:rPr>
                        <a:t>)</a:t>
                      </a:r>
                      <a:endParaRPr lang="ja-JP" altLang="en-US" sz="800" u="none" strike="noStrike" cap="none" dirty="0">
                        <a:solidFill>
                          <a:srgbClr val="B8860B"/>
                        </a:solidFill>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chemeClr val="dk1"/>
                        </a:buClr>
                        <a:buSzPts val="700"/>
                        <a:buFont typeface="Arial"/>
                        <a:buNone/>
                      </a:pP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○（AWS明細型）</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既存資産の再利用可能性</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○（PySpark native）</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○（PySpark native）</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○（Glue=PySpark可）</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△（Snowpark、PySpark互換だが変換要）  </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 (PySpark非対応)</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○（Glue or Databricks）</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ダッシュボード</a:t>
                      </a:r>
                      <a:endParaRPr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endParaRPr>
                    </a:p>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再現性</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chemeClr val="dk1"/>
                        </a:buClr>
                        <a:buSzPts val="700"/>
                        <a:buFont typeface="Arial"/>
                        <a:buNone/>
                      </a:pPr>
                      <a:r>
                        <a:rPr lang="ja" sz="600" b="1" u="none" strike="noStrike" cap="none" dirty="0">
                          <a:solidFill>
                            <a:srgbClr val="DB5F5F"/>
                          </a:solidFill>
                          <a:latin typeface="游ゴシック" panose="020B0400000000000000" pitchFamily="50" charset="-128"/>
                          <a:ea typeface="游ゴシック" panose="020B0400000000000000" pitchFamily="50" charset="-128"/>
                          <a:cs typeface="Calibri"/>
                          <a:sym typeface="Calibri"/>
                        </a:rPr>
                        <a:t>※Tableauで要件を満たすか要確認</a:t>
                      </a:r>
                      <a:endParaRPr sz="14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△（PowerBI/Tableau）</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△（Tableau推奨）</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△（Tableau/PowerBI対応）</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△（QuickSight）</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運用負荷</a:t>
                      </a:r>
                      <a:endParaRPr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○（マネージド中心、24/365グローバル保守体制）</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△（Databricks主体だが、Sケア主体前提）</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✕（AWS群の個別管理）</a:t>
                      </a:r>
                      <a:endParaRPr sz="800" u="none" strike="noStrike" cap="none" dirty="0">
                        <a:solidFill>
                          <a:srgbClr val="DB5F5F"/>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△（SaaS構成だが複数ベンダー管理） </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○（保守サービスの明記）</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53425">
                <a:tc>
                  <a:txBody>
                    <a:bodyPr/>
                    <a:lstStyle/>
                    <a:p>
                      <a:pPr marL="0" marR="0" lvl="0" indent="0" algn="l" rtl="0">
                        <a:lnSpc>
                          <a:spcPct val="100000"/>
                        </a:lnSpc>
                        <a:spcBef>
                          <a:spcPts val="0"/>
                        </a:spcBef>
                        <a:spcAft>
                          <a:spcPts val="0"/>
                        </a:spcAft>
                        <a:buClr>
                          <a:srgbClr val="000000"/>
                        </a:buClr>
                        <a:buSzPts val="700"/>
                        <a:buFont typeface="Arial"/>
                        <a:buNone/>
                      </a:pPr>
                      <a:r>
                        <a:rPr lang="ja" sz="800" b="1" u="none" strike="noStrike" cap="none">
                          <a:solidFill>
                            <a:srgbClr val="222222"/>
                          </a:solidFill>
                          <a:latin typeface="游ゴシック" panose="020B0400000000000000" pitchFamily="50" charset="-128"/>
                          <a:ea typeface="游ゴシック" panose="020B0400000000000000" pitchFamily="50" charset="-128"/>
                          <a:cs typeface="Calibri"/>
                          <a:sym typeface="Calibri"/>
                        </a:rPr>
                        <a:t>データ形式</a:t>
                      </a:r>
                      <a:endParaRPr sz="800" b="1" u="none" strike="noStrike" cap="none">
                        <a:solidFill>
                          <a:srgbClr val="222222"/>
                        </a:solidFill>
                        <a:latin typeface="游ゴシック" panose="020B0400000000000000" pitchFamily="50" charset="-128"/>
                        <a:ea typeface="游ゴシック" panose="020B0400000000000000" pitchFamily="50" charset="-128"/>
                        <a:cs typeface="Calibri"/>
                        <a:sym typeface="Calibri"/>
                      </a:endParaRPr>
                    </a:p>
                    <a:p>
                      <a:pPr marL="0" marR="0" lvl="0" indent="0" algn="l" rtl="0">
                        <a:lnSpc>
                          <a:spcPct val="100000"/>
                        </a:lnSpc>
                        <a:spcBef>
                          <a:spcPts val="0"/>
                        </a:spcBef>
                        <a:spcAft>
                          <a:spcPts val="0"/>
                        </a:spcAft>
                        <a:buClr>
                          <a:srgbClr val="000000"/>
                        </a:buClr>
                        <a:buSzPts val="700"/>
                        <a:buFont typeface="Arial"/>
                        <a:buNone/>
                      </a:pPr>
                      <a:r>
                        <a:rPr lang="ja" sz="800" b="1" u="none" strike="noStrike" cap="none">
                          <a:solidFill>
                            <a:srgbClr val="222222"/>
                          </a:solidFill>
                          <a:latin typeface="游ゴシック" panose="020B0400000000000000" pitchFamily="50" charset="-128"/>
                          <a:ea typeface="游ゴシック" panose="020B0400000000000000" pitchFamily="50" charset="-128"/>
                          <a:cs typeface="Calibri"/>
                          <a:sym typeface="Calibri"/>
                        </a:rPr>
                        <a:t>ロックイン</a:t>
                      </a:r>
                      <a:endParaRPr sz="800" b="1" u="none" strike="noStrike" cap="none">
                        <a:solidFill>
                          <a:srgbClr val="222222"/>
                        </a:solidFill>
                        <a:latin typeface="游ゴシック" panose="020B0400000000000000" pitchFamily="50" charset="-128"/>
                        <a:ea typeface="游ゴシック" panose="020B0400000000000000" pitchFamily="50" charset="-128"/>
                        <a:cs typeface="Calibri"/>
                        <a:sym typeface="Calibri"/>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○（Iceberg/Delta開放）</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○（Databricks主体）</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△（AWS形式依存）</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△（SF API依存）</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✕（SF API依存）</a:t>
                      </a:r>
                      <a:endParaRPr sz="800" u="none" strike="noStrike" cap="none" dirty="0">
                        <a:solidFill>
                          <a:srgbClr val="DB5F5F"/>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△（フルAWS構成)</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移行リスク</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○（3パターン段階）</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○（egaku運用実績）</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○（3 Step移行）</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△（介護業界Snowflake実績あるが移行計画詳細不足</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△（情報不足）</a:t>
                      </a:r>
                      <a:endParaRPr sz="800" u="none" strike="noStrike" cap="none" dirty="0">
                        <a:solidFill>
                          <a:srgbClr val="B8860B"/>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 (実績多)</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游ゴシック" panose="020B0400000000000000" pitchFamily="50" charset="-128"/>
                          <a:ea typeface="游ゴシック" panose="020B0400000000000000" pitchFamily="50" charset="-128"/>
                          <a:cs typeface="Calibri"/>
                          <a:sym typeface="Calibri"/>
                        </a:rPr>
                        <a:t>セキュリティ</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○（Unity Catalog+IAM）</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○（IAM+CloudTrail）</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○（IAM+Cognito）</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○（Horizon + HIPPA準拠Snowflake実績）   </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○（Einstein + Tableau RLS）</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○（IAM+CloudWatch, 松でUnity Catalog)</a:t>
                      </a:r>
                      <a:endParaRPr sz="800" u="none" strike="noStrike" cap="none" dirty="0">
                        <a:solidFill>
                          <a:srgbClr val="3A7D44"/>
                        </a:solidFill>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3"/>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3. AI活用に向けた将来論点</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14"/>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3.1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AI活用に向けた将来論点</a:t>
            </a:r>
            <a:endParaRPr sz="1800" b="0" i="0" u="none" strike="noStrike" cap="none" dirty="0">
              <a:solidFill>
                <a:schemeClr val="dk1"/>
              </a:solidFill>
              <a:latin typeface="Calibri"/>
              <a:ea typeface="Calibri"/>
              <a:cs typeface="Calibri"/>
              <a:sym typeface="Calibri"/>
            </a:endParaRPr>
          </a:p>
        </p:txBody>
      </p:sp>
      <p:sp>
        <p:nvSpPr>
          <p:cNvPr id="302" name="Google Shape;302;p14"/>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AI活用の進展を見据え、将来追加で検討が必要となる論点を7つの観点で整理する</a:t>
            </a:r>
            <a:endParaRPr sz="1000" b="1" i="0" u="none" strike="noStrike" cap="none" dirty="0">
              <a:solidFill>
                <a:schemeClr val="tx1"/>
              </a:solidFill>
              <a:latin typeface="Calibri"/>
              <a:ea typeface="Calibri"/>
              <a:cs typeface="Calibri"/>
              <a:sym typeface="Calibri"/>
            </a:endParaRPr>
          </a:p>
        </p:txBody>
      </p:sp>
      <p:sp>
        <p:nvSpPr>
          <p:cNvPr id="303" name="Google Shape;303;p14"/>
          <p:cNvSpPr/>
          <p:nvPr/>
        </p:nvSpPr>
        <p:spPr>
          <a:xfrm>
            <a:off x="406301" y="4676924"/>
            <a:ext cx="8498100" cy="104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AAAAAA"/>
              </a:buClr>
              <a:buSzPts val="600"/>
              <a:buFont typeface="Century Gothic"/>
              <a:buNone/>
            </a:pPr>
            <a:r>
              <a:rPr lang="ja" sz="800" b="0" i="0" u="none" strike="noStrike" cap="none" dirty="0">
                <a:solidFill>
                  <a:srgbClr val="7F7F7F"/>
                </a:solidFill>
                <a:latin typeface="游ゴシック" panose="020B0400000000000000" pitchFamily="50" charset="-128"/>
                <a:ea typeface="游ゴシック" panose="020B0400000000000000" pitchFamily="50" charset="-128"/>
                <a:cs typeface="Century Gothic"/>
                <a:sym typeface="Century Gothic"/>
              </a:rPr>
              <a:t>※ 体制・人材・制度の論点も別途存在</a:t>
            </a:r>
            <a:endParaRPr sz="800" b="0" i="0" u="none" strike="noStrike" cap="none" dirty="0">
              <a:solidFill>
                <a:srgbClr val="7F7F7F"/>
              </a:solidFill>
              <a:latin typeface="Calibri"/>
              <a:ea typeface="Calibri"/>
              <a:cs typeface="Calibri"/>
              <a:sym typeface="Calibri"/>
            </a:endParaRPr>
          </a:p>
        </p:txBody>
      </p:sp>
      <p:cxnSp>
        <p:nvCxnSpPr>
          <p:cNvPr id="304" name="Google Shape;304;p14"/>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05" name="Google Shape;305;p14"/>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06" name="Google Shape;306;p14"/>
          <p:cNvSpPr/>
          <p:nvPr/>
        </p:nvSpPr>
        <p:spPr>
          <a:xfrm>
            <a:off x="8067769" y="4930825"/>
            <a:ext cx="746691"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17</a:t>
            </a:r>
            <a:endParaRPr sz="550" b="0" i="0" u="none" strike="noStrike" cap="none" dirty="0">
              <a:solidFill>
                <a:schemeClr val="dk1"/>
              </a:solidFill>
              <a:latin typeface="Calibri"/>
              <a:ea typeface="Calibri"/>
              <a:cs typeface="Calibri"/>
              <a:sym typeface="Calibri"/>
            </a:endParaRPr>
          </a:p>
        </p:txBody>
      </p:sp>
      <p:graphicFrame>
        <p:nvGraphicFramePr>
          <p:cNvPr id="307" name="Google Shape;307;p14"/>
          <p:cNvGraphicFramePr/>
          <p:nvPr>
            <p:extLst>
              <p:ext uri="{D42A27DB-BD31-4B8C-83A1-F6EECF244321}">
                <p14:modId xmlns:p14="http://schemas.microsoft.com/office/powerpoint/2010/main" val="915027703"/>
              </p:ext>
            </p:extLst>
          </p:nvPr>
        </p:nvGraphicFramePr>
        <p:xfrm>
          <a:off x="406301" y="908000"/>
          <a:ext cx="8343500" cy="3321345"/>
        </p:xfrm>
        <a:graphic>
          <a:graphicData uri="http://schemas.openxmlformats.org/drawingml/2006/table">
            <a:tbl>
              <a:tblPr>
                <a:noFill/>
                <a:tableStyleId>{831F8A93-CA79-4AF6-B420-68E9A51CCC31}</a:tableStyleId>
              </a:tblPr>
              <a:tblGrid>
                <a:gridCol w="741800">
                  <a:extLst>
                    <a:ext uri="{9D8B030D-6E8A-4147-A177-3AD203B41FA5}">
                      <a16:colId xmlns:a16="http://schemas.microsoft.com/office/drawing/2014/main" val="20000"/>
                    </a:ext>
                  </a:extLst>
                </a:gridCol>
                <a:gridCol w="2725500">
                  <a:extLst>
                    <a:ext uri="{9D8B030D-6E8A-4147-A177-3AD203B41FA5}">
                      <a16:colId xmlns:a16="http://schemas.microsoft.com/office/drawing/2014/main" val="20001"/>
                    </a:ext>
                  </a:extLst>
                </a:gridCol>
                <a:gridCol w="2234450">
                  <a:extLst>
                    <a:ext uri="{9D8B030D-6E8A-4147-A177-3AD203B41FA5}">
                      <a16:colId xmlns:a16="http://schemas.microsoft.com/office/drawing/2014/main" val="20002"/>
                    </a:ext>
                  </a:extLst>
                </a:gridCol>
                <a:gridCol w="2641750">
                  <a:extLst>
                    <a:ext uri="{9D8B030D-6E8A-4147-A177-3AD203B41FA5}">
                      <a16:colId xmlns:a16="http://schemas.microsoft.com/office/drawing/2014/main" val="20003"/>
                    </a:ext>
                  </a:extLst>
                </a:gridCol>
              </a:tblGrid>
              <a:tr h="275800">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観点</a:t>
                      </a:r>
                      <a:endParaRPr sz="12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rPr>
                        <a:t>将来論点</a:t>
                      </a:r>
                      <a:endParaRPr sz="12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将来の検討事項</a:t>
                      </a:r>
                      <a:endParaRPr sz="12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ctr" rtl="0">
                        <a:lnSpc>
                          <a:spcPct val="100000"/>
                        </a:lnSpc>
                        <a:spcBef>
                          <a:spcPts val="0"/>
                        </a:spcBef>
                        <a:spcAft>
                          <a:spcPts val="0"/>
                        </a:spcAft>
                        <a:buClr>
                          <a:srgbClr val="FFFFFF"/>
                        </a:buClr>
                        <a:buSzPts val="700"/>
                        <a:buFont typeface="Arial"/>
                        <a:buNone/>
                      </a:pPr>
                      <a:r>
                        <a:rPr lang="ja" sz="1200" b="1" u="none" strike="noStrike" cap="none" dirty="0">
                          <a:solidFill>
                            <a:schemeClr val="lt1"/>
                          </a:solidFill>
                          <a:latin typeface="游ゴシック" panose="020B0400000000000000" pitchFamily="50" charset="-128"/>
                          <a:ea typeface="游ゴシック" panose="020B0400000000000000" pitchFamily="50" charset="-128"/>
                          <a:cs typeface="Arial"/>
                          <a:sym typeface="Arial"/>
                        </a:rPr>
                        <a:t>いつ検討すべきか</a:t>
                      </a:r>
                      <a:endParaRPr sz="1200" b="1" u="none" strike="noStrike" cap="none" dirty="0">
                        <a:solidFill>
                          <a:schemeClr val="lt1"/>
                        </a:solidFill>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extLst>
                  <a:ext uri="{0D108BD9-81ED-4DB2-BD59-A6C34878D82A}">
                    <a16:rowId xmlns:a16="http://schemas.microsoft.com/office/drawing/2014/main" val="10000"/>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①連携性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HD/グループ会社とのデータ共有や、施設IoT・映像等のリアルタイム連携が必要になる可能性がある</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共有方式、リアルタイム連携要否、対象データ、更新頻度、遅延許容、障害時再送</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HD/</a:t>
                      </a:r>
                      <a:r>
                        <a:rPr lang="ja" sz="800" u="none" strike="noStrike" cap="none" dirty="0">
                          <a:latin typeface="游ゴシック" panose="020B0400000000000000" pitchFamily="50" charset="-128"/>
                          <a:ea typeface="游ゴシック" panose="020B0400000000000000" pitchFamily="50" charset="-128"/>
                        </a:rPr>
                        <a:t>グループ会社</a:t>
                      </a:r>
                      <a:r>
                        <a:rPr lang="ja" sz="800" u="none" strike="noStrike" cap="none" dirty="0">
                          <a:latin typeface="游ゴシック" panose="020B0400000000000000" pitchFamily="50" charset="-128"/>
                          <a:ea typeface="游ゴシック" panose="020B0400000000000000" pitchFamily="50" charset="-128"/>
                          <a:cs typeface="Arial"/>
                          <a:sym typeface="Arial"/>
                        </a:rPr>
                        <a:t>側の連携方針が確定した時、またはIoT/映像ユースケースが具体化した時</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1"/>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②安全性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AIがデータアクセス主体となる場合、人と同等のID・</a:t>
                      </a:r>
                      <a:endParaRPr sz="14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権限・監査・ガードレール設計が必要になる</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AI主体を含む認可方針、データ分類、</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監査方針、AI個別権限、入出力制御</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AIユースケース検討時</a:t>
                      </a:r>
                      <a:endParaRPr sz="1400" u="none" strike="noStrike" cap="none" dirty="0">
                        <a:latin typeface="游ゴシック" panose="020B0400000000000000" pitchFamily="50" charset="-128"/>
                        <a:ea typeface="游ゴシック" panose="020B0400000000000000" pitchFamily="50" charset="-128"/>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2"/>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③進化性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AIモデルは短期間で変化するため、精度評価・</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劣化検知・改善サイクルを前提とした運用が必要になる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評価指標、劣化検知、モデル/プロンプト/RAG構成の管理、切替手順、改善サイクル</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本番利用するAI機能・モデルの導入方針が決まった時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3"/>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④実効性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介護記録テキスト、音声、IoT、映像等の非構造化</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データは、構造化データと異なる加工設計が必要になる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対象データ選定、原本/加工後データ管理、チャンク化・ベクトル化、品質管理、構造化データとの紐付け</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非構造化データを用いる具体ユースケースが決まり、対象データと精度要件が明確になった時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4"/>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⑤運用性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AIはモデル・データ・プロンプト・ツールの複合体と</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なるため、障害時の原因切り分け、停止判断、</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コスト管理が難しくなる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ログ/トレース、障害切り分け、停止基準、コスト可視化、監視・運用体制</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AIユースケースの実装設計に着手する時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5"/>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⑥</a:t>
                      </a:r>
                      <a:r>
                        <a:rPr lang="ja" sz="800" b="1" u="none" strike="noStrike" cap="none" dirty="0">
                          <a:solidFill>
                            <a:srgbClr val="5298BA"/>
                          </a:solidFill>
                          <a:latin typeface="游ゴシック" panose="020B0400000000000000" pitchFamily="50" charset="-128"/>
                          <a:ea typeface="游ゴシック" panose="020B0400000000000000" pitchFamily="50" charset="-128"/>
                        </a:rPr>
                        <a:t>開発</a:t>
                      </a: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速度</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AI開発は試行錯誤前提であり、PoC→本番→横展開の標準手順が未整備だと立ち上げが遅延する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標準運用、利用可能データ範囲、権限付与、PoC→本番移行条件</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PoC候補具体化時に環境要件を確定</a:t>
                      </a:r>
                      <a:endParaRPr sz="800" u="none" strike="noStrike" cap="none" dirty="0">
                        <a:latin typeface="游ゴシック" panose="020B0400000000000000" pitchFamily="50" charset="-128"/>
                        <a:ea typeface="游ゴシック" panose="020B0400000000000000" pitchFamily="50" charset="-128"/>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6"/>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⑦</a:t>
                      </a: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スケール</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AI/Agent増加で品質・責任・コスト管理が難しくなる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登録管理、標準化、責任分界、コスト管理</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複数AI機能が開発された時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5"/>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4. </a:t>
            </a: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SW構成基本方針/データ・フロー基本方針</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7" name="Google Shape;317;p16"/>
          <p:cNvGraphicFramePr/>
          <p:nvPr>
            <p:extLst>
              <p:ext uri="{D42A27DB-BD31-4B8C-83A1-F6EECF244321}">
                <p14:modId xmlns:p14="http://schemas.microsoft.com/office/powerpoint/2010/main" val="4199059237"/>
              </p:ext>
            </p:extLst>
          </p:nvPr>
        </p:nvGraphicFramePr>
        <p:xfrm>
          <a:off x="406301" y="914400"/>
          <a:ext cx="8051875" cy="3922423"/>
        </p:xfrm>
        <a:graphic>
          <a:graphicData uri="http://schemas.openxmlformats.org/drawingml/2006/table">
            <a:tbl>
              <a:tblPr>
                <a:noFill/>
                <a:tableStyleId>{831F8A93-CA79-4AF6-B420-68E9A51CCC31}</a:tableStyleId>
              </a:tblPr>
              <a:tblGrid>
                <a:gridCol w="1250775">
                  <a:extLst>
                    <a:ext uri="{9D8B030D-6E8A-4147-A177-3AD203B41FA5}">
                      <a16:colId xmlns:a16="http://schemas.microsoft.com/office/drawing/2014/main" val="20000"/>
                    </a:ext>
                  </a:extLst>
                </a:gridCol>
                <a:gridCol w="4655671">
                  <a:extLst>
                    <a:ext uri="{9D8B030D-6E8A-4147-A177-3AD203B41FA5}">
                      <a16:colId xmlns:a16="http://schemas.microsoft.com/office/drawing/2014/main" val="20001"/>
                    </a:ext>
                  </a:extLst>
                </a:gridCol>
                <a:gridCol w="2145429">
                  <a:extLst>
                    <a:ext uri="{9D8B030D-6E8A-4147-A177-3AD203B41FA5}">
                      <a16:colId xmlns:a16="http://schemas.microsoft.com/office/drawing/2014/main" val="20002"/>
                    </a:ext>
                  </a:extLst>
                </a:gridCol>
              </a:tblGrid>
              <a:tr h="369475">
                <a:tc>
                  <a:txBody>
                    <a:bodyPr/>
                    <a:lstStyle/>
                    <a:p>
                      <a:pPr marL="0" marR="0" lvl="0" indent="0" algn="l" rtl="0">
                        <a:lnSpc>
                          <a:spcPct val="126923"/>
                        </a:lnSpc>
                        <a:spcBef>
                          <a:spcPts val="0"/>
                        </a:spcBef>
                        <a:spcAft>
                          <a:spcPts val="0"/>
                        </a:spcAft>
                        <a:buClr>
                          <a:srgbClr val="FFFFFF"/>
                        </a:buClr>
                        <a:buSzPts val="1000"/>
                        <a:buFont typeface="Arial"/>
                        <a:buNone/>
                      </a:pPr>
                      <a:r>
                        <a:rPr lang="ja" sz="1000" b="1" i="0"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コンポーネント</a:t>
                      </a:r>
                      <a:r>
                        <a:rPr lang="ja" sz="1000" b="1" i="0" u="none" strike="noStrike" cap="none" dirty="0">
                          <a:solidFill>
                            <a:srgbClr val="000000"/>
                          </a:solidFill>
                        </a:rPr>
                        <a:t>​</a:t>
                      </a:r>
                      <a:endParaRPr sz="1000" b="1"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solidFill>
                      <a:srgbClr val="333333"/>
                    </a:solidFill>
                  </a:tcPr>
                </a:tc>
                <a:tc>
                  <a:txBody>
                    <a:bodyPr/>
                    <a:lstStyle/>
                    <a:p>
                      <a:pPr marL="0" marR="0" lvl="0" indent="0" algn="l" rtl="0">
                        <a:lnSpc>
                          <a:spcPct val="126923"/>
                        </a:lnSpc>
                        <a:spcBef>
                          <a:spcPts val="0"/>
                        </a:spcBef>
                        <a:spcAft>
                          <a:spcPts val="0"/>
                        </a:spcAft>
                        <a:buClr>
                          <a:srgbClr val="FFFFFF"/>
                        </a:buClr>
                        <a:buSzPts val="1000"/>
                        <a:buFont typeface="Arial"/>
                        <a:buNone/>
                      </a:pPr>
                      <a:r>
                        <a:rPr lang="ja" sz="1000" b="1" i="0"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構成方針</a:t>
                      </a:r>
                      <a:r>
                        <a:rPr lang="ja" sz="1000" b="1" i="0" u="none" strike="noStrike" cap="none" dirty="0">
                          <a:solidFill>
                            <a:srgbClr val="000000"/>
                          </a:solidFill>
                        </a:rPr>
                        <a:t>​</a:t>
                      </a:r>
                      <a:endParaRPr sz="1000" b="1"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solidFill>
                      <a:srgbClr val="333333"/>
                    </a:solidFill>
                  </a:tcPr>
                </a:tc>
                <a:tc>
                  <a:txBody>
                    <a:bodyPr/>
                    <a:lstStyle/>
                    <a:p>
                      <a:pPr marL="0" marR="0" lvl="0" indent="0" algn="l" rtl="0">
                        <a:lnSpc>
                          <a:spcPct val="95000"/>
                        </a:lnSpc>
                        <a:spcBef>
                          <a:spcPts val="0"/>
                        </a:spcBef>
                        <a:spcAft>
                          <a:spcPts val="0"/>
                        </a:spcAft>
                        <a:buClr>
                          <a:srgbClr val="000000"/>
                        </a:buClr>
                        <a:buSzPts val="8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対応する優先要件</a:t>
                      </a:r>
                      <a:endParaRPr sz="1800" b="1" dirty="0">
                        <a:latin typeface="游ゴシック" panose="020B0400000000000000" pitchFamily="50" charset="-128"/>
                        <a:ea typeface="游ゴシック" panose="020B0400000000000000" pitchFamily="50" charset="-128"/>
                      </a:endParaRPr>
                    </a:p>
                  </a:txBody>
                  <a:tcPr marL="91450" marR="91450" marT="45725" marB="45725" anchor="ctr">
                    <a:lnL w="12050" cap="flat" cmpd="sng">
                      <a:solidFill>
                        <a:srgbClr val="121212"/>
                      </a:solidFill>
                      <a:prstDash val="solid"/>
                      <a:round/>
                      <a:headEnd type="none" w="sm" len="sm"/>
                      <a:tailEnd type="none" w="sm" len="sm"/>
                    </a:lnL>
                    <a:solidFill>
                      <a:srgbClr val="333333"/>
                    </a:solidFill>
                  </a:tcPr>
                </a:tc>
                <a:extLst>
                  <a:ext uri="{0D108BD9-81ED-4DB2-BD59-A6C34878D82A}">
                    <a16:rowId xmlns:a16="http://schemas.microsoft.com/office/drawing/2014/main" val="10000"/>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インテグレーション</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多様なデータソースを標準的な接続方式で取り込める構成とする​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既存連携の再利用を重視しつつ、将来の非構造化データや外部サービス連携の追加にも対応可能とする​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1"/>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ストレージ</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構造化データを中心に、原本・標準化済み・活用用データを統合管理できる構成とする​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将来の非構造化データ追加を阻害しないことを前提とする​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2"/>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オーケストレーション</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ワークフロー実行、スケジュール管理、再実行、監視を一元的に扱える構成とする​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個別運用を増やしすぎず運用負荷を抑えやすい構成とする​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3"/>
                  </a:ext>
                </a:extLst>
              </a:tr>
              <a:tr h="58352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変換・処理</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既存パイプライン資産の再利用性・移植性を重視し、処理ロジックを継承しやすい構成とする​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将来の追加加工(</a:t>
                      </a:r>
                      <a:r>
                        <a:rPr lang="ja" sz="800" u="none" strike="noStrike" cap="none" dirty="0"/>
                        <a:t>非構造データ含む)</a:t>
                      </a: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にも拡張可能とし、管理しやすい構成とする。個別実装や属人運用を増やさないことを重視する​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4"/>
                  </a:ext>
                </a:extLst>
              </a:tr>
              <a:tr h="58352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ガバナンス</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カタログ、リネージ、権限、監査ログを統合的に管理・運用できる構成とする​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データとパイプラインを横断して可視化・統制でき、管理対象、更新責任、監査運用が継続できることを重視する​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5"/>
                  </a:ext>
                </a:extLst>
              </a:tr>
              <a:tr h="7191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ML/AI</a:t>
                      </a: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ML/AI機能そのものは現時点で存在しないため、実装可能な枠確保を基本とする​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将来のML・AIモデル、プロンプト/RAG、推論ログを追加しやすい構成とする​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将来的に特定モデルのみや特定技術に限定されない構成とする​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latin typeface="游ゴシック" panose="020B0400000000000000" pitchFamily="50" charset="-128"/>
                        <a:ea typeface="游ゴシック" panose="020B0400000000000000" pitchFamily="50" charset="-128"/>
                      </a:endParaRPr>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6"/>
                  </a:ext>
                </a:extLst>
              </a:tr>
              <a:tr h="312250">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可視化</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JP" altLang="en-US"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a:t>
                      </a:r>
                      <a:r>
                        <a:rPr lang="en" altLang="ja-JP"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BI</a:t>
                      </a:r>
                      <a:r>
                        <a:rPr lang="ja-JP" altLang="en-US"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資産の再現性を重視しつつ、移行後も利用者に負担なく活用できる可視化構成とする</a:t>
                      </a: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7"/>
                  </a:ext>
                </a:extLst>
              </a:tr>
            </a:tbl>
          </a:graphicData>
        </a:graphic>
      </p:graphicFrame>
      <p:sp>
        <p:nvSpPr>
          <p:cNvPr id="318" name="Google Shape;318;p16"/>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主要コンポーネントの基本構成方針</a:t>
            </a:r>
            <a:endParaRPr sz="1800" b="0" i="0" u="none" strike="noStrike" cap="none" dirty="0">
              <a:solidFill>
                <a:schemeClr val="dk1"/>
              </a:solidFill>
              <a:latin typeface="Calibri"/>
              <a:ea typeface="Calibri"/>
              <a:cs typeface="Calibri"/>
              <a:sym typeface="Calibri"/>
            </a:endParaRPr>
          </a:p>
        </p:txBody>
      </p:sp>
      <p:sp>
        <p:nvSpPr>
          <p:cNvPr id="319" name="Google Shape;319;p16"/>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sp>
        <p:nvSpPr>
          <p:cNvPr id="320" name="Google Shape;320;p16"/>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現行環境で実際に活用されているデータ基盤機能を分解し、業界標準の構成要素に再マッピングした結果、以下の</a:t>
            </a:r>
            <a:r>
              <a:rPr lang="en-US" altLang="ja-JP"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7</a:t>
            </a:r>
            <a:r>
              <a:rPr lang="ja-JP" altLang="en-US"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rPr>
              <a:t>コンポーネントを採用する。</a:t>
            </a:r>
            <a:endParaRPr sz="1000" b="1" i="0" u="none" strike="noStrike" cap="none" dirty="0">
              <a:solidFill>
                <a:schemeClr val="tx1"/>
              </a:solidFill>
              <a:latin typeface="Calibri"/>
              <a:ea typeface="Calibri"/>
              <a:cs typeface="Calibri"/>
              <a:sym typeface="Calibri"/>
            </a:endParaRPr>
          </a:p>
        </p:txBody>
      </p:sp>
      <p:cxnSp>
        <p:nvCxnSpPr>
          <p:cNvPr id="2" name="Google Shape;304;p14">
            <a:extLst>
              <a:ext uri="{FF2B5EF4-FFF2-40B4-BE49-F238E27FC236}">
                <a16:creationId xmlns:a16="http://schemas.microsoft.com/office/drawing/2014/main" id="{98CCE47C-79D6-CCE3-A8D6-71B73C0B7D1F}"/>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 name="Google Shape;305;p14">
            <a:extLst>
              <a:ext uri="{FF2B5EF4-FFF2-40B4-BE49-F238E27FC236}">
                <a16:creationId xmlns:a16="http://schemas.microsoft.com/office/drawing/2014/main" id="{77B0B29F-2E7D-5775-B2C7-4230E6A98405}"/>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4" name="Google Shape;306;p14">
            <a:extLst>
              <a:ext uri="{FF2B5EF4-FFF2-40B4-BE49-F238E27FC236}">
                <a16:creationId xmlns:a16="http://schemas.microsoft.com/office/drawing/2014/main" id="{870804A1-6559-97DB-DC78-9209BF0DFAEF}"/>
              </a:ext>
            </a:extLst>
          </p:cNvPr>
          <p:cNvSpPr/>
          <p:nvPr/>
        </p:nvSpPr>
        <p:spPr>
          <a:xfrm>
            <a:off x="8067769" y="4930825"/>
            <a:ext cx="746691"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a:t>
            </a:r>
            <a:r>
              <a:rPr lang="en-US" altLang="ja-JP"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8</a:t>
            </a:r>
            <a:endParaRPr sz="5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5"/>
        <p:cNvGrpSpPr/>
        <p:nvPr/>
      </p:nvGrpSpPr>
      <p:grpSpPr>
        <a:xfrm>
          <a:off x="0" y="0"/>
          <a:ext cx="0" cy="0"/>
          <a:chOff x="0" y="0"/>
          <a:chExt cx="0" cy="0"/>
        </a:xfrm>
      </p:grpSpPr>
      <p:sp>
        <p:nvSpPr>
          <p:cNvPr id="326" name="Google Shape;326;p17"/>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データの段階的な階層設計</a:t>
            </a:r>
            <a:endParaRPr sz="1800" b="0" i="0" u="none" strike="noStrike" cap="none" dirty="0">
              <a:solidFill>
                <a:schemeClr val="dk1"/>
              </a:solidFill>
              <a:latin typeface="Calibri"/>
              <a:ea typeface="Calibri"/>
              <a:cs typeface="Calibri"/>
              <a:sym typeface="Calibri"/>
            </a:endParaRPr>
          </a:p>
        </p:txBody>
      </p:sp>
      <p:sp>
        <p:nvSpPr>
          <p:cNvPr id="327" name="Google Shape;327;p17"/>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ja" sz="1100" b="1" i="0" u="none" strike="noStrike" cap="none" dirty="0">
                <a:solidFill>
                  <a:schemeClr val="tx1"/>
                </a:solidFill>
                <a:latin typeface="游ゴシック" panose="020B0400000000000000" pitchFamily="50" charset="-128"/>
                <a:ea typeface="游ゴシック" panose="020B0400000000000000" pitchFamily="50" charset="-128"/>
                <a:sym typeface="Arial"/>
              </a:rPr>
              <a:t>Bronze（生データ）→ Silver（クレンジング済）→ Gold（ビジネスロジック適用）の3層構造</a:t>
            </a:r>
            <a:endParaRPr sz="1400" b="1" i="0" u="none" strike="noStrike" cap="none" dirty="0">
              <a:solidFill>
                <a:schemeClr val="tx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328" name="Google Shape;328;p17"/>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29" name="Google Shape;329;p17"/>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30" name="Google Shape;330;p17"/>
          <p:cNvSpPr/>
          <p:nvPr/>
        </p:nvSpPr>
        <p:spPr>
          <a:xfrm>
            <a:off x="8067769" y="4930825"/>
            <a:ext cx="746691"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19</a:t>
            </a:r>
            <a:endParaRPr sz="550" b="0" i="0" u="none" strike="noStrike" cap="none" dirty="0">
              <a:solidFill>
                <a:schemeClr val="dk1"/>
              </a:solidFill>
              <a:latin typeface="Calibri"/>
              <a:ea typeface="Calibri"/>
              <a:cs typeface="Calibri"/>
              <a:sym typeface="Calibri"/>
            </a:endParaRPr>
          </a:p>
        </p:txBody>
      </p:sp>
      <p:graphicFrame>
        <p:nvGraphicFramePr>
          <p:cNvPr id="331" name="Google Shape;331;p17"/>
          <p:cNvGraphicFramePr/>
          <p:nvPr/>
        </p:nvGraphicFramePr>
        <p:xfrm>
          <a:off x="548640" y="1056132"/>
          <a:ext cx="8161050" cy="2568325"/>
        </p:xfrm>
        <a:graphic>
          <a:graphicData uri="http://schemas.openxmlformats.org/drawingml/2006/table">
            <a:tbl>
              <a:tblPr>
                <a:noFill/>
                <a:tableStyleId>{DD0CD847-4B11-42B2-8B25-F69DAA7BF958}</a:tableStyleId>
              </a:tblPr>
              <a:tblGrid>
                <a:gridCol w="1234450">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2331725">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49482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dirty="0">
                          <a:solidFill>
                            <a:schemeClr val="dk1"/>
                          </a:solidFill>
                        </a:rPr>
                        <a:t>設計基準</a:t>
                      </a:r>
                      <a:endParaRPr sz="800" u="none" strike="noStrike" cap="none" dirty="0">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Bronze層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Silver層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Gold層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目的</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ソースデータの保管</a:t>
                      </a:r>
                      <a:br>
                        <a:rPr lang="ja" sz="800" b="1" u="none" strike="noStrike" cap="none"/>
                      </a:br>
                      <a:r>
                        <a:rPr lang="ja" sz="800" b="1" u="none" strike="noStrike" cap="none"/>
                        <a:t>「事実の記録」として不変</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分析可能な状態に標準化</a:t>
                      </a:r>
                      <a:br>
                        <a:rPr lang="ja" sz="800" b="1" u="none" strike="noStrike" cap="none"/>
                      </a:br>
                      <a:r>
                        <a:rPr lang="ja" sz="800" b="1" u="none" strike="noStrike" cap="none"/>
                        <a:t>クレンジング・正規化済</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ビジネスKPI・BI/ダッシュボード接続用</a:t>
                      </a:r>
                      <a:br>
                        <a:rPr lang="ja" sz="800" b="1" u="none" strike="noStrike" cap="none"/>
                      </a:br>
                      <a:r>
                        <a:rPr lang="ja" sz="800" b="1" u="none" strike="noStrike" cap="none"/>
                        <a:t>集計・結合・ロジック適用済</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変換ルール</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取り込んだままを保持</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型変換・NULL処理・重複排除</a:t>
                      </a:r>
                      <a:br>
                        <a:rPr lang="ja" sz="800" u="none" strike="noStrike" cap="none"/>
                      </a:br>
                      <a:r>
                        <a:rPr lang="ja" sz="800" u="none" strike="noStrike" cap="none"/>
                        <a:t>カラム名の標準化</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集計・結合・ビジネスロジック</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extLst>
                  <a:ext uri="{0D108BD9-81ED-4DB2-BD59-A6C34878D82A}">
                    <a16:rowId xmlns:a16="http://schemas.microsoft.com/office/drawing/2014/main" val="10002"/>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品質チェック</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到着確認・件数チェック・スキーマ確認</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0" u="none" strike="noStrike" cap="none" dirty="0">
                          <a:latin typeface="游ゴシック" panose="020B0400000000000000" pitchFamily="50" charset="-128"/>
                          <a:ea typeface="游ゴシック" panose="020B0400000000000000" pitchFamily="50" charset="-128"/>
                          <a:cs typeface="Arial"/>
                          <a:sym typeface="Arial"/>
                        </a:rPr>
                        <a:t>品質ゲート（違反行はアラート）</a:t>
                      </a:r>
                      <a:endParaRPr sz="800" b="0" u="none" strike="noStrike" cap="none" dirty="0">
                        <a:latin typeface="游ゴシック" panose="020B0400000000000000" pitchFamily="50" charset="-128"/>
                        <a:ea typeface="游ゴシック" panose="020B0400000000000000" pitchFamily="50" charset="-128"/>
                        <a:cs typeface="Arial"/>
                        <a:sym typeface="Aria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KPI整合性チェック</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テーブル命名例</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raw_care_records</a:t>
                      </a:r>
                      <a:br>
                        <a:rPr lang="ja" sz="800" u="none" strike="noStrike" cap="none"/>
                      </a:br>
                      <a:r>
                        <a:rPr lang="ja" sz="800" u="none" strike="noStrike" cap="none"/>
                        <a:t>raw_sensor_data</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clean_care_records</a:t>
                      </a:r>
                      <a:br>
                        <a:rPr lang="ja" sz="800" u="none" strike="noStrike" cap="none"/>
                      </a:br>
                      <a:r>
                        <a:rPr lang="ja" sz="800" u="none" strike="noStrike" cap="none"/>
                        <a:t>master_facilities</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kpi_facility_monthly</a:t>
                      </a:r>
                      <a:br>
                        <a:rPr lang="ja" sz="800" u="none" strike="noStrike" cap="none"/>
                      </a:br>
                      <a:r>
                        <a:rPr lang="ja" sz="800" u="none" strike="noStrike" cap="none"/>
                        <a:t>dim_staff, fact_care_events</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extLst>
                  <a:ext uri="{0D108BD9-81ED-4DB2-BD59-A6C34878D82A}">
                    <a16:rowId xmlns:a16="http://schemas.microsoft.com/office/drawing/2014/main" val="10004"/>
                  </a:ext>
                </a:extLst>
              </a:tr>
            </a:tbl>
          </a:graphicData>
        </a:graphic>
      </p:graphicFrame>
      <p:sp>
        <p:nvSpPr>
          <p:cNvPr id="332" name="Google Shape;332;p17"/>
          <p:cNvSpPr/>
          <p:nvPr/>
        </p:nvSpPr>
        <p:spPr>
          <a:xfrm>
            <a:off x="514350" y="3847157"/>
            <a:ext cx="8263800" cy="687300"/>
          </a:xfrm>
          <a:prstGeom prst="rect">
            <a:avLst/>
          </a:prstGeom>
          <a:solidFill>
            <a:srgbClr val="E8EFF5"/>
          </a:solidFill>
          <a:ln>
            <a:noFill/>
          </a:ln>
          <a:effectLst>
            <a:outerShdw blurRad="30000" dist="17250" dir="5400000" rotWithShape="0">
              <a:srgbClr val="000000">
                <a:alpha val="34901"/>
              </a:srgbClr>
            </a:outerShdw>
          </a:effectLst>
        </p:spPr>
        <p:txBody>
          <a:bodyPr spcFirstLastPara="1" wrap="square" lIns="102875" tIns="68575" rIns="68575" bIns="34275" anchor="ctr" anchorCtr="0">
            <a:noAutofit/>
          </a:bodyPr>
          <a:lstStyle/>
          <a:p>
            <a:pPr marL="0" marR="0" lvl="0" indent="0" algn="ctr" rtl="0">
              <a:lnSpc>
                <a:spcPct val="150000"/>
              </a:lnSpc>
              <a:spcBef>
                <a:spcPts val="0"/>
              </a:spcBef>
              <a:spcAft>
                <a:spcPts val="0"/>
              </a:spcAft>
              <a:buClr>
                <a:srgbClr val="000000"/>
              </a:buClr>
              <a:buSzPts val="900"/>
              <a:buFont typeface="Arial"/>
              <a:buNone/>
            </a:pPr>
            <a:r>
              <a:rPr lang="ja" sz="900" b="1" i="0" u="none" strike="noStrike" cap="none" dirty="0">
                <a:solidFill>
                  <a:srgbClr val="1B3A5C"/>
                </a:solidFill>
                <a:latin typeface="游ゴシック" panose="020B0400000000000000" pitchFamily="50" charset="-128"/>
                <a:ea typeface="游ゴシック" panose="020B0400000000000000" pitchFamily="50" charset="-128"/>
                <a:sym typeface="Arial"/>
              </a:rPr>
              <a:t>設計原則：各層の独立性を維持し、Bronze → Silver → Goldの一方向依存を徹底</a:t>
            </a:r>
            <a:endParaRPr sz="900" b="0" i="0" u="none" strike="noStrike" cap="none" dirty="0">
              <a:solidFill>
                <a:schemeClr val="lt1"/>
              </a:solidFill>
              <a:latin typeface="Calibri"/>
              <a:ea typeface="Calibri"/>
              <a:cs typeface="Calibri"/>
              <a:sym typeface="Calibri"/>
            </a:endParaRPr>
          </a:p>
          <a:p>
            <a:pPr marL="0" marR="0" lvl="0" indent="0" algn="l" rtl="0">
              <a:lnSpc>
                <a:spcPct val="150000"/>
              </a:lnSpc>
              <a:spcBef>
                <a:spcPts val="300"/>
              </a:spcBef>
              <a:spcAft>
                <a:spcPts val="0"/>
              </a:spcAft>
              <a:buClr>
                <a:srgbClr val="000000"/>
              </a:buClr>
              <a:buSzPts val="800"/>
              <a:buFont typeface="Arial"/>
              <a:buNone/>
            </a:pPr>
            <a:r>
              <a:rPr lang="ja" sz="800" b="0" i="0" u="none" strike="noStrike" cap="none" dirty="0">
                <a:solidFill>
                  <a:srgbClr val="333333"/>
                </a:solidFill>
                <a:latin typeface="游ゴシック" panose="020B0400000000000000" pitchFamily="50" charset="-128"/>
                <a:ea typeface="游ゴシック" panose="020B0400000000000000" pitchFamily="50" charset="-128"/>
                <a:sym typeface="Arial"/>
              </a:rPr>
              <a:t>階層に分離することで不具合時の原因特定を明確化。BIツール利用ユーザーにはGold層を提供、分析ユーザーにはSilver層を提供。</a:t>
            </a:r>
            <a:endParaRPr sz="800" b="0" i="0" u="none" strike="noStrike" cap="none" dirty="0">
              <a:solidFill>
                <a:schemeClr val="lt1"/>
              </a:solidFill>
              <a:latin typeface="Calibri"/>
              <a:ea typeface="Calibri"/>
              <a:cs typeface="Calibri"/>
              <a:sym typeface="Calibri"/>
            </a:endParaRPr>
          </a:p>
        </p:txBody>
      </p:sp>
      <p:sp>
        <p:nvSpPr>
          <p:cNvPr id="333" name="Google Shape;333;p17"/>
          <p:cNvSpPr/>
          <p:nvPr/>
        </p:nvSpPr>
        <p:spPr>
          <a:xfrm>
            <a:off x="4029075" y="1219008"/>
            <a:ext cx="205800" cy="171600"/>
          </a:xfrm>
          <a:prstGeom prst="rightArrow">
            <a:avLst>
              <a:gd name="adj1" fmla="val 50000"/>
              <a:gd name="adj2" fmla="val 50000"/>
            </a:avLst>
          </a:prstGeom>
          <a:solidFill>
            <a:schemeClr val="dk1"/>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4" name="Google Shape;334;p17"/>
          <p:cNvSpPr/>
          <p:nvPr/>
        </p:nvSpPr>
        <p:spPr>
          <a:xfrm>
            <a:off x="6395085" y="1219008"/>
            <a:ext cx="205800" cy="171600"/>
          </a:xfrm>
          <a:prstGeom prst="rightArrow">
            <a:avLst>
              <a:gd name="adj1" fmla="val 50000"/>
              <a:gd name="adj2" fmla="val 50000"/>
            </a:avLst>
          </a:prstGeom>
          <a:solidFill>
            <a:schemeClr val="dk1"/>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cxnSp>
        <p:nvCxnSpPr>
          <p:cNvPr id="335" name="Google Shape;335;p17"/>
          <p:cNvCxnSpPr/>
          <p:nvPr/>
        </p:nvCxnSpPr>
        <p:spPr>
          <a:xfrm>
            <a:off x="548640" y="1484757"/>
            <a:ext cx="81012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pic>
        <p:nvPicPr>
          <p:cNvPr id="336" name="Google Shape;336;p17" descr="Database with solid fill"/>
          <p:cNvPicPr preferRelativeResize="0"/>
          <p:nvPr/>
        </p:nvPicPr>
        <p:blipFill rotWithShape="1">
          <a:blip r:embed="rId3">
            <a:alphaModFix/>
          </a:blip>
          <a:srcRect/>
          <a:stretch/>
        </p:blipFill>
        <p:spPr>
          <a:xfrm>
            <a:off x="2436996" y="1195458"/>
            <a:ext cx="205740" cy="205740"/>
          </a:xfrm>
          <a:prstGeom prst="rect">
            <a:avLst/>
          </a:prstGeom>
          <a:noFill/>
          <a:ln>
            <a:noFill/>
          </a:ln>
        </p:spPr>
      </p:pic>
      <p:pic>
        <p:nvPicPr>
          <p:cNvPr id="337" name="Google Shape;337;p17" descr="Database with solid fill"/>
          <p:cNvPicPr preferRelativeResize="0"/>
          <p:nvPr/>
        </p:nvPicPr>
        <p:blipFill rotWithShape="1">
          <a:blip r:embed="rId4">
            <a:alphaModFix/>
          </a:blip>
          <a:srcRect/>
          <a:stretch/>
        </p:blipFill>
        <p:spPr>
          <a:xfrm>
            <a:off x="4784663" y="1191577"/>
            <a:ext cx="205740" cy="205740"/>
          </a:xfrm>
          <a:prstGeom prst="rect">
            <a:avLst/>
          </a:prstGeom>
          <a:noFill/>
          <a:ln>
            <a:noFill/>
          </a:ln>
        </p:spPr>
      </p:pic>
      <p:pic>
        <p:nvPicPr>
          <p:cNvPr id="338" name="Google Shape;338;p17" descr="Database with solid fill"/>
          <p:cNvPicPr preferRelativeResize="0"/>
          <p:nvPr/>
        </p:nvPicPr>
        <p:blipFill rotWithShape="1">
          <a:blip r:embed="rId5">
            <a:alphaModFix/>
          </a:blip>
          <a:srcRect/>
          <a:stretch/>
        </p:blipFill>
        <p:spPr>
          <a:xfrm>
            <a:off x="7132329" y="1201863"/>
            <a:ext cx="205740" cy="2057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3"/>
        <p:cNvGrpSpPr/>
        <p:nvPr/>
      </p:nvGrpSpPr>
      <p:grpSpPr>
        <a:xfrm>
          <a:off x="0" y="0"/>
          <a:ext cx="0" cy="0"/>
          <a:chOff x="0" y="0"/>
          <a:chExt cx="0" cy="0"/>
        </a:xfrm>
      </p:grpSpPr>
      <p:sp>
        <p:nvSpPr>
          <p:cNvPr id="344" name="Google Shape;344;p18"/>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alt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4.3 </a:t>
            </a: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開発・本番環境の分離</a:t>
            </a: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21212"/>
              </a:buClr>
              <a:buSzPts val="1800"/>
              <a:buFont typeface="Century Gothic"/>
              <a:buNone/>
            </a:pPr>
            <a:endParaRPr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endParaRPr>
          </a:p>
        </p:txBody>
      </p:sp>
      <p:sp>
        <p:nvSpPr>
          <p:cNvPr id="345" name="Google Shape;345;p18"/>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ja" sz="1100" b="1" i="0" u="none" strike="noStrike" cap="none" dirty="0">
                <a:solidFill>
                  <a:schemeClr val="tx1"/>
                </a:solidFill>
                <a:latin typeface="游ゴシック" panose="020B0400000000000000" pitchFamily="50" charset="-128"/>
                <a:ea typeface="游ゴシック" panose="020B0400000000000000" pitchFamily="50" charset="-128"/>
                <a:sym typeface="Arial"/>
              </a:rPr>
              <a:t>安定運用のための環境分離の方針</a:t>
            </a:r>
            <a:endParaRPr sz="1400" b="1" i="0" u="none" strike="noStrike" cap="none" dirty="0">
              <a:solidFill>
                <a:schemeClr val="tx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1" i="0" u="none" strike="noStrike" cap="none" dirty="0">
              <a:solidFill>
                <a:schemeClr val="tx1"/>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346" name="Google Shape;346;p18"/>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47" name="Google Shape;347;p18"/>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48" name="Google Shape;348;p18"/>
          <p:cNvSpPr/>
          <p:nvPr/>
        </p:nvSpPr>
        <p:spPr>
          <a:xfrm>
            <a:off x="8067769" y="4930825"/>
            <a:ext cx="746691"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a:t>
            </a:r>
            <a:r>
              <a:rPr lang="en-US" alt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20</a:t>
            </a:r>
            <a:endParaRPr sz="550" b="0" i="0" u="none" strike="noStrike" cap="none" dirty="0">
              <a:solidFill>
                <a:schemeClr val="dk1"/>
              </a:solidFill>
              <a:latin typeface="Calibri"/>
              <a:ea typeface="Calibri"/>
              <a:cs typeface="Calibri"/>
              <a:sym typeface="Calibri"/>
            </a:endParaRPr>
          </a:p>
        </p:txBody>
      </p:sp>
      <p:sp>
        <p:nvSpPr>
          <p:cNvPr id="349" name="Google Shape;349;p18"/>
          <p:cNvSpPr/>
          <p:nvPr/>
        </p:nvSpPr>
        <p:spPr>
          <a:xfrm>
            <a:off x="54864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開発環境  (dev)</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0" name="Google Shape;350;p18"/>
          <p:cNvSpPr/>
          <p:nvPr/>
        </p:nvSpPr>
        <p:spPr>
          <a:xfrm>
            <a:off x="54864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開発者個人の実験・検証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1" name="Google Shape;351;p18"/>
          <p:cNvSpPr/>
          <p:nvPr/>
        </p:nvSpPr>
        <p:spPr>
          <a:xfrm>
            <a:off x="54864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Branch単位で作業</a:t>
            </a:r>
            <a:endParaRPr sz="1400" b="0" i="0" u="none" strike="noStrike" cap="none" dirty="0">
              <a:solidFill>
                <a:schemeClr val="lt1"/>
              </a:solidFill>
              <a:latin typeface="Calibri"/>
              <a:ea typeface="Calibri"/>
              <a:cs typeface="Calibri"/>
              <a:sym typeface="Calibri"/>
            </a:endParaRPr>
          </a:p>
        </p:txBody>
      </p:sp>
      <p:sp>
        <p:nvSpPr>
          <p:cNvPr id="352" name="Google Shape;352;p18"/>
          <p:cNvSpPr/>
          <p:nvPr/>
        </p:nvSpPr>
        <p:spPr>
          <a:xfrm>
            <a:off x="54864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サンプルデータを使用</a:t>
            </a:r>
            <a:endParaRPr sz="1400" b="0" i="0" u="none" strike="noStrike" cap="none" dirty="0">
              <a:solidFill>
                <a:schemeClr val="lt1"/>
              </a:solidFill>
              <a:latin typeface="Calibri"/>
              <a:ea typeface="Calibri"/>
              <a:cs typeface="Calibri"/>
              <a:sym typeface="Calibri"/>
            </a:endParaRPr>
          </a:p>
        </p:txBody>
      </p:sp>
      <p:sp>
        <p:nvSpPr>
          <p:cNvPr id="353" name="Google Shape;353;p18"/>
          <p:cNvSpPr/>
          <p:nvPr/>
        </p:nvSpPr>
        <p:spPr>
          <a:xfrm>
            <a:off x="3120390" y="1609460"/>
            <a:ext cx="171600" cy="171600"/>
          </a:xfrm>
          <a:prstGeom prst="rightArrow">
            <a:avLst>
              <a:gd name="adj1" fmla="val 50000"/>
              <a:gd name="adj2" fmla="val 50000"/>
            </a:avLst>
          </a:prstGeom>
          <a:solidFill>
            <a:srgbClr val="595959"/>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4" name="Google Shape;354;p18"/>
          <p:cNvSpPr/>
          <p:nvPr/>
        </p:nvSpPr>
        <p:spPr>
          <a:xfrm>
            <a:off x="332613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ステージング環境  (stg)</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5" name="Google Shape;355;p18"/>
          <p:cNvSpPr/>
          <p:nvPr/>
        </p:nvSpPr>
        <p:spPr>
          <a:xfrm>
            <a:off x="332613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統合テスト・品質検証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6" name="Google Shape;356;p18"/>
          <p:cNvSpPr/>
          <p:nvPr/>
        </p:nvSpPr>
        <p:spPr>
          <a:xfrm>
            <a:off x="332613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本番同等スキーマで検証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7" name="Google Shape;357;p18"/>
          <p:cNvSpPr/>
          <p:nvPr/>
        </p:nvSpPr>
        <p:spPr>
          <a:xfrm>
            <a:off x="332613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CI/CDで自動デプロイ</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8" name="Google Shape;358;p18"/>
          <p:cNvSpPr/>
          <p:nvPr/>
        </p:nvSpPr>
        <p:spPr>
          <a:xfrm>
            <a:off x="5897880" y="1609460"/>
            <a:ext cx="171600" cy="171600"/>
          </a:xfrm>
          <a:prstGeom prst="rightArrow">
            <a:avLst>
              <a:gd name="adj1" fmla="val 50000"/>
              <a:gd name="adj2" fmla="val 50000"/>
            </a:avLst>
          </a:prstGeom>
          <a:solidFill>
            <a:srgbClr val="595959"/>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9" name="Google Shape;359;p18"/>
          <p:cNvSpPr/>
          <p:nvPr/>
        </p:nvSpPr>
        <p:spPr>
          <a:xfrm>
            <a:off x="610362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本番環境  (prod)</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60" name="Google Shape;360;p18"/>
          <p:cNvSpPr/>
          <p:nvPr/>
        </p:nvSpPr>
        <p:spPr>
          <a:xfrm>
            <a:off x="610362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本番環境・ダッシュボード接続</a:t>
            </a:r>
            <a:endParaRPr sz="1400" b="1" i="0" u="none" strike="noStrike" cap="none" dirty="0">
              <a:solidFill>
                <a:schemeClr val="lt1"/>
              </a:solidFill>
              <a:latin typeface="Calibri"/>
              <a:ea typeface="Calibri"/>
              <a:cs typeface="Calibri"/>
              <a:sym typeface="Calibri"/>
            </a:endParaRPr>
          </a:p>
        </p:txBody>
      </p:sp>
      <p:sp>
        <p:nvSpPr>
          <p:cNvPr id="361" name="Google Shape;361;p18"/>
          <p:cNvSpPr/>
          <p:nvPr/>
        </p:nvSpPr>
        <p:spPr>
          <a:xfrm>
            <a:off x="610362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変更はStagingからのリリースのみ</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62" name="Google Shape;362;p18"/>
          <p:cNvSpPr/>
          <p:nvPr/>
        </p:nvSpPr>
        <p:spPr>
          <a:xfrm>
            <a:off x="610362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本番データ・施設別アクセス制御</a:t>
            </a:r>
            <a:endParaRPr sz="1400" b="0" i="0" u="none" strike="noStrike" cap="none" dirty="0">
              <a:solidFill>
                <a:schemeClr val="lt1"/>
              </a:solidFill>
              <a:latin typeface="Calibri"/>
              <a:ea typeface="Calibri"/>
              <a:cs typeface="Calibri"/>
              <a:sym typeface="Calibri"/>
            </a:endParaRPr>
          </a:p>
        </p:txBody>
      </p:sp>
      <p:sp>
        <p:nvSpPr>
          <p:cNvPr id="363" name="Google Shape;363;p18"/>
          <p:cNvSpPr/>
          <p:nvPr/>
        </p:nvSpPr>
        <p:spPr>
          <a:xfrm>
            <a:off x="543885" y="2374081"/>
            <a:ext cx="8097300" cy="533400"/>
          </a:xfrm>
          <a:prstGeom prst="rect">
            <a:avLst/>
          </a:prstGeom>
          <a:solidFill>
            <a:srgbClr val="E8EFF5"/>
          </a:solidFill>
          <a:ln>
            <a:noFill/>
          </a:ln>
          <a:effectLst>
            <a:outerShdw blurRad="30000" dist="17250" dir="5400000" rotWithShape="0">
              <a:srgbClr val="000000">
                <a:alpha val="34901"/>
              </a:srgbClr>
            </a:outerShdw>
          </a:effectLst>
        </p:spPr>
        <p:txBody>
          <a:bodyPr spcFirstLastPara="1" wrap="square" lIns="102875" tIns="685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1B3A5C"/>
                </a:solidFill>
                <a:latin typeface="游ゴシック" panose="020B0400000000000000" pitchFamily="50" charset="-128"/>
                <a:ea typeface="游ゴシック" panose="020B0400000000000000" pitchFamily="50" charset="-128"/>
                <a:sym typeface="Arial"/>
              </a:rPr>
              <a:t>原則：環境間のデータ移動は禁止。コード（パイプライン定義）のみがCI/CDで環境間を移動する</a:t>
            </a:r>
            <a:endParaRPr sz="90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800"/>
              <a:buFont typeface="Arial"/>
              <a:buNone/>
            </a:pPr>
            <a:r>
              <a:rPr lang="ja" sz="800" b="0" i="0" u="none" strike="noStrike" cap="none" dirty="0">
                <a:solidFill>
                  <a:srgbClr val="333333"/>
                </a:solidFill>
                <a:latin typeface="游ゴシック" panose="020B0400000000000000" pitchFamily="50" charset="-128"/>
                <a:ea typeface="游ゴシック" panose="020B0400000000000000" pitchFamily="50" charset="-128"/>
                <a:sym typeface="Arial"/>
              </a:rPr>
              <a:t>Dev環境では特定時点のスナップショットのサンプルデータを使用して、開発に活用。Stagingで本番同等の環境で検証を行い、合格した場合にProdへリリース。</a:t>
            </a:r>
            <a:endParaRPr sz="800" b="0" i="0" u="none" strike="noStrike" cap="none" dirty="0">
              <a:solidFill>
                <a:schemeClr val="lt1"/>
              </a:solidFill>
              <a:latin typeface="Calibri"/>
              <a:ea typeface="Calibri"/>
              <a:cs typeface="Calibri"/>
              <a:sym typeface="Calibri"/>
            </a:endParaRPr>
          </a:p>
        </p:txBody>
      </p:sp>
      <p:cxnSp>
        <p:nvCxnSpPr>
          <p:cNvPr id="364" name="Google Shape;364;p18"/>
          <p:cNvCxnSpPr/>
          <p:nvPr/>
        </p:nvCxnSpPr>
        <p:spPr>
          <a:xfrm>
            <a:off x="548640" y="1506590"/>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cxnSp>
        <p:nvCxnSpPr>
          <p:cNvPr id="365" name="Google Shape;365;p18"/>
          <p:cNvCxnSpPr/>
          <p:nvPr/>
        </p:nvCxnSpPr>
        <p:spPr>
          <a:xfrm>
            <a:off x="3326130" y="1498018"/>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cxnSp>
        <p:nvCxnSpPr>
          <p:cNvPr id="366" name="Google Shape;366;p18"/>
          <p:cNvCxnSpPr/>
          <p:nvPr/>
        </p:nvCxnSpPr>
        <p:spPr>
          <a:xfrm>
            <a:off x="6103620" y="1498018"/>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sp>
        <p:nvSpPr>
          <p:cNvPr id="367" name="Google Shape;367;p18"/>
          <p:cNvSpPr txBox="1"/>
          <p:nvPr/>
        </p:nvSpPr>
        <p:spPr>
          <a:xfrm>
            <a:off x="526750" y="3165200"/>
            <a:ext cx="15939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100" b="1" i="0" u="none" strike="noStrike" cap="none" dirty="0">
                <a:solidFill>
                  <a:srgbClr val="333333"/>
                </a:solidFill>
                <a:latin typeface="游ゴシック" panose="020B0400000000000000" pitchFamily="50" charset="-128"/>
                <a:ea typeface="游ゴシック" panose="020B0400000000000000" pitchFamily="50" charset="-128"/>
                <a:sym typeface="Arial"/>
              </a:rPr>
              <a:t>開発〜リリースの流れ</a:t>
            </a:r>
            <a:endParaRPr sz="1100" b="1"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68" name="Google Shape;368;p18"/>
          <p:cNvSpPr/>
          <p:nvPr/>
        </p:nvSpPr>
        <p:spPr>
          <a:xfrm>
            <a:off x="548640" y="3486165"/>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① 開発・実験</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開発環境</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69" name="Google Shape;369;p18"/>
          <p:cNvSpPr/>
          <p:nvPr/>
        </p:nvSpPr>
        <p:spPr>
          <a:xfrm>
            <a:off x="548640"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Feature Branchで作業</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サンプルデータで開発・検証</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テスト実行</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0" name="Google Shape;370;p18"/>
          <p:cNvSpPr/>
          <p:nvPr/>
        </p:nvSpPr>
        <p:spPr>
          <a:xfrm>
            <a:off x="2457930"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1" name="Google Shape;371;p18"/>
          <p:cNvSpPr/>
          <p:nvPr/>
        </p:nvSpPr>
        <p:spPr>
          <a:xfrm>
            <a:off x="2604114" y="3486166"/>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② PR・レビュー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コードレビュー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72" name="Google Shape;372;p18"/>
          <p:cNvSpPr/>
          <p:nvPr/>
        </p:nvSpPr>
        <p:spPr>
          <a:xfrm>
            <a:off x="2604114"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PR作成（最低1名承認）</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テスト自動チェック</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mainブランチへMerge</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3" name="Google Shape;373;p18"/>
          <p:cNvSpPr/>
          <p:nvPr/>
        </p:nvSpPr>
        <p:spPr>
          <a:xfrm>
            <a:off x="4522428"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4" name="Google Shape;374;p18"/>
          <p:cNvSpPr/>
          <p:nvPr/>
        </p:nvSpPr>
        <p:spPr>
          <a:xfrm>
            <a:off x="4677636" y="3486165"/>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③ ステージング反映・検証</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ステージング環境</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75" name="Google Shape;375;p18"/>
          <p:cNvSpPr/>
          <p:nvPr/>
        </p:nvSpPr>
        <p:spPr>
          <a:xfrm>
            <a:off x="4677636"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CI/CDで自動デプロイ</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本番同等データで統合テスト</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データ品質チェック通過を確認</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6" name="Google Shape;376;p18"/>
          <p:cNvSpPr/>
          <p:nvPr/>
        </p:nvSpPr>
        <p:spPr>
          <a:xfrm>
            <a:off x="6613998"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7" name="Google Shape;377;p18"/>
          <p:cNvSpPr/>
          <p:nvPr/>
        </p:nvSpPr>
        <p:spPr>
          <a:xfrm>
            <a:off x="6767885" y="3495708"/>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④ 本番リリースPR</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本番リリースのレビュー</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78" name="Google Shape;378;p18"/>
          <p:cNvSpPr/>
          <p:nvPr/>
        </p:nvSpPr>
        <p:spPr>
          <a:xfrm>
            <a:off x="6767885" y="3835361"/>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リリース承認（担当者）</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CI/CDで自動デプロイ</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9" name="Google Shape;379;p18"/>
          <p:cNvSpPr txBox="1"/>
          <p:nvPr/>
        </p:nvSpPr>
        <p:spPr>
          <a:xfrm>
            <a:off x="526753" y="925053"/>
            <a:ext cx="14247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100" b="1" i="0" u="none" strike="noStrike" cap="none" dirty="0">
                <a:solidFill>
                  <a:srgbClr val="333333"/>
                </a:solidFill>
                <a:latin typeface="游ゴシック" panose="020B0400000000000000" pitchFamily="50" charset="-128"/>
                <a:ea typeface="游ゴシック" panose="020B0400000000000000" pitchFamily="50" charset="-128"/>
                <a:sym typeface="Arial"/>
              </a:rPr>
              <a:t>３階層の環境構成</a:t>
            </a:r>
            <a:endParaRPr sz="1100" b="1"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cxnSp>
        <p:nvCxnSpPr>
          <p:cNvPr id="380" name="Google Shape;380;p18"/>
          <p:cNvCxnSpPr>
            <a:stCxn id="367" idx="3"/>
          </p:cNvCxnSpPr>
          <p:nvPr/>
        </p:nvCxnSpPr>
        <p:spPr>
          <a:xfrm rot="10800000" flipH="1">
            <a:off x="2120650" y="3259850"/>
            <a:ext cx="6530700" cy="24600"/>
          </a:xfrm>
          <a:prstGeom prst="straightConnector1">
            <a:avLst/>
          </a:prstGeom>
          <a:noFill/>
          <a:ln w="9525" cap="flat" cmpd="sng">
            <a:solidFill>
              <a:srgbClr val="BFBFBF"/>
            </a:solidFill>
            <a:prstDash val="solid"/>
            <a:round/>
            <a:headEnd type="none" w="sm" len="sm"/>
            <a:tailEnd type="none" w="sm" len="sm"/>
          </a:ln>
          <a:effectLst>
            <a:outerShdw blurRad="30000" dist="15000" dir="5400000" rotWithShape="0">
              <a:srgbClr val="000000">
                <a:alpha val="38039"/>
              </a:srgbClr>
            </a:outerShdw>
          </a:effectLst>
        </p:spPr>
      </p:cxnSp>
      <p:cxnSp>
        <p:nvCxnSpPr>
          <p:cNvPr id="381" name="Google Shape;381;p18"/>
          <p:cNvCxnSpPr/>
          <p:nvPr/>
        </p:nvCxnSpPr>
        <p:spPr>
          <a:xfrm>
            <a:off x="1865055" y="1041729"/>
            <a:ext cx="6750000" cy="0"/>
          </a:xfrm>
          <a:prstGeom prst="straightConnector1">
            <a:avLst/>
          </a:prstGeom>
          <a:noFill/>
          <a:ln w="9525" cap="flat" cmpd="sng">
            <a:solidFill>
              <a:srgbClr val="BFBFBF"/>
            </a:solidFill>
            <a:prstDash val="solid"/>
            <a:round/>
            <a:headEnd type="none" w="sm" len="sm"/>
            <a:tailEnd type="none" w="sm" len="sm"/>
          </a:ln>
          <a:effectLst>
            <a:outerShdw blurRad="30000" dist="15000" dir="5400000" rotWithShape="0">
              <a:srgbClr val="000000">
                <a:alpha val="38039"/>
              </a:srgbClr>
            </a:outerShdw>
          </a:effectLst>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9"/>
          <p:cNvSpPr txBox="1"/>
          <p:nvPr/>
        </p:nvSpPr>
        <p:spPr>
          <a:xfrm>
            <a:off x="355600" y="254000"/>
            <a:ext cx="8432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 sz="2000" b="1" i="0" u="none" strike="noStrike" cap="none" dirty="0">
                <a:solidFill>
                  <a:srgbClr val="1B2A4A"/>
                </a:solidFill>
                <a:latin typeface="游ゴシック" panose="020B0400000000000000" pitchFamily="50" charset="-128"/>
                <a:ea typeface="游ゴシック" panose="020B0400000000000000" pitchFamily="50" charset="-128"/>
                <a:cs typeface="Century Gothic"/>
                <a:sym typeface="Century Gothic"/>
              </a:rPr>
              <a:t>Appendix 目次</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cxnSp>
        <p:nvCxnSpPr>
          <p:cNvPr id="387" name="Google Shape;387;p19"/>
          <p:cNvCxnSpPr/>
          <p:nvPr/>
        </p:nvCxnSpPr>
        <p:spPr>
          <a:xfrm>
            <a:off x="355600" y="698500"/>
            <a:ext cx="8432700" cy="0"/>
          </a:xfrm>
          <a:prstGeom prst="straightConnector1">
            <a:avLst/>
          </a:prstGeom>
          <a:noFill/>
          <a:ln w="12700" cap="flat" cmpd="sng">
            <a:solidFill>
              <a:srgbClr val="1B2A4A"/>
            </a:solidFill>
            <a:prstDash val="solid"/>
            <a:miter lim="800000"/>
            <a:headEnd type="none" w="sm" len="sm"/>
            <a:tailEnd type="none" w="sm" len="sm"/>
          </a:ln>
        </p:spPr>
      </p:cxnSp>
      <p:sp>
        <p:nvSpPr>
          <p:cNvPr id="388" name="Google Shape;388;p19"/>
          <p:cNvSpPr txBox="1"/>
          <p:nvPr/>
        </p:nvSpPr>
        <p:spPr>
          <a:xfrm>
            <a:off x="355600" y="8636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  アーキテクチャ・技術選定</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89" name="Google Shape;389;p19"/>
          <p:cNvSpPr txBox="1"/>
          <p:nvPr/>
        </p:nvSpPr>
        <p:spPr>
          <a:xfrm>
            <a:off x="533400" y="1143000"/>
            <a:ext cx="7874100" cy="16003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A-1  アーキテクチャ：DWH+DL vs Lakehouse</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A-2  テーブルフォーマットとは</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A-3  UniFormによるフォーマットの収束</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4</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BI層にSnowflakeを挟む必要性</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5</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オーケストレーション：構成パターン比較</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6</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データ変換：Foundry PySpark移植戦略</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a:t>
            </a:r>
            <a:r>
              <a:rPr lang="en-US" alt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7</a:t>
            </a: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  セマンティックレイヤー：Ontology代替</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0" name="Google Shape;390;p19"/>
          <p:cNvSpPr txBox="1"/>
          <p:nvPr/>
        </p:nvSpPr>
        <p:spPr>
          <a:xfrm>
            <a:off x="355600" y="30480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別紙B  ガバナンス移行マッピング</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1" name="Google Shape;391;p19"/>
          <p:cNvSpPr txBox="1"/>
          <p:nvPr/>
        </p:nvSpPr>
        <p:spPr>
          <a:xfrm>
            <a:off x="533400" y="3327400"/>
            <a:ext cx="787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B-1  データガバナンス：Foundry機能の代替マッピング</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2" name="Google Shape;392;p19"/>
          <p:cNvSpPr txBox="1"/>
          <p:nvPr/>
        </p:nvSpPr>
        <p:spPr>
          <a:xfrm>
            <a:off x="355600" y="37084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別紙C  推奨技術スタック</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3" name="Google Shape;393;p19"/>
          <p:cNvSpPr txBox="1"/>
          <p:nvPr/>
        </p:nvSpPr>
        <p:spPr>
          <a:xfrm>
            <a:off x="533400" y="3987800"/>
            <a:ext cx="78741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C-1  推奨技術スタック</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cxnSp>
        <p:nvCxnSpPr>
          <p:cNvPr id="394" name="Google Shape;394;p19"/>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395" name="Google Shape;395;p19"/>
          <p:cNvSpPr txBox="1"/>
          <p:nvPr/>
        </p:nvSpPr>
        <p:spPr>
          <a:xfrm>
            <a:off x="355600" y="4953000"/>
            <a:ext cx="6351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396" name="Google Shape;396;p19"/>
          <p:cNvSpPr txBox="1"/>
          <p:nvPr/>
        </p:nvSpPr>
        <p:spPr>
          <a:xfrm>
            <a:off x="6858000" y="4953000"/>
            <a:ext cx="19305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0"/>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2" name="Google Shape;402;p20"/>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1</a:t>
            </a:r>
            <a:endParaRPr sz="1350" b="0" i="0" u="none" strike="noStrike" cap="none" dirty="0">
              <a:solidFill>
                <a:schemeClr val="dk1"/>
              </a:solidFill>
              <a:latin typeface="Calibri"/>
              <a:ea typeface="Calibri"/>
              <a:cs typeface="Calibri"/>
              <a:sym typeface="Calibri"/>
            </a:endParaRPr>
          </a:p>
        </p:txBody>
      </p:sp>
      <p:sp>
        <p:nvSpPr>
          <p:cNvPr id="403" name="Google Shape;403;p20"/>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アーキテクチャ：「DWH + Data Lake」 vs 「Lakehouse」</a:t>
            </a:r>
            <a:endParaRPr sz="1350" b="0" i="0" u="none" strike="noStrike" cap="none" dirty="0">
              <a:solidFill>
                <a:schemeClr val="dk1"/>
              </a:solidFill>
              <a:latin typeface="Calibri"/>
              <a:ea typeface="Calibri"/>
              <a:cs typeface="Calibri"/>
              <a:sym typeface="Calibri"/>
            </a:endParaRPr>
          </a:p>
        </p:txBody>
      </p:sp>
      <p:sp>
        <p:nvSpPr>
          <p:cNvPr id="404" name="Google Shape;404;p20"/>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従来の2層構成を1つに統合した Lakehouse が新しい標準</a:t>
            </a:r>
            <a:endParaRPr sz="1350" b="0" i="0" u="none" strike="noStrike" cap="none" dirty="0">
              <a:solidFill>
                <a:schemeClr val="dk1"/>
              </a:solidFill>
              <a:latin typeface="Calibri"/>
              <a:ea typeface="Calibri"/>
              <a:cs typeface="Calibri"/>
              <a:sym typeface="Calibri"/>
            </a:endParaRPr>
          </a:p>
        </p:txBody>
      </p:sp>
      <p:sp>
        <p:nvSpPr>
          <p:cNvPr id="405" name="Google Shape;405;p20"/>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6" name="Google Shape;406;p20"/>
          <p:cNvSpPr/>
          <p:nvPr/>
        </p:nvSpPr>
        <p:spPr>
          <a:xfrm>
            <a:off x="480060" y="925830"/>
            <a:ext cx="3840480" cy="342900"/>
          </a:xfrm>
          <a:prstGeom prst="rect">
            <a:avLst/>
          </a:prstGeom>
          <a:solidFill>
            <a:srgbClr val="787878"/>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975"/>
              <a:buFont typeface="Arial"/>
              <a:buNone/>
            </a:pPr>
            <a:r>
              <a:rPr lang="ja" sz="975" b="1" i="0" u="none" strike="noStrike" cap="none" dirty="0">
                <a:solidFill>
                  <a:srgbClr val="FFFFFF"/>
                </a:solidFill>
                <a:latin typeface="游ゴシック" panose="020B0400000000000000" pitchFamily="50" charset="-128"/>
                <a:ea typeface="游ゴシック" panose="020B0400000000000000" pitchFamily="50" charset="-128"/>
                <a:sym typeface="Arial"/>
              </a:rPr>
              <a:t>従来型：DWH + Data Lake（2層構成）</a:t>
            </a:r>
            <a:endParaRPr sz="1350" b="0" i="0" u="none" strike="noStrike" cap="none" dirty="0">
              <a:solidFill>
                <a:schemeClr val="dk1"/>
              </a:solidFill>
              <a:latin typeface="Calibri"/>
              <a:ea typeface="Calibri"/>
              <a:cs typeface="Calibri"/>
              <a:sym typeface="Calibri"/>
            </a:endParaRPr>
          </a:p>
        </p:txBody>
      </p:sp>
      <p:sp>
        <p:nvSpPr>
          <p:cNvPr id="407" name="Google Shape;407;p20"/>
          <p:cNvSpPr/>
          <p:nvPr/>
        </p:nvSpPr>
        <p:spPr>
          <a:xfrm>
            <a:off x="548640" y="1405889"/>
            <a:ext cx="1440180" cy="1062990"/>
          </a:xfrm>
          <a:prstGeom prst="roundRect">
            <a:avLst>
              <a:gd name="adj" fmla="val 16667"/>
            </a:avLst>
          </a:prstGeom>
          <a:solidFill>
            <a:srgbClr val="E8F0F5"/>
          </a:solidFill>
          <a:ln w="1270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82275"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Data 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S3 / GCS</a:t>
            </a: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4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生データを安価に保管</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SQLで直接分析は不可</a:t>
            </a:r>
            <a:endParaRPr sz="1350" b="0" i="0" u="none" strike="noStrike" cap="none" dirty="0">
              <a:solidFill>
                <a:schemeClr val="dk1"/>
              </a:solidFill>
              <a:latin typeface="Calibri"/>
              <a:ea typeface="Calibri"/>
              <a:cs typeface="Calibri"/>
              <a:sym typeface="Calibri"/>
            </a:endParaRPr>
          </a:p>
        </p:txBody>
      </p:sp>
      <p:sp>
        <p:nvSpPr>
          <p:cNvPr id="408" name="Google Shape;408;p20"/>
          <p:cNvSpPr/>
          <p:nvPr/>
        </p:nvSpPr>
        <p:spPr>
          <a:xfrm>
            <a:off x="2057400" y="1783079"/>
            <a:ext cx="377190" cy="205740"/>
          </a:xfrm>
          <a:prstGeom prst="rightArrow">
            <a:avLst>
              <a:gd name="adj1" fmla="val 50000"/>
              <a:gd name="adj2" fmla="val 50000"/>
            </a:avLst>
          </a:prstGeom>
          <a:solidFill>
            <a:srgbClr val="78787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9" name="Google Shape;409;p20"/>
          <p:cNvSpPr txBox="1"/>
          <p:nvPr/>
        </p:nvSpPr>
        <p:spPr>
          <a:xfrm>
            <a:off x="2057400" y="2023109"/>
            <a:ext cx="377190" cy="150011"/>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525"/>
              <a:buFont typeface="Arial"/>
              <a:buNone/>
            </a:pPr>
            <a:r>
              <a:rPr lang="ja" sz="525" b="1" i="0" u="none" strike="noStrike" cap="none" dirty="0">
                <a:solidFill>
                  <a:srgbClr val="787878"/>
                </a:solidFill>
                <a:latin typeface="游ゴシック" panose="020B0400000000000000" pitchFamily="50" charset="-128"/>
                <a:ea typeface="游ゴシック" panose="020B0400000000000000" pitchFamily="50" charset="-128"/>
                <a:sym typeface="Arial"/>
              </a:rPr>
              <a:t>ETL</a:t>
            </a:r>
            <a:endParaRPr sz="1350" b="0" i="0" u="none" strike="noStrike" cap="none" dirty="0">
              <a:solidFill>
                <a:schemeClr val="dk1"/>
              </a:solidFill>
              <a:latin typeface="Calibri"/>
              <a:ea typeface="Calibri"/>
              <a:cs typeface="Calibri"/>
              <a:sym typeface="Calibri"/>
            </a:endParaRPr>
          </a:p>
        </p:txBody>
      </p:sp>
      <p:sp>
        <p:nvSpPr>
          <p:cNvPr id="410" name="Google Shape;410;p20"/>
          <p:cNvSpPr/>
          <p:nvPr/>
        </p:nvSpPr>
        <p:spPr>
          <a:xfrm>
            <a:off x="2537460" y="1405889"/>
            <a:ext cx="1440180" cy="1062990"/>
          </a:xfrm>
          <a:prstGeom prst="roundRect">
            <a:avLst>
              <a:gd name="adj" fmla="val 16667"/>
            </a:avLst>
          </a:prstGeom>
          <a:solidFill>
            <a:srgbClr val="F5EEE8"/>
          </a:solidFill>
          <a:ln w="1270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82275"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Data Warehouse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Snowflake / Redshift</a:t>
            </a: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4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加工済みデータをBI向けに提供</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コスト高・ML/AI非対応</a:t>
            </a:r>
            <a:endParaRPr sz="1350" b="0" i="0" u="none" strike="noStrike" cap="none" dirty="0">
              <a:solidFill>
                <a:schemeClr val="dk1"/>
              </a:solidFill>
              <a:latin typeface="Calibri"/>
              <a:ea typeface="Calibri"/>
              <a:cs typeface="Calibri"/>
              <a:sym typeface="Calibri"/>
            </a:endParaRPr>
          </a:p>
        </p:txBody>
      </p:sp>
      <p:sp>
        <p:nvSpPr>
          <p:cNvPr id="411" name="Google Shape;411;p20"/>
          <p:cNvSpPr txBox="1"/>
          <p:nvPr/>
        </p:nvSpPr>
        <p:spPr>
          <a:xfrm>
            <a:off x="548640" y="2597467"/>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データが2箇所に存在 → 同期コスト・整合性の問題</a:t>
            </a:r>
            <a:endParaRPr sz="1350" b="0" i="0" u="none" strike="noStrike" cap="none" dirty="0">
              <a:solidFill>
                <a:schemeClr val="dk1"/>
              </a:solidFill>
              <a:latin typeface="Calibri"/>
              <a:ea typeface="Calibri"/>
              <a:cs typeface="Calibri"/>
              <a:sym typeface="Calibri"/>
            </a:endParaRPr>
          </a:p>
        </p:txBody>
      </p:sp>
      <p:sp>
        <p:nvSpPr>
          <p:cNvPr id="412" name="Google Shape;412;p20"/>
          <p:cNvSpPr txBox="1"/>
          <p:nvPr/>
        </p:nvSpPr>
        <p:spPr>
          <a:xfrm>
            <a:off x="548640" y="2763774"/>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DWHライセンス + Lake運用 = 二重課金</a:t>
            </a:r>
            <a:endParaRPr sz="1350" b="0" i="0" u="none" strike="noStrike" cap="none" dirty="0">
              <a:solidFill>
                <a:schemeClr val="dk1"/>
              </a:solidFill>
              <a:latin typeface="Calibri"/>
              <a:ea typeface="Calibri"/>
              <a:cs typeface="Calibri"/>
              <a:sym typeface="Calibri"/>
            </a:endParaRPr>
          </a:p>
        </p:txBody>
      </p:sp>
      <p:sp>
        <p:nvSpPr>
          <p:cNvPr id="413" name="Google Shape;413;p20"/>
          <p:cNvSpPr txBox="1"/>
          <p:nvPr/>
        </p:nvSpPr>
        <p:spPr>
          <a:xfrm>
            <a:off x="548640" y="2930080"/>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ML/AIはDWHから取り出して別環境で実行が必要</a:t>
            </a:r>
            <a:endParaRPr sz="1350" b="0" i="0" u="none" strike="noStrike" cap="none" dirty="0">
              <a:solidFill>
                <a:schemeClr val="dk1"/>
              </a:solidFill>
              <a:latin typeface="Calibri"/>
              <a:ea typeface="Calibri"/>
              <a:cs typeface="Calibri"/>
              <a:sym typeface="Calibri"/>
            </a:endParaRPr>
          </a:p>
        </p:txBody>
      </p:sp>
      <p:sp>
        <p:nvSpPr>
          <p:cNvPr id="414" name="Google Shape;414;p20"/>
          <p:cNvSpPr/>
          <p:nvPr/>
        </p:nvSpPr>
        <p:spPr>
          <a:xfrm>
            <a:off x="4423410" y="925830"/>
            <a:ext cx="13716" cy="233172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15" name="Google Shape;415;p20"/>
          <p:cNvSpPr/>
          <p:nvPr/>
        </p:nvSpPr>
        <p:spPr>
          <a:xfrm>
            <a:off x="4251960" y="1817370"/>
            <a:ext cx="377190" cy="24003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16" name="Google Shape;416;p20"/>
          <p:cNvSpPr/>
          <p:nvPr/>
        </p:nvSpPr>
        <p:spPr>
          <a:xfrm>
            <a:off x="4697730" y="925830"/>
            <a:ext cx="4011930" cy="34290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975"/>
              <a:buFont typeface="Arial"/>
              <a:buNone/>
            </a:pPr>
            <a:r>
              <a:rPr lang="ja" sz="975" b="1" i="0" u="none" strike="noStrike" cap="none" dirty="0">
                <a:solidFill>
                  <a:srgbClr val="FFFFFF"/>
                </a:solidFill>
                <a:latin typeface="游ゴシック" panose="020B0400000000000000" pitchFamily="50" charset="-128"/>
                <a:ea typeface="游ゴシック" panose="020B0400000000000000" pitchFamily="50" charset="-128"/>
                <a:sym typeface="Arial"/>
              </a:rPr>
              <a:t>Lakehouse（統合型 — 推奨）</a:t>
            </a:r>
            <a:endParaRPr sz="1350" b="0" i="0" u="none" strike="noStrike" cap="none" dirty="0">
              <a:solidFill>
                <a:schemeClr val="dk1"/>
              </a:solidFill>
              <a:latin typeface="Calibri"/>
              <a:ea typeface="Calibri"/>
              <a:cs typeface="Calibri"/>
              <a:sym typeface="Calibri"/>
            </a:endParaRPr>
          </a:p>
        </p:txBody>
      </p:sp>
      <p:sp>
        <p:nvSpPr>
          <p:cNvPr id="417" name="Google Shape;417;p20"/>
          <p:cNvSpPr/>
          <p:nvPr/>
        </p:nvSpPr>
        <p:spPr>
          <a:xfrm>
            <a:off x="4697730" y="1405889"/>
            <a:ext cx="4011930" cy="1165860"/>
          </a:xfrm>
          <a:prstGeom prst="roundRect">
            <a:avLst>
              <a:gd name="adj" fmla="val 16667"/>
            </a:avLst>
          </a:prstGeom>
          <a:solidFill>
            <a:srgbClr val="E8EFF5"/>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82275" rIns="68550" bIns="34275"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ja" sz="1050" b="1" i="0" u="none" strike="noStrike" cap="none" dirty="0">
                <a:solidFill>
                  <a:srgbClr val="1B3A5C"/>
                </a:solidFill>
                <a:latin typeface="游ゴシック" panose="020B0400000000000000" pitchFamily="50" charset="-128"/>
                <a:ea typeface="游ゴシック" panose="020B0400000000000000" pitchFamily="50" charset="-128"/>
                <a:sym typeface="Arial"/>
              </a:rPr>
              <a:t>Lakehouse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 + S3  /  Palantir Foundry（現行）</a:t>
            </a:r>
            <a:endParaRPr sz="1350" b="0" i="0" u="none" strike="noStrike" cap="none" dirty="0">
              <a:solidFill>
                <a:schemeClr val="dk1"/>
              </a:solidFill>
              <a:latin typeface="Calibri"/>
              <a:ea typeface="Calibri"/>
              <a:cs typeface="Calibri"/>
              <a:sym typeface="Calibri"/>
            </a:endParaRPr>
          </a:p>
        </p:txBody>
      </p:sp>
      <p:sp>
        <p:nvSpPr>
          <p:cNvPr id="418" name="Google Shape;418;p20"/>
          <p:cNvSpPr/>
          <p:nvPr/>
        </p:nvSpPr>
        <p:spPr>
          <a:xfrm>
            <a:off x="478002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保管</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Data Lakeの安価な</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ストレージ</a:t>
            </a:r>
            <a:endParaRPr sz="1350" b="0" i="0" u="none" strike="noStrike" cap="none" dirty="0">
              <a:solidFill>
                <a:schemeClr val="dk1"/>
              </a:solidFill>
              <a:latin typeface="Calibri"/>
              <a:ea typeface="Calibri"/>
              <a:cs typeface="Calibri"/>
              <a:sym typeface="Calibri"/>
            </a:endParaRPr>
          </a:p>
        </p:txBody>
      </p:sp>
      <p:sp>
        <p:nvSpPr>
          <p:cNvPr id="419" name="Google Shape;419;p20"/>
          <p:cNvSpPr/>
          <p:nvPr/>
        </p:nvSpPr>
        <p:spPr>
          <a:xfrm>
            <a:off x="556869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分析</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DWHの高速な</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SQL検索</a:t>
            </a:r>
            <a:endParaRPr sz="1350" b="0" i="0" u="none" strike="noStrike" cap="none" dirty="0">
              <a:solidFill>
                <a:schemeClr val="dk1"/>
              </a:solidFill>
              <a:latin typeface="Calibri"/>
              <a:ea typeface="Calibri"/>
              <a:cs typeface="Calibri"/>
              <a:sym typeface="Calibri"/>
            </a:endParaRPr>
          </a:p>
        </p:txBody>
      </p:sp>
      <p:sp>
        <p:nvSpPr>
          <p:cNvPr id="420" name="Google Shape;420;p20"/>
          <p:cNvSpPr/>
          <p:nvPr/>
        </p:nvSpPr>
        <p:spPr>
          <a:xfrm>
            <a:off x="635736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加工</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ETLパイプラインを</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統合実行</a:t>
            </a:r>
            <a:endParaRPr sz="1350" b="0" i="0" u="none" strike="noStrike" cap="none" dirty="0">
              <a:solidFill>
                <a:schemeClr val="dk1"/>
              </a:solidFill>
              <a:latin typeface="Calibri"/>
              <a:ea typeface="Calibri"/>
              <a:cs typeface="Calibri"/>
              <a:sym typeface="Calibri"/>
            </a:endParaRPr>
          </a:p>
        </p:txBody>
      </p:sp>
      <p:sp>
        <p:nvSpPr>
          <p:cNvPr id="421" name="Google Shape;421;p20"/>
          <p:cNvSpPr/>
          <p:nvPr/>
        </p:nvSpPr>
        <p:spPr>
          <a:xfrm>
            <a:off x="714603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AI</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ML/AIを</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同一基盤で</a:t>
            </a:r>
            <a:endParaRPr sz="1350" b="0" i="0" u="none" strike="noStrike" cap="none" dirty="0">
              <a:solidFill>
                <a:schemeClr val="dk1"/>
              </a:solidFill>
              <a:latin typeface="Calibri"/>
              <a:ea typeface="Calibri"/>
              <a:cs typeface="Calibri"/>
              <a:sym typeface="Calibri"/>
            </a:endParaRPr>
          </a:p>
        </p:txBody>
      </p:sp>
      <p:sp>
        <p:nvSpPr>
          <p:cNvPr id="422" name="Google Shape;422;p20"/>
          <p:cNvSpPr/>
          <p:nvPr/>
        </p:nvSpPr>
        <p:spPr>
          <a:xfrm>
            <a:off x="793470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管理</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権限・監査</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リネージ統合</a:t>
            </a:r>
            <a:endParaRPr sz="1350" b="0" i="0" u="none" strike="noStrike" cap="none" dirty="0">
              <a:solidFill>
                <a:schemeClr val="dk1"/>
              </a:solidFill>
              <a:latin typeface="Calibri"/>
              <a:ea typeface="Calibri"/>
              <a:cs typeface="Calibri"/>
              <a:sym typeface="Calibri"/>
            </a:endParaRPr>
          </a:p>
        </p:txBody>
      </p:sp>
      <p:sp>
        <p:nvSpPr>
          <p:cNvPr id="423" name="Google Shape;423;p20"/>
          <p:cNvSpPr txBox="1"/>
          <p:nvPr/>
        </p:nvSpPr>
        <p:spPr>
          <a:xfrm>
            <a:off x="4697730" y="2597467"/>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データは1箇所 → 管理がシンプル・整合性の問題なし</a:t>
            </a:r>
            <a:endParaRPr sz="1350" b="0" i="0" u="none" strike="noStrike" cap="none" dirty="0">
              <a:solidFill>
                <a:schemeClr val="dk1"/>
              </a:solidFill>
              <a:latin typeface="Calibri"/>
              <a:ea typeface="Calibri"/>
              <a:cs typeface="Calibri"/>
              <a:sym typeface="Calibri"/>
            </a:endParaRPr>
          </a:p>
        </p:txBody>
      </p:sp>
      <p:sp>
        <p:nvSpPr>
          <p:cNvPr id="424" name="Google Shape;424;p20"/>
          <p:cNvSpPr txBox="1"/>
          <p:nvPr/>
        </p:nvSpPr>
        <p:spPr>
          <a:xfrm>
            <a:off x="4697730" y="2763774"/>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ストレージはS3価格 + コンピュートは従量課金</a:t>
            </a:r>
            <a:endParaRPr sz="1350" b="0" i="0" u="none" strike="noStrike" cap="none" dirty="0">
              <a:solidFill>
                <a:schemeClr val="dk1"/>
              </a:solidFill>
              <a:latin typeface="Calibri"/>
              <a:ea typeface="Calibri"/>
              <a:cs typeface="Calibri"/>
              <a:sym typeface="Calibri"/>
            </a:endParaRPr>
          </a:p>
        </p:txBody>
      </p:sp>
      <p:sp>
        <p:nvSpPr>
          <p:cNvPr id="425" name="Google Shape;425;p20"/>
          <p:cNvSpPr txBox="1"/>
          <p:nvPr/>
        </p:nvSpPr>
        <p:spPr>
          <a:xfrm>
            <a:off x="4697730" y="2930080"/>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BI・ML/AI・ETLが同一基盤で完結</a:t>
            </a:r>
            <a:endParaRPr sz="1350" b="0" i="0" u="none" strike="noStrike" cap="none" dirty="0">
              <a:solidFill>
                <a:schemeClr val="dk1"/>
              </a:solidFill>
              <a:latin typeface="Calibri"/>
              <a:ea typeface="Calibri"/>
              <a:cs typeface="Calibri"/>
              <a:sym typeface="Calibri"/>
            </a:endParaRPr>
          </a:p>
        </p:txBody>
      </p:sp>
      <p:sp>
        <p:nvSpPr>
          <p:cNvPr id="426" name="Google Shape;426;p20"/>
          <p:cNvSpPr/>
          <p:nvPr/>
        </p:nvSpPr>
        <p:spPr>
          <a:xfrm>
            <a:off x="480060" y="31546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graphicFrame>
        <p:nvGraphicFramePr>
          <p:cNvPr id="427" name="Google Shape;427;p20"/>
          <p:cNvGraphicFramePr/>
          <p:nvPr/>
        </p:nvGraphicFramePr>
        <p:xfrm>
          <a:off x="480060" y="3223260"/>
          <a:ext cx="8298200" cy="1920400"/>
        </p:xfrm>
        <a:graphic>
          <a:graphicData uri="http://schemas.openxmlformats.org/drawingml/2006/table">
            <a:tbl>
              <a:tblPr>
                <a:noFill/>
                <a:tableStyleId>{831F8A93-CA79-4AF6-B420-68E9A51CCC31}</a:tableStyleId>
              </a:tblPr>
              <a:tblGrid>
                <a:gridCol w="1714500">
                  <a:extLst>
                    <a:ext uri="{9D8B030D-6E8A-4147-A177-3AD203B41FA5}">
                      <a16:colId xmlns:a16="http://schemas.microsoft.com/office/drawing/2014/main" val="20000"/>
                    </a:ext>
                  </a:extLst>
                </a:gridCol>
                <a:gridCol w="3291850">
                  <a:extLst>
                    <a:ext uri="{9D8B030D-6E8A-4147-A177-3AD203B41FA5}">
                      <a16:colId xmlns:a16="http://schemas.microsoft.com/office/drawing/2014/main" val="20001"/>
                    </a:ext>
                  </a:extLst>
                </a:gridCol>
                <a:gridCol w="329185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観点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DWH + Data Lake（2層）</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Lakehouse（統合）</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データの場所</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2箇所（Lakeに保管 → DWHにコピー）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1箇所（S3上にすべて統合）</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コスト構造</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DWHライセンス + Lake運用 = 二重課金</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ストレージはS3価格 + コンピュート従量課金</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BI対応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DWH側は非常に高速</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近年大幅改善。実用上十分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ML/AI対応</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DWHから取り出して別環境で実行</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同一基盤でデータに直接アクセス</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ガバナンス</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DWHとLakeで別々に管理</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統合管理（権限・監査・リネージ）</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ベンダーロックイン</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DWH側にロックインされやすい</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オープンフォーマット（Iceberg等）で回避可能</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6"/>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市場トレンド</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レガシー構成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新規構築の主流</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7"/>
                  </a:ext>
                </a:extLst>
              </a:tr>
            </a:tbl>
          </a:graphicData>
        </a:graphic>
      </p:graphicFrame>
      <p:sp>
        <p:nvSpPr>
          <p:cNvPr id="429" name="Google Shape;429;p20"/>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30" name="Google Shape;430;p20"/>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31" name="Google Shape;431;p20"/>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32" name="Google Shape;432;p20"/>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別紙A-1</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1"/>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38" name="Google Shape;438;p21"/>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39" name="Google Shape;439;p21"/>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テーブルフォーマットとは</a:t>
            </a:r>
            <a:endParaRPr sz="1350" b="0" i="0" u="none" strike="noStrike" cap="none" dirty="0">
              <a:solidFill>
                <a:schemeClr val="dk1"/>
              </a:solidFill>
              <a:latin typeface="Calibri"/>
              <a:ea typeface="Calibri"/>
              <a:cs typeface="Calibri"/>
              <a:sym typeface="Calibri"/>
            </a:endParaRPr>
          </a:p>
        </p:txBody>
      </p:sp>
      <p:sp>
        <p:nvSpPr>
          <p:cNvPr id="440" name="Google Shape;440;p21"/>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S3上のファイルを「テーブル」として扱うための仕組み</a:t>
            </a:r>
            <a:endParaRPr sz="1350" b="0" i="0" u="none" strike="noStrike" cap="none" dirty="0">
              <a:solidFill>
                <a:schemeClr val="dk1"/>
              </a:solidFill>
              <a:latin typeface="Calibri"/>
              <a:ea typeface="Calibri"/>
              <a:cs typeface="Calibri"/>
              <a:sym typeface="Calibri"/>
            </a:endParaRPr>
          </a:p>
        </p:txBody>
      </p:sp>
      <p:sp>
        <p:nvSpPr>
          <p:cNvPr id="441" name="Google Shape;441;p21"/>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2" name="Google Shape;442;p21"/>
          <p:cNvSpPr txBox="1"/>
          <p:nvPr/>
        </p:nvSpPr>
        <p:spPr>
          <a:xfrm>
            <a:off x="480060" y="925830"/>
            <a:ext cx="356616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C0392B"/>
                </a:solidFill>
                <a:latin typeface="游ゴシック" panose="020B0400000000000000" pitchFamily="50" charset="-128"/>
                <a:ea typeface="游ゴシック" panose="020B0400000000000000" pitchFamily="50" charset="-128"/>
                <a:sym typeface="Arial"/>
              </a:rPr>
              <a:t>テーブルフォーマットなし（S3のみ）</a:t>
            </a:r>
            <a:endParaRPr sz="1350" b="0" i="0" u="none" strike="noStrike" cap="none" dirty="0">
              <a:solidFill>
                <a:schemeClr val="dk1"/>
              </a:solidFill>
              <a:latin typeface="Calibri"/>
              <a:ea typeface="Calibri"/>
              <a:cs typeface="Calibri"/>
              <a:sym typeface="Calibri"/>
            </a:endParaRPr>
          </a:p>
        </p:txBody>
      </p:sp>
      <p:sp>
        <p:nvSpPr>
          <p:cNvPr id="443" name="Google Shape;443;p21"/>
          <p:cNvSpPr/>
          <p:nvPr/>
        </p:nvSpPr>
        <p:spPr>
          <a:xfrm>
            <a:off x="480060" y="1234440"/>
            <a:ext cx="3566160" cy="1508760"/>
          </a:xfrm>
          <a:prstGeom prst="roundRect">
            <a:avLst>
              <a:gd name="adj" fmla="val 16667"/>
            </a:avLst>
          </a:prstGeom>
          <a:solidFill>
            <a:srgbClr val="FDF0E8"/>
          </a:solidFill>
          <a:ln w="12700" cap="flat" cmpd="sng">
            <a:solidFill>
              <a:srgbClr val="E0C0A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102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333333"/>
                </a:solidFill>
                <a:latin typeface="游ゴシック" panose="020B0400000000000000" pitchFamily="50" charset="-128"/>
                <a:ea typeface="游ゴシック" panose="020B0400000000000000" pitchFamily="50" charset="-128"/>
                <a:sym typeface="Arial"/>
              </a:rPr>
              <a:t>S3バケット</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data/year=2024/month=01/part-001.parquet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data/year=2024/month=02/part-002.parquet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data/year=2024/month=03/part-003.parquet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750"/>
              <a:buFont typeface="Arial"/>
              <a:buNone/>
            </a:pPr>
            <a:r>
              <a:rPr lang="ja" sz="750" b="1" i="0" u="none" strike="noStrike" cap="none" dirty="0">
                <a:solidFill>
                  <a:srgbClr val="C0392B"/>
                </a:solidFill>
                <a:latin typeface="游ゴシック" panose="020B0400000000000000" pitchFamily="50" charset="-128"/>
                <a:ea typeface="游ゴシック" panose="020B0400000000000000" pitchFamily="50" charset="-128"/>
                <a:sym typeface="Arial"/>
              </a:rPr>
              <a:t>→ 単なるファイル置き場</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750"/>
              <a:buFont typeface="Arial"/>
              <a:buNone/>
            </a:pPr>
            <a:r>
              <a:rPr lang="ja" sz="750" b="1" i="0" u="none" strike="noStrike" cap="none" dirty="0">
                <a:solidFill>
                  <a:srgbClr val="C0392B"/>
                </a:solidFill>
                <a:latin typeface="游ゴシック" panose="020B0400000000000000" pitchFamily="50" charset="-128"/>
                <a:ea typeface="游ゴシック" panose="020B0400000000000000" pitchFamily="50" charset="-128"/>
                <a:sym typeface="Arial"/>
              </a:rPr>
              <a:t>→ SQLでの検索・更新・削除が不可能</a:t>
            </a:r>
            <a:endParaRPr sz="1350" b="0" i="0" u="none" strike="noStrike" cap="none" dirty="0">
              <a:solidFill>
                <a:schemeClr val="dk1"/>
              </a:solidFill>
              <a:latin typeface="Calibri"/>
              <a:ea typeface="Calibri"/>
              <a:cs typeface="Calibri"/>
              <a:sym typeface="Calibri"/>
            </a:endParaRPr>
          </a:p>
        </p:txBody>
      </p:sp>
      <p:sp>
        <p:nvSpPr>
          <p:cNvPr id="444" name="Google Shape;444;p21"/>
          <p:cNvSpPr txBox="1"/>
          <p:nvPr/>
        </p:nvSpPr>
        <p:spPr>
          <a:xfrm>
            <a:off x="4697730" y="925830"/>
            <a:ext cx="397764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27724A"/>
                </a:solidFill>
                <a:latin typeface="游ゴシック" panose="020B0400000000000000" pitchFamily="50" charset="-128"/>
                <a:ea typeface="游ゴシック" panose="020B0400000000000000" pitchFamily="50" charset="-128"/>
                <a:sym typeface="Arial"/>
              </a:rPr>
              <a:t>テーブルフォーマットあり（Iceberg/Delta）</a:t>
            </a:r>
            <a:endParaRPr sz="1350" b="0" i="0" u="none" strike="noStrike" cap="none" dirty="0">
              <a:solidFill>
                <a:schemeClr val="dk1"/>
              </a:solidFill>
              <a:latin typeface="Calibri"/>
              <a:ea typeface="Calibri"/>
              <a:cs typeface="Calibri"/>
              <a:sym typeface="Calibri"/>
            </a:endParaRPr>
          </a:p>
        </p:txBody>
      </p:sp>
      <p:sp>
        <p:nvSpPr>
          <p:cNvPr id="445" name="Google Shape;445;p21"/>
          <p:cNvSpPr/>
          <p:nvPr/>
        </p:nvSpPr>
        <p:spPr>
          <a:xfrm>
            <a:off x="4697730" y="1234440"/>
            <a:ext cx="3977640" cy="1508760"/>
          </a:xfrm>
          <a:prstGeom prst="roundRect">
            <a:avLst>
              <a:gd name="adj" fmla="val 16667"/>
            </a:avLst>
          </a:prstGeom>
          <a:solidFill>
            <a:srgbClr val="E8F5E9"/>
          </a:solidFill>
          <a:ln w="12700" cap="flat" cmpd="sng">
            <a:solidFill>
              <a:srgbClr val="A0D0A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102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333333"/>
                </a:solidFill>
                <a:latin typeface="游ゴシック" panose="020B0400000000000000" pitchFamily="50" charset="-128"/>
                <a:ea typeface="游ゴシック" panose="020B0400000000000000" pitchFamily="50" charset="-128"/>
                <a:sym typeface="Arial"/>
              </a:rPr>
              <a:t>S3 + メタデータ層</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スキーマ管理  — 列の追加・変更を安全に実行</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ACIDトランザクション  — 途中で壊れない書き込み保証</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Time Travel  — 過去のデータに遡れる（監査対応）</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パーティション管理  — 高速検索のための自動分割</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行レベルの更新・削除  — RDBのようなUPDATE/DELETE</a:t>
            </a:r>
            <a:endParaRPr sz="1350" b="0" i="0" u="none" strike="noStrike" cap="none" dirty="0">
              <a:solidFill>
                <a:schemeClr val="dk1"/>
              </a:solidFill>
              <a:latin typeface="Calibri"/>
              <a:ea typeface="Calibri"/>
              <a:cs typeface="Calibri"/>
              <a:sym typeface="Calibri"/>
            </a:endParaRPr>
          </a:p>
        </p:txBody>
      </p:sp>
      <p:sp>
        <p:nvSpPr>
          <p:cNvPr id="446" name="Google Shape;446;p21"/>
          <p:cNvSpPr/>
          <p:nvPr/>
        </p:nvSpPr>
        <p:spPr>
          <a:xfrm>
            <a:off x="4354830" y="925830"/>
            <a:ext cx="10287" cy="198882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7" name="Google Shape;447;p21"/>
          <p:cNvSpPr txBox="1"/>
          <p:nvPr/>
        </p:nvSpPr>
        <p:spPr>
          <a:xfrm>
            <a:off x="480060" y="2983229"/>
            <a:ext cx="78867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主要フォーマット3種の位置づけ</a:t>
            </a:r>
            <a:endParaRPr sz="1350" b="0" i="0" u="none" strike="noStrike" cap="none" dirty="0">
              <a:solidFill>
                <a:schemeClr val="dk1"/>
              </a:solidFill>
              <a:latin typeface="Calibri"/>
              <a:ea typeface="Calibri"/>
              <a:cs typeface="Calibri"/>
              <a:sym typeface="Calibri"/>
            </a:endParaRPr>
          </a:p>
        </p:txBody>
      </p:sp>
      <p:graphicFrame>
        <p:nvGraphicFramePr>
          <p:cNvPr id="448" name="Google Shape;448;p21"/>
          <p:cNvGraphicFramePr/>
          <p:nvPr/>
        </p:nvGraphicFramePr>
        <p:xfrm>
          <a:off x="480061" y="3257550"/>
          <a:ext cx="8161050" cy="1325980"/>
        </p:xfrm>
        <a:graphic>
          <a:graphicData uri="http://schemas.openxmlformats.org/drawingml/2006/table">
            <a:tbl>
              <a:tblPr>
                <a:noFill/>
                <a:tableStyleId>{831F8A93-CA79-4AF6-B420-68E9A51CCC31}</a:tableStyleId>
              </a:tblPr>
              <a:tblGrid>
                <a:gridCol w="1097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74325">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dirty="0">
                        <a:latin typeface="游ゴシック" panose="020B0400000000000000" pitchFamily="50" charset="-128"/>
                        <a:ea typeface="游ゴシック" panose="020B0400000000000000" pitchFamily="50" charset="-128"/>
                      </a:endParaRPr>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Apache Iceberg</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Delta Lake</a:t>
                      </a:r>
                      <a:endParaRPr sz="1400" u="none" strike="noStrike" cap="none" dirty="0"/>
                    </a:p>
                  </a:txBody>
                  <a:tcPr marL="68600" marR="68600" marT="34300" marB="34300">
                    <a:solidFill>
                      <a:srgbClr val="2E7D32"/>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Apache Hudi</a:t>
                      </a:r>
                      <a:endParaRPr sz="1400" u="none" strike="noStrike" cap="none" dirty="0"/>
                    </a:p>
                  </a:txBody>
                  <a:tcPr marL="68600" marR="68600" marT="34300" marB="34300">
                    <a:solidFill>
                      <a:srgbClr val="666666"/>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起源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Netflix → Apache財団</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 → Linux Foundation</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Uber → Apache財団</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位置づけ</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業界標準の互換フォーマット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Spark環境での最高性能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ストリーミング特化（ニッチ）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採用状況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975社以上（2026年）</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Snowflake/Athena/BigQuery対応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Databricksエコシステム中心</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Spark上での性能は最速</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採用企業は限定的</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リアルタイムUpsertに強い</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相互運用</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マルチエンジン対応が最も広い</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ベンダー中立性 ◎</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UniFormでIceberg互換を実現</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Databricks利用時のデフォルト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Iceberg互換を自ら追加</a:t>
                      </a:r>
                      <a:br>
                        <a:rPr lang="ja" sz="700" u="none" strike="noStrike" cap="none" dirty="0">
                          <a:latin typeface="游ゴシック" panose="020B0400000000000000" pitchFamily="50" charset="-128"/>
                          <a:ea typeface="游ゴシック" panose="020B0400000000000000" pitchFamily="50" charset="-128"/>
                        </a:rPr>
                      </a:br>
                      <a:r>
                        <a:rPr lang="ja" sz="700" u="none" strike="noStrike" cap="none" dirty="0">
                          <a:latin typeface="游ゴシック" panose="020B0400000000000000" pitchFamily="50" charset="-128"/>
                          <a:ea typeface="游ゴシック" panose="020B0400000000000000" pitchFamily="50" charset="-128"/>
                        </a:rPr>
                        <a:t>本PJでは選択肢外</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450" name="Google Shape;450;p21"/>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別紙A-2</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51" name="Google Shape;451;p21"/>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52" name="Google Shape;452;p21"/>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53" name="Google Shape;453;p21"/>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別紙A-2</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2"/>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59" name="Google Shape;459;p22"/>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60" name="Google Shape;460;p22"/>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Calibri"/>
                <a:ea typeface="Calibri"/>
                <a:cs typeface="Calibri"/>
                <a:sym typeface="Calibri"/>
              </a:rPr>
              <a:t>補足：</a:t>
            </a: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UniFormによる「フォーマット」の収束</a:t>
            </a:r>
            <a:endParaRPr sz="1350" b="0" i="0" u="none" strike="noStrike" cap="none" dirty="0">
              <a:solidFill>
                <a:schemeClr val="dk1"/>
              </a:solidFill>
              <a:latin typeface="Calibri"/>
              <a:ea typeface="Calibri"/>
              <a:cs typeface="Calibri"/>
              <a:sym typeface="Calibri"/>
            </a:endParaRPr>
          </a:p>
        </p:txBody>
      </p:sp>
      <p:sp>
        <p:nvSpPr>
          <p:cNvPr id="461" name="Google Shape;461;p22"/>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Delta Lakeで書き込み → 自動でIcebergメタデータ生成 → 外部エンジンからIcebergとして読取り可能</a:t>
            </a:r>
            <a:endParaRPr sz="1350" b="0" i="0" u="none" strike="noStrike" cap="none" dirty="0">
              <a:solidFill>
                <a:schemeClr val="dk1"/>
              </a:solidFill>
              <a:latin typeface="Calibri"/>
              <a:ea typeface="Calibri"/>
              <a:cs typeface="Calibri"/>
              <a:sym typeface="Calibri"/>
            </a:endParaRPr>
          </a:p>
        </p:txBody>
      </p:sp>
      <p:sp>
        <p:nvSpPr>
          <p:cNvPr id="462" name="Google Shape;462;p22"/>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3" name="Google Shape;463;p22"/>
          <p:cNvSpPr txBox="1"/>
          <p:nvPr/>
        </p:nvSpPr>
        <p:spPr>
          <a:xfrm>
            <a:off x="480060" y="925830"/>
            <a:ext cx="37719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C0392B"/>
                </a:solidFill>
                <a:latin typeface="游ゴシック" panose="020B0400000000000000" pitchFamily="50" charset="-128"/>
                <a:ea typeface="游ゴシック" panose="020B0400000000000000" pitchFamily="50" charset="-128"/>
                <a:sym typeface="Arial"/>
              </a:rPr>
              <a:t>以前の状況：二者択一</a:t>
            </a:r>
            <a:endParaRPr sz="1350" b="0" i="0" u="none" strike="noStrike" cap="none" dirty="0">
              <a:solidFill>
                <a:schemeClr val="dk1"/>
              </a:solidFill>
              <a:latin typeface="Calibri"/>
              <a:ea typeface="Calibri"/>
              <a:cs typeface="Calibri"/>
              <a:sym typeface="Calibri"/>
            </a:endParaRPr>
          </a:p>
        </p:txBody>
      </p:sp>
      <p:sp>
        <p:nvSpPr>
          <p:cNvPr id="464" name="Google Shape;464;p22"/>
          <p:cNvSpPr/>
          <p:nvPr/>
        </p:nvSpPr>
        <p:spPr>
          <a:xfrm>
            <a:off x="548640" y="1268730"/>
            <a:ext cx="1508760" cy="480060"/>
          </a:xfrm>
          <a:prstGeom prst="roundRect">
            <a:avLst>
              <a:gd name="adj" fmla="val 16667"/>
            </a:avLst>
          </a:prstGeom>
          <a:solidFill>
            <a:srgbClr val="E5DFEC"/>
          </a:solidFill>
          <a:ln w="127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a:t>
            </a:r>
            <a:b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 Delta Lake推進</a:t>
            </a:r>
            <a:endParaRPr sz="1350" b="0" i="0" u="none" strike="noStrike" cap="none" dirty="0">
              <a:solidFill>
                <a:schemeClr val="dk1"/>
              </a:solidFill>
              <a:latin typeface="Calibri"/>
              <a:ea typeface="Calibri"/>
              <a:cs typeface="Calibri"/>
              <a:sym typeface="Calibri"/>
            </a:endParaRPr>
          </a:p>
        </p:txBody>
      </p:sp>
      <p:sp>
        <p:nvSpPr>
          <p:cNvPr id="465" name="Google Shape;465;p22"/>
          <p:cNvSpPr/>
          <p:nvPr/>
        </p:nvSpPr>
        <p:spPr>
          <a:xfrm>
            <a:off x="548640" y="1885950"/>
            <a:ext cx="1508760" cy="480060"/>
          </a:xfrm>
          <a:prstGeom prst="roundRect">
            <a:avLst>
              <a:gd name="adj" fmla="val 16667"/>
            </a:avLst>
          </a:prstGeom>
          <a:solidFill>
            <a:srgbClr val="E0F0FF"/>
          </a:solidFill>
          <a:ln w="12700" cap="flat" cmpd="sng">
            <a:solidFill>
              <a:srgbClr val="29B5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t>Snowflake</a:t>
            </a:r>
            <a:b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t>→ Iceberg推進</a:t>
            </a:r>
            <a:endParaRPr sz="1350" b="0" i="0" u="none" strike="noStrike" cap="none" dirty="0">
              <a:solidFill>
                <a:schemeClr val="dk1"/>
              </a:solidFill>
              <a:latin typeface="Calibri"/>
              <a:ea typeface="Calibri"/>
              <a:cs typeface="Calibri"/>
              <a:sym typeface="Calibri"/>
            </a:endParaRPr>
          </a:p>
        </p:txBody>
      </p:sp>
      <p:sp>
        <p:nvSpPr>
          <p:cNvPr id="466" name="Google Shape;466;p22"/>
          <p:cNvSpPr/>
          <p:nvPr/>
        </p:nvSpPr>
        <p:spPr>
          <a:xfrm>
            <a:off x="2468880" y="1440180"/>
            <a:ext cx="1508760" cy="685800"/>
          </a:xfrm>
          <a:prstGeom prst="roundRect">
            <a:avLst>
              <a:gd name="adj" fmla="val 16667"/>
            </a:avLst>
          </a:prstGeom>
          <a:solidFill>
            <a:srgbClr val="FDEDED"/>
          </a:solidFill>
          <a:ln w="12700"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ユーザー</a:t>
            </a:r>
            <a:b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「どちらを選ぶ？」</a:t>
            </a:r>
            <a:b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互換性は？ロックイン？</a:t>
            </a:r>
            <a:endParaRPr sz="1350" b="0" i="0" u="none" strike="noStrike" cap="none" dirty="0">
              <a:solidFill>
                <a:schemeClr val="dk1"/>
              </a:solidFill>
              <a:latin typeface="Calibri"/>
              <a:ea typeface="Calibri"/>
              <a:cs typeface="Calibri"/>
              <a:sym typeface="Calibri"/>
            </a:endParaRPr>
          </a:p>
        </p:txBody>
      </p:sp>
      <p:sp>
        <p:nvSpPr>
          <p:cNvPr id="467" name="Google Shape;467;p22"/>
          <p:cNvSpPr/>
          <p:nvPr/>
        </p:nvSpPr>
        <p:spPr>
          <a:xfrm>
            <a:off x="2125980" y="1474470"/>
            <a:ext cx="274320" cy="13716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8" name="Google Shape;468;p22"/>
          <p:cNvSpPr/>
          <p:nvPr/>
        </p:nvSpPr>
        <p:spPr>
          <a:xfrm>
            <a:off x="2125980" y="2057400"/>
            <a:ext cx="274320" cy="13716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9" name="Google Shape;469;p22"/>
          <p:cNvSpPr/>
          <p:nvPr/>
        </p:nvSpPr>
        <p:spPr>
          <a:xfrm>
            <a:off x="4354830" y="925830"/>
            <a:ext cx="10287" cy="171450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0" name="Google Shape;470;p22"/>
          <p:cNvSpPr txBox="1"/>
          <p:nvPr/>
        </p:nvSpPr>
        <p:spPr>
          <a:xfrm>
            <a:off x="4594860" y="925830"/>
            <a:ext cx="41148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27724A"/>
                </a:solidFill>
                <a:latin typeface="游ゴシック" panose="020B0400000000000000" pitchFamily="50" charset="-128"/>
                <a:ea typeface="游ゴシック" panose="020B0400000000000000" pitchFamily="50" charset="-128"/>
                <a:sym typeface="Arial"/>
              </a:rPr>
              <a:t>現在：UniForm（2024年6月GA）で解決</a:t>
            </a:r>
            <a:endParaRPr sz="1350" b="0" i="0" u="none" strike="noStrike" cap="none" dirty="0">
              <a:solidFill>
                <a:schemeClr val="dk1"/>
              </a:solidFill>
              <a:latin typeface="Calibri"/>
              <a:ea typeface="Calibri"/>
              <a:cs typeface="Calibri"/>
              <a:sym typeface="Calibri"/>
            </a:endParaRPr>
          </a:p>
        </p:txBody>
      </p:sp>
      <p:sp>
        <p:nvSpPr>
          <p:cNvPr id="471" name="Google Shape;471;p22"/>
          <p:cNvSpPr/>
          <p:nvPr/>
        </p:nvSpPr>
        <p:spPr>
          <a:xfrm>
            <a:off x="4663440" y="1268730"/>
            <a:ext cx="1165860" cy="891540"/>
          </a:xfrm>
          <a:prstGeom prst="roundRect">
            <a:avLst>
              <a:gd name="adj" fmla="val 16667"/>
            </a:avLst>
          </a:prstGeom>
          <a:solidFill>
            <a:srgbClr val="E5DFEC"/>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Delta Lakeで</a:t>
            </a:r>
            <a:b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書き込み</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30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Databricks上で</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最高性能</a:t>
            </a:r>
            <a:endParaRPr sz="1350" b="0" i="0" u="none" strike="noStrike" cap="none" dirty="0">
              <a:solidFill>
                <a:schemeClr val="dk1"/>
              </a:solidFill>
              <a:latin typeface="Calibri"/>
              <a:ea typeface="Calibri"/>
              <a:cs typeface="Calibri"/>
              <a:sym typeface="Calibri"/>
            </a:endParaRPr>
          </a:p>
        </p:txBody>
      </p:sp>
      <p:sp>
        <p:nvSpPr>
          <p:cNvPr id="472" name="Google Shape;472;p22"/>
          <p:cNvSpPr/>
          <p:nvPr/>
        </p:nvSpPr>
        <p:spPr>
          <a:xfrm>
            <a:off x="5897880" y="1577340"/>
            <a:ext cx="342900" cy="17145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3" name="Google Shape;473;p22"/>
          <p:cNvSpPr/>
          <p:nvPr/>
        </p:nvSpPr>
        <p:spPr>
          <a:xfrm>
            <a:off x="6309360" y="1268730"/>
            <a:ext cx="1165860" cy="891540"/>
          </a:xfrm>
          <a:prstGeom prst="roundRect">
            <a:avLst>
              <a:gd name="adj" fmla="val 16667"/>
            </a:avLst>
          </a:prstGeom>
          <a:solidFill>
            <a:srgbClr val="FFF3E0"/>
          </a:solidFill>
          <a:ln w="25400" cap="flat" cmpd="sng">
            <a:solidFill>
              <a:srgbClr val="FF98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t>UniForm</a:t>
            </a:r>
            <a:b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t>自動変換</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30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メタデータのみ</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データ複製なし</a:t>
            </a:r>
            <a:endParaRPr sz="1350" b="0" i="0" u="none" strike="noStrike" cap="none" dirty="0">
              <a:solidFill>
                <a:schemeClr val="dk1"/>
              </a:solidFill>
              <a:latin typeface="Calibri"/>
              <a:ea typeface="Calibri"/>
              <a:cs typeface="Calibri"/>
              <a:sym typeface="Calibri"/>
            </a:endParaRPr>
          </a:p>
        </p:txBody>
      </p:sp>
      <p:sp>
        <p:nvSpPr>
          <p:cNvPr id="474" name="Google Shape;474;p22"/>
          <p:cNvSpPr/>
          <p:nvPr/>
        </p:nvSpPr>
        <p:spPr>
          <a:xfrm>
            <a:off x="7543800" y="1577340"/>
            <a:ext cx="342900" cy="17145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5" name="Google Shape;475;p22"/>
          <p:cNvSpPr/>
          <p:nvPr/>
        </p:nvSpPr>
        <p:spPr>
          <a:xfrm>
            <a:off x="7955280" y="1268730"/>
            <a:ext cx="1028700" cy="891540"/>
          </a:xfrm>
          <a:prstGeom prst="roundRect">
            <a:avLst>
              <a:gd name="adj" fmla="val 16667"/>
            </a:avLst>
          </a:prstGeom>
          <a:solidFill>
            <a:srgbClr val="E8F5E9"/>
          </a:solidFill>
          <a:ln w="1905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Icebergとして</a:t>
            </a:r>
            <a:b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読取り可能</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Snowflake</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Athena</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Trino 等</a:t>
            </a:r>
            <a:endParaRPr sz="1350" b="0" i="0" u="none" strike="noStrike" cap="none" dirty="0">
              <a:solidFill>
                <a:schemeClr val="dk1"/>
              </a:solidFill>
              <a:latin typeface="Calibri"/>
              <a:ea typeface="Calibri"/>
              <a:cs typeface="Calibri"/>
              <a:sym typeface="Calibri"/>
            </a:endParaRPr>
          </a:p>
        </p:txBody>
      </p:sp>
      <p:sp>
        <p:nvSpPr>
          <p:cNvPr id="476" name="Google Shape;476;p22"/>
          <p:cNvSpPr txBox="1"/>
          <p:nvPr/>
        </p:nvSpPr>
        <p:spPr>
          <a:xfrm>
            <a:off x="480060" y="2811779"/>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UniFormの制約事項（要認識）</a:t>
            </a:r>
            <a:endParaRPr sz="1350" b="0" i="0" u="none" strike="noStrike" cap="none" dirty="0">
              <a:solidFill>
                <a:schemeClr val="dk1"/>
              </a:solidFill>
              <a:latin typeface="Calibri"/>
              <a:ea typeface="Calibri"/>
              <a:cs typeface="Calibri"/>
              <a:sym typeface="Calibri"/>
            </a:endParaRPr>
          </a:p>
        </p:txBody>
      </p:sp>
      <p:graphicFrame>
        <p:nvGraphicFramePr>
          <p:cNvPr id="477" name="Google Shape;477;p22"/>
          <p:cNvGraphicFramePr/>
          <p:nvPr/>
        </p:nvGraphicFramePr>
        <p:xfrm>
          <a:off x="480060" y="3086100"/>
          <a:ext cx="7886700" cy="1200250"/>
        </p:xfrm>
        <a:graphic>
          <a:graphicData uri="http://schemas.openxmlformats.org/drawingml/2006/table">
            <a:tbl>
              <a:tblPr>
                <a:noFill/>
                <a:tableStyleId>{831F8A93-CA79-4AF6-B420-68E9A51CCC31}</a:tableStyleId>
              </a:tblPr>
              <a:tblGrid>
                <a:gridCol w="13716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制約</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内容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影響度</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読み取り専用</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外部エンジンからの書き込み不可。書き込みはDatabricks/Delta経由のみ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メタデータの遅延</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Icebergメタデータは非同期生成。書き込み直後は一瞬のタイムラグあり</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性能ペナルティ</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Snowflakeからの読み取りはネイティブ比で約20%の性能低下</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Databricks固有機能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UniFormはオープンな業界標準ではなく、Databricks固有の機能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要認識</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478" name="Google Shape;478;p22"/>
          <p:cNvSpPr/>
          <p:nvPr/>
        </p:nvSpPr>
        <p:spPr>
          <a:xfrm>
            <a:off x="411480" y="4389120"/>
            <a:ext cx="34290" cy="51435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9" name="Google Shape;479;p22"/>
          <p:cNvSpPr/>
          <p:nvPr/>
        </p:nvSpPr>
        <p:spPr>
          <a:xfrm>
            <a:off x="445770" y="4389120"/>
            <a:ext cx="8263890" cy="51435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 Databricks利用時：Delta Lake + UniForm（Iceberg互換）を推奨。</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Databricksを書き込みプラットフォームとする前提で二者択一が不要に。マルチプラットフォーム時：Icebergを標準化。ベンダー中立性が最も高い。</a:t>
            </a:r>
            <a:endParaRPr sz="1350" b="0" i="0" u="none" strike="noStrike" cap="none" dirty="0">
              <a:solidFill>
                <a:schemeClr val="dk1"/>
              </a:solidFill>
              <a:latin typeface="Calibri"/>
              <a:ea typeface="Calibri"/>
              <a:cs typeface="Calibri"/>
              <a:sym typeface="Calibri"/>
            </a:endParaRPr>
          </a:p>
        </p:txBody>
      </p:sp>
      <p:sp>
        <p:nvSpPr>
          <p:cNvPr id="481" name="Google Shape;481;p22"/>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別紙A-3</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82" name="Google Shape;482;p22"/>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83" name="Google Shape;483;p22"/>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84" name="Google Shape;484;p22"/>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別紙A-3</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5"/>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28" name="Google Shape;528;p25"/>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lt1"/>
              </a:solidFill>
              <a:latin typeface="Calibri"/>
              <a:ea typeface="Calibri"/>
              <a:cs typeface="Calibri"/>
              <a:sym typeface="Calibri"/>
            </a:endParaRPr>
          </a:p>
        </p:txBody>
      </p:sp>
      <p:sp>
        <p:nvSpPr>
          <p:cNvPr id="529" name="Google Shape;529;p25"/>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BI層にSnowflakeを挟む必要性</a:t>
            </a:r>
            <a:endParaRPr sz="1350" b="0" i="0" u="none" strike="noStrike" cap="none" dirty="0">
              <a:solidFill>
                <a:schemeClr val="dk1"/>
              </a:solidFill>
              <a:latin typeface="Calibri"/>
              <a:ea typeface="Calibri"/>
              <a:cs typeface="Calibri"/>
              <a:sym typeface="Calibri"/>
            </a:endParaRPr>
          </a:p>
        </p:txBody>
      </p:sp>
      <p:sp>
        <p:nvSpPr>
          <p:cNvPr id="530" name="Google Shape;530;p25"/>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よくあるパターン（Databricks ETL + Snowflake）は必要か？</a:t>
            </a:r>
            <a:endParaRPr sz="1350" b="0" i="0" u="none" strike="noStrike" cap="none" dirty="0">
              <a:solidFill>
                <a:schemeClr val="dk1"/>
              </a:solidFill>
              <a:latin typeface="Calibri"/>
              <a:ea typeface="Calibri"/>
              <a:cs typeface="Calibri"/>
              <a:sym typeface="Calibri"/>
            </a:endParaRPr>
          </a:p>
        </p:txBody>
      </p:sp>
      <p:sp>
        <p:nvSpPr>
          <p:cNvPr id="531" name="Google Shape;531;p25"/>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2" name="Google Shape;532;p25"/>
          <p:cNvSpPr txBox="1"/>
          <p:nvPr/>
        </p:nvSpPr>
        <p:spPr>
          <a:xfrm>
            <a:off x="480060" y="891540"/>
            <a:ext cx="82296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1A1A1A"/>
                </a:solidFill>
                <a:latin typeface="游ゴシック" panose="020B0400000000000000" pitchFamily="50" charset="-128"/>
                <a:ea typeface="游ゴシック" panose="020B0400000000000000" pitchFamily="50" charset="-128"/>
                <a:sym typeface="Arial"/>
              </a:rPr>
              <a:t>以前はTableau同時多数接続にSnowflakeを挟むメリットがあったが、現在は性能差は実運用では少なく、コストと手間だけ重くなる設計。</a:t>
            </a:r>
            <a:endParaRPr sz="1350" b="0" i="0" u="none" strike="noStrike" cap="none" dirty="0">
              <a:solidFill>
                <a:schemeClr val="dk1"/>
              </a:solidFill>
              <a:latin typeface="Calibri"/>
              <a:ea typeface="Calibri"/>
              <a:cs typeface="Calibri"/>
              <a:sym typeface="Calibri"/>
            </a:endParaRPr>
          </a:p>
        </p:txBody>
      </p:sp>
      <p:sp>
        <p:nvSpPr>
          <p:cNvPr id="533" name="Google Shape;533;p25"/>
          <p:cNvSpPr txBox="1"/>
          <p:nvPr/>
        </p:nvSpPr>
        <p:spPr>
          <a:xfrm>
            <a:off x="480060" y="1200150"/>
            <a:ext cx="377190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パターンA：Snowflakeを挟む構成</a:t>
            </a:r>
            <a:endParaRPr sz="1350" b="0" i="0" u="none" strike="noStrike" cap="none" dirty="0">
              <a:solidFill>
                <a:schemeClr val="dk1"/>
              </a:solidFill>
              <a:latin typeface="Calibri"/>
              <a:ea typeface="Calibri"/>
              <a:cs typeface="Calibri"/>
              <a:sym typeface="Calibri"/>
            </a:endParaRPr>
          </a:p>
        </p:txBody>
      </p:sp>
      <p:sp>
        <p:nvSpPr>
          <p:cNvPr id="534" name="Google Shape;534;p25"/>
          <p:cNvSpPr/>
          <p:nvPr/>
        </p:nvSpPr>
        <p:spPr>
          <a:xfrm>
            <a:off x="548640" y="1440180"/>
            <a:ext cx="1028700" cy="582930"/>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ETL / データ加工</a:t>
            </a:r>
            <a:endParaRPr sz="1350" b="0" i="0" u="none" strike="noStrike" cap="none" dirty="0">
              <a:solidFill>
                <a:schemeClr val="dk1"/>
              </a:solidFill>
              <a:latin typeface="Calibri"/>
              <a:ea typeface="Calibri"/>
              <a:cs typeface="Calibri"/>
              <a:sym typeface="Calibri"/>
            </a:endParaRPr>
          </a:p>
        </p:txBody>
      </p:sp>
      <p:sp>
        <p:nvSpPr>
          <p:cNvPr id="535" name="Google Shape;535;p25"/>
          <p:cNvSpPr/>
          <p:nvPr/>
        </p:nvSpPr>
        <p:spPr>
          <a:xfrm>
            <a:off x="1783080" y="1440180"/>
            <a:ext cx="1028700" cy="582930"/>
          </a:xfrm>
          <a:prstGeom prst="roundRect">
            <a:avLst>
              <a:gd name="adj" fmla="val 16667"/>
            </a:avLst>
          </a:prstGeom>
          <a:solidFill>
            <a:srgbClr val="29B5E8"/>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Snowflake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BIサービング層</a:t>
            </a:r>
            <a:endParaRPr sz="1350" b="0" i="0" u="none" strike="noStrike" cap="none" dirty="0">
              <a:solidFill>
                <a:schemeClr val="dk1"/>
              </a:solidFill>
              <a:latin typeface="Calibri"/>
              <a:ea typeface="Calibri"/>
              <a:cs typeface="Calibri"/>
              <a:sym typeface="Calibri"/>
            </a:endParaRPr>
          </a:p>
        </p:txBody>
      </p:sp>
      <p:sp>
        <p:nvSpPr>
          <p:cNvPr id="536" name="Google Shape;536;p25"/>
          <p:cNvSpPr/>
          <p:nvPr/>
        </p:nvSpPr>
        <p:spPr>
          <a:xfrm>
            <a:off x="3017520" y="1440180"/>
            <a:ext cx="1028700" cy="582930"/>
          </a:xfrm>
          <a:prstGeom prst="roundRect">
            <a:avLst>
              <a:gd name="adj" fmla="val 16667"/>
            </a:avLst>
          </a:prstGeom>
          <a:solidFill>
            <a:schemeClr val="accent6"/>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ダッシュボード</a:t>
            </a:r>
            <a:endParaRPr sz="1350" b="0" i="0" u="none" strike="noStrike" cap="none" dirty="0">
              <a:solidFill>
                <a:schemeClr val="dk1"/>
              </a:solidFill>
              <a:latin typeface="Calibri"/>
              <a:ea typeface="Calibri"/>
              <a:cs typeface="Calibri"/>
              <a:sym typeface="Calibri"/>
            </a:endParaRPr>
          </a:p>
        </p:txBody>
      </p:sp>
      <p:sp>
        <p:nvSpPr>
          <p:cNvPr id="537" name="Google Shape;537;p25"/>
          <p:cNvSpPr/>
          <p:nvPr/>
        </p:nvSpPr>
        <p:spPr>
          <a:xfrm>
            <a:off x="1611630" y="1611630"/>
            <a:ext cx="137160" cy="10287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8" name="Google Shape;538;p25"/>
          <p:cNvSpPr/>
          <p:nvPr/>
        </p:nvSpPr>
        <p:spPr>
          <a:xfrm>
            <a:off x="2846070" y="1611630"/>
            <a:ext cx="137160" cy="10287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9" name="Google Shape;539;p25"/>
          <p:cNvSpPr/>
          <p:nvPr/>
        </p:nvSpPr>
        <p:spPr>
          <a:xfrm>
            <a:off x="548640" y="2091690"/>
            <a:ext cx="3497580" cy="274320"/>
          </a:xfrm>
          <a:prstGeom prst="rect">
            <a:avLst/>
          </a:prstGeom>
          <a:solidFill>
            <a:srgbClr val="FDEDED"/>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C0392B"/>
                </a:solidFill>
                <a:latin typeface="游ゴシック" panose="020B0400000000000000" pitchFamily="50" charset="-128"/>
                <a:ea typeface="游ゴシック" panose="020B0400000000000000" pitchFamily="50" charset="-128"/>
                <a:sym typeface="Arial"/>
              </a:rPr>
              <a:t>⚠ Snowflake追加コスト：年間 1,500-3,000万円（ライセンス + 同期パイプライン構築・運用）</a:t>
            </a:r>
            <a:endParaRPr sz="1350" b="0" i="0" u="none" strike="noStrike" cap="none" dirty="0">
              <a:solidFill>
                <a:schemeClr val="dk1"/>
              </a:solidFill>
              <a:latin typeface="Calibri"/>
              <a:ea typeface="Calibri"/>
              <a:cs typeface="Calibri"/>
              <a:sym typeface="Calibri"/>
            </a:endParaRPr>
          </a:p>
        </p:txBody>
      </p:sp>
      <p:sp>
        <p:nvSpPr>
          <p:cNvPr id="540" name="Google Shape;540;p25"/>
          <p:cNvSpPr txBox="1"/>
          <p:nvPr/>
        </p:nvSpPr>
        <p:spPr>
          <a:xfrm>
            <a:off x="4697730" y="1200150"/>
            <a:ext cx="397764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パターンB：直接接続（推奨）</a:t>
            </a:r>
            <a:endParaRPr sz="1350" b="0" i="0" u="none" strike="noStrike" cap="none" dirty="0">
              <a:solidFill>
                <a:schemeClr val="dk1"/>
              </a:solidFill>
              <a:latin typeface="Calibri"/>
              <a:ea typeface="Calibri"/>
              <a:cs typeface="Calibri"/>
              <a:sym typeface="Calibri"/>
            </a:endParaRPr>
          </a:p>
        </p:txBody>
      </p:sp>
      <p:sp>
        <p:nvSpPr>
          <p:cNvPr id="541" name="Google Shape;541;p25"/>
          <p:cNvSpPr/>
          <p:nvPr/>
        </p:nvSpPr>
        <p:spPr>
          <a:xfrm>
            <a:off x="4937760" y="1440180"/>
            <a:ext cx="1371600" cy="58293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ETL + SQL Warehouse</a:t>
            </a:r>
            <a:endParaRPr sz="1350" b="0" i="0" u="none" strike="noStrike" cap="none" dirty="0">
              <a:solidFill>
                <a:schemeClr val="dk1"/>
              </a:solidFill>
              <a:latin typeface="Calibri"/>
              <a:ea typeface="Calibri"/>
              <a:cs typeface="Calibri"/>
              <a:sym typeface="Calibri"/>
            </a:endParaRPr>
          </a:p>
        </p:txBody>
      </p:sp>
      <p:sp>
        <p:nvSpPr>
          <p:cNvPr id="542" name="Google Shape;542;p25"/>
          <p:cNvSpPr/>
          <p:nvPr/>
        </p:nvSpPr>
        <p:spPr>
          <a:xfrm>
            <a:off x="6720840" y="1440180"/>
            <a:ext cx="1371600" cy="582930"/>
          </a:xfrm>
          <a:prstGeom prst="roundRect">
            <a:avLst>
              <a:gd name="adj" fmla="val 16667"/>
            </a:avLst>
          </a:prstGeom>
          <a:solidFill>
            <a:schemeClr val="accent6"/>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ダッシュボード</a:t>
            </a:r>
            <a:endParaRPr sz="1350" b="0" i="0" u="none" strike="noStrike" cap="none" dirty="0">
              <a:solidFill>
                <a:schemeClr val="dk1"/>
              </a:solidFill>
              <a:latin typeface="Calibri"/>
              <a:ea typeface="Calibri"/>
              <a:cs typeface="Calibri"/>
              <a:sym typeface="Calibri"/>
            </a:endParaRPr>
          </a:p>
        </p:txBody>
      </p:sp>
      <p:sp>
        <p:nvSpPr>
          <p:cNvPr id="543" name="Google Shape;543;p25"/>
          <p:cNvSpPr/>
          <p:nvPr/>
        </p:nvSpPr>
        <p:spPr>
          <a:xfrm>
            <a:off x="6377940" y="1611630"/>
            <a:ext cx="274320" cy="102870"/>
          </a:xfrm>
          <a:prstGeom prst="rightArrow">
            <a:avLst>
              <a:gd name="adj1" fmla="val 50000"/>
              <a:gd name="adj2" fmla="val 50000"/>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44" name="Google Shape;544;p25"/>
          <p:cNvSpPr/>
          <p:nvPr/>
        </p:nvSpPr>
        <p:spPr>
          <a:xfrm>
            <a:off x="4937760" y="2091690"/>
            <a:ext cx="3154680" cy="274320"/>
          </a:xfrm>
          <a:prstGeom prst="rect">
            <a:avLst/>
          </a:prstGeom>
          <a:solidFill>
            <a:srgbClr val="E8F5E9"/>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シンプル。追加コストなし。年間 1,500-3,000万円を削減</a:t>
            </a:r>
            <a:endParaRPr sz="1350" b="0" i="0" u="none" strike="noStrike" cap="none" dirty="0">
              <a:solidFill>
                <a:schemeClr val="dk1"/>
              </a:solidFill>
              <a:latin typeface="Calibri"/>
              <a:ea typeface="Calibri"/>
              <a:cs typeface="Calibri"/>
              <a:sym typeface="Calibri"/>
            </a:endParaRPr>
          </a:p>
        </p:txBody>
      </p:sp>
      <p:sp>
        <p:nvSpPr>
          <p:cNvPr id="545" name="Google Shape;545;p25"/>
          <p:cNvSpPr txBox="1"/>
          <p:nvPr/>
        </p:nvSpPr>
        <p:spPr>
          <a:xfrm>
            <a:off x="480060" y="2537460"/>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ポイント：「登録ユーザー数」と「同時接続数」は全く異なる</a:t>
            </a:r>
            <a:endParaRPr sz="1350" b="0" i="0" u="none" strike="noStrike" cap="none" dirty="0">
              <a:solidFill>
                <a:schemeClr val="dk1"/>
              </a:solidFill>
              <a:latin typeface="Calibri"/>
              <a:ea typeface="Calibri"/>
              <a:cs typeface="Calibri"/>
              <a:sym typeface="Calibri"/>
            </a:endParaRPr>
          </a:p>
        </p:txBody>
      </p:sp>
      <p:graphicFrame>
        <p:nvGraphicFramePr>
          <p:cNvPr id="546" name="Google Shape;546;p25"/>
          <p:cNvGraphicFramePr/>
          <p:nvPr/>
        </p:nvGraphicFramePr>
        <p:xfrm>
          <a:off x="480060" y="2811779"/>
          <a:ext cx="7886700" cy="12002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00635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指標</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推定値</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根拠</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登録ユーザー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800 - 1,000人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施設長700名 + 本部スタッフ</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日次アクティブ率</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20 - 30%</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施設長は毎日閲覧しない。週次/月次チェックが多い</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ピーク同時接続</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40 - 80人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朝の業務開始時、月初レポート確認時が最大</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平常時同時接続</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10 - 30人</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547" name="Google Shape;547;p25"/>
          <p:cNvSpPr txBox="1"/>
          <p:nvPr/>
        </p:nvSpPr>
        <p:spPr>
          <a:xfrm>
            <a:off x="480060" y="4164917"/>
            <a:ext cx="377190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Databricks SQL Serverlessの同時実行能力</a:t>
            </a:r>
            <a:endParaRPr sz="1350" b="0" i="0" u="none" strike="noStrike" cap="none" dirty="0">
              <a:solidFill>
                <a:schemeClr val="dk1"/>
              </a:solidFill>
              <a:latin typeface="Calibri"/>
              <a:ea typeface="Calibri"/>
              <a:cs typeface="Calibri"/>
              <a:sym typeface="Calibri"/>
            </a:endParaRPr>
          </a:p>
        </p:txBody>
      </p:sp>
      <p:sp>
        <p:nvSpPr>
          <p:cNvPr id="548" name="Google Shape;548;p25"/>
          <p:cNvSpPr txBox="1"/>
          <p:nvPr/>
        </p:nvSpPr>
        <p:spPr>
          <a:xfrm>
            <a:off x="480060" y="4217670"/>
            <a:ext cx="3771900" cy="74889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1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10並行クエリ/クラスター × 自動スケーリング</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ピーク80人 → 8クラスターで対応（自動）</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上限: 1,000並行クエリ — 全く問題なし</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2025年: 実ワークロード5倍高速化を達成</a:t>
            </a:r>
            <a:endParaRPr sz="1350" b="0" i="0" u="none" strike="noStrike" cap="none" dirty="0">
              <a:solidFill>
                <a:schemeClr val="dk1"/>
              </a:solidFill>
              <a:latin typeface="Calibri"/>
              <a:ea typeface="Calibri"/>
              <a:cs typeface="Calibri"/>
              <a:sym typeface="Calibri"/>
            </a:endParaRPr>
          </a:p>
        </p:txBody>
      </p:sp>
      <p:sp>
        <p:nvSpPr>
          <p:cNvPr id="549" name="Google Shape;549;p25"/>
          <p:cNvSpPr txBox="1"/>
          <p:nvPr/>
        </p:nvSpPr>
        <p:spPr>
          <a:xfrm>
            <a:off x="4697730" y="4164917"/>
            <a:ext cx="397764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さらにTableau Extractで同時接続問題自体が消える</a:t>
            </a:r>
            <a:endParaRPr sz="1350" b="0" i="0" u="none" strike="noStrike" cap="none" dirty="0">
              <a:solidFill>
                <a:schemeClr val="dk1"/>
              </a:solidFill>
              <a:latin typeface="Calibri"/>
              <a:ea typeface="Calibri"/>
              <a:cs typeface="Calibri"/>
              <a:sym typeface="Calibri"/>
            </a:endParaRPr>
          </a:p>
        </p:txBody>
      </p:sp>
      <p:sp>
        <p:nvSpPr>
          <p:cNvPr id="550" name="Google Shape;550;p25"/>
          <p:cNvSpPr txBox="1"/>
          <p:nvPr/>
        </p:nvSpPr>
        <p:spPr>
          <a:xfrm>
            <a:off x="4697730" y="4217670"/>
            <a:ext cx="3977640" cy="74889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1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4ダッシュボードはいずれも日次バッチ更新で十分</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Extract: 定期的にデータをTableau Serverにキャッシュ</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800人がアクセスしてもDatabricksへの負荷はゼロ</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Snowflakeを挟む理由が完全になくなる</a:t>
            </a:r>
            <a:endParaRPr sz="1350" b="0" i="0" u="none" strike="noStrike" cap="none" dirty="0">
              <a:solidFill>
                <a:schemeClr val="dk1"/>
              </a:solidFill>
              <a:latin typeface="Calibri"/>
              <a:ea typeface="Calibri"/>
              <a:cs typeface="Calibri"/>
              <a:sym typeface="Calibri"/>
            </a:endParaRPr>
          </a:p>
        </p:txBody>
      </p:sp>
      <p:sp>
        <p:nvSpPr>
          <p:cNvPr id="552" name="Google Shape;552;p25"/>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ja" altLang="en-US"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４</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53" name="Google Shape;553;p25"/>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54" name="Google Shape;554;p25"/>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55" name="Google Shape;555;p25"/>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別紙A-6</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6"/>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1" name="Google Shape;561;p26"/>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562" name="Google Shape;562;p26"/>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オーケストレーション：構成パターンの比較</a:t>
            </a:r>
            <a:endParaRPr sz="1350" b="0" i="0" u="none" strike="noStrike" cap="none" dirty="0">
              <a:solidFill>
                <a:schemeClr val="dk1"/>
              </a:solidFill>
              <a:latin typeface="Calibri"/>
              <a:ea typeface="Calibri"/>
              <a:cs typeface="Calibri"/>
              <a:sym typeface="Calibri"/>
            </a:endParaRPr>
          </a:p>
        </p:txBody>
      </p:sp>
      <p:sp>
        <p:nvSpPr>
          <p:cNvPr id="563" name="Google Shape;563;p26"/>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Databricks中心であればLakeflow単体が最もシンプルかつ推奨。外部連携の複雑度に応じて構成を選択</a:t>
            </a:r>
            <a:endParaRPr sz="1350" b="0" i="0" u="none" strike="noStrike" cap="none" dirty="0">
              <a:solidFill>
                <a:schemeClr val="dk1"/>
              </a:solidFill>
              <a:latin typeface="Calibri"/>
              <a:ea typeface="Calibri"/>
              <a:cs typeface="Calibri"/>
              <a:sym typeface="Calibri"/>
            </a:endParaRPr>
          </a:p>
        </p:txBody>
      </p:sp>
      <p:sp>
        <p:nvSpPr>
          <p:cNvPr id="564" name="Google Shape;564;p26"/>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5" name="Google Shape;565;p26"/>
          <p:cNvSpPr txBox="1"/>
          <p:nvPr/>
        </p:nvSpPr>
        <p:spPr>
          <a:xfrm>
            <a:off x="48006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パターン1</a:t>
            </a:r>
            <a:endParaRPr sz="1350" b="0" i="0" u="none" strike="noStrike" cap="none" dirty="0">
              <a:solidFill>
                <a:schemeClr val="dk1"/>
              </a:solidFill>
              <a:latin typeface="Calibri"/>
              <a:ea typeface="Calibri"/>
              <a:cs typeface="Calibri"/>
              <a:sym typeface="Calibri"/>
            </a:endParaRPr>
          </a:p>
        </p:txBody>
      </p:sp>
      <p:sp>
        <p:nvSpPr>
          <p:cNvPr id="566" name="Google Shape;566;p26"/>
          <p:cNvSpPr txBox="1"/>
          <p:nvPr/>
        </p:nvSpPr>
        <p:spPr>
          <a:xfrm>
            <a:off x="48006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Lakeflow 単体 (databricks)</a:t>
            </a:r>
            <a:endParaRPr sz="1350" b="0" i="0" u="none" strike="noStrike" cap="none" dirty="0">
              <a:solidFill>
                <a:schemeClr val="dk1"/>
              </a:solidFill>
              <a:latin typeface="Calibri"/>
              <a:ea typeface="Calibri"/>
              <a:cs typeface="Calibri"/>
              <a:sym typeface="Calibri"/>
            </a:endParaRPr>
          </a:p>
        </p:txBody>
      </p:sp>
      <p:sp>
        <p:nvSpPr>
          <p:cNvPr id="567" name="Google Shape;567;p26"/>
          <p:cNvSpPr/>
          <p:nvPr/>
        </p:nvSpPr>
        <p:spPr>
          <a:xfrm>
            <a:off x="2323147" y="930974"/>
            <a:ext cx="660083" cy="171450"/>
          </a:xfrm>
          <a:prstGeom prst="roundRect">
            <a:avLst>
              <a:gd name="adj" fmla="val 16667"/>
            </a:avLst>
          </a:prstGeom>
          <a:solidFill>
            <a:srgbClr val="00B050"/>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推奨</a:t>
            </a:r>
            <a:endParaRPr sz="675" b="0" i="0" u="none" strike="noStrike" cap="none" dirty="0">
              <a:solidFill>
                <a:schemeClr val="lt1"/>
              </a:solidFill>
              <a:latin typeface="Calibri"/>
              <a:ea typeface="Calibri"/>
              <a:cs typeface="Calibri"/>
              <a:sym typeface="Calibri"/>
            </a:endParaRPr>
          </a:p>
        </p:txBody>
      </p:sp>
      <p:sp>
        <p:nvSpPr>
          <p:cNvPr id="568" name="Google Shape;568;p26"/>
          <p:cNvSpPr/>
          <p:nvPr/>
        </p:nvSpPr>
        <p:spPr>
          <a:xfrm>
            <a:off x="48006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9" name="Google Shape;569;p26"/>
          <p:cNvSpPr/>
          <p:nvPr/>
        </p:nvSpPr>
        <p:spPr>
          <a:xfrm>
            <a:off x="548640" y="1385316"/>
            <a:ext cx="2400300" cy="582930"/>
          </a:xfrm>
          <a:prstGeom prst="roundRect">
            <a:avLst>
              <a:gd name="adj" fmla="val 16667"/>
            </a:avLst>
          </a:prstGeom>
          <a:solidFill>
            <a:srgbClr val="FFFFFF"/>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Lakeflow Jobs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バッチETL</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ストリーミング</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ML推論</a:t>
            </a:r>
            <a:endParaRPr sz="1350" b="0" i="0" u="none" strike="noStrike" cap="none" dirty="0">
              <a:solidFill>
                <a:schemeClr val="dk1"/>
              </a:solidFill>
              <a:latin typeface="Calibri"/>
              <a:ea typeface="Calibri"/>
              <a:cs typeface="Calibri"/>
              <a:sym typeface="Calibri"/>
            </a:endParaRPr>
          </a:p>
        </p:txBody>
      </p:sp>
      <p:sp>
        <p:nvSpPr>
          <p:cNvPr id="570" name="Google Shape;570;p26"/>
          <p:cNvSpPr/>
          <p:nvPr/>
        </p:nvSpPr>
        <p:spPr>
          <a:xfrm>
            <a:off x="1645920" y="1968246"/>
            <a:ext cx="205740" cy="123444"/>
          </a:xfrm>
          <a:prstGeom prst="down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1" name="Google Shape;571;p26"/>
          <p:cNvSpPr/>
          <p:nvPr/>
        </p:nvSpPr>
        <p:spPr>
          <a:xfrm>
            <a:off x="548640" y="2091690"/>
            <a:ext cx="2400300" cy="582930"/>
          </a:xfrm>
          <a:prstGeom prst="roundRect">
            <a:avLst>
              <a:gd name="adj" fmla="val 16667"/>
            </a:avLst>
          </a:prstGeom>
          <a:solidFill>
            <a:srgbClr val="FFFFFF"/>
          </a:solidFill>
          <a:ln w="19050" cap="flat" cmpd="sng">
            <a:solidFill>
              <a:srgbClr val="2D5F8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D5F8A"/>
                </a:solidFill>
                <a:latin typeface="游ゴシック" panose="020B0400000000000000" pitchFamily="50" charset="-128"/>
                <a:ea typeface="游ゴシック" panose="020B0400000000000000" pitchFamily="50" charset="-128"/>
                <a:sym typeface="Arial"/>
              </a:rPr>
              <a:t>Lakeflow Pipelines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宣言的ETL</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品質チェック</a:t>
            </a:r>
            <a:endParaRPr sz="1350" b="0" i="0" u="none" strike="noStrike" cap="none" dirty="0">
              <a:solidFill>
                <a:schemeClr val="dk1"/>
              </a:solidFill>
              <a:latin typeface="Calibri"/>
              <a:ea typeface="Calibri"/>
              <a:cs typeface="Calibri"/>
              <a:sym typeface="Calibri"/>
            </a:endParaRPr>
          </a:p>
        </p:txBody>
      </p:sp>
      <p:sp>
        <p:nvSpPr>
          <p:cNvPr id="572" name="Google Shape;572;p26"/>
          <p:cNvSpPr txBox="1"/>
          <p:nvPr/>
        </p:nvSpPr>
        <p:spPr>
          <a:xfrm>
            <a:off x="325755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パターン2</a:t>
            </a:r>
            <a:endParaRPr sz="1350" b="0" i="0" u="none" strike="noStrike" cap="none" dirty="0">
              <a:solidFill>
                <a:schemeClr val="dk1"/>
              </a:solidFill>
              <a:latin typeface="Calibri"/>
              <a:ea typeface="Calibri"/>
              <a:cs typeface="Calibri"/>
              <a:sym typeface="Calibri"/>
            </a:endParaRPr>
          </a:p>
        </p:txBody>
      </p:sp>
      <p:sp>
        <p:nvSpPr>
          <p:cNvPr id="573" name="Google Shape;573;p26"/>
          <p:cNvSpPr txBox="1"/>
          <p:nvPr/>
        </p:nvSpPr>
        <p:spPr>
          <a:xfrm>
            <a:off x="325755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Lakeflow + Airflow</a:t>
            </a:r>
            <a:endParaRPr sz="1350" b="0" i="0" u="none" strike="noStrike" cap="none" dirty="0">
              <a:solidFill>
                <a:schemeClr val="dk1"/>
              </a:solidFill>
              <a:latin typeface="Calibri"/>
              <a:ea typeface="Calibri"/>
              <a:cs typeface="Calibri"/>
              <a:sym typeface="Calibri"/>
            </a:endParaRPr>
          </a:p>
        </p:txBody>
      </p:sp>
      <p:sp>
        <p:nvSpPr>
          <p:cNvPr id="574" name="Google Shape;574;p26"/>
          <p:cNvSpPr/>
          <p:nvPr/>
        </p:nvSpPr>
        <p:spPr>
          <a:xfrm>
            <a:off x="4663440" y="930974"/>
            <a:ext cx="1097280" cy="185166"/>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外部連携が複雑な場合</a:t>
            </a:r>
            <a:endParaRPr sz="675" b="0" i="0" u="none" strike="noStrike" cap="none" dirty="0">
              <a:solidFill>
                <a:schemeClr val="lt1"/>
              </a:solidFill>
              <a:latin typeface="Calibri"/>
              <a:ea typeface="Calibri"/>
              <a:cs typeface="Calibri"/>
              <a:sym typeface="Calibri"/>
            </a:endParaRPr>
          </a:p>
        </p:txBody>
      </p:sp>
      <p:sp>
        <p:nvSpPr>
          <p:cNvPr id="575" name="Google Shape;575;p26"/>
          <p:cNvSpPr/>
          <p:nvPr/>
        </p:nvSpPr>
        <p:spPr>
          <a:xfrm>
            <a:off x="325755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6" name="Google Shape;576;p26"/>
          <p:cNvSpPr/>
          <p:nvPr/>
        </p:nvSpPr>
        <p:spPr>
          <a:xfrm>
            <a:off x="3326130" y="1385316"/>
            <a:ext cx="2400300" cy="582930"/>
          </a:xfrm>
          <a:prstGeom prst="roundRect">
            <a:avLst>
              <a:gd name="adj" fmla="val 16667"/>
            </a:avLst>
          </a:prstGeom>
          <a:solidFill>
            <a:srgbClr val="FFFFFF"/>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Lakeflow Jobs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Databricks内ETL</a:t>
            </a:r>
            <a:endParaRPr sz="1350" b="0" i="0" u="none" strike="noStrike" cap="none" dirty="0">
              <a:solidFill>
                <a:schemeClr val="dk1"/>
              </a:solidFill>
              <a:latin typeface="Calibri"/>
              <a:ea typeface="Calibri"/>
              <a:cs typeface="Calibri"/>
              <a:sym typeface="Calibri"/>
            </a:endParaRPr>
          </a:p>
        </p:txBody>
      </p:sp>
      <p:sp>
        <p:nvSpPr>
          <p:cNvPr id="577" name="Google Shape;577;p26"/>
          <p:cNvSpPr/>
          <p:nvPr/>
        </p:nvSpPr>
        <p:spPr>
          <a:xfrm>
            <a:off x="4423410" y="1968246"/>
            <a:ext cx="205740" cy="123444"/>
          </a:xfrm>
          <a:prstGeom prst="down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8" name="Google Shape;578;p26"/>
          <p:cNvSpPr/>
          <p:nvPr/>
        </p:nvSpPr>
        <p:spPr>
          <a:xfrm>
            <a:off x="3326130" y="2091690"/>
            <a:ext cx="2400300" cy="582930"/>
          </a:xfrm>
          <a:prstGeom prst="roundRect">
            <a:avLst>
              <a:gd name="adj" fmla="val 16667"/>
            </a:avLst>
          </a:prstGeom>
          <a:solidFill>
            <a:srgbClr val="FFFFFF"/>
          </a:solidFill>
          <a:ln w="19050" cap="flat" cmpd="sng">
            <a:solidFill>
              <a:srgbClr val="66666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Airflow DAG</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外部API連携</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クロスシステム依存</a:t>
            </a:r>
            <a:endParaRPr sz="1350" b="0" i="0" u="none" strike="noStrike" cap="none" dirty="0">
              <a:solidFill>
                <a:schemeClr val="dk1"/>
              </a:solidFill>
              <a:latin typeface="Calibri"/>
              <a:ea typeface="Calibri"/>
              <a:cs typeface="Calibri"/>
              <a:sym typeface="Calibri"/>
            </a:endParaRPr>
          </a:p>
        </p:txBody>
      </p:sp>
      <p:sp>
        <p:nvSpPr>
          <p:cNvPr id="579" name="Google Shape;579;p26"/>
          <p:cNvSpPr txBox="1"/>
          <p:nvPr/>
        </p:nvSpPr>
        <p:spPr>
          <a:xfrm>
            <a:off x="603504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パターン3</a:t>
            </a:r>
            <a:endParaRPr sz="1350" b="0" i="0" u="none" strike="noStrike" cap="none" dirty="0">
              <a:solidFill>
                <a:schemeClr val="dk1"/>
              </a:solidFill>
              <a:latin typeface="Calibri"/>
              <a:ea typeface="Calibri"/>
              <a:cs typeface="Calibri"/>
              <a:sym typeface="Calibri"/>
            </a:endParaRPr>
          </a:p>
        </p:txBody>
      </p:sp>
      <p:sp>
        <p:nvSpPr>
          <p:cNvPr id="580" name="Google Shape;580;p26"/>
          <p:cNvSpPr txBox="1"/>
          <p:nvPr/>
        </p:nvSpPr>
        <p:spPr>
          <a:xfrm>
            <a:off x="603504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Airflow/Dagster 一本化</a:t>
            </a:r>
            <a:endParaRPr sz="1350" b="0" i="0" u="none" strike="noStrike" cap="none" dirty="0">
              <a:solidFill>
                <a:schemeClr val="dk1"/>
              </a:solidFill>
              <a:latin typeface="Calibri"/>
              <a:ea typeface="Calibri"/>
              <a:cs typeface="Calibri"/>
              <a:sym typeface="Calibri"/>
            </a:endParaRPr>
          </a:p>
        </p:txBody>
      </p:sp>
      <p:sp>
        <p:nvSpPr>
          <p:cNvPr id="581" name="Google Shape;581;p26"/>
          <p:cNvSpPr/>
          <p:nvPr/>
        </p:nvSpPr>
        <p:spPr>
          <a:xfrm>
            <a:off x="7708392" y="930974"/>
            <a:ext cx="829818" cy="185166"/>
          </a:xfrm>
          <a:prstGeom prst="roundRect">
            <a:avLst>
              <a:gd name="adj" fmla="val 16667"/>
            </a:avLst>
          </a:prstGeom>
          <a:solidFill>
            <a:srgbClr val="666666"/>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統一管理を重視</a:t>
            </a:r>
            <a:endParaRPr sz="675" b="0" i="0" u="none" strike="noStrike" cap="none" dirty="0">
              <a:solidFill>
                <a:schemeClr val="lt1"/>
              </a:solidFill>
              <a:latin typeface="Calibri"/>
              <a:ea typeface="Calibri"/>
              <a:cs typeface="Calibri"/>
              <a:sym typeface="Calibri"/>
            </a:endParaRPr>
          </a:p>
        </p:txBody>
      </p:sp>
      <p:sp>
        <p:nvSpPr>
          <p:cNvPr id="582" name="Google Shape;582;p26"/>
          <p:cNvSpPr/>
          <p:nvPr/>
        </p:nvSpPr>
        <p:spPr>
          <a:xfrm>
            <a:off x="603504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3" name="Google Shape;583;p26"/>
          <p:cNvSpPr/>
          <p:nvPr/>
        </p:nvSpPr>
        <p:spPr>
          <a:xfrm>
            <a:off x="6103620" y="1385316"/>
            <a:ext cx="2400300" cy="582930"/>
          </a:xfrm>
          <a:prstGeom prst="roundRect">
            <a:avLst>
              <a:gd name="adj" fmla="val 16667"/>
            </a:avLst>
          </a:prstGeom>
          <a:solidFill>
            <a:srgbClr val="FFFFFF"/>
          </a:solidFill>
          <a:ln w="19050" cap="flat" cmpd="sng">
            <a:solidFill>
              <a:srgbClr val="66666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外部オーケストレーター</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全ジョブ統合管理</a:t>
            </a:r>
            <a:endParaRPr sz="1350" b="0" i="0" u="none" strike="noStrike" cap="none" dirty="0">
              <a:solidFill>
                <a:schemeClr val="dk1"/>
              </a:solidFill>
              <a:latin typeface="Calibri"/>
              <a:ea typeface="Calibri"/>
              <a:cs typeface="Calibri"/>
              <a:sym typeface="Calibri"/>
            </a:endParaRPr>
          </a:p>
        </p:txBody>
      </p:sp>
      <p:sp>
        <p:nvSpPr>
          <p:cNvPr id="584" name="Google Shape;584;p26"/>
          <p:cNvSpPr/>
          <p:nvPr/>
        </p:nvSpPr>
        <p:spPr>
          <a:xfrm>
            <a:off x="7200900" y="1968246"/>
            <a:ext cx="205740" cy="123444"/>
          </a:xfrm>
          <a:prstGeom prst="down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5" name="Google Shape;585;p26"/>
          <p:cNvSpPr/>
          <p:nvPr/>
        </p:nvSpPr>
        <p:spPr>
          <a:xfrm>
            <a:off x="6103620" y="2091690"/>
            <a:ext cx="2400300" cy="582930"/>
          </a:xfrm>
          <a:prstGeom prst="roundRect">
            <a:avLst>
              <a:gd name="adj" fmla="val 16667"/>
            </a:avLst>
          </a:prstGeom>
          <a:solidFill>
            <a:srgbClr val="FFFFFF"/>
          </a:solidFill>
          <a:ln w="19050" cap="flat" cmpd="sng">
            <a:solidFill>
              <a:srgbClr val="2D5F8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D5F8A"/>
                </a:solidFill>
                <a:latin typeface="游ゴシック" panose="020B0400000000000000" pitchFamily="50" charset="-128"/>
                <a:ea typeface="游ゴシック" panose="020B0400000000000000" pitchFamily="50" charset="-128"/>
                <a:sym typeface="Arial"/>
              </a:rPr>
              <a:t>Databricks API呼出</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Spark Job投入のみ</a:t>
            </a:r>
            <a:endParaRPr sz="1350" b="0" i="0" u="none" strike="noStrike" cap="none" dirty="0">
              <a:solidFill>
                <a:schemeClr val="dk1"/>
              </a:solidFill>
              <a:latin typeface="Calibri"/>
              <a:ea typeface="Calibri"/>
              <a:cs typeface="Calibri"/>
              <a:sym typeface="Calibri"/>
            </a:endParaRPr>
          </a:p>
        </p:txBody>
      </p:sp>
      <p:graphicFrame>
        <p:nvGraphicFramePr>
          <p:cNvPr id="586" name="Google Shape;586;p26"/>
          <p:cNvGraphicFramePr/>
          <p:nvPr/>
        </p:nvGraphicFramePr>
        <p:xfrm>
          <a:off x="480061" y="2983229"/>
          <a:ext cx="8161050" cy="1440300"/>
        </p:xfrm>
        <a:graphic>
          <a:graphicData uri="http://schemas.openxmlformats.org/drawingml/2006/table">
            <a:tbl>
              <a:tblPr>
                <a:noFill/>
                <a:tableStyleId>{831F8A93-CA79-4AF6-B420-68E9A51CCC31}</a:tableStyleId>
              </a:tblPr>
              <a:tblGrid>
                <a:gridCol w="137160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2263150">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評価軸</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パターン1：Lakeflow単体</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パターン2：Lakeflow + Airflow</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パターン3：外部一本化</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運用負荷</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最小（フルマネージド）</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2ツール運用が必要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外部ツール運用が増加</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Unity Catalog統合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ネイティブ統合</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Databricks内は統合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API経由のみ</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外部システム連携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複雑な場合に不便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Airflowで柔軟に対応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全システム一元管理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セットアップ</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追加構築不要</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Airflow環境の構築が必要</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専用環境の構築が必要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Databricks内で完結</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Airflow運用コスト追加</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外部ツールコスト追加</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bl>
          </a:graphicData>
        </a:graphic>
      </p:graphicFrame>
      <p:sp>
        <p:nvSpPr>
          <p:cNvPr id="587" name="Google Shape;587;p26"/>
          <p:cNvSpPr/>
          <p:nvPr/>
        </p:nvSpPr>
        <p:spPr>
          <a:xfrm>
            <a:off x="411480" y="4491990"/>
            <a:ext cx="34290" cy="44577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8" name="Google Shape;588;p26"/>
          <p:cNvSpPr/>
          <p:nvPr/>
        </p:nvSpPr>
        <p:spPr>
          <a:xfrm>
            <a:off x="445770" y="4491990"/>
            <a:ext cx="8263890" cy="44577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結論：Databricks中心であればLakeflow単体を推奨</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フルマネージドで運用負荷が低く、Unity Catalogとの統合も深い。外部システム連携が複雑な場合のみAirflowを追加。</a:t>
            </a:r>
            <a:endParaRPr sz="1350" b="0" i="0" u="none" strike="noStrike" cap="none" dirty="0">
              <a:solidFill>
                <a:schemeClr val="dk1"/>
              </a:solidFill>
              <a:latin typeface="Calibri"/>
              <a:ea typeface="Calibri"/>
              <a:cs typeface="Calibri"/>
              <a:sym typeface="Calibri"/>
            </a:endParaRPr>
          </a:p>
        </p:txBody>
      </p:sp>
      <p:sp>
        <p:nvSpPr>
          <p:cNvPr id="590" name="Google Shape;590;p26"/>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en-US" alt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5</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91" name="Google Shape;591;p26"/>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92" name="Google Shape;592;p26"/>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93" name="Google Shape;593;p26"/>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別紙A-7</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7"/>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99" name="Google Shape;599;p27"/>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600" name="Google Shape;600;p27"/>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データ変換：Foundry PySpark パイプラインの移植戦略</a:t>
            </a:r>
            <a:endParaRPr sz="1350" b="0" i="0" u="none" strike="noStrike" cap="none" dirty="0">
              <a:solidFill>
                <a:schemeClr val="dk1"/>
              </a:solidFill>
              <a:latin typeface="Calibri"/>
              <a:ea typeface="Calibri"/>
              <a:cs typeface="Calibri"/>
              <a:sym typeface="Calibri"/>
            </a:endParaRPr>
          </a:p>
        </p:txBody>
      </p:sp>
      <p:sp>
        <p:nvSpPr>
          <p:cNvPr id="601" name="Google Shape;601;p27"/>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既存のPySparkコードはDatabricksへほぼそのまま移植可能。追加ツールの導入は不要</a:t>
            </a:r>
            <a:endParaRPr sz="1350" b="0" i="0" u="none" strike="noStrike" cap="none" dirty="0">
              <a:solidFill>
                <a:schemeClr val="dk1"/>
              </a:solidFill>
              <a:latin typeface="Calibri"/>
              <a:ea typeface="Calibri"/>
              <a:cs typeface="Calibri"/>
              <a:sym typeface="Calibri"/>
            </a:endParaRPr>
          </a:p>
        </p:txBody>
      </p:sp>
      <p:sp>
        <p:nvSpPr>
          <p:cNvPr id="602" name="Google Shape;602;p27"/>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03" name="Google Shape;603;p27"/>
          <p:cNvSpPr txBox="1"/>
          <p:nvPr/>
        </p:nvSpPr>
        <p:spPr>
          <a:xfrm>
            <a:off x="531495" y="1219010"/>
            <a:ext cx="4560570" cy="20771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移植の全体像</a:t>
            </a:r>
            <a:endParaRPr sz="1350" b="0" i="0" u="none" strike="noStrike" cap="none" dirty="0">
              <a:solidFill>
                <a:schemeClr val="dk1"/>
              </a:solidFill>
              <a:latin typeface="Calibri"/>
              <a:ea typeface="Calibri"/>
              <a:cs typeface="Calibri"/>
              <a:sym typeface="Calibri"/>
            </a:endParaRPr>
          </a:p>
        </p:txBody>
      </p:sp>
      <p:sp>
        <p:nvSpPr>
          <p:cNvPr id="604" name="Google Shape;604;p27"/>
          <p:cNvSpPr/>
          <p:nvPr/>
        </p:nvSpPr>
        <p:spPr>
          <a:xfrm>
            <a:off x="531495" y="1604352"/>
            <a:ext cx="1920240" cy="1028700"/>
          </a:xfrm>
          <a:prstGeom prst="roundRect">
            <a:avLst>
              <a:gd name="adj" fmla="val 16667"/>
            </a:avLst>
          </a:prstGeom>
          <a:solidFill>
            <a:srgbClr val="E8E8E8"/>
          </a:solidFill>
          <a:ln w="1905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現行：Foundry</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@transform_df</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@configure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Foundry固有デコレーター</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 DataFrame API</a:t>
            </a:r>
            <a:endParaRPr sz="1350" b="0" i="0" u="none" strike="noStrike" cap="none" dirty="0">
              <a:solidFill>
                <a:schemeClr val="dk1"/>
              </a:solidFill>
              <a:latin typeface="Calibri"/>
              <a:ea typeface="Calibri"/>
              <a:cs typeface="Calibri"/>
              <a:sym typeface="Calibri"/>
            </a:endParaRPr>
          </a:p>
        </p:txBody>
      </p:sp>
      <p:sp>
        <p:nvSpPr>
          <p:cNvPr id="605" name="Google Shape;605;p27"/>
          <p:cNvSpPr/>
          <p:nvPr/>
        </p:nvSpPr>
        <p:spPr>
          <a:xfrm>
            <a:off x="2554605" y="1947252"/>
            <a:ext cx="480060" cy="24003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06" name="Google Shape;606;p27"/>
          <p:cNvSpPr txBox="1"/>
          <p:nvPr/>
        </p:nvSpPr>
        <p:spPr>
          <a:xfrm>
            <a:off x="2417445" y="2221573"/>
            <a:ext cx="822960" cy="23080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525"/>
              <a:buFont typeface="Arial"/>
              <a:buNone/>
            </a:pPr>
            <a: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t>デコレーター</a:t>
            </a:r>
            <a:b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t>除去のみ</a:t>
            </a:r>
            <a:endParaRPr sz="1350" b="0" i="0" u="none" strike="noStrike" cap="none" dirty="0">
              <a:solidFill>
                <a:schemeClr val="dk1"/>
              </a:solidFill>
              <a:latin typeface="Calibri"/>
              <a:ea typeface="Calibri"/>
              <a:cs typeface="Calibri"/>
              <a:sym typeface="Calibri"/>
            </a:endParaRPr>
          </a:p>
        </p:txBody>
      </p:sp>
      <p:sp>
        <p:nvSpPr>
          <p:cNvPr id="607" name="Google Shape;607;p27"/>
          <p:cNvSpPr/>
          <p:nvPr/>
        </p:nvSpPr>
        <p:spPr>
          <a:xfrm>
            <a:off x="3171825" y="1604352"/>
            <a:ext cx="1920240" cy="1028700"/>
          </a:xfrm>
          <a:prstGeom prst="roundRect">
            <a:avLst>
              <a:gd name="adj" fmla="val 16667"/>
            </a:avLst>
          </a:prstGeom>
          <a:solidFill>
            <a:srgbClr val="E8EFF5"/>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1B3A5C"/>
                </a:solidFill>
                <a:latin typeface="游ゴシック" panose="020B0400000000000000" pitchFamily="50" charset="-128"/>
                <a:ea typeface="游ゴシック" panose="020B0400000000000000" pitchFamily="50" charset="-128"/>
                <a:sym typeface="Arial"/>
              </a:rPr>
              <a:t>移行先：Databricks</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 DataFrame API</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（そのまま動作）</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Lakeflow Pipelines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Notebooks</a:t>
            </a:r>
            <a:endParaRPr sz="1350" b="0" i="0" u="none" strike="noStrike" cap="none" dirty="0">
              <a:solidFill>
                <a:schemeClr val="dk1"/>
              </a:solidFill>
              <a:latin typeface="Calibri"/>
              <a:ea typeface="Calibri"/>
              <a:cs typeface="Calibri"/>
              <a:sym typeface="Calibri"/>
            </a:endParaRPr>
          </a:p>
        </p:txBody>
      </p:sp>
      <p:sp>
        <p:nvSpPr>
          <p:cNvPr id="608" name="Google Shape;608;p27"/>
          <p:cNvSpPr txBox="1"/>
          <p:nvPr/>
        </p:nvSpPr>
        <p:spPr>
          <a:xfrm>
            <a:off x="5486400" y="891540"/>
            <a:ext cx="3429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1A1A1A"/>
                </a:solidFill>
                <a:latin typeface="游ゴシック" panose="020B0400000000000000" pitchFamily="50" charset="-128"/>
                <a:ea typeface="游ゴシック" panose="020B0400000000000000" pitchFamily="50" charset="-128"/>
                <a:sym typeface="Arial"/>
              </a:rPr>
              <a:t>Databricksが標準提供する機能（追加ツール不要）</a:t>
            </a:r>
            <a:endParaRPr sz="1350" b="0" i="0" u="none" strike="noStrike" cap="none" dirty="0">
              <a:solidFill>
                <a:schemeClr val="dk1"/>
              </a:solidFill>
              <a:latin typeface="Calibri"/>
              <a:ea typeface="Calibri"/>
              <a:cs typeface="Calibri"/>
              <a:sym typeface="Calibri"/>
            </a:endParaRPr>
          </a:p>
        </p:txBody>
      </p:sp>
      <p:sp>
        <p:nvSpPr>
          <p:cNvPr id="609" name="Google Shape;609;p27"/>
          <p:cNvSpPr/>
          <p:nvPr/>
        </p:nvSpPr>
        <p:spPr>
          <a:xfrm>
            <a:off x="5486400" y="1114425"/>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IDE / 開発環境</a:t>
            </a:r>
            <a:endParaRPr sz="1350" b="0" i="0" u="none" strike="noStrike" cap="none" dirty="0">
              <a:solidFill>
                <a:schemeClr val="dk1"/>
              </a:solidFill>
              <a:latin typeface="Calibri"/>
              <a:ea typeface="Calibri"/>
              <a:cs typeface="Calibri"/>
              <a:sym typeface="Calibri"/>
            </a:endParaRPr>
          </a:p>
        </p:txBody>
      </p:sp>
      <p:sp>
        <p:nvSpPr>
          <p:cNvPr id="610" name="Google Shape;610;p27"/>
          <p:cNvSpPr txBox="1"/>
          <p:nvPr/>
        </p:nvSpPr>
        <p:spPr>
          <a:xfrm>
            <a:off x="6652260" y="1128141"/>
            <a:ext cx="2185988"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Notebooks + SQL Editor</a:t>
            </a:r>
            <a:endParaRPr sz="1350" b="0" i="0" u="none" strike="noStrike" cap="none" dirty="0">
              <a:solidFill>
                <a:schemeClr val="dk1"/>
              </a:solidFill>
              <a:latin typeface="Calibri"/>
              <a:ea typeface="Calibri"/>
              <a:cs typeface="Calibri"/>
              <a:sym typeface="Calibri"/>
            </a:endParaRPr>
          </a:p>
        </p:txBody>
      </p:sp>
      <p:sp>
        <p:nvSpPr>
          <p:cNvPr id="611" name="Google Shape;611;p27"/>
          <p:cNvSpPr txBox="1"/>
          <p:nvPr/>
        </p:nvSpPr>
        <p:spPr>
          <a:xfrm>
            <a:off x="6652260" y="1251585"/>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 Code Repositoriesの代替</a:t>
            </a:r>
            <a:endParaRPr sz="1350" b="0" i="0" u="none" strike="noStrike" cap="none" dirty="0">
              <a:solidFill>
                <a:schemeClr val="dk1"/>
              </a:solidFill>
              <a:latin typeface="Calibri"/>
              <a:ea typeface="Calibri"/>
              <a:cs typeface="Calibri"/>
              <a:sym typeface="Calibri"/>
            </a:endParaRPr>
          </a:p>
        </p:txBody>
      </p:sp>
      <p:sp>
        <p:nvSpPr>
          <p:cNvPr id="612" name="Google Shape;612;p27"/>
          <p:cNvSpPr/>
          <p:nvPr/>
        </p:nvSpPr>
        <p:spPr>
          <a:xfrm>
            <a:off x="5486400" y="1462469"/>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ジョブ管理</a:t>
            </a:r>
            <a:endParaRPr sz="1350" b="0" i="0" u="none" strike="noStrike" cap="none" dirty="0">
              <a:solidFill>
                <a:schemeClr val="dk1"/>
              </a:solidFill>
              <a:latin typeface="Calibri"/>
              <a:ea typeface="Calibri"/>
              <a:cs typeface="Calibri"/>
              <a:sym typeface="Calibri"/>
            </a:endParaRPr>
          </a:p>
        </p:txBody>
      </p:sp>
      <p:sp>
        <p:nvSpPr>
          <p:cNvPr id="613" name="Google Shape;613;p27"/>
          <p:cNvSpPr txBox="1"/>
          <p:nvPr/>
        </p:nvSpPr>
        <p:spPr>
          <a:xfrm>
            <a:off x="6652260" y="1476185"/>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Jobs（サーバーレス）</a:t>
            </a:r>
            <a:endParaRPr sz="1350" b="0" i="0" u="none" strike="noStrike" cap="none" dirty="0">
              <a:solidFill>
                <a:schemeClr val="dk1"/>
              </a:solidFill>
              <a:latin typeface="Calibri"/>
              <a:ea typeface="Calibri"/>
              <a:cs typeface="Calibri"/>
              <a:sym typeface="Calibri"/>
            </a:endParaRPr>
          </a:p>
        </p:txBody>
      </p:sp>
      <p:sp>
        <p:nvSpPr>
          <p:cNvPr id="614" name="Google Shape;614;p27"/>
          <p:cNvSpPr txBox="1"/>
          <p:nvPr/>
        </p:nvSpPr>
        <p:spPr>
          <a:xfrm>
            <a:off x="6652260" y="1599629"/>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Foundryビルドシステムの代替</a:t>
            </a:r>
            <a:endParaRPr sz="1350" b="0" i="0" u="none" strike="noStrike" cap="none" dirty="0">
              <a:solidFill>
                <a:schemeClr val="dk1"/>
              </a:solidFill>
              <a:latin typeface="Calibri"/>
              <a:ea typeface="Calibri"/>
              <a:cs typeface="Calibri"/>
              <a:sym typeface="Calibri"/>
            </a:endParaRPr>
          </a:p>
        </p:txBody>
      </p:sp>
      <p:sp>
        <p:nvSpPr>
          <p:cNvPr id="615" name="Google Shape;615;p27"/>
          <p:cNvSpPr/>
          <p:nvPr/>
        </p:nvSpPr>
        <p:spPr>
          <a:xfrm>
            <a:off x="5486400" y="1810512"/>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宣言的ETL</a:t>
            </a:r>
            <a:endParaRPr sz="1350" b="0" i="0" u="none" strike="noStrike" cap="none" dirty="0">
              <a:solidFill>
                <a:schemeClr val="dk1"/>
              </a:solidFill>
              <a:latin typeface="Calibri"/>
              <a:ea typeface="Calibri"/>
              <a:cs typeface="Calibri"/>
              <a:sym typeface="Calibri"/>
            </a:endParaRPr>
          </a:p>
        </p:txBody>
      </p:sp>
      <p:sp>
        <p:nvSpPr>
          <p:cNvPr id="616" name="Google Shape;616;p27"/>
          <p:cNvSpPr txBox="1"/>
          <p:nvPr/>
        </p:nvSpPr>
        <p:spPr>
          <a:xfrm>
            <a:off x="6652260" y="1824228"/>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Declarative Pipelines</a:t>
            </a:r>
            <a:endParaRPr sz="1350" b="0" i="0" u="none" strike="noStrike" cap="none" dirty="0">
              <a:solidFill>
                <a:schemeClr val="dk1"/>
              </a:solidFill>
              <a:latin typeface="Calibri"/>
              <a:ea typeface="Calibri"/>
              <a:cs typeface="Calibri"/>
              <a:sym typeface="Calibri"/>
            </a:endParaRPr>
          </a:p>
        </p:txBody>
      </p:sp>
      <p:sp>
        <p:nvSpPr>
          <p:cNvPr id="617" name="Google Shape;617;p27"/>
          <p:cNvSpPr txBox="1"/>
          <p:nvPr/>
        </p:nvSpPr>
        <p:spPr>
          <a:xfrm>
            <a:off x="6652260" y="1947672"/>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パイプライン定義・自動実行</a:t>
            </a:r>
            <a:endParaRPr sz="1350" b="0" i="0" u="none" strike="noStrike" cap="none" dirty="0">
              <a:solidFill>
                <a:schemeClr val="dk1"/>
              </a:solidFill>
              <a:latin typeface="Calibri"/>
              <a:ea typeface="Calibri"/>
              <a:cs typeface="Calibri"/>
              <a:sym typeface="Calibri"/>
            </a:endParaRPr>
          </a:p>
        </p:txBody>
      </p:sp>
      <p:sp>
        <p:nvSpPr>
          <p:cNvPr id="618" name="Google Shape;618;p27"/>
          <p:cNvSpPr/>
          <p:nvPr/>
        </p:nvSpPr>
        <p:spPr>
          <a:xfrm>
            <a:off x="5486400" y="2158556"/>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CI/CD</a:t>
            </a:r>
            <a:endParaRPr sz="1350" b="0" i="0" u="none" strike="noStrike" cap="none" dirty="0">
              <a:solidFill>
                <a:schemeClr val="dk1"/>
              </a:solidFill>
              <a:latin typeface="Calibri"/>
              <a:ea typeface="Calibri"/>
              <a:cs typeface="Calibri"/>
              <a:sym typeface="Calibri"/>
            </a:endParaRPr>
          </a:p>
        </p:txBody>
      </p:sp>
      <p:sp>
        <p:nvSpPr>
          <p:cNvPr id="619" name="Google Shape;619;p27"/>
          <p:cNvSpPr txBox="1"/>
          <p:nvPr/>
        </p:nvSpPr>
        <p:spPr>
          <a:xfrm>
            <a:off x="6652260" y="2172271"/>
            <a:ext cx="20574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Asset Bundles + GitHub Actions</a:t>
            </a:r>
            <a:endParaRPr sz="1350" b="0" i="0" u="none" strike="noStrike" cap="none" dirty="0">
              <a:solidFill>
                <a:schemeClr val="dk1"/>
              </a:solidFill>
              <a:latin typeface="Calibri"/>
              <a:ea typeface="Calibri"/>
              <a:cs typeface="Calibri"/>
              <a:sym typeface="Calibri"/>
            </a:endParaRPr>
          </a:p>
        </p:txBody>
      </p:sp>
      <p:sp>
        <p:nvSpPr>
          <p:cNvPr id="620" name="Google Shape;620;p27"/>
          <p:cNvSpPr txBox="1"/>
          <p:nvPr/>
        </p:nvSpPr>
        <p:spPr>
          <a:xfrm>
            <a:off x="6652260" y="2295716"/>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Code Repositoriesの PR→ビルドの代替</a:t>
            </a:r>
            <a:endParaRPr sz="1350" b="0" i="0" u="none" strike="noStrike" cap="none" dirty="0">
              <a:solidFill>
                <a:schemeClr val="dk1"/>
              </a:solidFill>
              <a:latin typeface="Calibri"/>
              <a:ea typeface="Calibri"/>
              <a:cs typeface="Calibri"/>
              <a:sym typeface="Calibri"/>
            </a:endParaRPr>
          </a:p>
        </p:txBody>
      </p:sp>
      <p:sp>
        <p:nvSpPr>
          <p:cNvPr id="621" name="Google Shape;621;p27"/>
          <p:cNvSpPr/>
          <p:nvPr/>
        </p:nvSpPr>
        <p:spPr>
          <a:xfrm>
            <a:off x="5486400" y="2506599"/>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リネージ</a:t>
            </a:r>
            <a:endParaRPr sz="1350" b="0" i="0" u="none" strike="noStrike" cap="none" dirty="0">
              <a:solidFill>
                <a:schemeClr val="dk1"/>
              </a:solidFill>
              <a:latin typeface="Calibri"/>
              <a:ea typeface="Calibri"/>
              <a:cs typeface="Calibri"/>
              <a:sym typeface="Calibri"/>
            </a:endParaRPr>
          </a:p>
        </p:txBody>
      </p:sp>
      <p:sp>
        <p:nvSpPr>
          <p:cNvPr id="622" name="Google Shape;622;p27"/>
          <p:cNvSpPr txBox="1"/>
          <p:nvPr/>
        </p:nvSpPr>
        <p:spPr>
          <a:xfrm>
            <a:off x="6652260" y="2520315"/>
            <a:ext cx="20574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Unity Catalog（PySpark列レベル対応）</a:t>
            </a:r>
            <a:endParaRPr sz="1350" b="0" i="0" u="none" strike="noStrike" cap="none" dirty="0">
              <a:solidFill>
                <a:schemeClr val="dk1"/>
              </a:solidFill>
              <a:latin typeface="Calibri"/>
              <a:ea typeface="Calibri"/>
              <a:cs typeface="Calibri"/>
              <a:sym typeface="Calibri"/>
            </a:endParaRPr>
          </a:p>
        </p:txBody>
      </p:sp>
      <p:sp>
        <p:nvSpPr>
          <p:cNvPr id="623" name="Google Shape;623;p27"/>
          <p:cNvSpPr txBox="1"/>
          <p:nvPr/>
        </p:nvSpPr>
        <p:spPr>
          <a:xfrm>
            <a:off x="6652260" y="2643759"/>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Foundry自動リネージの代替</a:t>
            </a:r>
            <a:endParaRPr sz="1350" b="0" i="0" u="none" strike="noStrike" cap="none" dirty="0">
              <a:solidFill>
                <a:schemeClr val="dk1"/>
              </a:solidFill>
              <a:latin typeface="Calibri"/>
              <a:ea typeface="Calibri"/>
              <a:cs typeface="Calibri"/>
              <a:sym typeface="Calibri"/>
            </a:endParaRPr>
          </a:p>
        </p:txBody>
      </p:sp>
      <p:sp>
        <p:nvSpPr>
          <p:cNvPr id="624" name="Google Shape;624;p27"/>
          <p:cNvSpPr/>
          <p:nvPr/>
        </p:nvSpPr>
        <p:spPr>
          <a:xfrm>
            <a:off x="5486400" y="2854643"/>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テスト</a:t>
            </a:r>
            <a:endParaRPr sz="1350" b="0" i="0" u="none" strike="noStrike" cap="none" dirty="0">
              <a:solidFill>
                <a:schemeClr val="dk1"/>
              </a:solidFill>
              <a:latin typeface="Calibri"/>
              <a:ea typeface="Calibri"/>
              <a:cs typeface="Calibri"/>
              <a:sym typeface="Calibri"/>
            </a:endParaRPr>
          </a:p>
        </p:txBody>
      </p:sp>
      <p:sp>
        <p:nvSpPr>
          <p:cNvPr id="625" name="Google Shape;625;p27"/>
          <p:cNvSpPr txBox="1"/>
          <p:nvPr/>
        </p:nvSpPr>
        <p:spPr>
          <a:xfrm>
            <a:off x="6652260" y="2868359"/>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DLT Expectations</a:t>
            </a:r>
            <a:endParaRPr sz="1350" b="0" i="0" u="none" strike="noStrike" cap="none" dirty="0">
              <a:solidFill>
                <a:schemeClr val="dk1"/>
              </a:solidFill>
              <a:latin typeface="Calibri"/>
              <a:ea typeface="Calibri"/>
              <a:cs typeface="Calibri"/>
              <a:sym typeface="Calibri"/>
            </a:endParaRPr>
          </a:p>
        </p:txBody>
      </p:sp>
      <p:sp>
        <p:nvSpPr>
          <p:cNvPr id="626" name="Google Shape;626;p27"/>
          <p:cNvSpPr txBox="1"/>
          <p:nvPr/>
        </p:nvSpPr>
        <p:spPr>
          <a:xfrm>
            <a:off x="6652260" y="2991803"/>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データ品質チェックの自動化</a:t>
            </a:r>
            <a:endParaRPr sz="1350" b="0" i="0" u="none" strike="noStrike" cap="none" dirty="0">
              <a:solidFill>
                <a:schemeClr val="dk1"/>
              </a:solidFill>
              <a:latin typeface="Calibri"/>
              <a:ea typeface="Calibri"/>
              <a:cs typeface="Calibri"/>
              <a:sym typeface="Calibri"/>
            </a:endParaRPr>
          </a:p>
        </p:txBody>
      </p:sp>
      <p:sp>
        <p:nvSpPr>
          <p:cNvPr id="627" name="Google Shape;627;p27"/>
          <p:cNvSpPr txBox="1"/>
          <p:nvPr/>
        </p:nvSpPr>
        <p:spPr>
          <a:xfrm>
            <a:off x="480060" y="3188970"/>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Foundry → Databricks：機能対応マッピング</a:t>
            </a:r>
            <a:endParaRPr sz="1350" b="0" i="0" u="none" strike="noStrike" cap="none" dirty="0">
              <a:solidFill>
                <a:schemeClr val="dk1"/>
              </a:solidFill>
              <a:latin typeface="Calibri"/>
              <a:ea typeface="Calibri"/>
              <a:cs typeface="Calibri"/>
              <a:sym typeface="Calibri"/>
            </a:endParaRPr>
          </a:p>
        </p:txBody>
      </p:sp>
      <p:graphicFrame>
        <p:nvGraphicFramePr>
          <p:cNvPr id="628" name="Google Shape;628;p27"/>
          <p:cNvGraphicFramePr/>
          <p:nvPr/>
        </p:nvGraphicFramePr>
        <p:xfrm>
          <a:off x="480060" y="3429000"/>
          <a:ext cx="8298200" cy="14974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1234450">
                  <a:extLst>
                    <a:ext uri="{9D8B030D-6E8A-4147-A177-3AD203B41FA5}">
                      <a16:colId xmlns:a16="http://schemas.microsoft.com/office/drawing/2014/main" val="20002"/>
                    </a:ext>
                  </a:extLst>
                </a:gridCol>
                <a:gridCol w="3291850">
                  <a:extLst>
                    <a:ext uri="{9D8B030D-6E8A-4147-A177-3AD203B41FA5}">
                      <a16:colId xmlns:a16="http://schemas.microsoft.com/office/drawing/2014/main" val="20003"/>
                    </a:ext>
                  </a:extLst>
                </a:gridCol>
              </a:tblGrid>
              <a:tr h="240050">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Foundry機能</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Databricksでの対応</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移植工数</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備考</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PySpark パイプライン</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（@transform_df等）</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on Databricks</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デコレーター除去のみ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コアロジックはそのまま動作</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Code Repositories</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（Git + ビルド一体化）</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GitHub + Databricks Asset Bundles</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Lakeflow Jobs</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CI/CDパイプライン構築</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RFP提案にこの工数が含まれているか要確認</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ブランチベースの</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データ開発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スキーマ分離 + 開発/本番</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プロモーションフロー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中〜高</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運用フロー再設計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Foundry最大の差別化機能。完全代替は困難</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開発→本番の運用ルール再設計が必要</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自動データバージョニング</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Iceberg/Delta Time Travel</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VACUUMポリシー設計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保持期間の設計のみ</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「全ビルド無期限保持」は非現実的</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スナップショット保持ポリシーの設計が必要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自動データリネージ</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Unity Catalog Lineage</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（PySpark列レベル対応）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なし</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自動で動作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.toPandas()やRDD操作のみ非対応</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bl>
          </a:graphicData>
        </a:graphic>
      </p:graphicFrame>
      <p:sp>
        <p:nvSpPr>
          <p:cNvPr id="630" name="Google Shape;630;p27"/>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en-US" alt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6</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31" name="Google Shape;631;p27"/>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32" name="Google Shape;632;p27"/>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33" name="Google Shape;633;p27"/>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別紙A-8</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28"/>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39" name="Google Shape;639;p28"/>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6</a:t>
            </a:r>
            <a:endParaRPr sz="1350" b="0" i="0" u="none" strike="noStrike" cap="none" dirty="0">
              <a:solidFill>
                <a:schemeClr val="dk1"/>
              </a:solidFill>
              <a:latin typeface="Calibri"/>
              <a:ea typeface="Calibri"/>
              <a:cs typeface="Calibri"/>
              <a:sym typeface="Calibri"/>
            </a:endParaRPr>
          </a:p>
        </p:txBody>
      </p:sp>
      <p:sp>
        <p:nvSpPr>
          <p:cNvPr id="640" name="Google Shape;640;p28"/>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セマンティックレイヤー：Ontology代替の要否</a:t>
            </a:r>
            <a:endParaRPr sz="1350" b="0" i="0" u="none" strike="noStrike" cap="none" dirty="0">
              <a:solidFill>
                <a:schemeClr val="dk1"/>
              </a:solidFill>
              <a:latin typeface="Calibri"/>
              <a:ea typeface="Calibri"/>
              <a:cs typeface="Calibri"/>
              <a:sym typeface="Calibri"/>
            </a:endParaRPr>
          </a:p>
        </p:txBody>
      </p:sp>
      <p:sp>
        <p:nvSpPr>
          <p:cNvPr id="641" name="Google Shape;641;p28"/>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ビジネス用語の定義・計算ロジックを一箇所で管理する層。FoundryのOntologyに相当</a:t>
            </a:r>
            <a:endParaRPr sz="1350" b="0" i="0" u="none" strike="noStrike" cap="none" dirty="0">
              <a:solidFill>
                <a:schemeClr val="dk1"/>
              </a:solidFill>
              <a:latin typeface="Calibri"/>
              <a:ea typeface="Calibri"/>
              <a:cs typeface="Calibri"/>
              <a:sym typeface="Calibri"/>
            </a:endParaRPr>
          </a:p>
        </p:txBody>
      </p:sp>
      <p:sp>
        <p:nvSpPr>
          <p:cNvPr id="642" name="Google Shape;642;p28"/>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43" name="Google Shape;643;p28"/>
          <p:cNvSpPr txBox="1"/>
          <p:nvPr/>
        </p:nvSpPr>
        <p:spPr>
          <a:xfrm>
            <a:off x="480060" y="891540"/>
            <a:ext cx="363474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C0392B"/>
                </a:solidFill>
                <a:latin typeface="游ゴシック" panose="020B0400000000000000" pitchFamily="50" charset="-128"/>
                <a:ea typeface="游ゴシック" panose="020B0400000000000000" pitchFamily="50" charset="-128"/>
                <a:sym typeface="Arial"/>
              </a:rPr>
              <a:t>セマンティックレイヤーなし</a:t>
            </a:r>
            <a:endParaRPr sz="1350" b="0" i="0" u="none" strike="noStrike" cap="none" dirty="0">
              <a:solidFill>
                <a:schemeClr val="dk1"/>
              </a:solidFill>
              <a:latin typeface="Calibri"/>
              <a:ea typeface="Calibri"/>
              <a:cs typeface="Calibri"/>
              <a:sym typeface="Calibri"/>
            </a:endParaRPr>
          </a:p>
        </p:txBody>
      </p:sp>
      <p:sp>
        <p:nvSpPr>
          <p:cNvPr id="644" name="Google Shape;644;p28"/>
          <p:cNvSpPr/>
          <p:nvPr/>
        </p:nvSpPr>
        <p:spPr>
          <a:xfrm>
            <a:off x="548640" y="116586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p:txBody>
      </p:sp>
      <p:sp>
        <p:nvSpPr>
          <p:cNvPr id="645" name="Google Shape;645;p28"/>
          <p:cNvSpPr txBox="1"/>
          <p:nvPr/>
        </p:nvSpPr>
        <p:spPr>
          <a:xfrm>
            <a:off x="1474470" y="120015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入居者数 / 定員  (定義A)</a:t>
            </a:r>
            <a:endParaRPr sz="1350" b="0" i="0" u="none" strike="noStrike" cap="none" dirty="0">
              <a:solidFill>
                <a:schemeClr val="dk1"/>
              </a:solidFill>
              <a:latin typeface="Calibri"/>
              <a:ea typeface="Calibri"/>
              <a:cs typeface="Calibri"/>
              <a:sym typeface="Calibri"/>
            </a:endParaRPr>
          </a:p>
        </p:txBody>
      </p:sp>
      <p:sp>
        <p:nvSpPr>
          <p:cNvPr id="646" name="Google Shape;646;p28"/>
          <p:cNvSpPr/>
          <p:nvPr/>
        </p:nvSpPr>
        <p:spPr>
          <a:xfrm>
            <a:off x="548640" y="154305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AIチャット</a:t>
            </a:r>
            <a:endParaRPr sz="1350" b="0" i="0" u="none" strike="noStrike" cap="none" dirty="0">
              <a:solidFill>
                <a:schemeClr val="dk1"/>
              </a:solidFill>
              <a:latin typeface="Calibri"/>
              <a:ea typeface="Calibri"/>
              <a:cs typeface="Calibri"/>
              <a:sym typeface="Calibri"/>
            </a:endParaRPr>
          </a:p>
        </p:txBody>
      </p:sp>
      <p:sp>
        <p:nvSpPr>
          <p:cNvPr id="647" name="Google Shape;647;p28"/>
          <p:cNvSpPr txBox="1"/>
          <p:nvPr/>
        </p:nvSpPr>
        <p:spPr>
          <a:xfrm>
            <a:off x="1474470" y="157734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入居者数 / ベッド数  (定義B（微妙に違う）)</a:t>
            </a:r>
            <a:endParaRPr sz="1350" b="0" i="0" u="none" strike="noStrike" cap="none" dirty="0">
              <a:solidFill>
                <a:schemeClr val="dk1"/>
              </a:solidFill>
              <a:latin typeface="Calibri"/>
              <a:ea typeface="Calibri"/>
              <a:cs typeface="Calibri"/>
              <a:sym typeface="Calibri"/>
            </a:endParaRPr>
          </a:p>
        </p:txBody>
      </p:sp>
      <p:sp>
        <p:nvSpPr>
          <p:cNvPr id="648" name="Google Shape;648;p28"/>
          <p:cNvSpPr/>
          <p:nvPr/>
        </p:nvSpPr>
        <p:spPr>
          <a:xfrm>
            <a:off x="548640" y="192024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Excelレポート</a:t>
            </a:r>
            <a:endParaRPr sz="1350" b="0" i="0" u="none" strike="noStrike" cap="none" dirty="0">
              <a:solidFill>
                <a:schemeClr val="dk1"/>
              </a:solidFill>
              <a:latin typeface="Calibri"/>
              <a:ea typeface="Calibri"/>
              <a:cs typeface="Calibri"/>
              <a:sym typeface="Calibri"/>
            </a:endParaRPr>
          </a:p>
        </p:txBody>
      </p:sp>
      <p:sp>
        <p:nvSpPr>
          <p:cNvPr id="649" name="Google Shape;649;p28"/>
          <p:cNvSpPr txBox="1"/>
          <p:nvPr/>
        </p:nvSpPr>
        <p:spPr>
          <a:xfrm>
            <a:off x="1474470" y="195453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  (定義C（不明）)</a:t>
            </a:r>
            <a:endParaRPr sz="1350" b="0" i="0" u="none" strike="noStrike" cap="none" dirty="0">
              <a:solidFill>
                <a:schemeClr val="dk1"/>
              </a:solidFill>
              <a:latin typeface="Calibri"/>
              <a:ea typeface="Calibri"/>
              <a:cs typeface="Calibri"/>
              <a:sym typeface="Calibri"/>
            </a:endParaRPr>
          </a:p>
        </p:txBody>
      </p:sp>
      <p:sp>
        <p:nvSpPr>
          <p:cNvPr id="650" name="Google Shape;650;p28"/>
          <p:cNvSpPr/>
          <p:nvPr/>
        </p:nvSpPr>
        <p:spPr>
          <a:xfrm>
            <a:off x="548640" y="2263140"/>
            <a:ext cx="3429000" cy="274320"/>
          </a:xfrm>
          <a:prstGeom prst="rect">
            <a:avLst/>
          </a:prstGeom>
          <a:solidFill>
            <a:srgbClr val="FDEDED"/>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 数値が合わない。信頼を失う</a:t>
            </a:r>
            <a:endParaRPr sz="1350" b="0" i="0" u="none" strike="noStrike" cap="none" dirty="0">
              <a:solidFill>
                <a:schemeClr val="dk1"/>
              </a:solidFill>
              <a:latin typeface="Calibri"/>
              <a:ea typeface="Calibri"/>
              <a:cs typeface="Calibri"/>
              <a:sym typeface="Calibri"/>
            </a:endParaRPr>
          </a:p>
        </p:txBody>
      </p:sp>
      <p:sp>
        <p:nvSpPr>
          <p:cNvPr id="651" name="Google Shape;651;p28"/>
          <p:cNvSpPr/>
          <p:nvPr/>
        </p:nvSpPr>
        <p:spPr>
          <a:xfrm>
            <a:off x="4251960" y="891540"/>
            <a:ext cx="10287" cy="178308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2" name="Google Shape;652;p28"/>
          <p:cNvSpPr txBox="1"/>
          <p:nvPr/>
        </p:nvSpPr>
        <p:spPr>
          <a:xfrm>
            <a:off x="4457700" y="891540"/>
            <a:ext cx="41148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27724A"/>
                </a:solidFill>
                <a:latin typeface="游ゴシック" panose="020B0400000000000000" pitchFamily="50" charset="-128"/>
                <a:ea typeface="游ゴシック" panose="020B0400000000000000" pitchFamily="50" charset="-128"/>
                <a:sym typeface="Arial"/>
              </a:rPr>
              <a:t>セマンティックレイヤーあり</a:t>
            </a:r>
            <a:endParaRPr sz="1350" b="0" i="0" u="none" strike="noStrike" cap="none" dirty="0">
              <a:solidFill>
                <a:schemeClr val="dk1"/>
              </a:solidFill>
              <a:latin typeface="Calibri"/>
              <a:ea typeface="Calibri"/>
              <a:cs typeface="Calibri"/>
              <a:sym typeface="Calibri"/>
            </a:endParaRPr>
          </a:p>
        </p:txBody>
      </p:sp>
      <p:sp>
        <p:nvSpPr>
          <p:cNvPr id="653" name="Google Shape;653;p28"/>
          <p:cNvSpPr/>
          <p:nvPr/>
        </p:nvSpPr>
        <p:spPr>
          <a:xfrm>
            <a:off x="5349240" y="1165860"/>
            <a:ext cx="2400300" cy="445770"/>
          </a:xfrm>
          <a:prstGeom prst="roundRect">
            <a:avLst>
              <a:gd name="adj" fmla="val 16667"/>
            </a:avLst>
          </a:prstGeom>
          <a:solidFill>
            <a:srgbClr val="1B3A5C"/>
          </a:solidFill>
          <a:ln w="127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セマンティックレイヤー</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600"/>
              <a:buFont typeface="Arial"/>
              <a:buNone/>
            </a:pPr>
            <a:r>
              <a:rPr lang="ja" sz="600" b="0" i="0" u="none" strike="noStrike" cap="none" dirty="0">
                <a:solidFill>
                  <a:srgbClr val="C0D0E0"/>
                </a:solidFill>
                <a:latin typeface="游ゴシック" panose="020B0400000000000000" pitchFamily="50" charset="-128"/>
                <a:ea typeface="游ゴシック" panose="020B0400000000000000" pitchFamily="50" charset="-128"/>
                <a:sym typeface="Arial"/>
              </a:rPr>
              <a:t>入居率 = 入居者数 / 定員（唯一の定義）</a:t>
            </a:r>
            <a:endParaRPr sz="1350" b="0" i="0" u="none" strike="noStrike" cap="none" dirty="0">
              <a:solidFill>
                <a:schemeClr val="dk1"/>
              </a:solidFill>
              <a:latin typeface="Calibri"/>
              <a:ea typeface="Calibri"/>
              <a:cs typeface="Calibri"/>
              <a:sym typeface="Calibri"/>
            </a:endParaRPr>
          </a:p>
        </p:txBody>
      </p:sp>
      <p:sp>
        <p:nvSpPr>
          <p:cNvPr id="654" name="Google Shape;654;p28"/>
          <p:cNvSpPr/>
          <p:nvPr/>
        </p:nvSpPr>
        <p:spPr>
          <a:xfrm>
            <a:off x="565785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5" name="Google Shape;655;p28"/>
          <p:cNvSpPr/>
          <p:nvPr/>
        </p:nvSpPr>
        <p:spPr>
          <a:xfrm>
            <a:off x="534924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p:txBody>
      </p:sp>
      <p:sp>
        <p:nvSpPr>
          <p:cNvPr id="656" name="Google Shape;656;p28"/>
          <p:cNvSpPr/>
          <p:nvPr/>
        </p:nvSpPr>
        <p:spPr>
          <a:xfrm>
            <a:off x="651510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7" name="Google Shape;657;p28"/>
          <p:cNvSpPr/>
          <p:nvPr/>
        </p:nvSpPr>
        <p:spPr>
          <a:xfrm>
            <a:off x="620649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AIチャット</a:t>
            </a:r>
            <a:endParaRPr sz="1350" b="0" i="0" u="none" strike="noStrike" cap="none" dirty="0">
              <a:solidFill>
                <a:schemeClr val="dk1"/>
              </a:solidFill>
              <a:latin typeface="Calibri"/>
              <a:ea typeface="Calibri"/>
              <a:cs typeface="Calibri"/>
              <a:sym typeface="Calibri"/>
            </a:endParaRPr>
          </a:p>
        </p:txBody>
      </p:sp>
      <p:sp>
        <p:nvSpPr>
          <p:cNvPr id="658" name="Google Shape;658;p28"/>
          <p:cNvSpPr/>
          <p:nvPr/>
        </p:nvSpPr>
        <p:spPr>
          <a:xfrm>
            <a:off x="737235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9" name="Google Shape;659;p28"/>
          <p:cNvSpPr/>
          <p:nvPr/>
        </p:nvSpPr>
        <p:spPr>
          <a:xfrm>
            <a:off x="706374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Excel</a:t>
            </a:r>
            <a:endParaRPr sz="1350" b="0" i="0" u="none" strike="noStrike" cap="none" dirty="0">
              <a:solidFill>
                <a:schemeClr val="dk1"/>
              </a:solidFill>
              <a:latin typeface="Calibri"/>
              <a:ea typeface="Calibri"/>
              <a:cs typeface="Calibri"/>
              <a:sym typeface="Calibri"/>
            </a:endParaRPr>
          </a:p>
        </p:txBody>
      </p:sp>
      <p:sp>
        <p:nvSpPr>
          <p:cNvPr id="660" name="Google Shape;660;p28"/>
          <p:cNvSpPr/>
          <p:nvPr/>
        </p:nvSpPr>
        <p:spPr>
          <a:xfrm>
            <a:off x="4457700" y="2263140"/>
            <a:ext cx="4114800" cy="274320"/>
          </a:xfrm>
          <a:prstGeom prst="rect">
            <a:avLst/>
          </a:prstGeom>
          <a:solidFill>
            <a:srgbClr val="E8F5E9"/>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27724A"/>
                </a:solidFill>
                <a:latin typeface="游ゴシック" panose="020B0400000000000000" pitchFamily="50" charset="-128"/>
                <a:ea typeface="游ゴシック" panose="020B0400000000000000" pitchFamily="50" charset="-128"/>
                <a:sym typeface="Arial"/>
              </a:rPr>
              <a:t>→ すべて同じ数値。Single Source of Truth</a:t>
            </a:r>
            <a:endParaRPr sz="1350" b="0" i="0" u="none" strike="noStrike" cap="none" dirty="0">
              <a:solidFill>
                <a:schemeClr val="dk1"/>
              </a:solidFill>
              <a:latin typeface="Calibri"/>
              <a:ea typeface="Calibri"/>
              <a:cs typeface="Calibri"/>
              <a:sym typeface="Calibri"/>
            </a:endParaRPr>
          </a:p>
        </p:txBody>
      </p:sp>
      <p:sp>
        <p:nvSpPr>
          <p:cNvPr id="661" name="Google Shape;661;p28"/>
          <p:cNvSpPr txBox="1"/>
          <p:nvPr/>
        </p:nvSpPr>
        <p:spPr>
          <a:xfrm>
            <a:off x="480060" y="2743200"/>
            <a:ext cx="78867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必要性の判断基準</a:t>
            </a:r>
            <a:endParaRPr sz="1350" b="0" i="0" u="none" strike="noStrike" cap="none" dirty="0">
              <a:solidFill>
                <a:schemeClr val="dk1"/>
              </a:solidFill>
              <a:latin typeface="Calibri"/>
              <a:ea typeface="Calibri"/>
              <a:cs typeface="Calibri"/>
              <a:sym typeface="Calibri"/>
            </a:endParaRPr>
          </a:p>
        </p:txBody>
      </p:sp>
      <p:graphicFrame>
        <p:nvGraphicFramePr>
          <p:cNvPr id="662" name="Google Shape;662;p28"/>
          <p:cNvGraphicFramePr/>
          <p:nvPr/>
        </p:nvGraphicFramePr>
        <p:xfrm>
          <a:off x="480060" y="2957512"/>
          <a:ext cx="7886700" cy="1242160"/>
        </p:xfrm>
        <a:graphic>
          <a:graphicData uri="http://schemas.openxmlformats.org/drawingml/2006/table">
            <a:tbl>
              <a:tblPr>
                <a:noFill/>
                <a:tableStyleId>{831F8A93-CA79-4AF6-B420-68E9A51CCC31}</a:tableStyleId>
              </a:tblPr>
              <a:tblGrid>
                <a:gridCol w="24003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ユースケース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セマンティックレイヤー</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理由</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ダッシュボード4つのみ（現状維持）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不要（後から追加可能）</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Tableauの計算フィールドで十分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ダッシュボード増加（10+）</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推奨</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計算定義の食い違い防止</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AIチャット（自然言語分析）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実質必須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セマンティック層によりAIのSQL精度が約3倍向上</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（学術研究: 16%→54%）</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予測AI + 自動レポート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必須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Feature Storeとの連携も必要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663" name="Google Shape;663;p28"/>
          <p:cNvSpPr txBox="1"/>
          <p:nvPr/>
        </p:nvSpPr>
        <p:spPr>
          <a:xfrm>
            <a:off x="480060" y="4346258"/>
            <a:ext cx="205740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1A1A1A"/>
                </a:solidFill>
                <a:latin typeface="游ゴシック" panose="020B0400000000000000" pitchFamily="50" charset="-128"/>
                <a:ea typeface="游ゴシック" panose="020B0400000000000000" pitchFamily="50" charset="-128"/>
                <a:sym typeface="Arial"/>
              </a:rPr>
              <a:t>主な選択肢：</a:t>
            </a:r>
            <a:endParaRPr sz="1350" b="0" i="0" u="none" strike="noStrike" cap="none" dirty="0">
              <a:solidFill>
                <a:schemeClr val="dk1"/>
              </a:solidFill>
              <a:latin typeface="Calibri"/>
              <a:ea typeface="Calibri"/>
              <a:cs typeface="Calibri"/>
              <a:sym typeface="Calibri"/>
            </a:endParaRPr>
          </a:p>
        </p:txBody>
      </p:sp>
      <p:sp>
        <p:nvSpPr>
          <p:cNvPr id="664" name="Google Shape;664;p28"/>
          <p:cNvSpPr/>
          <p:nvPr/>
        </p:nvSpPr>
        <p:spPr>
          <a:xfrm>
            <a:off x="11401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 Metric Views</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UC統合・GA済み</a:t>
            </a:r>
            <a:endParaRPr sz="1350" b="0" i="0" u="none" strike="noStrike" cap="none" dirty="0">
              <a:solidFill>
                <a:schemeClr val="dk1"/>
              </a:solidFill>
              <a:latin typeface="Calibri"/>
              <a:ea typeface="Calibri"/>
              <a:cs typeface="Calibri"/>
              <a:sym typeface="Calibri"/>
            </a:endParaRPr>
          </a:p>
        </p:txBody>
      </p:sp>
      <p:sp>
        <p:nvSpPr>
          <p:cNvPr id="665" name="Google Shape;665;p28"/>
          <p:cNvSpPr/>
          <p:nvPr/>
        </p:nvSpPr>
        <p:spPr>
          <a:xfrm>
            <a:off x="31975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dbt MetricFlow</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OSS (Apache 2.0)</a:t>
            </a:r>
            <a:endParaRPr sz="1350" b="0" i="0" u="none" strike="noStrike" cap="none" dirty="0">
              <a:solidFill>
                <a:schemeClr val="dk1"/>
              </a:solidFill>
              <a:latin typeface="Calibri"/>
              <a:ea typeface="Calibri"/>
              <a:cs typeface="Calibri"/>
              <a:sym typeface="Calibri"/>
            </a:endParaRPr>
          </a:p>
        </p:txBody>
      </p:sp>
      <p:sp>
        <p:nvSpPr>
          <p:cNvPr id="666" name="Google Shape;666;p28"/>
          <p:cNvSpPr/>
          <p:nvPr/>
        </p:nvSpPr>
        <p:spPr>
          <a:xfrm>
            <a:off x="52549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Cube.dev</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OLAP高速化</a:t>
            </a:r>
            <a:endParaRPr sz="1350" b="0" i="0" u="none" strike="noStrike" cap="none" dirty="0">
              <a:solidFill>
                <a:schemeClr val="dk1"/>
              </a:solidFill>
              <a:latin typeface="Calibri"/>
              <a:ea typeface="Calibri"/>
              <a:cs typeface="Calibri"/>
              <a:sym typeface="Calibri"/>
            </a:endParaRPr>
          </a:p>
        </p:txBody>
      </p:sp>
      <p:sp>
        <p:nvSpPr>
          <p:cNvPr id="667" name="Google Shape;667;p28"/>
          <p:cNvSpPr/>
          <p:nvPr/>
        </p:nvSpPr>
        <p:spPr>
          <a:xfrm>
            <a:off x="411480" y="4594860"/>
            <a:ext cx="34290" cy="37719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68" name="Google Shape;668;p28"/>
          <p:cNvSpPr/>
          <p:nvPr/>
        </p:nvSpPr>
        <p:spPr>
          <a:xfrm>
            <a:off x="445770" y="4594860"/>
            <a:ext cx="8263890" cy="37719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結論：初期構築では不要。AIチャットをスコープに入れる場合は初期から設計が必要。</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Databricks利用時はMetric Views（Unity Catalog内蔵、2025年後半GA）が最もシンプルな選択肢。</a:t>
            </a:r>
            <a:endParaRPr sz="1350" b="0" i="0" u="none" strike="noStrike" cap="none" dirty="0">
              <a:solidFill>
                <a:schemeClr val="dk1"/>
              </a:solidFill>
              <a:latin typeface="Calibri"/>
              <a:ea typeface="Calibri"/>
              <a:cs typeface="Calibri"/>
              <a:sym typeface="Calibri"/>
            </a:endParaRPr>
          </a:p>
        </p:txBody>
      </p:sp>
      <p:sp>
        <p:nvSpPr>
          <p:cNvPr id="670" name="Google Shape;670;p28"/>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a:t>
            </a:r>
            <a:r>
              <a:rPr lang="en-US" alt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7</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71" name="Google Shape;671;p28"/>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72" name="Google Shape;672;p28"/>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73" name="Google Shape;673;p28"/>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別紙A-9</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29"/>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79" name="Google Shape;679;p29"/>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7</a:t>
            </a:r>
            <a:endParaRPr sz="1350" b="0" i="0" u="none" strike="noStrike" cap="none" dirty="0">
              <a:solidFill>
                <a:schemeClr val="dk1"/>
              </a:solidFill>
              <a:latin typeface="Calibri"/>
              <a:ea typeface="Calibri"/>
              <a:cs typeface="Calibri"/>
              <a:sym typeface="Calibri"/>
            </a:endParaRPr>
          </a:p>
        </p:txBody>
      </p:sp>
      <p:sp>
        <p:nvSpPr>
          <p:cNvPr id="680" name="Google Shape;680;p29"/>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データガバナンス：Foundry機能の代替マッピング</a:t>
            </a:r>
            <a:endParaRPr sz="1350" b="0" i="0" u="none" strike="noStrike" cap="none" dirty="0">
              <a:solidFill>
                <a:schemeClr val="dk1"/>
              </a:solidFill>
              <a:latin typeface="Calibri"/>
              <a:ea typeface="Calibri"/>
              <a:cs typeface="Calibri"/>
              <a:sym typeface="Calibri"/>
            </a:endParaRPr>
          </a:p>
        </p:txBody>
      </p:sp>
      <p:sp>
        <p:nvSpPr>
          <p:cNvPr id="681" name="Google Shape;681;p29"/>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Foundryで統合的に動作していたガバナンス機能を、Unity Catalogでどう代替するか</a:t>
            </a:r>
            <a:endParaRPr sz="1350" b="0" i="0" u="none" strike="noStrike" cap="none" dirty="0">
              <a:solidFill>
                <a:schemeClr val="dk1"/>
              </a:solidFill>
              <a:latin typeface="Calibri"/>
              <a:ea typeface="Calibri"/>
              <a:cs typeface="Calibri"/>
              <a:sym typeface="Calibri"/>
            </a:endParaRPr>
          </a:p>
        </p:txBody>
      </p:sp>
      <p:sp>
        <p:nvSpPr>
          <p:cNvPr id="682" name="Google Shape;682;p29"/>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graphicFrame>
        <p:nvGraphicFramePr>
          <p:cNvPr id="683" name="Google Shape;683;p29"/>
          <p:cNvGraphicFramePr/>
          <p:nvPr/>
        </p:nvGraphicFramePr>
        <p:xfrm>
          <a:off x="480061" y="925830"/>
          <a:ext cx="8161050" cy="2012825"/>
        </p:xfrm>
        <a:graphic>
          <a:graphicData uri="http://schemas.openxmlformats.org/drawingml/2006/table">
            <a:tbl>
              <a:tblPr>
                <a:noFill/>
                <a:tableStyleId>{831F8A93-CA79-4AF6-B420-68E9A51CCC31}</a:tableStyleId>
              </a:tblPr>
              <a:tblGrid>
                <a:gridCol w="1726425">
                  <a:extLst>
                    <a:ext uri="{9D8B030D-6E8A-4147-A177-3AD203B41FA5}">
                      <a16:colId xmlns:a16="http://schemas.microsoft.com/office/drawing/2014/main" val="20000"/>
                    </a:ext>
                  </a:extLst>
                </a:gridCol>
                <a:gridCol w="1918250">
                  <a:extLst>
                    <a:ext uri="{9D8B030D-6E8A-4147-A177-3AD203B41FA5}">
                      <a16:colId xmlns:a16="http://schemas.microsoft.com/office/drawing/2014/main" val="20001"/>
                    </a:ext>
                  </a:extLst>
                </a:gridCol>
                <a:gridCol w="1620075">
                  <a:extLst>
                    <a:ext uri="{9D8B030D-6E8A-4147-A177-3AD203B41FA5}">
                      <a16:colId xmlns:a16="http://schemas.microsoft.com/office/drawing/2014/main" val="20002"/>
                    </a:ext>
                  </a:extLst>
                </a:gridCol>
                <a:gridCol w="636125">
                  <a:extLst>
                    <a:ext uri="{9D8B030D-6E8A-4147-A177-3AD203B41FA5}">
                      <a16:colId xmlns:a16="http://schemas.microsoft.com/office/drawing/2014/main" val="20003"/>
                    </a:ext>
                  </a:extLst>
                </a:gridCol>
                <a:gridCol w="2260175">
                  <a:extLst>
                    <a:ext uri="{9D8B030D-6E8A-4147-A177-3AD203B41FA5}">
                      <a16:colId xmlns:a16="http://schemas.microsoft.com/office/drawing/2014/main" val="20004"/>
                    </a:ext>
                  </a:extLst>
                </a:gridCol>
              </a:tblGrid>
              <a:tr h="28180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Foundry機能</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役割</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Unity Catalogでの代替</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対応度</a:t>
                      </a:r>
                      <a:endParaRPr sz="1400" u="none" strike="noStrike" cap="none" dirty="0">
                        <a:solidFill>
                          <a:schemeClr val="lt1"/>
                        </a:solidFill>
                      </a:endParaRPr>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ギャップ / 注意点</a:t>
                      </a:r>
                      <a:endParaRPr sz="1400" u="none" strike="noStrike" cap="none" dirty="0">
                        <a:solidFill>
                          <a:schemeClr val="lt1"/>
                        </a:solidFill>
                      </a:endParaRPr>
                    </a:p>
                  </a:txBody>
                  <a:tcPr marL="68600" marR="68600" marT="34300" marB="34300" anchor="ctr">
                    <a:solidFill>
                      <a:srgbClr val="1B3A5C"/>
                    </a:solidFill>
                  </a:tcPr>
                </a:tc>
                <a:extLst>
                  <a:ext uri="{0D108BD9-81ED-4DB2-BD59-A6C34878D82A}">
                    <a16:rowId xmlns:a16="http://schemas.microsoft.com/office/drawing/2014/main" val="10000"/>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Markings（タグ自動伝播）</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データ分類タグの自動伝播</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Tags（手動 or API設定）</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FDF0E8"/>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自動伝播なし — CI/CDでタグ付け</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ルールを自動化する運用設計が必要</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1"/>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RLS（行レベルセキュリティ）</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施設ごとのアクセス制御（700施設）</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行フィルタ + 列マスキング</a:t>
                      </a:r>
                      <a:endParaRPr sz="1400" u="none" strike="noStrike" cap="none" dirty="0"/>
                    </a:p>
                  </a:txBody>
                  <a:tcPr marL="68600" marR="68600" marT="34300" marB="34300" anchor="ctr">
                    <a:solidFill>
                      <a:srgbClr val="F5F5F5"/>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対応可能。動的RLSも実装可</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Foundryと同等のきめ細かい制御</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2"/>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自動リネージ</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データの来歴を自動追跡</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SQL: 自動追跡</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自動追跡（GA済）</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lineageはUnity Catalogで</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自動追跡。toPandas/RDDは非対応</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3"/>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監査ログ</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誰が何にアクセスしたかの記録</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System Tables</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（Audit Logs）</a:t>
                      </a:r>
                      <a:endParaRPr sz="1400" u="none" strike="noStrike" cap="none" dirty="0"/>
                    </a:p>
                  </a:txBody>
                  <a:tcPr marL="68600" marR="68600" marT="34300" marB="34300" anchor="ctr">
                    <a:solidFill>
                      <a:srgbClr val="F5F5F5"/>
                    </a:solidFill>
                  </a:tcPr>
                </a:tc>
                <a:tc>
                  <a:txBody>
                    <a:bodyPr/>
                    <a:lstStyle/>
                    <a:p>
                      <a:pPr marL="0" marR="0" lvl="0" indent="0" algn="ctr"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対応可能。SQLで柔軟に分析可</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Foundryより分析の自由度が高い</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4"/>
                  </a:ext>
                </a:extLst>
              </a:tr>
              <a:tr h="442825">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PII検出（Sensitive Data Scanner）</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個人情報の自動検出・マスキング</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Presidio（OSS）</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or AWS Macie</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FDF0E8"/>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別途導入・設定が必要</a:t>
                      </a:r>
                      <a:br>
                        <a:rPr lang="ja" sz="700" u="none" strike="noStrike" cap="none" dirty="0">
                          <a:latin typeface="游ゴシック" panose="020B0400000000000000" pitchFamily="50" charset="-128"/>
                          <a:ea typeface="游ゴシック" panose="020B0400000000000000" pitchFamily="50" charset="-128"/>
                        </a:rPr>
                      </a:br>
                      <a:r>
                        <a:rPr lang="ja" sz="700" u="none" strike="noStrike" cap="none" dirty="0">
                          <a:latin typeface="游ゴシック" panose="020B0400000000000000" pitchFamily="50" charset="-128"/>
                          <a:ea typeface="游ゴシック" panose="020B0400000000000000" pitchFamily="50" charset="-128"/>
                        </a:rPr>
                        <a:t>介護データは要配慮個人情報 — 必須</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5"/>
                  </a:ext>
                </a:extLst>
              </a:tr>
            </a:tbl>
          </a:graphicData>
        </a:graphic>
      </p:graphicFrame>
      <p:sp>
        <p:nvSpPr>
          <p:cNvPr id="684" name="Google Shape;684;p29"/>
          <p:cNvSpPr/>
          <p:nvPr/>
        </p:nvSpPr>
        <p:spPr>
          <a:xfrm>
            <a:off x="411480" y="3086100"/>
            <a:ext cx="34290" cy="54864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85" name="Google Shape;685;p29"/>
          <p:cNvSpPr/>
          <p:nvPr/>
        </p:nvSpPr>
        <p:spPr>
          <a:xfrm>
            <a:off x="445770" y="3086100"/>
            <a:ext cx="8263890" cy="54864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Unity Catalogの位置づけ</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コアカタログ機能はApache 2.0でOSS化。ただし高度なガバナンス（列リネージ、動的ポリシー、PII分類）はDatabricks商用版が必要。</a:t>
            </a:r>
            <a:endParaRPr sz="1350" b="0" i="0" u="none" strike="noStrike" cap="none" dirty="0">
              <a:solidFill>
                <a:schemeClr val="dk1"/>
              </a:solidFill>
              <a:latin typeface="Calibri"/>
              <a:ea typeface="Calibri"/>
              <a:cs typeface="Calibri"/>
              <a:sym typeface="Calibri"/>
            </a:endParaRPr>
          </a:p>
        </p:txBody>
      </p:sp>
      <p:sp>
        <p:nvSpPr>
          <p:cNvPr id="686" name="Google Shape;686;p29"/>
          <p:cNvSpPr/>
          <p:nvPr/>
        </p:nvSpPr>
        <p:spPr>
          <a:xfrm>
            <a:off x="480060" y="3806190"/>
            <a:ext cx="2537460" cy="745932"/>
          </a:xfrm>
          <a:prstGeom prst="roundRect">
            <a:avLst>
              <a:gd name="adj" fmla="val 16667"/>
            </a:avLst>
          </a:prstGeom>
          <a:solidFill>
            <a:srgbClr val="FFFFFF"/>
          </a:solidFill>
          <a:ln w="254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27724A"/>
                </a:solidFill>
                <a:latin typeface="游ゴシック" panose="020B0400000000000000" pitchFamily="50" charset="-128"/>
                <a:ea typeface="游ゴシック" panose="020B0400000000000000" pitchFamily="50" charset="-128"/>
                <a:sym typeface="Arial"/>
              </a:rPr>
              <a:t>◎ そのまま代替可能</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RLS</a:t>
            </a:r>
            <a:endParaRPr sz="1350" b="1"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30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監査ログ</a:t>
            </a:r>
            <a:endParaRPr sz="1350" b="1" i="0" u="none" strike="noStrike" cap="none" dirty="0">
              <a:solidFill>
                <a:schemeClr val="dk1"/>
              </a:solidFill>
              <a:latin typeface="Calibri"/>
              <a:ea typeface="Calibri"/>
              <a:cs typeface="Calibri"/>
              <a:sym typeface="Calibri"/>
            </a:endParaRPr>
          </a:p>
        </p:txBody>
      </p:sp>
      <p:sp>
        <p:nvSpPr>
          <p:cNvPr id="687" name="Google Shape;687;p29"/>
          <p:cNvSpPr/>
          <p:nvPr/>
        </p:nvSpPr>
        <p:spPr>
          <a:xfrm>
            <a:off x="3257550" y="3806190"/>
            <a:ext cx="2537460" cy="745932"/>
          </a:xfrm>
          <a:prstGeom prst="roundRect">
            <a:avLst>
              <a:gd name="adj" fmla="val 16667"/>
            </a:avLst>
          </a:prstGeom>
          <a:solidFill>
            <a:srgbClr val="FFFFFF"/>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1B3A5C"/>
                </a:solidFill>
                <a:latin typeface="游ゴシック" panose="020B0400000000000000" pitchFamily="50" charset="-128"/>
                <a:ea typeface="游ゴシック" panose="020B0400000000000000" pitchFamily="50" charset="-128"/>
                <a:sym typeface="Arial"/>
              </a:rPr>
              <a:t>○ 運用設計で対応</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Markings</a:t>
            </a:r>
            <a:endParaRPr sz="1350" b="1"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30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リネージ</a:t>
            </a:r>
            <a:endParaRPr sz="1350" b="1" i="0" u="none" strike="noStrike" cap="none" dirty="0">
              <a:solidFill>
                <a:schemeClr val="dk1"/>
              </a:solidFill>
              <a:latin typeface="Calibri"/>
              <a:ea typeface="Calibri"/>
              <a:cs typeface="Calibri"/>
              <a:sym typeface="Calibri"/>
            </a:endParaRPr>
          </a:p>
        </p:txBody>
      </p:sp>
      <p:sp>
        <p:nvSpPr>
          <p:cNvPr id="688" name="Google Shape;688;p29"/>
          <p:cNvSpPr/>
          <p:nvPr/>
        </p:nvSpPr>
        <p:spPr>
          <a:xfrm>
            <a:off x="6035040" y="3806190"/>
            <a:ext cx="2537460" cy="745932"/>
          </a:xfrm>
          <a:prstGeom prst="roundRect">
            <a:avLst>
              <a:gd name="adj" fmla="val 16667"/>
            </a:avLst>
          </a:prstGeom>
          <a:solidFill>
            <a:srgbClr val="FFFFFF"/>
          </a:solidFill>
          <a:ln w="25400" cap="flat" cmpd="sng">
            <a:solidFill>
              <a:srgbClr val="E67E2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E67E22"/>
                </a:solidFill>
                <a:latin typeface="游ゴシック" panose="020B0400000000000000" pitchFamily="50" charset="-128"/>
                <a:ea typeface="游ゴシック" panose="020B0400000000000000" pitchFamily="50" charset="-128"/>
                <a:sym typeface="Arial"/>
              </a:rPr>
              <a:t>△ 別途ツール導入</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PII検出</a:t>
            </a:r>
            <a:endParaRPr sz="1350" b="1" i="0" u="none" strike="noStrike" cap="none" dirty="0">
              <a:solidFill>
                <a:schemeClr val="dk1"/>
              </a:solidFill>
              <a:latin typeface="Calibri"/>
              <a:ea typeface="Calibri"/>
              <a:cs typeface="Calibri"/>
              <a:sym typeface="Calibri"/>
            </a:endParaRPr>
          </a:p>
        </p:txBody>
      </p:sp>
      <p:sp>
        <p:nvSpPr>
          <p:cNvPr id="690" name="Google Shape;690;p29"/>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別紙B-1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91" name="Google Shape;691;p29"/>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92" name="Google Shape;692;p29"/>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93" name="Google Shape;693;p29"/>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別紙B-1</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0"/>
          <p:cNvSpPr/>
          <p:nvPr/>
        </p:nvSpPr>
        <p:spPr>
          <a:xfrm>
            <a:off x="5614988" y="3360420"/>
            <a:ext cx="2657475" cy="1028700"/>
          </a:xfrm>
          <a:prstGeom prst="roundRect">
            <a:avLst>
              <a:gd name="adj" fmla="val 8334"/>
            </a:avLst>
          </a:prstGeom>
          <a:solidFill>
            <a:srgbClr val="F2DADA"/>
          </a:solidFill>
          <a:ln w="9525" cap="flat" cmpd="sng">
            <a:solidFill>
              <a:schemeClr val="accent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99" name="Google Shape;699;p30"/>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0" name="Google Shape;700;p30"/>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8</a:t>
            </a:r>
            <a:endParaRPr sz="1350" b="0" i="0" u="none" strike="noStrike" cap="none" dirty="0">
              <a:solidFill>
                <a:schemeClr val="dk1"/>
              </a:solidFill>
              <a:latin typeface="Calibri"/>
              <a:ea typeface="Calibri"/>
              <a:cs typeface="Calibri"/>
              <a:sym typeface="Calibri"/>
            </a:endParaRPr>
          </a:p>
        </p:txBody>
      </p:sp>
      <p:sp>
        <p:nvSpPr>
          <p:cNvPr id="701" name="Google Shape;701;p30"/>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推奨技術スタック</a:t>
            </a:r>
            <a:endParaRPr sz="1350" b="0" i="0" u="none" strike="noStrike" cap="none" dirty="0">
              <a:solidFill>
                <a:schemeClr val="dk1"/>
              </a:solidFill>
              <a:latin typeface="Calibri"/>
              <a:ea typeface="Calibri"/>
              <a:cs typeface="Calibri"/>
              <a:sym typeface="Calibri"/>
            </a:endParaRPr>
          </a:p>
        </p:txBody>
      </p:sp>
      <p:sp>
        <p:nvSpPr>
          <p:cNvPr id="702" name="Google Shape;702;p30"/>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JP" altLang="en-US" sz="825" b="0" i="0" u="none" strike="noStrike" cap="none" dirty="0">
                <a:solidFill>
                  <a:srgbClr val="666666"/>
                </a:solidFill>
                <a:latin typeface="游ゴシック" panose="020B0400000000000000" pitchFamily="50" charset="-128"/>
                <a:ea typeface="游ゴシック" panose="020B0400000000000000" pitchFamily="50" charset="-128"/>
                <a:sym typeface="Arial"/>
              </a:rPr>
              <a:t>現時点の推奨技術スタック（</a:t>
            </a:r>
            <a:r>
              <a:rPr lang="en" alt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RFP</a:t>
            </a:r>
            <a:r>
              <a:rPr lang="ja-JP" altLang="en-US"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での検証前提）</a:t>
            </a:r>
            <a:endParaRPr sz="1350" b="0" i="0" u="none" strike="noStrike" cap="none" dirty="0">
              <a:solidFill>
                <a:schemeClr val="dk1"/>
              </a:solidFill>
              <a:latin typeface="Calibri"/>
              <a:ea typeface="Calibri"/>
              <a:cs typeface="Calibri"/>
              <a:sym typeface="Calibri"/>
            </a:endParaRPr>
          </a:p>
        </p:txBody>
      </p:sp>
      <p:sp>
        <p:nvSpPr>
          <p:cNvPr id="703" name="Google Shape;703;p30"/>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4" name="Google Shape;704;p30"/>
          <p:cNvSpPr/>
          <p:nvPr/>
        </p:nvSpPr>
        <p:spPr>
          <a:xfrm>
            <a:off x="548640" y="857250"/>
            <a:ext cx="1645920" cy="377190"/>
          </a:xfrm>
          <a:prstGeom prst="roundRect">
            <a:avLst>
              <a:gd name="adj" fmla="val 16667"/>
            </a:avLst>
          </a:prstGeom>
          <a:solidFill>
            <a:srgbClr val="7B1FA2"/>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BI / 分析</a:t>
            </a:r>
            <a:endParaRPr sz="1350" b="0" i="0" u="none" strike="noStrike" cap="none" dirty="0">
              <a:solidFill>
                <a:schemeClr val="dk1"/>
              </a:solidFill>
              <a:latin typeface="Calibri"/>
              <a:ea typeface="Calibri"/>
              <a:cs typeface="Calibri"/>
              <a:sym typeface="Calibri"/>
            </a:endParaRPr>
          </a:p>
        </p:txBody>
      </p:sp>
      <p:sp>
        <p:nvSpPr>
          <p:cNvPr id="705" name="Google Shape;705;p30"/>
          <p:cNvSpPr/>
          <p:nvPr/>
        </p:nvSpPr>
        <p:spPr>
          <a:xfrm>
            <a:off x="2263140" y="960120"/>
            <a:ext cx="274320" cy="150876"/>
          </a:xfrm>
          <a:prstGeom prst="rightArrow">
            <a:avLst>
              <a:gd name="adj1" fmla="val 50000"/>
              <a:gd name="adj2" fmla="val 50000"/>
            </a:avLst>
          </a:prstGeom>
          <a:solidFill>
            <a:srgbClr val="7B1FA2"/>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6" name="Google Shape;706;p30"/>
          <p:cNvSpPr/>
          <p:nvPr/>
        </p:nvSpPr>
        <p:spPr>
          <a:xfrm>
            <a:off x="2640330" y="857250"/>
            <a:ext cx="2743200" cy="377190"/>
          </a:xfrm>
          <a:prstGeom prst="roundRect">
            <a:avLst>
              <a:gd name="adj" fmla="val 16667"/>
            </a:avLst>
          </a:prstGeom>
          <a:solidFill>
            <a:srgbClr val="FFFFFF"/>
          </a:solidFill>
          <a:ln w="19050" cap="flat" cmpd="sng">
            <a:solidFill>
              <a:srgbClr val="7B1FA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Tableau（既存維持）</a:t>
            </a:r>
            <a:endParaRPr sz="1350" b="0" i="0" u="none" strike="noStrike" cap="none" dirty="0">
              <a:solidFill>
                <a:schemeClr val="dk1"/>
              </a:solidFill>
              <a:latin typeface="Calibri"/>
              <a:ea typeface="Calibri"/>
              <a:cs typeface="Calibri"/>
              <a:sym typeface="Calibri"/>
            </a:endParaRPr>
          </a:p>
        </p:txBody>
      </p:sp>
      <p:sp>
        <p:nvSpPr>
          <p:cNvPr id="707" name="Google Shape;707;p30"/>
          <p:cNvSpPr/>
          <p:nvPr/>
        </p:nvSpPr>
        <p:spPr>
          <a:xfrm>
            <a:off x="548640" y="1337310"/>
            <a:ext cx="1645920" cy="377190"/>
          </a:xfrm>
          <a:prstGeom prst="roundRect">
            <a:avLst>
              <a:gd name="adj" fmla="val 16667"/>
            </a:avLst>
          </a:prstGeom>
          <a:solidFill>
            <a:srgbClr val="9C27B0"/>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セマンティック</a:t>
            </a:r>
            <a:endParaRPr sz="1350" b="0" i="0" u="none" strike="noStrike" cap="none" dirty="0">
              <a:solidFill>
                <a:schemeClr val="dk1"/>
              </a:solidFill>
              <a:latin typeface="Calibri"/>
              <a:ea typeface="Calibri"/>
              <a:cs typeface="Calibri"/>
              <a:sym typeface="Calibri"/>
            </a:endParaRPr>
          </a:p>
        </p:txBody>
      </p:sp>
      <p:sp>
        <p:nvSpPr>
          <p:cNvPr id="708" name="Google Shape;708;p30"/>
          <p:cNvSpPr/>
          <p:nvPr/>
        </p:nvSpPr>
        <p:spPr>
          <a:xfrm>
            <a:off x="2263140" y="1440180"/>
            <a:ext cx="274320" cy="150876"/>
          </a:xfrm>
          <a:prstGeom prst="rightArrow">
            <a:avLst>
              <a:gd name="adj1" fmla="val 50000"/>
              <a:gd name="adj2" fmla="val 50000"/>
            </a:avLst>
          </a:prstGeom>
          <a:solidFill>
            <a:srgbClr val="9C27B0"/>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9" name="Google Shape;709;p30"/>
          <p:cNvSpPr/>
          <p:nvPr/>
        </p:nvSpPr>
        <p:spPr>
          <a:xfrm>
            <a:off x="2640330" y="1337310"/>
            <a:ext cx="2743200" cy="377190"/>
          </a:xfrm>
          <a:prstGeom prst="roundRect">
            <a:avLst>
              <a:gd name="adj" fmla="val 16667"/>
            </a:avLst>
          </a:prstGeom>
          <a:solidFill>
            <a:srgbClr val="D8D8D8"/>
          </a:solidFill>
          <a:ln w="19050" cap="flat" cmpd="sng">
            <a:solidFill>
              <a:srgbClr val="9C27B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7F7F7F"/>
                </a:solidFill>
                <a:latin typeface="游ゴシック" panose="020B0400000000000000" pitchFamily="50" charset="-128"/>
                <a:ea typeface="游ゴシック" panose="020B0400000000000000" pitchFamily="50" charset="-128"/>
                <a:sym typeface="Arial"/>
              </a:rPr>
              <a:t>初期は不要 → AI導入時 Metric Views</a:t>
            </a:r>
            <a:r>
              <a:rPr lang="ja" sz="675" b="1" i="0" u="none" strike="noStrike" cap="none" dirty="0">
                <a:solidFill>
                  <a:srgbClr val="7F7F7F"/>
                </a:solidFill>
                <a:latin typeface="Calibri"/>
                <a:ea typeface="Calibri"/>
                <a:cs typeface="Calibri"/>
                <a:sym typeface="Calibri"/>
              </a:rPr>
              <a:t>等を検討</a:t>
            </a:r>
            <a:endParaRPr sz="1350" b="0" i="0" u="none" strike="noStrike" cap="none" dirty="0">
              <a:solidFill>
                <a:schemeClr val="dk1"/>
              </a:solidFill>
              <a:latin typeface="Calibri"/>
              <a:ea typeface="Calibri"/>
              <a:cs typeface="Calibri"/>
              <a:sym typeface="Calibri"/>
            </a:endParaRPr>
          </a:p>
        </p:txBody>
      </p:sp>
      <p:sp>
        <p:nvSpPr>
          <p:cNvPr id="710" name="Google Shape;710;p30"/>
          <p:cNvSpPr/>
          <p:nvPr/>
        </p:nvSpPr>
        <p:spPr>
          <a:xfrm>
            <a:off x="548640" y="1817370"/>
            <a:ext cx="1645920" cy="377190"/>
          </a:xfrm>
          <a:prstGeom prst="roundRect">
            <a:avLst>
              <a:gd name="adj" fmla="val 16667"/>
            </a:avLst>
          </a:prstGeom>
          <a:solidFill>
            <a:srgbClr val="1565C0"/>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データ変換</a:t>
            </a:r>
            <a:endParaRPr sz="1350" b="0" i="0" u="none" strike="noStrike" cap="none" dirty="0">
              <a:solidFill>
                <a:schemeClr val="dk1"/>
              </a:solidFill>
              <a:latin typeface="Calibri"/>
              <a:ea typeface="Calibri"/>
              <a:cs typeface="Calibri"/>
              <a:sym typeface="Calibri"/>
            </a:endParaRPr>
          </a:p>
        </p:txBody>
      </p:sp>
      <p:sp>
        <p:nvSpPr>
          <p:cNvPr id="711" name="Google Shape;711;p30"/>
          <p:cNvSpPr/>
          <p:nvPr/>
        </p:nvSpPr>
        <p:spPr>
          <a:xfrm>
            <a:off x="2263140" y="1920240"/>
            <a:ext cx="274320" cy="150876"/>
          </a:xfrm>
          <a:prstGeom prst="rightArrow">
            <a:avLst>
              <a:gd name="adj1" fmla="val 50000"/>
              <a:gd name="adj2" fmla="val 50000"/>
            </a:avLst>
          </a:prstGeom>
          <a:solidFill>
            <a:srgbClr val="1565C0"/>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2" name="Google Shape;712;p30"/>
          <p:cNvSpPr/>
          <p:nvPr/>
        </p:nvSpPr>
        <p:spPr>
          <a:xfrm>
            <a:off x="2640330" y="1817370"/>
            <a:ext cx="2743200" cy="377190"/>
          </a:xfrm>
          <a:prstGeom prst="roundRect">
            <a:avLst>
              <a:gd name="adj" fmla="val 16667"/>
            </a:avLst>
          </a:prstGeom>
          <a:solidFill>
            <a:srgbClr val="FFFFFF"/>
          </a:solidFill>
          <a:ln w="19050" cap="flat" cmpd="sng">
            <a:solidFill>
              <a:srgbClr val="1565C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PySpark（Python）+ dbt Core（SQL）</a:t>
            </a:r>
            <a:endParaRPr sz="1350" b="0" i="0" u="none" strike="noStrike" cap="none" dirty="0">
              <a:solidFill>
                <a:schemeClr val="lt1"/>
              </a:solidFill>
              <a:latin typeface="Calibri"/>
              <a:ea typeface="Calibri"/>
              <a:cs typeface="Calibri"/>
              <a:sym typeface="Calibri"/>
            </a:endParaRPr>
          </a:p>
        </p:txBody>
      </p:sp>
      <p:sp>
        <p:nvSpPr>
          <p:cNvPr id="713" name="Google Shape;713;p30"/>
          <p:cNvSpPr/>
          <p:nvPr/>
        </p:nvSpPr>
        <p:spPr>
          <a:xfrm>
            <a:off x="548640" y="2297430"/>
            <a:ext cx="1645920" cy="377190"/>
          </a:xfrm>
          <a:prstGeom prst="roundRect">
            <a:avLst>
              <a:gd name="adj" fmla="val 16667"/>
            </a:avLst>
          </a:prstGeom>
          <a:solidFill>
            <a:srgbClr val="009688"/>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オーケストレーション</a:t>
            </a:r>
            <a:endParaRPr sz="1350" b="0" i="0" u="none" strike="noStrike" cap="none" dirty="0">
              <a:solidFill>
                <a:schemeClr val="dk1"/>
              </a:solidFill>
              <a:latin typeface="Calibri"/>
              <a:ea typeface="Calibri"/>
              <a:cs typeface="Calibri"/>
              <a:sym typeface="Calibri"/>
            </a:endParaRPr>
          </a:p>
        </p:txBody>
      </p:sp>
      <p:sp>
        <p:nvSpPr>
          <p:cNvPr id="714" name="Google Shape;714;p30"/>
          <p:cNvSpPr/>
          <p:nvPr/>
        </p:nvSpPr>
        <p:spPr>
          <a:xfrm>
            <a:off x="2263140" y="2400300"/>
            <a:ext cx="274320" cy="150876"/>
          </a:xfrm>
          <a:prstGeom prst="rightArrow">
            <a:avLst>
              <a:gd name="adj1" fmla="val 50000"/>
              <a:gd name="adj2" fmla="val 50000"/>
            </a:avLst>
          </a:prstGeom>
          <a:solidFill>
            <a:srgbClr val="00968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5" name="Google Shape;715;p30"/>
          <p:cNvSpPr/>
          <p:nvPr/>
        </p:nvSpPr>
        <p:spPr>
          <a:xfrm>
            <a:off x="2640330" y="2297430"/>
            <a:ext cx="2743200" cy="377190"/>
          </a:xfrm>
          <a:prstGeom prst="roundRect">
            <a:avLst>
              <a:gd name="adj" fmla="val 16667"/>
            </a:avLst>
          </a:prstGeom>
          <a:solidFill>
            <a:srgbClr val="FFFFFF"/>
          </a:solidFill>
          <a:ln w="19050" cap="flat" cmpd="sng">
            <a:solidFill>
              <a:srgbClr val="00968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Jobs（+ 必要時 Airflow）</a:t>
            </a:r>
            <a:endParaRPr sz="1350" b="0" i="0" u="none" strike="noStrike" cap="none" dirty="0">
              <a:solidFill>
                <a:schemeClr val="dk1"/>
              </a:solidFill>
              <a:latin typeface="Calibri"/>
              <a:ea typeface="Calibri"/>
              <a:cs typeface="Calibri"/>
              <a:sym typeface="Calibri"/>
            </a:endParaRPr>
          </a:p>
        </p:txBody>
      </p:sp>
      <p:sp>
        <p:nvSpPr>
          <p:cNvPr id="716" name="Google Shape;716;p30"/>
          <p:cNvSpPr/>
          <p:nvPr/>
        </p:nvSpPr>
        <p:spPr>
          <a:xfrm>
            <a:off x="548640" y="2777490"/>
            <a:ext cx="1645920" cy="377190"/>
          </a:xfrm>
          <a:prstGeom prst="roundRect">
            <a:avLst>
              <a:gd name="adj" fmla="val 16667"/>
            </a:avLst>
          </a:prstGeom>
          <a:solidFill>
            <a:srgbClr val="2E7D32"/>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ガバナンス</a:t>
            </a:r>
            <a:endParaRPr sz="1350" b="0" i="0" u="none" strike="noStrike" cap="none" dirty="0">
              <a:solidFill>
                <a:schemeClr val="dk1"/>
              </a:solidFill>
              <a:latin typeface="Calibri"/>
              <a:ea typeface="Calibri"/>
              <a:cs typeface="Calibri"/>
              <a:sym typeface="Calibri"/>
            </a:endParaRPr>
          </a:p>
        </p:txBody>
      </p:sp>
      <p:sp>
        <p:nvSpPr>
          <p:cNvPr id="717" name="Google Shape;717;p30"/>
          <p:cNvSpPr/>
          <p:nvPr/>
        </p:nvSpPr>
        <p:spPr>
          <a:xfrm>
            <a:off x="2263140" y="2880360"/>
            <a:ext cx="274320" cy="150876"/>
          </a:xfrm>
          <a:prstGeom prst="rightArrow">
            <a:avLst>
              <a:gd name="adj1" fmla="val 50000"/>
              <a:gd name="adj2" fmla="val 50000"/>
            </a:avLst>
          </a:prstGeom>
          <a:solidFill>
            <a:srgbClr val="2E7D32"/>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8" name="Google Shape;718;p30"/>
          <p:cNvSpPr/>
          <p:nvPr/>
        </p:nvSpPr>
        <p:spPr>
          <a:xfrm>
            <a:off x="2640330" y="2777490"/>
            <a:ext cx="2743200" cy="377190"/>
          </a:xfrm>
          <a:prstGeom prst="roundRect">
            <a:avLst>
              <a:gd name="adj" fmla="val 16667"/>
            </a:avLst>
          </a:prstGeom>
          <a:solidFill>
            <a:srgbClr val="FFFFFF"/>
          </a:solidFill>
          <a:ln w="19050" cap="flat" cmpd="sng">
            <a:solidFill>
              <a:srgbClr val="2E7D3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Unity Catalog（データ + ML + AI 統合管理）</a:t>
            </a:r>
            <a:endParaRPr sz="1350" b="0" i="0" u="none" strike="noStrike" cap="none" dirty="0">
              <a:solidFill>
                <a:schemeClr val="dk1"/>
              </a:solidFill>
              <a:latin typeface="Calibri"/>
              <a:ea typeface="Calibri"/>
              <a:cs typeface="Calibri"/>
              <a:sym typeface="Calibri"/>
            </a:endParaRPr>
          </a:p>
        </p:txBody>
      </p:sp>
      <p:sp>
        <p:nvSpPr>
          <p:cNvPr id="719" name="Google Shape;719;p30"/>
          <p:cNvSpPr/>
          <p:nvPr/>
        </p:nvSpPr>
        <p:spPr>
          <a:xfrm>
            <a:off x="548640" y="3257550"/>
            <a:ext cx="1645920" cy="377190"/>
          </a:xfrm>
          <a:prstGeom prst="roundRect">
            <a:avLst>
              <a:gd name="adj" fmla="val 16667"/>
            </a:avLst>
          </a:prstGeom>
          <a:solidFill>
            <a:srgbClr val="33691E"/>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テーブルフォーマット</a:t>
            </a:r>
            <a:endParaRPr sz="1350" b="0" i="0" u="none" strike="noStrike" cap="none" dirty="0">
              <a:solidFill>
                <a:schemeClr val="dk1"/>
              </a:solidFill>
              <a:latin typeface="Calibri"/>
              <a:ea typeface="Calibri"/>
              <a:cs typeface="Calibri"/>
              <a:sym typeface="Calibri"/>
            </a:endParaRPr>
          </a:p>
        </p:txBody>
      </p:sp>
      <p:sp>
        <p:nvSpPr>
          <p:cNvPr id="720" name="Google Shape;720;p30"/>
          <p:cNvSpPr/>
          <p:nvPr/>
        </p:nvSpPr>
        <p:spPr>
          <a:xfrm>
            <a:off x="2263140" y="3360420"/>
            <a:ext cx="274320" cy="150876"/>
          </a:xfrm>
          <a:prstGeom prst="rightArrow">
            <a:avLst>
              <a:gd name="adj1" fmla="val 50000"/>
              <a:gd name="adj2" fmla="val 50000"/>
            </a:avLst>
          </a:prstGeom>
          <a:solidFill>
            <a:srgbClr val="33691E"/>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21" name="Google Shape;721;p30"/>
          <p:cNvSpPr/>
          <p:nvPr/>
        </p:nvSpPr>
        <p:spPr>
          <a:xfrm>
            <a:off x="2640330" y="3257550"/>
            <a:ext cx="2743200" cy="377190"/>
          </a:xfrm>
          <a:prstGeom prst="roundRect">
            <a:avLst>
              <a:gd name="adj" fmla="val 16667"/>
            </a:avLst>
          </a:prstGeom>
          <a:solidFill>
            <a:srgbClr val="FFFFFF"/>
          </a:solidFill>
          <a:ln w="19050" cap="flat" cmpd="sng">
            <a:solidFill>
              <a:srgbClr val="3369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Delta Lake + UniForm（Iceberg互換）</a:t>
            </a:r>
            <a:endParaRPr sz="1350" b="0" i="0" u="none" strike="noStrike" cap="none" dirty="0">
              <a:solidFill>
                <a:schemeClr val="dk1"/>
              </a:solidFill>
              <a:latin typeface="Calibri"/>
              <a:ea typeface="Calibri"/>
              <a:cs typeface="Calibri"/>
              <a:sym typeface="Calibri"/>
            </a:endParaRPr>
          </a:p>
        </p:txBody>
      </p:sp>
      <p:sp>
        <p:nvSpPr>
          <p:cNvPr id="722" name="Google Shape;722;p30"/>
          <p:cNvSpPr/>
          <p:nvPr/>
        </p:nvSpPr>
        <p:spPr>
          <a:xfrm>
            <a:off x="548640" y="3737610"/>
            <a:ext cx="1645920" cy="377190"/>
          </a:xfrm>
          <a:prstGeom prst="roundRect">
            <a:avLst>
              <a:gd name="adj" fmla="val 16667"/>
            </a:avLst>
          </a:prstGeom>
          <a:solidFill>
            <a:srgbClr val="4E342E"/>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ストレージ</a:t>
            </a:r>
            <a:endParaRPr sz="1350" b="0" i="0" u="none" strike="noStrike" cap="none" dirty="0">
              <a:solidFill>
                <a:schemeClr val="dk1"/>
              </a:solidFill>
              <a:latin typeface="Calibri"/>
              <a:ea typeface="Calibri"/>
              <a:cs typeface="Calibri"/>
              <a:sym typeface="Calibri"/>
            </a:endParaRPr>
          </a:p>
        </p:txBody>
      </p:sp>
      <p:sp>
        <p:nvSpPr>
          <p:cNvPr id="723" name="Google Shape;723;p30"/>
          <p:cNvSpPr/>
          <p:nvPr/>
        </p:nvSpPr>
        <p:spPr>
          <a:xfrm>
            <a:off x="2263140" y="3840480"/>
            <a:ext cx="274320" cy="150876"/>
          </a:xfrm>
          <a:prstGeom prst="rightArrow">
            <a:avLst>
              <a:gd name="adj1" fmla="val 50000"/>
              <a:gd name="adj2" fmla="val 50000"/>
            </a:avLst>
          </a:prstGeom>
          <a:solidFill>
            <a:srgbClr val="4E342E"/>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24" name="Google Shape;724;p30"/>
          <p:cNvSpPr/>
          <p:nvPr/>
        </p:nvSpPr>
        <p:spPr>
          <a:xfrm>
            <a:off x="2640330" y="3737610"/>
            <a:ext cx="2743200" cy="377190"/>
          </a:xfrm>
          <a:prstGeom prst="roundRect">
            <a:avLst>
              <a:gd name="adj" fmla="val 16667"/>
            </a:avLst>
          </a:prstGeom>
          <a:solidFill>
            <a:srgbClr val="FFFFFF"/>
          </a:solidFill>
          <a:ln w="19050" cap="flat" cmpd="sng">
            <a:solidFill>
              <a:srgbClr val="4E342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S3 + Lakehouseアーキテクチャ</a:t>
            </a:r>
            <a:endParaRPr sz="1350" b="0" i="0" u="none" strike="noStrike" cap="none" dirty="0">
              <a:solidFill>
                <a:schemeClr val="lt1"/>
              </a:solidFill>
              <a:latin typeface="Calibri"/>
              <a:ea typeface="Calibri"/>
              <a:cs typeface="Calibri"/>
              <a:sym typeface="Calibri"/>
            </a:endParaRPr>
          </a:p>
        </p:txBody>
      </p:sp>
      <p:sp>
        <p:nvSpPr>
          <p:cNvPr id="725" name="Google Shape;725;p30"/>
          <p:cNvSpPr/>
          <p:nvPr/>
        </p:nvSpPr>
        <p:spPr>
          <a:xfrm>
            <a:off x="2640330" y="4286250"/>
            <a:ext cx="2743200" cy="30861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FFFFFF"/>
                </a:solidFill>
                <a:latin typeface="游ゴシック" panose="020B0400000000000000" pitchFamily="50" charset="-128"/>
                <a:ea typeface="游ゴシック" panose="020B0400000000000000" pitchFamily="50" charset="-128"/>
                <a:sym typeface="Arial"/>
              </a:rPr>
              <a:t>基盤：Databricks Lakehouse Platform</a:t>
            </a:r>
            <a:endParaRPr sz="1350" b="0" i="0" u="none" strike="noStrike" cap="none" dirty="0">
              <a:solidFill>
                <a:schemeClr val="dk1"/>
              </a:solidFill>
              <a:latin typeface="Calibri"/>
              <a:ea typeface="Calibri"/>
              <a:cs typeface="Calibri"/>
              <a:sym typeface="Calibri"/>
            </a:endParaRPr>
          </a:p>
        </p:txBody>
      </p:sp>
      <p:sp>
        <p:nvSpPr>
          <p:cNvPr id="726" name="Google Shape;726;p30"/>
          <p:cNvSpPr txBox="1"/>
          <p:nvPr/>
        </p:nvSpPr>
        <p:spPr>
          <a:xfrm>
            <a:off x="5692140" y="857250"/>
            <a:ext cx="30861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この構成のメリット</a:t>
            </a:r>
            <a:endParaRPr sz="1350" b="0" i="0" u="none" strike="noStrike" cap="none" dirty="0">
              <a:solidFill>
                <a:schemeClr val="dk1"/>
              </a:solidFill>
              <a:latin typeface="Calibri"/>
              <a:ea typeface="Calibri"/>
              <a:cs typeface="Calibri"/>
              <a:sym typeface="Calibri"/>
            </a:endParaRPr>
          </a:p>
        </p:txBody>
      </p:sp>
      <p:sp>
        <p:nvSpPr>
          <p:cNvPr id="727" name="Google Shape;727;p30"/>
          <p:cNvSpPr/>
          <p:nvPr/>
        </p:nvSpPr>
        <p:spPr>
          <a:xfrm>
            <a:off x="5760720" y="116586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1</a:t>
            </a:r>
            <a:endParaRPr sz="1350" b="0" i="0" u="none" strike="noStrike" cap="none" dirty="0">
              <a:solidFill>
                <a:schemeClr val="dk1"/>
              </a:solidFill>
              <a:latin typeface="Calibri"/>
              <a:ea typeface="Calibri"/>
              <a:cs typeface="Calibri"/>
              <a:sym typeface="Calibri"/>
            </a:endParaRPr>
          </a:p>
        </p:txBody>
      </p:sp>
      <p:sp>
        <p:nvSpPr>
          <p:cNvPr id="728" name="Google Shape;728;p30"/>
          <p:cNvSpPr txBox="1"/>
          <p:nvPr/>
        </p:nvSpPr>
        <p:spPr>
          <a:xfrm>
            <a:off x="6103620" y="115214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PySpark移植コスト最小</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Foundryデコレーター除去のみでほぼ動作</a:t>
            </a:r>
            <a:endParaRPr sz="1350" b="0" i="0" u="none" strike="noStrike" cap="none" dirty="0">
              <a:solidFill>
                <a:schemeClr val="dk1"/>
              </a:solidFill>
              <a:latin typeface="Calibri"/>
              <a:ea typeface="Calibri"/>
              <a:cs typeface="Calibri"/>
              <a:sym typeface="Calibri"/>
            </a:endParaRPr>
          </a:p>
        </p:txBody>
      </p:sp>
      <p:sp>
        <p:nvSpPr>
          <p:cNvPr id="729" name="Google Shape;729;p30"/>
          <p:cNvSpPr/>
          <p:nvPr/>
        </p:nvSpPr>
        <p:spPr>
          <a:xfrm>
            <a:off x="5760720" y="161163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730" name="Google Shape;730;p30"/>
          <p:cNvSpPr txBox="1"/>
          <p:nvPr/>
        </p:nvSpPr>
        <p:spPr>
          <a:xfrm>
            <a:off x="6103620" y="159791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ツール数最小</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 + dbt + Tableau の3つが中核</a:t>
            </a:r>
            <a:endParaRPr sz="1350" b="0" i="0" u="none" strike="noStrike" cap="none" dirty="0">
              <a:solidFill>
                <a:schemeClr val="dk1"/>
              </a:solidFill>
              <a:latin typeface="Calibri"/>
              <a:ea typeface="Calibri"/>
              <a:cs typeface="Calibri"/>
              <a:sym typeface="Calibri"/>
            </a:endParaRPr>
          </a:p>
        </p:txBody>
      </p:sp>
      <p:sp>
        <p:nvSpPr>
          <p:cNvPr id="731" name="Google Shape;731;p30"/>
          <p:cNvSpPr/>
          <p:nvPr/>
        </p:nvSpPr>
        <p:spPr>
          <a:xfrm>
            <a:off x="5760720" y="205740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dk1"/>
              </a:solidFill>
              <a:latin typeface="Calibri"/>
              <a:ea typeface="Calibri"/>
              <a:cs typeface="Calibri"/>
              <a:sym typeface="Calibri"/>
            </a:endParaRPr>
          </a:p>
        </p:txBody>
      </p:sp>
      <p:sp>
        <p:nvSpPr>
          <p:cNvPr id="732" name="Google Shape;732;p30"/>
          <p:cNvSpPr txBox="1"/>
          <p:nvPr/>
        </p:nvSpPr>
        <p:spPr>
          <a:xfrm>
            <a:off x="6103620" y="204368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ロックイン回避</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UC(OSS) + Delta+UniForm(Iceberg互換)</a:t>
            </a:r>
            <a:endParaRPr sz="1350" b="0" i="0" u="none" strike="noStrike" cap="none" dirty="0">
              <a:solidFill>
                <a:schemeClr val="dk1"/>
              </a:solidFill>
              <a:latin typeface="Calibri"/>
              <a:ea typeface="Calibri"/>
              <a:cs typeface="Calibri"/>
              <a:sym typeface="Calibri"/>
            </a:endParaRPr>
          </a:p>
        </p:txBody>
      </p:sp>
      <p:sp>
        <p:nvSpPr>
          <p:cNvPr id="733" name="Google Shape;733;p30"/>
          <p:cNvSpPr/>
          <p:nvPr/>
        </p:nvSpPr>
        <p:spPr>
          <a:xfrm>
            <a:off x="5760720" y="250317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734" name="Google Shape;734;p30"/>
          <p:cNvSpPr txBox="1"/>
          <p:nvPr/>
        </p:nvSpPr>
        <p:spPr>
          <a:xfrm>
            <a:off x="6103620" y="248945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AI拡張性</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MLflow, Vector Search, Model Serving統合済み</a:t>
            </a:r>
            <a:endParaRPr sz="1350" b="0" i="0" u="none" strike="noStrike" cap="none" dirty="0">
              <a:solidFill>
                <a:schemeClr val="dk1"/>
              </a:solidFill>
              <a:latin typeface="Calibri"/>
              <a:ea typeface="Calibri"/>
              <a:cs typeface="Calibri"/>
              <a:sym typeface="Calibri"/>
            </a:endParaRPr>
          </a:p>
        </p:txBody>
      </p:sp>
      <p:sp>
        <p:nvSpPr>
          <p:cNvPr id="735" name="Google Shape;735;p30"/>
          <p:cNvSpPr/>
          <p:nvPr/>
        </p:nvSpPr>
        <p:spPr>
          <a:xfrm>
            <a:off x="5760720" y="294894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736" name="Google Shape;736;p30"/>
          <p:cNvSpPr txBox="1"/>
          <p:nvPr/>
        </p:nvSpPr>
        <p:spPr>
          <a:xfrm>
            <a:off x="6103620" y="293522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運用人材</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2名程度（データエンジニア中心）で運用可能</a:t>
            </a:r>
            <a:endParaRPr sz="1350" b="0" i="0" u="none" strike="noStrike" cap="none" dirty="0">
              <a:solidFill>
                <a:schemeClr val="dk1"/>
              </a:solidFill>
              <a:latin typeface="Calibri"/>
              <a:ea typeface="Calibri"/>
              <a:cs typeface="Calibri"/>
              <a:sym typeface="Calibri"/>
            </a:endParaRPr>
          </a:p>
        </p:txBody>
      </p:sp>
      <p:sp>
        <p:nvSpPr>
          <p:cNvPr id="737" name="Google Shape;737;p30"/>
          <p:cNvSpPr txBox="1"/>
          <p:nvPr/>
        </p:nvSpPr>
        <p:spPr>
          <a:xfrm>
            <a:off x="5692140" y="3497580"/>
            <a:ext cx="30861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C0392B"/>
                </a:solidFill>
                <a:latin typeface="游ゴシック" panose="020B0400000000000000" pitchFamily="50" charset="-128"/>
                <a:ea typeface="游ゴシック" panose="020B0400000000000000" pitchFamily="50" charset="-128"/>
                <a:sym typeface="Arial"/>
              </a:rPr>
              <a:t>リスク・注意点</a:t>
            </a:r>
            <a:endParaRPr sz="1350" b="0" i="0" u="none" strike="noStrike" cap="none" dirty="0">
              <a:solidFill>
                <a:schemeClr val="dk1"/>
              </a:solidFill>
              <a:latin typeface="Calibri"/>
              <a:ea typeface="Calibri"/>
              <a:cs typeface="Calibri"/>
              <a:sym typeface="Calibri"/>
            </a:endParaRPr>
          </a:p>
        </p:txBody>
      </p:sp>
      <p:sp>
        <p:nvSpPr>
          <p:cNvPr id="738" name="Google Shape;738;p30"/>
          <p:cNvSpPr txBox="1"/>
          <p:nvPr/>
        </p:nvSpPr>
        <p:spPr>
          <a:xfrm>
            <a:off x="5692140" y="3703321"/>
            <a:ext cx="3086100" cy="484269"/>
          </a:xfrm>
          <a:prstGeom prst="rect">
            <a:avLst/>
          </a:prstGeom>
          <a:noFill/>
          <a:ln>
            <a:noFill/>
          </a:ln>
        </p:spPr>
        <p:txBody>
          <a:bodyPr spcFirstLastPara="1" wrap="square" lIns="68550" tIns="34275" rIns="68550" bIns="34275" anchor="t" anchorCtr="0">
            <a:spAutoFit/>
          </a:bodyPr>
          <a:lstStyle/>
          <a:p>
            <a:pPr marL="128588" marR="0" lvl="0" indent="-128588" algn="l" rtl="0">
              <a:lnSpc>
                <a:spcPct val="100000"/>
              </a:lnSpc>
              <a:spcBef>
                <a:spcPts val="0"/>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DBU単価の不透明性 — 見積段階で開示を要求</a:t>
            </a:r>
            <a:endParaRPr sz="788" b="0"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225"/>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Markings自動伝播の欠如 — CI/CD自動化で補完</a:t>
            </a:r>
            <a:endParaRPr sz="788" b="0"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225"/>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ストレージ膨張 — VACUUMポリシーの設計必須</a:t>
            </a:r>
            <a:endParaRPr sz="788"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740" name="Google Shape;740;p30"/>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別紙C-1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741" name="Google Shape;741;p30"/>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742" name="Google Shape;742;p30"/>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743" name="Google Shape;743;p30"/>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別紙C-1</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E82AA4-86BF-4D40-BC02-138B69429CBF}">
  <we:reference id="wa200010001" version="1.0.0.1" store="en-US" storeType="OMEX"/>
  <we:alternateReferences>
    <we:reference id="wa200010001" version="1.0.0.1" store="en-US" storeType="OMEX"/>
  </we:alternateReferences>
  <we:properties>
    <we:property name="claude.fileId" value="&quot;49068d5e-d440-4f69-af3f-12f385180df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1044</TotalTime>
  <Words>9828</Words>
  <Application>Microsoft Office PowerPoint</Application>
  <PresentationFormat>画面に合わせる (16:9)</PresentationFormat>
  <Paragraphs>1298</Paragraphs>
  <Slides>34</Slides>
  <Notes>34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34</vt:i4>
      </vt:variant>
    </vt:vector>
  </HeadingPairs>
  <TitlesOfParts>
    <vt:vector size="41" baseType="lpstr">
      <vt:lpstr>游ゴシック</vt:lpstr>
      <vt:lpstr>Arial</vt:lpstr>
      <vt:lpstr>Century Gothic</vt:lpstr>
      <vt:lpstr>游ゴシック</vt:lpstr>
      <vt:lpstr>Calibri</vt:lpstr>
      <vt:lpstr>Office Theme</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yoshihisa_kawada</cp:lastModifiedBy>
  <cp:revision>133</cp:revision>
  <dcterms:modified xsi:type="dcterms:W3CDTF">2026-04-10T11:25:02Z</dcterms:modified>
</cp:coreProperties>
</file>