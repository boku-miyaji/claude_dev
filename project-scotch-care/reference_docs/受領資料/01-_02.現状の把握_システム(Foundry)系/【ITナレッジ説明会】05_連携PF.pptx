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70" r:id="rId3"/>
    <p:sldId id="271" r:id="rId4"/>
    <p:sldId id="267" r:id="rId5"/>
    <p:sldId id="268" r:id="rId6"/>
    <p:sldId id="272" r:id="rId7"/>
    <p:sldId id="273" r:id="rId8"/>
    <p:sldId id="274" r:id="rId9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16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84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9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7"/>
            <a:ext cx="4011930" cy="40233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77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039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918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4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8591" y="731520"/>
            <a:ext cx="5426842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8229" y="6459787"/>
            <a:ext cx="2127540" cy="365125"/>
          </a:xfrm>
        </p:spPr>
        <p:txBody>
          <a:bodyPr/>
          <a:lstStyle>
            <a:lvl1pPr algn="l">
              <a:defRPr/>
            </a:lvl1pPr>
          </a:lstStyle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29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2198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39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00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953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4780"/>
            <a:ext cx="2135981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4779"/>
            <a:ext cx="6284119" cy="5757420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99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B646FC6-966C-4164-9F87-3C39B58B4A3B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63F55B7-F2E9-4B4E-AE76-8BE041A7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47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連携</a:t>
            </a:r>
            <a:r>
              <a:rPr lang="ja-JP" altLang="en-US" sz="4800" dirty="0"/>
              <a:t>プラットフォームについて</a:t>
            </a:r>
            <a:endParaRPr kumimoji="1" lang="ja-JP" altLang="en-US" sz="48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組織力向上ナレッジ勉強会</a:t>
            </a:r>
          </a:p>
        </p:txBody>
      </p:sp>
    </p:spTree>
    <p:extLst>
      <p:ext uri="{BB962C8B-B14F-4D97-AF65-F5344CB8AC3E}">
        <p14:creationId xmlns:p14="http://schemas.microsoft.com/office/powerpoint/2010/main" val="211027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906236" y="892628"/>
            <a:ext cx="8172450" cy="5290458"/>
          </a:xfrm>
        </p:spPr>
        <p:txBody>
          <a:bodyPr>
            <a:noAutofit/>
          </a:bodyPr>
          <a:lstStyle/>
          <a:p>
            <a:r>
              <a:rPr lang="ja-JP" altLang="en-US" sz="1800" dirty="0"/>
              <a:t>１．１　概要</a:t>
            </a:r>
            <a:endParaRPr lang="en-US" altLang="ja-JP" sz="1800" dirty="0"/>
          </a:p>
          <a:p>
            <a:r>
              <a:rPr lang="ja-JP" altLang="en-US" sz="1800" dirty="0"/>
              <a:t>各システム間でデータを連携するための、中継となる</a:t>
            </a:r>
            <a:r>
              <a:rPr lang="en-US" altLang="ja-JP" sz="1800" dirty="0"/>
              <a:t>DB</a:t>
            </a:r>
            <a:r>
              <a:rPr lang="ja-JP" altLang="en-US" sz="1800" dirty="0"/>
              <a:t>を持つシステム</a:t>
            </a:r>
          </a:p>
          <a:p>
            <a:r>
              <a:rPr lang="ja-JP" altLang="en-US" sz="1800" dirty="0"/>
              <a:t>主に、夜間バッチにより、上流システムで登録したデータを連携</a:t>
            </a:r>
            <a:r>
              <a:rPr lang="en-US" altLang="ja-JP" sz="1800" dirty="0"/>
              <a:t>PF</a:t>
            </a:r>
            <a:r>
              <a:rPr lang="ja-JP" altLang="en-US" sz="1800" dirty="0"/>
              <a:t>の</a:t>
            </a:r>
            <a:r>
              <a:rPr lang="en-US" altLang="ja-JP" sz="1800" dirty="0"/>
              <a:t>DB</a:t>
            </a:r>
            <a:r>
              <a:rPr lang="ja-JP" altLang="en-US" sz="1800" dirty="0"/>
              <a:t>に登録し、下流システム向けにデータを出力</a:t>
            </a:r>
            <a:endParaRPr lang="en-US" altLang="ja-JP" sz="1800" dirty="0"/>
          </a:p>
          <a:p>
            <a:r>
              <a:rPr lang="ja-JP" altLang="en-US" sz="1800" dirty="0"/>
              <a:t>また、各システムで独自に連携しているデータの中継所</a:t>
            </a:r>
            <a:r>
              <a:rPr lang="en-US" altLang="ja-JP" sz="1800" dirty="0"/>
              <a:t>(</a:t>
            </a:r>
            <a:r>
              <a:rPr lang="ja-JP" altLang="en-US" sz="1800" dirty="0"/>
              <a:t>ファイル中間置き場</a:t>
            </a:r>
            <a:r>
              <a:rPr lang="en-US" altLang="ja-JP" sz="1800" dirty="0"/>
              <a:t>)</a:t>
            </a:r>
            <a:r>
              <a:rPr lang="ja-JP" altLang="en-US" sz="1800" dirty="0"/>
              <a:t>としても利用されている</a:t>
            </a:r>
            <a:endParaRPr lang="en-US" altLang="ja-JP" sz="1800" dirty="0"/>
          </a:p>
          <a:p>
            <a:r>
              <a:rPr lang="ja-JP" altLang="en-US" sz="1800" dirty="0"/>
              <a:t>１．２　導入経緯</a:t>
            </a:r>
            <a:endParaRPr lang="en-US" altLang="ja-JP" sz="1800" dirty="0"/>
          </a:p>
          <a:p>
            <a:r>
              <a:rPr lang="ja-JP" altLang="en-US" sz="1800" dirty="0"/>
              <a:t>・システム間で独自にデータ連携しているシステムもあれば、スタンドアロンのシステムもあり、データ連携が統一されていない状態。</a:t>
            </a:r>
          </a:p>
          <a:p>
            <a:r>
              <a:rPr lang="ja-JP" altLang="en-US" sz="1800" dirty="0"/>
              <a:t>・同じデータを各システムで何度も投入し、データ投入工数が増大</a:t>
            </a:r>
          </a:p>
          <a:p>
            <a:r>
              <a:rPr lang="ja-JP" altLang="en-US" sz="1800" dirty="0"/>
              <a:t>→上流システムで</a:t>
            </a:r>
            <a:r>
              <a:rPr lang="en-US" altLang="ja-JP" sz="1800" dirty="0"/>
              <a:t>1</a:t>
            </a:r>
            <a:r>
              <a:rPr lang="ja-JP" altLang="en-US" sz="1800" dirty="0"/>
              <a:t>回データを投入すれば、下流システムに同じデータを連携し、現場のデータ登録工数の削減を狙った。</a:t>
            </a:r>
            <a:endParaRPr lang="en-US" altLang="ja-JP" sz="1800" dirty="0"/>
          </a:p>
          <a:p>
            <a:r>
              <a:rPr lang="ja-JP" altLang="en-US" sz="1800" dirty="0"/>
              <a:t>１．３　開発保守ベンダー</a:t>
            </a:r>
            <a:endParaRPr lang="en-US" altLang="ja-JP" sz="1800" dirty="0"/>
          </a:p>
          <a:p>
            <a:r>
              <a:rPr lang="ja-JP" altLang="en-US" sz="1800" dirty="0"/>
              <a:t>大塚商会</a:t>
            </a:r>
            <a:endParaRPr lang="en-US" altLang="ja-JP" sz="1800" dirty="0"/>
          </a:p>
          <a:p>
            <a:endParaRPr lang="en-US" altLang="ja-JP" sz="1800" dirty="0"/>
          </a:p>
        </p:txBody>
      </p:sp>
      <p:sp>
        <p:nvSpPr>
          <p:cNvPr id="5" name="タイトル 29"/>
          <p:cNvSpPr txBox="1">
            <a:spLocks/>
          </p:cNvSpPr>
          <p:nvPr/>
        </p:nvSpPr>
        <p:spPr>
          <a:xfrm>
            <a:off x="230882" y="240205"/>
            <a:ext cx="2576223" cy="484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１．システム概要</a:t>
            </a:r>
          </a:p>
        </p:txBody>
      </p:sp>
    </p:spTree>
    <p:extLst>
      <p:ext uri="{BB962C8B-B14F-4D97-AF65-F5344CB8AC3E}">
        <p14:creationId xmlns:p14="http://schemas.microsoft.com/office/powerpoint/2010/main" val="287447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9"/>
          <p:cNvSpPr txBox="1">
            <a:spLocks/>
          </p:cNvSpPr>
          <p:nvPr/>
        </p:nvSpPr>
        <p:spPr>
          <a:xfrm>
            <a:off x="230882" y="240205"/>
            <a:ext cx="2576223" cy="484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２．稼働環境</a:t>
            </a:r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348360"/>
              </p:ext>
            </p:extLst>
          </p:nvPr>
        </p:nvGraphicFramePr>
        <p:xfrm>
          <a:off x="1651000" y="857552"/>
          <a:ext cx="6604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4156316676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553101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85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クラウド</a:t>
                      </a:r>
                      <a:r>
                        <a:rPr kumimoji="1" lang="en-US" altLang="ja-JP" dirty="0"/>
                        <a:t>/</a:t>
                      </a:r>
                      <a:r>
                        <a:rPr kumimoji="1" lang="ja-JP" altLang="en-US" dirty="0"/>
                        <a:t>オンプレ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AWS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61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OS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WindowsServer2016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70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SQLServer2016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418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パッケージ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Smile-V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631469"/>
                  </a:ext>
                </a:extLst>
              </a:tr>
            </a:tbl>
          </a:graphicData>
        </a:graphic>
      </p:graphicFrame>
      <p:sp>
        <p:nvSpPr>
          <p:cNvPr id="5" name="コンテンツ プレースホルダー 2"/>
          <p:cNvSpPr txBox="1">
            <a:spLocks/>
          </p:cNvSpPr>
          <p:nvPr/>
        </p:nvSpPr>
        <p:spPr>
          <a:xfrm>
            <a:off x="1323522" y="3040852"/>
            <a:ext cx="6931478" cy="30878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1800" dirty="0"/>
              <a:t>データ連携バッチは、大塚商会製のパッケージ</a:t>
            </a:r>
            <a:r>
              <a:rPr lang="en-US" altLang="ja-JP" sz="1800" dirty="0"/>
              <a:t>Smile-V</a:t>
            </a:r>
            <a:r>
              <a:rPr lang="ja-JP" altLang="en-US" sz="1800" dirty="0"/>
              <a:t>を利用して実装</a:t>
            </a:r>
            <a:endParaRPr lang="en-US" altLang="ja-JP" sz="1800" dirty="0"/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＜</a:t>
            </a:r>
            <a:r>
              <a:rPr lang="en-US" altLang="ja-JP" sz="1800" dirty="0"/>
              <a:t>Smile-V</a:t>
            </a:r>
            <a:r>
              <a:rPr lang="ja-JP" altLang="en-US" sz="1800" dirty="0"/>
              <a:t>の特徴＞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</a:t>
            </a:r>
            <a:r>
              <a:rPr lang="en-US" altLang="ja-JP" sz="1800" dirty="0"/>
              <a:t>DB</a:t>
            </a:r>
            <a:r>
              <a:rPr lang="ja-JP" altLang="en-US" sz="1800" dirty="0"/>
              <a:t>や</a:t>
            </a:r>
            <a:r>
              <a:rPr lang="en-US" altLang="ja-JP" sz="1800" dirty="0"/>
              <a:t>SQL</a:t>
            </a:r>
            <a:r>
              <a:rPr lang="ja-JP" altLang="en-US" sz="1800" dirty="0" err="1"/>
              <a:t>、</a:t>
            </a:r>
            <a:r>
              <a:rPr lang="ja-JP" altLang="en-US" sz="1800" dirty="0"/>
              <a:t>プログラム等の知識がなくても、データ取込やデータのファイル出力が可能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・純粋なプログラム実装ではないため、単純なデータの取込や出力であれば、工数が少なくて済む＝費用が抑えられる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・複雑な処理は、実現が難しい</a:t>
            </a:r>
          </a:p>
        </p:txBody>
      </p:sp>
    </p:spTree>
    <p:extLst>
      <p:ext uri="{BB962C8B-B14F-4D97-AF65-F5344CB8AC3E}">
        <p14:creationId xmlns:p14="http://schemas.microsoft.com/office/powerpoint/2010/main" val="78351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314894" y="1775911"/>
            <a:ext cx="97312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SFA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581322" y="1777309"/>
            <a:ext cx="97312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連携</a:t>
            </a:r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PF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786227" y="1778707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ほのぼの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038677" y="991539"/>
            <a:ext cx="1279315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SCW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787007" y="3122345"/>
            <a:ext cx="1279315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アセス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4786227" y="4045135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施設記録</a:t>
            </a:r>
            <a:endParaRPr kumimoji="1" lang="en-US" altLang="ja-JP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（手入力）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4786227" y="4934369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>
                <a:solidFill>
                  <a:schemeClr val="bg1">
                    <a:lumMod val="50000"/>
                  </a:schemeClr>
                </a:solidFill>
              </a:rPr>
              <a:t>AxistX</a:t>
            </a:r>
            <a:endParaRPr kumimoji="1" lang="en-US" altLang="ja-JP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直線矢印コネクタ 13"/>
          <p:cNvCxnSpPr>
            <a:stCxn id="13" idx="0"/>
            <a:endCxn id="12" idx="2"/>
          </p:cNvCxnSpPr>
          <p:nvPr/>
        </p:nvCxnSpPr>
        <p:spPr>
          <a:xfrm flipV="1">
            <a:off x="5361749" y="4573641"/>
            <a:ext cx="0" cy="3607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カギ線コネクタ 14"/>
          <p:cNvCxnSpPr>
            <a:stCxn id="11" idx="2"/>
            <a:endCxn id="12" idx="3"/>
          </p:cNvCxnSpPr>
          <p:nvPr/>
        </p:nvCxnSpPr>
        <p:spPr>
          <a:xfrm rot="5400000">
            <a:off x="6352700" y="3235422"/>
            <a:ext cx="658537" cy="148939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カギ線コネクタ 15"/>
          <p:cNvCxnSpPr>
            <a:stCxn id="8" idx="2"/>
            <a:endCxn id="11" idx="1"/>
          </p:cNvCxnSpPr>
          <p:nvPr/>
        </p:nvCxnSpPr>
        <p:spPr>
          <a:xfrm rot="16200000" flipH="1">
            <a:off x="4387054" y="986644"/>
            <a:ext cx="1080783" cy="371912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7" idx="3"/>
            <a:endCxn id="8" idx="1"/>
          </p:cNvCxnSpPr>
          <p:nvPr/>
        </p:nvCxnSpPr>
        <p:spPr>
          <a:xfrm>
            <a:off x="1288017" y="2040164"/>
            <a:ext cx="1293305" cy="139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>
            <a:stCxn id="8" idx="3"/>
            <a:endCxn id="9" idx="1"/>
          </p:cNvCxnSpPr>
          <p:nvPr/>
        </p:nvCxnSpPr>
        <p:spPr>
          <a:xfrm>
            <a:off x="3554445" y="2041562"/>
            <a:ext cx="1231782" cy="139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カギ線コネクタ 18"/>
          <p:cNvCxnSpPr>
            <a:endCxn id="11" idx="3"/>
          </p:cNvCxnSpPr>
          <p:nvPr/>
        </p:nvCxnSpPr>
        <p:spPr>
          <a:xfrm flipV="1">
            <a:off x="5937270" y="3386598"/>
            <a:ext cx="2129052" cy="1677794"/>
          </a:xfrm>
          <a:prstGeom prst="bentConnector3">
            <a:avLst>
              <a:gd name="adj1" fmla="val 11073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カギ線コネクタ 19"/>
          <p:cNvCxnSpPr>
            <a:stCxn id="10" idx="2"/>
            <a:endCxn id="9" idx="3"/>
          </p:cNvCxnSpPr>
          <p:nvPr/>
        </p:nvCxnSpPr>
        <p:spPr>
          <a:xfrm rot="5400000">
            <a:off x="6546346" y="910970"/>
            <a:ext cx="522915" cy="1741065"/>
          </a:xfrm>
          <a:prstGeom prst="bent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/>
          <p:cNvSpPr/>
          <p:nvPr/>
        </p:nvSpPr>
        <p:spPr>
          <a:xfrm>
            <a:off x="316292" y="278474"/>
            <a:ext cx="97312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company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423790" y="4661726"/>
            <a:ext cx="7675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予定データ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875583" y="4036747"/>
            <a:ext cx="11262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介護保険情報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904587" y="4856071"/>
            <a:ext cx="1068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第三表データ</a:t>
            </a: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3883018" y="4045135"/>
            <a:ext cx="903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職員情報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5986385" y="5215522"/>
            <a:ext cx="90460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408442" y="1400435"/>
            <a:ext cx="91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3635805" y="984707"/>
            <a:ext cx="919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負担割情報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325163" y="295185"/>
            <a:ext cx="12561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従業員情報</a:t>
            </a:r>
            <a:endParaRPr kumimoji="1" lang="en-US" altLang="ja-JP" sz="900" dirty="0"/>
          </a:p>
        </p:txBody>
      </p:sp>
      <p:cxnSp>
        <p:nvCxnSpPr>
          <p:cNvPr id="30" name="カギ線コネクタ 29"/>
          <p:cNvCxnSpPr>
            <a:stCxn id="21" idx="3"/>
            <a:endCxn id="8" idx="0"/>
          </p:cNvCxnSpPr>
          <p:nvPr/>
        </p:nvCxnSpPr>
        <p:spPr>
          <a:xfrm>
            <a:off x="1289415" y="542727"/>
            <a:ext cx="1778469" cy="123458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/>
          <p:cNvSpPr txBox="1"/>
          <p:nvPr/>
        </p:nvSpPr>
        <p:spPr>
          <a:xfrm>
            <a:off x="3581836" y="2435144"/>
            <a:ext cx="919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負担割情報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  <p:sp>
        <p:nvSpPr>
          <p:cNvPr id="32" name="正方形/長方形 31"/>
          <p:cNvSpPr/>
          <p:nvPr/>
        </p:nvSpPr>
        <p:spPr>
          <a:xfrm>
            <a:off x="8807349" y="2364536"/>
            <a:ext cx="97312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施設管理</a:t>
            </a:r>
          </a:p>
        </p:txBody>
      </p:sp>
      <p:cxnSp>
        <p:nvCxnSpPr>
          <p:cNvPr id="33" name="カギ線コネクタ 32"/>
          <p:cNvCxnSpPr>
            <a:stCxn id="32" idx="1"/>
            <a:endCxn id="11" idx="0"/>
          </p:cNvCxnSpPr>
          <p:nvPr/>
        </p:nvCxnSpPr>
        <p:spPr>
          <a:xfrm rot="10800000" flipV="1">
            <a:off x="7426665" y="2628789"/>
            <a:ext cx="1380684" cy="4935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/>
          <p:cNvSpPr txBox="1"/>
          <p:nvPr/>
        </p:nvSpPr>
        <p:spPr>
          <a:xfrm>
            <a:off x="7707436" y="1738159"/>
            <a:ext cx="919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負担割情報</a:t>
            </a:r>
          </a:p>
          <a:p>
            <a:r>
              <a:rPr kumimoji="1" lang="ja-JP" altLang="en-US" sz="900" dirty="0"/>
              <a:t>職員</a:t>
            </a: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6070887" y="984707"/>
            <a:ext cx="105168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</a:p>
          <a:p>
            <a:r>
              <a:rPr kumimoji="1" lang="ja-JP" altLang="en-US" sz="900" dirty="0"/>
              <a:t>住所情報</a:t>
            </a:r>
          </a:p>
          <a:p>
            <a:r>
              <a:rPr kumimoji="1" lang="ja-JP" altLang="en-US" sz="900" dirty="0"/>
              <a:t>介護保険情報</a:t>
            </a:r>
          </a:p>
          <a:p>
            <a:r>
              <a:rPr kumimoji="1" lang="ja-JP" altLang="en-US" sz="900" dirty="0"/>
              <a:t>サービス情報</a:t>
            </a:r>
          </a:p>
          <a:p>
            <a:r>
              <a:rPr kumimoji="1" lang="ja-JP" altLang="en-US" sz="900" dirty="0"/>
              <a:t>職員情報</a:t>
            </a:r>
          </a:p>
          <a:p>
            <a:r>
              <a:rPr kumimoji="1" lang="ja-JP" altLang="en-US" sz="900" dirty="0"/>
              <a:t>職員適用事業所</a:t>
            </a:r>
          </a:p>
          <a:p>
            <a:r>
              <a:rPr kumimoji="1" lang="ja-JP" altLang="en-US" sz="900" dirty="0"/>
              <a:t>サービス実績</a:t>
            </a:r>
          </a:p>
        </p:txBody>
      </p:sp>
      <p:sp>
        <p:nvSpPr>
          <p:cNvPr id="36" name="正方形/長方形 35"/>
          <p:cNvSpPr/>
          <p:nvPr/>
        </p:nvSpPr>
        <p:spPr>
          <a:xfrm>
            <a:off x="4787625" y="5715944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いきいき</a:t>
            </a:r>
            <a:endParaRPr kumimoji="1" lang="en-US" altLang="ja-JP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訪看</a:t>
            </a:r>
          </a:p>
        </p:txBody>
      </p:sp>
      <p:cxnSp>
        <p:nvCxnSpPr>
          <p:cNvPr id="37" name="カギ線コネクタ 36"/>
          <p:cNvCxnSpPr>
            <a:stCxn id="8" idx="2"/>
            <a:endCxn id="36" idx="1"/>
          </p:cNvCxnSpPr>
          <p:nvPr/>
        </p:nvCxnSpPr>
        <p:spPr>
          <a:xfrm rot="16200000" flipH="1">
            <a:off x="2090563" y="3283135"/>
            <a:ext cx="3674382" cy="171974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/>
          <p:cNvSpPr txBox="1"/>
          <p:nvPr/>
        </p:nvSpPr>
        <p:spPr>
          <a:xfrm>
            <a:off x="3094540" y="5191393"/>
            <a:ext cx="91981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負担割情報</a:t>
            </a:r>
            <a:endParaRPr kumimoji="1" lang="en-US" altLang="ja-JP" sz="900" dirty="0"/>
          </a:p>
        </p:txBody>
      </p:sp>
      <p:cxnSp>
        <p:nvCxnSpPr>
          <p:cNvPr id="39" name="カギ線コネクタ 38"/>
          <p:cNvCxnSpPr>
            <a:stCxn id="32" idx="2"/>
            <a:endCxn id="13" idx="3"/>
          </p:cNvCxnSpPr>
          <p:nvPr/>
        </p:nvCxnSpPr>
        <p:spPr>
          <a:xfrm rot="5400000">
            <a:off x="6462801" y="2367512"/>
            <a:ext cx="2305580" cy="335664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タイトル 29"/>
          <p:cNvSpPr txBox="1">
            <a:spLocks/>
          </p:cNvSpPr>
          <p:nvPr/>
        </p:nvSpPr>
        <p:spPr>
          <a:xfrm>
            <a:off x="6787008" y="185776"/>
            <a:ext cx="2791012" cy="484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３．請求</a:t>
            </a:r>
            <a:r>
              <a:rPr lang="en-US" altLang="ja-JP" sz="2400" dirty="0"/>
              <a:t>2</a:t>
            </a:r>
            <a:r>
              <a:rPr lang="ja-JP" altLang="en-US" sz="2400" dirty="0"/>
              <a:t>期前の連携概要フロー</a:t>
            </a:r>
          </a:p>
        </p:txBody>
      </p:sp>
      <p:sp>
        <p:nvSpPr>
          <p:cNvPr id="41" name="正方形/長方形 40"/>
          <p:cNvSpPr/>
          <p:nvPr/>
        </p:nvSpPr>
        <p:spPr>
          <a:xfrm>
            <a:off x="997200" y="2979033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iPad</a:t>
            </a: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安否</a:t>
            </a:r>
          </a:p>
        </p:txBody>
      </p:sp>
      <p:cxnSp>
        <p:nvCxnSpPr>
          <p:cNvPr id="42" name="カギ線コネクタ 41"/>
          <p:cNvCxnSpPr>
            <a:stCxn id="8" idx="2"/>
            <a:endCxn id="41" idx="3"/>
          </p:cNvCxnSpPr>
          <p:nvPr/>
        </p:nvCxnSpPr>
        <p:spPr>
          <a:xfrm rot="5400000">
            <a:off x="2139329" y="2314730"/>
            <a:ext cx="937471" cy="91964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/>
          <p:cNvSpPr/>
          <p:nvPr/>
        </p:nvSpPr>
        <p:spPr>
          <a:xfrm>
            <a:off x="971489" y="4131865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記録事故報告</a:t>
            </a:r>
          </a:p>
        </p:txBody>
      </p:sp>
      <p:cxnSp>
        <p:nvCxnSpPr>
          <p:cNvPr id="56" name="カギ線コネクタ 55"/>
          <p:cNvCxnSpPr>
            <a:stCxn id="8" idx="2"/>
            <a:endCxn id="55" idx="3"/>
          </p:cNvCxnSpPr>
          <p:nvPr/>
        </p:nvCxnSpPr>
        <p:spPr>
          <a:xfrm rot="5400000">
            <a:off x="1550057" y="2878290"/>
            <a:ext cx="2090303" cy="94535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/>
          <p:cNvSpPr txBox="1"/>
          <p:nvPr/>
        </p:nvSpPr>
        <p:spPr>
          <a:xfrm>
            <a:off x="2176458" y="2821415"/>
            <a:ext cx="830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施設マスタ</a:t>
            </a:r>
            <a:endParaRPr kumimoji="1" lang="en-US" altLang="ja-JP" sz="900" dirty="0"/>
          </a:p>
          <a:p>
            <a:r>
              <a:rPr kumimoji="1" lang="ja-JP" altLang="en-US" sz="900" dirty="0"/>
              <a:t>入居者マスタ</a:t>
            </a: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2155278" y="3695600"/>
            <a:ext cx="91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740809" y="4737769"/>
            <a:ext cx="1956601" cy="236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>
                <a:solidFill>
                  <a:srgbClr val="FF0000"/>
                </a:solidFill>
              </a:rPr>
              <a:t>※</a:t>
            </a:r>
            <a:r>
              <a:rPr kumimoji="1" lang="ja-JP" altLang="en-US" sz="900" dirty="0">
                <a:solidFill>
                  <a:srgbClr val="FF0000"/>
                </a:solidFill>
              </a:rPr>
              <a:t>記録事故報告は</a:t>
            </a:r>
            <a:r>
              <a:rPr lang="en-US" altLang="ja-JP" sz="900" dirty="0">
                <a:solidFill>
                  <a:srgbClr val="FF0000"/>
                </a:solidFill>
              </a:rPr>
              <a:t>2022</a:t>
            </a:r>
            <a:r>
              <a:rPr lang="ja-JP" altLang="en-US" sz="900" dirty="0">
                <a:solidFill>
                  <a:srgbClr val="FF0000"/>
                </a:solidFill>
              </a:rPr>
              <a:t>年</a:t>
            </a:r>
            <a:r>
              <a:rPr lang="en-US" altLang="ja-JP" sz="900" dirty="0">
                <a:solidFill>
                  <a:srgbClr val="FF0000"/>
                </a:solidFill>
              </a:rPr>
              <a:t>8</a:t>
            </a:r>
            <a:r>
              <a:rPr lang="ja-JP" altLang="en-US" sz="900" dirty="0">
                <a:solidFill>
                  <a:srgbClr val="FF0000"/>
                </a:solidFill>
              </a:rPr>
              <a:t>月以降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85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632506" y="1499529"/>
            <a:ext cx="97312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SFA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2898934" y="1500927"/>
            <a:ext cx="97312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連携</a:t>
            </a:r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PF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5103839" y="1502325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ほのぼの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7440179" y="715157"/>
            <a:ext cx="1279315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SCW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5162585" y="3114355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>
                <a:solidFill>
                  <a:schemeClr val="bg1">
                    <a:lumMod val="50000"/>
                  </a:schemeClr>
                </a:solidFill>
              </a:rPr>
              <a:t>egaku</a:t>
            </a:r>
            <a:endParaRPr kumimoji="1" lang="en-US" altLang="ja-JP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</a:rPr>
              <a:t>アセス</a:t>
            </a: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</a:rPr>
              <a:t>/LIFE/</a:t>
            </a:r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</a:rPr>
              <a:t>新</a:t>
            </a: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</a:rPr>
              <a:t>CMC</a:t>
            </a:r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</a:rPr>
              <a:t>等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5162585" y="4738100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施設記録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5176553" y="3823225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>
                <a:solidFill>
                  <a:schemeClr val="bg1">
                    <a:lumMod val="50000"/>
                  </a:schemeClr>
                </a:solidFill>
              </a:rPr>
              <a:t>AxistX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" name="直線矢印コネクタ 9"/>
          <p:cNvCxnSpPr>
            <a:cxnSpLocks/>
            <a:stCxn id="9" idx="2"/>
            <a:endCxn id="8" idx="0"/>
          </p:cNvCxnSpPr>
          <p:nvPr/>
        </p:nvCxnSpPr>
        <p:spPr>
          <a:xfrm flipH="1">
            <a:off x="5738107" y="4351731"/>
            <a:ext cx="13968" cy="3863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/>
          <p:cNvCxnSpPr>
            <a:cxnSpLocks/>
            <a:stCxn id="4" idx="2"/>
            <a:endCxn id="7" idx="1"/>
          </p:cNvCxnSpPr>
          <p:nvPr/>
        </p:nvCxnSpPr>
        <p:spPr>
          <a:xfrm rot="16200000" flipH="1">
            <a:off x="3599453" y="1815475"/>
            <a:ext cx="1349175" cy="17770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>
            <a:stCxn id="3" idx="3"/>
            <a:endCxn id="4" idx="1"/>
          </p:cNvCxnSpPr>
          <p:nvPr/>
        </p:nvCxnSpPr>
        <p:spPr>
          <a:xfrm>
            <a:off x="1605629" y="1763782"/>
            <a:ext cx="1293305" cy="139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>
            <a:stCxn id="4" idx="3"/>
            <a:endCxn id="5" idx="1"/>
          </p:cNvCxnSpPr>
          <p:nvPr/>
        </p:nvCxnSpPr>
        <p:spPr>
          <a:xfrm>
            <a:off x="3872057" y="1765180"/>
            <a:ext cx="1231782" cy="139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カギ線コネクタ 15"/>
          <p:cNvCxnSpPr>
            <a:stCxn id="4" idx="2"/>
            <a:endCxn id="8" idx="1"/>
          </p:cNvCxnSpPr>
          <p:nvPr/>
        </p:nvCxnSpPr>
        <p:spPr>
          <a:xfrm rot="16200000" flipH="1">
            <a:off x="2787580" y="2627348"/>
            <a:ext cx="2972920" cy="17770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カギ線コネクタ 16"/>
          <p:cNvCxnSpPr>
            <a:stCxn id="4" idx="2"/>
            <a:endCxn id="9" idx="1"/>
          </p:cNvCxnSpPr>
          <p:nvPr/>
        </p:nvCxnSpPr>
        <p:spPr>
          <a:xfrm rot="16200000" flipH="1">
            <a:off x="3252002" y="2162926"/>
            <a:ext cx="2058045" cy="179105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/>
          <p:cNvCxnSpPr>
            <a:stCxn id="6" idx="2"/>
            <a:endCxn id="5" idx="3"/>
          </p:cNvCxnSpPr>
          <p:nvPr/>
        </p:nvCxnSpPr>
        <p:spPr>
          <a:xfrm rot="5400000">
            <a:off x="6905903" y="592643"/>
            <a:ext cx="522915" cy="1824955"/>
          </a:xfrm>
          <a:prstGeom prst="bent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/>
          <p:cNvSpPr/>
          <p:nvPr/>
        </p:nvSpPr>
        <p:spPr>
          <a:xfrm>
            <a:off x="633904" y="270109"/>
            <a:ext cx="97312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company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752074" y="4416679"/>
            <a:ext cx="7675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予定データ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566985" y="3904957"/>
            <a:ext cx="903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従業員情報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542913" y="2931286"/>
            <a:ext cx="1072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lang="ja-JP" altLang="en-US" sz="900" dirty="0"/>
              <a:t>負担割合情報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726054" y="1124053"/>
            <a:ext cx="91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3953417" y="708325"/>
            <a:ext cx="91981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負担割合情報</a:t>
            </a:r>
            <a:endParaRPr kumimoji="1" lang="en-US" altLang="ja-JP" sz="900" dirty="0"/>
          </a:p>
          <a:p>
            <a:r>
              <a:rPr kumimoji="1" lang="ja-JP" altLang="en-US" sz="900" dirty="0"/>
              <a:t>従業員情報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691593" y="270109"/>
            <a:ext cx="861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従業員情報</a:t>
            </a:r>
          </a:p>
        </p:txBody>
      </p:sp>
      <p:cxnSp>
        <p:nvCxnSpPr>
          <p:cNvPr id="28" name="カギ線コネクタ 27"/>
          <p:cNvCxnSpPr>
            <a:stCxn id="19" idx="3"/>
            <a:endCxn id="4" idx="0"/>
          </p:cNvCxnSpPr>
          <p:nvPr/>
        </p:nvCxnSpPr>
        <p:spPr>
          <a:xfrm>
            <a:off x="1607027" y="534362"/>
            <a:ext cx="1778469" cy="96656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3968162" y="1976488"/>
            <a:ext cx="905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負担</a:t>
            </a:r>
            <a:r>
              <a:rPr lang="ja-JP" altLang="en-US" sz="900" dirty="0"/>
              <a:t>割合</a:t>
            </a:r>
            <a:r>
              <a:rPr kumimoji="1" lang="ja-JP" altLang="en-US" sz="900" dirty="0"/>
              <a:t>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388499" y="708325"/>
            <a:ext cx="105168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</a:p>
          <a:p>
            <a:r>
              <a:rPr kumimoji="1" lang="ja-JP" altLang="en-US" sz="900" dirty="0"/>
              <a:t>住所情報</a:t>
            </a:r>
          </a:p>
          <a:p>
            <a:r>
              <a:rPr kumimoji="1" lang="ja-JP" altLang="en-US" sz="900" dirty="0"/>
              <a:t>介護保険情報</a:t>
            </a:r>
          </a:p>
          <a:p>
            <a:r>
              <a:rPr kumimoji="1" lang="ja-JP" altLang="en-US" sz="900" dirty="0"/>
              <a:t>サービス情報</a:t>
            </a:r>
          </a:p>
          <a:p>
            <a:r>
              <a:rPr kumimoji="1" lang="ja-JP" altLang="en-US" sz="900" dirty="0"/>
              <a:t>職員情報</a:t>
            </a:r>
          </a:p>
          <a:p>
            <a:r>
              <a:rPr kumimoji="1" lang="ja-JP" altLang="en-US" sz="900" dirty="0"/>
              <a:t>職員適用事業所</a:t>
            </a:r>
          </a:p>
          <a:p>
            <a:r>
              <a:rPr kumimoji="1" lang="ja-JP" altLang="en-US" sz="900" dirty="0"/>
              <a:t>サービス実績</a:t>
            </a:r>
          </a:p>
        </p:txBody>
      </p:sp>
      <p:cxnSp>
        <p:nvCxnSpPr>
          <p:cNvPr id="31" name="カギ線コネクタ 30"/>
          <p:cNvCxnSpPr>
            <a:cxnSpLocks/>
            <a:stCxn id="4" idx="2"/>
            <a:endCxn id="33" idx="3"/>
          </p:cNvCxnSpPr>
          <p:nvPr/>
        </p:nvCxnSpPr>
        <p:spPr>
          <a:xfrm rot="5400000">
            <a:off x="1132666" y="3019299"/>
            <a:ext cx="3242697" cy="126296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2238148" y="4479371"/>
            <a:ext cx="91981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負担割情報</a:t>
            </a:r>
            <a:endParaRPr kumimoji="1" lang="en-US" altLang="ja-JP" sz="900" dirty="0"/>
          </a:p>
        </p:txBody>
      </p:sp>
      <p:sp>
        <p:nvSpPr>
          <p:cNvPr id="33" name="正方形/長方形 32"/>
          <p:cNvSpPr/>
          <p:nvPr/>
        </p:nvSpPr>
        <p:spPr>
          <a:xfrm>
            <a:off x="971488" y="5007877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いきいき</a:t>
            </a:r>
            <a:endParaRPr kumimoji="1" lang="en-US" altLang="ja-JP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訪看</a:t>
            </a:r>
          </a:p>
        </p:txBody>
      </p:sp>
      <p:cxnSp>
        <p:nvCxnSpPr>
          <p:cNvPr id="35" name="カギ線コネクタ 34"/>
          <p:cNvCxnSpPr>
            <a:cxnSpLocks/>
            <a:stCxn id="4" idx="2"/>
          </p:cNvCxnSpPr>
          <p:nvPr/>
        </p:nvCxnSpPr>
        <p:spPr>
          <a:xfrm rot="16200000" flipH="1">
            <a:off x="3971565" y="1443364"/>
            <a:ext cx="532236" cy="170437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タイトル 29"/>
          <p:cNvSpPr txBox="1">
            <a:spLocks/>
          </p:cNvSpPr>
          <p:nvPr/>
        </p:nvSpPr>
        <p:spPr>
          <a:xfrm>
            <a:off x="6254882" y="185776"/>
            <a:ext cx="3323137" cy="484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請求２期以降の連携概要フロー</a:t>
            </a:r>
          </a:p>
        </p:txBody>
      </p:sp>
      <p:sp>
        <p:nvSpPr>
          <p:cNvPr id="42" name="正方形/長方形 41"/>
          <p:cNvSpPr/>
          <p:nvPr/>
        </p:nvSpPr>
        <p:spPr>
          <a:xfrm>
            <a:off x="997200" y="2711016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>
                    <a:lumMod val="50000"/>
                  </a:schemeClr>
                </a:solidFill>
              </a:rPr>
              <a:t>iPad</a:t>
            </a:r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安否</a:t>
            </a:r>
          </a:p>
        </p:txBody>
      </p:sp>
      <p:cxnSp>
        <p:nvCxnSpPr>
          <p:cNvPr id="43" name="カギ線コネクタ 42"/>
          <p:cNvCxnSpPr>
            <a:stCxn id="4" idx="2"/>
            <a:endCxn id="42" idx="3"/>
          </p:cNvCxnSpPr>
          <p:nvPr/>
        </p:nvCxnSpPr>
        <p:spPr>
          <a:xfrm rot="5400000">
            <a:off x="2293952" y="1883725"/>
            <a:ext cx="945836" cy="123725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/>
          <p:cNvSpPr/>
          <p:nvPr/>
        </p:nvSpPr>
        <p:spPr>
          <a:xfrm>
            <a:off x="971489" y="3863848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記録事故報告</a:t>
            </a: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2176458" y="2553398"/>
            <a:ext cx="830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施設マスタ</a:t>
            </a:r>
            <a:endParaRPr kumimoji="1" lang="en-US" altLang="ja-JP" sz="900" dirty="0"/>
          </a:p>
          <a:p>
            <a:r>
              <a:rPr kumimoji="1" lang="ja-JP" altLang="en-US" sz="900" dirty="0"/>
              <a:t>入居者マスタ</a:t>
            </a: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2207234" y="3475587"/>
            <a:ext cx="91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  <p:cxnSp>
        <p:nvCxnSpPr>
          <p:cNvPr id="48" name="カギ線コネクタ 47"/>
          <p:cNvCxnSpPr>
            <a:stCxn id="4" idx="2"/>
            <a:endCxn id="44" idx="3"/>
          </p:cNvCxnSpPr>
          <p:nvPr/>
        </p:nvCxnSpPr>
        <p:spPr>
          <a:xfrm rot="5400000">
            <a:off x="1704680" y="2447285"/>
            <a:ext cx="2098668" cy="12629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A96CEC3-EA49-E07A-56E7-7E1C5C916536}"/>
              </a:ext>
            </a:extLst>
          </p:cNvPr>
          <p:cNvSpPr/>
          <p:nvPr/>
        </p:nvSpPr>
        <p:spPr>
          <a:xfrm>
            <a:off x="5095727" y="2321939"/>
            <a:ext cx="1151043" cy="528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bg1">
                    <a:lumMod val="50000"/>
                  </a:schemeClr>
                </a:solidFill>
              </a:rPr>
              <a:t>SwatPlus</a:t>
            </a:r>
            <a:endParaRPr kumimoji="1"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A2DB0489-533D-C488-0DD8-7639C8EB5D2E}"/>
              </a:ext>
            </a:extLst>
          </p:cNvPr>
          <p:cNvSpPr txBox="1"/>
          <p:nvPr/>
        </p:nvSpPr>
        <p:spPr>
          <a:xfrm>
            <a:off x="3611294" y="4544915"/>
            <a:ext cx="91981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kumimoji="1" lang="ja-JP" altLang="en-US" sz="900" dirty="0"/>
              <a:t>介護保険情報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従業員情報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88DD38-DAD5-6E33-4CB0-1F852C778407}"/>
              </a:ext>
            </a:extLst>
          </p:cNvPr>
          <p:cNvSpPr/>
          <p:nvPr/>
        </p:nvSpPr>
        <p:spPr>
          <a:xfrm>
            <a:off x="7340928" y="5662122"/>
            <a:ext cx="1151043" cy="451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>
                    <a:lumMod val="50000"/>
                  </a:schemeClr>
                </a:solidFill>
              </a:rPr>
              <a:t>個人給食</a:t>
            </a:r>
          </a:p>
        </p:txBody>
      </p:sp>
      <p:cxnSp>
        <p:nvCxnSpPr>
          <p:cNvPr id="15" name="カギ線コネクタ 47">
            <a:extLst>
              <a:ext uri="{FF2B5EF4-FFF2-40B4-BE49-F238E27FC236}">
                <a16:creationId xmlns:a16="http://schemas.microsoft.com/office/drawing/2014/main" id="{F78CE0FC-728A-674F-AA89-45B036AEDEE9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>
          <a:xfrm rot="16200000" flipH="1">
            <a:off x="3433901" y="1981028"/>
            <a:ext cx="3858623" cy="39554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1025D07-C9C4-B2AC-8D88-A97F18766645}"/>
              </a:ext>
            </a:extLst>
          </p:cNvPr>
          <p:cNvSpPr txBox="1"/>
          <p:nvPr/>
        </p:nvSpPr>
        <p:spPr>
          <a:xfrm>
            <a:off x="6388499" y="5467658"/>
            <a:ext cx="919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顧客情報</a:t>
            </a:r>
            <a:endParaRPr kumimoji="1" lang="en-US" altLang="ja-JP" sz="900" dirty="0"/>
          </a:p>
          <a:p>
            <a:r>
              <a:rPr lang="ja-JP" altLang="en-US" sz="900" dirty="0"/>
              <a:t>住所情報</a:t>
            </a:r>
            <a:endParaRPr kumimoji="1" lang="en-US" altLang="ja-JP" sz="900" dirty="0"/>
          </a:p>
          <a:p>
            <a:r>
              <a:rPr kumimoji="1" lang="ja-JP" altLang="en-US" sz="900" dirty="0"/>
              <a:t>サービス情報</a:t>
            </a:r>
            <a:endParaRPr kumimoji="1" lang="en-US" altLang="ja-JP" sz="900" dirty="0"/>
          </a:p>
          <a:p>
            <a:r>
              <a:rPr kumimoji="1" lang="ja-JP" altLang="en-US" sz="900" dirty="0"/>
              <a:t>事業所情報</a:t>
            </a:r>
          </a:p>
        </p:txBody>
      </p:sp>
    </p:spTree>
    <p:extLst>
      <p:ext uri="{BB962C8B-B14F-4D97-AF65-F5344CB8AC3E}">
        <p14:creationId xmlns:p14="http://schemas.microsoft.com/office/powerpoint/2010/main" val="206758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9"/>
          <p:cNvSpPr txBox="1">
            <a:spLocks/>
          </p:cNvSpPr>
          <p:nvPr/>
        </p:nvSpPr>
        <p:spPr>
          <a:xfrm>
            <a:off x="230882" y="240205"/>
            <a:ext cx="3165461" cy="484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４．バッチスケジュール</a:t>
            </a:r>
          </a:p>
        </p:txBody>
      </p:sp>
    </p:spTree>
    <p:extLst>
      <p:ext uri="{BB962C8B-B14F-4D97-AF65-F5344CB8AC3E}">
        <p14:creationId xmlns:p14="http://schemas.microsoft.com/office/powerpoint/2010/main" val="14317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9"/>
          <p:cNvSpPr txBox="1">
            <a:spLocks/>
          </p:cNvSpPr>
          <p:nvPr/>
        </p:nvSpPr>
        <p:spPr>
          <a:xfrm>
            <a:off x="230882" y="240205"/>
            <a:ext cx="4210489" cy="484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５．</a:t>
            </a:r>
            <a:r>
              <a:rPr lang="en-US" altLang="ja-JP" sz="2400" dirty="0"/>
              <a:t>2022</a:t>
            </a:r>
            <a:r>
              <a:rPr lang="ja-JP" altLang="en-US" sz="2400" dirty="0"/>
              <a:t>年度以降の計画</a:t>
            </a:r>
          </a:p>
        </p:txBody>
      </p:sp>
      <p:sp>
        <p:nvSpPr>
          <p:cNvPr id="3" name="コンテンツ プレースホルダー 2"/>
          <p:cNvSpPr txBox="1">
            <a:spLocks/>
          </p:cNvSpPr>
          <p:nvPr/>
        </p:nvSpPr>
        <p:spPr>
          <a:xfrm>
            <a:off x="866775" y="724393"/>
            <a:ext cx="8172450" cy="538430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/>
              <a:t>2022/07/04</a:t>
            </a:r>
            <a:r>
              <a:rPr lang="ja-JP" altLang="en-US" sz="1600" dirty="0"/>
              <a:t>　業務エラー通知改善のリリース</a:t>
            </a:r>
            <a:endParaRPr lang="en-US" altLang="ja-JP" sz="1600" dirty="0"/>
          </a:p>
          <a:p>
            <a:pPr>
              <a:lnSpc>
                <a:spcPct val="100000"/>
              </a:lnSpc>
            </a:pPr>
            <a:r>
              <a:rPr lang="en-US" altLang="ja-JP" sz="1600" dirty="0"/>
              <a:t>(</a:t>
            </a:r>
            <a:r>
              <a:rPr lang="ja-JP" altLang="en-US" sz="1600" dirty="0"/>
              <a:t>課題</a:t>
            </a:r>
            <a:r>
              <a:rPr lang="en-US" altLang="ja-JP" sz="1600" dirty="0"/>
              <a:t>)</a:t>
            </a:r>
            <a:r>
              <a:rPr lang="ja-JP" altLang="en-US" sz="1600" dirty="0"/>
              <a:t>　下記により対応工数が増大　</a:t>
            </a:r>
            <a:br>
              <a:rPr lang="ja-JP" altLang="en-US" sz="1600" dirty="0"/>
            </a:br>
            <a:r>
              <a:rPr lang="ja-JP" altLang="en-US" sz="1600" dirty="0"/>
              <a:t>　　・サービス重複</a:t>
            </a:r>
            <a:br>
              <a:rPr lang="ja-JP" altLang="en-US" sz="1600" dirty="0"/>
            </a:br>
            <a:r>
              <a:rPr lang="ja-JP" altLang="en-US" sz="1600" dirty="0"/>
              <a:t>　　・見込客時に登録したデータが未更新 </a:t>
            </a:r>
            <a:endParaRPr lang="en-US" altLang="ja-JP" sz="1600" dirty="0"/>
          </a:p>
          <a:p>
            <a:pPr>
              <a:lnSpc>
                <a:spcPct val="100000"/>
              </a:lnSpc>
            </a:pPr>
            <a:r>
              <a:rPr lang="en-US" altLang="ja-JP" sz="1600" dirty="0"/>
              <a:t>(</a:t>
            </a:r>
            <a:r>
              <a:rPr lang="ja-JP" altLang="en-US" sz="1600" dirty="0"/>
              <a:t>改修内容</a:t>
            </a:r>
            <a:r>
              <a:rPr lang="en-US" altLang="ja-JP" sz="1600" dirty="0"/>
              <a:t>)SFA/</a:t>
            </a:r>
            <a:r>
              <a:rPr lang="ja-JP" altLang="en-US" sz="1600" dirty="0"/>
              <a:t>ほのぼのから取り込むサービス情報に対し、　　</a:t>
            </a:r>
            <a:endParaRPr lang="en-US" altLang="ja-JP" sz="1600" dirty="0"/>
          </a:p>
          <a:p>
            <a:pPr>
              <a:lnSpc>
                <a:spcPct val="100000"/>
              </a:lnSpc>
            </a:pPr>
            <a:r>
              <a:rPr lang="ja-JP" altLang="en-US" sz="1600" dirty="0"/>
              <a:t>　　・重複チェックを実施</a:t>
            </a:r>
            <a:br>
              <a:rPr lang="ja-JP" altLang="en-US" sz="1600" dirty="0"/>
            </a:br>
            <a:r>
              <a:rPr lang="ja-JP" altLang="en-US" sz="1600" dirty="0"/>
              <a:t>　　・見込客時に登録したデータで、更新できなかったパターンに対応</a:t>
            </a:r>
            <a:endParaRPr lang="en-US" altLang="ja-JP" sz="1600" dirty="0"/>
          </a:p>
          <a:p>
            <a:pPr>
              <a:lnSpc>
                <a:spcPct val="100000"/>
              </a:lnSpc>
            </a:pPr>
            <a:r>
              <a:rPr lang="en-US" altLang="ja-JP" sz="1600" dirty="0"/>
              <a:t>2022/09</a:t>
            </a:r>
            <a:r>
              <a:rPr lang="ja-JP" altLang="en-US" sz="1600" dirty="0"/>
              <a:t>月　記録事故報告が連携</a:t>
            </a:r>
            <a:r>
              <a:rPr lang="en-US" altLang="ja-JP" sz="1600" dirty="0"/>
              <a:t>PF</a:t>
            </a:r>
            <a:r>
              <a:rPr lang="ja-JP" altLang="en-US" sz="1600" dirty="0"/>
              <a:t>と連携開始</a:t>
            </a:r>
            <a:endParaRPr lang="en-US" altLang="ja-JP" sz="1600" dirty="0"/>
          </a:p>
          <a:p>
            <a:r>
              <a:rPr lang="en-US" altLang="ja-JP" sz="1600" dirty="0"/>
              <a:t>2023/06</a:t>
            </a:r>
            <a:r>
              <a:rPr lang="ja-JP" altLang="en-US" sz="1600" dirty="0"/>
              <a:t>月　請求</a:t>
            </a:r>
            <a:r>
              <a:rPr lang="en-US" altLang="ja-JP" sz="1600" dirty="0"/>
              <a:t>2</a:t>
            </a:r>
            <a:r>
              <a:rPr lang="ja-JP" altLang="en-US" sz="1600" dirty="0"/>
              <a:t>期と同時に以下をリリース</a:t>
            </a:r>
            <a:endParaRPr lang="en-US" altLang="ja-JP" sz="1600" dirty="0"/>
          </a:p>
          <a:p>
            <a:r>
              <a:rPr lang="ja-JP" altLang="en-US" sz="1600" dirty="0"/>
              <a:t>　　・</a:t>
            </a:r>
            <a:r>
              <a:rPr lang="en-US" altLang="ja-JP" sz="1600" dirty="0" err="1"/>
              <a:t>SwatPlus</a:t>
            </a:r>
            <a:r>
              <a:rPr lang="ja-JP" altLang="en-US" sz="1600" dirty="0"/>
              <a:t>、記録システム、</a:t>
            </a:r>
            <a:r>
              <a:rPr lang="en-US" altLang="ja-JP" sz="1600" dirty="0" err="1"/>
              <a:t>egaku</a:t>
            </a:r>
            <a:r>
              <a:rPr lang="ja-JP" altLang="en-US" sz="1600" dirty="0"/>
              <a:t>が連携</a:t>
            </a:r>
            <a:r>
              <a:rPr lang="en-US" altLang="ja-JP" sz="1600" dirty="0"/>
              <a:t>PF</a:t>
            </a:r>
            <a:r>
              <a:rPr lang="ja-JP" altLang="en-US" sz="1600" dirty="0"/>
              <a:t>と連携開始</a:t>
            </a:r>
            <a:br>
              <a:rPr lang="ja-JP" altLang="en-US" sz="1600" dirty="0"/>
            </a:br>
            <a:r>
              <a:rPr lang="ja-JP" altLang="en-US" sz="1600" dirty="0"/>
              <a:t>　　・短期利用対応</a:t>
            </a:r>
            <a:br>
              <a:rPr lang="ja-JP" altLang="en-US" sz="1600" dirty="0"/>
            </a:br>
            <a:r>
              <a:rPr lang="ja-JP" altLang="en-US" sz="1600" dirty="0"/>
              <a:t>　　・クラウド化</a:t>
            </a:r>
            <a:endParaRPr lang="en-US" altLang="ja-JP" sz="1600" dirty="0"/>
          </a:p>
          <a:p>
            <a:r>
              <a:rPr lang="en-US" altLang="ja-JP" sz="1600" dirty="0"/>
              <a:t>2026</a:t>
            </a:r>
            <a:r>
              <a:rPr lang="ja-JP" altLang="en-US" sz="1600" dirty="0"/>
              <a:t>年度　</a:t>
            </a:r>
            <a:r>
              <a:rPr lang="en-US" altLang="ja-JP" sz="1600" dirty="0"/>
              <a:t>DB</a:t>
            </a:r>
            <a:r>
              <a:rPr lang="ja-JP" altLang="en-US" sz="1600" dirty="0"/>
              <a:t>、</a:t>
            </a:r>
            <a:r>
              <a:rPr lang="en-US" altLang="ja-JP" sz="1600" dirty="0"/>
              <a:t>OS</a:t>
            </a:r>
            <a:r>
              <a:rPr lang="ja-JP" altLang="en-US" sz="1600" dirty="0"/>
              <a:t>、</a:t>
            </a:r>
            <a:r>
              <a:rPr lang="en-US" altLang="ja-JP" sz="1600" dirty="0" err="1"/>
              <a:t>SmileV</a:t>
            </a:r>
            <a:r>
              <a:rPr lang="ja-JP" altLang="en-US" sz="1600" dirty="0"/>
              <a:t>のバージョンアップ</a:t>
            </a:r>
            <a:endParaRPr lang="en-US" altLang="ja-JP" sz="1600" dirty="0"/>
          </a:p>
          <a:p>
            <a:r>
              <a:rPr lang="ja-JP" altLang="en-US" sz="1600" dirty="0"/>
              <a:t>　　・</a:t>
            </a:r>
            <a:r>
              <a:rPr lang="en-US" altLang="ja-JP" sz="1600" dirty="0"/>
              <a:t>SQLServer2016</a:t>
            </a:r>
            <a:r>
              <a:rPr lang="ja-JP" altLang="en-US" sz="1600" dirty="0"/>
              <a:t>：</a:t>
            </a:r>
            <a:r>
              <a:rPr lang="en-US" altLang="ja-JP" sz="1600" dirty="0"/>
              <a:t>2026/07/14</a:t>
            </a:r>
            <a:br>
              <a:rPr lang="ja-JP" altLang="en-US" sz="1600" dirty="0"/>
            </a:br>
            <a:r>
              <a:rPr lang="ja-JP" altLang="en-US" sz="1600" dirty="0"/>
              <a:t>　　・</a:t>
            </a:r>
            <a:r>
              <a:rPr lang="en-US" altLang="ja-JP" sz="1600" dirty="0"/>
              <a:t>WindowsServer2016</a:t>
            </a:r>
            <a:r>
              <a:rPr lang="ja-JP" altLang="en-US" sz="1600" dirty="0"/>
              <a:t>：</a:t>
            </a:r>
            <a:r>
              <a:rPr lang="en-US" altLang="ja-JP" sz="1600" dirty="0"/>
              <a:t>2027/01/12</a:t>
            </a:r>
            <a:br>
              <a:rPr lang="ja-JP" altLang="en-US" sz="1600" dirty="0"/>
            </a:br>
            <a:r>
              <a:rPr lang="ja-JP" altLang="en-US" sz="1600" dirty="0"/>
              <a:t>　　・</a:t>
            </a:r>
            <a:r>
              <a:rPr lang="en-US" altLang="ja-JP" sz="1600" dirty="0" err="1"/>
              <a:t>SmileV</a:t>
            </a:r>
            <a:r>
              <a:rPr lang="ja-JP" altLang="en-US" sz="1600" dirty="0"/>
              <a:t>：</a:t>
            </a:r>
            <a:r>
              <a:rPr lang="en-US" altLang="ja-JP" sz="1600" dirty="0"/>
              <a:t>2027/05</a:t>
            </a:r>
            <a:r>
              <a:rPr lang="ja-JP" altLang="en-US" sz="1600" dirty="0"/>
              <a:t>月末</a:t>
            </a:r>
            <a:endParaRPr lang="en-US" altLang="ja-JP" sz="1600" dirty="0"/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01990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9"/>
          <p:cNvSpPr txBox="1">
            <a:spLocks/>
          </p:cNvSpPr>
          <p:nvPr/>
        </p:nvSpPr>
        <p:spPr>
          <a:xfrm>
            <a:off x="230882" y="240205"/>
            <a:ext cx="2576223" cy="484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/>
              <a:t>６．費用</a:t>
            </a:r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022020"/>
              </p:ext>
            </p:extLst>
          </p:nvPr>
        </p:nvGraphicFramePr>
        <p:xfrm>
          <a:off x="1338943" y="3731381"/>
          <a:ext cx="635725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6167">
                  <a:extLst>
                    <a:ext uri="{9D8B030D-6E8A-4147-A177-3AD203B41FA5}">
                      <a16:colId xmlns:a16="http://schemas.microsoft.com/office/drawing/2014/main" val="3883666893"/>
                    </a:ext>
                  </a:extLst>
                </a:gridCol>
                <a:gridCol w="1701090">
                  <a:extLst>
                    <a:ext uri="{9D8B030D-6E8A-4147-A177-3AD203B41FA5}">
                      <a16:colId xmlns:a16="http://schemas.microsoft.com/office/drawing/2014/main" val="2006610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保守費用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年間</a:t>
                      </a:r>
                      <a:r>
                        <a:rPr kumimoji="1" lang="en-US" altLang="ja-JP" dirty="0"/>
                        <a:t>)</a:t>
                      </a:r>
                      <a:r>
                        <a:rPr kumimoji="1" lang="ja-JP" altLang="en-US" dirty="0"/>
                        <a:t>　</a:t>
                      </a:r>
                      <a:r>
                        <a:rPr kumimoji="1" lang="en-US" altLang="ja-JP" dirty="0"/>
                        <a:t>※2025</a:t>
                      </a:r>
                      <a:r>
                        <a:rPr kumimoji="1" lang="ja-JP" altLang="en-US" dirty="0"/>
                        <a:t>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34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パッケージ保守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198.000</a:t>
                      </a:r>
                      <a:r>
                        <a:rPr kumimoji="1" lang="ja-JP" altLang="en-US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618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カスタマイズ保守　～</a:t>
                      </a:r>
                      <a:r>
                        <a:rPr kumimoji="1" lang="en-US" altLang="ja-JP" dirty="0"/>
                        <a:t>2021</a:t>
                      </a:r>
                      <a:r>
                        <a:rPr kumimoji="1" lang="ja-JP" altLang="en-US" dirty="0"/>
                        <a:t>年度分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363,000</a:t>
                      </a:r>
                      <a:r>
                        <a:rPr kumimoji="1" lang="ja-JP" altLang="en-US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330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カスタマイズ保守　～</a:t>
                      </a:r>
                      <a:r>
                        <a:rPr kumimoji="1" lang="en-US" altLang="ja-JP" dirty="0"/>
                        <a:t>2022</a:t>
                      </a:r>
                      <a:r>
                        <a:rPr kumimoji="1" lang="ja-JP" altLang="en-US" dirty="0"/>
                        <a:t>年度以降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718,080</a:t>
                      </a:r>
                      <a:r>
                        <a:rPr kumimoji="1" lang="ja-JP" altLang="en-US" dirty="0"/>
                        <a:t>円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10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1,293,360</a:t>
                      </a:r>
                      <a:r>
                        <a:rPr kumimoji="1" lang="ja-JP" altLang="en-US" dirty="0"/>
                        <a:t>円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025695"/>
                  </a:ext>
                </a:extLst>
              </a:tr>
            </a:tbl>
          </a:graphicData>
        </a:graphic>
      </p:graphicFrame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27814"/>
              </p:ext>
            </p:extLst>
          </p:nvPr>
        </p:nvGraphicFramePr>
        <p:xfrm>
          <a:off x="1379293" y="1175052"/>
          <a:ext cx="631690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9707">
                  <a:extLst>
                    <a:ext uri="{9D8B030D-6E8A-4147-A177-3AD203B41FA5}">
                      <a16:colId xmlns:a16="http://schemas.microsoft.com/office/drawing/2014/main" val="388366689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6610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改修案件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34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2022</a:t>
                      </a:r>
                      <a:r>
                        <a:rPr kumimoji="1" lang="ja-JP" altLang="en-US" dirty="0"/>
                        <a:t>年度　業務エラー通知改善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7,490,000</a:t>
                      </a:r>
                      <a:r>
                        <a:rPr kumimoji="1" lang="ja-JP" altLang="en-US" dirty="0"/>
                        <a:t>円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02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2023</a:t>
                      </a:r>
                      <a:r>
                        <a:rPr kumimoji="1" lang="ja-JP" altLang="en-US" dirty="0"/>
                        <a:t>年度　短期利用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3,299,000</a:t>
                      </a:r>
                      <a:r>
                        <a:rPr kumimoji="1" lang="ja-JP" altLang="en-US" dirty="0"/>
                        <a:t>円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266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2023</a:t>
                      </a:r>
                      <a:r>
                        <a:rPr kumimoji="1" lang="ja-JP" altLang="en-US" dirty="0"/>
                        <a:t>年度　クラウドリフト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1,638,000</a:t>
                      </a:r>
                      <a:r>
                        <a:rPr kumimoji="1" lang="ja-JP" altLang="en-US" dirty="0"/>
                        <a:t>円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90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12,227,000</a:t>
                      </a:r>
                      <a:r>
                        <a:rPr kumimoji="1" lang="ja-JP" altLang="en-US" dirty="0"/>
                        <a:t>円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5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252717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1276</TotalTime>
  <Words>779</Words>
  <Application>Microsoft Office PowerPoint</Application>
  <PresentationFormat>A4 210 x 297 mm</PresentationFormat>
  <Paragraphs>195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レトロスペクト</vt:lpstr>
      <vt:lpstr>連携プラットフォームについて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SOMPOケアネクスト株式会社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sup95016</dc:creator>
  <cp:lastModifiedBy>sup92871</cp:lastModifiedBy>
  <cp:revision>61</cp:revision>
  <dcterms:created xsi:type="dcterms:W3CDTF">2021-03-30T07:04:00Z</dcterms:created>
  <dcterms:modified xsi:type="dcterms:W3CDTF">2025-05-21T08:22:23Z</dcterms:modified>
</cp:coreProperties>
</file>