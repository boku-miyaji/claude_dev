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147481593" r:id="rId2"/>
    <p:sldId id="2147481594" r:id="rId3"/>
    <p:sldId id="2147481595" r:id="rId4"/>
    <p:sldId id="2147481525" r:id="rId5"/>
    <p:sldId id="2147481559" r:id="rId6"/>
    <p:sldId id="2147481558" r:id="rId7"/>
    <p:sldId id="2147481560" r:id="rId8"/>
    <p:sldId id="2147481561" r:id="rId9"/>
    <p:sldId id="2147481562" r:id="rId10"/>
    <p:sldId id="2147481538" r:id="rId11"/>
    <p:sldId id="2147481543" r:id="rId12"/>
    <p:sldId id="2147481563" r:id="rId13"/>
    <p:sldId id="2147481564" r:id="rId14"/>
    <p:sldId id="2147481565" r:id="rId15"/>
    <p:sldId id="2147481566" r:id="rId16"/>
    <p:sldId id="2147481567" r:id="rId17"/>
    <p:sldId id="2147481551" r:id="rId18"/>
    <p:sldId id="2147481541" r:id="rId19"/>
    <p:sldId id="2147481255" r:id="rId20"/>
    <p:sldId id="2147481554" r:id="rId21"/>
    <p:sldId id="258" r:id="rId22"/>
    <p:sldId id="2147481544" r:id="rId23"/>
    <p:sldId id="2147481582" r:id="rId24"/>
    <p:sldId id="2147481597" r:id="rId25"/>
    <p:sldId id="2147481585" r:id="rId26"/>
    <p:sldId id="2147481586" r:id="rId27"/>
    <p:sldId id="2147481587" r:id="rId28"/>
    <p:sldId id="2147481588" r:id="rId29"/>
    <p:sldId id="2147481589" r:id="rId30"/>
    <p:sldId id="2147481590" r:id="rId31"/>
    <p:sldId id="2147481591" r:id="rId32"/>
    <p:sldId id="2147481592" r:id="rId33"/>
    <p:sldId id="2147481578" r:id="rId34"/>
    <p:sldId id="2147481555" r:id="rId35"/>
    <p:sldId id="2147481579" r:id="rId36"/>
    <p:sldId id="2147481598" r:id="rId3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68"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1FF57A-F69C-40D7-9A77-12E8361CAC50}" type="datetimeFigureOut">
              <a:rPr kumimoji="1" lang="ja-JP" altLang="en-US" smtClean="0"/>
              <a:t>2025/10/30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C2A93E-0D40-4A8D-AC80-E3E83AC868C0}" type="slidenum">
              <a:rPr kumimoji="1" lang="ja-JP" altLang="en-US" smtClean="0"/>
              <a:t>‹#›</a:t>
            </a:fld>
            <a:endParaRPr kumimoji="1" lang="ja-JP" altLang="en-US"/>
          </a:p>
        </p:txBody>
      </p:sp>
    </p:spTree>
    <p:extLst>
      <p:ext uri="{BB962C8B-B14F-4D97-AF65-F5344CB8AC3E}">
        <p14:creationId xmlns:p14="http://schemas.microsoft.com/office/powerpoint/2010/main" val="169276391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pPr defTabSz="500235" fontAlgn="base">
              <a:spcBef>
                <a:spcPct val="0"/>
              </a:spcBef>
              <a:spcAft>
                <a:spcPct val="0"/>
              </a:spcAft>
              <a:defRPr/>
            </a:pPr>
            <a:fld id="{0E165DDE-3247-4284-B381-46110EF8C5EB}" type="slidenum">
              <a:rPr lang="ja-JP" altLang="en-US">
                <a:solidFill>
                  <a:prstClr val="black"/>
                </a:solidFill>
                <a:latin typeface="Calibri" pitchFamily="34" charset="0"/>
                <a:ea typeface="ＭＳ Ｐゴシック" pitchFamily="50" charset="-128"/>
              </a:rPr>
              <a:pPr defTabSz="500235" fontAlgn="base">
                <a:spcBef>
                  <a:spcPct val="0"/>
                </a:spcBef>
                <a:spcAft>
                  <a:spcPct val="0"/>
                </a:spcAft>
                <a:defRPr/>
              </a:pPr>
              <a:t>5</a:t>
            </a:fld>
            <a:endParaRPr lang="en-US" altLang="ja-JP" dirty="0">
              <a:solidFill>
                <a:prstClr val="black"/>
              </a:solidFill>
              <a:latin typeface="Calibri" pitchFamily="34" charset="0"/>
              <a:ea typeface="ＭＳ Ｐゴシック" pitchFamily="50" charset="-128"/>
            </a:endParaRPr>
          </a:p>
        </p:txBody>
      </p:sp>
    </p:spTree>
    <p:extLst>
      <p:ext uri="{BB962C8B-B14F-4D97-AF65-F5344CB8AC3E}">
        <p14:creationId xmlns:p14="http://schemas.microsoft.com/office/powerpoint/2010/main" val="2705333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49F0D64-C780-1B13-A086-46EF24A2746B}"/>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FC0B6D3-C2AC-779E-B1B5-B4980EE1B8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E11EC5A4-3FC8-94B4-AC43-7F5D44EF0586}"/>
              </a:ext>
            </a:extLst>
          </p:cNvPr>
          <p:cNvSpPr>
            <a:spLocks noGrp="1"/>
          </p:cNvSpPr>
          <p:nvPr>
            <p:ph type="dt" sz="half" idx="10"/>
          </p:nvPr>
        </p:nvSpPr>
        <p:spPr/>
        <p:txBody>
          <a:bodyPr/>
          <a:lstStyle/>
          <a:p>
            <a:fld id="{6DD5D418-3557-485B-A7A8-881BD1CF4DDC}" type="datetimeFigureOut">
              <a:rPr kumimoji="1" lang="ja-JP" altLang="en-US" smtClean="0"/>
              <a:t>2025/10/30</a:t>
            </a:fld>
            <a:endParaRPr kumimoji="1" lang="ja-JP" altLang="en-US"/>
          </a:p>
        </p:txBody>
      </p:sp>
      <p:sp>
        <p:nvSpPr>
          <p:cNvPr id="5" name="フッター プレースホルダー 4">
            <a:extLst>
              <a:ext uri="{FF2B5EF4-FFF2-40B4-BE49-F238E27FC236}">
                <a16:creationId xmlns:a16="http://schemas.microsoft.com/office/drawing/2014/main" id="{4F211287-27F5-001A-0134-7B58FE5CFA3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4DCDD4-A317-A2C7-87F0-ABE0A2380622}"/>
              </a:ext>
            </a:extLst>
          </p:cNvPr>
          <p:cNvSpPr>
            <a:spLocks noGrp="1"/>
          </p:cNvSpPr>
          <p:nvPr>
            <p:ph type="sldNum" sz="quarter" idx="12"/>
          </p:nvPr>
        </p:nvSpPr>
        <p:spPr/>
        <p:txBody>
          <a:bodyPr/>
          <a:lstStyle/>
          <a:p>
            <a:fld id="{69A6620E-7A5F-4752-B41D-FCA0D7E9C01E}" type="slidenum">
              <a:rPr kumimoji="1" lang="ja-JP" altLang="en-US" smtClean="0"/>
              <a:t>‹#›</a:t>
            </a:fld>
            <a:endParaRPr kumimoji="1" lang="ja-JP" altLang="en-US"/>
          </a:p>
        </p:txBody>
      </p:sp>
    </p:spTree>
    <p:extLst>
      <p:ext uri="{BB962C8B-B14F-4D97-AF65-F5344CB8AC3E}">
        <p14:creationId xmlns:p14="http://schemas.microsoft.com/office/powerpoint/2010/main" val="35415001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4D6EB52-5E99-F228-C270-C5E531C9488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BCD4663-31B2-1C1F-985D-30B4B430BDCB}"/>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0E3F875-4DB6-FA0B-58CA-36F1896B8924}"/>
              </a:ext>
            </a:extLst>
          </p:cNvPr>
          <p:cNvSpPr>
            <a:spLocks noGrp="1"/>
          </p:cNvSpPr>
          <p:nvPr>
            <p:ph type="dt" sz="half" idx="10"/>
          </p:nvPr>
        </p:nvSpPr>
        <p:spPr/>
        <p:txBody>
          <a:bodyPr/>
          <a:lstStyle/>
          <a:p>
            <a:fld id="{6DD5D418-3557-485B-A7A8-881BD1CF4DDC}" type="datetimeFigureOut">
              <a:rPr kumimoji="1" lang="ja-JP" altLang="en-US" smtClean="0"/>
              <a:t>2025/10/30</a:t>
            </a:fld>
            <a:endParaRPr kumimoji="1" lang="ja-JP" altLang="en-US"/>
          </a:p>
        </p:txBody>
      </p:sp>
      <p:sp>
        <p:nvSpPr>
          <p:cNvPr id="5" name="フッター プレースホルダー 4">
            <a:extLst>
              <a:ext uri="{FF2B5EF4-FFF2-40B4-BE49-F238E27FC236}">
                <a16:creationId xmlns:a16="http://schemas.microsoft.com/office/drawing/2014/main" id="{3F9405A0-491A-D752-41C5-0827E159C38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5CE4F3-248B-3EA8-F058-42A9FE1D9221}"/>
              </a:ext>
            </a:extLst>
          </p:cNvPr>
          <p:cNvSpPr>
            <a:spLocks noGrp="1"/>
          </p:cNvSpPr>
          <p:nvPr>
            <p:ph type="sldNum" sz="quarter" idx="12"/>
          </p:nvPr>
        </p:nvSpPr>
        <p:spPr/>
        <p:txBody>
          <a:bodyPr/>
          <a:lstStyle/>
          <a:p>
            <a:fld id="{69A6620E-7A5F-4752-B41D-FCA0D7E9C01E}" type="slidenum">
              <a:rPr kumimoji="1" lang="ja-JP" altLang="en-US" smtClean="0"/>
              <a:t>‹#›</a:t>
            </a:fld>
            <a:endParaRPr kumimoji="1" lang="ja-JP" altLang="en-US"/>
          </a:p>
        </p:txBody>
      </p:sp>
    </p:spTree>
    <p:extLst>
      <p:ext uri="{BB962C8B-B14F-4D97-AF65-F5344CB8AC3E}">
        <p14:creationId xmlns:p14="http://schemas.microsoft.com/office/powerpoint/2010/main" val="1097236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D6A4D88-BC7A-F546-4100-AEBE89BE568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9E6D963-C093-1464-67BC-9C57D7F521A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214F3FC4-FE78-49AD-51F9-A6542F259B60}"/>
              </a:ext>
            </a:extLst>
          </p:cNvPr>
          <p:cNvSpPr>
            <a:spLocks noGrp="1"/>
          </p:cNvSpPr>
          <p:nvPr>
            <p:ph type="dt" sz="half" idx="10"/>
          </p:nvPr>
        </p:nvSpPr>
        <p:spPr/>
        <p:txBody>
          <a:bodyPr/>
          <a:lstStyle/>
          <a:p>
            <a:fld id="{6DD5D418-3557-485B-A7A8-881BD1CF4DDC}" type="datetimeFigureOut">
              <a:rPr kumimoji="1" lang="ja-JP" altLang="en-US" smtClean="0"/>
              <a:t>2025/10/30</a:t>
            </a:fld>
            <a:endParaRPr kumimoji="1" lang="ja-JP" altLang="en-US"/>
          </a:p>
        </p:txBody>
      </p:sp>
      <p:sp>
        <p:nvSpPr>
          <p:cNvPr id="5" name="フッター プレースホルダー 4">
            <a:extLst>
              <a:ext uri="{FF2B5EF4-FFF2-40B4-BE49-F238E27FC236}">
                <a16:creationId xmlns:a16="http://schemas.microsoft.com/office/drawing/2014/main" id="{6C89F559-6049-A7BB-D204-9EBCD8F514C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1CF86BF-9533-CBC4-B9CD-4AB4CF98452E}"/>
              </a:ext>
            </a:extLst>
          </p:cNvPr>
          <p:cNvSpPr>
            <a:spLocks noGrp="1"/>
          </p:cNvSpPr>
          <p:nvPr>
            <p:ph type="sldNum" sz="quarter" idx="12"/>
          </p:nvPr>
        </p:nvSpPr>
        <p:spPr/>
        <p:txBody>
          <a:bodyPr/>
          <a:lstStyle/>
          <a:p>
            <a:fld id="{69A6620E-7A5F-4752-B41D-FCA0D7E9C01E}" type="slidenum">
              <a:rPr kumimoji="1" lang="ja-JP" altLang="en-US" smtClean="0"/>
              <a:t>‹#›</a:t>
            </a:fld>
            <a:endParaRPr kumimoji="1" lang="ja-JP" altLang="en-US"/>
          </a:p>
        </p:txBody>
      </p:sp>
    </p:spTree>
    <p:extLst>
      <p:ext uri="{BB962C8B-B14F-4D97-AF65-F5344CB8AC3E}">
        <p14:creationId xmlns:p14="http://schemas.microsoft.com/office/powerpoint/2010/main" val="149026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2C4E8B-8106-6BF4-5718-3A82E214297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C00CB2F-DA2A-2AEC-7154-2D60DB1CAB8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C2D7B446-C118-F6EA-B0C1-42C1ECB67BF1}"/>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45642D7A-EE79-4219-82B5-63F7121DCABA}"/>
              </a:ext>
            </a:extLst>
          </p:cNvPr>
          <p:cNvSpPr>
            <a:spLocks noGrp="1"/>
          </p:cNvSpPr>
          <p:nvPr>
            <p:ph type="dt" sz="half" idx="10"/>
          </p:nvPr>
        </p:nvSpPr>
        <p:spPr/>
        <p:txBody>
          <a:bodyPr/>
          <a:lstStyle/>
          <a:p>
            <a:fld id="{6DD5D418-3557-485B-A7A8-881BD1CF4DDC}" type="datetimeFigureOut">
              <a:rPr kumimoji="1" lang="ja-JP" altLang="en-US" smtClean="0"/>
              <a:t>2025/10/30</a:t>
            </a:fld>
            <a:endParaRPr kumimoji="1" lang="ja-JP" altLang="en-US"/>
          </a:p>
        </p:txBody>
      </p:sp>
      <p:sp>
        <p:nvSpPr>
          <p:cNvPr id="6" name="フッター プレースホルダー 5">
            <a:extLst>
              <a:ext uri="{FF2B5EF4-FFF2-40B4-BE49-F238E27FC236}">
                <a16:creationId xmlns:a16="http://schemas.microsoft.com/office/drawing/2014/main" id="{D8230C30-85DA-3A25-169A-73DA789E827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FA960EE-A240-4A04-EBFB-7E843E8B95CB}"/>
              </a:ext>
            </a:extLst>
          </p:cNvPr>
          <p:cNvSpPr>
            <a:spLocks noGrp="1"/>
          </p:cNvSpPr>
          <p:nvPr>
            <p:ph type="sldNum" sz="quarter" idx="12"/>
          </p:nvPr>
        </p:nvSpPr>
        <p:spPr/>
        <p:txBody>
          <a:bodyPr/>
          <a:lstStyle/>
          <a:p>
            <a:fld id="{69A6620E-7A5F-4752-B41D-FCA0D7E9C01E}" type="slidenum">
              <a:rPr kumimoji="1" lang="ja-JP" altLang="en-US" smtClean="0"/>
              <a:t>‹#›</a:t>
            </a:fld>
            <a:endParaRPr kumimoji="1" lang="ja-JP" altLang="en-US"/>
          </a:p>
        </p:txBody>
      </p:sp>
    </p:spTree>
    <p:extLst>
      <p:ext uri="{BB962C8B-B14F-4D97-AF65-F5344CB8AC3E}">
        <p14:creationId xmlns:p14="http://schemas.microsoft.com/office/powerpoint/2010/main" val="16364853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442135-F944-6845-1624-9255355BB24D}"/>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9B60856-72FE-AF62-A6EE-1D0331BE8F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2181F5B-EB17-D108-4035-09A219F282FA}"/>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C5D2D780-5B71-3696-7A4A-CC68388C60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D9BCE272-DF31-83B6-6985-3CA2E85188C2}"/>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17BFADAC-E4AE-102E-F596-62E97F4363BF}"/>
              </a:ext>
            </a:extLst>
          </p:cNvPr>
          <p:cNvSpPr>
            <a:spLocks noGrp="1"/>
          </p:cNvSpPr>
          <p:nvPr>
            <p:ph type="dt" sz="half" idx="10"/>
          </p:nvPr>
        </p:nvSpPr>
        <p:spPr/>
        <p:txBody>
          <a:bodyPr/>
          <a:lstStyle/>
          <a:p>
            <a:fld id="{6DD5D418-3557-485B-A7A8-881BD1CF4DDC}" type="datetimeFigureOut">
              <a:rPr kumimoji="1" lang="ja-JP" altLang="en-US" smtClean="0"/>
              <a:t>2025/10/30</a:t>
            </a:fld>
            <a:endParaRPr kumimoji="1" lang="ja-JP" altLang="en-US"/>
          </a:p>
        </p:txBody>
      </p:sp>
      <p:sp>
        <p:nvSpPr>
          <p:cNvPr id="8" name="フッター プレースホルダー 7">
            <a:extLst>
              <a:ext uri="{FF2B5EF4-FFF2-40B4-BE49-F238E27FC236}">
                <a16:creationId xmlns:a16="http://schemas.microsoft.com/office/drawing/2014/main" id="{3A52EC01-1163-750A-4067-F5B499575471}"/>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41A8D71E-6264-466E-774D-5B7E83BD252C}"/>
              </a:ext>
            </a:extLst>
          </p:cNvPr>
          <p:cNvSpPr>
            <a:spLocks noGrp="1"/>
          </p:cNvSpPr>
          <p:nvPr>
            <p:ph type="sldNum" sz="quarter" idx="12"/>
          </p:nvPr>
        </p:nvSpPr>
        <p:spPr/>
        <p:txBody>
          <a:bodyPr/>
          <a:lstStyle/>
          <a:p>
            <a:fld id="{69A6620E-7A5F-4752-B41D-FCA0D7E9C01E}" type="slidenum">
              <a:rPr kumimoji="1" lang="ja-JP" altLang="en-US" smtClean="0"/>
              <a:t>‹#›</a:t>
            </a:fld>
            <a:endParaRPr kumimoji="1" lang="ja-JP" altLang="en-US"/>
          </a:p>
        </p:txBody>
      </p:sp>
    </p:spTree>
    <p:extLst>
      <p:ext uri="{BB962C8B-B14F-4D97-AF65-F5344CB8AC3E}">
        <p14:creationId xmlns:p14="http://schemas.microsoft.com/office/powerpoint/2010/main" val="1165001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F5847BA-91C8-1092-4C6A-0AEB0B7963C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0D8FCDA6-4599-CA28-7913-D8E8DE5A6C7A}"/>
              </a:ext>
            </a:extLst>
          </p:cNvPr>
          <p:cNvSpPr>
            <a:spLocks noGrp="1"/>
          </p:cNvSpPr>
          <p:nvPr>
            <p:ph type="dt" sz="half" idx="10"/>
          </p:nvPr>
        </p:nvSpPr>
        <p:spPr/>
        <p:txBody>
          <a:bodyPr/>
          <a:lstStyle/>
          <a:p>
            <a:fld id="{6DD5D418-3557-485B-A7A8-881BD1CF4DDC}" type="datetimeFigureOut">
              <a:rPr kumimoji="1" lang="ja-JP" altLang="en-US" smtClean="0"/>
              <a:t>2025/10/30</a:t>
            </a:fld>
            <a:endParaRPr kumimoji="1" lang="ja-JP" altLang="en-US"/>
          </a:p>
        </p:txBody>
      </p:sp>
      <p:sp>
        <p:nvSpPr>
          <p:cNvPr id="4" name="フッター プレースホルダー 3">
            <a:extLst>
              <a:ext uri="{FF2B5EF4-FFF2-40B4-BE49-F238E27FC236}">
                <a16:creationId xmlns:a16="http://schemas.microsoft.com/office/drawing/2014/main" id="{F2E33808-CB21-B262-175D-C11995CE1CF1}"/>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7C1BF24D-E409-9716-36F7-0C0AF717AA14}"/>
              </a:ext>
            </a:extLst>
          </p:cNvPr>
          <p:cNvSpPr>
            <a:spLocks noGrp="1"/>
          </p:cNvSpPr>
          <p:nvPr>
            <p:ph type="sldNum" sz="quarter" idx="12"/>
          </p:nvPr>
        </p:nvSpPr>
        <p:spPr/>
        <p:txBody>
          <a:bodyPr/>
          <a:lstStyle/>
          <a:p>
            <a:fld id="{69A6620E-7A5F-4752-B41D-FCA0D7E9C01E}" type="slidenum">
              <a:rPr kumimoji="1" lang="ja-JP" altLang="en-US" smtClean="0"/>
              <a:t>‹#›</a:t>
            </a:fld>
            <a:endParaRPr kumimoji="1" lang="ja-JP" altLang="en-US"/>
          </a:p>
        </p:txBody>
      </p:sp>
    </p:spTree>
    <p:extLst>
      <p:ext uri="{BB962C8B-B14F-4D97-AF65-F5344CB8AC3E}">
        <p14:creationId xmlns:p14="http://schemas.microsoft.com/office/powerpoint/2010/main" val="1402069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2A20128C-8FBC-B025-C4B6-2A0EDDB02BB1}"/>
              </a:ext>
            </a:extLst>
          </p:cNvPr>
          <p:cNvSpPr>
            <a:spLocks noGrp="1"/>
          </p:cNvSpPr>
          <p:nvPr>
            <p:ph type="dt" sz="half" idx="10"/>
          </p:nvPr>
        </p:nvSpPr>
        <p:spPr/>
        <p:txBody>
          <a:bodyPr/>
          <a:lstStyle/>
          <a:p>
            <a:fld id="{6DD5D418-3557-485B-A7A8-881BD1CF4DDC}" type="datetimeFigureOut">
              <a:rPr kumimoji="1" lang="ja-JP" altLang="en-US" smtClean="0"/>
              <a:t>2025/10/30</a:t>
            </a:fld>
            <a:endParaRPr kumimoji="1" lang="ja-JP" altLang="en-US"/>
          </a:p>
        </p:txBody>
      </p:sp>
      <p:sp>
        <p:nvSpPr>
          <p:cNvPr id="3" name="フッター プレースホルダー 2">
            <a:extLst>
              <a:ext uri="{FF2B5EF4-FFF2-40B4-BE49-F238E27FC236}">
                <a16:creationId xmlns:a16="http://schemas.microsoft.com/office/drawing/2014/main" id="{96BCA57D-B76A-2F42-365C-E44F619A610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108594B-D675-F5E6-7719-AD514A369DA7}"/>
              </a:ext>
            </a:extLst>
          </p:cNvPr>
          <p:cNvSpPr>
            <a:spLocks noGrp="1"/>
          </p:cNvSpPr>
          <p:nvPr>
            <p:ph type="sldNum" sz="quarter" idx="12"/>
          </p:nvPr>
        </p:nvSpPr>
        <p:spPr/>
        <p:txBody>
          <a:bodyPr/>
          <a:lstStyle/>
          <a:p>
            <a:fld id="{69A6620E-7A5F-4752-B41D-FCA0D7E9C01E}" type="slidenum">
              <a:rPr kumimoji="1" lang="ja-JP" altLang="en-US" smtClean="0"/>
              <a:t>‹#›</a:t>
            </a:fld>
            <a:endParaRPr kumimoji="1" lang="ja-JP" altLang="en-US"/>
          </a:p>
        </p:txBody>
      </p:sp>
    </p:spTree>
    <p:extLst>
      <p:ext uri="{BB962C8B-B14F-4D97-AF65-F5344CB8AC3E}">
        <p14:creationId xmlns:p14="http://schemas.microsoft.com/office/powerpoint/2010/main" val="4065831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32DE64-D101-142A-E08A-36905280EAA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EE3ECBD-F6B3-BE6A-E34C-FD8D85A949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3D8B14C9-D299-C0F2-2615-305B96E71E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799B674-4753-1950-8BE8-92186D591762}"/>
              </a:ext>
            </a:extLst>
          </p:cNvPr>
          <p:cNvSpPr>
            <a:spLocks noGrp="1"/>
          </p:cNvSpPr>
          <p:nvPr>
            <p:ph type="dt" sz="half" idx="10"/>
          </p:nvPr>
        </p:nvSpPr>
        <p:spPr/>
        <p:txBody>
          <a:bodyPr/>
          <a:lstStyle/>
          <a:p>
            <a:fld id="{6DD5D418-3557-485B-A7A8-881BD1CF4DDC}" type="datetimeFigureOut">
              <a:rPr kumimoji="1" lang="ja-JP" altLang="en-US" smtClean="0"/>
              <a:t>2025/10/30</a:t>
            </a:fld>
            <a:endParaRPr kumimoji="1" lang="ja-JP" altLang="en-US"/>
          </a:p>
        </p:txBody>
      </p:sp>
      <p:sp>
        <p:nvSpPr>
          <p:cNvPr id="6" name="フッター プレースホルダー 5">
            <a:extLst>
              <a:ext uri="{FF2B5EF4-FFF2-40B4-BE49-F238E27FC236}">
                <a16:creationId xmlns:a16="http://schemas.microsoft.com/office/drawing/2014/main" id="{B1E557FF-EE65-70A2-DF5D-F250AAABB19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65F2B52-0122-920D-99C0-42382473CCCB}"/>
              </a:ext>
            </a:extLst>
          </p:cNvPr>
          <p:cNvSpPr>
            <a:spLocks noGrp="1"/>
          </p:cNvSpPr>
          <p:nvPr>
            <p:ph type="sldNum" sz="quarter" idx="12"/>
          </p:nvPr>
        </p:nvSpPr>
        <p:spPr/>
        <p:txBody>
          <a:bodyPr/>
          <a:lstStyle/>
          <a:p>
            <a:fld id="{69A6620E-7A5F-4752-B41D-FCA0D7E9C01E}" type="slidenum">
              <a:rPr kumimoji="1" lang="ja-JP" altLang="en-US" smtClean="0"/>
              <a:t>‹#›</a:t>
            </a:fld>
            <a:endParaRPr kumimoji="1" lang="ja-JP" altLang="en-US"/>
          </a:p>
        </p:txBody>
      </p:sp>
    </p:spTree>
    <p:extLst>
      <p:ext uri="{BB962C8B-B14F-4D97-AF65-F5344CB8AC3E}">
        <p14:creationId xmlns:p14="http://schemas.microsoft.com/office/powerpoint/2010/main" val="37953746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0A97A9F-A4CC-8C43-167C-252F2F92FDE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D66E9FA-AA33-A9A4-7111-12A9D816BA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2EC5722-2B53-27DD-D684-1F620A8D38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EBA43E5-03BE-3057-729A-E2189400AE19}"/>
              </a:ext>
            </a:extLst>
          </p:cNvPr>
          <p:cNvSpPr>
            <a:spLocks noGrp="1"/>
          </p:cNvSpPr>
          <p:nvPr>
            <p:ph type="dt" sz="half" idx="10"/>
          </p:nvPr>
        </p:nvSpPr>
        <p:spPr/>
        <p:txBody>
          <a:bodyPr/>
          <a:lstStyle/>
          <a:p>
            <a:fld id="{6DD5D418-3557-485B-A7A8-881BD1CF4DDC}" type="datetimeFigureOut">
              <a:rPr kumimoji="1" lang="ja-JP" altLang="en-US" smtClean="0"/>
              <a:t>2025/10/30</a:t>
            </a:fld>
            <a:endParaRPr kumimoji="1" lang="ja-JP" altLang="en-US"/>
          </a:p>
        </p:txBody>
      </p:sp>
      <p:sp>
        <p:nvSpPr>
          <p:cNvPr id="6" name="フッター プレースホルダー 5">
            <a:extLst>
              <a:ext uri="{FF2B5EF4-FFF2-40B4-BE49-F238E27FC236}">
                <a16:creationId xmlns:a16="http://schemas.microsoft.com/office/drawing/2014/main" id="{B8F14294-A121-C592-7642-78DD1CC538C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B385D70-282D-77B0-2BE2-84E50AC1BF60}"/>
              </a:ext>
            </a:extLst>
          </p:cNvPr>
          <p:cNvSpPr>
            <a:spLocks noGrp="1"/>
          </p:cNvSpPr>
          <p:nvPr>
            <p:ph type="sldNum" sz="quarter" idx="12"/>
          </p:nvPr>
        </p:nvSpPr>
        <p:spPr/>
        <p:txBody>
          <a:bodyPr/>
          <a:lstStyle/>
          <a:p>
            <a:fld id="{69A6620E-7A5F-4752-B41D-FCA0D7E9C01E}" type="slidenum">
              <a:rPr kumimoji="1" lang="ja-JP" altLang="en-US" smtClean="0"/>
              <a:t>‹#›</a:t>
            </a:fld>
            <a:endParaRPr kumimoji="1" lang="ja-JP" altLang="en-US"/>
          </a:p>
        </p:txBody>
      </p:sp>
    </p:spTree>
    <p:extLst>
      <p:ext uri="{BB962C8B-B14F-4D97-AF65-F5344CB8AC3E}">
        <p14:creationId xmlns:p14="http://schemas.microsoft.com/office/powerpoint/2010/main" val="3164132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C3107F-99A9-A359-47CD-816039A87022}"/>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F29862B-F395-ACBB-E35A-8EB07023BEC4}"/>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F0E1D04-BFF9-CFC4-C36B-67F39CEA94A8}"/>
              </a:ext>
            </a:extLst>
          </p:cNvPr>
          <p:cNvSpPr>
            <a:spLocks noGrp="1"/>
          </p:cNvSpPr>
          <p:nvPr>
            <p:ph type="dt" sz="half" idx="10"/>
          </p:nvPr>
        </p:nvSpPr>
        <p:spPr/>
        <p:txBody>
          <a:bodyPr/>
          <a:lstStyle/>
          <a:p>
            <a:fld id="{6DD5D418-3557-485B-A7A8-881BD1CF4DDC}" type="datetimeFigureOut">
              <a:rPr kumimoji="1" lang="ja-JP" altLang="en-US" smtClean="0"/>
              <a:t>2025/10/30</a:t>
            </a:fld>
            <a:endParaRPr kumimoji="1" lang="ja-JP" altLang="en-US"/>
          </a:p>
        </p:txBody>
      </p:sp>
      <p:sp>
        <p:nvSpPr>
          <p:cNvPr id="5" name="フッター プレースホルダー 4">
            <a:extLst>
              <a:ext uri="{FF2B5EF4-FFF2-40B4-BE49-F238E27FC236}">
                <a16:creationId xmlns:a16="http://schemas.microsoft.com/office/drawing/2014/main" id="{C0BE9886-BB40-BF95-98CD-773516D8B6E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90E3ECD-1426-849F-30BB-6759130BC953}"/>
              </a:ext>
            </a:extLst>
          </p:cNvPr>
          <p:cNvSpPr>
            <a:spLocks noGrp="1"/>
          </p:cNvSpPr>
          <p:nvPr>
            <p:ph type="sldNum" sz="quarter" idx="12"/>
          </p:nvPr>
        </p:nvSpPr>
        <p:spPr/>
        <p:txBody>
          <a:bodyPr/>
          <a:lstStyle/>
          <a:p>
            <a:fld id="{69A6620E-7A5F-4752-B41D-FCA0D7E9C01E}" type="slidenum">
              <a:rPr kumimoji="1" lang="ja-JP" altLang="en-US" smtClean="0"/>
              <a:t>‹#›</a:t>
            </a:fld>
            <a:endParaRPr kumimoji="1" lang="ja-JP" altLang="en-US"/>
          </a:p>
        </p:txBody>
      </p:sp>
    </p:spTree>
    <p:extLst>
      <p:ext uri="{BB962C8B-B14F-4D97-AF65-F5344CB8AC3E}">
        <p14:creationId xmlns:p14="http://schemas.microsoft.com/office/powerpoint/2010/main" val="21180605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BBEC466-3563-0284-EE93-07551F95C64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B250AC1-08E6-9E19-336D-1C0B38DE04A3}"/>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516B928-4D01-A5BE-7DC0-3DE77383DE16}"/>
              </a:ext>
            </a:extLst>
          </p:cNvPr>
          <p:cNvSpPr>
            <a:spLocks noGrp="1"/>
          </p:cNvSpPr>
          <p:nvPr>
            <p:ph type="dt" sz="half" idx="10"/>
          </p:nvPr>
        </p:nvSpPr>
        <p:spPr/>
        <p:txBody>
          <a:bodyPr/>
          <a:lstStyle/>
          <a:p>
            <a:fld id="{6DD5D418-3557-485B-A7A8-881BD1CF4DDC}" type="datetimeFigureOut">
              <a:rPr kumimoji="1" lang="ja-JP" altLang="en-US" smtClean="0"/>
              <a:t>2025/10/30</a:t>
            </a:fld>
            <a:endParaRPr kumimoji="1" lang="ja-JP" altLang="en-US"/>
          </a:p>
        </p:txBody>
      </p:sp>
      <p:sp>
        <p:nvSpPr>
          <p:cNvPr id="5" name="フッター プレースホルダー 4">
            <a:extLst>
              <a:ext uri="{FF2B5EF4-FFF2-40B4-BE49-F238E27FC236}">
                <a16:creationId xmlns:a16="http://schemas.microsoft.com/office/drawing/2014/main" id="{54CCE971-3CD6-55CB-F1E4-127E62F699D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9BC90E6-0797-6D17-C5BA-BCF3EAEAF178}"/>
              </a:ext>
            </a:extLst>
          </p:cNvPr>
          <p:cNvSpPr>
            <a:spLocks noGrp="1"/>
          </p:cNvSpPr>
          <p:nvPr>
            <p:ph type="sldNum" sz="quarter" idx="12"/>
          </p:nvPr>
        </p:nvSpPr>
        <p:spPr/>
        <p:txBody>
          <a:bodyPr/>
          <a:lstStyle/>
          <a:p>
            <a:fld id="{69A6620E-7A5F-4752-B41D-FCA0D7E9C01E}" type="slidenum">
              <a:rPr kumimoji="1" lang="ja-JP" altLang="en-US" smtClean="0"/>
              <a:t>‹#›</a:t>
            </a:fld>
            <a:endParaRPr kumimoji="1" lang="ja-JP" altLang="en-US"/>
          </a:p>
        </p:txBody>
      </p:sp>
    </p:spTree>
    <p:extLst>
      <p:ext uri="{BB962C8B-B14F-4D97-AF65-F5344CB8AC3E}">
        <p14:creationId xmlns:p14="http://schemas.microsoft.com/office/powerpoint/2010/main" val="10946189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タイトル黒">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0"/>
          </p:nvPr>
        </p:nvSpPr>
        <p:spPr>
          <a:xfrm>
            <a:off x="703813" y="1029810"/>
            <a:ext cx="10784376" cy="5380516"/>
          </a:xfrm>
          <a:prstGeom prst="rect">
            <a:avLst/>
          </a:prstGeom>
        </p:spPr>
        <p:txBody>
          <a:bodyPr/>
          <a:lstStyle>
            <a:lvl1pPr marL="0" indent="0">
              <a:buNone/>
              <a:defRPr sz="1800">
                <a:latin typeface="+mn-ea"/>
                <a:ea typeface="+mn-ea"/>
                <a:cs typeface="メイリオ" panose="020B0604030504040204" pitchFamily="50" charset="-128"/>
              </a:defRPr>
            </a:lvl1pPr>
            <a:lvl2pPr>
              <a:defRPr sz="1800">
                <a:latin typeface="メイリオ" panose="020B0604030504040204" pitchFamily="50" charset="-128"/>
                <a:ea typeface="メイリオ" panose="020B0604030504040204" pitchFamily="50" charset="-128"/>
                <a:cs typeface="メイリオ" panose="020B0604030504040204" pitchFamily="50" charset="-128"/>
              </a:defRPr>
            </a:lvl2pPr>
            <a:lvl3pPr>
              <a:defRPr sz="1600">
                <a:latin typeface="メイリオ" panose="020B0604030504040204" pitchFamily="50" charset="-128"/>
                <a:ea typeface="メイリオ" panose="020B0604030504040204" pitchFamily="50" charset="-128"/>
                <a:cs typeface="メイリオ" panose="020B0604030504040204" pitchFamily="50" charset="-128"/>
              </a:defRPr>
            </a:lvl3pPr>
            <a:lvl4pPr>
              <a:defRPr sz="1400"/>
            </a:lvl4pPr>
            <a:lvl5pPr>
              <a:defRPr sz="1400"/>
            </a:lvl5pPr>
          </a:lstStyle>
          <a:p>
            <a:pPr lvl="0"/>
            <a:r>
              <a:rPr kumimoji="1" lang="ja-JP" altLang="en-US" dirty="0"/>
              <a:t>マスター テキストの書式設定</a:t>
            </a:r>
          </a:p>
        </p:txBody>
      </p:sp>
      <p:sp>
        <p:nvSpPr>
          <p:cNvPr id="5" name="タイトル 3"/>
          <p:cNvSpPr>
            <a:spLocks noGrp="1"/>
          </p:cNvSpPr>
          <p:nvPr>
            <p:ph type="title"/>
          </p:nvPr>
        </p:nvSpPr>
        <p:spPr>
          <a:xfrm>
            <a:off x="326207" y="219885"/>
            <a:ext cx="11547741" cy="516048"/>
          </a:xfrm>
          <a:prstGeom prst="rect">
            <a:avLst/>
          </a:prstGeom>
        </p:spPr>
        <p:txBody>
          <a:bodyPr anchor="ctr"/>
          <a:lstStyle>
            <a:lvl1pPr algn="l">
              <a:defRPr sz="2400" b="1">
                <a:latin typeface="+mj-ea"/>
                <a:ea typeface="+mj-ea"/>
                <a:cs typeface="メイリオ" panose="020B0604030504040204" pitchFamily="50" charset="-128"/>
              </a:defRPr>
            </a:lvl1pPr>
          </a:lstStyle>
          <a:p>
            <a:r>
              <a:rPr kumimoji="1" lang="ja-JP" altLang="en-US" dirty="0"/>
              <a:t>マスター タイトルの書式設定</a:t>
            </a:r>
          </a:p>
        </p:txBody>
      </p:sp>
      <p:cxnSp>
        <p:nvCxnSpPr>
          <p:cNvPr id="2" name="直線コネクタ 1">
            <a:extLst>
              <a:ext uri="{FF2B5EF4-FFF2-40B4-BE49-F238E27FC236}">
                <a16:creationId xmlns:a16="http://schemas.microsoft.com/office/drawing/2014/main" id="{B1C00C06-867B-7964-588D-4EBB4C604A44}"/>
              </a:ext>
            </a:extLst>
          </p:cNvPr>
          <p:cNvCxnSpPr>
            <a:cxnSpLocks/>
          </p:cNvCxnSpPr>
          <p:nvPr userDrawn="1"/>
        </p:nvCxnSpPr>
        <p:spPr>
          <a:xfrm>
            <a:off x="1" y="682174"/>
            <a:ext cx="12192000" cy="0"/>
          </a:xfrm>
          <a:prstGeom prst="line">
            <a:avLst/>
          </a:prstGeom>
          <a:ln w="3492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14074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ユーザー設定レイアウト">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a:xfrm>
            <a:off x="838200" y="6356352"/>
            <a:ext cx="2743200" cy="365125"/>
          </a:xfrm>
          <a:prstGeom prst="rect">
            <a:avLst/>
          </a:prstGeom>
        </p:spPr>
        <p:txBody>
          <a:bodyPr/>
          <a:lstStyle/>
          <a:p>
            <a:fld id="{6A98D5DA-5B19-4B76-ACE3-12EF74348704}" type="datetimeFigureOut">
              <a:rPr kumimoji="1" lang="ja-JP" altLang="en-US" smtClean="0"/>
              <a:t>2025/10/30</a:t>
            </a:fld>
            <a:endParaRPr kumimoji="1" lang="ja-JP" altLang="en-US"/>
          </a:p>
        </p:txBody>
      </p:sp>
      <p:sp>
        <p:nvSpPr>
          <p:cNvPr id="4" name="フッター プレースホルダー 3"/>
          <p:cNvSpPr>
            <a:spLocks noGrp="1"/>
          </p:cNvSpPr>
          <p:nvPr>
            <p:ph type="ftr" sz="quarter" idx="11"/>
          </p:nvPr>
        </p:nvSpPr>
        <p:spPr>
          <a:xfrm>
            <a:off x="4038602" y="6356352"/>
            <a:ext cx="4114800" cy="365125"/>
          </a:xfrm>
          <a:prstGeom prst="rect">
            <a:avLst/>
          </a:prstGeom>
        </p:spPr>
        <p:txBody>
          <a:bodyPr/>
          <a:lstStyle/>
          <a:p>
            <a:endParaRPr kumimoji="1" lang="ja-JP" altLang="en-US"/>
          </a:p>
        </p:txBody>
      </p:sp>
      <p:sp>
        <p:nvSpPr>
          <p:cNvPr id="5" name="スライド番号プレースホルダー 4"/>
          <p:cNvSpPr>
            <a:spLocks noGrp="1"/>
          </p:cNvSpPr>
          <p:nvPr>
            <p:ph type="sldNum" sz="quarter" idx="12"/>
          </p:nvPr>
        </p:nvSpPr>
        <p:spPr>
          <a:xfrm>
            <a:off x="8610600" y="6356352"/>
            <a:ext cx="2743200" cy="365125"/>
          </a:xfrm>
          <a:prstGeom prst="rect">
            <a:avLst/>
          </a:prstGeom>
        </p:spPr>
        <p:txBody>
          <a:bodyPr/>
          <a:lstStyle/>
          <a:p>
            <a:fld id="{3DD405F2-7060-4310-9530-DD91A0CBBA22}" type="slidenum">
              <a:rPr kumimoji="1" lang="ja-JP" altLang="en-US" smtClean="0"/>
              <a:t>‹#›</a:t>
            </a:fld>
            <a:endParaRPr kumimoji="1" lang="ja-JP" altLang="en-US"/>
          </a:p>
        </p:txBody>
      </p:sp>
    </p:spTree>
    <p:extLst>
      <p:ext uri="{BB962C8B-B14F-4D97-AF65-F5344CB8AC3E}">
        <p14:creationId xmlns:p14="http://schemas.microsoft.com/office/powerpoint/2010/main" val="1955882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7B998A99-F5E5-6A12-3C11-0C175A2A7F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81D8308-00CA-D344-A65A-DB9C6A7DB9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7C37130-C994-384A-0BFC-03CF193689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DD5D418-3557-485B-A7A8-881BD1CF4DDC}" type="datetimeFigureOut">
              <a:rPr kumimoji="1" lang="ja-JP" altLang="en-US" smtClean="0"/>
              <a:t>2025/10/30</a:t>
            </a:fld>
            <a:endParaRPr kumimoji="1" lang="ja-JP" altLang="en-US"/>
          </a:p>
        </p:txBody>
      </p:sp>
      <p:sp>
        <p:nvSpPr>
          <p:cNvPr id="5" name="フッター プレースホルダー 4">
            <a:extLst>
              <a:ext uri="{FF2B5EF4-FFF2-40B4-BE49-F238E27FC236}">
                <a16:creationId xmlns:a16="http://schemas.microsoft.com/office/drawing/2014/main" id="{118A7ED5-B562-45B5-5D90-217C5783E1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0468FBF2-4E4C-F3DC-7C5E-663F7747D4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9A6620E-7A5F-4752-B41D-FCA0D7E9C01E}" type="slidenum">
              <a:rPr kumimoji="1" lang="ja-JP" altLang="en-US" smtClean="0"/>
              <a:t>‹#›</a:t>
            </a:fld>
            <a:endParaRPr kumimoji="1" lang="ja-JP" altLang="en-US"/>
          </a:p>
        </p:txBody>
      </p:sp>
    </p:spTree>
    <p:extLst>
      <p:ext uri="{BB962C8B-B14F-4D97-AF65-F5344CB8AC3E}">
        <p14:creationId xmlns:p14="http://schemas.microsoft.com/office/powerpoint/2010/main" val="34630580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E863902-45D5-807F-AF51-0C3AF7FA33F3}"/>
              </a:ext>
            </a:extLst>
          </p:cNvPr>
          <p:cNvSpPr txBox="1"/>
          <p:nvPr/>
        </p:nvSpPr>
        <p:spPr>
          <a:xfrm>
            <a:off x="419877" y="106300"/>
            <a:ext cx="2031325" cy="461665"/>
          </a:xfrm>
          <a:prstGeom prst="rect">
            <a:avLst/>
          </a:prstGeom>
          <a:noFill/>
        </p:spPr>
        <p:txBody>
          <a:bodyPr wrap="none" rtlCol="0">
            <a:spAutoFit/>
          </a:bodyPr>
          <a:lstStyle/>
          <a:p>
            <a:r>
              <a:rPr kumimoji="1" lang="ja-JP" altLang="en-US" sz="2400" b="1" dirty="0"/>
              <a:t>＜全体目次＞</a:t>
            </a:r>
          </a:p>
        </p:txBody>
      </p:sp>
      <p:sp>
        <p:nvSpPr>
          <p:cNvPr id="5" name="テキスト ボックス 4">
            <a:extLst>
              <a:ext uri="{FF2B5EF4-FFF2-40B4-BE49-F238E27FC236}">
                <a16:creationId xmlns:a16="http://schemas.microsoft.com/office/drawing/2014/main" id="{1155EEEB-F70B-C43E-7402-292CA236EB88}"/>
              </a:ext>
            </a:extLst>
          </p:cNvPr>
          <p:cNvSpPr txBox="1"/>
          <p:nvPr/>
        </p:nvSpPr>
        <p:spPr>
          <a:xfrm>
            <a:off x="774440" y="937297"/>
            <a:ext cx="7539243" cy="2585323"/>
          </a:xfrm>
          <a:prstGeom prst="rect">
            <a:avLst/>
          </a:prstGeom>
          <a:noFill/>
        </p:spPr>
        <p:txBody>
          <a:bodyPr wrap="none" rtlCol="0">
            <a:spAutoFit/>
          </a:bodyPr>
          <a:lstStyle/>
          <a:p>
            <a:r>
              <a:rPr lang="en-US" altLang="ja-JP" sz="1800" u="none" strike="noStrike" dirty="0">
                <a:effectLst/>
              </a:rPr>
              <a:t>2-1 Foundry </a:t>
            </a:r>
            <a:r>
              <a:rPr lang="ja-JP" altLang="en-US" sz="1800" u="none" strike="noStrike" dirty="0">
                <a:effectLst/>
              </a:rPr>
              <a:t>環境概要（</a:t>
            </a:r>
            <a:r>
              <a:rPr kumimoji="1" lang="en-US" altLang="ja-JP" dirty="0"/>
              <a:t>Foundry</a:t>
            </a:r>
            <a:r>
              <a:rPr kumimoji="1" lang="ja-JP" altLang="en-US" dirty="0"/>
              <a:t>のデータ加工処理の概要）</a:t>
            </a:r>
            <a:endParaRPr kumimoji="1" lang="en-US" altLang="ja-JP" dirty="0"/>
          </a:p>
          <a:p>
            <a:r>
              <a:rPr lang="en-US" altLang="ja-JP" dirty="0"/>
              <a:t> 1)</a:t>
            </a:r>
            <a:r>
              <a:rPr lang="ja-JP" altLang="en-US" dirty="0"/>
              <a:t>データ加工のフロー全体図 </a:t>
            </a:r>
            <a:r>
              <a:rPr lang="en-US" altLang="ja-JP" dirty="0"/>
              <a:t>				       P4</a:t>
            </a:r>
          </a:p>
          <a:p>
            <a:r>
              <a:rPr lang="en-US" altLang="ja-JP" dirty="0"/>
              <a:t> 2)</a:t>
            </a:r>
            <a:r>
              <a:rPr kumimoji="1" lang="ja-JP" altLang="en-US" dirty="0"/>
              <a:t>データ連携の概要図</a:t>
            </a:r>
            <a:r>
              <a:rPr lang="ja-JP" altLang="en-US" dirty="0"/>
              <a:t>（どこからデータがリンクしてくるのか？）</a:t>
            </a:r>
            <a:r>
              <a:rPr lang="en-US" altLang="ja-JP" dirty="0"/>
              <a:t>P5</a:t>
            </a:r>
          </a:p>
          <a:p>
            <a:r>
              <a:rPr lang="ja-JP" altLang="en-US" dirty="0"/>
              <a:t>   ①データ連携調査概要        </a:t>
            </a:r>
            <a:r>
              <a:rPr lang="en-US" altLang="ja-JP" dirty="0"/>
              <a:t>P6</a:t>
            </a:r>
          </a:p>
          <a:p>
            <a:r>
              <a:rPr lang="ja-JP" altLang="en-US" dirty="0"/>
              <a:t>   ②</a:t>
            </a:r>
            <a:r>
              <a:rPr kumimoji="1" lang="ja-JP" altLang="en-US" dirty="0"/>
              <a:t>データ加工処理の概要     </a:t>
            </a:r>
            <a:r>
              <a:rPr lang="en-US" altLang="ja-JP" dirty="0"/>
              <a:t>P7</a:t>
            </a:r>
            <a:r>
              <a:rPr kumimoji="1" lang="en-US" altLang="ja-JP" dirty="0"/>
              <a:t>-P16</a:t>
            </a:r>
          </a:p>
          <a:p>
            <a:r>
              <a:rPr lang="ja-JP" altLang="en-US" dirty="0"/>
              <a:t>　　・介護記録システム</a:t>
            </a:r>
            <a:endParaRPr lang="en-US" altLang="ja-JP" dirty="0"/>
          </a:p>
          <a:p>
            <a:r>
              <a:rPr kumimoji="1" lang="ja-JP" altLang="en-US" dirty="0"/>
              <a:t>　　・連携</a:t>
            </a:r>
            <a:r>
              <a:rPr kumimoji="1" lang="en-US" altLang="ja-JP" dirty="0"/>
              <a:t>PF</a:t>
            </a:r>
          </a:p>
          <a:p>
            <a:r>
              <a:rPr lang="ja-JP" altLang="en-US" dirty="0"/>
              <a:t>　　・眠り</a:t>
            </a:r>
            <a:r>
              <a:rPr lang="en-US" altLang="ja-JP" dirty="0"/>
              <a:t>SCAN</a:t>
            </a:r>
          </a:p>
          <a:p>
            <a:r>
              <a:rPr kumimoji="1" lang="en-US" altLang="ja-JP" dirty="0"/>
              <a:t>   </a:t>
            </a:r>
            <a:r>
              <a:rPr kumimoji="1" lang="ja-JP" altLang="en-US" dirty="0"/>
              <a:t>　・ナースコール</a:t>
            </a:r>
            <a:endParaRPr kumimoji="1" lang="en-US" altLang="ja-JP" dirty="0"/>
          </a:p>
        </p:txBody>
      </p:sp>
      <p:sp>
        <p:nvSpPr>
          <p:cNvPr id="7" name="テキスト ボックス 6">
            <a:extLst>
              <a:ext uri="{FF2B5EF4-FFF2-40B4-BE49-F238E27FC236}">
                <a16:creationId xmlns:a16="http://schemas.microsoft.com/office/drawing/2014/main" id="{D859FBF5-331E-1C45-C356-614162AD1CDE}"/>
              </a:ext>
            </a:extLst>
          </p:cNvPr>
          <p:cNvSpPr txBox="1"/>
          <p:nvPr/>
        </p:nvSpPr>
        <p:spPr>
          <a:xfrm>
            <a:off x="774440" y="3562118"/>
            <a:ext cx="6097554" cy="374077"/>
          </a:xfrm>
          <a:prstGeom prst="rect">
            <a:avLst/>
          </a:prstGeom>
          <a:noFill/>
        </p:spPr>
        <p:txBody>
          <a:bodyPr wrap="square">
            <a:spAutoFit/>
          </a:bodyPr>
          <a:lstStyle/>
          <a:p>
            <a:pPr lvl="0">
              <a:lnSpc>
                <a:spcPct val="107000"/>
              </a:lnSpc>
              <a:spcAft>
                <a:spcPts val="800"/>
              </a:spcAft>
              <a:buSzPts val="1000"/>
              <a:tabLst>
                <a:tab pos="457200" algn="l"/>
              </a:tabLst>
            </a:pPr>
            <a:r>
              <a:rPr lang="en-US" altLang="ja-JP" kern="0" dirty="0">
                <a:solidFill>
                  <a:srgbClr val="09090B"/>
                </a:solidFill>
                <a:effectLst/>
                <a:ea typeface="游明朝" panose="02020400000000000000" pitchFamily="18" charset="-128"/>
                <a:cs typeface="Arial" panose="020B0604020202020204" pitchFamily="34" charset="0"/>
              </a:rPr>
              <a:t>2.2 Foundry </a:t>
            </a:r>
            <a:r>
              <a:rPr lang="ja-JP" altLang="ja-JP" kern="0" dirty="0">
                <a:solidFill>
                  <a:srgbClr val="09090B"/>
                </a:solidFill>
                <a:effectLst/>
                <a:ea typeface="ＭＳ Ｐゴシック" panose="020B0600070205080204" pitchFamily="50" charset="-128"/>
                <a:cs typeface="Arial" panose="020B0604020202020204" pitchFamily="34" charset="0"/>
              </a:rPr>
              <a:t>利用状況</a:t>
            </a:r>
            <a:endParaRPr lang="ja-JP" altLang="ja-JP" kern="100" dirty="0">
              <a:effectLst/>
              <a:ea typeface="游明朝" panose="02020400000000000000" pitchFamily="18" charset="-128"/>
              <a:cs typeface="Times New Roman" panose="02020603050405020304" pitchFamily="18" charset="0"/>
            </a:endParaRPr>
          </a:p>
        </p:txBody>
      </p:sp>
      <p:sp>
        <p:nvSpPr>
          <p:cNvPr id="8" name="テキスト ボックス 7">
            <a:extLst>
              <a:ext uri="{FF2B5EF4-FFF2-40B4-BE49-F238E27FC236}">
                <a16:creationId xmlns:a16="http://schemas.microsoft.com/office/drawing/2014/main" id="{287CAA1C-B67C-267E-484F-A7F334A5242D}"/>
              </a:ext>
            </a:extLst>
          </p:cNvPr>
          <p:cNvSpPr txBox="1"/>
          <p:nvPr/>
        </p:nvSpPr>
        <p:spPr>
          <a:xfrm>
            <a:off x="1045028" y="3988500"/>
            <a:ext cx="1688283" cy="369332"/>
          </a:xfrm>
          <a:prstGeom prst="rect">
            <a:avLst/>
          </a:prstGeom>
          <a:noFill/>
        </p:spPr>
        <p:txBody>
          <a:bodyPr wrap="none" rtlCol="0">
            <a:spAutoFit/>
          </a:bodyPr>
          <a:lstStyle/>
          <a:p>
            <a:r>
              <a:rPr lang="en-US" altLang="ja-JP" dirty="0"/>
              <a:t>1)</a:t>
            </a:r>
            <a:r>
              <a:rPr lang="ja-JP" altLang="en-US" dirty="0"/>
              <a:t>  </a:t>
            </a:r>
            <a:r>
              <a:rPr kumimoji="1" lang="ja-JP" altLang="en-US" dirty="0"/>
              <a:t>分析の事例</a:t>
            </a:r>
          </a:p>
        </p:txBody>
      </p:sp>
      <p:sp>
        <p:nvSpPr>
          <p:cNvPr id="9" name="テキスト ボックス 8">
            <a:extLst>
              <a:ext uri="{FF2B5EF4-FFF2-40B4-BE49-F238E27FC236}">
                <a16:creationId xmlns:a16="http://schemas.microsoft.com/office/drawing/2014/main" id="{4C2E6374-30F4-3140-1EFF-4715935434A9}"/>
              </a:ext>
            </a:extLst>
          </p:cNvPr>
          <p:cNvSpPr txBox="1"/>
          <p:nvPr/>
        </p:nvSpPr>
        <p:spPr>
          <a:xfrm>
            <a:off x="1162893" y="5333467"/>
            <a:ext cx="4070345" cy="369332"/>
          </a:xfrm>
          <a:prstGeom prst="rect">
            <a:avLst/>
          </a:prstGeom>
          <a:noFill/>
        </p:spPr>
        <p:txBody>
          <a:bodyPr wrap="none" rtlCol="0">
            <a:spAutoFit/>
          </a:bodyPr>
          <a:lstStyle/>
          <a:p>
            <a:r>
              <a:rPr lang="en-US" altLang="ja-JP" dirty="0"/>
              <a:t>2</a:t>
            </a:r>
            <a:r>
              <a:rPr lang="ja-JP" altLang="en-US" dirty="0"/>
              <a:t>）ユーザー提供画面（</a:t>
            </a:r>
            <a:r>
              <a:rPr kumimoji="1" lang="en-US" altLang="ja-JP" dirty="0"/>
              <a:t>CMC</a:t>
            </a:r>
            <a:r>
              <a:rPr kumimoji="1" lang="ja-JP" altLang="en-US" dirty="0"/>
              <a:t>）の説明</a:t>
            </a:r>
          </a:p>
        </p:txBody>
      </p:sp>
      <p:sp>
        <p:nvSpPr>
          <p:cNvPr id="10" name="テキスト ボックス 9">
            <a:extLst>
              <a:ext uri="{FF2B5EF4-FFF2-40B4-BE49-F238E27FC236}">
                <a16:creationId xmlns:a16="http://schemas.microsoft.com/office/drawing/2014/main" id="{D7583521-073E-E866-73AC-46721EE8D77A}"/>
              </a:ext>
            </a:extLst>
          </p:cNvPr>
          <p:cNvSpPr txBox="1"/>
          <p:nvPr/>
        </p:nvSpPr>
        <p:spPr>
          <a:xfrm>
            <a:off x="1615871" y="4357832"/>
            <a:ext cx="7672293" cy="923330"/>
          </a:xfrm>
          <a:prstGeom prst="rect">
            <a:avLst/>
          </a:prstGeom>
          <a:noFill/>
        </p:spPr>
        <p:txBody>
          <a:bodyPr wrap="none" rtlCol="0">
            <a:spAutoFit/>
          </a:bodyPr>
          <a:lstStyle/>
          <a:p>
            <a:r>
              <a:rPr lang="ja-JP" altLang="en-US" dirty="0"/>
              <a:t>１</a:t>
            </a:r>
            <a:r>
              <a:rPr lang="en-US" altLang="ja-JP" dirty="0"/>
              <a:t>)-</a:t>
            </a:r>
            <a:r>
              <a:rPr lang="ja-JP" altLang="en-US" dirty="0"/>
              <a:t>１</a:t>
            </a:r>
            <a:r>
              <a:rPr kumimoji="1" lang="ja-JP" altLang="en-US" dirty="0"/>
              <a:t>　分析対象のデータセット一覧（サマリーされたデータセット）</a:t>
            </a:r>
            <a:endParaRPr kumimoji="1" lang="en-US" altLang="ja-JP" dirty="0"/>
          </a:p>
          <a:p>
            <a:r>
              <a:rPr lang="ja-JP" altLang="en-US" dirty="0"/>
              <a:t>１</a:t>
            </a:r>
            <a:r>
              <a:rPr lang="en-US" altLang="ja-JP" dirty="0"/>
              <a:t>)-</a:t>
            </a:r>
            <a:r>
              <a:rPr lang="ja-JP" altLang="en-US" dirty="0"/>
              <a:t>２   </a:t>
            </a:r>
            <a:r>
              <a:rPr kumimoji="1" lang="ja-JP" altLang="en-US" sz="1800" dirty="0">
                <a:latin typeface="Meiryo UI" panose="020B0604030504040204" pitchFamily="50" charset="-128"/>
                <a:ea typeface="Meiryo UI" panose="020B0604030504040204" pitchFamily="50" charset="-128"/>
              </a:rPr>
              <a:t>モデル</a:t>
            </a:r>
            <a:r>
              <a:rPr kumimoji="1" lang="en-US" altLang="ja-JP" sz="1800" dirty="0">
                <a:latin typeface="Meiryo UI" panose="020B0604030504040204" pitchFamily="50" charset="-128"/>
                <a:ea typeface="Meiryo UI" panose="020B0604030504040204" pitchFamily="50" charset="-128"/>
              </a:rPr>
              <a:t>(1)</a:t>
            </a:r>
            <a:r>
              <a:rPr kumimoji="1" lang="ja-JP" altLang="en-US" sz="1800" dirty="0">
                <a:latin typeface="Meiryo UI" panose="020B0604030504040204" pitchFamily="50" charset="-128"/>
                <a:ea typeface="Meiryo UI" panose="020B0604030504040204" pitchFamily="50" charset="-128"/>
              </a:rPr>
              <a:t>：ヘルスケアスコアモデル</a:t>
            </a:r>
            <a:endParaRPr kumimoji="1" lang="en-US" altLang="ja-JP" sz="1800" dirty="0">
              <a:latin typeface="Meiryo UI" panose="020B0604030504040204" pitchFamily="50" charset="-128"/>
              <a:ea typeface="Meiryo UI" panose="020B0604030504040204" pitchFamily="50" charset="-128"/>
            </a:endParaRPr>
          </a:p>
          <a:p>
            <a:r>
              <a:rPr lang="ja-JP" altLang="en-US" dirty="0"/>
              <a:t>１</a:t>
            </a:r>
            <a:r>
              <a:rPr lang="en-US" altLang="ja-JP" dirty="0"/>
              <a:t>)-</a:t>
            </a:r>
            <a:r>
              <a:rPr lang="ja-JP" altLang="en-US" dirty="0"/>
              <a:t>３　</a:t>
            </a:r>
            <a:r>
              <a:rPr lang="ja-JP" altLang="en-US" sz="1800" dirty="0">
                <a:latin typeface="Meiryo UI" panose="020B0604030504040204" pitchFamily="50" charset="-128"/>
                <a:ea typeface="Meiryo UI" panose="020B0604030504040204" pitchFamily="50" charset="-128"/>
              </a:rPr>
              <a:t>モデル</a:t>
            </a:r>
            <a:r>
              <a:rPr kumimoji="1" lang="en-US" altLang="ja-JP" sz="1800" dirty="0">
                <a:latin typeface="Meiryo UI" panose="020B0604030504040204" pitchFamily="50" charset="-128"/>
                <a:ea typeface="Meiryo UI" panose="020B0604030504040204" pitchFamily="50" charset="-128"/>
              </a:rPr>
              <a:t>(2)</a:t>
            </a:r>
            <a:r>
              <a:rPr kumimoji="1" lang="ja-JP" altLang="en-US" sz="1800" dirty="0">
                <a:latin typeface="Meiryo UI" panose="020B0604030504040204" pitchFamily="50" charset="-128"/>
                <a:ea typeface="Meiryo UI" panose="020B0604030504040204" pitchFamily="50" charset="-128"/>
              </a:rPr>
              <a:t>：入院予測モデル</a:t>
            </a:r>
          </a:p>
        </p:txBody>
      </p:sp>
      <p:sp>
        <p:nvSpPr>
          <p:cNvPr id="12" name="テキスト ボックス 11">
            <a:extLst>
              <a:ext uri="{FF2B5EF4-FFF2-40B4-BE49-F238E27FC236}">
                <a16:creationId xmlns:a16="http://schemas.microsoft.com/office/drawing/2014/main" id="{5A5134C7-A945-838A-7152-48479B9C0374}"/>
              </a:ext>
            </a:extLst>
          </p:cNvPr>
          <p:cNvSpPr txBox="1"/>
          <p:nvPr/>
        </p:nvSpPr>
        <p:spPr>
          <a:xfrm>
            <a:off x="0" y="548002"/>
            <a:ext cx="6097554" cy="369332"/>
          </a:xfrm>
          <a:prstGeom prst="rect">
            <a:avLst/>
          </a:prstGeom>
          <a:noFill/>
        </p:spPr>
        <p:txBody>
          <a:bodyPr wrap="square">
            <a:spAutoFit/>
          </a:bodyPr>
          <a:lstStyle/>
          <a:p>
            <a:r>
              <a:rPr lang="ja-JP" altLang="en-US" b="1" dirty="0"/>
              <a:t>２．</a:t>
            </a:r>
            <a:r>
              <a:rPr lang="ja-JP" altLang="en-US" sz="1800" b="1" u="none" strike="noStrike" dirty="0">
                <a:effectLst/>
              </a:rPr>
              <a:t>現行環境 </a:t>
            </a:r>
            <a:r>
              <a:rPr lang="en-US" altLang="ja-JP" sz="1800" b="1" u="none" strike="noStrike" dirty="0">
                <a:effectLst/>
              </a:rPr>
              <a:t>(</a:t>
            </a:r>
            <a:r>
              <a:rPr lang="ja-JP" altLang="en-US" sz="1800" b="1" u="none" strike="noStrike" dirty="0">
                <a:effectLst/>
              </a:rPr>
              <a:t>パランティア</a:t>
            </a:r>
            <a:r>
              <a:rPr lang="en-US" altLang="ja-JP" sz="1800" b="1" u="none" strike="noStrike" dirty="0">
                <a:effectLst/>
              </a:rPr>
              <a:t>Foundry) </a:t>
            </a:r>
            <a:r>
              <a:rPr lang="ja-JP" altLang="en-US" sz="1800" b="1" u="none" strike="noStrike" dirty="0">
                <a:effectLst/>
              </a:rPr>
              <a:t>について</a:t>
            </a:r>
            <a:endParaRPr lang="en-US" altLang="ja-JP" sz="1800" b="1" u="none" strike="noStrike" dirty="0">
              <a:effectLst/>
            </a:endParaRPr>
          </a:p>
        </p:txBody>
      </p:sp>
      <p:sp>
        <p:nvSpPr>
          <p:cNvPr id="13" name="テキスト ボックス 12">
            <a:extLst>
              <a:ext uri="{FF2B5EF4-FFF2-40B4-BE49-F238E27FC236}">
                <a16:creationId xmlns:a16="http://schemas.microsoft.com/office/drawing/2014/main" id="{B5F4738C-AAFA-B4C5-DFF6-C6BEA55690C8}"/>
              </a:ext>
            </a:extLst>
          </p:cNvPr>
          <p:cNvSpPr txBox="1"/>
          <p:nvPr/>
        </p:nvSpPr>
        <p:spPr>
          <a:xfrm>
            <a:off x="774440" y="5650494"/>
            <a:ext cx="6097554" cy="379656"/>
          </a:xfrm>
          <a:prstGeom prst="rect">
            <a:avLst/>
          </a:prstGeom>
          <a:noFill/>
        </p:spPr>
        <p:txBody>
          <a:bodyPr wrap="square">
            <a:spAutoFit/>
          </a:bodyPr>
          <a:lstStyle/>
          <a:p>
            <a:pPr lvl="0">
              <a:lnSpc>
                <a:spcPct val="107000"/>
              </a:lnSpc>
              <a:spcAft>
                <a:spcPts val="800"/>
              </a:spcAft>
              <a:buSzPts val="1000"/>
              <a:tabLst>
                <a:tab pos="457200" algn="l"/>
              </a:tabLst>
            </a:pPr>
            <a:r>
              <a:rPr lang="en-US" altLang="ja-JP" kern="0" dirty="0">
                <a:solidFill>
                  <a:srgbClr val="09090B"/>
                </a:solidFill>
                <a:effectLst/>
                <a:ea typeface="游明朝" panose="02020400000000000000" pitchFamily="18" charset="-128"/>
                <a:cs typeface="Arial" panose="020B0604020202020204" pitchFamily="34" charset="0"/>
              </a:rPr>
              <a:t>2.3 Foundry </a:t>
            </a:r>
            <a:r>
              <a:rPr lang="ja-JP" altLang="en-US" kern="0" dirty="0">
                <a:solidFill>
                  <a:srgbClr val="09090B"/>
                </a:solidFill>
                <a:effectLst/>
                <a:ea typeface="ＭＳ Ｐゴシック" panose="020B0600070205080204" pitchFamily="50" charset="-128"/>
                <a:cs typeface="Arial" panose="020B0604020202020204" pitchFamily="34" charset="0"/>
              </a:rPr>
              <a:t>の課題</a:t>
            </a:r>
            <a:endParaRPr lang="ja-JP" altLang="ja-JP" kern="100" dirty="0">
              <a:effectLst/>
              <a:ea typeface="游明朝" panose="02020400000000000000" pitchFamily="18" charset="-128"/>
              <a:cs typeface="Times New Roman" panose="02020603050405020304" pitchFamily="18" charset="0"/>
            </a:endParaRPr>
          </a:p>
        </p:txBody>
      </p:sp>
      <p:sp>
        <p:nvSpPr>
          <p:cNvPr id="15" name="四角形: 角を丸くする 14">
            <a:extLst>
              <a:ext uri="{FF2B5EF4-FFF2-40B4-BE49-F238E27FC236}">
                <a16:creationId xmlns:a16="http://schemas.microsoft.com/office/drawing/2014/main" id="{045AA260-B5A6-B96A-511C-1B6AB9071862}"/>
              </a:ext>
            </a:extLst>
          </p:cNvPr>
          <p:cNvSpPr/>
          <p:nvPr/>
        </p:nvSpPr>
        <p:spPr>
          <a:xfrm>
            <a:off x="5233238" y="1891824"/>
            <a:ext cx="785032" cy="440700"/>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牛込</a:t>
            </a:r>
          </a:p>
        </p:txBody>
      </p:sp>
      <p:sp>
        <p:nvSpPr>
          <p:cNvPr id="16" name="四角形: 角を丸くする 15">
            <a:extLst>
              <a:ext uri="{FF2B5EF4-FFF2-40B4-BE49-F238E27FC236}">
                <a16:creationId xmlns:a16="http://schemas.microsoft.com/office/drawing/2014/main" id="{7FD0FFCF-5CE7-8443-307A-3645E7BE123C}"/>
              </a:ext>
            </a:extLst>
          </p:cNvPr>
          <p:cNvSpPr/>
          <p:nvPr/>
        </p:nvSpPr>
        <p:spPr>
          <a:xfrm>
            <a:off x="8417299" y="1356488"/>
            <a:ext cx="785032" cy="440700"/>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山口</a:t>
            </a:r>
            <a:endParaRPr kumimoji="1" lang="ja-JP" altLang="en-US" dirty="0"/>
          </a:p>
        </p:txBody>
      </p:sp>
      <p:sp>
        <p:nvSpPr>
          <p:cNvPr id="17" name="四角形: 角を丸くする 16">
            <a:extLst>
              <a:ext uri="{FF2B5EF4-FFF2-40B4-BE49-F238E27FC236}">
                <a16:creationId xmlns:a16="http://schemas.microsoft.com/office/drawing/2014/main" id="{79ACE46F-27AC-9268-BC3F-CC0B43C338BF}"/>
              </a:ext>
            </a:extLst>
          </p:cNvPr>
          <p:cNvSpPr/>
          <p:nvPr/>
        </p:nvSpPr>
        <p:spPr>
          <a:xfrm>
            <a:off x="7414839" y="3864827"/>
            <a:ext cx="785032" cy="440700"/>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堀家</a:t>
            </a:r>
            <a:endParaRPr kumimoji="1" lang="ja-JP" altLang="en-US" dirty="0"/>
          </a:p>
        </p:txBody>
      </p:sp>
      <p:sp>
        <p:nvSpPr>
          <p:cNvPr id="18" name="四角形: 角を丸くする 17">
            <a:extLst>
              <a:ext uri="{FF2B5EF4-FFF2-40B4-BE49-F238E27FC236}">
                <a16:creationId xmlns:a16="http://schemas.microsoft.com/office/drawing/2014/main" id="{61B9379A-B7AC-FB56-D220-BB8B2296B109}"/>
              </a:ext>
            </a:extLst>
          </p:cNvPr>
          <p:cNvSpPr/>
          <p:nvPr/>
        </p:nvSpPr>
        <p:spPr>
          <a:xfrm>
            <a:off x="7414839" y="5245478"/>
            <a:ext cx="785032" cy="440700"/>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沖野</a:t>
            </a:r>
            <a:endParaRPr kumimoji="1" lang="ja-JP" altLang="en-US" dirty="0"/>
          </a:p>
        </p:txBody>
      </p:sp>
      <p:sp>
        <p:nvSpPr>
          <p:cNvPr id="19" name="四角形: 角を丸くする 18">
            <a:extLst>
              <a:ext uri="{FF2B5EF4-FFF2-40B4-BE49-F238E27FC236}">
                <a16:creationId xmlns:a16="http://schemas.microsoft.com/office/drawing/2014/main" id="{856DB82A-348F-3B2D-637B-DC2CE22FB390}"/>
              </a:ext>
            </a:extLst>
          </p:cNvPr>
          <p:cNvSpPr/>
          <p:nvPr/>
        </p:nvSpPr>
        <p:spPr>
          <a:xfrm>
            <a:off x="7414839" y="5840322"/>
            <a:ext cx="785032" cy="440700"/>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山口</a:t>
            </a:r>
          </a:p>
        </p:txBody>
      </p:sp>
      <p:sp>
        <p:nvSpPr>
          <p:cNvPr id="20" name="テキスト ボックス 19">
            <a:extLst>
              <a:ext uri="{FF2B5EF4-FFF2-40B4-BE49-F238E27FC236}">
                <a16:creationId xmlns:a16="http://schemas.microsoft.com/office/drawing/2014/main" id="{F7C92EB5-DB0B-E5FB-8712-4B259715005B}"/>
              </a:ext>
            </a:extLst>
          </p:cNvPr>
          <p:cNvSpPr txBox="1"/>
          <p:nvPr/>
        </p:nvSpPr>
        <p:spPr>
          <a:xfrm>
            <a:off x="5807486" y="3940226"/>
            <a:ext cx="1168910" cy="369332"/>
          </a:xfrm>
          <a:prstGeom prst="rect">
            <a:avLst/>
          </a:prstGeom>
          <a:noFill/>
        </p:spPr>
        <p:txBody>
          <a:bodyPr wrap="none" rtlCol="0">
            <a:spAutoFit/>
          </a:bodyPr>
          <a:lstStyle/>
          <a:p>
            <a:r>
              <a:rPr kumimoji="1" lang="en-US" altLang="ja-JP" dirty="0"/>
              <a:t>P17- P19</a:t>
            </a:r>
            <a:endParaRPr kumimoji="1" lang="ja-JP" altLang="en-US" dirty="0"/>
          </a:p>
        </p:txBody>
      </p:sp>
      <p:sp>
        <p:nvSpPr>
          <p:cNvPr id="21" name="テキスト ボックス 20">
            <a:extLst>
              <a:ext uri="{FF2B5EF4-FFF2-40B4-BE49-F238E27FC236}">
                <a16:creationId xmlns:a16="http://schemas.microsoft.com/office/drawing/2014/main" id="{2491FF25-BE95-47D4-F4D5-8CE22EDDDDD1}"/>
              </a:ext>
            </a:extLst>
          </p:cNvPr>
          <p:cNvSpPr txBox="1"/>
          <p:nvPr/>
        </p:nvSpPr>
        <p:spPr>
          <a:xfrm>
            <a:off x="5807487" y="5377710"/>
            <a:ext cx="1168910" cy="369332"/>
          </a:xfrm>
          <a:prstGeom prst="rect">
            <a:avLst/>
          </a:prstGeom>
          <a:noFill/>
        </p:spPr>
        <p:txBody>
          <a:bodyPr wrap="none" rtlCol="0">
            <a:spAutoFit/>
          </a:bodyPr>
          <a:lstStyle/>
          <a:p>
            <a:r>
              <a:rPr kumimoji="1" lang="en-US" altLang="ja-JP" dirty="0"/>
              <a:t>P20- P21</a:t>
            </a:r>
            <a:endParaRPr kumimoji="1" lang="ja-JP" altLang="en-US" dirty="0"/>
          </a:p>
        </p:txBody>
      </p:sp>
      <p:sp>
        <p:nvSpPr>
          <p:cNvPr id="22" name="テキスト ボックス 21">
            <a:extLst>
              <a:ext uri="{FF2B5EF4-FFF2-40B4-BE49-F238E27FC236}">
                <a16:creationId xmlns:a16="http://schemas.microsoft.com/office/drawing/2014/main" id="{0D372B33-AD02-BE34-BC9C-2FE0A4DF9252}"/>
              </a:ext>
            </a:extLst>
          </p:cNvPr>
          <p:cNvSpPr txBox="1"/>
          <p:nvPr/>
        </p:nvSpPr>
        <p:spPr>
          <a:xfrm>
            <a:off x="5764102" y="5712891"/>
            <a:ext cx="1168910" cy="369332"/>
          </a:xfrm>
          <a:prstGeom prst="rect">
            <a:avLst/>
          </a:prstGeom>
          <a:noFill/>
        </p:spPr>
        <p:txBody>
          <a:bodyPr wrap="none" rtlCol="0">
            <a:spAutoFit/>
          </a:bodyPr>
          <a:lstStyle/>
          <a:p>
            <a:r>
              <a:rPr kumimoji="1" lang="en-US" altLang="ja-JP" dirty="0"/>
              <a:t>P22- P23</a:t>
            </a:r>
            <a:endParaRPr kumimoji="1" lang="ja-JP" altLang="en-US" dirty="0"/>
          </a:p>
        </p:txBody>
      </p:sp>
    </p:spTree>
    <p:extLst>
      <p:ext uri="{BB962C8B-B14F-4D97-AF65-F5344CB8AC3E}">
        <p14:creationId xmlns:p14="http://schemas.microsoft.com/office/powerpoint/2010/main" val="39967239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DDA9572-CB85-7CC9-A383-D2A8D2F7AE4B}"/>
              </a:ext>
            </a:extLst>
          </p:cNvPr>
          <p:cNvSpPr txBox="1"/>
          <p:nvPr/>
        </p:nvSpPr>
        <p:spPr>
          <a:xfrm>
            <a:off x="146958" y="109804"/>
            <a:ext cx="9575540" cy="1177566"/>
          </a:xfrm>
          <a:prstGeom prst="rect">
            <a:avLst/>
          </a:prstGeom>
          <a:noFill/>
        </p:spPr>
        <p:txBody>
          <a:bodyPr wrap="square">
            <a:spAutoFit/>
          </a:bodyPr>
          <a:lstStyle/>
          <a:p>
            <a:pPr>
              <a:lnSpc>
                <a:spcPct val="107000"/>
              </a:lnSpc>
              <a:spcAft>
                <a:spcPts val="800"/>
              </a:spcAft>
            </a:pPr>
            <a:r>
              <a:rPr lang="en-US" altLang="ja-JP" b="1" kern="0" dirty="0">
                <a:solidFill>
                  <a:srgbClr val="09090B"/>
                </a:solidFill>
                <a:effectLst/>
                <a:latin typeface="+mn-ea"/>
                <a:cs typeface="Arial" panose="020B0604020202020204" pitchFamily="34" charset="0"/>
              </a:rPr>
              <a:t>3. </a:t>
            </a:r>
            <a:r>
              <a:rPr lang="ja-JP" altLang="ja-JP" b="1" kern="0" dirty="0">
                <a:solidFill>
                  <a:srgbClr val="09090B"/>
                </a:solidFill>
                <a:effectLst/>
                <a:latin typeface="+mn-ea"/>
                <a:cs typeface="Arial" panose="020B0604020202020204" pitchFamily="34" charset="0"/>
              </a:rPr>
              <a:t>要求事項</a:t>
            </a:r>
            <a:r>
              <a:rPr lang="en-US" altLang="ja-JP" b="1" kern="0" dirty="0">
                <a:solidFill>
                  <a:srgbClr val="09090B"/>
                </a:solidFill>
                <a:effectLst/>
                <a:latin typeface="+mn-ea"/>
                <a:cs typeface="Arial" panose="020B0604020202020204" pitchFamily="34" charset="0"/>
              </a:rPr>
              <a:t> (</a:t>
            </a:r>
            <a:r>
              <a:rPr lang="ja-JP" altLang="ja-JP" b="1" kern="0" dirty="0">
                <a:solidFill>
                  <a:srgbClr val="09090B"/>
                </a:solidFill>
                <a:effectLst/>
                <a:latin typeface="+mn-ea"/>
                <a:cs typeface="Arial" panose="020B0604020202020204" pitchFamily="34" charset="0"/>
              </a:rPr>
              <a:t>新分析環境</a:t>
            </a:r>
            <a:r>
              <a:rPr lang="en-US" altLang="ja-JP" b="1" kern="0" dirty="0">
                <a:solidFill>
                  <a:srgbClr val="09090B"/>
                </a:solidFill>
                <a:effectLst/>
                <a:latin typeface="+mn-ea"/>
                <a:cs typeface="Arial" panose="020B0604020202020204" pitchFamily="34" charset="0"/>
              </a:rPr>
              <a:t>)</a:t>
            </a:r>
            <a:endParaRPr lang="ja-JP" altLang="ja-JP" kern="100" dirty="0">
              <a:effectLst/>
              <a:latin typeface="+mn-ea"/>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altLang="ja-JP" kern="0" dirty="0">
                <a:solidFill>
                  <a:srgbClr val="09090B"/>
                </a:solidFill>
                <a:effectLst/>
                <a:latin typeface="+mn-ea"/>
                <a:cs typeface="Arial" panose="020B0604020202020204" pitchFamily="34" charset="0"/>
              </a:rPr>
              <a:t>3.1 </a:t>
            </a:r>
            <a:r>
              <a:rPr lang="ja-JP" altLang="ja-JP" kern="0" dirty="0">
                <a:solidFill>
                  <a:srgbClr val="09090B"/>
                </a:solidFill>
                <a:effectLst/>
                <a:latin typeface="+mn-ea"/>
                <a:cs typeface="Arial" panose="020B0604020202020204" pitchFamily="34" charset="0"/>
              </a:rPr>
              <a:t>全体要件</a:t>
            </a:r>
            <a:endParaRPr lang="ja-JP" altLang="ja-JP" kern="100" dirty="0">
              <a:effectLst/>
              <a:latin typeface="+mn-ea"/>
              <a:cs typeface="Times New Roman" panose="02020603050405020304" pitchFamily="18" charset="0"/>
            </a:endParaRPr>
          </a:p>
          <a:p>
            <a:pPr lvl="1">
              <a:lnSpc>
                <a:spcPct val="107000"/>
              </a:lnSpc>
              <a:spcAft>
                <a:spcPts val="800"/>
              </a:spcAft>
              <a:buSzPts val="1000"/>
              <a:tabLst>
                <a:tab pos="914400" algn="l"/>
              </a:tabLst>
            </a:pPr>
            <a:r>
              <a:rPr lang="en-US" altLang="ja-JP" kern="0" dirty="0">
                <a:solidFill>
                  <a:srgbClr val="09090B"/>
                </a:solidFill>
                <a:effectLst/>
                <a:latin typeface="+mn-ea"/>
                <a:cs typeface="Arial" panose="020B0604020202020204" pitchFamily="34" charset="0"/>
              </a:rPr>
              <a:t>3.1.1 </a:t>
            </a:r>
            <a:r>
              <a:rPr lang="ja-JP" altLang="ja-JP" kern="0" dirty="0">
                <a:solidFill>
                  <a:srgbClr val="09090B"/>
                </a:solidFill>
                <a:effectLst/>
                <a:latin typeface="+mn-ea"/>
                <a:cs typeface="Arial" panose="020B0604020202020204" pitchFamily="34" charset="0"/>
              </a:rPr>
              <a:t>分析環境の概要と目的</a:t>
            </a:r>
            <a:endParaRPr lang="ja-JP" altLang="ja-JP" kern="100" dirty="0">
              <a:solidFill>
                <a:srgbClr val="09090B"/>
              </a:solidFill>
              <a:effectLst/>
              <a:latin typeface="+mn-ea"/>
              <a:cs typeface="Times New Roman" panose="02020603050405020304" pitchFamily="18" charset="0"/>
            </a:endParaRPr>
          </a:p>
        </p:txBody>
      </p:sp>
      <p:sp>
        <p:nvSpPr>
          <p:cNvPr id="5" name="テキスト ボックス 4">
            <a:extLst>
              <a:ext uri="{FF2B5EF4-FFF2-40B4-BE49-F238E27FC236}">
                <a16:creationId xmlns:a16="http://schemas.microsoft.com/office/drawing/2014/main" id="{BF665395-A3A4-CA44-F5D1-80859DCF7D0A}"/>
              </a:ext>
            </a:extLst>
          </p:cNvPr>
          <p:cNvSpPr txBox="1"/>
          <p:nvPr/>
        </p:nvSpPr>
        <p:spPr>
          <a:xfrm>
            <a:off x="1334278" y="1486976"/>
            <a:ext cx="7604967" cy="923330"/>
          </a:xfrm>
          <a:prstGeom prst="rect">
            <a:avLst/>
          </a:prstGeom>
          <a:noFill/>
        </p:spPr>
        <p:txBody>
          <a:bodyPr wrap="none" rtlCol="0">
            <a:spAutoFit/>
          </a:bodyPr>
          <a:lstStyle/>
          <a:p>
            <a:r>
              <a:rPr kumimoji="1" lang="ja-JP" altLang="en-US" dirty="0"/>
              <a:t>１）新分析環境　システム全体図                                                      </a:t>
            </a:r>
            <a:r>
              <a:rPr kumimoji="1" lang="en-US" altLang="ja-JP" dirty="0"/>
              <a:t>P25</a:t>
            </a:r>
          </a:p>
          <a:p>
            <a:endParaRPr lang="en-US" altLang="ja-JP" dirty="0"/>
          </a:p>
          <a:p>
            <a:r>
              <a:rPr kumimoji="1" lang="ja-JP" altLang="en-US" dirty="0"/>
              <a:t>２）分析環境の目的及び期待する効果（システムコンセプト）         </a:t>
            </a:r>
            <a:r>
              <a:rPr kumimoji="1" lang="en-US" altLang="ja-JP" dirty="0"/>
              <a:t>P26</a:t>
            </a:r>
            <a:endParaRPr kumimoji="1" lang="ja-JP" altLang="en-US" dirty="0"/>
          </a:p>
        </p:txBody>
      </p:sp>
      <p:sp>
        <p:nvSpPr>
          <p:cNvPr id="6" name="テキスト ボックス 5">
            <a:extLst>
              <a:ext uri="{FF2B5EF4-FFF2-40B4-BE49-F238E27FC236}">
                <a16:creationId xmlns:a16="http://schemas.microsoft.com/office/drawing/2014/main" id="{5C48D790-3909-E865-50C2-43C470D4AFF0}"/>
              </a:ext>
            </a:extLst>
          </p:cNvPr>
          <p:cNvSpPr txBox="1"/>
          <p:nvPr/>
        </p:nvSpPr>
        <p:spPr>
          <a:xfrm>
            <a:off x="671804" y="2687216"/>
            <a:ext cx="8262198" cy="369332"/>
          </a:xfrm>
          <a:prstGeom prst="rect">
            <a:avLst/>
          </a:prstGeom>
          <a:noFill/>
        </p:spPr>
        <p:txBody>
          <a:bodyPr wrap="none" rtlCol="0">
            <a:spAutoFit/>
          </a:bodyPr>
          <a:lstStyle/>
          <a:p>
            <a:r>
              <a:rPr kumimoji="1" lang="en-US" altLang="ja-JP" dirty="0"/>
              <a:t>3.1.3  </a:t>
            </a:r>
            <a:r>
              <a:rPr kumimoji="1" lang="ja-JP" altLang="en-US" dirty="0"/>
              <a:t>想定ユーザー及びそのスキルレベル（</a:t>
            </a:r>
            <a:r>
              <a:rPr kumimoji="1" lang="en-US" altLang="ja-JP" dirty="0"/>
              <a:t>IT</a:t>
            </a:r>
            <a:r>
              <a:rPr kumimoji="1" lang="ja-JP" altLang="en-US" dirty="0"/>
              <a:t>リテラシー）                       </a:t>
            </a:r>
            <a:r>
              <a:rPr kumimoji="1" lang="en-US" altLang="ja-JP" dirty="0"/>
              <a:t>P27</a:t>
            </a:r>
            <a:endParaRPr kumimoji="1" lang="ja-JP" altLang="en-US" dirty="0"/>
          </a:p>
        </p:txBody>
      </p:sp>
      <p:sp>
        <p:nvSpPr>
          <p:cNvPr id="9" name="テキスト ボックス 8">
            <a:extLst>
              <a:ext uri="{FF2B5EF4-FFF2-40B4-BE49-F238E27FC236}">
                <a16:creationId xmlns:a16="http://schemas.microsoft.com/office/drawing/2014/main" id="{BF59D2B6-586F-238F-D3D1-FE8EA8FEED60}"/>
              </a:ext>
            </a:extLst>
          </p:cNvPr>
          <p:cNvSpPr txBox="1"/>
          <p:nvPr/>
        </p:nvSpPr>
        <p:spPr>
          <a:xfrm>
            <a:off x="671804" y="3056548"/>
            <a:ext cx="9286291" cy="646331"/>
          </a:xfrm>
          <a:prstGeom prst="rect">
            <a:avLst/>
          </a:prstGeom>
          <a:noFill/>
        </p:spPr>
        <p:txBody>
          <a:bodyPr wrap="square">
            <a:spAutoFit/>
          </a:bodyPr>
          <a:lstStyle/>
          <a:p>
            <a:r>
              <a:rPr lang="en-US" altLang="ja-JP" dirty="0">
                <a:latin typeface="+mn-ea"/>
              </a:rPr>
              <a:t>3.2.4</a:t>
            </a:r>
            <a:r>
              <a:rPr lang="ja-JP" altLang="en-US" dirty="0">
                <a:latin typeface="+mn-ea"/>
              </a:rPr>
              <a:t>  分析機能要件</a:t>
            </a:r>
            <a:endParaRPr lang="en-US" altLang="ja-JP" dirty="0">
              <a:latin typeface="+mn-ea"/>
            </a:endParaRPr>
          </a:p>
          <a:p>
            <a:pPr lvl="1"/>
            <a:r>
              <a:rPr lang="ja-JP" altLang="en-US" dirty="0">
                <a:latin typeface="+mn-ea"/>
              </a:rPr>
              <a:t>主要な機能要件を</a:t>
            </a:r>
            <a:r>
              <a:rPr lang="en-US" altLang="ja-JP" dirty="0">
                <a:latin typeface="+mn-ea"/>
              </a:rPr>
              <a:t>ETL</a:t>
            </a:r>
            <a:r>
              <a:rPr lang="ja-JP" altLang="en-US" dirty="0">
                <a:latin typeface="+mn-ea"/>
              </a:rPr>
              <a:t>ツール、</a:t>
            </a:r>
            <a:r>
              <a:rPr lang="en-US" altLang="ja-JP" dirty="0">
                <a:latin typeface="+mn-ea"/>
              </a:rPr>
              <a:t>AI/</a:t>
            </a:r>
            <a:r>
              <a:rPr lang="ja-JP" altLang="en-US" dirty="0">
                <a:latin typeface="+mn-ea"/>
              </a:rPr>
              <a:t>機械学習ツール、</a:t>
            </a:r>
            <a:r>
              <a:rPr lang="en-US" altLang="ja-JP" dirty="0">
                <a:latin typeface="+mn-ea"/>
              </a:rPr>
              <a:t>BI</a:t>
            </a:r>
            <a:r>
              <a:rPr lang="ja-JP" altLang="en-US" dirty="0">
                <a:latin typeface="+mn-ea"/>
              </a:rPr>
              <a:t>ツールに分けて詳述する。</a:t>
            </a:r>
            <a:endParaRPr lang="en-US" altLang="ja-JP" dirty="0">
              <a:latin typeface="+mn-ea"/>
            </a:endParaRPr>
          </a:p>
        </p:txBody>
      </p:sp>
      <p:sp>
        <p:nvSpPr>
          <p:cNvPr id="10" name="テキスト ボックス 9">
            <a:extLst>
              <a:ext uri="{FF2B5EF4-FFF2-40B4-BE49-F238E27FC236}">
                <a16:creationId xmlns:a16="http://schemas.microsoft.com/office/drawing/2014/main" id="{5A069FF4-E384-3DFC-18CE-76B0EB7DEFCB}"/>
              </a:ext>
            </a:extLst>
          </p:cNvPr>
          <p:cNvSpPr txBox="1"/>
          <p:nvPr/>
        </p:nvSpPr>
        <p:spPr>
          <a:xfrm>
            <a:off x="2685662" y="3702790"/>
            <a:ext cx="6097554" cy="1477328"/>
          </a:xfrm>
          <a:prstGeom prst="rect">
            <a:avLst/>
          </a:prstGeom>
          <a:noFill/>
        </p:spPr>
        <p:txBody>
          <a:bodyPr wrap="square">
            <a:spAutoFit/>
          </a:bodyPr>
          <a:lstStyle/>
          <a:p>
            <a:r>
              <a:rPr kumimoji="1" lang="ja-JP" altLang="en-US" dirty="0"/>
              <a:t>＜詳細な要件＞</a:t>
            </a:r>
            <a:endParaRPr kumimoji="1" lang="en-US" altLang="ja-JP" dirty="0"/>
          </a:p>
          <a:p>
            <a:r>
              <a:rPr kumimoji="1" lang="ja-JP" altLang="en-US" dirty="0"/>
              <a:t>・</a:t>
            </a:r>
            <a:r>
              <a:rPr kumimoji="1" lang="en-US" altLang="ja-JP" dirty="0"/>
              <a:t>ETL</a:t>
            </a:r>
            <a:r>
              <a:rPr kumimoji="1" lang="ja-JP" altLang="en-US" dirty="0"/>
              <a:t>ツール                     </a:t>
            </a:r>
            <a:r>
              <a:rPr kumimoji="1" lang="en-US" altLang="ja-JP" dirty="0"/>
              <a:t>P28</a:t>
            </a:r>
            <a:r>
              <a:rPr kumimoji="1" lang="ja-JP" altLang="en-US" dirty="0"/>
              <a:t>　　</a:t>
            </a:r>
            <a:endParaRPr kumimoji="1" lang="en-US" altLang="ja-JP" dirty="0"/>
          </a:p>
          <a:p>
            <a:r>
              <a:rPr kumimoji="1" lang="ja-JP" altLang="en-US" dirty="0"/>
              <a:t>・</a:t>
            </a:r>
            <a:r>
              <a:rPr kumimoji="1" lang="en-US" altLang="ja-JP" dirty="0"/>
              <a:t>AI</a:t>
            </a:r>
            <a:r>
              <a:rPr kumimoji="1" lang="ja-JP" altLang="en-US" dirty="0"/>
              <a:t>ツール                        </a:t>
            </a:r>
            <a:r>
              <a:rPr kumimoji="1" lang="en-US" altLang="ja-JP" dirty="0"/>
              <a:t>P29</a:t>
            </a:r>
          </a:p>
          <a:p>
            <a:r>
              <a:rPr lang="ja-JP" altLang="en-US" dirty="0"/>
              <a:t>・</a:t>
            </a:r>
            <a:r>
              <a:rPr lang="en-US" altLang="ja-JP" dirty="0"/>
              <a:t>BI</a:t>
            </a:r>
            <a:r>
              <a:rPr lang="ja-JP" altLang="en-US" dirty="0"/>
              <a:t>ツール                        </a:t>
            </a:r>
            <a:r>
              <a:rPr lang="en-US" altLang="ja-JP" dirty="0"/>
              <a:t>P31</a:t>
            </a:r>
          </a:p>
          <a:p>
            <a:r>
              <a:rPr kumimoji="1" lang="ja-JP" altLang="en-US" dirty="0"/>
              <a:t>・</a:t>
            </a:r>
            <a:r>
              <a:rPr kumimoji="1" lang="en-US" altLang="ja-JP" dirty="0"/>
              <a:t>CDW</a:t>
            </a:r>
            <a:r>
              <a:rPr kumimoji="1" lang="ja-JP" altLang="en-US" dirty="0"/>
              <a:t>　                          </a:t>
            </a:r>
            <a:r>
              <a:rPr kumimoji="1" lang="en-US" altLang="ja-JP" dirty="0"/>
              <a:t>P32</a:t>
            </a:r>
            <a:endParaRPr kumimoji="1" lang="ja-JP" altLang="en-US" dirty="0"/>
          </a:p>
        </p:txBody>
      </p:sp>
      <p:sp>
        <p:nvSpPr>
          <p:cNvPr id="12" name="テキスト ボックス 11">
            <a:extLst>
              <a:ext uri="{FF2B5EF4-FFF2-40B4-BE49-F238E27FC236}">
                <a16:creationId xmlns:a16="http://schemas.microsoft.com/office/drawing/2014/main" id="{BDAB22B3-FDA4-C2DD-D627-4BF9B16A8827}"/>
              </a:ext>
            </a:extLst>
          </p:cNvPr>
          <p:cNvSpPr txBox="1"/>
          <p:nvPr/>
        </p:nvSpPr>
        <p:spPr>
          <a:xfrm>
            <a:off x="296247" y="5186358"/>
            <a:ext cx="7765402" cy="369332"/>
          </a:xfrm>
          <a:prstGeom prst="rect">
            <a:avLst/>
          </a:prstGeom>
          <a:noFill/>
        </p:spPr>
        <p:txBody>
          <a:bodyPr wrap="square">
            <a:spAutoFit/>
          </a:bodyPr>
          <a:lstStyle/>
          <a:p>
            <a:pPr lvl="1">
              <a:spcAft>
                <a:spcPts val="400"/>
              </a:spcAft>
              <a:buSzPts val="1000"/>
              <a:tabLst>
                <a:tab pos="914400" algn="l"/>
              </a:tabLst>
            </a:pPr>
            <a:r>
              <a:rPr lang="en-US" altLang="ja-JP" kern="0" dirty="0">
                <a:solidFill>
                  <a:srgbClr val="09090B"/>
                </a:solidFill>
                <a:effectLst/>
                <a:latin typeface="+mn-ea"/>
                <a:cs typeface="Arial" panose="020B0604020202020204" pitchFamily="34" charset="0"/>
              </a:rPr>
              <a:t>3.2.1 </a:t>
            </a:r>
            <a:r>
              <a:rPr lang="ja-JP" altLang="ja-JP" kern="0" dirty="0">
                <a:solidFill>
                  <a:srgbClr val="09090B"/>
                </a:solidFill>
                <a:effectLst/>
                <a:latin typeface="+mn-ea"/>
                <a:cs typeface="Arial" panose="020B0604020202020204" pitchFamily="34" charset="0"/>
              </a:rPr>
              <a:t>プラットフォーム</a:t>
            </a:r>
            <a:r>
              <a:rPr lang="ja-JP" altLang="en-US" kern="0" dirty="0">
                <a:solidFill>
                  <a:srgbClr val="09090B"/>
                </a:solidFill>
                <a:effectLst/>
                <a:latin typeface="+mn-ea"/>
                <a:cs typeface="Arial" panose="020B0604020202020204" pitchFamily="34" charset="0"/>
              </a:rPr>
              <a:t>及び新開発環境に関する</a:t>
            </a:r>
            <a:r>
              <a:rPr lang="ja-JP" altLang="en-US" kern="0" dirty="0">
                <a:solidFill>
                  <a:srgbClr val="09090B"/>
                </a:solidFill>
                <a:latin typeface="+mn-ea"/>
                <a:cs typeface="Arial" panose="020B0604020202020204" pitchFamily="34" charset="0"/>
              </a:rPr>
              <a:t>要件　　　</a:t>
            </a:r>
            <a:r>
              <a:rPr lang="en-US" altLang="ja-JP" kern="0" dirty="0">
                <a:solidFill>
                  <a:srgbClr val="09090B"/>
                </a:solidFill>
                <a:latin typeface="+mn-ea"/>
                <a:cs typeface="Arial" panose="020B0604020202020204" pitchFamily="34" charset="0"/>
              </a:rPr>
              <a:t>P33</a:t>
            </a:r>
            <a:endParaRPr lang="ja-JP" altLang="ja-JP" kern="100" dirty="0">
              <a:solidFill>
                <a:srgbClr val="09090B"/>
              </a:solidFill>
              <a:effectLst/>
              <a:latin typeface="+mn-ea"/>
              <a:cs typeface="Times New Roman" panose="02020603050405020304" pitchFamily="18" charset="0"/>
            </a:endParaRPr>
          </a:p>
        </p:txBody>
      </p:sp>
      <p:sp>
        <p:nvSpPr>
          <p:cNvPr id="14" name="テキスト ボックス 13">
            <a:extLst>
              <a:ext uri="{FF2B5EF4-FFF2-40B4-BE49-F238E27FC236}">
                <a16:creationId xmlns:a16="http://schemas.microsoft.com/office/drawing/2014/main" id="{F1B76356-7628-36E0-8BE5-ABB4994EC35B}"/>
              </a:ext>
            </a:extLst>
          </p:cNvPr>
          <p:cNvSpPr txBox="1"/>
          <p:nvPr/>
        </p:nvSpPr>
        <p:spPr>
          <a:xfrm>
            <a:off x="296246" y="5749056"/>
            <a:ext cx="7185783" cy="369332"/>
          </a:xfrm>
          <a:prstGeom prst="rect">
            <a:avLst/>
          </a:prstGeom>
          <a:noFill/>
        </p:spPr>
        <p:txBody>
          <a:bodyPr wrap="square">
            <a:spAutoFit/>
          </a:bodyPr>
          <a:lstStyle/>
          <a:p>
            <a:pPr lvl="1">
              <a:spcAft>
                <a:spcPts val="400"/>
              </a:spcAft>
              <a:buSzPts val="1000"/>
              <a:tabLst>
                <a:tab pos="914400" algn="l"/>
              </a:tabLst>
            </a:pPr>
            <a:r>
              <a:rPr lang="en-US" altLang="ja-JP" kern="0" dirty="0">
                <a:solidFill>
                  <a:srgbClr val="09090B"/>
                </a:solidFill>
                <a:effectLst/>
                <a:latin typeface="+mn-ea"/>
                <a:cs typeface="Arial" panose="020B0604020202020204" pitchFamily="34" charset="0"/>
              </a:rPr>
              <a:t>3.2.6 </a:t>
            </a:r>
            <a:r>
              <a:rPr lang="ja-JP" altLang="ja-JP" kern="0" dirty="0">
                <a:solidFill>
                  <a:srgbClr val="09090B"/>
                </a:solidFill>
                <a:effectLst/>
                <a:latin typeface="+mn-ea"/>
                <a:cs typeface="Arial" panose="020B0604020202020204" pitchFamily="34" charset="0"/>
              </a:rPr>
              <a:t>セキュリティ</a:t>
            </a:r>
            <a:r>
              <a:rPr lang="ja-JP" altLang="en-US" kern="0" dirty="0">
                <a:solidFill>
                  <a:srgbClr val="09090B"/>
                </a:solidFill>
                <a:effectLst/>
                <a:latin typeface="+mn-ea"/>
                <a:cs typeface="Arial" panose="020B0604020202020204" pitchFamily="34" charset="0"/>
              </a:rPr>
              <a:t>　＋　</a:t>
            </a:r>
            <a:r>
              <a:rPr lang="en-US" altLang="ja-JP" kern="0" dirty="0">
                <a:solidFill>
                  <a:srgbClr val="09090B"/>
                </a:solidFill>
                <a:effectLst/>
                <a:latin typeface="+mn-ea"/>
                <a:cs typeface="Arial" panose="020B0604020202020204" pitchFamily="34" charset="0"/>
              </a:rPr>
              <a:t>3.2.7 </a:t>
            </a:r>
            <a:r>
              <a:rPr lang="ja-JP" altLang="en-US" kern="0" dirty="0">
                <a:solidFill>
                  <a:srgbClr val="09090B"/>
                </a:solidFill>
                <a:effectLst/>
                <a:latin typeface="+mn-ea"/>
                <a:cs typeface="Arial" panose="020B0604020202020204" pitchFamily="34" charset="0"/>
              </a:rPr>
              <a:t>ガバナンス                           </a:t>
            </a:r>
            <a:r>
              <a:rPr lang="en-US" altLang="ja-JP" kern="0" dirty="0">
                <a:solidFill>
                  <a:srgbClr val="09090B"/>
                </a:solidFill>
                <a:effectLst/>
                <a:latin typeface="+mn-ea"/>
                <a:cs typeface="Arial" panose="020B0604020202020204" pitchFamily="34" charset="0"/>
              </a:rPr>
              <a:t>P34</a:t>
            </a:r>
            <a:r>
              <a:rPr lang="ja-JP" altLang="en-US" kern="0" dirty="0">
                <a:solidFill>
                  <a:srgbClr val="09090B"/>
                </a:solidFill>
                <a:effectLst/>
                <a:latin typeface="+mn-ea"/>
                <a:cs typeface="Arial" panose="020B0604020202020204" pitchFamily="34" charset="0"/>
              </a:rPr>
              <a:t>                    </a:t>
            </a:r>
            <a:endParaRPr lang="ja-JP" altLang="ja-JP" kern="100" dirty="0">
              <a:solidFill>
                <a:srgbClr val="09090B"/>
              </a:solidFill>
              <a:effectLst/>
              <a:latin typeface="+mn-ea"/>
              <a:cs typeface="Times New Roman" panose="02020603050405020304" pitchFamily="18" charset="0"/>
            </a:endParaRPr>
          </a:p>
        </p:txBody>
      </p:sp>
      <p:sp>
        <p:nvSpPr>
          <p:cNvPr id="18" name="テキスト ボックス 17">
            <a:extLst>
              <a:ext uri="{FF2B5EF4-FFF2-40B4-BE49-F238E27FC236}">
                <a16:creationId xmlns:a16="http://schemas.microsoft.com/office/drawing/2014/main" id="{278CD9E0-92A3-2186-ADC3-3333964170BA}"/>
              </a:ext>
            </a:extLst>
          </p:cNvPr>
          <p:cNvSpPr txBox="1"/>
          <p:nvPr/>
        </p:nvSpPr>
        <p:spPr>
          <a:xfrm>
            <a:off x="793102" y="6259264"/>
            <a:ext cx="6903828" cy="369332"/>
          </a:xfrm>
          <a:prstGeom prst="rect">
            <a:avLst/>
          </a:prstGeom>
          <a:noFill/>
        </p:spPr>
        <p:txBody>
          <a:bodyPr wrap="square">
            <a:spAutoFit/>
          </a:bodyPr>
          <a:lstStyle/>
          <a:p>
            <a:r>
              <a:rPr lang="ja-JP" altLang="en-US" dirty="0"/>
              <a:t>3.3 移行に関する要件                                                           </a:t>
            </a:r>
            <a:r>
              <a:rPr lang="en-US" altLang="ja-JP" dirty="0"/>
              <a:t>P35</a:t>
            </a:r>
            <a:r>
              <a:rPr lang="ja-JP" altLang="en-US" dirty="0"/>
              <a:t>                                                     </a:t>
            </a:r>
          </a:p>
        </p:txBody>
      </p:sp>
      <p:sp>
        <p:nvSpPr>
          <p:cNvPr id="19" name="四角形: 角を丸くする 18">
            <a:extLst>
              <a:ext uri="{FF2B5EF4-FFF2-40B4-BE49-F238E27FC236}">
                <a16:creationId xmlns:a16="http://schemas.microsoft.com/office/drawing/2014/main" id="{AB9DCA08-CD06-0FB8-143C-522F59F79F30}"/>
              </a:ext>
            </a:extLst>
          </p:cNvPr>
          <p:cNvSpPr/>
          <p:nvPr/>
        </p:nvSpPr>
        <p:spPr>
          <a:xfrm>
            <a:off x="9371924" y="1397519"/>
            <a:ext cx="785032" cy="440700"/>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山口</a:t>
            </a:r>
          </a:p>
        </p:txBody>
      </p:sp>
      <p:sp>
        <p:nvSpPr>
          <p:cNvPr id="20" name="四角形: 角を丸くする 19">
            <a:extLst>
              <a:ext uri="{FF2B5EF4-FFF2-40B4-BE49-F238E27FC236}">
                <a16:creationId xmlns:a16="http://schemas.microsoft.com/office/drawing/2014/main" id="{612A7463-B441-111E-82D7-D17758999964}"/>
              </a:ext>
            </a:extLst>
          </p:cNvPr>
          <p:cNvSpPr/>
          <p:nvPr/>
        </p:nvSpPr>
        <p:spPr>
          <a:xfrm>
            <a:off x="9371924" y="1965901"/>
            <a:ext cx="785032" cy="440700"/>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RFI</a:t>
            </a:r>
            <a:endParaRPr kumimoji="1" lang="ja-JP" altLang="en-US" dirty="0"/>
          </a:p>
        </p:txBody>
      </p:sp>
      <p:sp>
        <p:nvSpPr>
          <p:cNvPr id="21" name="四角形: 角を丸くする 20">
            <a:extLst>
              <a:ext uri="{FF2B5EF4-FFF2-40B4-BE49-F238E27FC236}">
                <a16:creationId xmlns:a16="http://schemas.microsoft.com/office/drawing/2014/main" id="{61F75B8E-AF41-2769-B01C-E0D790CDC5B1}"/>
              </a:ext>
            </a:extLst>
          </p:cNvPr>
          <p:cNvSpPr/>
          <p:nvPr/>
        </p:nvSpPr>
        <p:spPr>
          <a:xfrm>
            <a:off x="9371924" y="2594475"/>
            <a:ext cx="785032" cy="440700"/>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沖野</a:t>
            </a:r>
            <a:endParaRPr kumimoji="1" lang="ja-JP" altLang="en-US" dirty="0"/>
          </a:p>
        </p:txBody>
      </p:sp>
      <p:sp>
        <p:nvSpPr>
          <p:cNvPr id="22" name="四角形: 角を丸くする 21">
            <a:extLst>
              <a:ext uri="{FF2B5EF4-FFF2-40B4-BE49-F238E27FC236}">
                <a16:creationId xmlns:a16="http://schemas.microsoft.com/office/drawing/2014/main" id="{42FA77E0-23EC-036F-224A-072A0AD7DF72}"/>
              </a:ext>
            </a:extLst>
          </p:cNvPr>
          <p:cNvSpPr/>
          <p:nvPr/>
        </p:nvSpPr>
        <p:spPr>
          <a:xfrm>
            <a:off x="6498965" y="4000754"/>
            <a:ext cx="785032" cy="440700"/>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堀家</a:t>
            </a:r>
          </a:p>
        </p:txBody>
      </p:sp>
      <p:sp>
        <p:nvSpPr>
          <p:cNvPr id="23" name="四角形: 角を丸くする 22">
            <a:extLst>
              <a:ext uri="{FF2B5EF4-FFF2-40B4-BE49-F238E27FC236}">
                <a16:creationId xmlns:a16="http://schemas.microsoft.com/office/drawing/2014/main" id="{3B6B83D6-EEA3-6661-BFF3-E3BDD86247CD}"/>
              </a:ext>
            </a:extLst>
          </p:cNvPr>
          <p:cNvSpPr/>
          <p:nvPr/>
        </p:nvSpPr>
        <p:spPr>
          <a:xfrm>
            <a:off x="10156956" y="5150674"/>
            <a:ext cx="785032" cy="440700"/>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山口</a:t>
            </a:r>
          </a:p>
        </p:txBody>
      </p:sp>
      <p:sp>
        <p:nvSpPr>
          <p:cNvPr id="24" name="四角形: 角を丸くする 23">
            <a:extLst>
              <a:ext uri="{FF2B5EF4-FFF2-40B4-BE49-F238E27FC236}">
                <a16:creationId xmlns:a16="http://schemas.microsoft.com/office/drawing/2014/main" id="{E6EB3368-836A-0C01-1ABB-80810005C5A4}"/>
              </a:ext>
            </a:extLst>
          </p:cNvPr>
          <p:cNvSpPr/>
          <p:nvPr/>
        </p:nvSpPr>
        <p:spPr>
          <a:xfrm>
            <a:off x="10156956" y="5677688"/>
            <a:ext cx="785032" cy="440700"/>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沖野</a:t>
            </a:r>
            <a:endParaRPr kumimoji="1" lang="ja-JP" altLang="en-US" dirty="0"/>
          </a:p>
        </p:txBody>
      </p:sp>
      <p:sp>
        <p:nvSpPr>
          <p:cNvPr id="25" name="四角形: 角を丸くする 24">
            <a:extLst>
              <a:ext uri="{FF2B5EF4-FFF2-40B4-BE49-F238E27FC236}">
                <a16:creationId xmlns:a16="http://schemas.microsoft.com/office/drawing/2014/main" id="{D11F6E2E-AB7E-2EDF-3B8C-1ACA94C043D9}"/>
              </a:ext>
            </a:extLst>
          </p:cNvPr>
          <p:cNvSpPr/>
          <p:nvPr/>
        </p:nvSpPr>
        <p:spPr>
          <a:xfrm>
            <a:off x="10156956" y="6228537"/>
            <a:ext cx="785032" cy="440700"/>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山口</a:t>
            </a:r>
          </a:p>
        </p:txBody>
      </p:sp>
      <p:sp>
        <p:nvSpPr>
          <p:cNvPr id="26" name="四角形: 角を丸くする 25">
            <a:extLst>
              <a:ext uri="{FF2B5EF4-FFF2-40B4-BE49-F238E27FC236}">
                <a16:creationId xmlns:a16="http://schemas.microsoft.com/office/drawing/2014/main" id="{F97CF452-CABB-9607-1B6E-AFF46F0FBCF0}"/>
              </a:ext>
            </a:extLst>
          </p:cNvPr>
          <p:cNvSpPr/>
          <p:nvPr/>
        </p:nvSpPr>
        <p:spPr>
          <a:xfrm>
            <a:off x="7482030" y="4417260"/>
            <a:ext cx="785032" cy="440700"/>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沖野</a:t>
            </a:r>
            <a:endParaRPr kumimoji="1" lang="ja-JP" altLang="en-US" dirty="0"/>
          </a:p>
        </p:txBody>
      </p:sp>
      <p:sp>
        <p:nvSpPr>
          <p:cNvPr id="27" name="四角形: 角を丸くする 26">
            <a:extLst>
              <a:ext uri="{FF2B5EF4-FFF2-40B4-BE49-F238E27FC236}">
                <a16:creationId xmlns:a16="http://schemas.microsoft.com/office/drawing/2014/main" id="{71E2DE87-BB9F-AE69-67D4-488B777CF16B}"/>
              </a:ext>
            </a:extLst>
          </p:cNvPr>
          <p:cNvSpPr/>
          <p:nvPr/>
        </p:nvSpPr>
        <p:spPr>
          <a:xfrm>
            <a:off x="8421552" y="4710150"/>
            <a:ext cx="785032" cy="440700"/>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山口</a:t>
            </a:r>
            <a:endParaRPr kumimoji="1" lang="ja-JP" altLang="en-US" dirty="0"/>
          </a:p>
        </p:txBody>
      </p:sp>
    </p:spTree>
    <p:extLst>
      <p:ext uri="{BB962C8B-B14F-4D97-AF65-F5344CB8AC3E}">
        <p14:creationId xmlns:p14="http://schemas.microsoft.com/office/powerpoint/2010/main" val="1837040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5C0611C2-F278-4959-07A4-6202FFCF3BD6}"/>
              </a:ext>
            </a:extLst>
          </p:cNvPr>
          <p:cNvSpPr txBox="1"/>
          <p:nvPr/>
        </p:nvSpPr>
        <p:spPr>
          <a:xfrm>
            <a:off x="2311659" y="2665836"/>
            <a:ext cx="8166618" cy="584775"/>
          </a:xfrm>
          <a:prstGeom prst="rect">
            <a:avLst/>
          </a:prstGeom>
          <a:noFill/>
        </p:spPr>
        <p:txBody>
          <a:bodyPr wrap="square">
            <a:spAutoFit/>
          </a:bodyPr>
          <a:lstStyle/>
          <a:p>
            <a:r>
              <a:rPr lang="ja-JP" altLang="en-US" sz="3200" b="1" u="none" strike="noStrike" dirty="0">
                <a:effectLst/>
              </a:rPr>
              <a:t>現行環境 </a:t>
            </a:r>
            <a:r>
              <a:rPr lang="en-US" altLang="ja-JP" sz="3200" b="1" u="none" strike="noStrike" dirty="0">
                <a:effectLst/>
              </a:rPr>
              <a:t>(</a:t>
            </a:r>
            <a:r>
              <a:rPr lang="ja-JP" altLang="en-US" sz="3200" b="1" u="none" strike="noStrike" dirty="0">
                <a:effectLst/>
              </a:rPr>
              <a:t>パランティア</a:t>
            </a:r>
            <a:r>
              <a:rPr lang="en-US" altLang="ja-JP" sz="3200" b="1" u="none" strike="noStrike" dirty="0">
                <a:effectLst/>
              </a:rPr>
              <a:t>Foundry) </a:t>
            </a:r>
            <a:r>
              <a:rPr lang="ja-JP" altLang="en-US" sz="3200" b="1" u="none" strike="noStrike" dirty="0">
                <a:effectLst/>
              </a:rPr>
              <a:t>について</a:t>
            </a:r>
            <a:endParaRPr lang="ja-JP" altLang="en-US" sz="3200" dirty="0"/>
          </a:p>
        </p:txBody>
      </p:sp>
    </p:spTree>
    <p:extLst>
      <p:ext uri="{BB962C8B-B14F-4D97-AF65-F5344CB8AC3E}">
        <p14:creationId xmlns:p14="http://schemas.microsoft.com/office/powerpoint/2010/main" val="1259847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914E0085-4C5C-7332-608F-E604F28E8325}"/>
              </a:ext>
            </a:extLst>
          </p:cNvPr>
          <p:cNvSpPr>
            <a:spLocks noGrp="1"/>
          </p:cNvSpPr>
          <p:nvPr>
            <p:ph type="sldNum" sz="quarter" idx="12"/>
          </p:nvPr>
        </p:nvSpPr>
        <p:spPr/>
        <p:txBody>
          <a:bodyPr/>
          <a:lstStyle/>
          <a:p>
            <a:fld id="{3CF0D48A-DAAA-4BD2-8086-9ED048EDC496}" type="slidenum">
              <a:rPr kumimoji="1" lang="ja-JP" altLang="en-US" smtClean="0"/>
              <a:t>4</a:t>
            </a:fld>
            <a:endParaRPr kumimoji="1" lang="ja-JP" altLang="en-US"/>
          </a:p>
        </p:txBody>
      </p:sp>
      <p:sp>
        <p:nvSpPr>
          <p:cNvPr id="5" name="四角形: 角を丸くする 4">
            <a:extLst>
              <a:ext uri="{FF2B5EF4-FFF2-40B4-BE49-F238E27FC236}">
                <a16:creationId xmlns:a16="http://schemas.microsoft.com/office/drawing/2014/main" id="{B8047AD4-6B47-35EF-E84B-5B9A9F1433B3}"/>
              </a:ext>
            </a:extLst>
          </p:cNvPr>
          <p:cNvSpPr/>
          <p:nvPr/>
        </p:nvSpPr>
        <p:spPr>
          <a:xfrm>
            <a:off x="4637397" y="161181"/>
            <a:ext cx="1649963" cy="513183"/>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err="1">
                <a:solidFill>
                  <a:schemeClr val="tx1"/>
                </a:solidFill>
              </a:rPr>
              <a:t>Care_record</a:t>
            </a:r>
            <a:endParaRPr kumimoji="1" lang="en-US" altLang="ja-JP" dirty="0">
              <a:solidFill>
                <a:schemeClr val="tx1"/>
              </a:solidFill>
            </a:endParaRPr>
          </a:p>
        </p:txBody>
      </p:sp>
      <p:sp>
        <p:nvSpPr>
          <p:cNvPr id="6" name="四角形: 角を丸くする 5">
            <a:extLst>
              <a:ext uri="{FF2B5EF4-FFF2-40B4-BE49-F238E27FC236}">
                <a16:creationId xmlns:a16="http://schemas.microsoft.com/office/drawing/2014/main" id="{7260C0FE-B21D-2163-81BF-75D1EDBA2B02}"/>
              </a:ext>
            </a:extLst>
          </p:cNvPr>
          <p:cNvSpPr/>
          <p:nvPr/>
        </p:nvSpPr>
        <p:spPr>
          <a:xfrm>
            <a:off x="161716" y="494523"/>
            <a:ext cx="2105609" cy="737118"/>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介護記録システム</a:t>
            </a:r>
            <a:endParaRPr kumimoji="1" lang="en-US" altLang="ja-JP" dirty="0">
              <a:solidFill>
                <a:schemeClr val="tx1"/>
              </a:solidFill>
            </a:endParaRPr>
          </a:p>
        </p:txBody>
      </p:sp>
      <p:sp>
        <p:nvSpPr>
          <p:cNvPr id="7" name="四角形: 角を丸くする 6">
            <a:extLst>
              <a:ext uri="{FF2B5EF4-FFF2-40B4-BE49-F238E27FC236}">
                <a16:creationId xmlns:a16="http://schemas.microsoft.com/office/drawing/2014/main" id="{642D36D9-EA64-8EEB-C819-45D8ACC3F0E5}"/>
              </a:ext>
            </a:extLst>
          </p:cNvPr>
          <p:cNvSpPr/>
          <p:nvPr/>
        </p:nvSpPr>
        <p:spPr>
          <a:xfrm>
            <a:off x="4637393" y="4231610"/>
            <a:ext cx="2173645" cy="737118"/>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Residency_</a:t>
            </a:r>
            <a:br>
              <a:rPr kumimoji="1" lang="en-US" altLang="ja-JP" dirty="0">
                <a:solidFill>
                  <a:schemeClr val="tx1"/>
                </a:solidFill>
              </a:rPr>
            </a:br>
            <a:r>
              <a:rPr kumimoji="1" lang="en-US" altLang="ja-JP" dirty="0" err="1">
                <a:solidFill>
                  <a:schemeClr val="tx1"/>
                </a:solidFill>
              </a:rPr>
              <a:t>change_history</a:t>
            </a:r>
            <a:endParaRPr kumimoji="1" lang="en-US" altLang="ja-JP" dirty="0">
              <a:solidFill>
                <a:schemeClr val="tx1"/>
              </a:solidFill>
            </a:endParaRPr>
          </a:p>
        </p:txBody>
      </p:sp>
      <p:sp>
        <p:nvSpPr>
          <p:cNvPr id="9" name="四角形: 角を丸くする 8">
            <a:extLst>
              <a:ext uri="{FF2B5EF4-FFF2-40B4-BE49-F238E27FC236}">
                <a16:creationId xmlns:a16="http://schemas.microsoft.com/office/drawing/2014/main" id="{DDF35CE6-5E06-1812-3EBA-0A3AE197261E}"/>
              </a:ext>
            </a:extLst>
          </p:cNvPr>
          <p:cNvSpPr/>
          <p:nvPr/>
        </p:nvSpPr>
        <p:spPr>
          <a:xfrm>
            <a:off x="202149" y="2906219"/>
            <a:ext cx="2173645" cy="737118"/>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連携</a:t>
            </a:r>
            <a:r>
              <a:rPr lang="en-US" altLang="ja-JP" dirty="0">
                <a:solidFill>
                  <a:schemeClr val="tx1"/>
                </a:solidFill>
              </a:rPr>
              <a:t>PF</a:t>
            </a:r>
            <a:br>
              <a:rPr lang="en-US" altLang="ja-JP" dirty="0">
                <a:solidFill>
                  <a:schemeClr val="tx1"/>
                </a:solidFill>
              </a:rPr>
            </a:br>
            <a:r>
              <a:rPr lang="en-US" altLang="ja-JP" dirty="0">
                <a:solidFill>
                  <a:schemeClr val="tx1"/>
                </a:solidFill>
              </a:rPr>
              <a:t>(</a:t>
            </a:r>
            <a:r>
              <a:rPr lang="ja-JP" altLang="en-US" dirty="0">
                <a:solidFill>
                  <a:schemeClr val="tx1"/>
                </a:solidFill>
              </a:rPr>
              <a:t>ほのぼの・</a:t>
            </a:r>
            <a:r>
              <a:rPr lang="en-US" altLang="ja-JP" dirty="0">
                <a:solidFill>
                  <a:schemeClr val="tx1"/>
                </a:solidFill>
              </a:rPr>
              <a:t>SFA</a:t>
            </a:r>
            <a:r>
              <a:rPr lang="ja-JP" altLang="en-US" dirty="0">
                <a:solidFill>
                  <a:schemeClr val="tx1"/>
                </a:solidFill>
              </a:rPr>
              <a:t>）</a:t>
            </a:r>
            <a:endParaRPr kumimoji="1" lang="en-US" altLang="ja-JP" dirty="0">
              <a:solidFill>
                <a:schemeClr val="tx1"/>
              </a:solidFill>
            </a:endParaRPr>
          </a:p>
        </p:txBody>
      </p:sp>
      <p:sp>
        <p:nvSpPr>
          <p:cNvPr id="11" name="四角形: 角を丸くする 10">
            <a:extLst>
              <a:ext uri="{FF2B5EF4-FFF2-40B4-BE49-F238E27FC236}">
                <a16:creationId xmlns:a16="http://schemas.microsoft.com/office/drawing/2014/main" id="{7CC8BF2C-6D78-C884-5FCA-1F30FF831B78}"/>
              </a:ext>
            </a:extLst>
          </p:cNvPr>
          <p:cNvSpPr/>
          <p:nvPr/>
        </p:nvSpPr>
        <p:spPr>
          <a:xfrm>
            <a:off x="4667709" y="3603815"/>
            <a:ext cx="1649963" cy="564048"/>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Recipient</a:t>
            </a:r>
            <a:endParaRPr kumimoji="1" lang="en-US" altLang="ja-JP" dirty="0">
              <a:solidFill>
                <a:schemeClr val="tx1"/>
              </a:solidFill>
            </a:endParaRPr>
          </a:p>
        </p:txBody>
      </p:sp>
      <p:sp>
        <p:nvSpPr>
          <p:cNvPr id="12" name="四角形: 角を丸くする 11">
            <a:extLst>
              <a:ext uri="{FF2B5EF4-FFF2-40B4-BE49-F238E27FC236}">
                <a16:creationId xmlns:a16="http://schemas.microsoft.com/office/drawing/2014/main" id="{CFF34D75-BCB0-5E9B-F7A9-2C3EEC8B82DF}"/>
              </a:ext>
            </a:extLst>
          </p:cNvPr>
          <p:cNvSpPr/>
          <p:nvPr/>
        </p:nvSpPr>
        <p:spPr>
          <a:xfrm>
            <a:off x="4664514" y="2969162"/>
            <a:ext cx="1649963" cy="564047"/>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Facility</a:t>
            </a:r>
          </a:p>
        </p:txBody>
      </p:sp>
      <p:sp>
        <p:nvSpPr>
          <p:cNvPr id="13" name="四角形: 角を丸くする 12">
            <a:extLst>
              <a:ext uri="{FF2B5EF4-FFF2-40B4-BE49-F238E27FC236}">
                <a16:creationId xmlns:a16="http://schemas.microsoft.com/office/drawing/2014/main" id="{8051EF57-0A76-E93E-03F6-D3B6ED7DFE0D}"/>
              </a:ext>
            </a:extLst>
          </p:cNvPr>
          <p:cNvSpPr/>
          <p:nvPr/>
        </p:nvSpPr>
        <p:spPr>
          <a:xfrm>
            <a:off x="9333722" y="1655782"/>
            <a:ext cx="1649963" cy="513183"/>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Alert</a:t>
            </a:r>
            <a:endParaRPr kumimoji="1" lang="en-US" altLang="ja-JP" dirty="0">
              <a:solidFill>
                <a:schemeClr val="tx1"/>
              </a:solidFill>
            </a:endParaRPr>
          </a:p>
        </p:txBody>
      </p:sp>
      <p:sp>
        <p:nvSpPr>
          <p:cNvPr id="14" name="四角形: 角を丸くする 13">
            <a:extLst>
              <a:ext uri="{FF2B5EF4-FFF2-40B4-BE49-F238E27FC236}">
                <a16:creationId xmlns:a16="http://schemas.microsoft.com/office/drawing/2014/main" id="{939149A5-A7AE-ADAE-3C64-42DBBEA3BDD8}"/>
              </a:ext>
            </a:extLst>
          </p:cNvPr>
          <p:cNvSpPr/>
          <p:nvPr/>
        </p:nvSpPr>
        <p:spPr>
          <a:xfrm>
            <a:off x="7086679" y="1650704"/>
            <a:ext cx="1649963" cy="513183"/>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Taurus</a:t>
            </a:r>
          </a:p>
        </p:txBody>
      </p:sp>
      <p:sp>
        <p:nvSpPr>
          <p:cNvPr id="15" name="テキスト ボックス 14">
            <a:extLst>
              <a:ext uri="{FF2B5EF4-FFF2-40B4-BE49-F238E27FC236}">
                <a16:creationId xmlns:a16="http://schemas.microsoft.com/office/drawing/2014/main" id="{1FAE8276-7648-AE64-A382-30632D80C905}"/>
              </a:ext>
            </a:extLst>
          </p:cNvPr>
          <p:cNvSpPr txBox="1"/>
          <p:nvPr/>
        </p:nvSpPr>
        <p:spPr>
          <a:xfrm>
            <a:off x="7724146" y="2248269"/>
            <a:ext cx="3219151" cy="369332"/>
          </a:xfrm>
          <a:prstGeom prst="rect">
            <a:avLst/>
          </a:prstGeom>
          <a:noFill/>
        </p:spPr>
        <p:txBody>
          <a:bodyPr wrap="none" rtlCol="0">
            <a:spAutoFit/>
          </a:bodyPr>
          <a:lstStyle/>
          <a:p>
            <a:r>
              <a:rPr kumimoji="1" lang="en-US" altLang="ja-JP" dirty="0" err="1"/>
              <a:t>Production_recipient_alert</a:t>
            </a:r>
            <a:r>
              <a:rPr kumimoji="1" lang="ja-JP" altLang="en-US" dirty="0"/>
              <a:t>等</a:t>
            </a:r>
          </a:p>
        </p:txBody>
      </p:sp>
      <p:sp>
        <p:nvSpPr>
          <p:cNvPr id="17" name="テキスト ボックス 16">
            <a:extLst>
              <a:ext uri="{FF2B5EF4-FFF2-40B4-BE49-F238E27FC236}">
                <a16:creationId xmlns:a16="http://schemas.microsoft.com/office/drawing/2014/main" id="{0DD3FFCC-80CE-F84C-178A-8F5CAA0EA5D1}"/>
              </a:ext>
            </a:extLst>
          </p:cNvPr>
          <p:cNvSpPr txBox="1"/>
          <p:nvPr/>
        </p:nvSpPr>
        <p:spPr>
          <a:xfrm>
            <a:off x="7002323" y="4535169"/>
            <a:ext cx="1107996" cy="369332"/>
          </a:xfrm>
          <a:prstGeom prst="rect">
            <a:avLst/>
          </a:prstGeom>
          <a:noFill/>
        </p:spPr>
        <p:txBody>
          <a:bodyPr wrap="none" rtlCol="0">
            <a:spAutoFit/>
          </a:bodyPr>
          <a:lstStyle/>
          <a:p>
            <a:r>
              <a:rPr lang="ja-JP" altLang="en-US" dirty="0"/>
              <a:t>入居状況</a:t>
            </a:r>
            <a:endParaRPr kumimoji="1" lang="ja-JP" altLang="en-US" dirty="0"/>
          </a:p>
        </p:txBody>
      </p:sp>
      <p:sp>
        <p:nvSpPr>
          <p:cNvPr id="18" name="テキスト ボックス 17">
            <a:extLst>
              <a:ext uri="{FF2B5EF4-FFF2-40B4-BE49-F238E27FC236}">
                <a16:creationId xmlns:a16="http://schemas.microsoft.com/office/drawing/2014/main" id="{D2B7426A-5788-3B2F-829C-99739B98F55A}"/>
              </a:ext>
            </a:extLst>
          </p:cNvPr>
          <p:cNvSpPr txBox="1"/>
          <p:nvPr/>
        </p:nvSpPr>
        <p:spPr>
          <a:xfrm>
            <a:off x="6775418" y="1255647"/>
            <a:ext cx="2492990" cy="369332"/>
          </a:xfrm>
          <a:prstGeom prst="rect">
            <a:avLst/>
          </a:prstGeom>
          <a:noFill/>
        </p:spPr>
        <p:txBody>
          <a:bodyPr wrap="none" rtlCol="0">
            <a:spAutoFit/>
          </a:bodyPr>
          <a:lstStyle/>
          <a:p>
            <a:r>
              <a:rPr kumimoji="1" lang="ja-JP" altLang="en-US" dirty="0"/>
              <a:t>アラート判定ブロック</a:t>
            </a:r>
          </a:p>
        </p:txBody>
      </p:sp>
      <p:sp>
        <p:nvSpPr>
          <p:cNvPr id="19" name="四角形: 角を丸くする 18">
            <a:extLst>
              <a:ext uri="{FF2B5EF4-FFF2-40B4-BE49-F238E27FC236}">
                <a16:creationId xmlns:a16="http://schemas.microsoft.com/office/drawing/2014/main" id="{52DF75AD-4960-2E6F-B829-8054CF47C85D}"/>
              </a:ext>
            </a:extLst>
          </p:cNvPr>
          <p:cNvSpPr/>
          <p:nvPr/>
        </p:nvSpPr>
        <p:spPr>
          <a:xfrm>
            <a:off x="4763363" y="5052138"/>
            <a:ext cx="1649963" cy="564047"/>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Sleep event</a:t>
            </a:r>
            <a:endParaRPr kumimoji="1" lang="en-US" altLang="ja-JP" dirty="0">
              <a:solidFill>
                <a:schemeClr val="tx1"/>
              </a:solidFill>
            </a:endParaRPr>
          </a:p>
        </p:txBody>
      </p:sp>
      <p:sp>
        <p:nvSpPr>
          <p:cNvPr id="20" name="四角形: 角を丸くする 19">
            <a:extLst>
              <a:ext uri="{FF2B5EF4-FFF2-40B4-BE49-F238E27FC236}">
                <a16:creationId xmlns:a16="http://schemas.microsoft.com/office/drawing/2014/main" id="{4DC72E8C-676E-1B87-C2FC-AF5912D206D0}"/>
              </a:ext>
            </a:extLst>
          </p:cNvPr>
          <p:cNvSpPr/>
          <p:nvPr/>
        </p:nvSpPr>
        <p:spPr>
          <a:xfrm>
            <a:off x="291411" y="4946941"/>
            <a:ext cx="2105609" cy="737118"/>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眠り</a:t>
            </a:r>
            <a:r>
              <a:rPr lang="en-US" altLang="ja-JP" dirty="0">
                <a:solidFill>
                  <a:schemeClr val="tx1"/>
                </a:solidFill>
              </a:rPr>
              <a:t>SCAN</a:t>
            </a:r>
            <a:endParaRPr kumimoji="1" lang="en-US" altLang="ja-JP" dirty="0">
              <a:solidFill>
                <a:schemeClr val="tx1"/>
              </a:solidFill>
            </a:endParaRPr>
          </a:p>
        </p:txBody>
      </p:sp>
      <p:sp>
        <p:nvSpPr>
          <p:cNvPr id="21" name="四角形: 角を丸くする 20">
            <a:extLst>
              <a:ext uri="{FF2B5EF4-FFF2-40B4-BE49-F238E27FC236}">
                <a16:creationId xmlns:a16="http://schemas.microsoft.com/office/drawing/2014/main" id="{75130373-3874-602F-6DED-E86C83F65AC8}"/>
              </a:ext>
            </a:extLst>
          </p:cNvPr>
          <p:cNvSpPr/>
          <p:nvPr/>
        </p:nvSpPr>
        <p:spPr>
          <a:xfrm>
            <a:off x="297623" y="5984357"/>
            <a:ext cx="2105609" cy="737118"/>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Nurse</a:t>
            </a:r>
            <a:r>
              <a:rPr kumimoji="1" lang="ja-JP" altLang="en-US" dirty="0">
                <a:solidFill>
                  <a:schemeClr val="tx1"/>
                </a:solidFill>
              </a:rPr>
              <a:t> </a:t>
            </a:r>
            <a:r>
              <a:rPr kumimoji="1" lang="en-US" altLang="ja-JP" dirty="0">
                <a:solidFill>
                  <a:schemeClr val="tx1"/>
                </a:solidFill>
              </a:rPr>
              <a:t>call</a:t>
            </a:r>
          </a:p>
        </p:txBody>
      </p:sp>
      <p:sp>
        <p:nvSpPr>
          <p:cNvPr id="22" name="四角形: 角を丸くする 21">
            <a:extLst>
              <a:ext uri="{FF2B5EF4-FFF2-40B4-BE49-F238E27FC236}">
                <a16:creationId xmlns:a16="http://schemas.microsoft.com/office/drawing/2014/main" id="{6DA3BEE0-C416-BB99-AD9E-81E92DC97643}"/>
              </a:ext>
            </a:extLst>
          </p:cNvPr>
          <p:cNvSpPr/>
          <p:nvPr/>
        </p:nvSpPr>
        <p:spPr>
          <a:xfrm>
            <a:off x="9268408" y="494523"/>
            <a:ext cx="1649963" cy="737118"/>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RDP-</a:t>
            </a:r>
            <a:r>
              <a:rPr lang="en-US" altLang="ja-JP" dirty="0" err="1">
                <a:solidFill>
                  <a:schemeClr val="tx1"/>
                </a:solidFill>
              </a:rPr>
              <a:t>CmcStatus</a:t>
            </a:r>
            <a:endParaRPr kumimoji="1" lang="en-US" altLang="ja-JP" dirty="0">
              <a:solidFill>
                <a:schemeClr val="tx1"/>
              </a:solidFill>
            </a:endParaRPr>
          </a:p>
        </p:txBody>
      </p:sp>
      <p:sp>
        <p:nvSpPr>
          <p:cNvPr id="23" name="四角形: 角を丸くする 22">
            <a:extLst>
              <a:ext uri="{FF2B5EF4-FFF2-40B4-BE49-F238E27FC236}">
                <a16:creationId xmlns:a16="http://schemas.microsoft.com/office/drawing/2014/main" id="{E6B7D0C1-33FF-645B-0520-B88ADF9B8D6F}"/>
              </a:ext>
            </a:extLst>
          </p:cNvPr>
          <p:cNvSpPr/>
          <p:nvPr/>
        </p:nvSpPr>
        <p:spPr>
          <a:xfrm>
            <a:off x="4637393" y="805217"/>
            <a:ext cx="1649963" cy="513183"/>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err="1">
                <a:solidFill>
                  <a:schemeClr val="tx1"/>
                </a:solidFill>
              </a:rPr>
              <a:t>Care_</a:t>
            </a:r>
            <a:r>
              <a:rPr lang="en-US" altLang="ja-JP" dirty="0" err="1">
                <a:solidFill>
                  <a:schemeClr val="tx1"/>
                </a:solidFill>
              </a:rPr>
              <a:t>plan</a:t>
            </a:r>
            <a:endParaRPr kumimoji="1" lang="en-US" altLang="ja-JP" dirty="0">
              <a:solidFill>
                <a:schemeClr val="tx1"/>
              </a:solidFill>
            </a:endParaRPr>
          </a:p>
        </p:txBody>
      </p:sp>
      <p:sp>
        <p:nvSpPr>
          <p:cNvPr id="24" name="四角形: 角を丸くする 23">
            <a:extLst>
              <a:ext uri="{FF2B5EF4-FFF2-40B4-BE49-F238E27FC236}">
                <a16:creationId xmlns:a16="http://schemas.microsoft.com/office/drawing/2014/main" id="{BCD69CD4-0BF8-17CB-F6C0-DF2F39D3A96E}"/>
              </a:ext>
            </a:extLst>
          </p:cNvPr>
          <p:cNvSpPr/>
          <p:nvPr/>
        </p:nvSpPr>
        <p:spPr>
          <a:xfrm>
            <a:off x="4637393" y="1492022"/>
            <a:ext cx="1649963" cy="513183"/>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Vital</a:t>
            </a:r>
            <a:endParaRPr kumimoji="1" lang="en-US" altLang="ja-JP" dirty="0">
              <a:solidFill>
                <a:schemeClr val="tx1"/>
              </a:solidFill>
            </a:endParaRPr>
          </a:p>
        </p:txBody>
      </p:sp>
      <p:cxnSp>
        <p:nvCxnSpPr>
          <p:cNvPr id="26" name="直線矢印コネクタ 25">
            <a:extLst>
              <a:ext uri="{FF2B5EF4-FFF2-40B4-BE49-F238E27FC236}">
                <a16:creationId xmlns:a16="http://schemas.microsoft.com/office/drawing/2014/main" id="{4AE2212B-CEF9-6152-8775-92510BFBCCBF}"/>
              </a:ext>
            </a:extLst>
          </p:cNvPr>
          <p:cNvCxnSpPr>
            <a:stCxn id="5" idx="3"/>
            <a:endCxn id="14" idx="1"/>
          </p:cNvCxnSpPr>
          <p:nvPr/>
        </p:nvCxnSpPr>
        <p:spPr>
          <a:xfrm>
            <a:off x="6287360" y="417773"/>
            <a:ext cx="799319" cy="14895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直線矢印コネクタ 27">
            <a:extLst>
              <a:ext uri="{FF2B5EF4-FFF2-40B4-BE49-F238E27FC236}">
                <a16:creationId xmlns:a16="http://schemas.microsoft.com/office/drawing/2014/main" id="{F098CB5C-0B17-2447-6DEC-09391A06D445}"/>
              </a:ext>
            </a:extLst>
          </p:cNvPr>
          <p:cNvCxnSpPr>
            <a:stCxn id="23" idx="3"/>
            <a:endCxn id="14" idx="1"/>
          </p:cNvCxnSpPr>
          <p:nvPr/>
        </p:nvCxnSpPr>
        <p:spPr>
          <a:xfrm>
            <a:off x="6287356" y="1061809"/>
            <a:ext cx="799323" cy="8454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直線矢印コネクタ 29">
            <a:extLst>
              <a:ext uri="{FF2B5EF4-FFF2-40B4-BE49-F238E27FC236}">
                <a16:creationId xmlns:a16="http://schemas.microsoft.com/office/drawing/2014/main" id="{740CDB80-6EBA-5C4F-CE55-616033BD127E}"/>
              </a:ext>
            </a:extLst>
          </p:cNvPr>
          <p:cNvCxnSpPr>
            <a:stCxn id="24" idx="3"/>
            <a:endCxn id="14" idx="1"/>
          </p:cNvCxnSpPr>
          <p:nvPr/>
        </p:nvCxnSpPr>
        <p:spPr>
          <a:xfrm>
            <a:off x="6287356" y="1748614"/>
            <a:ext cx="799323" cy="15868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直線矢印コネクタ 31">
            <a:extLst>
              <a:ext uri="{FF2B5EF4-FFF2-40B4-BE49-F238E27FC236}">
                <a16:creationId xmlns:a16="http://schemas.microsoft.com/office/drawing/2014/main" id="{8321A168-7132-925E-0DBA-F9765D595C98}"/>
              </a:ext>
            </a:extLst>
          </p:cNvPr>
          <p:cNvCxnSpPr>
            <a:stCxn id="14" idx="3"/>
            <a:endCxn id="13" idx="1"/>
          </p:cNvCxnSpPr>
          <p:nvPr/>
        </p:nvCxnSpPr>
        <p:spPr>
          <a:xfrm>
            <a:off x="8736642" y="1907296"/>
            <a:ext cx="597080" cy="50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7" name="四角形: 角を丸くする 36">
            <a:extLst>
              <a:ext uri="{FF2B5EF4-FFF2-40B4-BE49-F238E27FC236}">
                <a16:creationId xmlns:a16="http://schemas.microsoft.com/office/drawing/2014/main" id="{15734343-FA14-9A34-1954-96A7DCF81DBB}"/>
              </a:ext>
            </a:extLst>
          </p:cNvPr>
          <p:cNvSpPr/>
          <p:nvPr/>
        </p:nvSpPr>
        <p:spPr>
          <a:xfrm>
            <a:off x="4660062" y="2146658"/>
            <a:ext cx="1649963" cy="513183"/>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Accident</a:t>
            </a:r>
          </a:p>
        </p:txBody>
      </p:sp>
      <p:cxnSp>
        <p:nvCxnSpPr>
          <p:cNvPr id="39" name="直線矢印コネクタ 38">
            <a:extLst>
              <a:ext uri="{FF2B5EF4-FFF2-40B4-BE49-F238E27FC236}">
                <a16:creationId xmlns:a16="http://schemas.microsoft.com/office/drawing/2014/main" id="{BB3E0950-B6FD-047C-2F24-5F596A1D95A8}"/>
              </a:ext>
            </a:extLst>
          </p:cNvPr>
          <p:cNvCxnSpPr>
            <a:stCxn id="9" idx="3"/>
            <a:endCxn id="7" idx="1"/>
          </p:cNvCxnSpPr>
          <p:nvPr/>
        </p:nvCxnSpPr>
        <p:spPr>
          <a:xfrm>
            <a:off x="2375794" y="3274778"/>
            <a:ext cx="2261599" cy="13253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直線矢印コネクタ 40">
            <a:extLst>
              <a:ext uri="{FF2B5EF4-FFF2-40B4-BE49-F238E27FC236}">
                <a16:creationId xmlns:a16="http://schemas.microsoft.com/office/drawing/2014/main" id="{94FB5C4B-FB74-42B9-3E30-1AFE4299D998}"/>
              </a:ext>
            </a:extLst>
          </p:cNvPr>
          <p:cNvCxnSpPr>
            <a:stCxn id="9" idx="3"/>
            <a:endCxn id="12" idx="1"/>
          </p:cNvCxnSpPr>
          <p:nvPr/>
        </p:nvCxnSpPr>
        <p:spPr>
          <a:xfrm flipV="1">
            <a:off x="2375794" y="3251186"/>
            <a:ext cx="2288720" cy="235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 name="直線矢印コネクタ 42">
            <a:extLst>
              <a:ext uri="{FF2B5EF4-FFF2-40B4-BE49-F238E27FC236}">
                <a16:creationId xmlns:a16="http://schemas.microsoft.com/office/drawing/2014/main" id="{B7005C95-6D0D-0854-A7FB-AC0FB63900DF}"/>
              </a:ext>
            </a:extLst>
          </p:cNvPr>
          <p:cNvCxnSpPr>
            <a:stCxn id="9" idx="3"/>
            <a:endCxn id="11" idx="1"/>
          </p:cNvCxnSpPr>
          <p:nvPr/>
        </p:nvCxnSpPr>
        <p:spPr>
          <a:xfrm>
            <a:off x="2375794" y="3274778"/>
            <a:ext cx="2291915" cy="6110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直線矢印コネクタ 44">
            <a:extLst>
              <a:ext uri="{FF2B5EF4-FFF2-40B4-BE49-F238E27FC236}">
                <a16:creationId xmlns:a16="http://schemas.microsoft.com/office/drawing/2014/main" id="{3F035B9E-87AB-996C-C3E9-B837BB1923F7}"/>
              </a:ext>
            </a:extLst>
          </p:cNvPr>
          <p:cNvCxnSpPr>
            <a:stCxn id="20" idx="3"/>
            <a:endCxn id="19" idx="1"/>
          </p:cNvCxnSpPr>
          <p:nvPr/>
        </p:nvCxnSpPr>
        <p:spPr>
          <a:xfrm>
            <a:off x="2397020" y="5315500"/>
            <a:ext cx="2366343" cy="186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6" name="四角形: 角を丸くする 45">
            <a:extLst>
              <a:ext uri="{FF2B5EF4-FFF2-40B4-BE49-F238E27FC236}">
                <a16:creationId xmlns:a16="http://schemas.microsoft.com/office/drawing/2014/main" id="{A16D8660-A4DB-D169-0E7B-1DE747E84BD2}"/>
              </a:ext>
            </a:extLst>
          </p:cNvPr>
          <p:cNvSpPr/>
          <p:nvPr/>
        </p:nvSpPr>
        <p:spPr>
          <a:xfrm>
            <a:off x="9114563" y="3302435"/>
            <a:ext cx="1649963" cy="737118"/>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RDP-</a:t>
            </a:r>
            <a:r>
              <a:rPr lang="en-US" altLang="ja-JP" dirty="0" err="1">
                <a:solidFill>
                  <a:schemeClr val="tx1"/>
                </a:solidFill>
              </a:rPr>
              <a:t>CmcSheet</a:t>
            </a:r>
            <a:endParaRPr kumimoji="1" lang="en-US" altLang="ja-JP" dirty="0">
              <a:solidFill>
                <a:schemeClr val="tx1"/>
              </a:solidFill>
            </a:endParaRPr>
          </a:p>
        </p:txBody>
      </p:sp>
      <p:sp>
        <p:nvSpPr>
          <p:cNvPr id="51" name="四角形: 角を丸くする 50">
            <a:extLst>
              <a:ext uri="{FF2B5EF4-FFF2-40B4-BE49-F238E27FC236}">
                <a16:creationId xmlns:a16="http://schemas.microsoft.com/office/drawing/2014/main" id="{0416C396-094D-18DD-4C09-934823F3CED0}"/>
              </a:ext>
            </a:extLst>
          </p:cNvPr>
          <p:cNvSpPr/>
          <p:nvPr/>
        </p:nvSpPr>
        <p:spPr>
          <a:xfrm>
            <a:off x="8856791" y="4953639"/>
            <a:ext cx="2173645" cy="737118"/>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Assessment-v4</a:t>
            </a:r>
            <a:endParaRPr kumimoji="1" lang="en-US" altLang="ja-JP" dirty="0">
              <a:solidFill>
                <a:schemeClr val="tx1"/>
              </a:solidFill>
            </a:endParaRPr>
          </a:p>
        </p:txBody>
      </p:sp>
      <p:sp>
        <p:nvSpPr>
          <p:cNvPr id="52" name="四角形: 角を丸くする 51">
            <a:extLst>
              <a:ext uri="{FF2B5EF4-FFF2-40B4-BE49-F238E27FC236}">
                <a16:creationId xmlns:a16="http://schemas.microsoft.com/office/drawing/2014/main" id="{1BCD31A1-13C2-6F1C-7669-935D32962D1A}"/>
              </a:ext>
            </a:extLst>
          </p:cNvPr>
          <p:cNvSpPr/>
          <p:nvPr/>
        </p:nvSpPr>
        <p:spPr>
          <a:xfrm>
            <a:off x="8853199" y="5845397"/>
            <a:ext cx="2226906" cy="737118"/>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LIFE</a:t>
            </a:r>
            <a:r>
              <a:rPr kumimoji="1" lang="ja-JP" altLang="en-US" dirty="0">
                <a:solidFill>
                  <a:schemeClr val="tx1"/>
                </a:solidFill>
              </a:rPr>
              <a:t>連携システム</a:t>
            </a:r>
            <a:endParaRPr kumimoji="1" lang="en-US" altLang="ja-JP" dirty="0">
              <a:solidFill>
                <a:schemeClr val="tx1"/>
              </a:solidFill>
            </a:endParaRPr>
          </a:p>
        </p:txBody>
      </p:sp>
      <p:cxnSp>
        <p:nvCxnSpPr>
          <p:cNvPr id="54" name="直線矢印コネクタ 53">
            <a:extLst>
              <a:ext uri="{FF2B5EF4-FFF2-40B4-BE49-F238E27FC236}">
                <a16:creationId xmlns:a16="http://schemas.microsoft.com/office/drawing/2014/main" id="{051D7DA3-0563-FB52-F7C6-80A48A704214}"/>
              </a:ext>
            </a:extLst>
          </p:cNvPr>
          <p:cNvCxnSpPr>
            <a:stCxn id="51" idx="0"/>
            <a:endCxn id="46" idx="2"/>
          </p:cNvCxnSpPr>
          <p:nvPr/>
        </p:nvCxnSpPr>
        <p:spPr>
          <a:xfrm flipH="1" flipV="1">
            <a:off x="9939545" y="4039553"/>
            <a:ext cx="4069" cy="9140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5" name="四角形: 角を丸くする 54">
            <a:extLst>
              <a:ext uri="{FF2B5EF4-FFF2-40B4-BE49-F238E27FC236}">
                <a16:creationId xmlns:a16="http://schemas.microsoft.com/office/drawing/2014/main" id="{3050CFC0-C7BA-CB75-324A-66BD05E8CDFB}"/>
              </a:ext>
            </a:extLst>
          </p:cNvPr>
          <p:cNvSpPr/>
          <p:nvPr/>
        </p:nvSpPr>
        <p:spPr>
          <a:xfrm>
            <a:off x="4180114" y="74645"/>
            <a:ext cx="7725747" cy="2800656"/>
          </a:xfrm>
          <a:prstGeom prst="round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6" name="テキスト ボックス 55">
            <a:extLst>
              <a:ext uri="{FF2B5EF4-FFF2-40B4-BE49-F238E27FC236}">
                <a16:creationId xmlns:a16="http://schemas.microsoft.com/office/drawing/2014/main" id="{54FAA285-CE7F-6E66-70F0-20AABE0D8D8D}"/>
              </a:ext>
            </a:extLst>
          </p:cNvPr>
          <p:cNvSpPr txBox="1"/>
          <p:nvPr/>
        </p:nvSpPr>
        <p:spPr>
          <a:xfrm>
            <a:off x="9007239" y="-37803"/>
            <a:ext cx="1864613" cy="369332"/>
          </a:xfrm>
          <a:prstGeom prst="rect">
            <a:avLst/>
          </a:prstGeom>
          <a:solidFill>
            <a:schemeClr val="bg1"/>
          </a:solidFill>
        </p:spPr>
        <p:txBody>
          <a:bodyPr wrap="none" rtlCol="0">
            <a:spAutoFit/>
          </a:bodyPr>
          <a:lstStyle/>
          <a:p>
            <a:r>
              <a:rPr kumimoji="1" lang="en-US" altLang="ja-JP" dirty="0"/>
              <a:t>CMC</a:t>
            </a:r>
            <a:r>
              <a:rPr kumimoji="1" lang="ja-JP" altLang="en-US" dirty="0"/>
              <a:t>モジュール</a:t>
            </a:r>
          </a:p>
        </p:txBody>
      </p:sp>
      <p:sp>
        <p:nvSpPr>
          <p:cNvPr id="59" name="四角形: 角を丸くする 58">
            <a:extLst>
              <a:ext uri="{FF2B5EF4-FFF2-40B4-BE49-F238E27FC236}">
                <a16:creationId xmlns:a16="http://schemas.microsoft.com/office/drawing/2014/main" id="{A0F67D36-2490-0509-84D0-7A11976735EB}"/>
              </a:ext>
            </a:extLst>
          </p:cNvPr>
          <p:cNvSpPr/>
          <p:nvPr/>
        </p:nvSpPr>
        <p:spPr>
          <a:xfrm>
            <a:off x="3226130" y="5750139"/>
            <a:ext cx="587907" cy="300783"/>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テキスト ボックス 59">
            <a:extLst>
              <a:ext uri="{FF2B5EF4-FFF2-40B4-BE49-F238E27FC236}">
                <a16:creationId xmlns:a16="http://schemas.microsoft.com/office/drawing/2014/main" id="{77BB26EA-A55E-A874-8D6B-51E82BC9B822}"/>
              </a:ext>
            </a:extLst>
          </p:cNvPr>
          <p:cNvSpPr txBox="1"/>
          <p:nvPr/>
        </p:nvSpPr>
        <p:spPr>
          <a:xfrm>
            <a:off x="3886699" y="5715864"/>
            <a:ext cx="2262158" cy="369332"/>
          </a:xfrm>
          <a:prstGeom prst="rect">
            <a:avLst/>
          </a:prstGeom>
          <a:noFill/>
        </p:spPr>
        <p:txBody>
          <a:bodyPr wrap="none" rtlCol="0">
            <a:spAutoFit/>
          </a:bodyPr>
          <a:lstStyle/>
          <a:p>
            <a:r>
              <a:rPr lang="ja-JP" altLang="en-US" dirty="0"/>
              <a:t>データ元のシステム</a:t>
            </a:r>
            <a:endParaRPr kumimoji="1" lang="ja-JP" altLang="en-US" dirty="0"/>
          </a:p>
        </p:txBody>
      </p:sp>
      <p:sp>
        <p:nvSpPr>
          <p:cNvPr id="61" name="四角形: 角を丸くする 60">
            <a:extLst>
              <a:ext uri="{FF2B5EF4-FFF2-40B4-BE49-F238E27FC236}">
                <a16:creationId xmlns:a16="http://schemas.microsoft.com/office/drawing/2014/main" id="{43578E68-0195-FDE2-E0F3-50837FFBCC02}"/>
              </a:ext>
            </a:extLst>
          </p:cNvPr>
          <p:cNvSpPr/>
          <p:nvPr/>
        </p:nvSpPr>
        <p:spPr>
          <a:xfrm>
            <a:off x="3226130" y="6107422"/>
            <a:ext cx="587907" cy="300783"/>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テキスト ボックス 61">
            <a:extLst>
              <a:ext uri="{FF2B5EF4-FFF2-40B4-BE49-F238E27FC236}">
                <a16:creationId xmlns:a16="http://schemas.microsoft.com/office/drawing/2014/main" id="{9E032585-D09B-2DED-CE72-1665CC294B30}"/>
              </a:ext>
            </a:extLst>
          </p:cNvPr>
          <p:cNvSpPr txBox="1"/>
          <p:nvPr/>
        </p:nvSpPr>
        <p:spPr>
          <a:xfrm>
            <a:off x="3886699" y="6080893"/>
            <a:ext cx="3185487" cy="369332"/>
          </a:xfrm>
          <a:prstGeom prst="rect">
            <a:avLst/>
          </a:prstGeom>
          <a:noFill/>
        </p:spPr>
        <p:txBody>
          <a:bodyPr wrap="none" rtlCol="0">
            <a:spAutoFit/>
          </a:bodyPr>
          <a:lstStyle/>
          <a:p>
            <a:r>
              <a:rPr kumimoji="1" lang="ja-JP" altLang="en-US" dirty="0"/>
              <a:t>予測で使用するデータセット</a:t>
            </a:r>
          </a:p>
        </p:txBody>
      </p:sp>
      <p:sp>
        <p:nvSpPr>
          <p:cNvPr id="63" name="四角形: 角を丸くする 62">
            <a:extLst>
              <a:ext uri="{FF2B5EF4-FFF2-40B4-BE49-F238E27FC236}">
                <a16:creationId xmlns:a16="http://schemas.microsoft.com/office/drawing/2014/main" id="{F9DF6B78-6579-4FEF-66A0-2E40B449A6AC}"/>
              </a:ext>
            </a:extLst>
          </p:cNvPr>
          <p:cNvSpPr/>
          <p:nvPr/>
        </p:nvSpPr>
        <p:spPr>
          <a:xfrm>
            <a:off x="3261672" y="6490688"/>
            <a:ext cx="587907" cy="300783"/>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テキスト ボックス 63">
            <a:extLst>
              <a:ext uri="{FF2B5EF4-FFF2-40B4-BE49-F238E27FC236}">
                <a16:creationId xmlns:a16="http://schemas.microsoft.com/office/drawing/2014/main" id="{EFD0B379-D8B3-E66F-4974-A346C4584AA7}"/>
              </a:ext>
            </a:extLst>
          </p:cNvPr>
          <p:cNvSpPr txBox="1"/>
          <p:nvPr/>
        </p:nvSpPr>
        <p:spPr>
          <a:xfrm>
            <a:off x="3977531" y="6426340"/>
            <a:ext cx="3018775" cy="369332"/>
          </a:xfrm>
          <a:prstGeom prst="rect">
            <a:avLst/>
          </a:prstGeom>
          <a:noFill/>
        </p:spPr>
        <p:txBody>
          <a:bodyPr wrap="none" rtlCol="0">
            <a:spAutoFit/>
          </a:bodyPr>
          <a:lstStyle/>
          <a:p>
            <a:r>
              <a:rPr kumimoji="1" lang="en-US" altLang="ja-JP" dirty="0"/>
              <a:t>CMC</a:t>
            </a:r>
            <a:r>
              <a:rPr kumimoji="1" lang="ja-JP" altLang="en-US" dirty="0"/>
              <a:t>画面用の</a:t>
            </a:r>
            <a:r>
              <a:rPr lang="ja-JP" altLang="en-US" dirty="0"/>
              <a:t>データセット</a:t>
            </a:r>
            <a:endParaRPr kumimoji="1" lang="ja-JP" altLang="en-US" dirty="0"/>
          </a:p>
        </p:txBody>
      </p:sp>
      <p:cxnSp>
        <p:nvCxnSpPr>
          <p:cNvPr id="66" name="直線コネクタ 65">
            <a:extLst>
              <a:ext uri="{FF2B5EF4-FFF2-40B4-BE49-F238E27FC236}">
                <a16:creationId xmlns:a16="http://schemas.microsoft.com/office/drawing/2014/main" id="{CF9D25BC-CDD9-2B4C-BA49-57F48A55533C}"/>
              </a:ext>
            </a:extLst>
          </p:cNvPr>
          <p:cNvCxnSpPr/>
          <p:nvPr/>
        </p:nvCxnSpPr>
        <p:spPr>
          <a:xfrm>
            <a:off x="2668542" y="146863"/>
            <a:ext cx="0" cy="6574612"/>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sp>
        <p:nvSpPr>
          <p:cNvPr id="67" name="テキスト ボックス 66">
            <a:extLst>
              <a:ext uri="{FF2B5EF4-FFF2-40B4-BE49-F238E27FC236}">
                <a16:creationId xmlns:a16="http://schemas.microsoft.com/office/drawing/2014/main" id="{9EE7E666-624D-2A6A-4A76-0142EDB6BB09}"/>
              </a:ext>
            </a:extLst>
          </p:cNvPr>
          <p:cNvSpPr txBox="1"/>
          <p:nvPr/>
        </p:nvSpPr>
        <p:spPr>
          <a:xfrm>
            <a:off x="592046" y="65214"/>
            <a:ext cx="1516762" cy="369332"/>
          </a:xfrm>
          <a:prstGeom prst="rect">
            <a:avLst/>
          </a:prstGeom>
          <a:noFill/>
        </p:spPr>
        <p:txBody>
          <a:bodyPr wrap="none" rtlCol="0">
            <a:spAutoFit/>
          </a:bodyPr>
          <a:lstStyle/>
          <a:p>
            <a:r>
              <a:rPr kumimoji="1" lang="en-US" altLang="ja-JP" dirty="0"/>
              <a:t>Foundry</a:t>
            </a:r>
            <a:r>
              <a:rPr kumimoji="1" lang="ja-JP" altLang="en-US" dirty="0"/>
              <a:t>の外</a:t>
            </a:r>
          </a:p>
        </p:txBody>
      </p:sp>
      <p:sp>
        <p:nvSpPr>
          <p:cNvPr id="68" name="テキスト ボックス 67">
            <a:extLst>
              <a:ext uri="{FF2B5EF4-FFF2-40B4-BE49-F238E27FC236}">
                <a16:creationId xmlns:a16="http://schemas.microsoft.com/office/drawing/2014/main" id="{F4EAD8E2-FCC4-3CED-D474-89995C0A8FCD}"/>
              </a:ext>
            </a:extLst>
          </p:cNvPr>
          <p:cNvSpPr txBox="1"/>
          <p:nvPr/>
        </p:nvSpPr>
        <p:spPr>
          <a:xfrm>
            <a:off x="2745710" y="48440"/>
            <a:ext cx="1516762" cy="369332"/>
          </a:xfrm>
          <a:prstGeom prst="rect">
            <a:avLst/>
          </a:prstGeom>
          <a:noFill/>
        </p:spPr>
        <p:txBody>
          <a:bodyPr wrap="none" rtlCol="0">
            <a:spAutoFit/>
          </a:bodyPr>
          <a:lstStyle/>
          <a:p>
            <a:r>
              <a:rPr kumimoji="1" lang="en-US" altLang="ja-JP" dirty="0"/>
              <a:t>Foundry</a:t>
            </a:r>
            <a:r>
              <a:rPr kumimoji="1" lang="ja-JP" altLang="en-US" dirty="0"/>
              <a:t>の内</a:t>
            </a:r>
          </a:p>
        </p:txBody>
      </p:sp>
      <p:cxnSp>
        <p:nvCxnSpPr>
          <p:cNvPr id="70" name="直線矢印コネクタ 69">
            <a:extLst>
              <a:ext uri="{FF2B5EF4-FFF2-40B4-BE49-F238E27FC236}">
                <a16:creationId xmlns:a16="http://schemas.microsoft.com/office/drawing/2014/main" id="{8D6B156B-E0D4-015C-5A4F-D0300F150289}"/>
              </a:ext>
            </a:extLst>
          </p:cNvPr>
          <p:cNvCxnSpPr>
            <a:stCxn id="6" idx="3"/>
            <a:endCxn id="5" idx="1"/>
          </p:cNvCxnSpPr>
          <p:nvPr/>
        </p:nvCxnSpPr>
        <p:spPr>
          <a:xfrm flipV="1">
            <a:off x="2267325" y="417773"/>
            <a:ext cx="2370072" cy="4453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2" name="直線矢印コネクタ 71">
            <a:extLst>
              <a:ext uri="{FF2B5EF4-FFF2-40B4-BE49-F238E27FC236}">
                <a16:creationId xmlns:a16="http://schemas.microsoft.com/office/drawing/2014/main" id="{DFAFF0AA-2FF3-C0DC-FED3-359E2E6CA4DD}"/>
              </a:ext>
            </a:extLst>
          </p:cNvPr>
          <p:cNvCxnSpPr>
            <a:stCxn id="6" idx="3"/>
            <a:endCxn id="23" idx="1"/>
          </p:cNvCxnSpPr>
          <p:nvPr/>
        </p:nvCxnSpPr>
        <p:spPr>
          <a:xfrm>
            <a:off x="2267325" y="863082"/>
            <a:ext cx="2370068" cy="1987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6" name="直線矢印コネクタ 75">
            <a:extLst>
              <a:ext uri="{FF2B5EF4-FFF2-40B4-BE49-F238E27FC236}">
                <a16:creationId xmlns:a16="http://schemas.microsoft.com/office/drawing/2014/main" id="{098DF7C5-5A73-5354-C1D4-ABEF08D63F73}"/>
              </a:ext>
            </a:extLst>
          </p:cNvPr>
          <p:cNvCxnSpPr>
            <a:stCxn id="6" idx="3"/>
            <a:endCxn id="24" idx="1"/>
          </p:cNvCxnSpPr>
          <p:nvPr/>
        </p:nvCxnSpPr>
        <p:spPr>
          <a:xfrm>
            <a:off x="2267325" y="863082"/>
            <a:ext cx="2370068" cy="8855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8" name="直線矢印コネクタ 77">
            <a:extLst>
              <a:ext uri="{FF2B5EF4-FFF2-40B4-BE49-F238E27FC236}">
                <a16:creationId xmlns:a16="http://schemas.microsoft.com/office/drawing/2014/main" id="{6DA3D322-D790-21C7-4E52-62D7BBE1A6D1}"/>
              </a:ext>
            </a:extLst>
          </p:cNvPr>
          <p:cNvCxnSpPr>
            <a:stCxn id="6" idx="3"/>
            <a:endCxn id="37" idx="1"/>
          </p:cNvCxnSpPr>
          <p:nvPr/>
        </p:nvCxnSpPr>
        <p:spPr>
          <a:xfrm>
            <a:off x="2267325" y="863082"/>
            <a:ext cx="2392737" cy="15401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0" name="直線矢印コネクタ 79">
            <a:extLst>
              <a:ext uri="{FF2B5EF4-FFF2-40B4-BE49-F238E27FC236}">
                <a16:creationId xmlns:a16="http://schemas.microsoft.com/office/drawing/2014/main" id="{0E5A0D40-3356-50F5-73F6-97FB27E8A973}"/>
              </a:ext>
            </a:extLst>
          </p:cNvPr>
          <p:cNvCxnSpPr>
            <a:stCxn id="37" idx="3"/>
            <a:endCxn id="14" idx="1"/>
          </p:cNvCxnSpPr>
          <p:nvPr/>
        </p:nvCxnSpPr>
        <p:spPr>
          <a:xfrm flipV="1">
            <a:off x="6310025" y="1907296"/>
            <a:ext cx="776654" cy="4959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2" name="直線矢印コネクタ 81">
            <a:extLst>
              <a:ext uri="{FF2B5EF4-FFF2-40B4-BE49-F238E27FC236}">
                <a16:creationId xmlns:a16="http://schemas.microsoft.com/office/drawing/2014/main" id="{F5004E51-303C-C6ED-6D14-56D6F1E54661}"/>
              </a:ext>
            </a:extLst>
          </p:cNvPr>
          <p:cNvCxnSpPr>
            <a:stCxn id="12" idx="3"/>
          </p:cNvCxnSpPr>
          <p:nvPr/>
        </p:nvCxnSpPr>
        <p:spPr>
          <a:xfrm flipV="1">
            <a:off x="6314477" y="2607694"/>
            <a:ext cx="687846" cy="6434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 name="直線矢印コネクタ 1">
            <a:extLst>
              <a:ext uri="{FF2B5EF4-FFF2-40B4-BE49-F238E27FC236}">
                <a16:creationId xmlns:a16="http://schemas.microsoft.com/office/drawing/2014/main" id="{D1A1CEFE-6F60-9887-FBBC-EFF2B92EBD1E}"/>
              </a:ext>
            </a:extLst>
          </p:cNvPr>
          <p:cNvCxnSpPr>
            <a:cxnSpLocks/>
          </p:cNvCxnSpPr>
          <p:nvPr/>
        </p:nvCxnSpPr>
        <p:spPr>
          <a:xfrm flipV="1">
            <a:off x="6325319" y="2626770"/>
            <a:ext cx="677004" cy="13275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直線矢印コネクタ 9">
            <a:extLst>
              <a:ext uri="{FF2B5EF4-FFF2-40B4-BE49-F238E27FC236}">
                <a16:creationId xmlns:a16="http://schemas.microsoft.com/office/drawing/2014/main" id="{B8A55EF2-B513-0D91-C40B-25EEBB67C881}"/>
              </a:ext>
            </a:extLst>
          </p:cNvPr>
          <p:cNvCxnSpPr>
            <a:stCxn id="5" idx="3"/>
            <a:endCxn id="22" idx="1"/>
          </p:cNvCxnSpPr>
          <p:nvPr/>
        </p:nvCxnSpPr>
        <p:spPr>
          <a:xfrm>
            <a:off x="6287360" y="417773"/>
            <a:ext cx="2981048" cy="4453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直線矢印コネクタ 24">
            <a:extLst>
              <a:ext uri="{FF2B5EF4-FFF2-40B4-BE49-F238E27FC236}">
                <a16:creationId xmlns:a16="http://schemas.microsoft.com/office/drawing/2014/main" id="{5CBB797F-4559-25BE-DF50-940BD428CEDB}"/>
              </a:ext>
            </a:extLst>
          </p:cNvPr>
          <p:cNvCxnSpPr>
            <a:stCxn id="23" idx="3"/>
            <a:endCxn id="22" idx="1"/>
          </p:cNvCxnSpPr>
          <p:nvPr/>
        </p:nvCxnSpPr>
        <p:spPr>
          <a:xfrm flipV="1">
            <a:off x="6287356" y="863082"/>
            <a:ext cx="2981052" cy="1987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3" name="四角形: 角を丸くする 32">
            <a:extLst>
              <a:ext uri="{FF2B5EF4-FFF2-40B4-BE49-F238E27FC236}">
                <a16:creationId xmlns:a16="http://schemas.microsoft.com/office/drawing/2014/main" id="{F9CCC55E-F406-CFC2-1EF2-8DAAC23B1C8A}"/>
              </a:ext>
            </a:extLst>
          </p:cNvPr>
          <p:cNvSpPr/>
          <p:nvPr/>
        </p:nvSpPr>
        <p:spPr>
          <a:xfrm>
            <a:off x="2911151" y="5667129"/>
            <a:ext cx="4469361" cy="1190871"/>
          </a:xfrm>
          <a:prstGeom prst="round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矢印: 左カーブ 33">
            <a:extLst>
              <a:ext uri="{FF2B5EF4-FFF2-40B4-BE49-F238E27FC236}">
                <a16:creationId xmlns:a16="http://schemas.microsoft.com/office/drawing/2014/main" id="{E89CF022-FAB4-7BE1-A441-01926053D7C7}"/>
              </a:ext>
            </a:extLst>
          </p:cNvPr>
          <p:cNvSpPr/>
          <p:nvPr/>
        </p:nvSpPr>
        <p:spPr>
          <a:xfrm>
            <a:off x="10915500" y="723498"/>
            <a:ext cx="1043085" cy="2892464"/>
          </a:xfrm>
          <a:prstGeom prst="curvedLeftArrow">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 name="テキスト ボックス 2">
            <a:extLst>
              <a:ext uri="{FF2B5EF4-FFF2-40B4-BE49-F238E27FC236}">
                <a16:creationId xmlns:a16="http://schemas.microsoft.com/office/drawing/2014/main" id="{F403A2C3-819B-AA34-F060-A8B75CF90E2D}"/>
              </a:ext>
            </a:extLst>
          </p:cNvPr>
          <p:cNvSpPr txBox="1"/>
          <p:nvPr/>
        </p:nvSpPr>
        <p:spPr>
          <a:xfrm>
            <a:off x="1511559" y="1748614"/>
            <a:ext cx="543739" cy="523220"/>
          </a:xfrm>
          <a:prstGeom prst="rect">
            <a:avLst/>
          </a:prstGeom>
          <a:noFill/>
        </p:spPr>
        <p:txBody>
          <a:bodyPr wrap="none" rtlCol="0">
            <a:spAutoFit/>
          </a:bodyPr>
          <a:lstStyle/>
          <a:p>
            <a:r>
              <a:rPr kumimoji="1" lang="ja-JP" altLang="en-US" sz="2800" dirty="0">
                <a:solidFill>
                  <a:schemeClr val="accent2">
                    <a:lumMod val="75000"/>
                  </a:schemeClr>
                </a:solidFill>
              </a:rPr>
              <a:t>①</a:t>
            </a:r>
          </a:p>
        </p:txBody>
      </p:sp>
      <p:sp>
        <p:nvSpPr>
          <p:cNvPr id="8" name="テキスト ボックス 7">
            <a:extLst>
              <a:ext uri="{FF2B5EF4-FFF2-40B4-BE49-F238E27FC236}">
                <a16:creationId xmlns:a16="http://schemas.microsoft.com/office/drawing/2014/main" id="{4ED434A0-6F14-4C36-15F2-0F92251DCFB1}"/>
              </a:ext>
            </a:extLst>
          </p:cNvPr>
          <p:cNvSpPr txBox="1"/>
          <p:nvPr/>
        </p:nvSpPr>
        <p:spPr>
          <a:xfrm>
            <a:off x="3072076" y="1743595"/>
            <a:ext cx="543739" cy="523220"/>
          </a:xfrm>
          <a:prstGeom prst="rect">
            <a:avLst/>
          </a:prstGeom>
          <a:noFill/>
        </p:spPr>
        <p:txBody>
          <a:bodyPr wrap="none" rtlCol="0">
            <a:spAutoFit/>
          </a:bodyPr>
          <a:lstStyle/>
          <a:p>
            <a:r>
              <a:rPr kumimoji="1" lang="ja-JP" altLang="en-US" sz="2800" dirty="0">
                <a:solidFill>
                  <a:schemeClr val="accent2">
                    <a:lumMod val="75000"/>
                  </a:schemeClr>
                </a:solidFill>
              </a:rPr>
              <a:t>②</a:t>
            </a:r>
          </a:p>
        </p:txBody>
      </p:sp>
      <p:sp>
        <p:nvSpPr>
          <p:cNvPr id="16" name="テキスト ボックス 15">
            <a:extLst>
              <a:ext uri="{FF2B5EF4-FFF2-40B4-BE49-F238E27FC236}">
                <a16:creationId xmlns:a16="http://schemas.microsoft.com/office/drawing/2014/main" id="{4FECCA3C-8B09-CD8F-9665-FE56D54FE877}"/>
              </a:ext>
            </a:extLst>
          </p:cNvPr>
          <p:cNvSpPr txBox="1"/>
          <p:nvPr/>
        </p:nvSpPr>
        <p:spPr>
          <a:xfrm>
            <a:off x="6558012" y="2055193"/>
            <a:ext cx="543739" cy="523220"/>
          </a:xfrm>
          <a:prstGeom prst="rect">
            <a:avLst/>
          </a:prstGeom>
          <a:noFill/>
        </p:spPr>
        <p:txBody>
          <a:bodyPr wrap="none" rtlCol="0">
            <a:spAutoFit/>
          </a:bodyPr>
          <a:lstStyle/>
          <a:p>
            <a:r>
              <a:rPr lang="ja-JP" altLang="en-US" sz="2800" dirty="0">
                <a:solidFill>
                  <a:schemeClr val="accent2">
                    <a:lumMod val="75000"/>
                  </a:schemeClr>
                </a:solidFill>
              </a:rPr>
              <a:t>③</a:t>
            </a:r>
            <a:endParaRPr kumimoji="1" lang="ja-JP" altLang="en-US" sz="2800" dirty="0">
              <a:solidFill>
                <a:schemeClr val="accent2">
                  <a:lumMod val="75000"/>
                </a:schemeClr>
              </a:solidFill>
            </a:endParaRPr>
          </a:p>
        </p:txBody>
      </p:sp>
      <p:sp>
        <p:nvSpPr>
          <p:cNvPr id="29" name="テキスト ボックス 28">
            <a:extLst>
              <a:ext uri="{FF2B5EF4-FFF2-40B4-BE49-F238E27FC236}">
                <a16:creationId xmlns:a16="http://schemas.microsoft.com/office/drawing/2014/main" id="{F8539E93-A883-7545-57F0-34BC659B8FE2}"/>
              </a:ext>
            </a:extLst>
          </p:cNvPr>
          <p:cNvSpPr txBox="1"/>
          <p:nvPr/>
        </p:nvSpPr>
        <p:spPr>
          <a:xfrm>
            <a:off x="-1079776" y="1420261"/>
            <a:ext cx="3229676" cy="369332"/>
          </a:xfrm>
          <a:prstGeom prst="rect">
            <a:avLst/>
          </a:prstGeom>
          <a:solidFill>
            <a:schemeClr val="accent3">
              <a:lumMod val="20000"/>
              <a:lumOff val="80000"/>
            </a:schemeClr>
          </a:solidFill>
        </p:spPr>
        <p:txBody>
          <a:bodyPr wrap="square">
            <a:spAutoFit/>
          </a:bodyPr>
          <a:lstStyle/>
          <a:p>
            <a:r>
              <a:rPr lang="en-US" altLang="ja-JP" b="1" dirty="0"/>
              <a:t>1)</a:t>
            </a:r>
            <a:r>
              <a:rPr lang="ja-JP" altLang="en-US" b="1" dirty="0"/>
              <a:t>データ加工のフロー全体図 </a:t>
            </a:r>
          </a:p>
        </p:txBody>
      </p:sp>
    </p:spTree>
    <p:extLst>
      <p:ext uri="{BB962C8B-B14F-4D97-AF65-F5344CB8AC3E}">
        <p14:creationId xmlns:p14="http://schemas.microsoft.com/office/powerpoint/2010/main" val="33871302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正方形/長方形 49">
            <a:extLst>
              <a:ext uri="{FF2B5EF4-FFF2-40B4-BE49-F238E27FC236}">
                <a16:creationId xmlns:a16="http://schemas.microsoft.com/office/drawing/2014/main" id="{0E5087B5-B79A-4958-32C6-923B41286C8F}"/>
              </a:ext>
            </a:extLst>
          </p:cNvPr>
          <p:cNvSpPr/>
          <p:nvPr/>
        </p:nvSpPr>
        <p:spPr>
          <a:xfrm>
            <a:off x="4116593" y="2770425"/>
            <a:ext cx="3067835" cy="1214340"/>
          </a:xfrm>
          <a:prstGeom prst="rect">
            <a:avLst/>
          </a:prstGeom>
          <a:solidFill>
            <a:schemeClr val="tx2">
              <a:lumMod val="10000"/>
              <a:lumOff val="90000"/>
            </a:schemeClr>
          </a:solid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C756F669-61EB-4007-9CB6-978F917405A7}"/>
              </a:ext>
            </a:extLst>
          </p:cNvPr>
          <p:cNvCxnSpPr>
            <a:cxnSpLocks/>
          </p:cNvCxnSpPr>
          <p:nvPr/>
        </p:nvCxnSpPr>
        <p:spPr>
          <a:xfrm>
            <a:off x="1589" y="682174"/>
            <a:ext cx="12188825" cy="0"/>
          </a:xfrm>
          <a:prstGeom prst="line">
            <a:avLst/>
          </a:prstGeom>
          <a:ln w="34925">
            <a:solidFill>
              <a:srgbClr val="C00000"/>
            </a:solidFill>
          </a:ln>
        </p:spPr>
        <p:style>
          <a:lnRef idx="1">
            <a:schemeClr val="accent1"/>
          </a:lnRef>
          <a:fillRef idx="0">
            <a:schemeClr val="accent1"/>
          </a:fillRef>
          <a:effectRef idx="0">
            <a:schemeClr val="accent1"/>
          </a:effectRef>
          <a:fontRef idx="minor">
            <a:schemeClr val="tx1"/>
          </a:fontRef>
        </p:style>
      </p:cxnSp>
      <p:sp>
        <p:nvSpPr>
          <p:cNvPr id="11" name="タイトル 2">
            <a:extLst>
              <a:ext uri="{FF2B5EF4-FFF2-40B4-BE49-F238E27FC236}">
                <a16:creationId xmlns:a16="http://schemas.microsoft.com/office/drawing/2014/main" id="{93A2D4AA-2479-40BD-9351-8AD8B048AD10}"/>
              </a:ext>
            </a:extLst>
          </p:cNvPr>
          <p:cNvSpPr txBox="1">
            <a:spLocks/>
          </p:cNvSpPr>
          <p:nvPr/>
        </p:nvSpPr>
        <p:spPr>
          <a:xfrm>
            <a:off x="348361" y="165579"/>
            <a:ext cx="9382540" cy="516048"/>
          </a:xfrm>
          <a:prstGeom prst="rect">
            <a:avLst/>
          </a:prstGeom>
        </p:spPr>
        <p:txBody>
          <a:bodyPr anchor="ctr"/>
          <a:lstStyle>
            <a:lvl1pPr algn="l" defTabSz="914400" rtl="0" eaLnBrk="1" latinLnBrk="0" hangingPunct="1">
              <a:lnSpc>
                <a:spcPct val="90000"/>
              </a:lnSpc>
              <a:spcBef>
                <a:spcPct val="0"/>
              </a:spcBef>
              <a:buNone/>
              <a:defRPr kumimoji="1" sz="2400" b="1"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stStyle>
          <a:p>
            <a:pPr>
              <a:defRPr/>
            </a:pPr>
            <a:r>
              <a:rPr lang="en-US" altLang="ja-JP" b="0" dirty="0">
                <a:solidFill>
                  <a:srgbClr val="262626"/>
                </a:solidFill>
                <a:latin typeface="BIZ UDPゴシック" panose="020B0400000000000000" pitchFamily="50" charset="-128"/>
                <a:ea typeface="BIZ UDPゴシック" panose="020B0400000000000000" pitchFamily="50" charset="-128"/>
              </a:rPr>
              <a:t>2)</a:t>
            </a:r>
            <a:r>
              <a:rPr lang="ja-JP" altLang="en-US" b="0" dirty="0">
                <a:solidFill>
                  <a:srgbClr val="262626"/>
                </a:solidFill>
                <a:latin typeface="BIZ UDPゴシック" panose="020B0400000000000000" pitchFamily="50" charset="-128"/>
                <a:ea typeface="BIZ UDPゴシック" panose="020B0400000000000000" pitchFamily="50" charset="-128"/>
              </a:rPr>
              <a:t>データ連携の概要図（</a:t>
            </a:r>
            <a:r>
              <a:rPr lang="en-US" altLang="ja-JP" b="0" dirty="0">
                <a:solidFill>
                  <a:srgbClr val="262626"/>
                </a:solidFill>
                <a:latin typeface="BIZ UDPゴシック" panose="020B0400000000000000" pitchFamily="50" charset="-128"/>
                <a:ea typeface="BIZ UDPゴシック" panose="020B0400000000000000" pitchFamily="50" charset="-128"/>
              </a:rPr>
              <a:t>S</a:t>
            </a:r>
            <a:r>
              <a:rPr lang="ja-JP" altLang="en-US" b="0" dirty="0">
                <a:solidFill>
                  <a:srgbClr val="262626"/>
                </a:solidFill>
                <a:latin typeface="BIZ UDPゴシック" panose="020B0400000000000000" pitchFamily="50" charset="-128"/>
                <a:ea typeface="BIZ UDPゴシック" panose="020B0400000000000000" pitchFamily="50" charset="-128"/>
              </a:rPr>
              <a:t>ケア　ネットワーク構成概要）</a:t>
            </a:r>
            <a:r>
              <a:rPr lang="en-US" altLang="ja-JP" b="0" dirty="0">
                <a:solidFill>
                  <a:srgbClr val="262626"/>
                </a:solidFill>
                <a:latin typeface="BIZ UDPゴシック" panose="020B0400000000000000" pitchFamily="50" charset="-128"/>
                <a:ea typeface="BIZ UDPゴシック" panose="020B0400000000000000" pitchFamily="50" charset="-128"/>
              </a:rPr>
              <a:t> </a:t>
            </a:r>
            <a:endParaRPr lang="ja-JP" altLang="en-US" b="0" dirty="0">
              <a:solidFill>
                <a:srgbClr val="262626"/>
              </a:solidFill>
              <a:latin typeface="BIZ UDPゴシック" panose="020B0400000000000000" pitchFamily="50" charset="-128"/>
              <a:ea typeface="BIZ UDPゴシック" panose="020B0400000000000000" pitchFamily="50" charset="-128"/>
            </a:endParaRPr>
          </a:p>
        </p:txBody>
      </p:sp>
      <p:pic>
        <p:nvPicPr>
          <p:cNvPr id="17" name="図 16">
            <a:extLst>
              <a:ext uri="{FF2B5EF4-FFF2-40B4-BE49-F238E27FC236}">
                <a16:creationId xmlns:a16="http://schemas.microsoft.com/office/drawing/2014/main" id="{0AD37DC0-117C-58FE-908E-65C9752985AA}"/>
              </a:ext>
            </a:extLst>
          </p:cNvPr>
          <p:cNvPicPr>
            <a:picLocks noChangeAspect="1"/>
          </p:cNvPicPr>
          <p:nvPr/>
        </p:nvPicPr>
        <p:blipFill>
          <a:blip r:embed="rId3"/>
          <a:stretch>
            <a:fillRect/>
          </a:stretch>
        </p:blipFill>
        <p:spPr>
          <a:xfrm>
            <a:off x="976330" y="3229871"/>
            <a:ext cx="1226626" cy="798147"/>
          </a:xfrm>
          <a:prstGeom prst="rect">
            <a:avLst/>
          </a:prstGeom>
          <a:ln w="34925">
            <a:noFill/>
          </a:ln>
        </p:spPr>
      </p:pic>
      <p:sp>
        <p:nvSpPr>
          <p:cNvPr id="132" name="角丸四角形 9">
            <a:extLst>
              <a:ext uri="{FF2B5EF4-FFF2-40B4-BE49-F238E27FC236}">
                <a16:creationId xmlns:a16="http://schemas.microsoft.com/office/drawing/2014/main" id="{CC2F735E-817B-992A-03EC-E31C3BC24CED}"/>
              </a:ext>
            </a:extLst>
          </p:cNvPr>
          <p:cNvSpPr/>
          <p:nvPr/>
        </p:nvSpPr>
        <p:spPr>
          <a:xfrm>
            <a:off x="2591063" y="4098755"/>
            <a:ext cx="8510422" cy="561364"/>
          </a:xfrm>
          <a:prstGeom prst="roundRect">
            <a:avLst/>
          </a:prstGeom>
          <a:solidFill>
            <a:schemeClr val="accent2">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000" b="1">
              <a:solidFill>
                <a:schemeClr val="bg1"/>
              </a:solidFill>
              <a:latin typeface="Meiryo UI" panose="020B0604030504040204" pitchFamily="50" charset="-128"/>
              <a:ea typeface="Meiryo UI" panose="020B0604030504040204" pitchFamily="50" charset="-128"/>
            </a:endParaRPr>
          </a:p>
        </p:txBody>
      </p:sp>
      <p:sp>
        <p:nvSpPr>
          <p:cNvPr id="138" name="Text Box 192">
            <a:extLst>
              <a:ext uri="{FF2B5EF4-FFF2-40B4-BE49-F238E27FC236}">
                <a16:creationId xmlns:a16="http://schemas.microsoft.com/office/drawing/2014/main" id="{8FC10946-5DAD-EA15-30FC-FCA89F9E81EA}"/>
              </a:ext>
            </a:extLst>
          </p:cNvPr>
          <p:cNvSpPr txBox="1">
            <a:spLocks noChangeArrowheads="1"/>
          </p:cNvSpPr>
          <p:nvPr/>
        </p:nvSpPr>
        <p:spPr bwMode="auto">
          <a:xfrm>
            <a:off x="3984190" y="4515250"/>
            <a:ext cx="1179757" cy="211203"/>
          </a:xfrm>
          <a:prstGeom prst="rect">
            <a:avLst/>
          </a:prstGeom>
          <a:solidFill>
            <a:srgbClr val="314D7B"/>
          </a:solidFill>
          <a:ln w="9525">
            <a:solidFill>
              <a:srgbClr val="000000"/>
            </a:solidFill>
            <a:prstDash val="sysDot"/>
            <a:miter lim="800000"/>
            <a:headEnd/>
            <a:tailEnd/>
          </a:ln>
          <a:effectLst/>
        </p:spPr>
        <p:txBody>
          <a:bodyPr wrap="square" tIns="36000" bIns="36000">
            <a:spAutoFit/>
          </a:bodyPr>
          <a:lstStyle/>
          <a:p>
            <a:pPr algn="ctr">
              <a:spcBef>
                <a:spcPct val="50000"/>
              </a:spcBef>
              <a:defRPr/>
            </a:pPr>
            <a:r>
              <a:rPr lang="ja-JP" altLang="en-US" sz="900" kern="0" dirty="0">
                <a:solidFill>
                  <a:srgbClr val="FFFFFF"/>
                </a:solidFill>
                <a:latin typeface="Meiryo UI" panose="020B0604030504040204" pitchFamily="50" charset="-128"/>
                <a:ea typeface="Meiryo UI" panose="020B0604030504040204" pitchFamily="50" charset="-128"/>
                <a:cs typeface="メイリオ" panose="020B0604030504040204" pitchFamily="50" charset="-128"/>
              </a:rPr>
              <a:t>石狩</a:t>
            </a:r>
            <a:r>
              <a:rPr lang="en-US" altLang="ja-JP" sz="900" kern="0" dirty="0">
                <a:solidFill>
                  <a:srgbClr val="FFFFFF"/>
                </a:solidFill>
                <a:latin typeface="Meiryo UI" panose="020B0604030504040204" pitchFamily="50" charset="-128"/>
                <a:ea typeface="Meiryo UI" panose="020B0604030504040204" pitchFamily="50" charset="-128"/>
                <a:cs typeface="メイリオ" panose="020B0604030504040204" pitchFamily="50" charset="-128"/>
              </a:rPr>
              <a:t>DC</a:t>
            </a:r>
          </a:p>
        </p:txBody>
      </p:sp>
      <p:sp>
        <p:nvSpPr>
          <p:cNvPr id="139" name="AutoShape 128" descr="格子 (大)">
            <a:extLst>
              <a:ext uri="{FF2B5EF4-FFF2-40B4-BE49-F238E27FC236}">
                <a16:creationId xmlns:a16="http://schemas.microsoft.com/office/drawing/2014/main" id="{21EAC838-A7A9-616A-7760-469E43F1B046}"/>
              </a:ext>
            </a:extLst>
          </p:cNvPr>
          <p:cNvSpPr>
            <a:spLocks noChangeArrowheads="1"/>
          </p:cNvSpPr>
          <p:nvPr/>
        </p:nvSpPr>
        <p:spPr bwMode="auto">
          <a:xfrm>
            <a:off x="6995018" y="1766209"/>
            <a:ext cx="1395803" cy="610272"/>
          </a:xfrm>
          <a:prstGeom prst="roundRect">
            <a:avLst>
              <a:gd name="adj" fmla="val 7014"/>
            </a:avLst>
          </a:prstGeom>
          <a:solidFill>
            <a:srgbClr val="FFFFE7"/>
          </a:solidFill>
          <a:ln w="25400">
            <a:solidFill>
              <a:srgbClr val="414361"/>
            </a:solidFill>
            <a:round/>
            <a:headEnd/>
            <a:tailEnd/>
          </a:ln>
        </p:spPr>
        <p:txBody>
          <a:bodyPr wrap="none" anchor="ctr"/>
          <a:lstStyle/>
          <a:p>
            <a:pPr>
              <a:spcBef>
                <a:spcPct val="50000"/>
              </a:spcBef>
              <a:defRPr/>
            </a:pPr>
            <a:endParaRPr lang="ja-JP" altLang="ja-JP" sz="1400" kern="0">
              <a:solidFill>
                <a:sysClr val="windowText" lastClr="000000"/>
              </a:solidFill>
              <a:latin typeface="Meiryo UI" panose="020B0604030504040204" pitchFamily="50" charset="-128"/>
              <a:ea typeface="Meiryo UI" panose="020B0604030504040204" pitchFamily="50" charset="-128"/>
              <a:cs typeface="メイリオ" panose="020B0604030504040204" pitchFamily="50" charset="-128"/>
            </a:endParaRPr>
          </a:p>
        </p:txBody>
      </p:sp>
      <p:sp>
        <p:nvSpPr>
          <p:cNvPr id="141" name="Text Box 192">
            <a:extLst>
              <a:ext uri="{FF2B5EF4-FFF2-40B4-BE49-F238E27FC236}">
                <a16:creationId xmlns:a16="http://schemas.microsoft.com/office/drawing/2014/main" id="{F3025FFE-9BAF-12F3-37CA-6C95197AD4CA}"/>
              </a:ext>
            </a:extLst>
          </p:cNvPr>
          <p:cNvSpPr txBox="1">
            <a:spLocks noChangeArrowheads="1"/>
          </p:cNvSpPr>
          <p:nvPr/>
        </p:nvSpPr>
        <p:spPr bwMode="auto">
          <a:xfrm>
            <a:off x="5385648" y="4510407"/>
            <a:ext cx="1159207" cy="211203"/>
          </a:xfrm>
          <a:prstGeom prst="rect">
            <a:avLst/>
          </a:prstGeom>
          <a:solidFill>
            <a:srgbClr val="314D7B"/>
          </a:solidFill>
          <a:ln w="9525">
            <a:solidFill>
              <a:srgbClr val="000000"/>
            </a:solidFill>
            <a:prstDash val="sysDot"/>
            <a:miter lim="800000"/>
            <a:headEnd/>
            <a:tailEnd/>
          </a:ln>
          <a:effectLst/>
        </p:spPr>
        <p:txBody>
          <a:bodyPr wrap="square" tIns="36000" bIns="36000">
            <a:spAutoFit/>
          </a:bodyPr>
          <a:lstStyle/>
          <a:p>
            <a:pPr algn="ctr">
              <a:spcBef>
                <a:spcPct val="50000"/>
              </a:spcBef>
              <a:defRPr/>
            </a:pPr>
            <a:r>
              <a:rPr lang="ja-JP" altLang="en-US" sz="900" kern="0" dirty="0">
                <a:solidFill>
                  <a:srgbClr val="FFFFFF"/>
                </a:solidFill>
                <a:latin typeface="Meiryo UI" panose="020B0604030504040204" pitchFamily="50" charset="-128"/>
                <a:ea typeface="Meiryo UI" panose="020B0604030504040204" pitchFamily="50" charset="-128"/>
                <a:cs typeface="メイリオ" panose="020B0604030504040204" pitchFamily="50" charset="-128"/>
              </a:rPr>
              <a:t>東京本社</a:t>
            </a:r>
            <a:endParaRPr lang="en-US" altLang="ja-JP" sz="900" kern="0" dirty="0">
              <a:solidFill>
                <a:srgbClr val="FFFFFF"/>
              </a:solidFill>
              <a:latin typeface="Meiryo UI" panose="020B0604030504040204" pitchFamily="50" charset="-128"/>
              <a:ea typeface="Meiryo UI" panose="020B0604030504040204" pitchFamily="50" charset="-128"/>
              <a:cs typeface="メイリオ" panose="020B0604030504040204" pitchFamily="50" charset="-128"/>
            </a:endParaRPr>
          </a:p>
        </p:txBody>
      </p:sp>
      <p:sp>
        <p:nvSpPr>
          <p:cNvPr id="145" name="Text Box 192">
            <a:extLst>
              <a:ext uri="{FF2B5EF4-FFF2-40B4-BE49-F238E27FC236}">
                <a16:creationId xmlns:a16="http://schemas.microsoft.com/office/drawing/2014/main" id="{0925BAEF-F9DA-5532-CD2B-40C5C884F5FB}"/>
              </a:ext>
            </a:extLst>
          </p:cNvPr>
          <p:cNvSpPr txBox="1">
            <a:spLocks noChangeArrowheads="1"/>
          </p:cNvSpPr>
          <p:nvPr/>
        </p:nvSpPr>
        <p:spPr bwMode="auto">
          <a:xfrm>
            <a:off x="2646461" y="4522883"/>
            <a:ext cx="1137009" cy="211203"/>
          </a:xfrm>
          <a:prstGeom prst="rect">
            <a:avLst/>
          </a:prstGeom>
          <a:solidFill>
            <a:srgbClr val="314D7B"/>
          </a:solidFill>
          <a:ln w="9525">
            <a:solidFill>
              <a:srgbClr val="000000"/>
            </a:solidFill>
            <a:prstDash val="sysDot"/>
            <a:miter lim="800000"/>
            <a:headEnd/>
            <a:tailEnd/>
          </a:ln>
          <a:effectLst/>
        </p:spPr>
        <p:txBody>
          <a:bodyPr wrap="square" tIns="36000" bIns="36000">
            <a:spAutoFit/>
          </a:bodyPr>
          <a:lstStyle/>
          <a:p>
            <a:pPr algn="ctr">
              <a:spcBef>
                <a:spcPct val="50000"/>
              </a:spcBef>
              <a:defRPr/>
            </a:pPr>
            <a:r>
              <a:rPr lang="ja-JP" altLang="en-US" sz="900" kern="0" dirty="0">
                <a:solidFill>
                  <a:srgbClr val="FFFFFF"/>
                </a:solidFill>
                <a:latin typeface="Meiryo UI" panose="020B0604030504040204" pitchFamily="50" charset="-128"/>
                <a:ea typeface="Meiryo UI" panose="020B0604030504040204" pitchFamily="50" charset="-128"/>
                <a:cs typeface="メイリオ" panose="020B0604030504040204" pitchFamily="50" charset="-128"/>
              </a:rPr>
              <a:t>岡山</a:t>
            </a:r>
            <a:r>
              <a:rPr lang="en-US" altLang="ja-JP" sz="900" kern="0" dirty="0">
                <a:solidFill>
                  <a:srgbClr val="FFFFFF"/>
                </a:solidFill>
                <a:latin typeface="Meiryo UI" panose="020B0604030504040204" pitchFamily="50" charset="-128"/>
                <a:ea typeface="Meiryo UI" panose="020B0604030504040204" pitchFamily="50" charset="-128"/>
                <a:cs typeface="メイリオ" panose="020B0604030504040204" pitchFamily="50" charset="-128"/>
              </a:rPr>
              <a:t>DC</a:t>
            </a:r>
          </a:p>
        </p:txBody>
      </p:sp>
      <p:sp>
        <p:nvSpPr>
          <p:cNvPr id="153" name="Text Box 192">
            <a:extLst>
              <a:ext uri="{FF2B5EF4-FFF2-40B4-BE49-F238E27FC236}">
                <a16:creationId xmlns:a16="http://schemas.microsoft.com/office/drawing/2014/main" id="{BFB99FA7-491B-09C8-ADBC-6C42581C8062}"/>
              </a:ext>
            </a:extLst>
          </p:cNvPr>
          <p:cNvSpPr txBox="1">
            <a:spLocks noChangeArrowheads="1"/>
          </p:cNvSpPr>
          <p:nvPr/>
        </p:nvSpPr>
        <p:spPr bwMode="auto">
          <a:xfrm rot="5400000">
            <a:off x="6459162" y="1862365"/>
            <a:ext cx="838183" cy="211203"/>
          </a:xfrm>
          <a:prstGeom prst="rect">
            <a:avLst/>
          </a:prstGeom>
          <a:solidFill>
            <a:srgbClr val="314D7B"/>
          </a:solidFill>
          <a:ln w="9525">
            <a:solidFill>
              <a:srgbClr val="000000"/>
            </a:solidFill>
            <a:prstDash val="sysDot"/>
            <a:miter lim="800000"/>
            <a:headEnd/>
            <a:tailEnd/>
          </a:ln>
          <a:effectLst/>
        </p:spPr>
        <p:txBody>
          <a:bodyPr wrap="square" tIns="36000" bIns="36000">
            <a:spAutoFit/>
          </a:bodyPr>
          <a:lstStyle/>
          <a:p>
            <a:pPr algn="ctr">
              <a:spcBef>
                <a:spcPct val="50000"/>
              </a:spcBef>
              <a:defRPr/>
            </a:pPr>
            <a:r>
              <a:rPr lang="ja-JP" altLang="en-US" sz="900" kern="0" dirty="0">
                <a:solidFill>
                  <a:srgbClr val="FFFFFF"/>
                </a:solidFill>
                <a:latin typeface="Meiryo UI" panose="020B0604030504040204" pitchFamily="50" charset="-128"/>
                <a:ea typeface="Meiryo UI" panose="020B0604030504040204" pitchFamily="50" charset="-128"/>
                <a:cs typeface="メイリオ" panose="020B0604030504040204" pitchFamily="50" charset="-128"/>
              </a:rPr>
              <a:t>池袋</a:t>
            </a:r>
            <a:r>
              <a:rPr lang="en-US" altLang="ja-JP" sz="900" kern="0" dirty="0">
                <a:solidFill>
                  <a:srgbClr val="FFFFFF"/>
                </a:solidFill>
                <a:latin typeface="Meiryo UI" panose="020B0604030504040204" pitchFamily="50" charset="-128"/>
                <a:ea typeface="Meiryo UI" panose="020B0604030504040204" pitchFamily="50" charset="-128"/>
                <a:cs typeface="メイリオ" panose="020B0604030504040204" pitchFamily="50" charset="-128"/>
              </a:rPr>
              <a:t>DC</a:t>
            </a:r>
          </a:p>
        </p:txBody>
      </p:sp>
      <p:sp>
        <p:nvSpPr>
          <p:cNvPr id="160" name="四角形: 角を丸くする 159">
            <a:extLst>
              <a:ext uri="{FF2B5EF4-FFF2-40B4-BE49-F238E27FC236}">
                <a16:creationId xmlns:a16="http://schemas.microsoft.com/office/drawing/2014/main" id="{2468625E-DCA9-2CC8-9275-B98137D16424}"/>
              </a:ext>
            </a:extLst>
          </p:cNvPr>
          <p:cNvSpPr/>
          <p:nvPr/>
        </p:nvSpPr>
        <p:spPr>
          <a:xfrm>
            <a:off x="6990253" y="1547823"/>
            <a:ext cx="1395803" cy="199619"/>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wrap="square" lIns="36000" tIns="36000" rIns="36000" bIns="36000">
            <a:spAutoFit/>
          </a:bodyPr>
          <a:lstStyle/>
          <a:p>
            <a:pPr algn="ctr"/>
            <a:r>
              <a:rPr lang="en-US" altLang="ja-JP" sz="700" b="1" dirty="0">
                <a:solidFill>
                  <a:schemeClr val="bg1"/>
                </a:solidFill>
                <a:latin typeface="Meiryo UI" panose="020B0604030504040204" pitchFamily="50" charset="-128"/>
                <a:ea typeface="Meiryo UI" panose="020B0604030504040204" pitchFamily="50" charset="-128"/>
                <a:cs typeface="メイリオ" panose="020B0604030504040204" pitchFamily="50" charset="-128"/>
              </a:rPr>
              <a:t>IIJ GIO</a:t>
            </a:r>
          </a:p>
        </p:txBody>
      </p:sp>
      <p:sp>
        <p:nvSpPr>
          <p:cNvPr id="164" name="Text Box 192">
            <a:extLst>
              <a:ext uri="{FF2B5EF4-FFF2-40B4-BE49-F238E27FC236}">
                <a16:creationId xmlns:a16="http://schemas.microsoft.com/office/drawing/2014/main" id="{3CC16EF9-EEFE-0989-86C5-DE44F76C87A1}"/>
              </a:ext>
            </a:extLst>
          </p:cNvPr>
          <p:cNvSpPr txBox="1">
            <a:spLocks noChangeArrowheads="1"/>
          </p:cNvSpPr>
          <p:nvPr/>
        </p:nvSpPr>
        <p:spPr bwMode="auto">
          <a:xfrm>
            <a:off x="9480339" y="4517353"/>
            <a:ext cx="1371504" cy="211203"/>
          </a:xfrm>
          <a:prstGeom prst="rect">
            <a:avLst/>
          </a:prstGeom>
          <a:solidFill>
            <a:srgbClr val="314D7B"/>
          </a:solidFill>
          <a:ln w="9525">
            <a:solidFill>
              <a:srgbClr val="000000"/>
            </a:solidFill>
            <a:prstDash val="sysDot"/>
            <a:miter lim="800000"/>
            <a:headEnd/>
            <a:tailEnd/>
          </a:ln>
          <a:effectLst/>
        </p:spPr>
        <p:txBody>
          <a:bodyPr wrap="square" tIns="36000" bIns="36000">
            <a:spAutoFit/>
          </a:bodyPr>
          <a:lstStyle/>
          <a:p>
            <a:pPr algn="ctr">
              <a:spcBef>
                <a:spcPct val="50000"/>
              </a:spcBef>
              <a:defRPr/>
            </a:pPr>
            <a:r>
              <a:rPr lang="ja-JP" altLang="en-US" sz="900" kern="0" dirty="0">
                <a:solidFill>
                  <a:srgbClr val="FFFFFF"/>
                </a:solidFill>
                <a:latin typeface="Meiryo UI" panose="020B0604030504040204" pitchFamily="50" charset="-128"/>
                <a:ea typeface="Meiryo UI" panose="020B0604030504040204" pitchFamily="50" charset="-128"/>
                <a:cs typeface="メイリオ" panose="020B0604030504040204" pitchFamily="50" charset="-128"/>
              </a:rPr>
              <a:t>一般拠点（約</a:t>
            </a:r>
            <a:r>
              <a:rPr lang="en-US" altLang="ja-JP" sz="900" kern="0" dirty="0">
                <a:solidFill>
                  <a:srgbClr val="FFFFFF"/>
                </a:solidFill>
                <a:latin typeface="Meiryo UI" panose="020B0604030504040204" pitchFamily="50" charset="-128"/>
                <a:ea typeface="Meiryo UI" panose="020B0604030504040204" pitchFamily="50" charset="-128"/>
                <a:cs typeface="メイリオ" panose="020B0604030504040204" pitchFamily="50" charset="-128"/>
              </a:rPr>
              <a:t>700</a:t>
            </a:r>
            <a:r>
              <a:rPr lang="ja-JP" altLang="en-US" sz="900" kern="0" dirty="0">
                <a:solidFill>
                  <a:srgbClr val="FFFFFF"/>
                </a:solidFill>
                <a:latin typeface="Meiryo UI" panose="020B0604030504040204" pitchFamily="50" charset="-128"/>
                <a:ea typeface="Meiryo UI" panose="020B0604030504040204" pitchFamily="50" charset="-128"/>
                <a:cs typeface="メイリオ" panose="020B0604030504040204" pitchFamily="50" charset="-128"/>
              </a:rPr>
              <a:t>）</a:t>
            </a:r>
            <a:endParaRPr lang="en-US" altLang="ja-JP" sz="900" kern="0" dirty="0">
              <a:solidFill>
                <a:srgbClr val="FFFFFF"/>
              </a:solidFill>
              <a:latin typeface="Meiryo UI" panose="020B0604030504040204" pitchFamily="50" charset="-128"/>
              <a:ea typeface="Meiryo UI" panose="020B0604030504040204" pitchFamily="50" charset="-128"/>
              <a:cs typeface="メイリオ" panose="020B0604030504040204" pitchFamily="50" charset="-128"/>
            </a:endParaRPr>
          </a:p>
        </p:txBody>
      </p:sp>
      <p:sp>
        <p:nvSpPr>
          <p:cNvPr id="165" name="角丸四角形 328">
            <a:extLst>
              <a:ext uri="{FF2B5EF4-FFF2-40B4-BE49-F238E27FC236}">
                <a16:creationId xmlns:a16="http://schemas.microsoft.com/office/drawing/2014/main" id="{845EBEA1-08C8-CDDC-B7AE-38F9A0D7D08C}"/>
              </a:ext>
            </a:extLst>
          </p:cNvPr>
          <p:cNvSpPr/>
          <p:nvPr/>
        </p:nvSpPr>
        <p:spPr>
          <a:xfrm>
            <a:off x="4606213" y="1968495"/>
            <a:ext cx="1971143" cy="497138"/>
          </a:xfrm>
          <a:prstGeom prst="roundRect">
            <a:avLst/>
          </a:prstGeom>
          <a:solidFill>
            <a:schemeClr val="accent4">
              <a:lumMod val="20000"/>
              <a:lumOff val="80000"/>
            </a:schemeClr>
          </a:solidFill>
          <a:ln w="12700">
            <a:solidFill>
              <a:schemeClr val="accent2"/>
            </a:solidFill>
          </a:ln>
        </p:spPr>
        <p:style>
          <a:lnRef idx="1">
            <a:schemeClr val="accent1"/>
          </a:lnRef>
          <a:fillRef idx="3">
            <a:schemeClr val="accent1"/>
          </a:fillRef>
          <a:effectRef idx="2">
            <a:schemeClr val="accent1"/>
          </a:effectRef>
          <a:fontRef idx="minor">
            <a:schemeClr val="lt1"/>
          </a:fontRef>
        </p:style>
        <p:txBody>
          <a:bodyPr rtlCol="0" anchor="b"/>
          <a:lstStyle/>
          <a:p>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167" name="直線コネクタ 53">
            <a:extLst>
              <a:ext uri="{FF2B5EF4-FFF2-40B4-BE49-F238E27FC236}">
                <a16:creationId xmlns:a16="http://schemas.microsoft.com/office/drawing/2014/main" id="{F0F3655E-36D3-E2AE-6611-894B0DC0C18A}"/>
              </a:ext>
            </a:extLst>
          </p:cNvPr>
          <p:cNvCxnSpPr>
            <a:cxnSpLocks noChangeShapeType="1"/>
          </p:cNvCxnSpPr>
          <p:nvPr/>
        </p:nvCxnSpPr>
        <p:spPr bwMode="auto">
          <a:xfrm flipV="1">
            <a:off x="5544357" y="1263409"/>
            <a:ext cx="0" cy="1077771"/>
          </a:xfrm>
          <a:prstGeom prst="line">
            <a:avLst/>
          </a:prstGeom>
          <a:noFill/>
          <a:ln w="69850" cmpd="sng" algn="ctr">
            <a:solidFill>
              <a:schemeClr val="accent1">
                <a:lumMod val="20000"/>
                <a:lumOff val="80000"/>
              </a:schemeClr>
            </a:solidFill>
            <a:prstDash val="solid"/>
            <a:round/>
            <a:headEnd/>
            <a:tailEnd/>
          </a:ln>
        </p:spPr>
      </p:cxnSp>
      <p:sp>
        <p:nvSpPr>
          <p:cNvPr id="174" name="Text Box 192">
            <a:extLst>
              <a:ext uri="{FF2B5EF4-FFF2-40B4-BE49-F238E27FC236}">
                <a16:creationId xmlns:a16="http://schemas.microsoft.com/office/drawing/2014/main" id="{534E70B7-C01E-6519-9D66-637728189F1A}"/>
              </a:ext>
            </a:extLst>
          </p:cNvPr>
          <p:cNvSpPr txBox="1">
            <a:spLocks noChangeArrowheads="1"/>
          </p:cNvSpPr>
          <p:nvPr/>
        </p:nvSpPr>
        <p:spPr bwMode="auto">
          <a:xfrm>
            <a:off x="6733320" y="4508758"/>
            <a:ext cx="1182579" cy="209253"/>
          </a:xfrm>
          <a:prstGeom prst="rect">
            <a:avLst/>
          </a:prstGeom>
          <a:solidFill>
            <a:srgbClr val="314D7B"/>
          </a:solidFill>
          <a:ln w="9525">
            <a:solidFill>
              <a:srgbClr val="000000"/>
            </a:solidFill>
            <a:prstDash val="sysDot"/>
            <a:miter lim="800000"/>
            <a:headEnd/>
            <a:tailEnd/>
          </a:ln>
          <a:effectLst/>
        </p:spPr>
        <p:txBody>
          <a:bodyPr wrap="square" tIns="36000" bIns="36000">
            <a:spAutoFit/>
          </a:bodyPr>
          <a:lstStyle/>
          <a:p>
            <a:pPr algn="ctr">
              <a:spcBef>
                <a:spcPct val="50000"/>
              </a:spcBef>
              <a:defRPr/>
            </a:pPr>
            <a:r>
              <a:rPr lang="ja-JP" altLang="en-US" sz="900" kern="0" dirty="0">
                <a:solidFill>
                  <a:srgbClr val="FFFFFF"/>
                </a:solidFill>
                <a:latin typeface="Meiryo UI" panose="020B0604030504040204" pitchFamily="50" charset="-128"/>
                <a:ea typeface="Meiryo UI" panose="020B0604030504040204" pitchFamily="50" charset="-128"/>
                <a:cs typeface="メイリオ" panose="020B0604030504040204" pitchFamily="50" charset="-128"/>
              </a:rPr>
              <a:t>岡山オフィス</a:t>
            </a:r>
            <a:endParaRPr lang="en-US" altLang="ja-JP" sz="900" kern="0" dirty="0">
              <a:solidFill>
                <a:srgbClr val="FFFFFF"/>
              </a:solidFill>
              <a:latin typeface="Meiryo UI" panose="020B0604030504040204" pitchFamily="50" charset="-128"/>
              <a:ea typeface="Meiryo UI" panose="020B0604030504040204" pitchFamily="50" charset="-128"/>
              <a:cs typeface="メイリオ" panose="020B0604030504040204" pitchFamily="50" charset="-128"/>
            </a:endParaRPr>
          </a:p>
        </p:txBody>
      </p:sp>
      <p:sp>
        <p:nvSpPr>
          <p:cNvPr id="175" name="Text Box 192">
            <a:extLst>
              <a:ext uri="{FF2B5EF4-FFF2-40B4-BE49-F238E27FC236}">
                <a16:creationId xmlns:a16="http://schemas.microsoft.com/office/drawing/2014/main" id="{F1A60C71-F3E3-6C32-C92E-5F63A6A05CF1}"/>
              </a:ext>
            </a:extLst>
          </p:cNvPr>
          <p:cNvSpPr txBox="1">
            <a:spLocks noChangeArrowheads="1"/>
          </p:cNvSpPr>
          <p:nvPr/>
        </p:nvSpPr>
        <p:spPr bwMode="auto">
          <a:xfrm>
            <a:off x="8104364" y="4507783"/>
            <a:ext cx="1220033" cy="211203"/>
          </a:xfrm>
          <a:prstGeom prst="rect">
            <a:avLst/>
          </a:prstGeom>
          <a:solidFill>
            <a:srgbClr val="314D7B"/>
          </a:solidFill>
          <a:ln w="9525">
            <a:solidFill>
              <a:srgbClr val="000000"/>
            </a:solidFill>
            <a:prstDash val="sysDot"/>
            <a:miter lim="800000"/>
            <a:headEnd/>
            <a:tailEnd/>
          </a:ln>
          <a:effectLst/>
        </p:spPr>
        <p:txBody>
          <a:bodyPr wrap="square" tIns="36000" bIns="36000">
            <a:spAutoFit/>
          </a:bodyPr>
          <a:lstStyle/>
          <a:p>
            <a:pPr algn="ctr">
              <a:spcBef>
                <a:spcPct val="50000"/>
              </a:spcBef>
              <a:defRPr/>
            </a:pPr>
            <a:r>
              <a:rPr lang="ja-JP" altLang="en-US" sz="900" kern="0" dirty="0">
                <a:solidFill>
                  <a:srgbClr val="FFFFFF"/>
                </a:solidFill>
                <a:latin typeface="Meiryo UI" panose="020B0604030504040204" pitchFamily="50" charset="-128"/>
                <a:ea typeface="Meiryo UI" panose="020B0604030504040204" pitchFamily="50" charset="-128"/>
                <a:cs typeface="メイリオ" panose="020B0604030504040204" pitchFamily="50" charset="-128"/>
              </a:rPr>
              <a:t>関西オフィス</a:t>
            </a:r>
            <a:endParaRPr lang="en-US" altLang="ja-JP" sz="900" kern="0" dirty="0">
              <a:solidFill>
                <a:srgbClr val="FFFFFF"/>
              </a:solidFill>
              <a:latin typeface="Meiryo UI" panose="020B0604030504040204" pitchFamily="50" charset="-128"/>
              <a:ea typeface="Meiryo UI" panose="020B0604030504040204" pitchFamily="50" charset="-128"/>
              <a:cs typeface="メイリオ" panose="020B0604030504040204" pitchFamily="50" charset="-128"/>
            </a:endParaRPr>
          </a:p>
        </p:txBody>
      </p:sp>
      <p:sp>
        <p:nvSpPr>
          <p:cNvPr id="180" name="角丸四角形 328">
            <a:extLst>
              <a:ext uri="{FF2B5EF4-FFF2-40B4-BE49-F238E27FC236}">
                <a16:creationId xmlns:a16="http://schemas.microsoft.com/office/drawing/2014/main" id="{5229A922-6429-C358-2387-AADCF2E36794}"/>
              </a:ext>
            </a:extLst>
          </p:cNvPr>
          <p:cNvSpPr/>
          <p:nvPr/>
        </p:nvSpPr>
        <p:spPr>
          <a:xfrm>
            <a:off x="8901103" y="2006021"/>
            <a:ext cx="2039970" cy="1547086"/>
          </a:xfrm>
          <a:prstGeom prst="roundRect">
            <a:avLst/>
          </a:prstGeom>
          <a:solidFill>
            <a:schemeClr val="accent4">
              <a:lumMod val="20000"/>
              <a:lumOff val="80000"/>
            </a:schemeClr>
          </a:solidFill>
          <a:ln w="50800">
            <a:solidFill>
              <a:schemeClr val="accent2"/>
            </a:solidFill>
          </a:ln>
        </p:spPr>
        <p:style>
          <a:lnRef idx="1">
            <a:schemeClr val="accent1"/>
          </a:lnRef>
          <a:fillRef idx="3">
            <a:schemeClr val="accent1"/>
          </a:fillRef>
          <a:effectRef idx="2">
            <a:schemeClr val="accent1"/>
          </a:effectRef>
          <a:fontRef idx="minor">
            <a:schemeClr val="lt1"/>
          </a:fontRef>
        </p:style>
        <p:txBody>
          <a:bodyPr rtlCol="0" anchor="b"/>
          <a:lstStyle/>
          <a:p>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231" name="直線コネクタ 53">
            <a:extLst>
              <a:ext uri="{FF2B5EF4-FFF2-40B4-BE49-F238E27FC236}">
                <a16:creationId xmlns:a16="http://schemas.microsoft.com/office/drawing/2014/main" id="{E34E5AF3-8EF9-E28C-8660-B40EAAA87140}"/>
              </a:ext>
            </a:extLst>
          </p:cNvPr>
          <p:cNvCxnSpPr>
            <a:cxnSpLocks noChangeShapeType="1"/>
          </p:cNvCxnSpPr>
          <p:nvPr/>
        </p:nvCxnSpPr>
        <p:spPr bwMode="auto">
          <a:xfrm flipH="1" flipV="1">
            <a:off x="8035127" y="2191809"/>
            <a:ext cx="1330732" cy="962163"/>
          </a:xfrm>
          <a:prstGeom prst="line">
            <a:avLst/>
          </a:prstGeom>
          <a:noFill/>
          <a:ln w="69850" cmpd="sng" algn="ctr">
            <a:solidFill>
              <a:schemeClr val="accent1">
                <a:lumMod val="20000"/>
                <a:lumOff val="80000"/>
              </a:schemeClr>
            </a:solidFill>
            <a:prstDash val="solid"/>
            <a:round/>
            <a:headEnd/>
            <a:tailEnd/>
          </a:ln>
        </p:spPr>
      </p:cxnSp>
      <p:sp>
        <p:nvSpPr>
          <p:cNvPr id="232" name="正方形/長方形 231">
            <a:extLst>
              <a:ext uri="{FF2B5EF4-FFF2-40B4-BE49-F238E27FC236}">
                <a16:creationId xmlns:a16="http://schemas.microsoft.com/office/drawing/2014/main" id="{4DA29580-66CE-2303-A840-36D992A603F3}"/>
              </a:ext>
            </a:extLst>
          </p:cNvPr>
          <p:cNvSpPr/>
          <p:nvPr/>
        </p:nvSpPr>
        <p:spPr>
          <a:xfrm>
            <a:off x="8517624" y="2509918"/>
            <a:ext cx="342008" cy="180425"/>
          </a:xfrm>
          <a:prstGeom prst="rect">
            <a:avLst/>
          </a:prstGeom>
          <a:solidFill>
            <a:schemeClr val="accent1">
              <a:lumMod val="20000"/>
              <a:lumOff val="80000"/>
            </a:schemeClr>
          </a:solidFill>
        </p:spPr>
        <p:txBody>
          <a:bodyPr wrap="none" lIns="36000" tIns="36000" rIns="36000" bIns="36000">
            <a:spAutoFit/>
          </a:bodyPr>
          <a:lstStyle/>
          <a:p>
            <a:pPr algn="ctr"/>
            <a:r>
              <a:rPr lang="ja-JP" altLang="en-US" sz="700" dirty="0">
                <a:latin typeface="Meiryo UI" panose="020B0604030504040204" pitchFamily="50" charset="-128"/>
                <a:ea typeface="Meiryo UI" panose="020B0604030504040204" pitchFamily="50" charset="-128"/>
                <a:cs typeface="メイリオ" panose="020B0604030504040204" pitchFamily="50" charset="-128"/>
              </a:rPr>
              <a:t>専用線</a:t>
            </a:r>
            <a:endParaRPr lang="en-US" altLang="ja-JP" sz="700" dirty="0">
              <a:latin typeface="Meiryo UI" panose="020B0604030504040204" pitchFamily="50" charset="-128"/>
              <a:ea typeface="Meiryo UI" panose="020B0604030504040204" pitchFamily="50" charset="-128"/>
              <a:cs typeface="メイリオ" panose="020B0604030504040204" pitchFamily="50" charset="-128"/>
            </a:endParaRPr>
          </a:p>
        </p:txBody>
      </p:sp>
      <p:cxnSp>
        <p:nvCxnSpPr>
          <p:cNvPr id="233" name="直線コネクタ 53">
            <a:extLst>
              <a:ext uri="{FF2B5EF4-FFF2-40B4-BE49-F238E27FC236}">
                <a16:creationId xmlns:a16="http://schemas.microsoft.com/office/drawing/2014/main" id="{73B0E809-9F04-B7A1-A215-D50BFA7C0E67}"/>
              </a:ext>
            </a:extLst>
          </p:cNvPr>
          <p:cNvCxnSpPr>
            <a:cxnSpLocks noChangeShapeType="1"/>
          </p:cNvCxnSpPr>
          <p:nvPr/>
        </p:nvCxnSpPr>
        <p:spPr bwMode="auto">
          <a:xfrm flipV="1">
            <a:off x="10078560" y="1263409"/>
            <a:ext cx="0" cy="1874072"/>
          </a:xfrm>
          <a:prstGeom prst="line">
            <a:avLst/>
          </a:prstGeom>
          <a:noFill/>
          <a:ln w="69850" cmpd="sng" algn="ctr">
            <a:solidFill>
              <a:schemeClr val="accent1">
                <a:lumMod val="20000"/>
                <a:lumOff val="80000"/>
              </a:schemeClr>
            </a:solidFill>
            <a:prstDash val="solid"/>
            <a:round/>
            <a:headEnd/>
            <a:tailEnd/>
          </a:ln>
        </p:spPr>
      </p:cxnSp>
      <p:cxnSp>
        <p:nvCxnSpPr>
          <p:cNvPr id="240" name="直線コネクタ 53">
            <a:extLst>
              <a:ext uri="{FF2B5EF4-FFF2-40B4-BE49-F238E27FC236}">
                <a16:creationId xmlns:a16="http://schemas.microsoft.com/office/drawing/2014/main" id="{5B087E9A-7128-E0F9-6910-41D9FAE64968}"/>
              </a:ext>
            </a:extLst>
          </p:cNvPr>
          <p:cNvCxnSpPr>
            <a:cxnSpLocks noChangeShapeType="1"/>
          </p:cNvCxnSpPr>
          <p:nvPr/>
        </p:nvCxnSpPr>
        <p:spPr bwMode="auto">
          <a:xfrm flipH="1" flipV="1">
            <a:off x="9365860" y="3565251"/>
            <a:ext cx="1582" cy="549403"/>
          </a:xfrm>
          <a:prstGeom prst="line">
            <a:avLst/>
          </a:prstGeom>
          <a:noFill/>
          <a:ln w="69850" cmpd="sng" algn="ctr">
            <a:solidFill>
              <a:schemeClr val="tx2">
                <a:lumMod val="20000"/>
                <a:lumOff val="80000"/>
              </a:schemeClr>
            </a:solidFill>
            <a:prstDash val="solid"/>
            <a:round/>
            <a:headEnd/>
            <a:tailEnd/>
          </a:ln>
        </p:spPr>
      </p:cxnSp>
      <p:pic>
        <p:nvPicPr>
          <p:cNvPr id="241" name="Picture 2">
            <a:extLst>
              <a:ext uri="{FF2B5EF4-FFF2-40B4-BE49-F238E27FC236}">
                <a16:creationId xmlns:a16="http://schemas.microsoft.com/office/drawing/2014/main" id="{F8DEC7F6-4A74-DF61-50A1-FC74627E3C46}"/>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69818" y="834164"/>
            <a:ext cx="7045917" cy="534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42" name="Text Box 16">
            <a:extLst>
              <a:ext uri="{FF2B5EF4-FFF2-40B4-BE49-F238E27FC236}">
                <a16:creationId xmlns:a16="http://schemas.microsoft.com/office/drawing/2014/main" id="{3793B883-BB2D-7272-27C0-0CE23B81A710}"/>
              </a:ext>
            </a:extLst>
          </p:cNvPr>
          <p:cNvSpPr txBox="1">
            <a:spLocks noChangeArrowheads="1"/>
          </p:cNvSpPr>
          <p:nvPr/>
        </p:nvSpPr>
        <p:spPr bwMode="auto">
          <a:xfrm>
            <a:off x="7104986" y="961351"/>
            <a:ext cx="1573979" cy="3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5757" tIns="47878" rIns="95757" bIns="47878">
            <a:spAutoFit/>
          </a:bodyPr>
          <a:lstStyle>
            <a:lvl1pPr eaLnBrk="0" hangingPunct="0">
              <a:defRPr kumimoji="1">
                <a:solidFill>
                  <a:srgbClr val="D01126"/>
                </a:solidFill>
                <a:latin typeface="Arial Unicode MS" pitchFamily="50" charset="-128"/>
                <a:ea typeface="ＭＳ Ｐゴシック" pitchFamily="50" charset="-128"/>
              </a:defRPr>
            </a:lvl1pPr>
            <a:lvl2pPr marL="742950" indent="-285750" eaLnBrk="0" hangingPunct="0">
              <a:defRPr kumimoji="1">
                <a:solidFill>
                  <a:srgbClr val="D01126"/>
                </a:solidFill>
                <a:latin typeface="Arial Unicode MS" pitchFamily="50" charset="-128"/>
                <a:ea typeface="ＭＳ Ｐゴシック" pitchFamily="50" charset="-128"/>
              </a:defRPr>
            </a:lvl2pPr>
            <a:lvl3pPr marL="1143000" indent="-228600" eaLnBrk="0" hangingPunct="0">
              <a:defRPr kumimoji="1">
                <a:solidFill>
                  <a:srgbClr val="D01126"/>
                </a:solidFill>
                <a:latin typeface="Arial Unicode MS" pitchFamily="50" charset="-128"/>
                <a:ea typeface="ＭＳ Ｐゴシック" pitchFamily="50" charset="-128"/>
              </a:defRPr>
            </a:lvl3pPr>
            <a:lvl4pPr marL="1600200" indent="-228600" eaLnBrk="0" hangingPunct="0">
              <a:defRPr kumimoji="1">
                <a:solidFill>
                  <a:srgbClr val="D01126"/>
                </a:solidFill>
                <a:latin typeface="Arial Unicode MS" pitchFamily="50" charset="-128"/>
                <a:ea typeface="ＭＳ Ｐゴシック" pitchFamily="50" charset="-128"/>
              </a:defRPr>
            </a:lvl4pPr>
            <a:lvl5pPr marL="2057400" indent="-228600" eaLnBrk="0" hangingPunct="0">
              <a:defRPr kumimoji="1">
                <a:solidFill>
                  <a:srgbClr val="D01126"/>
                </a:solidFill>
                <a:latin typeface="Arial Unicode MS" pitchFamily="50" charset="-128"/>
                <a:ea typeface="ＭＳ Ｐゴシック" pitchFamily="50" charset="-128"/>
              </a:defRPr>
            </a:lvl5pPr>
            <a:lvl6pPr marL="2514600" indent="-228600" defTabSz="457200" eaLnBrk="0" fontAlgn="base" hangingPunct="0">
              <a:spcBef>
                <a:spcPct val="0"/>
              </a:spcBef>
              <a:spcAft>
                <a:spcPct val="0"/>
              </a:spcAft>
              <a:defRPr kumimoji="1">
                <a:solidFill>
                  <a:srgbClr val="D01126"/>
                </a:solidFill>
                <a:latin typeface="Arial Unicode MS" pitchFamily="50" charset="-128"/>
                <a:ea typeface="ＭＳ Ｐゴシック" pitchFamily="50" charset="-128"/>
              </a:defRPr>
            </a:lvl6pPr>
            <a:lvl7pPr marL="2971800" indent="-228600" defTabSz="457200" eaLnBrk="0" fontAlgn="base" hangingPunct="0">
              <a:spcBef>
                <a:spcPct val="0"/>
              </a:spcBef>
              <a:spcAft>
                <a:spcPct val="0"/>
              </a:spcAft>
              <a:defRPr kumimoji="1">
                <a:solidFill>
                  <a:srgbClr val="D01126"/>
                </a:solidFill>
                <a:latin typeface="Arial Unicode MS" pitchFamily="50" charset="-128"/>
                <a:ea typeface="ＭＳ Ｐゴシック" pitchFamily="50" charset="-128"/>
              </a:defRPr>
            </a:lvl7pPr>
            <a:lvl8pPr marL="3429000" indent="-228600" defTabSz="457200" eaLnBrk="0" fontAlgn="base" hangingPunct="0">
              <a:spcBef>
                <a:spcPct val="0"/>
              </a:spcBef>
              <a:spcAft>
                <a:spcPct val="0"/>
              </a:spcAft>
              <a:defRPr kumimoji="1">
                <a:solidFill>
                  <a:srgbClr val="D01126"/>
                </a:solidFill>
                <a:latin typeface="Arial Unicode MS" pitchFamily="50" charset="-128"/>
                <a:ea typeface="ＭＳ Ｐゴシック" pitchFamily="50" charset="-128"/>
              </a:defRPr>
            </a:lvl8pPr>
            <a:lvl9pPr marL="3886200" indent="-228600" defTabSz="457200" eaLnBrk="0" fontAlgn="base" hangingPunct="0">
              <a:spcBef>
                <a:spcPct val="0"/>
              </a:spcBef>
              <a:spcAft>
                <a:spcPct val="0"/>
              </a:spcAft>
              <a:defRPr kumimoji="1">
                <a:solidFill>
                  <a:srgbClr val="D01126"/>
                </a:solidFill>
                <a:latin typeface="Arial Unicode MS" pitchFamily="50" charset="-128"/>
                <a:ea typeface="ＭＳ Ｐゴシック" pitchFamily="50" charset="-128"/>
              </a:defRPr>
            </a:lvl9pPr>
          </a:lstStyle>
          <a:p>
            <a:pPr eaLnBrk="1" hangingPunct="1"/>
            <a:r>
              <a:rPr lang="en-US" altLang="ja-JP" sz="1600" b="1" dirty="0">
                <a:solidFill>
                  <a:schemeClr val="tx1"/>
                </a:solidFill>
                <a:latin typeface="Meiryo UI" panose="020B0604030504040204" pitchFamily="50" charset="-128"/>
                <a:ea typeface="Meiryo UI" panose="020B0604030504040204" pitchFamily="50" charset="-128"/>
                <a:cs typeface="メイリオ" panose="020B0604030504040204" pitchFamily="50" charset="-128"/>
              </a:rPr>
              <a:t>Internet</a:t>
            </a:r>
          </a:p>
        </p:txBody>
      </p:sp>
      <p:cxnSp>
        <p:nvCxnSpPr>
          <p:cNvPr id="243" name="直線矢印コネクタ 242">
            <a:extLst>
              <a:ext uri="{FF2B5EF4-FFF2-40B4-BE49-F238E27FC236}">
                <a16:creationId xmlns:a16="http://schemas.microsoft.com/office/drawing/2014/main" id="{60AA3D6E-4D5F-2266-5C61-DCCA2DF84087}"/>
              </a:ext>
            </a:extLst>
          </p:cNvPr>
          <p:cNvCxnSpPr>
            <a:cxnSpLocks/>
          </p:cNvCxnSpPr>
          <p:nvPr/>
        </p:nvCxnSpPr>
        <p:spPr>
          <a:xfrm flipV="1">
            <a:off x="7663958" y="1306034"/>
            <a:ext cx="0" cy="244496"/>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8" name="直線コネクタ 53">
            <a:extLst>
              <a:ext uri="{FF2B5EF4-FFF2-40B4-BE49-F238E27FC236}">
                <a16:creationId xmlns:a16="http://schemas.microsoft.com/office/drawing/2014/main" id="{E7CDCC5A-FCC5-D2C6-841F-BDCDB81CDB49}"/>
              </a:ext>
            </a:extLst>
          </p:cNvPr>
          <p:cNvCxnSpPr>
            <a:cxnSpLocks noChangeShapeType="1"/>
          </p:cNvCxnSpPr>
          <p:nvPr/>
        </p:nvCxnSpPr>
        <p:spPr bwMode="auto">
          <a:xfrm flipH="1" flipV="1">
            <a:off x="10081268" y="3566690"/>
            <a:ext cx="1582" cy="549403"/>
          </a:xfrm>
          <a:prstGeom prst="line">
            <a:avLst/>
          </a:prstGeom>
          <a:noFill/>
          <a:ln w="69850" cmpd="sng" algn="ctr">
            <a:solidFill>
              <a:schemeClr val="tx2">
                <a:lumMod val="20000"/>
                <a:lumOff val="80000"/>
              </a:schemeClr>
            </a:solidFill>
            <a:prstDash val="solid"/>
            <a:round/>
            <a:headEnd/>
            <a:tailEnd/>
          </a:ln>
        </p:spPr>
      </p:cxnSp>
      <p:sp>
        <p:nvSpPr>
          <p:cNvPr id="260" name="正方形/長方形 259">
            <a:extLst>
              <a:ext uri="{FF2B5EF4-FFF2-40B4-BE49-F238E27FC236}">
                <a16:creationId xmlns:a16="http://schemas.microsoft.com/office/drawing/2014/main" id="{E0519AA2-75AA-AB38-F5C5-D57B646B0EAF}"/>
              </a:ext>
            </a:extLst>
          </p:cNvPr>
          <p:cNvSpPr/>
          <p:nvPr/>
        </p:nvSpPr>
        <p:spPr>
          <a:xfrm>
            <a:off x="9087333" y="3895249"/>
            <a:ext cx="524750" cy="180425"/>
          </a:xfrm>
          <a:prstGeom prst="rect">
            <a:avLst/>
          </a:prstGeom>
          <a:solidFill>
            <a:schemeClr val="tx2">
              <a:lumMod val="20000"/>
              <a:lumOff val="80000"/>
            </a:schemeClr>
          </a:solidFill>
          <a:ln>
            <a:solidFill>
              <a:schemeClr val="tx2">
                <a:lumMod val="20000"/>
                <a:lumOff val="80000"/>
              </a:schemeClr>
            </a:solidFill>
          </a:ln>
        </p:spPr>
        <p:txBody>
          <a:bodyPr wrap="none" lIns="36000" tIns="36000" rIns="36000" bIns="36000">
            <a:spAutoFit/>
          </a:bodyPr>
          <a:lstStyle/>
          <a:p>
            <a:pPr algn="ctr"/>
            <a:r>
              <a:rPr lang="ja-JP" altLang="en-US" sz="700" dirty="0">
                <a:latin typeface="Meiryo UI" panose="020B0604030504040204" pitchFamily="50" charset="-128"/>
                <a:ea typeface="Meiryo UI" panose="020B0604030504040204" pitchFamily="50" charset="-128"/>
                <a:cs typeface="メイリオ" panose="020B0604030504040204" pitchFamily="50" charset="-128"/>
              </a:rPr>
              <a:t>構内アクセス</a:t>
            </a:r>
            <a:endParaRPr lang="en-US" altLang="ja-JP" sz="700" dirty="0">
              <a:latin typeface="Meiryo UI" panose="020B0604030504040204" pitchFamily="50" charset="-128"/>
              <a:ea typeface="Meiryo UI" panose="020B0604030504040204" pitchFamily="50" charset="-128"/>
              <a:cs typeface="メイリオ" panose="020B0604030504040204" pitchFamily="50" charset="-128"/>
            </a:endParaRPr>
          </a:p>
        </p:txBody>
      </p:sp>
      <p:sp>
        <p:nvSpPr>
          <p:cNvPr id="261" name="正方形/長方形 260">
            <a:extLst>
              <a:ext uri="{FF2B5EF4-FFF2-40B4-BE49-F238E27FC236}">
                <a16:creationId xmlns:a16="http://schemas.microsoft.com/office/drawing/2014/main" id="{4D96535A-A840-D9A5-A582-E2566F7E3988}"/>
              </a:ext>
            </a:extLst>
          </p:cNvPr>
          <p:cNvSpPr/>
          <p:nvPr/>
        </p:nvSpPr>
        <p:spPr>
          <a:xfrm>
            <a:off x="9854356" y="3894189"/>
            <a:ext cx="524750" cy="180425"/>
          </a:xfrm>
          <a:prstGeom prst="rect">
            <a:avLst/>
          </a:prstGeom>
          <a:solidFill>
            <a:schemeClr val="tx2">
              <a:lumMod val="20000"/>
              <a:lumOff val="80000"/>
            </a:schemeClr>
          </a:solidFill>
          <a:ln>
            <a:solidFill>
              <a:schemeClr val="tx2">
                <a:lumMod val="20000"/>
                <a:lumOff val="80000"/>
              </a:schemeClr>
            </a:solidFill>
          </a:ln>
        </p:spPr>
        <p:txBody>
          <a:bodyPr wrap="none" lIns="36000" tIns="36000" rIns="36000" bIns="36000">
            <a:spAutoFit/>
          </a:bodyPr>
          <a:lstStyle/>
          <a:p>
            <a:pPr algn="ctr"/>
            <a:r>
              <a:rPr lang="ja-JP" altLang="en-US" sz="700" dirty="0">
                <a:latin typeface="Meiryo UI" panose="020B0604030504040204" pitchFamily="50" charset="-128"/>
                <a:ea typeface="Meiryo UI" panose="020B0604030504040204" pitchFamily="50" charset="-128"/>
                <a:cs typeface="メイリオ" panose="020B0604030504040204" pitchFamily="50" charset="-128"/>
              </a:rPr>
              <a:t>構内アクセス</a:t>
            </a:r>
            <a:endParaRPr lang="en-US" altLang="ja-JP" sz="700" dirty="0">
              <a:latin typeface="Meiryo UI" panose="020B0604030504040204" pitchFamily="50" charset="-128"/>
              <a:ea typeface="Meiryo UI" panose="020B0604030504040204" pitchFamily="50" charset="-128"/>
              <a:cs typeface="メイリオ" panose="020B0604030504040204" pitchFamily="50" charset="-128"/>
            </a:endParaRPr>
          </a:p>
        </p:txBody>
      </p:sp>
      <p:sp>
        <p:nvSpPr>
          <p:cNvPr id="278" name="テキスト ボックス 277">
            <a:extLst>
              <a:ext uri="{FF2B5EF4-FFF2-40B4-BE49-F238E27FC236}">
                <a16:creationId xmlns:a16="http://schemas.microsoft.com/office/drawing/2014/main" id="{C43E02DF-C022-7648-540B-8D69326A67A7}"/>
              </a:ext>
            </a:extLst>
          </p:cNvPr>
          <p:cNvSpPr txBox="1"/>
          <p:nvPr/>
        </p:nvSpPr>
        <p:spPr>
          <a:xfrm>
            <a:off x="5342979" y="4051099"/>
            <a:ext cx="3252380" cy="461665"/>
          </a:xfrm>
          <a:prstGeom prst="rect">
            <a:avLst/>
          </a:prstGeom>
          <a:noFill/>
        </p:spPr>
        <p:txBody>
          <a:bodyPr wrap="square" rtlCol="0">
            <a:spAutoFit/>
          </a:bodyPr>
          <a:lstStyle/>
          <a:p>
            <a:pPr algn="ctr"/>
            <a:r>
              <a:rPr lang="en-US" altLang="ja-JP" sz="1200" b="1" dirty="0">
                <a:solidFill>
                  <a:schemeClr val="bg1"/>
                </a:solidFill>
                <a:latin typeface="Meiryo UI" panose="020B0604030504040204" pitchFamily="50" charset="-128"/>
                <a:ea typeface="Meiryo UI" panose="020B0604030504040204" pitchFamily="50" charset="-128"/>
                <a:cs typeface="メイリオ" panose="020B0604030504040204" pitchFamily="50" charset="-128"/>
              </a:rPr>
              <a:t>ARTERIA</a:t>
            </a:r>
          </a:p>
          <a:p>
            <a:pPr algn="ctr"/>
            <a:r>
              <a:rPr lang="ja-JP" altLang="en-US" sz="1200" b="1" dirty="0">
                <a:solidFill>
                  <a:schemeClr val="bg1"/>
                </a:solidFill>
                <a:latin typeface="Meiryo UI" panose="020B0604030504040204" pitchFamily="50" charset="-128"/>
                <a:ea typeface="Meiryo UI" panose="020B0604030504040204" pitchFamily="50" charset="-128"/>
                <a:cs typeface="メイリオ" panose="020B0604030504040204" pitchFamily="50" charset="-128"/>
              </a:rPr>
              <a:t>クローズド</a:t>
            </a:r>
            <a:r>
              <a:rPr lang="en-US" altLang="ja-JP" sz="1200" b="1" dirty="0">
                <a:solidFill>
                  <a:schemeClr val="bg1"/>
                </a:solidFill>
                <a:latin typeface="Meiryo UI" panose="020B0604030504040204" pitchFamily="50" charset="-128"/>
                <a:ea typeface="Meiryo UI" panose="020B0604030504040204" pitchFamily="50" charset="-128"/>
                <a:cs typeface="メイリオ" panose="020B0604030504040204" pitchFamily="50" charset="-128"/>
              </a:rPr>
              <a:t>IP</a:t>
            </a:r>
            <a:r>
              <a:rPr lang="ja-JP" altLang="en-US" sz="1200" b="1" dirty="0">
                <a:solidFill>
                  <a:schemeClr val="bg1"/>
                </a:solidFill>
                <a:latin typeface="Meiryo UI" panose="020B0604030504040204" pitchFamily="50" charset="-128"/>
                <a:ea typeface="Meiryo UI" panose="020B0604030504040204" pitchFamily="50" charset="-128"/>
                <a:cs typeface="メイリオ" panose="020B0604030504040204" pitchFamily="50" charset="-128"/>
              </a:rPr>
              <a:t>ネットワーク</a:t>
            </a:r>
          </a:p>
        </p:txBody>
      </p:sp>
      <p:pic>
        <p:nvPicPr>
          <p:cNvPr id="297" name="Picture 20" descr="C:\Users\ecoffey\AppData\Local\Temp\Rar$DRa0.386\30067_Device_router_unknown_64.png">
            <a:extLst>
              <a:ext uri="{FF2B5EF4-FFF2-40B4-BE49-F238E27FC236}">
                <a16:creationId xmlns:a16="http://schemas.microsoft.com/office/drawing/2014/main" id="{936E9B56-FB09-785F-0646-B03FF3862C7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26140" y="1998134"/>
            <a:ext cx="382821" cy="382821"/>
          </a:xfrm>
          <a:prstGeom prst="rect">
            <a:avLst/>
          </a:prstGeom>
          <a:noFill/>
          <a:extLst>
            <a:ext uri="{909E8E84-426E-40DD-AFC4-6F175D3DCCD1}">
              <a14:hiddenFill xmlns:a14="http://schemas.microsoft.com/office/drawing/2010/main">
                <a:solidFill>
                  <a:srgbClr val="FFFFFF"/>
                </a:solidFill>
              </a14:hiddenFill>
            </a:ext>
          </a:extLst>
        </p:spPr>
      </p:pic>
      <p:pic>
        <p:nvPicPr>
          <p:cNvPr id="304" name="Picture 20" descr="C:\Users\ecoffey\AppData\Local\Temp\Rar$DRa0.386\30067_Device_router_unknown_64.png">
            <a:extLst>
              <a:ext uri="{FF2B5EF4-FFF2-40B4-BE49-F238E27FC236}">
                <a16:creationId xmlns:a16="http://schemas.microsoft.com/office/drawing/2014/main" id="{0085594E-DEEE-43B6-6F36-75D071E86F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41719" y="1993053"/>
            <a:ext cx="382821" cy="382821"/>
          </a:xfrm>
          <a:prstGeom prst="rect">
            <a:avLst/>
          </a:prstGeom>
          <a:noFill/>
          <a:extLst>
            <a:ext uri="{909E8E84-426E-40DD-AFC4-6F175D3DCCD1}">
              <a14:hiddenFill xmlns:a14="http://schemas.microsoft.com/office/drawing/2010/main">
                <a:solidFill>
                  <a:srgbClr val="FFFFFF"/>
                </a:solidFill>
              </a14:hiddenFill>
            </a:ext>
          </a:extLst>
        </p:spPr>
      </p:pic>
      <p:pic>
        <p:nvPicPr>
          <p:cNvPr id="335" name="Picture 27" descr="C:\Users\ecoffey\AppData\Local\Temp\Rar$DRa0.160\30042_Device_layer3_switch_unreachable_64.png">
            <a:extLst>
              <a:ext uri="{FF2B5EF4-FFF2-40B4-BE49-F238E27FC236}">
                <a16:creationId xmlns:a16="http://schemas.microsoft.com/office/drawing/2014/main" id="{A3C696EB-80D1-1E76-74A3-047B56C060C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74518" y="1700464"/>
            <a:ext cx="290539" cy="290539"/>
          </a:xfrm>
          <a:prstGeom prst="rect">
            <a:avLst/>
          </a:prstGeom>
          <a:noFill/>
          <a:extLst>
            <a:ext uri="{909E8E84-426E-40DD-AFC4-6F175D3DCCD1}">
              <a14:hiddenFill xmlns:a14="http://schemas.microsoft.com/office/drawing/2010/main">
                <a:solidFill>
                  <a:srgbClr val="FFFFFF"/>
                </a:solidFill>
              </a14:hiddenFill>
            </a:ext>
          </a:extLst>
        </p:spPr>
      </p:pic>
      <p:sp>
        <p:nvSpPr>
          <p:cNvPr id="181" name="四角形: 角を丸くする 180">
            <a:extLst>
              <a:ext uri="{FF2B5EF4-FFF2-40B4-BE49-F238E27FC236}">
                <a16:creationId xmlns:a16="http://schemas.microsoft.com/office/drawing/2014/main" id="{87170761-9579-650C-590F-8004C8AECB12}"/>
              </a:ext>
            </a:extLst>
          </p:cNvPr>
          <p:cNvSpPr/>
          <p:nvPr/>
        </p:nvSpPr>
        <p:spPr>
          <a:xfrm>
            <a:off x="9302905" y="2072857"/>
            <a:ext cx="450638" cy="225478"/>
          </a:xfrm>
          <a:prstGeom prst="roundRect">
            <a:avLst>
              <a:gd name="adj" fmla="val 31310"/>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050" b="1" dirty="0">
                <a:latin typeface="Meiryo UI" panose="020B0604030504040204" pitchFamily="50" charset="-128"/>
                <a:ea typeface="Meiryo UI" panose="020B0604030504040204" pitchFamily="50" charset="-128"/>
              </a:rPr>
              <a:t>APZ</a:t>
            </a:r>
            <a:r>
              <a:rPr lang="ja-JP" altLang="en-US" sz="1050" b="1" dirty="0">
                <a:latin typeface="Meiryo UI" panose="020B0604030504040204" pitchFamily="50" charset="-128"/>
                <a:ea typeface="Meiryo UI" panose="020B0604030504040204" pitchFamily="50" charset="-128"/>
              </a:rPr>
              <a:t>東</a:t>
            </a:r>
            <a:endParaRPr lang="en-US" altLang="ja-JP" sz="1050" b="1" dirty="0">
              <a:latin typeface="Meiryo UI" panose="020B0604030504040204" pitchFamily="50" charset="-128"/>
              <a:ea typeface="Meiryo UI" panose="020B0604030504040204" pitchFamily="50" charset="-128"/>
            </a:endParaRPr>
          </a:p>
        </p:txBody>
      </p:sp>
      <p:sp>
        <p:nvSpPr>
          <p:cNvPr id="166" name="四角形: 角を丸くする 165">
            <a:extLst>
              <a:ext uri="{FF2B5EF4-FFF2-40B4-BE49-F238E27FC236}">
                <a16:creationId xmlns:a16="http://schemas.microsoft.com/office/drawing/2014/main" id="{6F43708A-74D8-3B05-CEC1-FDFF89B7B090}"/>
              </a:ext>
            </a:extLst>
          </p:cNvPr>
          <p:cNvSpPr/>
          <p:nvPr/>
        </p:nvSpPr>
        <p:spPr>
          <a:xfrm>
            <a:off x="6062801" y="1990942"/>
            <a:ext cx="450638" cy="225478"/>
          </a:xfrm>
          <a:prstGeom prst="roundRect">
            <a:avLst>
              <a:gd name="adj" fmla="val 31310"/>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050" b="1" dirty="0">
                <a:latin typeface="Meiryo UI" panose="020B0604030504040204" pitchFamily="50" charset="-128"/>
                <a:ea typeface="Meiryo UI" panose="020B0604030504040204" pitchFamily="50" charset="-128"/>
              </a:rPr>
              <a:t>APZ</a:t>
            </a:r>
            <a:r>
              <a:rPr lang="ja-JP" altLang="en-US" sz="1050" b="1" dirty="0">
                <a:latin typeface="Meiryo UI" panose="020B0604030504040204" pitchFamily="50" charset="-128"/>
                <a:ea typeface="Meiryo UI" panose="020B0604030504040204" pitchFamily="50" charset="-128"/>
              </a:rPr>
              <a:t>西</a:t>
            </a:r>
            <a:endParaRPr lang="en-US" altLang="ja-JP" sz="1050" b="1" dirty="0">
              <a:latin typeface="Meiryo UI" panose="020B0604030504040204" pitchFamily="50" charset="-128"/>
              <a:ea typeface="Meiryo UI" panose="020B0604030504040204" pitchFamily="50" charset="-128"/>
            </a:endParaRPr>
          </a:p>
        </p:txBody>
      </p:sp>
      <p:sp>
        <p:nvSpPr>
          <p:cNvPr id="21" name="四角形: 角を丸くする 20">
            <a:extLst>
              <a:ext uri="{FF2B5EF4-FFF2-40B4-BE49-F238E27FC236}">
                <a16:creationId xmlns:a16="http://schemas.microsoft.com/office/drawing/2014/main" id="{848E4227-D283-135D-9601-C54E78220341}"/>
              </a:ext>
            </a:extLst>
          </p:cNvPr>
          <p:cNvSpPr/>
          <p:nvPr/>
        </p:nvSpPr>
        <p:spPr>
          <a:xfrm>
            <a:off x="5686250" y="1636241"/>
            <a:ext cx="796331" cy="247064"/>
          </a:xfrm>
          <a:prstGeom prst="roundRect">
            <a:avLst/>
          </a:prstGeom>
          <a:solidFill>
            <a:srgbClr val="FFC000"/>
          </a:solidFill>
          <a:ln>
            <a:solidFill>
              <a:schemeClr val="accent3"/>
            </a:solidFill>
          </a:ln>
        </p:spPr>
        <p:style>
          <a:lnRef idx="2">
            <a:schemeClr val="accent5">
              <a:shade val="50000"/>
            </a:schemeClr>
          </a:lnRef>
          <a:fillRef idx="1">
            <a:schemeClr val="accent5"/>
          </a:fillRef>
          <a:effectRef idx="0">
            <a:schemeClr val="accent5"/>
          </a:effectRef>
          <a:fontRef idx="minor">
            <a:schemeClr val="lt1"/>
          </a:fontRef>
        </p:style>
        <p:txBody>
          <a:bodyPr wrap="square" lIns="33231" tIns="33231" rIns="33231" bIns="33231">
            <a:spAutoFit/>
          </a:bodyPr>
          <a:lstStyle/>
          <a:p>
            <a:pPr algn="ctr" defTabSz="422041" fontAlgn="base">
              <a:spcBef>
                <a:spcPct val="0"/>
              </a:spcBef>
              <a:spcAft>
                <a:spcPct val="0"/>
              </a:spcAft>
              <a:defRPr/>
            </a:pPr>
            <a:r>
              <a:rPr lang="en-US" altLang="ja-JP" sz="1015" b="1" dirty="0">
                <a:solidFill>
                  <a:srgbClr val="FFFFFF"/>
                </a:solidFill>
                <a:latin typeface="Meiryo UI" panose="020B0604030504040204" pitchFamily="50" charset="-128"/>
                <a:ea typeface="Meiryo UI" panose="020B0604030504040204" pitchFamily="50" charset="-128"/>
                <a:cs typeface="メイリオ" panose="020B0604030504040204" pitchFamily="50" charset="-128"/>
              </a:rPr>
              <a:t>AWS(</a:t>
            </a:r>
            <a:r>
              <a:rPr lang="ja-JP" altLang="en-US" sz="1015" b="1" dirty="0">
                <a:solidFill>
                  <a:srgbClr val="FFFFFF"/>
                </a:solidFill>
                <a:latin typeface="Meiryo UI" panose="020B0604030504040204" pitchFamily="50" charset="-128"/>
                <a:ea typeface="Meiryo UI" panose="020B0604030504040204" pitchFamily="50" charset="-128"/>
                <a:cs typeface="メイリオ" panose="020B0604030504040204" pitchFamily="50" charset="-128"/>
              </a:rPr>
              <a:t>西</a:t>
            </a:r>
            <a:r>
              <a:rPr lang="en-US" altLang="ja-JP" sz="1015" b="1" dirty="0">
                <a:solidFill>
                  <a:srgbClr val="FFFFFF"/>
                </a:solidFill>
                <a:latin typeface="Meiryo UI" panose="020B0604030504040204" pitchFamily="50" charset="-128"/>
                <a:ea typeface="Meiryo UI" panose="020B0604030504040204" pitchFamily="50" charset="-128"/>
                <a:cs typeface="メイリオ" panose="020B0604030504040204" pitchFamily="50" charset="-128"/>
              </a:rPr>
              <a:t>)</a:t>
            </a:r>
          </a:p>
        </p:txBody>
      </p:sp>
      <p:sp>
        <p:nvSpPr>
          <p:cNvPr id="22" name="四角形: 角を丸くする 21">
            <a:extLst>
              <a:ext uri="{FF2B5EF4-FFF2-40B4-BE49-F238E27FC236}">
                <a16:creationId xmlns:a16="http://schemas.microsoft.com/office/drawing/2014/main" id="{5832A12C-7A19-46DA-EE53-12817F03C930}"/>
              </a:ext>
            </a:extLst>
          </p:cNvPr>
          <p:cNvSpPr/>
          <p:nvPr/>
        </p:nvSpPr>
        <p:spPr>
          <a:xfrm>
            <a:off x="8941181" y="1654506"/>
            <a:ext cx="796331" cy="247064"/>
          </a:xfrm>
          <a:prstGeom prst="roundRect">
            <a:avLst/>
          </a:prstGeom>
          <a:solidFill>
            <a:srgbClr val="FFC000"/>
          </a:solidFill>
          <a:ln>
            <a:solidFill>
              <a:schemeClr val="accent3"/>
            </a:solidFill>
          </a:ln>
        </p:spPr>
        <p:style>
          <a:lnRef idx="2">
            <a:schemeClr val="accent5">
              <a:shade val="50000"/>
            </a:schemeClr>
          </a:lnRef>
          <a:fillRef idx="1">
            <a:schemeClr val="accent5"/>
          </a:fillRef>
          <a:effectRef idx="0">
            <a:schemeClr val="accent5"/>
          </a:effectRef>
          <a:fontRef idx="minor">
            <a:schemeClr val="lt1"/>
          </a:fontRef>
        </p:style>
        <p:txBody>
          <a:bodyPr wrap="square" lIns="33231" tIns="33231" rIns="33231" bIns="33231">
            <a:spAutoFit/>
          </a:bodyPr>
          <a:lstStyle/>
          <a:p>
            <a:pPr algn="ctr" defTabSz="422041" fontAlgn="base">
              <a:spcBef>
                <a:spcPct val="0"/>
              </a:spcBef>
              <a:spcAft>
                <a:spcPct val="0"/>
              </a:spcAft>
              <a:defRPr/>
            </a:pPr>
            <a:r>
              <a:rPr lang="en-US" altLang="ja-JP" sz="1015" b="1" dirty="0">
                <a:solidFill>
                  <a:srgbClr val="FFFFFF"/>
                </a:solidFill>
                <a:latin typeface="Meiryo UI" panose="020B0604030504040204" pitchFamily="50" charset="-128"/>
                <a:ea typeface="Meiryo UI" panose="020B0604030504040204" pitchFamily="50" charset="-128"/>
                <a:cs typeface="メイリオ" panose="020B0604030504040204" pitchFamily="50" charset="-128"/>
              </a:rPr>
              <a:t>AWS(</a:t>
            </a:r>
            <a:r>
              <a:rPr lang="ja-JP" altLang="en-US" sz="1015" b="1" dirty="0">
                <a:solidFill>
                  <a:srgbClr val="FFFFFF"/>
                </a:solidFill>
                <a:latin typeface="Meiryo UI" panose="020B0604030504040204" pitchFamily="50" charset="-128"/>
                <a:ea typeface="Meiryo UI" panose="020B0604030504040204" pitchFamily="50" charset="-128"/>
                <a:cs typeface="メイリオ" panose="020B0604030504040204" pitchFamily="50" charset="-128"/>
              </a:rPr>
              <a:t>東</a:t>
            </a:r>
            <a:r>
              <a:rPr lang="en-US" altLang="ja-JP" sz="1015" b="1" dirty="0">
                <a:solidFill>
                  <a:srgbClr val="FFFFFF"/>
                </a:solidFill>
                <a:latin typeface="Meiryo UI" panose="020B0604030504040204" pitchFamily="50" charset="-128"/>
                <a:ea typeface="Meiryo UI" panose="020B0604030504040204" pitchFamily="50" charset="-128"/>
                <a:cs typeface="メイリオ" panose="020B0604030504040204" pitchFamily="50" charset="-128"/>
              </a:rPr>
              <a:t>)</a:t>
            </a:r>
          </a:p>
        </p:txBody>
      </p:sp>
      <p:pic>
        <p:nvPicPr>
          <p:cNvPr id="18" name="図 17">
            <a:extLst>
              <a:ext uri="{FF2B5EF4-FFF2-40B4-BE49-F238E27FC236}">
                <a16:creationId xmlns:a16="http://schemas.microsoft.com/office/drawing/2014/main" id="{89520F62-F366-172B-9DEC-4739BFE0737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04915" y="3439631"/>
            <a:ext cx="821636" cy="492889"/>
          </a:xfrm>
          <a:prstGeom prst="rect">
            <a:avLst/>
          </a:prstGeom>
        </p:spPr>
      </p:pic>
      <p:sp>
        <p:nvSpPr>
          <p:cNvPr id="37" name="正方形/長方形 36">
            <a:extLst>
              <a:ext uri="{FF2B5EF4-FFF2-40B4-BE49-F238E27FC236}">
                <a16:creationId xmlns:a16="http://schemas.microsoft.com/office/drawing/2014/main" id="{100236F7-1338-5855-B1BD-21D9512ECA2E}"/>
              </a:ext>
            </a:extLst>
          </p:cNvPr>
          <p:cNvSpPr/>
          <p:nvPr/>
        </p:nvSpPr>
        <p:spPr>
          <a:xfrm>
            <a:off x="1818234" y="5463330"/>
            <a:ext cx="334746" cy="1470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dirty="0"/>
          </a:p>
        </p:txBody>
      </p:sp>
      <p:pic>
        <p:nvPicPr>
          <p:cNvPr id="42" name="図 41">
            <a:extLst>
              <a:ext uri="{FF2B5EF4-FFF2-40B4-BE49-F238E27FC236}">
                <a16:creationId xmlns:a16="http://schemas.microsoft.com/office/drawing/2014/main" id="{34F75830-199B-E962-AF63-4CE1D620439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07327" y="860895"/>
            <a:ext cx="993131" cy="419067"/>
          </a:xfrm>
          <a:prstGeom prst="rect">
            <a:avLst/>
          </a:prstGeom>
          <a:ln w="38100" cap="sq">
            <a:solidFill>
              <a:srgbClr val="000000"/>
            </a:solidFill>
            <a:prstDash val="solid"/>
            <a:miter lim="800000"/>
          </a:ln>
          <a:effectLst/>
        </p:spPr>
      </p:pic>
      <p:cxnSp>
        <p:nvCxnSpPr>
          <p:cNvPr id="44" name="直線矢印コネクタ 43">
            <a:extLst>
              <a:ext uri="{FF2B5EF4-FFF2-40B4-BE49-F238E27FC236}">
                <a16:creationId xmlns:a16="http://schemas.microsoft.com/office/drawing/2014/main" id="{304E574E-E19E-1A35-C8F4-8D6FFDF1224C}"/>
              </a:ext>
            </a:extLst>
          </p:cNvPr>
          <p:cNvCxnSpPr>
            <a:cxnSpLocks/>
            <a:stCxn id="17" idx="0"/>
            <a:endCxn id="42" idx="2"/>
          </p:cNvCxnSpPr>
          <p:nvPr/>
        </p:nvCxnSpPr>
        <p:spPr>
          <a:xfrm flipV="1">
            <a:off x="1589644" y="1279962"/>
            <a:ext cx="14249" cy="1949909"/>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43" name="Picture 2">
            <a:extLst>
              <a:ext uri="{FF2B5EF4-FFF2-40B4-BE49-F238E27FC236}">
                <a16:creationId xmlns:a16="http://schemas.microsoft.com/office/drawing/2014/main" id="{845FBB23-1078-B291-3910-6FC715A48916}"/>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99610" y="1846847"/>
            <a:ext cx="1101913" cy="534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7" name="Text Box 16">
            <a:extLst>
              <a:ext uri="{FF2B5EF4-FFF2-40B4-BE49-F238E27FC236}">
                <a16:creationId xmlns:a16="http://schemas.microsoft.com/office/drawing/2014/main" id="{42DE0F20-C0AB-0FD3-17D8-D61219D0108E}"/>
              </a:ext>
            </a:extLst>
          </p:cNvPr>
          <p:cNvSpPr txBox="1">
            <a:spLocks noChangeArrowheads="1"/>
          </p:cNvSpPr>
          <p:nvPr/>
        </p:nvSpPr>
        <p:spPr bwMode="auto">
          <a:xfrm>
            <a:off x="1244599" y="2075212"/>
            <a:ext cx="844553" cy="265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5757" tIns="47878" rIns="95757" bIns="47878">
            <a:spAutoFit/>
          </a:bodyPr>
          <a:lstStyle>
            <a:lvl1pPr eaLnBrk="0" hangingPunct="0">
              <a:defRPr kumimoji="1">
                <a:solidFill>
                  <a:srgbClr val="D01126"/>
                </a:solidFill>
                <a:latin typeface="Arial Unicode MS" pitchFamily="50" charset="-128"/>
                <a:ea typeface="ＭＳ Ｐゴシック" pitchFamily="50" charset="-128"/>
              </a:defRPr>
            </a:lvl1pPr>
            <a:lvl2pPr marL="742950" indent="-285750" eaLnBrk="0" hangingPunct="0">
              <a:defRPr kumimoji="1">
                <a:solidFill>
                  <a:srgbClr val="D01126"/>
                </a:solidFill>
                <a:latin typeface="Arial Unicode MS" pitchFamily="50" charset="-128"/>
                <a:ea typeface="ＭＳ Ｐゴシック" pitchFamily="50" charset="-128"/>
              </a:defRPr>
            </a:lvl2pPr>
            <a:lvl3pPr marL="1143000" indent="-228600" eaLnBrk="0" hangingPunct="0">
              <a:defRPr kumimoji="1">
                <a:solidFill>
                  <a:srgbClr val="D01126"/>
                </a:solidFill>
                <a:latin typeface="Arial Unicode MS" pitchFamily="50" charset="-128"/>
                <a:ea typeface="ＭＳ Ｐゴシック" pitchFamily="50" charset="-128"/>
              </a:defRPr>
            </a:lvl3pPr>
            <a:lvl4pPr marL="1600200" indent="-228600" eaLnBrk="0" hangingPunct="0">
              <a:defRPr kumimoji="1">
                <a:solidFill>
                  <a:srgbClr val="D01126"/>
                </a:solidFill>
                <a:latin typeface="Arial Unicode MS" pitchFamily="50" charset="-128"/>
                <a:ea typeface="ＭＳ Ｐゴシック" pitchFamily="50" charset="-128"/>
              </a:defRPr>
            </a:lvl4pPr>
            <a:lvl5pPr marL="2057400" indent="-228600" eaLnBrk="0" hangingPunct="0">
              <a:defRPr kumimoji="1">
                <a:solidFill>
                  <a:srgbClr val="D01126"/>
                </a:solidFill>
                <a:latin typeface="Arial Unicode MS" pitchFamily="50" charset="-128"/>
                <a:ea typeface="ＭＳ Ｐゴシック" pitchFamily="50" charset="-128"/>
              </a:defRPr>
            </a:lvl5pPr>
            <a:lvl6pPr marL="2514600" indent="-228600" defTabSz="457200" eaLnBrk="0" fontAlgn="base" hangingPunct="0">
              <a:spcBef>
                <a:spcPct val="0"/>
              </a:spcBef>
              <a:spcAft>
                <a:spcPct val="0"/>
              </a:spcAft>
              <a:defRPr kumimoji="1">
                <a:solidFill>
                  <a:srgbClr val="D01126"/>
                </a:solidFill>
                <a:latin typeface="Arial Unicode MS" pitchFamily="50" charset="-128"/>
                <a:ea typeface="ＭＳ Ｐゴシック" pitchFamily="50" charset="-128"/>
              </a:defRPr>
            </a:lvl6pPr>
            <a:lvl7pPr marL="2971800" indent="-228600" defTabSz="457200" eaLnBrk="0" fontAlgn="base" hangingPunct="0">
              <a:spcBef>
                <a:spcPct val="0"/>
              </a:spcBef>
              <a:spcAft>
                <a:spcPct val="0"/>
              </a:spcAft>
              <a:defRPr kumimoji="1">
                <a:solidFill>
                  <a:srgbClr val="D01126"/>
                </a:solidFill>
                <a:latin typeface="Arial Unicode MS" pitchFamily="50" charset="-128"/>
                <a:ea typeface="ＭＳ Ｐゴシック" pitchFamily="50" charset="-128"/>
              </a:defRPr>
            </a:lvl7pPr>
            <a:lvl8pPr marL="3429000" indent="-228600" defTabSz="457200" eaLnBrk="0" fontAlgn="base" hangingPunct="0">
              <a:spcBef>
                <a:spcPct val="0"/>
              </a:spcBef>
              <a:spcAft>
                <a:spcPct val="0"/>
              </a:spcAft>
              <a:defRPr kumimoji="1">
                <a:solidFill>
                  <a:srgbClr val="D01126"/>
                </a:solidFill>
                <a:latin typeface="Arial Unicode MS" pitchFamily="50" charset="-128"/>
                <a:ea typeface="ＭＳ Ｐゴシック" pitchFamily="50" charset="-128"/>
              </a:defRPr>
            </a:lvl8pPr>
            <a:lvl9pPr marL="3886200" indent="-228600" defTabSz="457200" eaLnBrk="0" fontAlgn="base" hangingPunct="0">
              <a:spcBef>
                <a:spcPct val="0"/>
              </a:spcBef>
              <a:spcAft>
                <a:spcPct val="0"/>
              </a:spcAft>
              <a:defRPr kumimoji="1">
                <a:solidFill>
                  <a:srgbClr val="D01126"/>
                </a:solidFill>
                <a:latin typeface="Arial Unicode MS" pitchFamily="50" charset="-128"/>
                <a:ea typeface="ＭＳ Ｐゴシック" pitchFamily="50" charset="-128"/>
              </a:defRPr>
            </a:lvl9pPr>
          </a:lstStyle>
          <a:p>
            <a:pPr eaLnBrk="1" hangingPunct="1"/>
            <a:r>
              <a:rPr lang="en-US" altLang="ja-JP" sz="1050" b="1" dirty="0">
                <a:solidFill>
                  <a:schemeClr val="tx1"/>
                </a:solidFill>
                <a:latin typeface="Meiryo UI" panose="020B0604030504040204" pitchFamily="50" charset="-128"/>
                <a:ea typeface="Meiryo UI" panose="020B0604030504040204" pitchFamily="50" charset="-128"/>
                <a:cs typeface="メイリオ" panose="020B0604030504040204" pitchFamily="50" charset="-128"/>
              </a:rPr>
              <a:t>Internet</a:t>
            </a:r>
          </a:p>
        </p:txBody>
      </p:sp>
      <p:cxnSp>
        <p:nvCxnSpPr>
          <p:cNvPr id="51" name="コネクタ: カギ線 50">
            <a:extLst>
              <a:ext uri="{FF2B5EF4-FFF2-40B4-BE49-F238E27FC236}">
                <a16:creationId xmlns:a16="http://schemas.microsoft.com/office/drawing/2014/main" id="{C6C524E8-F910-3937-56EF-295BC6DA6E3C}"/>
              </a:ext>
            </a:extLst>
          </p:cNvPr>
          <p:cNvCxnSpPr>
            <a:cxnSpLocks/>
            <a:endCxn id="17" idx="2"/>
          </p:cNvCxnSpPr>
          <p:nvPr/>
        </p:nvCxnSpPr>
        <p:spPr>
          <a:xfrm rot="5400000" flipH="1">
            <a:off x="5596472" y="21190"/>
            <a:ext cx="544198" cy="8557855"/>
          </a:xfrm>
          <a:prstGeom prst="bentConnector3">
            <a:avLst>
              <a:gd name="adj1" fmla="val -42007"/>
            </a:avLst>
          </a:prstGeom>
          <a:ln w="952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sp>
        <p:nvSpPr>
          <p:cNvPr id="3" name="四角形: 角を丸くする 2">
            <a:extLst>
              <a:ext uri="{FF2B5EF4-FFF2-40B4-BE49-F238E27FC236}">
                <a16:creationId xmlns:a16="http://schemas.microsoft.com/office/drawing/2014/main" id="{AEE7CD4B-D44A-A9FC-CA0F-3602AD20481E}"/>
              </a:ext>
            </a:extLst>
          </p:cNvPr>
          <p:cNvSpPr/>
          <p:nvPr/>
        </p:nvSpPr>
        <p:spPr>
          <a:xfrm>
            <a:off x="68585" y="2649716"/>
            <a:ext cx="3500453" cy="281783"/>
          </a:xfrm>
          <a:prstGeom prst="roundRect">
            <a:avLst/>
          </a:prstGeom>
          <a:solidFill>
            <a:schemeClr val="bg1"/>
          </a:solidFill>
        </p:spPr>
        <p:style>
          <a:lnRef idx="1">
            <a:schemeClr val="dk1"/>
          </a:lnRef>
          <a:fillRef idx="3">
            <a:schemeClr val="dk1"/>
          </a:fillRef>
          <a:effectRef idx="2">
            <a:schemeClr val="dk1"/>
          </a:effectRef>
          <a:fontRef idx="minor">
            <a:schemeClr val="lt1"/>
          </a:fontRef>
        </p:style>
        <p:txBody>
          <a:bodyPr rtlCol="0" anchor="ctr"/>
          <a:lstStyle/>
          <a:p>
            <a:pPr algn="ctr"/>
            <a:r>
              <a:rPr lang="ja-JP" altLang="en-US" sz="1100" dirty="0">
                <a:solidFill>
                  <a:schemeClr val="tx1"/>
                </a:solidFill>
              </a:rPr>
              <a:t>眠り</a:t>
            </a:r>
            <a:r>
              <a:rPr lang="en-US" altLang="ja-JP" sz="1100" dirty="0">
                <a:solidFill>
                  <a:schemeClr val="tx1"/>
                </a:solidFill>
              </a:rPr>
              <a:t>SCAN</a:t>
            </a:r>
            <a:r>
              <a:rPr lang="ja-JP" altLang="en-US" sz="1100" dirty="0">
                <a:solidFill>
                  <a:schemeClr val="tx1"/>
                </a:solidFill>
              </a:rPr>
              <a:t>と</a:t>
            </a:r>
            <a:r>
              <a:rPr lang="en-US" altLang="ja-JP" sz="1100" dirty="0">
                <a:solidFill>
                  <a:schemeClr val="tx1"/>
                </a:solidFill>
              </a:rPr>
              <a:t>NC</a:t>
            </a:r>
            <a:r>
              <a:rPr lang="ja-JP" altLang="en-US" sz="1100" dirty="0">
                <a:solidFill>
                  <a:schemeClr val="tx1"/>
                </a:solidFill>
              </a:rPr>
              <a:t>は、</a:t>
            </a:r>
            <a:r>
              <a:rPr lang="en-US" altLang="ja-JP" sz="1100" dirty="0">
                <a:solidFill>
                  <a:schemeClr val="tx1"/>
                </a:solidFill>
              </a:rPr>
              <a:t>S</a:t>
            </a:r>
            <a:r>
              <a:rPr lang="ja-JP" altLang="en-US" sz="1100" dirty="0">
                <a:solidFill>
                  <a:schemeClr val="tx1"/>
                </a:solidFill>
              </a:rPr>
              <a:t>ケアネットワークの外にいる</a:t>
            </a:r>
          </a:p>
        </p:txBody>
      </p:sp>
      <p:sp>
        <p:nvSpPr>
          <p:cNvPr id="4" name="四角形: 角を丸くする 3">
            <a:extLst>
              <a:ext uri="{FF2B5EF4-FFF2-40B4-BE49-F238E27FC236}">
                <a16:creationId xmlns:a16="http://schemas.microsoft.com/office/drawing/2014/main" id="{1D1B7874-47E8-5072-30FA-9A5676A907B6}"/>
              </a:ext>
            </a:extLst>
          </p:cNvPr>
          <p:cNvSpPr/>
          <p:nvPr/>
        </p:nvSpPr>
        <p:spPr>
          <a:xfrm>
            <a:off x="9059450" y="3103058"/>
            <a:ext cx="816691" cy="264902"/>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ja-JP" altLang="en-US" sz="1100" dirty="0"/>
              <a:t>連携</a:t>
            </a:r>
            <a:r>
              <a:rPr lang="en-US" altLang="ja-JP" sz="1100" dirty="0"/>
              <a:t>PF</a:t>
            </a:r>
            <a:endParaRPr lang="ja-JP" altLang="en-US" sz="1100" dirty="0"/>
          </a:p>
        </p:txBody>
      </p:sp>
      <p:sp>
        <p:nvSpPr>
          <p:cNvPr id="5" name="四角形: 角を丸くする 4">
            <a:extLst>
              <a:ext uri="{FF2B5EF4-FFF2-40B4-BE49-F238E27FC236}">
                <a16:creationId xmlns:a16="http://schemas.microsoft.com/office/drawing/2014/main" id="{B1D2CECB-DBE2-7142-C5BB-449C2DA9CB04}"/>
              </a:ext>
            </a:extLst>
          </p:cNvPr>
          <p:cNvSpPr/>
          <p:nvPr/>
        </p:nvSpPr>
        <p:spPr>
          <a:xfrm>
            <a:off x="7287019" y="2282381"/>
            <a:ext cx="802269" cy="273508"/>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ja-JP" altLang="en-US" sz="1100" dirty="0"/>
              <a:t>介護記録</a:t>
            </a:r>
          </a:p>
        </p:txBody>
      </p:sp>
      <p:sp>
        <p:nvSpPr>
          <p:cNvPr id="19" name="テキスト ボックス 18">
            <a:extLst>
              <a:ext uri="{FF2B5EF4-FFF2-40B4-BE49-F238E27FC236}">
                <a16:creationId xmlns:a16="http://schemas.microsoft.com/office/drawing/2014/main" id="{8216D07C-A6F6-FDAC-9D07-5E52FDDFF43A}"/>
              </a:ext>
            </a:extLst>
          </p:cNvPr>
          <p:cNvSpPr txBox="1"/>
          <p:nvPr/>
        </p:nvSpPr>
        <p:spPr>
          <a:xfrm>
            <a:off x="270004" y="1384226"/>
            <a:ext cx="1290738" cy="369332"/>
          </a:xfrm>
          <a:prstGeom prst="rect">
            <a:avLst/>
          </a:prstGeom>
          <a:noFill/>
        </p:spPr>
        <p:txBody>
          <a:bodyPr wrap="none" rtlCol="0">
            <a:spAutoFit/>
          </a:bodyPr>
          <a:lstStyle/>
          <a:p>
            <a:r>
              <a:rPr kumimoji="1" lang="en-US" altLang="ja-JP" dirty="0"/>
              <a:t>Direct</a:t>
            </a:r>
            <a:r>
              <a:rPr kumimoji="1" lang="ja-JP" altLang="en-US" dirty="0"/>
              <a:t>接続</a:t>
            </a:r>
          </a:p>
        </p:txBody>
      </p:sp>
      <p:sp>
        <p:nvSpPr>
          <p:cNvPr id="20" name="テキスト ボックス 19">
            <a:extLst>
              <a:ext uri="{FF2B5EF4-FFF2-40B4-BE49-F238E27FC236}">
                <a16:creationId xmlns:a16="http://schemas.microsoft.com/office/drawing/2014/main" id="{8C5C8664-9F00-0483-07F5-3A2099B3AABE}"/>
              </a:ext>
            </a:extLst>
          </p:cNvPr>
          <p:cNvSpPr txBox="1"/>
          <p:nvPr/>
        </p:nvSpPr>
        <p:spPr>
          <a:xfrm>
            <a:off x="9866101" y="1379472"/>
            <a:ext cx="1266693" cy="369332"/>
          </a:xfrm>
          <a:prstGeom prst="rect">
            <a:avLst/>
          </a:prstGeom>
          <a:noFill/>
        </p:spPr>
        <p:txBody>
          <a:bodyPr wrap="none" rtlCol="0">
            <a:spAutoFit/>
          </a:bodyPr>
          <a:lstStyle/>
          <a:p>
            <a:r>
              <a:rPr lang="en-US" altLang="ja-JP" dirty="0"/>
              <a:t>Agent</a:t>
            </a:r>
            <a:r>
              <a:rPr kumimoji="1" lang="ja-JP" altLang="en-US" dirty="0"/>
              <a:t>接続</a:t>
            </a:r>
          </a:p>
        </p:txBody>
      </p:sp>
      <p:pic>
        <p:nvPicPr>
          <p:cNvPr id="16" name="図 15">
            <a:extLst>
              <a:ext uri="{FF2B5EF4-FFF2-40B4-BE49-F238E27FC236}">
                <a16:creationId xmlns:a16="http://schemas.microsoft.com/office/drawing/2014/main" id="{B7CC35F7-E870-6668-45AD-E3914B0A9A3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719787" y="518435"/>
            <a:ext cx="993131" cy="419067"/>
          </a:xfrm>
          <a:prstGeom prst="rect">
            <a:avLst/>
          </a:prstGeom>
          <a:ln w="38100" cap="sq">
            <a:solidFill>
              <a:srgbClr val="000000"/>
            </a:solidFill>
            <a:prstDash val="solid"/>
            <a:miter lim="800000"/>
          </a:ln>
          <a:effectLst/>
        </p:spPr>
      </p:pic>
      <p:sp>
        <p:nvSpPr>
          <p:cNvPr id="24" name="四角形: 角を丸くする 23">
            <a:extLst>
              <a:ext uri="{FF2B5EF4-FFF2-40B4-BE49-F238E27FC236}">
                <a16:creationId xmlns:a16="http://schemas.microsoft.com/office/drawing/2014/main" id="{EEA17686-B72F-4B59-8A2F-2DD635CBF6B7}"/>
              </a:ext>
            </a:extLst>
          </p:cNvPr>
          <p:cNvSpPr/>
          <p:nvPr/>
        </p:nvSpPr>
        <p:spPr>
          <a:xfrm>
            <a:off x="9855479" y="2090687"/>
            <a:ext cx="816691" cy="270776"/>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altLang="ja-JP" sz="1100" dirty="0"/>
              <a:t>Agent</a:t>
            </a:r>
            <a:endParaRPr lang="ja-JP" altLang="en-US" sz="1100" dirty="0"/>
          </a:p>
        </p:txBody>
      </p:sp>
      <p:sp>
        <p:nvSpPr>
          <p:cNvPr id="32" name="テキスト ボックス 31">
            <a:extLst>
              <a:ext uri="{FF2B5EF4-FFF2-40B4-BE49-F238E27FC236}">
                <a16:creationId xmlns:a16="http://schemas.microsoft.com/office/drawing/2014/main" id="{1A750E3C-0952-31C0-A6EA-19E4D0EAB26C}"/>
              </a:ext>
            </a:extLst>
          </p:cNvPr>
          <p:cNvSpPr txBox="1"/>
          <p:nvPr/>
        </p:nvSpPr>
        <p:spPr>
          <a:xfrm>
            <a:off x="4298861" y="3173439"/>
            <a:ext cx="1899879" cy="646331"/>
          </a:xfrm>
          <a:prstGeom prst="rect">
            <a:avLst/>
          </a:prstGeom>
          <a:noFill/>
        </p:spPr>
        <p:txBody>
          <a:bodyPr wrap="none" rtlCol="0">
            <a:spAutoFit/>
          </a:bodyPr>
          <a:lstStyle/>
          <a:p>
            <a:r>
              <a:rPr lang="en-US" altLang="ja-JP" b="1" dirty="0"/>
              <a:t>2028</a:t>
            </a:r>
            <a:r>
              <a:rPr lang="ja-JP" altLang="en-US" b="1" dirty="0"/>
              <a:t>年より</a:t>
            </a:r>
            <a:endParaRPr lang="en-US" altLang="ja-JP" b="1" dirty="0"/>
          </a:p>
          <a:p>
            <a:r>
              <a:rPr kumimoji="1" lang="en-US" altLang="ja-JP" b="1" dirty="0" err="1"/>
              <a:t>carebase</a:t>
            </a:r>
            <a:r>
              <a:rPr kumimoji="1" lang="ja-JP" altLang="en-US" b="1" dirty="0"/>
              <a:t>になる</a:t>
            </a:r>
          </a:p>
        </p:txBody>
      </p:sp>
      <p:cxnSp>
        <p:nvCxnSpPr>
          <p:cNvPr id="34" name="直線矢印コネクタ 33">
            <a:extLst>
              <a:ext uri="{FF2B5EF4-FFF2-40B4-BE49-F238E27FC236}">
                <a16:creationId xmlns:a16="http://schemas.microsoft.com/office/drawing/2014/main" id="{39BE154B-5F91-CC40-6271-16747A19084A}"/>
              </a:ext>
            </a:extLst>
          </p:cNvPr>
          <p:cNvCxnSpPr>
            <a:cxnSpLocks/>
          </p:cNvCxnSpPr>
          <p:nvPr/>
        </p:nvCxnSpPr>
        <p:spPr>
          <a:xfrm flipV="1">
            <a:off x="8492265" y="967019"/>
            <a:ext cx="1537239" cy="4251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四角形: 角を丸くする 34">
            <a:extLst>
              <a:ext uri="{FF2B5EF4-FFF2-40B4-BE49-F238E27FC236}">
                <a16:creationId xmlns:a16="http://schemas.microsoft.com/office/drawing/2014/main" id="{9D9F87E1-4FBC-5007-1120-261C57009D53}"/>
              </a:ext>
            </a:extLst>
          </p:cNvPr>
          <p:cNvSpPr/>
          <p:nvPr/>
        </p:nvSpPr>
        <p:spPr>
          <a:xfrm>
            <a:off x="2135698" y="3321569"/>
            <a:ext cx="1008718" cy="243677"/>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ja-JP" altLang="en-US" sz="1100" dirty="0"/>
              <a:t>眠り</a:t>
            </a:r>
            <a:r>
              <a:rPr lang="en-US" altLang="ja-JP" sz="1100" dirty="0"/>
              <a:t>SCAN</a:t>
            </a:r>
            <a:endParaRPr lang="ja-JP" altLang="en-US" sz="1100" dirty="0"/>
          </a:p>
        </p:txBody>
      </p:sp>
      <p:sp>
        <p:nvSpPr>
          <p:cNvPr id="36" name="四角形: 角を丸くする 35">
            <a:extLst>
              <a:ext uri="{FF2B5EF4-FFF2-40B4-BE49-F238E27FC236}">
                <a16:creationId xmlns:a16="http://schemas.microsoft.com/office/drawing/2014/main" id="{9ABDF1EC-9E34-66F3-0019-77318E892765}"/>
              </a:ext>
            </a:extLst>
          </p:cNvPr>
          <p:cNvSpPr/>
          <p:nvPr/>
        </p:nvSpPr>
        <p:spPr>
          <a:xfrm>
            <a:off x="2154359" y="3678854"/>
            <a:ext cx="1008718" cy="243677"/>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altLang="ja-JP" sz="1100" dirty="0"/>
              <a:t>Nurse call</a:t>
            </a:r>
            <a:endParaRPr lang="ja-JP" altLang="en-US" sz="1100" dirty="0"/>
          </a:p>
        </p:txBody>
      </p:sp>
      <p:sp>
        <p:nvSpPr>
          <p:cNvPr id="38" name="四角形: 角を丸くする 37">
            <a:extLst>
              <a:ext uri="{FF2B5EF4-FFF2-40B4-BE49-F238E27FC236}">
                <a16:creationId xmlns:a16="http://schemas.microsoft.com/office/drawing/2014/main" id="{B40AF3AF-A4FB-2FE6-B734-0525E19C7682}"/>
              </a:ext>
            </a:extLst>
          </p:cNvPr>
          <p:cNvSpPr/>
          <p:nvPr/>
        </p:nvSpPr>
        <p:spPr>
          <a:xfrm>
            <a:off x="6235045" y="3016177"/>
            <a:ext cx="863436" cy="382802"/>
          </a:xfrm>
          <a:prstGeom prst="roundRect">
            <a:avLst/>
          </a:prstGeom>
          <a:solidFill>
            <a:schemeClr val="accent5">
              <a:lumMod val="75000"/>
            </a:schemeClr>
          </a:solidFill>
        </p:spPr>
        <p:style>
          <a:lnRef idx="1">
            <a:schemeClr val="dk1"/>
          </a:lnRef>
          <a:fillRef idx="3">
            <a:schemeClr val="dk1"/>
          </a:fillRef>
          <a:effectRef idx="2">
            <a:schemeClr val="dk1"/>
          </a:effectRef>
          <a:fontRef idx="minor">
            <a:schemeClr val="lt1"/>
          </a:fontRef>
        </p:style>
        <p:txBody>
          <a:bodyPr rtlCol="0" anchor="ctr"/>
          <a:lstStyle/>
          <a:p>
            <a:pPr algn="ctr"/>
            <a:r>
              <a:rPr lang="ja-JP" altLang="en-US" sz="1100" dirty="0"/>
              <a:t>介護記録システム</a:t>
            </a:r>
          </a:p>
        </p:txBody>
      </p:sp>
      <p:sp>
        <p:nvSpPr>
          <p:cNvPr id="39" name="四角形: 角を丸くする 38">
            <a:extLst>
              <a:ext uri="{FF2B5EF4-FFF2-40B4-BE49-F238E27FC236}">
                <a16:creationId xmlns:a16="http://schemas.microsoft.com/office/drawing/2014/main" id="{3C2367A3-C8AE-F914-54E6-D2B1BAC043BE}"/>
              </a:ext>
            </a:extLst>
          </p:cNvPr>
          <p:cNvSpPr/>
          <p:nvPr/>
        </p:nvSpPr>
        <p:spPr>
          <a:xfrm>
            <a:off x="6241550" y="3522097"/>
            <a:ext cx="863436" cy="382802"/>
          </a:xfrm>
          <a:prstGeom prst="roundRect">
            <a:avLst/>
          </a:prstGeom>
          <a:solidFill>
            <a:schemeClr val="accent5">
              <a:lumMod val="75000"/>
            </a:schemeClr>
          </a:solidFill>
        </p:spPr>
        <p:style>
          <a:lnRef idx="1">
            <a:schemeClr val="dk1"/>
          </a:lnRef>
          <a:fillRef idx="3">
            <a:schemeClr val="dk1"/>
          </a:fillRef>
          <a:effectRef idx="2">
            <a:schemeClr val="dk1"/>
          </a:effectRef>
          <a:fontRef idx="minor">
            <a:schemeClr val="lt1"/>
          </a:fontRef>
        </p:style>
        <p:txBody>
          <a:bodyPr rtlCol="0" anchor="ctr"/>
          <a:lstStyle/>
          <a:p>
            <a:pPr algn="ctr"/>
            <a:r>
              <a:rPr lang="ja-JP" altLang="en-US" sz="1100" dirty="0"/>
              <a:t>介護計画システム</a:t>
            </a:r>
          </a:p>
        </p:txBody>
      </p:sp>
      <p:sp>
        <p:nvSpPr>
          <p:cNvPr id="40" name="四角形: 角を丸くする 39">
            <a:extLst>
              <a:ext uri="{FF2B5EF4-FFF2-40B4-BE49-F238E27FC236}">
                <a16:creationId xmlns:a16="http://schemas.microsoft.com/office/drawing/2014/main" id="{08B37204-DED6-CED3-911D-AA17B5C707CA}"/>
              </a:ext>
            </a:extLst>
          </p:cNvPr>
          <p:cNvSpPr/>
          <p:nvPr/>
        </p:nvSpPr>
        <p:spPr>
          <a:xfrm>
            <a:off x="7348938" y="3078457"/>
            <a:ext cx="1396865" cy="640608"/>
          </a:xfrm>
          <a:prstGeom prst="roundRect">
            <a:avLst/>
          </a:prstGeom>
          <a:solidFill>
            <a:schemeClr val="accent4">
              <a:lumMod val="20000"/>
              <a:lumOff val="80000"/>
            </a:schemeClr>
          </a:solidFill>
          <a:ln w="57150"/>
        </p:spPr>
        <p:style>
          <a:lnRef idx="1">
            <a:schemeClr val="dk1"/>
          </a:lnRef>
          <a:fillRef idx="3">
            <a:schemeClr val="dk1"/>
          </a:fillRef>
          <a:effectRef idx="2">
            <a:schemeClr val="dk1"/>
          </a:effectRef>
          <a:fontRef idx="minor">
            <a:schemeClr val="lt1"/>
          </a:fontRef>
        </p:style>
        <p:txBody>
          <a:bodyPr rtlCol="0" anchor="ctr"/>
          <a:lstStyle/>
          <a:p>
            <a:pPr algn="ctr"/>
            <a:r>
              <a:rPr lang="ja-JP" altLang="en-US" sz="1100" dirty="0">
                <a:solidFill>
                  <a:schemeClr val="tx1"/>
                </a:solidFill>
              </a:rPr>
              <a:t>ほのぼの</a:t>
            </a:r>
            <a:endParaRPr lang="en-US" altLang="ja-JP" sz="1100" dirty="0">
              <a:solidFill>
                <a:schemeClr val="tx1"/>
              </a:solidFill>
            </a:endParaRPr>
          </a:p>
          <a:p>
            <a:pPr algn="ctr"/>
            <a:r>
              <a:rPr lang="ja-JP" altLang="en-US" sz="1100" dirty="0">
                <a:solidFill>
                  <a:schemeClr val="tx1"/>
                </a:solidFill>
              </a:rPr>
              <a:t>（請求システム）</a:t>
            </a:r>
          </a:p>
        </p:txBody>
      </p:sp>
      <p:sp>
        <p:nvSpPr>
          <p:cNvPr id="45" name="矢印: 右 44">
            <a:extLst>
              <a:ext uri="{FF2B5EF4-FFF2-40B4-BE49-F238E27FC236}">
                <a16:creationId xmlns:a16="http://schemas.microsoft.com/office/drawing/2014/main" id="{C6A71652-C952-F1A1-AB11-7C1F5ABBCAE5}"/>
              </a:ext>
            </a:extLst>
          </p:cNvPr>
          <p:cNvSpPr/>
          <p:nvPr/>
        </p:nvSpPr>
        <p:spPr>
          <a:xfrm>
            <a:off x="8775678" y="3153972"/>
            <a:ext cx="283772" cy="219727"/>
          </a:xfrm>
          <a:prstGeom prst="rightArrow">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矢印: 右 45">
            <a:extLst>
              <a:ext uri="{FF2B5EF4-FFF2-40B4-BE49-F238E27FC236}">
                <a16:creationId xmlns:a16="http://schemas.microsoft.com/office/drawing/2014/main" id="{A086975A-8DB8-A7B8-FE09-5FB83C88368B}"/>
              </a:ext>
            </a:extLst>
          </p:cNvPr>
          <p:cNvSpPr/>
          <p:nvPr/>
        </p:nvSpPr>
        <p:spPr>
          <a:xfrm rot="18530250">
            <a:off x="7133778" y="2690673"/>
            <a:ext cx="283772" cy="219727"/>
          </a:xfrm>
          <a:prstGeom prst="rightArrow">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テキスト ボックス 51">
            <a:extLst>
              <a:ext uri="{FF2B5EF4-FFF2-40B4-BE49-F238E27FC236}">
                <a16:creationId xmlns:a16="http://schemas.microsoft.com/office/drawing/2014/main" id="{454D1F9D-E496-0071-8F66-EC699DD5B047}"/>
              </a:ext>
            </a:extLst>
          </p:cNvPr>
          <p:cNvSpPr txBox="1"/>
          <p:nvPr/>
        </p:nvSpPr>
        <p:spPr>
          <a:xfrm>
            <a:off x="1641174" y="5029039"/>
            <a:ext cx="9910124" cy="1200329"/>
          </a:xfrm>
          <a:prstGeom prst="rect">
            <a:avLst/>
          </a:prstGeom>
          <a:noFill/>
        </p:spPr>
        <p:txBody>
          <a:bodyPr wrap="square" rtlCol="0">
            <a:spAutoFit/>
          </a:bodyPr>
          <a:lstStyle/>
          <a:p>
            <a:r>
              <a:rPr lang="ja-JP" altLang="en-US" dirty="0"/>
              <a:t>＜現行</a:t>
            </a:r>
            <a:r>
              <a:rPr lang="en-US" altLang="ja-JP" dirty="0" err="1"/>
              <a:t>palantir</a:t>
            </a:r>
            <a:r>
              <a:rPr lang="ja-JP" altLang="en-US" dirty="0"/>
              <a:t>の接続先＞</a:t>
            </a:r>
            <a:endParaRPr lang="en-US" altLang="ja-JP" dirty="0"/>
          </a:p>
          <a:p>
            <a:r>
              <a:rPr kumimoji="1" lang="ja-JP" altLang="en-US" dirty="0"/>
              <a:t>・</a:t>
            </a:r>
            <a:r>
              <a:rPr kumimoji="1" lang="en-US" altLang="ja-JP" dirty="0"/>
              <a:t>AWS(</a:t>
            </a:r>
            <a:r>
              <a:rPr kumimoji="1" lang="ja-JP" altLang="en-US" dirty="0"/>
              <a:t>東）と接続して、介護記録（</a:t>
            </a:r>
            <a:r>
              <a:rPr kumimoji="1" lang="en-US" altLang="ja-JP" dirty="0"/>
              <a:t>IIJ)</a:t>
            </a:r>
            <a:r>
              <a:rPr kumimoji="1" lang="ja-JP" altLang="en-US" dirty="0"/>
              <a:t>と連携</a:t>
            </a:r>
            <a:r>
              <a:rPr kumimoji="1" lang="en-US" altLang="ja-JP" dirty="0"/>
              <a:t>PF</a:t>
            </a:r>
            <a:r>
              <a:rPr kumimoji="1" lang="ja-JP" altLang="en-US" dirty="0"/>
              <a:t>のデータを取得　（</a:t>
            </a:r>
            <a:r>
              <a:rPr kumimoji="1" lang="en-US" altLang="ja-JP" dirty="0"/>
              <a:t>Agent</a:t>
            </a:r>
            <a:r>
              <a:rPr kumimoji="1" lang="ja-JP" altLang="en-US" dirty="0"/>
              <a:t>接続）</a:t>
            </a:r>
            <a:endParaRPr kumimoji="1" lang="en-US" altLang="ja-JP" dirty="0"/>
          </a:p>
          <a:p>
            <a:r>
              <a:rPr lang="ja-JP" altLang="en-US" dirty="0"/>
              <a:t>・眠り</a:t>
            </a:r>
            <a:r>
              <a:rPr lang="en-US" altLang="ja-JP" dirty="0"/>
              <a:t>SCAN</a:t>
            </a:r>
            <a:r>
              <a:rPr lang="ja-JP" altLang="en-US" dirty="0"/>
              <a:t>と</a:t>
            </a:r>
            <a:r>
              <a:rPr lang="en-US" altLang="ja-JP" dirty="0"/>
              <a:t>Nurse call</a:t>
            </a:r>
            <a:r>
              <a:rPr lang="ja-JP" altLang="en-US" dirty="0"/>
              <a:t>は、</a:t>
            </a:r>
            <a:r>
              <a:rPr lang="en-US" altLang="ja-JP" dirty="0"/>
              <a:t>S</a:t>
            </a:r>
            <a:r>
              <a:rPr lang="ja-JP" altLang="en-US" dirty="0"/>
              <a:t>ケアネットワークの外にある</a:t>
            </a:r>
            <a:r>
              <a:rPr lang="en-US" altLang="ja-JP" dirty="0"/>
              <a:t>AWS</a:t>
            </a:r>
            <a:r>
              <a:rPr lang="ja-JP" altLang="en-US" dirty="0"/>
              <a:t> </a:t>
            </a:r>
            <a:r>
              <a:rPr lang="en-US" altLang="ja-JP" dirty="0"/>
              <a:t>S3</a:t>
            </a:r>
            <a:r>
              <a:rPr lang="ja-JP" altLang="en-US" dirty="0"/>
              <a:t>と接続　　（</a:t>
            </a:r>
            <a:r>
              <a:rPr lang="en-US" altLang="ja-JP" dirty="0"/>
              <a:t>Direct</a:t>
            </a:r>
            <a:r>
              <a:rPr lang="ja-JP" altLang="en-US" dirty="0"/>
              <a:t>接続）</a:t>
            </a:r>
            <a:endParaRPr lang="en-US" altLang="ja-JP" dirty="0"/>
          </a:p>
          <a:p>
            <a:r>
              <a:rPr kumimoji="1" lang="ja-JP" altLang="en-US" dirty="0"/>
              <a:t>・介護記録システムは、</a:t>
            </a:r>
            <a:r>
              <a:rPr kumimoji="1" lang="en-US" altLang="ja-JP" dirty="0"/>
              <a:t>2028</a:t>
            </a:r>
            <a:r>
              <a:rPr kumimoji="1" lang="ja-JP" altLang="en-US" dirty="0"/>
              <a:t>年には</a:t>
            </a:r>
            <a:r>
              <a:rPr kumimoji="1" lang="en-US" altLang="ja-JP" dirty="0" err="1"/>
              <a:t>carebase</a:t>
            </a:r>
            <a:r>
              <a:rPr kumimoji="1" lang="ja-JP" altLang="en-US" dirty="0"/>
              <a:t>に置き換わる。</a:t>
            </a:r>
          </a:p>
        </p:txBody>
      </p:sp>
    </p:spTree>
    <p:extLst>
      <p:ext uri="{BB962C8B-B14F-4D97-AF65-F5344CB8AC3E}">
        <p14:creationId xmlns:p14="http://schemas.microsoft.com/office/powerpoint/2010/main" val="36421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 7">
            <a:extLst>
              <a:ext uri="{FF2B5EF4-FFF2-40B4-BE49-F238E27FC236}">
                <a16:creationId xmlns:a16="http://schemas.microsoft.com/office/drawing/2014/main" id="{599A95D3-AB2B-101C-82D7-1D238875D0A7}"/>
              </a:ext>
            </a:extLst>
          </p:cNvPr>
          <p:cNvGraphicFramePr>
            <a:graphicFrameLocks noGrp="1"/>
          </p:cNvGraphicFramePr>
          <p:nvPr>
            <p:extLst>
              <p:ext uri="{D42A27DB-BD31-4B8C-83A1-F6EECF244321}">
                <p14:modId xmlns:p14="http://schemas.microsoft.com/office/powerpoint/2010/main" val="2238062383"/>
              </p:ext>
            </p:extLst>
          </p:nvPr>
        </p:nvGraphicFramePr>
        <p:xfrm>
          <a:off x="413027" y="4103479"/>
          <a:ext cx="11365946" cy="1778000"/>
        </p:xfrm>
        <a:graphic>
          <a:graphicData uri="http://schemas.openxmlformats.org/drawingml/2006/table">
            <a:tbl>
              <a:tblPr firstRow="1" bandRow="1">
                <a:tableStyleId>{5C22544A-7EE6-4342-B048-85BDC9FD1C3A}</a:tableStyleId>
              </a:tblPr>
              <a:tblGrid>
                <a:gridCol w="2107230">
                  <a:extLst>
                    <a:ext uri="{9D8B030D-6E8A-4147-A177-3AD203B41FA5}">
                      <a16:colId xmlns:a16="http://schemas.microsoft.com/office/drawing/2014/main" val="3219167172"/>
                    </a:ext>
                  </a:extLst>
                </a:gridCol>
                <a:gridCol w="1681420">
                  <a:extLst>
                    <a:ext uri="{9D8B030D-6E8A-4147-A177-3AD203B41FA5}">
                      <a16:colId xmlns:a16="http://schemas.microsoft.com/office/drawing/2014/main" val="3613030092"/>
                    </a:ext>
                  </a:extLst>
                </a:gridCol>
                <a:gridCol w="1894324">
                  <a:extLst>
                    <a:ext uri="{9D8B030D-6E8A-4147-A177-3AD203B41FA5}">
                      <a16:colId xmlns:a16="http://schemas.microsoft.com/office/drawing/2014/main" val="1897280176"/>
                    </a:ext>
                  </a:extLst>
                </a:gridCol>
                <a:gridCol w="1894324">
                  <a:extLst>
                    <a:ext uri="{9D8B030D-6E8A-4147-A177-3AD203B41FA5}">
                      <a16:colId xmlns:a16="http://schemas.microsoft.com/office/drawing/2014/main" val="268246374"/>
                    </a:ext>
                  </a:extLst>
                </a:gridCol>
                <a:gridCol w="1443015">
                  <a:extLst>
                    <a:ext uri="{9D8B030D-6E8A-4147-A177-3AD203B41FA5}">
                      <a16:colId xmlns:a16="http://schemas.microsoft.com/office/drawing/2014/main" val="2535013891"/>
                    </a:ext>
                  </a:extLst>
                </a:gridCol>
                <a:gridCol w="2345633">
                  <a:extLst>
                    <a:ext uri="{9D8B030D-6E8A-4147-A177-3AD203B41FA5}">
                      <a16:colId xmlns:a16="http://schemas.microsoft.com/office/drawing/2014/main" val="3200228194"/>
                    </a:ext>
                  </a:extLst>
                </a:gridCol>
              </a:tblGrid>
              <a:tr h="370840">
                <a:tc>
                  <a:txBody>
                    <a:bodyPr/>
                    <a:lstStyle/>
                    <a:p>
                      <a:pPr algn="ctr"/>
                      <a:r>
                        <a:rPr kumimoji="1" lang="ja-JP" altLang="en-US" sz="1200" dirty="0"/>
                        <a:t>外部データ</a:t>
                      </a:r>
                    </a:p>
                  </a:txBody>
                  <a:tcPr/>
                </a:tc>
                <a:tc>
                  <a:txBody>
                    <a:bodyPr/>
                    <a:lstStyle/>
                    <a:p>
                      <a:pPr algn="ctr"/>
                      <a:r>
                        <a:rPr kumimoji="1" lang="ja-JP" altLang="en-US" sz="1200" dirty="0"/>
                        <a:t>データソース数</a:t>
                      </a:r>
                    </a:p>
                  </a:txBody>
                  <a:tcPr/>
                </a:tc>
                <a:tc>
                  <a:txBody>
                    <a:bodyPr/>
                    <a:lstStyle/>
                    <a:p>
                      <a:pPr algn="ctr"/>
                      <a:r>
                        <a:rPr kumimoji="1" lang="ja-JP" altLang="en-US" sz="1200" dirty="0"/>
                        <a:t>連携テーブル数</a:t>
                      </a:r>
                      <a:r>
                        <a:rPr kumimoji="1" lang="en-US" altLang="ja-JP" sz="1200" dirty="0"/>
                        <a:t>(raw)</a:t>
                      </a:r>
                      <a:endParaRPr kumimoji="1" lang="ja-JP" altLang="en-US" sz="1200" dirty="0"/>
                    </a:p>
                  </a:txBody>
                  <a:tcPr/>
                </a:tc>
                <a:tc>
                  <a:txBody>
                    <a:bodyPr/>
                    <a:lstStyle/>
                    <a:p>
                      <a:pPr algn="ctr"/>
                      <a:r>
                        <a:rPr kumimoji="1" lang="ja-JP" altLang="en-US" sz="1200" dirty="0"/>
                        <a:t>データ量</a:t>
                      </a:r>
                      <a:r>
                        <a:rPr kumimoji="1" lang="en-US" altLang="ja-JP" sz="1200" dirty="0"/>
                        <a:t> (raw)</a:t>
                      </a:r>
                      <a:endParaRPr kumimoji="1" lang="ja-JP" altLang="en-US" sz="1200" dirty="0"/>
                    </a:p>
                  </a:txBody>
                  <a:tcPr/>
                </a:tc>
                <a:tc>
                  <a:txBody>
                    <a:bodyPr/>
                    <a:lstStyle/>
                    <a:p>
                      <a:pPr algn="ctr"/>
                      <a:r>
                        <a:rPr kumimoji="1" lang="ja-JP" altLang="en-US" sz="1200" dirty="0"/>
                        <a:t>データ連携方式</a:t>
                      </a:r>
                    </a:p>
                  </a:txBody>
                  <a:tcPr/>
                </a:tc>
                <a:tc>
                  <a:txBody>
                    <a:bodyPr/>
                    <a:lstStyle/>
                    <a:p>
                      <a:pPr algn="ctr"/>
                      <a:r>
                        <a:rPr kumimoji="1" lang="ja-JP" altLang="en-US" sz="1200" dirty="0"/>
                        <a:t>ドライバ</a:t>
                      </a:r>
                    </a:p>
                  </a:txBody>
                  <a:tcPr/>
                </a:tc>
                <a:extLst>
                  <a:ext uri="{0D108BD9-81ED-4DB2-BD59-A6C34878D82A}">
                    <a16:rowId xmlns:a16="http://schemas.microsoft.com/office/drawing/2014/main" val="733513217"/>
                  </a:ext>
                </a:extLst>
              </a:tr>
              <a:tr h="370840">
                <a:tc>
                  <a:txBody>
                    <a:bodyPr/>
                    <a:lstStyle/>
                    <a:p>
                      <a:r>
                        <a:rPr kumimoji="1" lang="ja-JP" altLang="en-US" sz="1400" dirty="0"/>
                        <a:t>介護記録システム</a:t>
                      </a:r>
                    </a:p>
                  </a:txBody>
                  <a:tcPr/>
                </a:tc>
                <a:tc>
                  <a:txBody>
                    <a:bodyPr/>
                    <a:lstStyle/>
                    <a:p>
                      <a:pPr algn="ctr"/>
                      <a:r>
                        <a:rPr kumimoji="1" lang="en-US" altLang="ja-JP" sz="1400" dirty="0"/>
                        <a:t>362</a:t>
                      </a:r>
                      <a:r>
                        <a:rPr kumimoji="1" lang="ja-JP" altLang="en-US" sz="1400" dirty="0"/>
                        <a:t>件</a:t>
                      </a:r>
                    </a:p>
                  </a:txBody>
                  <a:tcPr/>
                </a:tc>
                <a:tc>
                  <a:txBody>
                    <a:bodyPr/>
                    <a:lstStyle/>
                    <a:p>
                      <a:pPr algn="ctr"/>
                      <a:r>
                        <a:rPr kumimoji="1" lang="en-US" altLang="ja-JP" sz="1400" dirty="0"/>
                        <a:t>4244</a:t>
                      </a:r>
                      <a:r>
                        <a:rPr kumimoji="1" lang="ja-JP" altLang="en-US" sz="1400" dirty="0"/>
                        <a:t>件</a:t>
                      </a:r>
                    </a:p>
                  </a:txBody>
                  <a:tcPr/>
                </a:tc>
                <a:tc>
                  <a:txBody>
                    <a:bodyPr/>
                    <a:lstStyle/>
                    <a:p>
                      <a:pPr algn="ctr"/>
                      <a:r>
                        <a:rPr kumimoji="1" lang="en-US" altLang="ja-JP" sz="1400" dirty="0"/>
                        <a:t>340.7GB</a:t>
                      </a:r>
                      <a:endParaRPr kumimoji="1" lang="ja-JP" altLang="en-US" sz="1400" dirty="0"/>
                    </a:p>
                  </a:txBody>
                  <a:tcPr/>
                </a:tc>
                <a:tc>
                  <a:txBody>
                    <a:bodyPr/>
                    <a:lstStyle/>
                    <a:p>
                      <a:pPr algn="ctr"/>
                      <a:r>
                        <a:rPr kumimoji="1" lang="en-US" altLang="ja-JP" sz="1400" dirty="0"/>
                        <a:t>Agent</a:t>
                      </a:r>
                      <a:endParaRPr kumimoji="1" lang="ja-JP" altLang="en-US" sz="1400" dirty="0"/>
                    </a:p>
                  </a:txBody>
                  <a:tcPr/>
                </a:tc>
                <a:tc>
                  <a:txBody>
                    <a:bodyPr/>
                    <a:lstStyle/>
                    <a:p>
                      <a:r>
                        <a:rPr kumimoji="1" lang="en-US" altLang="ja-JP" sz="1400" dirty="0" err="1"/>
                        <a:t>jdbc.SQLServerDriver</a:t>
                      </a:r>
                      <a:r>
                        <a:rPr kumimoji="1" lang="en-US" altLang="ja-JP" sz="1400" dirty="0"/>
                        <a:t>/</a:t>
                      </a:r>
                    </a:p>
                    <a:p>
                      <a:r>
                        <a:rPr kumimoji="1" lang="en-US" altLang="ja-JP" sz="1400" dirty="0"/>
                        <a:t>MSSQL</a:t>
                      </a:r>
                      <a:endParaRPr kumimoji="1" lang="ja-JP" altLang="en-US" sz="1400" dirty="0"/>
                    </a:p>
                  </a:txBody>
                  <a:tcPr/>
                </a:tc>
                <a:extLst>
                  <a:ext uri="{0D108BD9-81ED-4DB2-BD59-A6C34878D82A}">
                    <a16:rowId xmlns:a16="http://schemas.microsoft.com/office/drawing/2014/main" val="1475784533"/>
                  </a:ext>
                </a:extLst>
              </a:tr>
              <a:tr h="370840">
                <a:tc>
                  <a:txBody>
                    <a:bodyPr/>
                    <a:lstStyle/>
                    <a:p>
                      <a:r>
                        <a:rPr kumimoji="1" lang="ja-JP" altLang="en-US" sz="1400" dirty="0"/>
                        <a:t>連携</a:t>
                      </a:r>
                      <a:r>
                        <a:rPr kumimoji="1" lang="en-US" altLang="ja-JP" sz="1400" dirty="0"/>
                        <a:t>PF</a:t>
                      </a:r>
                      <a:endParaRPr kumimoji="1" lang="ja-JP" altLang="en-US" sz="1400" dirty="0"/>
                    </a:p>
                  </a:txBody>
                  <a:tcPr/>
                </a:tc>
                <a:tc>
                  <a:txBody>
                    <a:bodyPr/>
                    <a:lstStyle/>
                    <a:p>
                      <a:pPr algn="ctr"/>
                      <a:r>
                        <a:rPr kumimoji="1" lang="en-US" altLang="ja-JP" sz="1400" dirty="0"/>
                        <a:t>1</a:t>
                      </a:r>
                      <a:r>
                        <a:rPr kumimoji="1" lang="ja-JP" altLang="en-US" sz="1400" dirty="0"/>
                        <a:t>件</a:t>
                      </a:r>
                    </a:p>
                  </a:txBody>
                  <a:tcPr/>
                </a:tc>
                <a:tc>
                  <a:txBody>
                    <a:bodyPr/>
                    <a:lstStyle/>
                    <a:p>
                      <a:pPr algn="ctr"/>
                      <a:r>
                        <a:rPr kumimoji="1" lang="en-US" altLang="ja-JP" sz="1400" dirty="0"/>
                        <a:t>11</a:t>
                      </a:r>
                      <a:r>
                        <a:rPr kumimoji="1" lang="ja-JP" altLang="en-US" sz="1400" dirty="0"/>
                        <a:t>件</a:t>
                      </a:r>
                    </a:p>
                  </a:txBody>
                  <a:tcPr/>
                </a:tc>
                <a:tc>
                  <a:txBody>
                    <a:bodyPr/>
                    <a:lstStyle/>
                    <a:p>
                      <a:pPr algn="ctr"/>
                      <a:r>
                        <a:rPr kumimoji="1" lang="en-US" altLang="ja-JP" sz="1400" dirty="0"/>
                        <a:t>52.3MB</a:t>
                      </a:r>
                      <a:endParaRPr kumimoji="1" lang="ja-JP" altLang="en-US"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Agent</a:t>
                      </a:r>
                      <a:endParaRPr kumimoji="1" lang="ja-JP" altLang="en-US" sz="1400" dirty="0"/>
                    </a:p>
                  </a:txBody>
                  <a:tcPr/>
                </a:tc>
                <a:tc>
                  <a:txBody>
                    <a:bodyPr/>
                    <a:lstStyle/>
                    <a:p>
                      <a:r>
                        <a:rPr kumimoji="1" lang="en-US" altLang="ja-JP" sz="1400" dirty="0" err="1"/>
                        <a:t>jdbc.SQLServerDriver</a:t>
                      </a:r>
                      <a:endParaRPr kumimoji="1" lang="ja-JP" altLang="en-US" sz="1400" dirty="0"/>
                    </a:p>
                  </a:txBody>
                  <a:tcPr/>
                </a:tc>
                <a:extLst>
                  <a:ext uri="{0D108BD9-81ED-4DB2-BD59-A6C34878D82A}">
                    <a16:rowId xmlns:a16="http://schemas.microsoft.com/office/drawing/2014/main" val="2899033252"/>
                  </a:ext>
                </a:extLst>
              </a:tr>
              <a:tr h="370840">
                <a:tc>
                  <a:txBody>
                    <a:bodyPr/>
                    <a:lstStyle/>
                    <a:p>
                      <a:r>
                        <a:rPr kumimoji="1" lang="ja-JP" altLang="en-US" sz="1400" dirty="0"/>
                        <a:t>眠りスキャン</a:t>
                      </a:r>
                      <a:endParaRPr kumimoji="1" lang="en-US" altLang="ja-JP" sz="1400" dirty="0"/>
                    </a:p>
                    <a:p>
                      <a:r>
                        <a:rPr kumimoji="1" lang="ja-JP" altLang="en-US" sz="1400" dirty="0"/>
                        <a:t>ナースコール</a:t>
                      </a:r>
                    </a:p>
                  </a:txBody>
                  <a:tcPr/>
                </a:tc>
                <a:tc>
                  <a:txBody>
                    <a:bodyPr/>
                    <a:lstStyle/>
                    <a:p>
                      <a:pPr algn="ctr"/>
                      <a:r>
                        <a:rPr kumimoji="1" lang="en-US" altLang="ja-JP" sz="1400" dirty="0"/>
                        <a:t>1</a:t>
                      </a:r>
                      <a:r>
                        <a:rPr kumimoji="1" lang="ja-JP" altLang="en-US" sz="1400" dirty="0"/>
                        <a:t>件</a:t>
                      </a:r>
                    </a:p>
                  </a:txBody>
                  <a:tcPr/>
                </a:tc>
                <a:tc>
                  <a:txBody>
                    <a:bodyPr/>
                    <a:lstStyle/>
                    <a:p>
                      <a:pPr algn="ctr"/>
                      <a:r>
                        <a:rPr kumimoji="1" lang="en-US" altLang="ja-JP" sz="1400" dirty="0"/>
                        <a:t>4</a:t>
                      </a:r>
                      <a:r>
                        <a:rPr kumimoji="1" lang="ja-JP" altLang="en-US" sz="1400" dirty="0"/>
                        <a:t>件</a:t>
                      </a:r>
                    </a:p>
                  </a:txBody>
                  <a:tcPr/>
                </a:tc>
                <a:tc>
                  <a:txBody>
                    <a:bodyPr/>
                    <a:lstStyle/>
                    <a:p>
                      <a:pPr algn="ctr"/>
                      <a:r>
                        <a:rPr kumimoji="1" lang="en-US" altLang="ja-JP" sz="1400" dirty="0"/>
                        <a:t>1.92TB</a:t>
                      </a:r>
                      <a:endParaRPr kumimoji="1" lang="ja-JP" altLang="en-US" sz="1400" dirty="0"/>
                    </a:p>
                  </a:txBody>
                  <a:tcPr/>
                </a:tc>
                <a:tc>
                  <a:txBody>
                    <a:bodyPr/>
                    <a:lstStyle/>
                    <a:p>
                      <a:pPr algn="ctr"/>
                      <a:r>
                        <a:rPr kumimoji="1" lang="en-US" altLang="ja-JP" sz="1400" dirty="0"/>
                        <a:t>Direct</a:t>
                      </a:r>
                      <a:endParaRPr kumimoji="1" lang="ja-JP" altLang="en-US" sz="1400" dirty="0"/>
                    </a:p>
                  </a:txBody>
                  <a:tcPr/>
                </a:tc>
                <a:tc>
                  <a:txBody>
                    <a:bodyPr/>
                    <a:lstStyle/>
                    <a:p>
                      <a:endParaRPr kumimoji="1" lang="ja-JP" altLang="en-US" sz="1400" dirty="0"/>
                    </a:p>
                  </a:txBody>
                  <a:tcPr/>
                </a:tc>
                <a:extLst>
                  <a:ext uri="{0D108BD9-81ED-4DB2-BD59-A6C34878D82A}">
                    <a16:rowId xmlns:a16="http://schemas.microsoft.com/office/drawing/2014/main" val="1059573100"/>
                  </a:ext>
                </a:extLst>
              </a:tr>
            </a:tbl>
          </a:graphicData>
        </a:graphic>
      </p:graphicFrame>
      <p:sp>
        <p:nvSpPr>
          <p:cNvPr id="3" name="テキスト ボックス 2">
            <a:extLst>
              <a:ext uri="{FF2B5EF4-FFF2-40B4-BE49-F238E27FC236}">
                <a16:creationId xmlns:a16="http://schemas.microsoft.com/office/drawing/2014/main" id="{573ADE81-A3D8-43E4-6C6B-E0938F64586A}"/>
              </a:ext>
            </a:extLst>
          </p:cNvPr>
          <p:cNvSpPr txBox="1"/>
          <p:nvPr/>
        </p:nvSpPr>
        <p:spPr>
          <a:xfrm>
            <a:off x="413027" y="961392"/>
            <a:ext cx="11125257" cy="2862322"/>
          </a:xfrm>
          <a:prstGeom prst="rect">
            <a:avLst/>
          </a:prstGeom>
          <a:noFill/>
        </p:spPr>
        <p:txBody>
          <a:bodyPr wrap="square" rtlCol="0">
            <a:spAutoFit/>
          </a:bodyPr>
          <a:lstStyle/>
          <a:p>
            <a:r>
              <a:rPr kumimoji="1" lang="ja-JP" altLang="en-US" b="1" dirty="0"/>
              <a:t>介護記録システム：</a:t>
            </a:r>
            <a:endParaRPr kumimoji="1" lang="en-US" altLang="ja-JP" b="1" dirty="0"/>
          </a:p>
          <a:p>
            <a:r>
              <a:rPr lang="ja-JP" altLang="en-US" b="0" i="0" dirty="0">
                <a:solidFill>
                  <a:srgbClr val="09090B"/>
                </a:solidFill>
                <a:effectLst/>
                <a:latin typeface="ui-sans-serif"/>
              </a:rPr>
              <a:t>利用者情報、援助記録等のデータを保持。</a:t>
            </a:r>
            <a:r>
              <a:rPr lang="ja-JP" altLang="en-US" b="0" i="0" dirty="0">
                <a:solidFill>
                  <a:srgbClr val="0A0A0A"/>
                </a:solidFill>
                <a:effectLst/>
                <a:latin typeface="ui-sans-serif"/>
              </a:rPr>
              <a:t>施設単位にデータソース、連携テーブルが存在するため、数が多くなっています。</a:t>
            </a:r>
            <a:endParaRPr lang="en-US" altLang="ja-JP" b="0" i="0" dirty="0">
              <a:solidFill>
                <a:srgbClr val="09090B"/>
              </a:solidFill>
              <a:effectLst/>
              <a:latin typeface="ui-sans-serif"/>
            </a:endParaRPr>
          </a:p>
          <a:p>
            <a:endParaRPr lang="en-US" altLang="ja-JP" dirty="0">
              <a:solidFill>
                <a:srgbClr val="09090B"/>
              </a:solidFill>
              <a:latin typeface="ui-sans-serif"/>
            </a:endParaRPr>
          </a:p>
          <a:p>
            <a:r>
              <a:rPr kumimoji="1" lang="ja-JP" altLang="en-US" b="1" dirty="0">
                <a:solidFill>
                  <a:srgbClr val="09090B"/>
                </a:solidFill>
                <a:latin typeface="ui-sans-serif"/>
              </a:rPr>
              <a:t>連携</a:t>
            </a:r>
            <a:r>
              <a:rPr kumimoji="1" lang="en-US" altLang="ja-JP" b="1" dirty="0">
                <a:solidFill>
                  <a:srgbClr val="09090B"/>
                </a:solidFill>
                <a:latin typeface="ui-sans-serif"/>
              </a:rPr>
              <a:t>PF</a:t>
            </a:r>
            <a:r>
              <a:rPr kumimoji="1" lang="ja-JP" altLang="en-US" b="1" dirty="0">
                <a:solidFill>
                  <a:srgbClr val="09090B"/>
                </a:solidFill>
                <a:latin typeface="ui-sans-serif"/>
              </a:rPr>
              <a:t>：</a:t>
            </a:r>
            <a:endParaRPr kumimoji="1" lang="en-US" altLang="ja-JP" b="1" dirty="0">
              <a:solidFill>
                <a:srgbClr val="09090B"/>
              </a:solidFill>
              <a:latin typeface="ui-sans-serif"/>
            </a:endParaRPr>
          </a:p>
          <a:p>
            <a:r>
              <a:rPr lang="ja-JP" altLang="en-US" dirty="0">
                <a:solidFill>
                  <a:srgbClr val="09090B"/>
                </a:solidFill>
                <a:latin typeface="ui-sans-serif"/>
              </a:rPr>
              <a:t>請求データより、利用者の基本情報などマスタを取得しているため、データサイズは</a:t>
            </a:r>
            <a:r>
              <a:rPr lang="en-US" altLang="ja-JP" dirty="0">
                <a:solidFill>
                  <a:srgbClr val="09090B"/>
                </a:solidFill>
                <a:latin typeface="ui-sans-serif"/>
              </a:rPr>
              <a:t>52.3MB</a:t>
            </a:r>
            <a:r>
              <a:rPr lang="ja-JP" altLang="en-US" dirty="0">
                <a:solidFill>
                  <a:srgbClr val="09090B"/>
                </a:solidFill>
                <a:latin typeface="ui-sans-serif"/>
              </a:rPr>
              <a:t>と小さくなっています。</a:t>
            </a:r>
            <a:endParaRPr lang="en-US" altLang="ja-JP" dirty="0">
              <a:solidFill>
                <a:srgbClr val="09090B"/>
              </a:solidFill>
              <a:latin typeface="ui-sans-serif"/>
            </a:endParaRPr>
          </a:p>
          <a:p>
            <a:endParaRPr kumimoji="1" lang="en-US" altLang="ja-JP" dirty="0">
              <a:solidFill>
                <a:srgbClr val="09090B"/>
              </a:solidFill>
              <a:latin typeface="ui-sans-serif"/>
            </a:endParaRPr>
          </a:p>
          <a:p>
            <a:r>
              <a:rPr lang="ja-JP" altLang="en-US" b="1" dirty="0"/>
              <a:t>眠りスキャン、ナースコール：</a:t>
            </a:r>
            <a:endParaRPr lang="en-US" altLang="ja-JP" b="1" dirty="0"/>
          </a:p>
          <a:p>
            <a:r>
              <a:rPr lang="en-US" altLang="ja-JP" b="0" i="0" dirty="0">
                <a:solidFill>
                  <a:srgbClr val="09090B"/>
                </a:solidFill>
                <a:effectLst/>
                <a:latin typeface="ui-sans-serif"/>
              </a:rPr>
              <a:t>IoT</a:t>
            </a:r>
            <a:r>
              <a:rPr lang="ja-JP" altLang="en-US" b="0" i="0" dirty="0">
                <a:solidFill>
                  <a:srgbClr val="09090B"/>
                </a:solidFill>
                <a:effectLst/>
                <a:latin typeface="ui-sans-serif"/>
              </a:rPr>
              <a:t>デバイスから時系列データを取得しているため、</a:t>
            </a:r>
            <a:r>
              <a:rPr lang="en-US" altLang="ja-JP" b="0" i="0" dirty="0">
                <a:solidFill>
                  <a:srgbClr val="09090B"/>
                </a:solidFill>
                <a:effectLst/>
                <a:latin typeface="ui-sans-serif"/>
              </a:rPr>
              <a:t>1.92TB</a:t>
            </a:r>
            <a:r>
              <a:rPr lang="ja-JP" altLang="en-US" b="0" i="0" dirty="0">
                <a:solidFill>
                  <a:srgbClr val="09090B"/>
                </a:solidFill>
                <a:effectLst/>
                <a:latin typeface="ui-sans-serif"/>
              </a:rPr>
              <a:t>という最大のデータ量を保有しています。</a:t>
            </a:r>
            <a:endParaRPr lang="en-US" altLang="ja-JP" b="0" i="0" dirty="0">
              <a:solidFill>
                <a:srgbClr val="09090B"/>
              </a:solidFill>
              <a:effectLst/>
              <a:latin typeface="ui-sans-serif"/>
            </a:endParaRPr>
          </a:p>
        </p:txBody>
      </p:sp>
      <p:sp>
        <p:nvSpPr>
          <p:cNvPr id="4" name="タイトル 2">
            <a:extLst>
              <a:ext uri="{FF2B5EF4-FFF2-40B4-BE49-F238E27FC236}">
                <a16:creationId xmlns:a16="http://schemas.microsoft.com/office/drawing/2014/main" id="{F07DA6F8-4E6D-6B4F-84B3-CD1ABFF57625}"/>
              </a:ext>
            </a:extLst>
          </p:cNvPr>
          <p:cNvSpPr txBox="1">
            <a:spLocks/>
          </p:cNvSpPr>
          <p:nvPr/>
        </p:nvSpPr>
        <p:spPr>
          <a:xfrm>
            <a:off x="348361" y="165579"/>
            <a:ext cx="9382540" cy="516048"/>
          </a:xfrm>
          <a:prstGeom prst="rect">
            <a:avLst/>
          </a:prstGeom>
        </p:spPr>
        <p:txBody>
          <a:bodyPr anchor="ctr"/>
          <a:lstStyle>
            <a:lvl1pPr algn="l" defTabSz="914400" rtl="0" eaLnBrk="1" latinLnBrk="0" hangingPunct="1">
              <a:lnSpc>
                <a:spcPct val="90000"/>
              </a:lnSpc>
              <a:spcBef>
                <a:spcPct val="0"/>
              </a:spcBef>
              <a:buNone/>
              <a:defRPr kumimoji="1" sz="2400" b="1"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stStyle>
          <a:p>
            <a:pPr>
              <a:defRPr/>
            </a:pPr>
            <a:r>
              <a:rPr lang="ja-JP" altLang="en-US" b="0" dirty="0">
                <a:solidFill>
                  <a:srgbClr val="262626"/>
                </a:solidFill>
                <a:latin typeface="BIZ UDPゴシック" panose="020B0400000000000000" pitchFamily="50" charset="-128"/>
                <a:ea typeface="BIZ UDPゴシック" panose="020B0400000000000000" pitchFamily="50" charset="-128"/>
              </a:rPr>
              <a:t>①データ連携調査概要</a:t>
            </a:r>
          </a:p>
        </p:txBody>
      </p:sp>
    </p:spTree>
    <p:extLst>
      <p:ext uri="{BB962C8B-B14F-4D97-AF65-F5344CB8AC3E}">
        <p14:creationId xmlns:p14="http://schemas.microsoft.com/office/powerpoint/2010/main" val="4091195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 7">
            <a:extLst>
              <a:ext uri="{FF2B5EF4-FFF2-40B4-BE49-F238E27FC236}">
                <a16:creationId xmlns:a16="http://schemas.microsoft.com/office/drawing/2014/main" id="{599A95D3-AB2B-101C-82D7-1D238875D0A7}"/>
              </a:ext>
            </a:extLst>
          </p:cNvPr>
          <p:cNvGraphicFramePr>
            <a:graphicFrameLocks noGrp="1"/>
          </p:cNvGraphicFramePr>
          <p:nvPr/>
        </p:nvGraphicFramePr>
        <p:xfrm>
          <a:off x="413027" y="4100713"/>
          <a:ext cx="11365945" cy="1854200"/>
        </p:xfrm>
        <a:graphic>
          <a:graphicData uri="http://schemas.openxmlformats.org/drawingml/2006/table">
            <a:tbl>
              <a:tblPr firstRow="1" bandRow="1">
                <a:tableStyleId>{5C22544A-7EE6-4342-B048-85BDC9FD1C3A}</a:tableStyleId>
              </a:tblPr>
              <a:tblGrid>
                <a:gridCol w="2107230">
                  <a:extLst>
                    <a:ext uri="{9D8B030D-6E8A-4147-A177-3AD203B41FA5}">
                      <a16:colId xmlns:a16="http://schemas.microsoft.com/office/drawing/2014/main" val="3219167172"/>
                    </a:ext>
                  </a:extLst>
                </a:gridCol>
                <a:gridCol w="1851743">
                  <a:extLst>
                    <a:ext uri="{9D8B030D-6E8A-4147-A177-3AD203B41FA5}">
                      <a16:colId xmlns:a16="http://schemas.microsoft.com/office/drawing/2014/main" val="3613030092"/>
                    </a:ext>
                  </a:extLst>
                </a:gridCol>
                <a:gridCol w="1851743">
                  <a:extLst>
                    <a:ext uri="{9D8B030D-6E8A-4147-A177-3AD203B41FA5}">
                      <a16:colId xmlns:a16="http://schemas.microsoft.com/office/drawing/2014/main" val="1897280176"/>
                    </a:ext>
                  </a:extLst>
                </a:gridCol>
                <a:gridCol w="1851743">
                  <a:extLst>
                    <a:ext uri="{9D8B030D-6E8A-4147-A177-3AD203B41FA5}">
                      <a16:colId xmlns:a16="http://schemas.microsoft.com/office/drawing/2014/main" val="268246374"/>
                    </a:ext>
                  </a:extLst>
                </a:gridCol>
                <a:gridCol w="1851743">
                  <a:extLst>
                    <a:ext uri="{9D8B030D-6E8A-4147-A177-3AD203B41FA5}">
                      <a16:colId xmlns:a16="http://schemas.microsoft.com/office/drawing/2014/main" val="2535013891"/>
                    </a:ext>
                  </a:extLst>
                </a:gridCol>
                <a:gridCol w="1851743">
                  <a:extLst>
                    <a:ext uri="{9D8B030D-6E8A-4147-A177-3AD203B41FA5}">
                      <a16:colId xmlns:a16="http://schemas.microsoft.com/office/drawing/2014/main" val="3200228194"/>
                    </a:ext>
                  </a:extLst>
                </a:gridCol>
              </a:tblGrid>
              <a:tr h="370840">
                <a:tc>
                  <a:txBody>
                    <a:bodyPr/>
                    <a:lstStyle/>
                    <a:p>
                      <a:pPr algn="ctr"/>
                      <a:endParaRPr kumimoji="1" lang="ja-JP" altLang="en-US" sz="1200" dirty="0"/>
                    </a:p>
                  </a:txBody>
                  <a:tcPr/>
                </a:tc>
                <a:tc>
                  <a:txBody>
                    <a:bodyPr/>
                    <a:lstStyle/>
                    <a:p>
                      <a:pPr algn="ctr"/>
                      <a:r>
                        <a:rPr kumimoji="1" lang="en-US" altLang="ja-JP" sz="1200" dirty="0"/>
                        <a:t>2025</a:t>
                      </a:r>
                      <a:r>
                        <a:rPr kumimoji="1" lang="ja-JP" altLang="en-US" sz="1200" dirty="0"/>
                        <a:t>年</a:t>
                      </a:r>
                      <a:r>
                        <a:rPr kumimoji="1" lang="en-US" altLang="ja-JP" sz="1200" dirty="0"/>
                        <a:t>4</a:t>
                      </a:r>
                      <a:r>
                        <a:rPr kumimoji="1" lang="ja-JP" altLang="en-US" sz="1200" dirty="0"/>
                        <a:t>月</a:t>
                      </a:r>
                    </a:p>
                  </a:txBody>
                  <a:tcPr/>
                </a:tc>
                <a:tc>
                  <a:txBody>
                    <a:bodyPr/>
                    <a:lstStyle/>
                    <a:p>
                      <a:pPr algn="ctr"/>
                      <a:r>
                        <a:rPr kumimoji="1" lang="en-US" altLang="ja-JP" sz="1200" dirty="0"/>
                        <a:t>2025</a:t>
                      </a:r>
                      <a:r>
                        <a:rPr kumimoji="1" lang="ja-JP" altLang="en-US" sz="1200" dirty="0"/>
                        <a:t>年</a:t>
                      </a:r>
                      <a:r>
                        <a:rPr kumimoji="1" lang="en-US" altLang="ja-JP" sz="1200" dirty="0"/>
                        <a:t>5</a:t>
                      </a:r>
                      <a:r>
                        <a:rPr kumimoji="1" lang="ja-JP" altLang="en-US" sz="1200" dirty="0"/>
                        <a:t>月</a:t>
                      </a:r>
                    </a:p>
                  </a:txBody>
                  <a:tcPr/>
                </a:tc>
                <a:tc>
                  <a:txBody>
                    <a:bodyPr/>
                    <a:lstStyle/>
                    <a:p>
                      <a:pPr algn="ctr"/>
                      <a:r>
                        <a:rPr kumimoji="1" lang="en-US" altLang="ja-JP" sz="1200" dirty="0"/>
                        <a:t>2025</a:t>
                      </a:r>
                      <a:r>
                        <a:rPr kumimoji="1" lang="ja-JP" altLang="en-US" sz="1200" dirty="0"/>
                        <a:t>年</a:t>
                      </a:r>
                      <a:r>
                        <a:rPr kumimoji="1" lang="en-US" altLang="ja-JP" sz="1200" dirty="0"/>
                        <a:t>6</a:t>
                      </a:r>
                      <a:r>
                        <a:rPr kumimoji="1" lang="ja-JP" altLang="en-US" sz="1200" dirty="0"/>
                        <a:t>月</a:t>
                      </a:r>
                    </a:p>
                  </a:txBody>
                  <a:tcPr/>
                </a:tc>
                <a:tc>
                  <a:txBody>
                    <a:bodyPr/>
                    <a:lstStyle/>
                    <a:p>
                      <a:pPr algn="ctr"/>
                      <a:r>
                        <a:rPr kumimoji="1" lang="en-US" altLang="ja-JP" sz="1200" dirty="0"/>
                        <a:t>2025</a:t>
                      </a:r>
                      <a:r>
                        <a:rPr kumimoji="1" lang="ja-JP" altLang="en-US" sz="1200" dirty="0"/>
                        <a:t>年</a:t>
                      </a:r>
                      <a:r>
                        <a:rPr kumimoji="1" lang="en-US" altLang="ja-JP" sz="1200" dirty="0"/>
                        <a:t>7</a:t>
                      </a:r>
                      <a:r>
                        <a:rPr kumimoji="1" lang="ja-JP" altLang="en-US" sz="1200" dirty="0"/>
                        <a:t>月</a:t>
                      </a:r>
                    </a:p>
                  </a:txBody>
                  <a:tcPr/>
                </a:tc>
                <a:tc>
                  <a:txBody>
                    <a:bodyPr/>
                    <a:lstStyle/>
                    <a:p>
                      <a:pPr algn="ctr"/>
                      <a:r>
                        <a:rPr kumimoji="1" lang="en-US" altLang="ja-JP" sz="1200" dirty="0"/>
                        <a:t>2025</a:t>
                      </a:r>
                      <a:r>
                        <a:rPr kumimoji="1" lang="ja-JP" altLang="en-US" sz="1200" dirty="0"/>
                        <a:t>年</a:t>
                      </a:r>
                      <a:r>
                        <a:rPr kumimoji="1" lang="en-US" altLang="ja-JP" sz="1200" dirty="0"/>
                        <a:t>8</a:t>
                      </a:r>
                      <a:r>
                        <a:rPr kumimoji="1" lang="ja-JP" altLang="en-US" sz="1200" dirty="0"/>
                        <a:t>月</a:t>
                      </a:r>
                      <a:endParaRPr kumimoji="1" lang="en-US" altLang="ja-JP" sz="1200" dirty="0"/>
                    </a:p>
                  </a:txBody>
                  <a:tcPr/>
                </a:tc>
                <a:extLst>
                  <a:ext uri="{0D108BD9-81ED-4DB2-BD59-A6C34878D82A}">
                    <a16:rowId xmlns:a16="http://schemas.microsoft.com/office/drawing/2014/main" val="7335132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バッチ時間（時間）</a:t>
                      </a:r>
                    </a:p>
                  </a:txBody>
                  <a:tcPr/>
                </a:tc>
                <a:tc>
                  <a:txBody>
                    <a:bodyPr/>
                    <a:lstStyle/>
                    <a:p>
                      <a:pPr algn="ctr"/>
                      <a:r>
                        <a:rPr kumimoji="1" lang="en-US" altLang="ja-JP" sz="1400" dirty="0"/>
                        <a:t>2.24</a:t>
                      </a:r>
                      <a:endParaRPr kumimoji="1" lang="ja-JP" altLang="en-US" sz="1400" dirty="0"/>
                    </a:p>
                  </a:txBody>
                  <a:tcPr/>
                </a:tc>
                <a:tc>
                  <a:txBody>
                    <a:bodyPr/>
                    <a:lstStyle/>
                    <a:p>
                      <a:pPr algn="ctr"/>
                      <a:r>
                        <a:rPr kumimoji="1" lang="en-US" altLang="ja-JP" sz="1400" dirty="0"/>
                        <a:t>2.40</a:t>
                      </a:r>
                      <a:endParaRPr kumimoji="1" lang="ja-JP" altLang="en-US" sz="1400" dirty="0"/>
                    </a:p>
                  </a:txBody>
                  <a:tcPr/>
                </a:tc>
                <a:tc>
                  <a:txBody>
                    <a:bodyPr/>
                    <a:lstStyle/>
                    <a:p>
                      <a:pPr algn="ctr"/>
                      <a:r>
                        <a:rPr kumimoji="1" lang="en-US" altLang="ja-JP" sz="1400" dirty="0"/>
                        <a:t>2.75</a:t>
                      </a:r>
                      <a:endParaRPr kumimoji="1" lang="ja-JP" altLang="en-US" sz="1400" dirty="0"/>
                    </a:p>
                  </a:txBody>
                  <a:tcPr/>
                </a:tc>
                <a:tc>
                  <a:txBody>
                    <a:bodyPr/>
                    <a:lstStyle/>
                    <a:p>
                      <a:pPr algn="ctr"/>
                      <a:r>
                        <a:rPr kumimoji="1" lang="en-US" altLang="ja-JP" sz="1400" dirty="0"/>
                        <a:t>2.81</a:t>
                      </a:r>
                      <a:endParaRPr kumimoji="1" lang="ja-JP" altLang="en-US" sz="1400" dirty="0"/>
                    </a:p>
                  </a:txBody>
                  <a:tcPr/>
                </a:tc>
                <a:tc>
                  <a:txBody>
                    <a:bodyPr/>
                    <a:lstStyle/>
                    <a:p>
                      <a:pPr algn="ctr"/>
                      <a:r>
                        <a:rPr kumimoji="1" lang="en-US" altLang="ja-JP" sz="1400" dirty="0"/>
                        <a:t>2.84</a:t>
                      </a:r>
                      <a:endParaRPr kumimoji="1" lang="ja-JP" altLang="en-US" sz="1400" dirty="0"/>
                    </a:p>
                  </a:txBody>
                  <a:tcPr/>
                </a:tc>
                <a:extLst>
                  <a:ext uri="{0D108BD9-81ED-4DB2-BD59-A6C34878D82A}">
                    <a16:rowId xmlns:a16="http://schemas.microsoft.com/office/drawing/2014/main" val="147578453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増加率（時間）</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t>ー</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0.07</a:t>
                      </a:r>
                      <a:endParaRPr kumimoji="1" lang="ja-JP" altLang="en-US"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0.15</a:t>
                      </a:r>
                      <a:endParaRPr kumimoji="1" lang="ja-JP" altLang="en-US"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0.02</a:t>
                      </a:r>
                      <a:endParaRPr kumimoji="1" lang="ja-JP" altLang="en-US"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0.01</a:t>
                      </a:r>
                      <a:endParaRPr kumimoji="1" lang="ja-JP" altLang="en-US" sz="1400" dirty="0"/>
                    </a:p>
                  </a:txBody>
                  <a:tcPr/>
                </a:tc>
                <a:extLst>
                  <a:ext uri="{0D108BD9-81ED-4DB2-BD59-A6C34878D82A}">
                    <a16:rowId xmlns:a16="http://schemas.microsoft.com/office/drawing/2014/main" val="289903325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ストレージ（</a:t>
                      </a:r>
                      <a:r>
                        <a:rPr kumimoji="1" lang="en-US" altLang="ja-JP" sz="1400" dirty="0"/>
                        <a:t>GB</a:t>
                      </a:r>
                      <a:r>
                        <a:rPr kumimoji="1" lang="ja-JP" altLang="en-US" sz="1400" dirty="0"/>
                        <a:t>）</a:t>
                      </a:r>
                    </a:p>
                  </a:txBody>
                  <a:tcPr/>
                </a:tc>
                <a:tc>
                  <a:txBody>
                    <a:bodyPr/>
                    <a:lstStyle/>
                    <a:p>
                      <a:pPr algn="ctr"/>
                      <a:r>
                        <a:rPr kumimoji="1" lang="en-US" altLang="ja-JP" sz="1400" dirty="0"/>
                        <a:t>69500</a:t>
                      </a:r>
                      <a:endParaRPr kumimoji="1" lang="ja-JP" altLang="en-US" sz="1400" dirty="0"/>
                    </a:p>
                  </a:txBody>
                  <a:tcPr/>
                </a:tc>
                <a:tc>
                  <a:txBody>
                    <a:bodyPr/>
                    <a:lstStyle/>
                    <a:p>
                      <a:pPr algn="ctr"/>
                      <a:r>
                        <a:rPr kumimoji="1" lang="en-US" altLang="ja-JP" sz="1400" dirty="0"/>
                        <a:t>68660</a:t>
                      </a:r>
                      <a:endParaRPr kumimoji="1" lang="ja-JP" altLang="en-US" sz="1400" dirty="0"/>
                    </a:p>
                  </a:txBody>
                  <a:tcPr/>
                </a:tc>
                <a:tc>
                  <a:txBody>
                    <a:bodyPr/>
                    <a:lstStyle/>
                    <a:p>
                      <a:pPr algn="ctr"/>
                      <a:r>
                        <a:rPr kumimoji="1" lang="en-US" altLang="ja-JP" sz="1400" dirty="0"/>
                        <a:t>73000</a:t>
                      </a:r>
                      <a:endParaRPr kumimoji="1" lang="ja-JP" altLang="en-US"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75580</a:t>
                      </a:r>
                      <a:endParaRPr kumimoji="1" lang="ja-JP" altLang="en-US" sz="1400" dirty="0"/>
                    </a:p>
                  </a:txBody>
                  <a:tcPr/>
                </a:tc>
                <a:tc>
                  <a:txBody>
                    <a:bodyPr/>
                    <a:lstStyle/>
                    <a:p>
                      <a:pPr algn="ctr"/>
                      <a:r>
                        <a:rPr kumimoji="1" lang="en-US" altLang="ja-JP" sz="1400" dirty="0"/>
                        <a:t>76720</a:t>
                      </a:r>
                      <a:endParaRPr kumimoji="1" lang="ja-JP" altLang="en-US" sz="1400" dirty="0"/>
                    </a:p>
                  </a:txBody>
                  <a:tcPr/>
                </a:tc>
                <a:extLst>
                  <a:ext uri="{0D108BD9-81ED-4DB2-BD59-A6C34878D82A}">
                    <a16:rowId xmlns:a16="http://schemas.microsoft.com/office/drawing/2014/main" val="336765877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増加率（</a:t>
                      </a:r>
                      <a:r>
                        <a:rPr kumimoji="1" lang="en-US" altLang="ja-JP" sz="1400" dirty="0"/>
                        <a:t>GB</a:t>
                      </a:r>
                      <a:r>
                        <a:rPr kumimoji="1" lang="ja-JP" altLang="en-US" sz="1400"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t>ー</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aseline="0" dirty="0">
                          <a:solidFill>
                            <a:srgbClr val="FF0000"/>
                          </a:solidFill>
                        </a:rPr>
                        <a:t>-0.01</a:t>
                      </a:r>
                      <a:endParaRPr kumimoji="1" lang="ja-JP" altLang="en-US" sz="1400" baseline="0" dirty="0">
                        <a:solidFill>
                          <a:srgbClr val="FF0000"/>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0.06</a:t>
                      </a:r>
                      <a:endParaRPr kumimoji="1" lang="ja-JP" altLang="en-US"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0.04</a:t>
                      </a:r>
                      <a:endParaRPr kumimoji="1" lang="ja-JP" altLang="en-US"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0.02</a:t>
                      </a:r>
                      <a:endParaRPr kumimoji="1" lang="ja-JP" altLang="en-US" sz="1400" dirty="0"/>
                    </a:p>
                  </a:txBody>
                  <a:tcPr/>
                </a:tc>
                <a:extLst>
                  <a:ext uri="{0D108BD9-81ED-4DB2-BD59-A6C34878D82A}">
                    <a16:rowId xmlns:a16="http://schemas.microsoft.com/office/drawing/2014/main" val="1376111490"/>
                  </a:ext>
                </a:extLst>
              </a:tr>
            </a:tbl>
          </a:graphicData>
        </a:graphic>
      </p:graphicFrame>
      <p:sp>
        <p:nvSpPr>
          <p:cNvPr id="3" name="テキスト ボックス 2">
            <a:extLst>
              <a:ext uri="{FF2B5EF4-FFF2-40B4-BE49-F238E27FC236}">
                <a16:creationId xmlns:a16="http://schemas.microsoft.com/office/drawing/2014/main" id="{573ADE81-A3D8-43E4-6C6B-E0938F64586A}"/>
              </a:ext>
            </a:extLst>
          </p:cNvPr>
          <p:cNvSpPr txBox="1"/>
          <p:nvPr/>
        </p:nvSpPr>
        <p:spPr>
          <a:xfrm>
            <a:off x="413027" y="961392"/>
            <a:ext cx="11125257" cy="2862322"/>
          </a:xfrm>
          <a:prstGeom prst="rect">
            <a:avLst/>
          </a:prstGeom>
          <a:noFill/>
        </p:spPr>
        <p:txBody>
          <a:bodyPr wrap="square" rtlCol="0">
            <a:spAutoFit/>
          </a:bodyPr>
          <a:lstStyle/>
          <a:p>
            <a:r>
              <a:rPr kumimoji="1" lang="ja-JP" altLang="en-US" b="1" dirty="0"/>
              <a:t>介護記録システム（プロジェクト単位）：</a:t>
            </a:r>
            <a:endParaRPr kumimoji="1" lang="en-US" altLang="ja-JP" b="1" dirty="0"/>
          </a:p>
          <a:p>
            <a:r>
              <a:rPr lang="ja-JP" altLang="en-US" dirty="0"/>
              <a:t>介護記録システムでは、</a:t>
            </a:r>
            <a:r>
              <a:rPr lang="en-US" altLang="ja-JP" dirty="0"/>
              <a:t>raw</a:t>
            </a:r>
            <a:r>
              <a:rPr lang="ja-JP" altLang="en-US" dirty="0"/>
              <a:t>データ量は </a:t>
            </a:r>
            <a:r>
              <a:rPr lang="en-US" altLang="ja-JP" dirty="0"/>
              <a:t>340.7GB</a:t>
            </a:r>
            <a:r>
              <a:rPr lang="ja-JP" altLang="en-US" dirty="0"/>
              <a:t> と眠りスキャンより少ないものの、</a:t>
            </a:r>
            <a:br>
              <a:rPr lang="ja-JP" altLang="en-US" dirty="0"/>
            </a:br>
            <a:r>
              <a:rPr lang="ja-JP" altLang="en-US" dirty="0"/>
              <a:t>プロジェクト全体のストレージ使用量は 約</a:t>
            </a:r>
            <a:r>
              <a:rPr lang="en-US" altLang="ja-JP" dirty="0"/>
              <a:t>76TB</a:t>
            </a:r>
            <a:r>
              <a:rPr lang="ja-JP" altLang="en-US" dirty="0"/>
              <a:t> と突出している。</a:t>
            </a:r>
            <a:br>
              <a:rPr lang="ja-JP" altLang="en-US" dirty="0"/>
            </a:br>
            <a:r>
              <a:rPr lang="ja-JP" altLang="en-US" dirty="0"/>
              <a:t>これは、パイプラインが長く、複数の加工工程を経ていること が主な要因である。</a:t>
            </a:r>
            <a:endParaRPr lang="en-US" altLang="ja-JP" dirty="0"/>
          </a:p>
          <a:p>
            <a:endParaRPr lang="en-US" altLang="ja-JP" dirty="0"/>
          </a:p>
          <a:p>
            <a:pPr>
              <a:buFont typeface="Arial" panose="020B0604020202020204" pitchFamily="34" charset="0"/>
              <a:buChar char="•"/>
            </a:pPr>
            <a:r>
              <a:rPr lang="ja-JP" altLang="en-US" dirty="0"/>
              <a:t>バッチ時間は 約</a:t>
            </a:r>
            <a:r>
              <a:rPr lang="en-US" altLang="ja-JP" dirty="0"/>
              <a:t>2.2</a:t>
            </a:r>
            <a:r>
              <a:rPr lang="ja-JP" altLang="en-US" dirty="0"/>
              <a:t>～</a:t>
            </a:r>
            <a:r>
              <a:rPr lang="en-US" altLang="ja-JP" dirty="0"/>
              <a:t>2.8</a:t>
            </a:r>
            <a:r>
              <a:rPr lang="ja-JP" altLang="en-US" dirty="0"/>
              <a:t>時間と増加傾向にある。</a:t>
            </a:r>
          </a:p>
          <a:p>
            <a:pPr>
              <a:buFont typeface="Arial" panose="020B0604020202020204" pitchFamily="34" charset="0"/>
              <a:buChar char="•"/>
            </a:pPr>
            <a:r>
              <a:rPr lang="ja-JP" altLang="en-US" dirty="0"/>
              <a:t>ストレージは </a:t>
            </a:r>
            <a:r>
              <a:rPr lang="en-US" altLang="ja-JP" dirty="0"/>
              <a:t>69,500GB</a:t>
            </a:r>
            <a:r>
              <a:rPr lang="ja-JP" altLang="en-US" dirty="0"/>
              <a:t>から</a:t>
            </a:r>
            <a:r>
              <a:rPr lang="en-US" altLang="ja-JP" dirty="0"/>
              <a:t>76,720GB</a:t>
            </a:r>
            <a:r>
              <a:rPr lang="ja-JP" altLang="en-US" dirty="0"/>
              <a:t> に緩やかに増加している。</a:t>
            </a:r>
            <a:endParaRPr lang="en-US" altLang="ja-JP" dirty="0"/>
          </a:p>
          <a:p>
            <a:endParaRPr lang="ja-JP" altLang="en-US" dirty="0"/>
          </a:p>
          <a:p>
            <a:r>
              <a:rPr lang="ja-JP" altLang="en-US" dirty="0"/>
              <a:t>これらのことから、データ量の増加と加工工程の複雑化に伴い、</a:t>
            </a:r>
            <a:br>
              <a:rPr lang="ja-JP" altLang="en-US" dirty="0"/>
            </a:br>
            <a:r>
              <a:rPr lang="ja-JP" altLang="en-US" dirty="0"/>
              <a:t>バッチ処理時間およびストレージ使用量も増加傾向にあるものの、安定的に推移していると言える。</a:t>
            </a:r>
            <a:endParaRPr kumimoji="1" lang="en-US" altLang="ja-JP" dirty="0"/>
          </a:p>
        </p:txBody>
      </p:sp>
      <p:sp>
        <p:nvSpPr>
          <p:cNvPr id="4" name="タイトル 2">
            <a:extLst>
              <a:ext uri="{FF2B5EF4-FFF2-40B4-BE49-F238E27FC236}">
                <a16:creationId xmlns:a16="http://schemas.microsoft.com/office/drawing/2014/main" id="{F07DA6F8-4E6D-6B4F-84B3-CD1ABFF57625}"/>
              </a:ext>
            </a:extLst>
          </p:cNvPr>
          <p:cNvSpPr txBox="1">
            <a:spLocks/>
          </p:cNvSpPr>
          <p:nvPr/>
        </p:nvSpPr>
        <p:spPr>
          <a:xfrm>
            <a:off x="348361" y="165579"/>
            <a:ext cx="9382540" cy="516048"/>
          </a:xfrm>
          <a:prstGeom prst="rect">
            <a:avLst/>
          </a:prstGeom>
        </p:spPr>
        <p:txBody>
          <a:bodyPr anchor="ctr"/>
          <a:lstStyle>
            <a:lvl1pPr algn="l" defTabSz="914400" rtl="0" eaLnBrk="1" latinLnBrk="0" hangingPunct="1">
              <a:lnSpc>
                <a:spcPct val="90000"/>
              </a:lnSpc>
              <a:spcBef>
                <a:spcPct val="0"/>
              </a:spcBef>
              <a:buNone/>
              <a:defRPr kumimoji="1" sz="2400" b="1"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stStyle>
          <a:p>
            <a:pPr>
              <a:defRPr/>
            </a:pPr>
            <a:r>
              <a:rPr lang="ja-JP" altLang="en-US" b="0" dirty="0">
                <a:solidFill>
                  <a:srgbClr val="262626"/>
                </a:solidFill>
                <a:latin typeface="BIZ UDPゴシック" panose="020B0400000000000000" pitchFamily="50" charset="-128"/>
                <a:ea typeface="BIZ UDPゴシック" panose="020B0400000000000000" pitchFamily="50" charset="-128"/>
              </a:rPr>
              <a:t>②データ加工処理の概要（各プロジェクトの概要）</a:t>
            </a:r>
          </a:p>
        </p:txBody>
      </p:sp>
    </p:spTree>
    <p:extLst>
      <p:ext uri="{BB962C8B-B14F-4D97-AF65-F5344CB8AC3E}">
        <p14:creationId xmlns:p14="http://schemas.microsoft.com/office/powerpoint/2010/main" val="1620040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573ADE81-A3D8-43E4-6C6B-E0938F64586A}"/>
              </a:ext>
            </a:extLst>
          </p:cNvPr>
          <p:cNvSpPr txBox="1"/>
          <p:nvPr/>
        </p:nvSpPr>
        <p:spPr>
          <a:xfrm>
            <a:off x="413027" y="961392"/>
            <a:ext cx="11125257" cy="4893647"/>
          </a:xfrm>
          <a:prstGeom prst="rect">
            <a:avLst/>
          </a:prstGeom>
          <a:noFill/>
        </p:spPr>
        <p:txBody>
          <a:bodyPr wrap="square" rtlCol="0">
            <a:spAutoFit/>
          </a:bodyPr>
          <a:lstStyle/>
          <a:p>
            <a:r>
              <a:rPr kumimoji="1" lang="ja-JP" altLang="en-US" b="1" dirty="0"/>
              <a:t>介護記録システム（処理概要）：</a:t>
            </a:r>
            <a:endParaRPr kumimoji="1" lang="en-US" altLang="ja-JP" b="1" dirty="0"/>
          </a:p>
          <a:p>
            <a:r>
              <a:rPr lang="ja-JP" altLang="en-US" sz="1400" dirty="0"/>
              <a:t>複数のソース（本社、各施設）から収集した介護記録の生データを分析に適したデータセットへと変換するデータパイプラインを構築している。</a:t>
            </a:r>
            <a:endParaRPr lang="en-US" altLang="ja-JP" sz="1400" dirty="0"/>
          </a:p>
          <a:p>
            <a:endParaRPr kumimoji="1" lang="en-US" altLang="ja-JP" sz="1400" dirty="0"/>
          </a:p>
          <a:p>
            <a:r>
              <a:rPr kumimoji="1" lang="ja-JP" altLang="en-US" sz="1400" u="sng" dirty="0"/>
              <a:t>第</a:t>
            </a:r>
            <a:r>
              <a:rPr kumimoji="1" lang="en-US" altLang="ja-JP" sz="1400" u="sng" dirty="0"/>
              <a:t>1</a:t>
            </a:r>
            <a:r>
              <a:rPr kumimoji="1" lang="ja-JP" altLang="en-US" sz="1400" u="sng" dirty="0"/>
              <a:t>段階：データの統合と最新化</a:t>
            </a:r>
            <a:endParaRPr lang="en-US" altLang="ja-JP" sz="1400" u="sng" dirty="0"/>
          </a:p>
          <a:p>
            <a:r>
              <a:rPr kumimoji="1" lang="ja-JP" altLang="en-US" sz="1400" dirty="0"/>
              <a:t>本社、各施設に分かれたデータを縦結合。テーブル単位で集約し、中間データセット </a:t>
            </a:r>
            <a:r>
              <a:rPr kumimoji="1" lang="en-US" altLang="ja-JP" sz="1400" dirty="0"/>
              <a:t>(</a:t>
            </a:r>
            <a:r>
              <a:rPr kumimoji="1" lang="en-US" altLang="ja-JP" sz="1400" dirty="0" err="1"/>
              <a:t>unioned</a:t>
            </a:r>
            <a:r>
              <a:rPr kumimoji="1" lang="en-US" altLang="ja-JP" sz="1400" dirty="0"/>
              <a:t>)</a:t>
            </a:r>
            <a:r>
              <a:rPr kumimoji="1" lang="ja-JP" altLang="en-US" sz="1400" dirty="0"/>
              <a:t>を作成。</a:t>
            </a:r>
            <a:endParaRPr kumimoji="1" lang="en-US" altLang="ja-JP" sz="1400" dirty="0"/>
          </a:p>
          <a:p>
            <a:r>
              <a:rPr lang="ja-JP" altLang="en-US" sz="1400" dirty="0"/>
              <a:t>テーブルの特性に応じて、</a:t>
            </a:r>
            <a:r>
              <a:rPr lang="en-US" altLang="ja-JP" sz="1400" dirty="0"/>
              <a:t>Incremental </a:t>
            </a:r>
            <a:r>
              <a:rPr lang="ja-JP" altLang="en-US" sz="1400" dirty="0"/>
              <a:t>、</a:t>
            </a:r>
            <a:r>
              <a:rPr lang="en-US" altLang="ja-JP" sz="1400" dirty="0"/>
              <a:t>Snapshot</a:t>
            </a:r>
            <a:r>
              <a:rPr lang="ja-JP" altLang="en-US" sz="1400" dirty="0"/>
              <a:t>、</a:t>
            </a:r>
            <a:r>
              <a:rPr lang="en-US" altLang="ja-JP" sz="1400" dirty="0"/>
              <a:t>Append</a:t>
            </a:r>
            <a:r>
              <a:rPr lang="ja-JP" altLang="en-US" sz="1400" dirty="0"/>
              <a:t>でテーブルを最新化。</a:t>
            </a:r>
            <a:endParaRPr lang="en-US" altLang="ja-JP" sz="1400" dirty="0"/>
          </a:p>
          <a:p>
            <a:r>
              <a:rPr kumimoji="1" lang="ja-JP" altLang="en-US" sz="1400" dirty="0"/>
              <a:t>データ量に応じて</a:t>
            </a:r>
            <a:r>
              <a:rPr kumimoji="1" lang="en-US" altLang="ja-JP" sz="1400" dirty="0"/>
              <a:t>Spark</a:t>
            </a:r>
            <a:r>
              <a:rPr kumimoji="1" lang="ja-JP" altLang="en-US" sz="1400" dirty="0"/>
              <a:t>の並列処理数を調整。</a:t>
            </a:r>
            <a:endParaRPr kumimoji="1" lang="en-US" altLang="ja-JP" sz="1400" dirty="0"/>
          </a:p>
          <a:p>
            <a:endParaRPr lang="en-US" altLang="ja-JP" sz="1400" dirty="0"/>
          </a:p>
          <a:p>
            <a:r>
              <a:rPr kumimoji="1" lang="ja-JP" altLang="en-US" sz="1400" u="sng" dirty="0"/>
              <a:t>第</a:t>
            </a:r>
            <a:r>
              <a:rPr kumimoji="1" lang="en-US" altLang="ja-JP" sz="1400" u="sng" dirty="0"/>
              <a:t>2</a:t>
            </a:r>
            <a:r>
              <a:rPr kumimoji="1" lang="ja-JP" altLang="en-US" sz="1400" u="sng" dirty="0"/>
              <a:t>段階：データクレンジング</a:t>
            </a:r>
            <a:endParaRPr kumimoji="1" lang="en-US" altLang="ja-JP" sz="1400" u="sng" dirty="0"/>
          </a:p>
          <a:p>
            <a:r>
              <a:rPr lang="ja-JP" altLang="en-US" sz="1400" dirty="0"/>
              <a:t>第</a:t>
            </a:r>
            <a:r>
              <a:rPr lang="en-US" altLang="ja-JP" sz="1400" dirty="0"/>
              <a:t>1</a:t>
            </a:r>
            <a:r>
              <a:rPr lang="ja-JP" altLang="en-US" sz="1400" dirty="0"/>
              <a:t>段階の中間データセットを元に、分析しやすいクリーンデータセット</a:t>
            </a:r>
            <a:r>
              <a:rPr lang="en-US" altLang="ja-JP" sz="1400" dirty="0"/>
              <a:t>(clean)</a:t>
            </a:r>
            <a:r>
              <a:rPr lang="ja-JP" altLang="en-US" sz="1400" dirty="0"/>
              <a:t>を作成。</a:t>
            </a:r>
          </a:p>
          <a:p>
            <a:endParaRPr lang="en-US" altLang="ja-JP" sz="1400" dirty="0"/>
          </a:p>
          <a:p>
            <a:r>
              <a:rPr kumimoji="1" lang="ja-JP" altLang="en-US" sz="1400" dirty="0"/>
              <a:t>処理定義とリソース管理：</a:t>
            </a:r>
            <a:endParaRPr kumimoji="1" lang="en-US" altLang="ja-JP" sz="1400" dirty="0"/>
          </a:p>
          <a:p>
            <a:r>
              <a:rPr kumimoji="1" lang="en-US" altLang="ja-JP" sz="1400" dirty="0"/>
              <a:t>@clean</a:t>
            </a:r>
            <a:r>
              <a:rPr kumimoji="1" lang="ja-JP" altLang="en-US" sz="1400" dirty="0"/>
              <a:t>デコレータを用いて、テーブルごとに独立したクレンジング処理を定義</a:t>
            </a:r>
            <a:endParaRPr kumimoji="1" lang="en-US" altLang="ja-JP" sz="1400" dirty="0"/>
          </a:p>
          <a:p>
            <a:r>
              <a:rPr kumimoji="1" lang="en-US" altLang="ja-JP" sz="1400" dirty="0"/>
              <a:t>@configure</a:t>
            </a:r>
            <a:r>
              <a:rPr kumimoji="1" lang="ja-JP" altLang="en-US" sz="1400" dirty="0"/>
              <a:t>デコレータや</a:t>
            </a:r>
            <a:r>
              <a:rPr kumimoji="1" lang="en-US" altLang="ja-JP" sz="1400" dirty="0"/>
              <a:t>size</a:t>
            </a:r>
            <a:r>
              <a:rPr kumimoji="1" lang="ja-JP" altLang="en-US" sz="1400" dirty="0"/>
              <a:t>を併用し、処理の特性に応じて計算リソースを細かく制御</a:t>
            </a:r>
            <a:endParaRPr kumimoji="1" lang="en-US" altLang="ja-JP" sz="1400" dirty="0"/>
          </a:p>
          <a:p>
            <a:endParaRPr lang="en-US" altLang="ja-JP" sz="1400" dirty="0"/>
          </a:p>
          <a:p>
            <a:r>
              <a:rPr kumimoji="1" lang="ja-JP" altLang="en-US" sz="1400" dirty="0"/>
              <a:t>主なクレンジングパターン：</a:t>
            </a:r>
            <a:endParaRPr kumimoji="1" lang="en-US" altLang="ja-JP" sz="1400" dirty="0"/>
          </a:p>
          <a:p>
            <a:r>
              <a:rPr lang="ja-JP" altLang="en-US" sz="1400" dirty="0"/>
              <a:t>１．カラム名の正規化（スネークケース化）、データ型の変換、文字列の整形（空白除去や</a:t>
            </a:r>
            <a:r>
              <a:rPr lang="en-US" altLang="ja-JP" sz="1400" dirty="0"/>
              <a:t>NULL</a:t>
            </a:r>
            <a:r>
              <a:rPr lang="ja-JP" altLang="en-US" sz="1400" dirty="0"/>
              <a:t>化）、マスタデータを参照したコード値の名称への変換など</a:t>
            </a:r>
            <a:endParaRPr lang="en-US" altLang="ja-JP" sz="1400" dirty="0"/>
          </a:p>
          <a:p>
            <a:r>
              <a:rPr kumimoji="1" lang="ja-JP" altLang="en-US" sz="1400" dirty="0"/>
              <a:t>２．論理的に一意であるべきレコードの重複を、最新の更新情報に基づいて除去</a:t>
            </a:r>
            <a:endParaRPr kumimoji="1" lang="en-US" altLang="ja-JP" sz="1400" dirty="0"/>
          </a:p>
          <a:p>
            <a:r>
              <a:rPr lang="ja-JP" altLang="en-US" sz="1400" dirty="0"/>
              <a:t>３．最新版のレコードのみを保持するデータセット、全履歴の分析用に削除済レコードも含むデータセット</a:t>
            </a:r>
            <a:endParaRPr lang="en-US" altLang="ja-JP" sz="1400" dirty="0"/>
          </a:p>
          <a:p>
            <a:r>
              <a:rPr kumimoji="1" lang="ja-JP" altLang="en-US" sz="1400" dirty="0"/>
              <a:t>４．共通ユーティリティ関数を活用</a:t>
            </a:r>
            <a:endParaRPr kumimoji="1" lang="en-US" altLang="ja-JP" sz="1400" dirty="0"/>
          </a:p>
        </p:txBody>
      </p:sp>
    </p:spTree>
    <p:extLst>
      <p:ext uri="{BB962C8B-B14F-4D97-AF65-F5344CB8AC3E}">
        <p14:creationId xmlns:p14="http://schemas.microsoft.com/office/powerpoint/2010/main" val="1434594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573ADE81-A3D8-43E4-6C6B-E0938F64586A}"/>
              </a:ext>
            </a:extLst>
          </p:cNvPr>
          <p:cNvSpPr txBox="1"/>
          <p:nvPr/>
        </p:nvSpPr>
        <p:spPr>
          <a:xfrm>
            <a:off x="413027" y="961392"/>
            <a:ext cx="11125257" cy="3970318"/>
          </a:xfrm>
          <a:prstGeom prst="rect">
            <a:avLst/>
          </a:prstGeom>
          <a:noFill/>
        </p:spPr>
        <p:txBody>
          <a:bodyPr wrap="square" rtlCol="0">
            <a:spAutoFit/>
          </a:bodyPr>
          <a:lstStyle/>
          <a:p>
            <a:r>
              <a:rPr kumimoji="1" lang="ja-JP" altLang="en-US" sz="1400" u="sng" dirty="0"/>
              <a:t>第</a:t>
            </a:r>
            <a:r>
              <a:rPr lang="en-US" altLang="ja-JP" sz="1400" u="sng" dirty="0"/>
              <a:t>3</a:t>
            </a:r>
            <a:r>
              <a:rPr kumimoji="1" lang="ja-JP" altLang="en-US" sz="1400" u="sng" dirty="0"/>
              <a:t>段階：</a:t>
            </a:r>
            <a:r>
              <a:rPr lang="ja-JP" altLang="en-US" sz="1400" u="sng" dirty="0"/>
              <a:t>高度なデータマート構築</a:t>
            </a:r>
          </a:p>
          <a:p>
            <a:r>
              <a:rPr lang="ja-JP" altLang="en-US" sz="1400" b="0" i="0" dirty="0">
                <a:solidFill>
                  <a:srgbClr val="09090B"/>
                </a:solidFill>
                <a:effectLst/>
                <a:latin typeface="ui-sans-serif"/>
              </a:rPr>
              <a:t>第</a:t>
            </a:r>
            <a:r>
              <a:rPr lang="en-US" altLang="ja-JP" sz="1400" b="0" i="0" dirty="0">
                <a:solidFill>
                  <a:srgbClr val="09090B"/>
                </a:solidFill>
                <a:effectLst/>
                <a:latin typeface="ui-sans-serif"/>
              </a:rPr>
              <a:t>2</a:t>
            </a:r>
            <a:r>
              <a:rPr lang="ja-JP" altLang="en-US" sz="1400" b="0" i="0" dirty="0">
                <a:solidFill>
                  <a:srgbClr val="09090B"/>
                </a:solidFill>
                <a:effectLst/>
                <a:latin typeface="ui-sans-serif"/>
              </a:rPr>
              <a:t>段階で作成されたクリーンデータセットを組み合わせ、特定の分析目的に特化したデータセットを作成します。</a:t>
            </a:r>
            <a:endParaRPr lang="en-US" altLang="ja-JP" sz="1400" b="0" i="0" dirty="0">
              <a:solidFill>
                <a:srgbClr val="09090B"/>
              </a:solidFill>
              <a:effectLst/>
              <a:latin typeface="ui-sans-serif"/>
            </a:endParaRPr>
          </a:p>
          <a:p>
            <a:endParaRPr lang="en-US" altLang="ja-JP" sz="1400" dirty="0"/>
          </a:p>
          <a:p>
            <a:r>
              <a:rPr lang="ja-JP" altLang="en-US" sz="1400" dirty="0"/>
              <a:t>１．</a:t>
            </a:r>
            <a:r>
              <a:rPr lang="en-US" altLang="ja-JP" sz="1400" dirty="0"/>
              <a:t>Key-Value</a:t>
            </a:r>
            <a:r>
              <a:rPr lang="ja-JP" altLang="en-US" sz="1400" dirty="0"/>
              <a:t>データの構造変換</a:t>
            </a:r>
            <a:endParaRPr lang="en-US" altLang="ja-JP" sz="1400" b="1" i="0" dirty="0">
              <a:solidFill>
                <a:srgbClr val="09090B"/>
              </a:solidFill>
              <a:effectLst/>
              <a:latin typeface="ui-sans-serif"/>
            </a:endParaRPr>
          </a:p>
          <a:p>
            <a:r>
              <a:rPr lang="ja-JP" altLang="en-US" sz="1400" b="0" i="0" dirty="0">
                <a:solidFill>
                  <a:srgbClr val="09090B"/>
                </a:solidFill>
                <a:effectLst/>
                <a:latin typeface="ui-sans-serif"/>
              </a:rPr>
              <a:t> 「事故報告」や「食事」といったイベントの各項目（場所、種類、量など）は、汎用的な</a:t>
            </a:r>
            <a:r>
              <a:rPr lang="en-US" altLang="ja-JP" sz="1400" b="0" i="0" dirty="0">
                <a:solidFill>
                  <a:srgbClr val="09090B"/>
                </a:solidFill>
                <a:effectLst/>
                <a:latin typeface="ui-sans-serif"/>
              </a:rPr>
              <a:t>Key-Value</a:t>
            </a:r>
            <a:r>
              <a:rPr lang="ja-JP" altLang="en-US" sz="1400" b="0" i="0" dirty="0">
                <a:solidFill>
                  <a:srgbClr val="09090B"/>
                </a:solidFill>
                <a:effectLst/>
                <a:latin typeface="ui-sans-serif"/>
              </a:rPr>
              <a:t>形式のテーブルに縦持ちで格納されており、そのままでは分析が困難。関連するレコードを全て集約し、</a:t>
            </a:r>
            <a:r>
              <a:rPr lang="en-US" altLang="ja-JP" sz="1400" b="0" i="0" dirty="0">
                <a:solidFill>
                  <a:srgbClr val="09090B"/>
                </a:solidFill>
                <a:effectLst/>
                <a:latin typeface="ui-sans-serif"/>
              </a:rPr>
              <a:t>1</a:t>
            </a:r>
            <a:r>
              <a:rPr lang="ja-JP" altLang="en-US" sz="1400" b="0" i="0" dirty="0">
                <a:solidFill>
                  <a:srgbClr val="09090B"/>
                </a:solidFill>
                <a:effectLst/>
                <a:latin typeface="ui-sans-serif"/>
              </a:rPr>
              <a:t>つのイベントが</a:t>
            </a:r>
            <a:r>
              <a:rPr lang="en-US" altLang="ja-JP" sz="1400" b="0" i="0" dirty="0">
                <a:solidFill>
                  <a:srgbClr val="09090B"/>
                </a:solidFill>
                <a:effectLst/>
                <a:latin typeface="ui-sans-serif"/>
              </a:rPr>
              <a:t>1</a:t>
            </a:r>
            <a:r>
              <a:rPr lang="ja-JP" altLang="en-US" sz="1400" b="0" i="0" dirty="0">
                <a:solidFill>
                  <a:srgbClr val="09090B"/>
                </a:solidFill>
                <a:effectLst/>
                <a:latin typeface="ui-sans-serif"/>
              </a:rPr>
              <a:t>行で表現されるテーブル形式（横持ち）に再構築する。これにより、イベントの全体像が直感的に把握可能となり、傾向分析の基盤が整う。</a:t>
            </a:r>
            <a:endParaRPr lang="en-US" altLang="ja-JP" sz="1400" b="1" dirty="0">
              <a:solidFill>
                <a:srgbClr val="09090B"/>
              </a:solidFill>
              <a:latin typeface="ui-sans-serif"/>
            </a:endParaRPr>
          </a:p>
          <a:p>
            <a:endParaRPr lang="en-US" altLang="ja-JP" sz="1400" b="1" dirty="0">
              <a:solidFill>
                <a:srgbClr val="09090B"/>
              </a:solidFill>
              <a:latin typeface="ui-sans-serif"/>
            </a:endParaRPr>
          </a:p>
          <a:p>
            <a:r>
              <a:rPr lang="ja-JP" altLang="en-US" sz="1400" b="0" i="0" dirty="0">
                <a:solidFill>
                  <a:srgbClr val="09090B"/>
                </a:solidFill>
                <a:effectLst/>
                <a:latin typeface="ui-sans-serif"/>
              </a:rPr>
              <a:t>２．分析用データ生成</a:t>
            </a:r>
            <a:endParaRPr lang="en-US" altLang="ja-JP" sz="1400" b="0" i="0" dirty="0">
              <a:solidFill>
                <a:srgbClr val="09090B"/>
              </a:solidFill>
              <a:effectLst/>
              <a:latin typeface="ui-sans-serif"/>
            </a:endParaRPr>
          </a:p>
          <a:p>
            <a:r>
              <a:rPr lang="ja-JP" altLang="en-US" sz="1400" b="0" i="0" dirty="0">
                <a:solidFill>
                  <a:srgbClr val="09090B"/>
                </a:solidFill>
                <a:effectLst/>
                <a:latin typeface="ui-sans-serif"/>
              </a:rPr>
              <a:t>実績データには「実行されたケア」の記録しか存在せず、「計画はあったが実行されなかったケア」という重要な情報が欠落している。</a:t>
            </a:r>
            <a:endParaRPr lang="en-US" altLang="ja-JP" sz="1400" b="1" dirty="0">
              <a:solidFill>
                <a:srgbClr val="09090B"/>
              </a:solidFill>
              <a:latin typeface="ui-sans-serif"/>
            </a:endParaRPr>
          </a:p>
          <a:p>
            <a:r>
              <a:rPr lang="ja-JP" altLang="en-US" sz="1400" b="0" i="0" dirty="0">
                <a:solidFill>
                  <a:srgbClr val="09090B"/>
                </a:solidFill>
                <a:effectLst/>
                <a:latin typeface="ui-sans-serif"/>
              </a:rPr>
              <a:t>「ケア計画」データと「ケア実績」データを突合し、実績記録のない計画を「中止（記録なし）」という新しいステータスとして明示的にデータ化する。これにより、ケアの実行率やその背景要因の分析が可能となる。</a:t>
            </a:r>
            <a:endParaRPr lang="en-US" altLang="ja-JP" sz="1400" b="1" i="0" dirty="0">
              <a:solidFill>
                <a:srgbClr val="09090B"/>
              </a:solidFill>
              <a:effectLst/>
              <a:latin typeface="ui-sans-serif"/>
            </a:endParaRPr>
          </a:p>
          <a:p>
            <a:endParaRPr lang="en-US" altLang="ja-JP" sz="1400" b="1" dirty="0">
              <a:solidFill>
                <a:srgbClr val="09090B"/>
              </a:solidFill>
              <a:latin typeface="ui-sans-serif"/>
            </a:endParaRPr>
          </a:p>
          <a:p>
            <a:r>
              <a:rPr lang="ja-JP" altLang="en-US" sz="1400" dirty="0">
                <a:solidFill>
                  <a:srgbClr val="09090B"/>
                </a:solidFill>
                <a:latin typeface="ui-sans-serif"/>
              </a:rPr>
              <a:t>３</a:t>
            </a:r>
            <a:r>
              <a:rPr lang="ja-JP" altLang="en-US" sz="1400" b="0" i="0" dirty="0">
                <a:solidFill>
                  <a:srgbClr val="09090B"/>
                </a:solidFill>
                <a:effectLst/>
                <a:latin typeface="ui-sans-serif"/>
              </a:rPr>
              <a:t>．</a:t>
            </a:r>
            <a:r>
              <a:rPr lang="ja-JP" altLang="en-US" sz="1400" dirty="0">
                <a:solidFill>
                  <a:srgbClr val="09090B"/>
                </a:solidFill>
                <a:latin typeface="ui-sans-serif"/>
              </a:rPr>
              <a:t>データ連携仕様に起因する不整合の解決</a:t>
            </a:r>
            <a:endParaRPr lang="en-US" altLang="ja-JP" sz="1400" b="1" i="0" dirty="0">
              <a:solidFill>
                <a:srgbClr val="09090B"/>
              </a:solidFill>
              <a:effectLst/>
              <a:latin typeface="ui-sans-serif"/>
            </a:endParaRPr>
          </a:p>
          <a:p>
            <a:r>
              <a:rPr lang="ja-JP" altLang="en-US" sz="1400" b="0" i="0" dirty="0">
                <a:solidFill>
                  <a:srgbClr val="09090B"/>
                </a:solidFill>
                <a:effectLst/>
                <a:latin typeface="ui-sans-serif"/>
              </a:rPr>
              <a:t>手動でのデータ連携など、ソースシステムの特殊な挙動により、同一のケア記録が重複して登録されたり、意図せず欠損したりするデータ品質問題が発生する。データの変更履歴（タイムスタンプ）を詳細に分析し、</a:t>
            </a:r>
            <a:r>
              <a:rPr lang="en-US" altLang="ja-JP" sz="1400" b="0" i="0" dirty="0">
                <a:solidFill>
                  <a:srgbClr val="09090B"/>
                </a:solidFill>
                <a:effectLst/>
                <a:latin typeface="ui-sans-serif"/>
              </a:rPr>
              <a:t>Spark</a:t>
            </a:r>
            <a:r>
              <a:rPr lang="ja-JP" altLang="en-US" sz="1400" b="0" i="0" dirty="0">
                <a:solidFill>
                  <a:srgbClr val="09090B"/>
                </a:solidFill>
                <a:effectLst/>
                <a:latin typeface="ui-sans-serif"/>
              </a:rPr>
              <a:t>の高度な</a:t>
            </a:r>
            <a:r>
              <a:rPr lang="en-US" altLang="ja-JP" sz="1400" b="0" i="0" dirty="0">
                <a:solidFill>
                  <a:srgbClr val="09090B"/>
                </a:solidFill>
                <a:effectLst/>
                <a:latin typeface="ui-sans-serif"/>
              </a:rPr>
              <a:t>Window</a:t>
            </a:r>
            <a:r>
              <a:rPr lang="ja-JP" altLang="en-US" sz="1400" b="0" i="0" dirty="0">
                <a:solidFill>
                  <a:srgbClr val="09090B"/>
                </a:solidFill>
                <a:effectLst/>
                <a:latin typeface="ui-sans-serif"/>
              </a:rPr>
              <a:t>関数を駆使して「どの瞬間にどのデータが正であるか」を判断する複雑なロジックを構築。これにより、データ同期の不整合を自動的に検知・修正し、常に信頼性の高いデータを提供する。これはパイプライン全体の品質を支える、極めて重要な処理である。</a:t>
            </a:r>
            <a:endParaRPr lang="en-US" altLang="ja-JP" sz="1400" dirty="0"/>
          </a:p>
        </p:txBody>
      </p:sp>
    </p:spTree>
    <p:extLst>
      <p:ext uri="{BB962C8B-B14F-4D97-AF65-F5344CB8AC3E}">
        <p14:creationId xmlns:p14="http://schemas.microsoft.com/office/powerpoint/2010/main" val="331086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 7">
            <a:extLst>
              <a:ext uri="{FF2B5EF4-FFF2-40B4-BE49-F238E27FC236}">
                <a16:creationId xmlns:a16="http://schemas.microsoft.com/office/drawing/2014/main" id="{599A95D3-AB2B-101C-82D7-1D238875D0A7}"/>
              </a:ext>
            </a:extLst>
          </p:cNvPr>
          <p:cNvGraphicFramePr>
            <a:graphicFrameLocks noGrp="1"/>
          </p:cNvGraphicFramePr>
          <p:nvPr/>
        </p:nvGraphicFramePr>
        <p:xfrm>
          <a:off x="413027" y="2830787"/>
          <a:ext cx="11365945" cy="1854200"/>
        </p:xfrm>
        <a:graphic>
          <a:graphicData uri="http://schemas.openxmlformats.org/drawingml/2006/table">
            <a:tbl>
              <a:tblPr firstRow="1" bandRow="1">
                <a:tableStyleId>{5C22544A-7EE6-4342-B048-85BDC9FD1C3A}</a:tableStyleId>
              </a:tblPr>
              <a:tblGrid>
                <a:gridCol w="2107230">
                  <a:extLst>
                    <a:ext uri="{9D8B030D-6E8A-4147-A177-3AD203B41FA5}">
                      <a16:colId xmlns:a16="http://schemas.microsoft.com/office/drawing/2014/main" val="3219167172"/>
                    </a:ext>
                  </a:extLst>
                </a:gridCol>
                <a:gridCol w="1851743">
                  <a:extLst>
                    <a:ext uri="{9D8B030D-6E8A-4147-A177-3AD203B41FA5}">
                      <a16:colId xmlns:a16="http://schemas.microsoft.com/office/drawing/2014/main" val="3613030092"/>
                    </a:ext>
                  </a:extLst>
                </a:gridCol>
                <a:gridCol w="1851743">
                  <a:extLst>
                    <a:ext uri="{9D8B030D-6E8A-4147-A177-3AD203B41FA5}">
                      <a16:colId xmlns:a16="http://schemas.microsoft.com/office/drawing/2014/main" val="1897280176"/>
                    </a:ext>
                  </a:extLst>
                </a:gridCol>
                <a:gridCol w="1851743">
                  <a:extLst>
                    <a:ext uri="{9D8B030D-6E8A-4147-A177-3AD203B41FA5}">
                      <a16:colId xmlns:a16="http://schemas.microsoft.com/office/drawing/2014/main" val="268246374"/>
                    </a:ext>
                  </a:extLst>
                </a:gridCol>
                <a:gridCol w="1851743">
                  <a:extLst>
                    <a:ext uri="{9D8B030D-6E8A-4147-A177-3AD203B41FA5}">
                      <a16:colId xmlns:a16="http://schemas.microsoft.com/office/drawing/2014/main" val="2535013891"/>
                    </a:ext>
                  </a:extLst>
                </a:gridCol>
                <a:gridCol w="1851743">
                  <a:extLst>
                    <a:ext uri="{9D8B030D-6E8A-4147-A177-3AD203B41FA5}">
                      <a16:colId xmlns:a16="http://schemas.microsoft.com/office/drawing/2014/main" val="3200228194"/>
                    </a:ext>
                  </a:extLst>
                </a:gridCol>
              </a:tblGrid>
              <a:tr h="370840">
                <a:tc>
                  <a:txBody>
                    <a:bodyPr/>
                    <a:lstStyle/>
                    <a:p>
                      <a:pPr algn="ctr"/>
                      <a:endParaRPr kumimoji="1" lang="ja-JP" altLang="en-US" sz="1200" dirty="0"/>
                    </a:p>
                  </a:txBody>
                  <a:tcPr/>
                </a:tc>
                <a:tc>
                  <a:txBody>
                    <a:bodyPr/>
                    <a:lstStyle/>
                    <a:p>
                      <a:pPr algn="ctr"/>
                      <a:r>
                        <a:rPr kumimoji="1" lang="en-US" altLang="ja-JP" sz="1200" dirty="0"/>
                        <a:t>2025</a:t>
                      </a:r>
                      <a:r>
                        <a:rPr kumimoji="1" lang="ja-JP" altLang="en-US" sz="1200" dirty="0"/>
                        <a:t>年</a:t>
                      </a:r>
                      <a:r>
                        <a:rPr kumimoji="1" lang="en-US" altLang="ja-JP" sz="1200" dirty="0"/>
                        <a:t>4</a:t>
                      </a:r>
                      <a:r>
                        <a:rPr kumimoji="1" lang="ja-JP" altLang="en-US" sz="1200" dirty="0"/>
                        <a:t>月</a:t>
                      </a:r>
                    </a:p>
                  </a:txBody>
                  <a:tcPr/>
                </a:tc>
                <a:tc>
                  <a:txBody>
                    <a:bodyPr/>
                    <a:lstStyle/>
                    <a:p>
                      <a:pPr algn="ctr"/>
                      <a:r>
                        <a:rPr kumimoji="1" lang="en-US" altLang="ja-JP" sz="1200" dirty="0"/>
                        <a:t>2025</a:t>
                      </a:r>
                      <a:r>
                        <a:rPr kumimoji="1" lang="ja-JP" altLang="en-US" sz="1200" dirty="0"/>
                        <a:t>年</a:t>
                      </a:r>
                      <a:r>
                        <a:rPr kumimoji="1" lang="en-US" altLang="ja-JP" sz="1200" dirty="0"/>
                        <a:t>5</a:t>
                      </a:r>
                      <a:r>
                        <a:rPr kumimoji="1" lang="ja-JP" altLang="en-US" sz="1200" dirty="0"/>
                        <a:t>月</a:t>
                      </a:r>
                    </a:p>
                  </a:txBody>
                  <a:tcPr/>
                </a:tc>
                <a:tc>
                  <a:txBody>
                    <a:bodyPr/>
                    <a:lstStyle/>
                    <a:p>
                      <a:pPr algn="ctr"/>
                      <a:r>
                        <a:rPr kumimoji="1" lang="en-US" altLang="ja-JP" sz="1200" dirty="0"/>
                        <a:t>2025</a:t>
                      </a:r>
                      <a:r>
                        <a:rPr kumimoji="1" lang="ja-JP" altLang="en-US" sz="1200" dirty="0"/>
                        <a:t>年</a:t>
                      </a:r>
                      <a:r>
                        <a:rPr kumimoji="1" lang="en-US" altLang="ja-JP" sz="1200" dirty="0"/>
                        <a:t>6</a:t>
                      </a:r>
                      <a:r>
                        <a:rPr kumimoji="1" lang="ja-JP" altLang="en-US" sz="1200" dirty="0"/>
                        <a:t>月</a:t>
                      </a:r>
                    </a:p>
                  </a:txBody>
                  <a:tcPr/>
                </a:tc>
                <a:tc>
                  <a:txBody>
                    <a:bodyPr/>
                    <a:lstStyle/>
                    <a:p>
                      <a:pPr algn="ctr"/>
                      <a:r>
                        <a:rPr kumimoji="1" lang="en-US" altLang="ja-JP" sz="1200" dirty="0"/>
                        <a:t>2025</a:t>
                      </a:r>
                      <a:r>
                        <a:rPr kumimoji="1" lang="ja-JP" altLang="en-US" sz="1200" dirty="0"/>
                        <a:t>年</a:t>
                      </a:r>
                      <a:r>
                        <a:rPr kumimoji="1" lang="en-US" altLang="ja-JP" sz="1200" dirty="0"/>
                        <a:t>7</a:t>
                      </a:r>
                      <a:r>
                        <a:rPr kumimoji="1" lang="ja-JP" altLang="en-US" sz="1200" dirty="0"/>
                        <a:t>月</a:t>
                      </a:r>
                    </a:p>
                  </a:txBody>
                  <a:tcPr/>
                </a:tc>
                <a:tc>
                  <a:txBody>
                    <a:bodyPr/>
                    <a:lstStyle/>
                    <a:p>
                      <a:pPr algn="ctr"/>
                      <a:r>
                        <a:rPr kumimoji="1" lang="en-US" altLang="ja-JP" sz="1200" dirty="0"/>
                        <a:t>2025</a:t>
                      </a:r>
                      <a:r>
                        <a:rPr kumimoji="1" lang="ja-JP" altLang="en-US" sz="1200" dirty="0"/>
                        <a:t>年</a:t>
                      </a:r>
                      <a:r>
                        <a:rPr kumimoji="1" lang="en-US" altLang="ja-JP" sz="1200" dirty="0"/>
                        <a:t>8</a:t>
                      </a:r>
                      <a:r>
                        <a:rPr kumimoji="1" lang="ja-JP" altLang="en-US" sz="1200" dirty="0"/>
                        <a:t>月</a:t>
                      </a:r>
                      <a:endParaRPr kumimoji="1" lang="en-US" altLang="ja-JP" sz="1200" dirty="0"/>
                    </a:p>
                  </a:txBody>
                  <a:tcPr/>
                </a:tc>
                <a:extLst>
                  <a:ext uri="{0D108BD9-81ED-4DB2-BD59-A6C34878D82A}">
                    <a16:rowId xmlns:a16="http://schemas.microsoft.com/office/drawing/2014/main" val="7335132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バッチ時間（秒）</a:t>
                      </a:r>
                    </a:p>
                  </a:txBody>
                  <a:tcPr/>
                </a:tc>
                <a:tc>
                  <a:txBody>
                    <a:bodyPr/>
                    <a:lstStyle/>
                    <a:p>
                      <a:pPr algn="ctr"/>
                      <a:r>
                        <a:rPr kumimoji="1" lang="en-US" altLang="ja-JP" sz="1400" dirty="0"/>
                        <a:t>39</a:t>
                      </a:r>
                      <a:endParaRPr kumimoji="1" lang="ja-JP" altLang="en-US" sz="1400" dirty="0"/>
                    </a:p>
                  </a:txBody>
                  <a:tcPr/>
                </a:tc>
                <a:tc>
                  <a:txBody>
                    <a:bodyPr/>
                    <a:lstStyle/>
                    <a:p>
                      <a:pPr algn="ctr"/>
                      <a:r>
                        <a:rPr kumimoji="1" lang="en-US" altLang="ja-JP" sz="1400" dirty="0"/>
                        <a:t>46</a:t>
                      </a:r>
                      <a:endParaRPr kumimoji="1" lang="ja-JP" altLang="en-US" sz="1400" dirty="0"/>
                    </a:p>
                  </a:txBody>
                  <a:tcPr/>
                </a:tc>
                <a:tc>
                  <a:txBody>
                    <a:bodyPr/>
                    <a:lstStyle/>
                    <a:p>
                      <a:pPr algn="ctr"/>
                      <a:r>
                        <a:rPr kumimoji="1" lang="en-US" altLang="ja-JP" sz="1400" dirty="0"/>
                        <a:t>42</a:t>
                      </a:r>
                      <a:endParaRPr kumimoji="1" lang="ja-JP" altLang="en-US" sz="1400" dirty="0"/>
                    </a:p>
                  </a:txBody>
                  <a:tcPr/>
                </a:tc>
                <a:tc>
                  <a:txBody>
                    <a:bodyPr/>
                    <a:lstStyle/>
                    <a:p>
                      <a:pPr algn="ctr"/>
                      <a:r>
                        <a:rPr kumimoji="1" lang="en-US" altLang="ja-JP" sz="1400" dirty="0"/>
                        <a:t>44</a:t>
                      </a:r>
                      <a:endParaRPr kumimoji="1" lang="ja-JP" altLang="en-US" sz="1400" dirty="0"/>
                    </a:p>
                  </a:txBody>
                  <a:tcPr/>
                </a:tc>
                <a:tc>
                  <a:txBody>
                    <a:bodyPr/>
                    <a:lstStyle/>
                    <a:p>
                      <a:pPr algn="ctr"/>
                      <a:r>
                        <a:rPr kumimoji="1" lang="en-US" altLang="ja-JP" sz="1400" dirty="0"/>
                        <a:t>44</a:t>
                      </a:r>
                      <a:endParaRPr kumimoji="1" lang="ja-JP" altLang="en-US" sz="1400" dirty="0"/>
                    </a:p>
                  </a:txBody>
                  <a:tcPr/>
                </a:tc>
                <a:extLst>
                  <a:ext uri="{0D108BD9-81ED-4DB2-BD59-A6C34878D82A}">
                    <a16:rowId xmlns:a16="http://schemas.microsoft.com/office/drawing/2014/main" val="147578453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増加率（秒）</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t>ー</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0.18</a:t>
                      </a:r>
                      <a:endParaRPr kumimoji="1" lang="ja-JP" altLang="en-US"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rgbClr val="FF0000"/>
                          </a:solidFill>
                        </a:rPr>
                        <a:t>-0.09</a:t>
                      </a:r>
                      <a:endParaRPr kumimoji="1" lang="ja-JP" altLang="en-US" sz="1400" dirty="0">
                        <a:solidFill>
                          <a:srgbClr val="FF0000"/>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0.05</a:t>
                      </a:r>
                      <a:endParaRPr kumimoji="1" lang="ja-JP" altLang="en-US"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0.00</a:t>
                      </a:r>
                      <a:endParaRPr kumimoji="1" lang="ja-JP" altLang="en-US" sz="1400" dirty="0"/>
                    </a:p>
                  </a:txBody>
                  <a:tcPr/>
                </a:tc>
                <a:extLst>
                  <a:ext uri="{0D108BD9-81ED-4DB2-BD59-A6C34878D82A}">
                    <a16:rowId xmlns:a16="http://schemas.microsoft.com/office/drawing/2014/main" val="289903325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ストレージ（</a:t>
                      </a:r>
                      <a:r>
                        <a:rPr kumimoji="1" lang="en-US" altLang="ja-JP" sz="1400" dirty="0"/>
                        <a:t>GB</a:t>
                      </a:r>
                      <a:r>
                        <a:rPr kumimoji="1" lang="ja-JP" altLang="en-US" sz="1400" dirty="0"/>
                        <a:t>）</a:t>
                      </a:r>
                    </a:p>
                  </a:txBody>
                  <a:tcPr/>
                </a:tc>
                <a:tc>
                  <a:txBody>
                    <a:bodyPr/>
                    <a:lstStyle/>
                    <a:p>
                      <a:pPr algn="ctr"/>
                      <a:r>
                        <a:rPr kumimoji="1" lang="en-US" altLang="ja-JP" sz="1400" dirty="0"/>
                        <a:t>12.04</a:t>
                      </a:r>
                      <a:endParaRPr kumimoji="1" lang="ja-JP" altLang="en-US" sz="1400" dirty="0"/>
                    </a:p>
                  </a:txBody>
                  <a:tcPr/>
                </a:tc>
                <a:tc>
                  <a:txBody>
                    <a:bodyPr/>
                    <a:lstStyle/>
                    <a:p>
                      <a:pPr algn="ctr"/>
                      <a:r>
                        <a:rPr kumimoji="1" lang="en-US" altLang="ja-JP" sz="1400" dirty="0"/>
                        <a:t>12.35</a:t>
                      </a:r>
                      <a:endParaRPr kumimoji="1" lang="ja-JP" altLang="en-US" sz="1400" dirty="0"/>
                    </a:p>
                  </a:txBody>
                  <a:tcPr/>
                </a:tc>
                <a:tc>
                  <a:txBody>
                    <a:bodyPr/>
                    <a:lstStyle/>
                    <a:p>
                      <a:pPr algn="ctr"/>
                      <a:r>
                        <a:rPr kumimoji="1" lang="en-US" altLang="ja-JP" sz="1400" dirty="0"/>
                        <a:t>12.67</a:t>
                      </a:r>
                      <a:endParaRPr kumimoji="1" lang="ja-JP" altLang="en-US"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12.77</a:t>
                      </a:r>
                      <a:endParaRPr kumimoji="1" lang="ja-JP" altLang="en-US" sz="1400" dirty="0"/>
                    </a:p>
                  </a:txBody>
                  <a:tcPr/>
                </a:tc>
                <a:tc>
                  <a:txBody>
                    <a:bodyPr/>
                    <a:lstStyle/>
                    <a:p>
                      <a:pPr algn="ctr"/>
                      <a:r>
                        <a:rPr kumimoji="1" lang="en-US" altLang="ja-JP" sz="1400" dirty="0"/>
                        <a:t>12.82</a:t>
                      </a:r>
                      <a:endParaRPr kumimoji="1" lang="ja-JP" altLang="en-US" sz="1400" dirty="0"/>
                    </a:p>
                  </a:txBody>
                  <a:tcPr/>
                </a:tc>
                <a:extLst>
                  <a:ext uri="{0D108BD9-81ED-4DB2-BD59-A6C34878D82A}">
                    <a16:rowId xmlns:a16="http://schemas.microsoft.com/office/drawing/2014/main" val="336765877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増加率（</a:t>
                      </a:r>
                      <a:r>
                        <a:rPr kumimoji="1" lang="en-US" altLang="ja-JP" sz="1400" dirty="0"/>
                        <a:t>GB</a:t>
                      </a:r>
                      <a:r>
                        <a:rPr kumimoji="1" lang="ja-JP" altLang="en-US" sz="1400"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t>ー</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aseline="0" dirty="0">
                          <a:solidFill>
                            <a:schemeClr val="tx1"/>
                          </a:solidFill>
                        </a:rPr>
                        <a:t>0.03</a:t>
                      </a:r>
                      <a:endParaRPr kumimoji="1" lang="ja-JP" altLang="en-US" sz="1400" baseline="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aseline="0" dirty="0">
                          <a:solidFill>
                            <a:schemeClr val="tx1"/>
                          </a:solidFill>
                        </a:rPr>
                        <a:t>0.03</a:t>
                      </a:r>
                      <a:endParaRPr kumimoji="1" lang="ja-JP" altLang="en-US" sz="1400" baseline="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0.01</a:t>
                      </a:r>
                      <a:endParaRPr kumimoji="1" lang="ja-JP" altLang="en-US"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0.00</a:t>
                      </a:r>
                      <a:endParaRPr kumimoji="1" lang="ja-JP" altLang="en-US" sz="1400" dirty="0"/>
                    </a:p>
                  </a:txBody>
                  <a:tcPr/>
                </a:tc>
                <a:extLst>
                  <a:ext uri="{0D108BD9-81ED-4DB2-BD59-A6C34878D82A}">
                    <a16:rowId xmlns:a16="http://schemas.microsoft.com/office/drawing/2014/main" val="1376111490"/>
                  </a:ext>
                </a:extLst>
              </a:tr>
            </a:tbl>
          </a:graphicData>
        </a:graphic>
      </p:graphicFrame>
      <p:sp>
        <p:nvSpPr>
          <p:cNvPr id="3" name="テキスト ボックス 2">
            <a:extLst>
              <a:ext uri="{FF2B5EF4-FFF2-40B4-BE49-F238E27FC236}">
                <a16:creationId xmlns:a16="http://schemas.microsoft.com/office/drawing/2014/main" id="{573ADE81-A3D8-43E4-6C6B-E0938F64586A}"/>
              </a:ext>
            </a:extLst>
          </p:cNvPr>
          <p:cNvSpPr txBox="1"/>
          <p:nvPr/>
        </p:nvSpPr>
        <p:spPr>
          <a:xfrm>
            <a:off x="413027" y="961392"/>
            <a:ext cx="11125257" cy="1477328"/>
          </a:xfrm>
          <a:prstGeom prst="rect">
            <a:avLst/>
          </a:prstGeom>
          <a:noFill/>
        </p:spPr>
        <p:txBody>
          <a:bodyPr wrap="square" rtlCol="0">
            <a:spAutoFit/>
          </a:bodyPr>
          <a:lstStyle/>
          <a:p>
            <a:r>
              <a:rPr lang="ja-JP" altLang="en-US" b="1" dirty="0"/>
              <a:t>連携</a:t>
            </a:r>
            <a:r>
              <a:rPr lang="en-US" altLang="ja-JP" b="1" dirty="0"/>
              <a:t>PF</a:t>
            </a:r>
            <a:r>
              <a:rPr kumimoji="1" lang="ja-JP" altLang="en-US" b="1" dirty="0"/>
              <a:t>（プロジェクト単位）：</a:t>
            </a:r>
            <a:endParaRPr kumimoji="1" lang="en-US" altLang="ja-JP" b="1" dirty="0"/>
          </a:p>
          <a:p>
            <a:r>
              <a:rPr lang="en-US" altLang="ja-JP" dirty="0"/>
              <a:t>raw</a:t>
            </a:r>
            <a:r>
              <a:rPr lang="ja-JP" altLang="en-US" dirty="0"/>
              <a:t>データ量は </a:t>
            </a:r>
            <a:r>
              <a:rPr lang="en-US" altLang="ja-JP" dirty="0"/>
              <a:t>52.3MB</a:t>
            </a:r>
            <a:r>
              <a:rPr lang="ja-JP" altLang="en-US" dirty="0"/>
              <a:t> と少ないものの、複数の加工工程を経て、プロジェクト全体では</a:t>
            </a:r>
            <a:r>
              <a:rPr lang="en-US" altLang="ja-JP" dirty="0"/>
              <a:t>12GB</a:t>
            </a:r>
            <a:r>
              <a:rPr lang="ja-JP" altLang="en-US" dirty="0"/>
              <a:t> に増加している。</a:t>
            </a:r>
            <a:br>
              <a:rPr lang="ja-JP" altLang="en-US" dirty="0"/>
            </a:br>
            <a:r>
              <a:rPr lang="ja-JP" altLang="en-US" dirty="0"/>
              <a:t>バッチ時間は </a:t>
            </a:r>
            <a:r>
              <a:rPr lang="en-US" altLang="ja-JP" dirty="0"/>
              <a:t>39</a:t>
            </a:r>
            <a:r>
              <a:rPr lang="ja-JP" altLang="en-US" dirty="0"/>
              <a:t>～</a:t>
            </a:r>
            <a:r>
              <a:rPr lang="en-US" altLang="ja-JP" dirty="0"/>
              <a:t>46</a:t>
            </a:r>
            <a:r>
              <a:rPr lang="ja-JP" altLang="en-US" dirty="0"/>
              <a:t>秒 の範囲で推移しており、大きな変動は見られない。</a:t>
            </a:r>
            <a:br>
              <a:rPr lang="ja-JP" altLang="en-US" dirty="0"/>
            </a:br>
            <a:r>
              <a:rPr lang="ja-JP" altLang="en-US" dirty="0"/>
              <a:t>また、データ蓄積により、全体のストレージ使用量は </a:t>
            </a:r>
            <a:r>
              <a:rPr lang="en-US" altLang="ja-JP" dirty="0"/>
              <a:t>12.0GB</a:t>
            </a:r>
            <a:r>
              <a:rPr lang="ja-JP" altLang="en-US" dirty="0"/>
              <a:t>から</a:t>
            </a:r>
            <a:r>
              <a:rPr lang="en-US" altLang="ja-JP" dirty="0"/>
              <a:t>12.8GB</a:t>
            </a:r>
            <a:r>
              <a:rPr lang="ja-JP" altLang="en-US" dirty="0"/>
              <a:t> へ緩やかに増加している。</a:t>
            </a:r>
            <a:endParaRPr kumimoji="1" lang="en-US" altLang="ja-JP" dirty="0"/>
          </a:p>
        </p:txBody>
      </p:sp>
    </p:spTree>
    <p:extLst>
      <p:ext uri="{BB962C8B-B14F-4D97-AF65-F5344CB8AC3E}">
        <p14:creationId xmlns:p14="http://schemas.microsoft.com/office/powerpoint/2010/main" val="880750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573ADE81-A3D8-43E4-6C6B-E0938F64586A}"/>
              </a:ext>
            </a:extLst>
          </p:cNvPr>
          <p:cNvSpPr txBox="1"/>
          <p:nvPr/>
        </p:nvSpPr>
        <p:spPr>
          <a:xfrm>
            <a:off x="386743" y="842122"/>
            <a:ext cx="11418514" cy="4801314"/>
          </a:xfrm>
          <a:prstGeom prst="rect">
            <a:avLst/>
          </a:prstGeom>
          <a:noFill/>
        </p:spPr>
        <p:txBody>
          <a:bodyPr wrap="square" rtlCol="0">
            <a:spAutoFit/>
          </a:bodyPr>
          <a:lstStyle/>
          <a:p>
            <a:r>
              <a:rPr lang="ja-JP" altLang="en-US" b="1" dirty="0"/>
              <a:t>連携</a:t>
            </a:r>
            <a:r>
              <a:rPr lang="en-US" altLang="ja-JP" b="1" dirty="0"/>
              <a:t>PF</a:t>
            </a:r>
            <a:r>
              <a:rPr kumimoji="1" lang="ja-JP" altLang="en-US" b="1" dirty="0"/>
              <a:t>（処理概要）：</a:t>
            </a:r>
            <a:endParaRPr kumimoji="1" lang="en-US" altLang="ja-JP" b="1" dirty="0"/>
          </a:p>
          <a:p>
            <a:r>
              <a:rPr lang="ja-JP" altLang="en-US" sz="1600" dirty="0"/>
              <a:t>ほのぼの等から取得した複数の</a:t>
            </a:r>
            <a:r>
              <a:rPr lang="en-US" altLang="ja-JP" sz="1600" dirty="0"/>
              <a:t>raw</a:t>
            </a:r>
            <a:r>
              <a:rPr lang="ja-JP" altLang="en-US" sz="1600" dirty="0"/>
              <a:t>データを、マスタとして分析に適したデータセットへと変換するデータパイプラインを構築している。</a:t>
            </a:r>
            <a:endParaRPr lang="en-US" altLang="ja-JP" sz="1600" dirty="0"/>
          </a:p>
          <a:p>
            <a:endParaRPr kumimoji="1" lang="en-US" altLang="ja-JP" sz="1600" dirty="0"/>
          </a:p>
          <a:p>
            <a:r>
              <a:rPr kumimoji="1" lang="ja-JP" altLang="en-US" sz="1600" u="sng" dirty="0"/>
              <a:t>第</a:t>
            </a:r>
            <a:r>
              <a:rPr kumimoji="1" lang="en-US" altLang="ja-JP" sz="1600" u="sng" dirty="0"/>
              <a:t>1</a:t>
            </a:r>
            <a:r>
              <a:rPr kumimoji="1" lang="ja-JP" altLang="en-US" sz="1600" u="sng" dirty="0"/>
              <a:t>段階：データ</a:t>
            </a:r>
            <a:r>
              <a:rPr lang="ja-JP" altLang="en-US" sz="1600" u="sng" dirty="0"/>
              <a:t>変換</a:t>
            </a:r>
            <a:endParaRPr lang="en-US" altLang="ja-JP" sz="1600" u="sng" dirty="0"/>
          </a:p>
          <a:p>
            <a:r>
              <a:rPr lang="ja-JP" altLang="en-US" sz="1600" dirty="0"/>
              <a:t>・</a:t>
            </a:r>
            <a:r>
              <a:rPr lang="ja-JP" altLang="en-US" sz="1600" i="0" dirty="0">
                <a:solidFill>
                  <a:srgbClr val="09090B"/>
                </a:solidFill>
                <a:effectLst/>
                <a:latin typeface="ui-sans-serif"/>
              </a:rPr>
              <a:t>共通クレンジング：</a:t>
            </a:r>
            <a:endParaRPr lang="en-US" altLang="ja-JP" sz="1600" i="0" dirty="0">
              <a:solidFill>
                <a:srgbClr val="09090B"/>
              </a:solidFill>
              <a:effectLst/>
              <a:latin typeface="ui-sans-serif"/>
            </a:endParaRPr>
          </a:p>
          <a:p>
            <a:r>
              <a:rPr lang="ja-JP" altLang="en-US" sz="1600" i="0" dirty="0">
                <a:solidFill>
                  <a:srgbClr val="09090B"/>
                </a:solidFill>
                <a:effectLst/>
                <a:latin typeface="ui-sans-serif"/>
              </a:rPr>
              <a:t>テーブル定義ファイルに基づき、データ型変換、文字列正規化（全角</a:t>
            </a:r>
            <a:r>
              <a:rPr lang="en-US" altLang="ja-JP" sz="1600" i="0" dirty="0">
                <a:solidFill>
                  <a:srgbClr val="09090B"/>
                </a:solidFill>
                <a:effectLst/>
                <a:latin typeface="ui-sans-serif"/>
              </a:rPr>
              <a:t>/</a:t>
            </a:r>
            <a:r>
              <a:rPr lang="ja-JP" altLang="en-US" sz="1600" i="0" dirty="0">
                <a:solidFill>
                  <a:srgbClr val="09090B"/>
                </a:solidFill>
                <a:effectLst/>
                <a:latin typeface="ui-sans-serif"/>
              </a:rPr>
              <a:t>半角など）、列名リネームを全データに一括で自動適用。</a:t>
            </a:r>
            <a:endParaRPr lang="en-US" altLang="ja-JP" sz="1600" i="0" dirty="0">
              <a:solidFill>
                <a:srgbClr val="09090B"/>
              </a:solidFill>
              <a:effectLst/>
              <a:latin typeface="ui-sans-serif"/>
            </a:endParaRPr>
          </a:p>
          <a:p>
            <a:endParaRPr lang="en-US" altLang="ja-JP" sz="1600" i="0" dirty="0">
              <a:solidFill>
                <a:srgbClr val="09090B"/>
              </a:solidFill>
              <a:effectLst/>
              <a:latin typeface="ui-sans-serif"/>
            </a:endParaRPr>
          </a:p>
          <a:p>
            <a:r>
              <a:rPr lang="ja-JP" altLang="en-US" sz="1600" dirty="0">
                <a:solidFill>
                  <a:srgbClr val="09090B"/>
                </a:solidFill>
                <a:latin typeface="ui-sans-serif"/>
              </a:rPr>
              <a:t>・正規化</a:t>
            </a:r>
            <a:r>
              <a:rPr lang="en-US" altLang="ja-JP" sz="1600" dirty="0">
                <a:solidFill>
                  <a:srgbClr val="09090B"/>
                </a:solidFill>
                <a:latin typeface="ui-sans-serif"/>
              </a:rPr>
              <a:t>/</a:t>
            </a:r>
            <a:r>
              <a:rPr lang="ja-JP" altLang="en-US" sz="1600" dirty="0">
                <a:solidFill>
                  <a:srgbClr val="09090B"/>
                </a:solidFill>
                <a:latin typeface="ui-sans-serif"/>
              </a:rPr>
              <a:t>拡充</a:t>
            </a:r>
            <a:r>
              <a:rPr lang="ja-JP" altLang="en-US" sz="1600" i="0" dirty="0">
                <a:solidFill>
                  <a:srgbClr val="09090B"/>
                </a:solidFill>
                <a:effectLst/>
                <a:latin typeface="ui-sans-serif"/>
              </a:rPr>
              <a:t>：</a:t>
            </a:r>
            <a:endParaRPr lang="en-US" altLang="ja-JP" sz="1600" i="0" dirty="0">
              <a:solidFill>
                <a:srgbClr val="09090B"/>
              </a:solidFill>
              <a:effectLst/>
              <a:latin typeface="ui-sans-serif"/>
            </a:endParaRPr>
          </a:p>
          <a:p>
            <a:r>
              <a:rPr lang="ja-JP" altLang="en-US" sz="1600" i="0" dirty="0">
                <a:solidFill>
                  <a:srgbClr val="09090B"/>
                </a:solidFill>
                <a:effectLst/>
                <a:latin typeface="ui-sans-serif"/>
              </a:rPr>
              <a:t>コ</a:t>
            </a:r>
            <a:r>
              <a:rPr lang="ja-JP" altLang="en-US" sz="1600" b="0" i="0" dirty="0">
                <a:solidFill>
                  <a:srgbClr val="09090B"/>
                </a:solidFill>
                <a:effectLst/>
                <a:latin typeface="ui-sans-serif"/>
              </a:rPr>
              <a:t>ード変換（性別：</a:t>
            </a:r>
            <a:r>
              <a:rPr lang="en-US" altLang="ja-JP" sz="1600" b="0" i="0" dirty="0">
                <a:solidFill>
                  <a:srgbClr val="09090B"/>
                </a:solidFill>
                <a:effectLst/>
                <a:latin typeface="ui-sans-serif"/>
              </a:rPr>
              <a:t>0→</a:t>
            </a:r>
            <a:r>
              <a:rPr lang="ja-JP" altLang="en-US" sz="1600" b="0" i="0" dirty="0">
                <a:solidFill>
                  <a:srgbClr val="09090B"/>
                </a:solidFill>
                <a:effectLst/>
                <a:latin typeface="ui-sans-serif"/>
              </a:rPr>
              <a:t>男性など）、複数履歴から「正」となる代表データ（住所・サービス）の特定、最新月データの抽出などを適用。サービスマスタへの「カテゴリ情報」の付与や、「施設</a:t>
            </a:r>
            <a:r>
              <a:rPr lang="en-US" altLang="ja-JP" sz="1600" b="0" i="0" dirty="0">
                <a:solidFill>
                  <a:srgbClr val="09090B"/>
                </a:solidFill>
                <a:effectLst/>
                <a:latin typeface="ui-sans-serif"/>
              </a:rPr>
              <a:t>/</a:t>
            </a:r>
            <a:r>
              <a:rPr lang="ja-JP" altLang="en-US" sz="1600" b="0" i="0" dirty="0">
                <a:solidFill>
                  <a:srgbClr val="09090B"/>
                </a:solidFill>
                <a:effectLst/>
                <a:latin typeface="ui-sans-serif"/>
              </a:rPr>
              <a:t>居宅」区分の生成など、分析の切り口を増やす。</a:t>
            </a:r>
            <a:endParaRPr lang="en-US" altLang="ja-JP" sz="1600" b="0" i="0" dirty="0">
              <a:solidFill>
                <a:srgbClr val="09090B"/>
              </a:solidFill>
              <a:effectLst/>
              <a:latin typeface="ui-sans-serif"/>
            </a:endParaRPr>
          </a:p>
          <a:p>
            <a:endParaRPr lang="en-US" altLang="ja-JP" sz="1600" dirty="0">
              <a:solidFill>
                <a:srgbClr val="09090B"/>
              </a:solidFill>
              <a:latin typeface="ui-sans-serif"/>
            </a:endParaRPr>
          </a:p>
          <a:p>
            <a:r>
              <a:rPr lang="ja-JP" altLang="en-US" sz="1600" dirty="0">
                <a:solidFill>
                  <a:srgbClr val="09090B"/>
                </a:solidFill>
                <a:latin typeface="ui-sans-serif"/>
              </a:rPr>
              <a:t>・顧客名寄せ：</a:t>
            </a:r>
            <a:endParaRPr lang="en-US" altLang="ja-JP" sz="1600" dirty="0">
              <a:solidFill>
                <a:srgbClr val="09090B"/>
              </a:solidFill>
              <a:latin typeface="ui-sans-serif"/>
            </a:endParaRPr>
          </a:p>
          <a:p>
            <a:r>
              <a:rPr lang="ja-JP" altLang="en-US" sz="1600" b="0" i="0" dirty="0">
                <a:solidFill>
                  <a:srgbClr val="09090B"/>
                </a:solidFill>
                <a:effectLst/>
                <a:latin typeface="ui-sans-serif"/>
              </a:rPr>
              <a:t>重複顧客をルールベースで特定し、</a:t>
            </a:r>
            <a:r>
              <a:rPr lang="en-US" altLang="ja-JP" sz="1600" b="0" i="0" dirty="0">
                <a:solidFill>
                  <a:srgbClr val="09090B"/>
                </a:solidFill>
                <a:effectLst/>
                <a:latin typeface="ui-sans-serif"/>
              </a:rPr>
              <a:t>ID</a:t>
            </a:r>
            <a:r>
              <a:rPr lang="ja-JP" altLang="en-US" sz="1600" b="0" i="0" dirty="0">
                <a:solidFill>
                  <a:srgbClr val="09090B"/>
                </a:solidFill>
                <a:effectLst/>
                <a:latin typeface="ui-sans-serif"/>
              </a:rPr>
              <a:t>を統合するための「</a:t>
            </a:r>
            <a:r>
              <a:rPr lang="en-US" altLang="ja-JP" sz="1600" b="0" i="0" dirty="0">
                <a:solidFill>
                  <a:srgbClr val="09090B"/>
                </a:solidFill>
                <a:effectLst/>
                <a:latin typeface="ui-sans-serif"/>
              </a:rPr>
              <a:t>ID</a:t>
            </a:r>
            <a:r>
              <a:rPr lang="ja-JP" altLang="en-US" sz="1600" b="0" i="0" dirty="0">
                <a:solidFill>
                  <a:srgbClr val="09090B"/>
                </a:solidFill>
                <a:effectLst/>
                <a:latin typeface="ui-sans-serif"/>
              </a:rPr>
              <a:t>変換テーブル」を作成</a:t>
            </a:r>
          </a:p>
          <a:p>
            <a:endParaRPr lang="en-US" altLang="ja-JP" sz="1600" dirty="0">
              <a:solidFill>
                <a:srgbClr val="09090B"/>
              </a:solidFill>
              <a:latin typeface="ui-sans-serif"/>
            </a:endParaRPr>
          </a:p>
          <a:p>
            <a:r>
              <a:rPr lang="ja-JP" altLang="en-US" sz="1600" i="0" dirty="0">
                <a:solidFill>
                  <a:srgbClr val="09090B"/>
                </a:solidFill>
                <a:effectLst/>
                <a:latin typeface="ui-sans-serif"/>
              </a:rPr>
              <a:t>・品質管理：</a:t>
            </a:r>
            <a:endParaRPr lang="en-US" altLang="ja-JP" sz="1600" i="0" dirty="0">
              <a:solidFill>
                <a:srgbClr val="09090B"/>
              </a:solidFill>
              <a:effectLst/>
              <a:latin typeface="ui-sans-serif"/>
            </a:endParaRPr>
          </a:p>
          <a:p>
            <a:r>
              <a:rPr lang="ja-JP" altLang="en-US" sz="1600" i="0" dirty="0">
                <a:solidFill>
                  <a:srgbClr val="09090B"/>
                </a:solidFill>
                <a:effectLst/>
                <a:latin typeface="ui-sans-serif"/>
              </a:rPr>
              <a:t>パイプラインの各所でデータ品質チェック（主キーの一意性、論理的矛盾の検証など）を自動実行</a:t>
            </a:r>
          </a:p>
          <a:p>
            <a:endParaRPr lang="en-US" altLang="ja-JP" sz="1600" u="sng" dirty="0"/>
          </a:p>
        </p:txBody>
      </p:sp>
    </p:spTree>
    <p:extLst>
      <p:ext uri="{BB962C8B-B14F-4D97-AF65-F5344CB8AC3E}">
        <p14:creationId xmlns:p14="http://schemas.microsoft.com/office/powerpoint/2010/main" val="2575483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60953F7C-227B-2BEE-BB8B-7E9A24AE3668}"/>
              </a:ext>
            </a:extLst>
          </p:cNvPr>
          <p:cNvSpPr txBox="1"/>
          <p:nvPr/>
        </p:nvSpPr>
        <p:spPr>
          <a:xfrm>
            <a:off x="413027" y="961392"/>
            <a:ext cx="11418514" cy="4062651"/>
          </a:xfrm>
          <a:prstGeom prst="rect">
            <a:avLst/>
          </a:prstGeom>
          <a:noFill/>
        </p:spPr>
        <p:txBody>
          <a:bodyPr wrap="square" rtlCol="0">
            <a:spAutoFit/>
          </a:bodyPr>
          <a:lstStyle/>
          <a:p>
            <a:r>
              <a:rPr kumimoji="1" lang="ja-JP" altLang="en-US" sz="1600" u="sng" dirty="0"/>
              <a:t>第</a:t>
            </a:r>
            <a:r>
              <a:rPr lang="en-US" altLang="ja-JP" sz="1600" u="sng" dirty="0"/>
              <a:t>2</a:t>
            </a:r>
            <a:r>
              <a:rPr kumimoji="1" lang="ja-JP" altLang="en-US" sz="1600" u="sng" dirty="0"/>
              <a:t>段階：生成される</a:t>
            </a:r>
            <a:r>
              <a:rPr lang="ja-JP" altLang="en-US" sz="1600" u="sng" dirty="0"/>
              <a:t>マスタ</a:t>
            </a:r>
            <a:endParaRPr lang="en-US" altLang="ja-JP" sz="1600" u="sng" dirty="0"/>
          </a:p>
          <a:p>
            <a:r>
              <a:rPr lang="ja-JP" altLang="en-US" sz="1600" dirty="0"/>
              <a:t>＜顧客関連マスタ＞</a:t>
            </a:r>
            <a:endParaRPr lang="en-US" altLang="ja-JP" sz="1600" dirty="0"/>
          </a:p>
          <a:p>
            <a:r>
              <a:rPr lang="ja-JP" altLang="en-US" sz="1600" i="0" dirty="0">
                <a:effectLst/>
                <a:latin typeface="ui-sans-serif"/>
              </a:rPr>
              <a:t>顧客基本情報：氏名・性別・生年月日など、顧客の基本属性を格納するマスタ</a:t>
            </a:r>
            <a:endParaRPr lang="en-US" altLang="ja-JP" sz="1600" i="0" dirty="0">
              <a:effectLst/>
              <a:latin typeface="ui-sans-serif"/>
            </a:endParaRPr>
          </a:p>
          <a:p>
            <a:r>
              <a:rPr lang="ja-JP" altLang="en-US" sz="1600" i="0" dirty="0">
                <a:effectLst/>
                <a:latin typeface="ui-sans-serif"/>
              </a:rPr>
              <a:t>住所マスタ</a:t>
            </a:r>
            <a:r>
              <a:rPr lang="ja-JP" altLang="en-US" sz="1600" dirty="0">
                <a:latin typeface="ui-sans-serif"/>
              </a:rPr>
              <a:t>：</a:t>
            </a:r>
            <a:r>
              <a:rPr lang="ja-JP" altLang="en-US" sz="1600" i="0" dirty="0">
                <a:effectLst/>
                <a:latin typeface="ui-sans-serif"/>
              </a:rPr>
              <a:t>顧客に紐づく全ての住所履歴。</a:t>
            </a:r>
            <a:endParaRPr lang="en-US" altLang="ja-JP" sz="1600" i="0" dirty="0">
              <a:effectLst/>
              <a:latin typeface="ui-sans-serif"/>
            </a:endParaRPr>
          </a:p>
          <a:p>
            <a:r>
              <a:rPr lang="ja-JP" altLang="en-US" sz="1600" i="0" dirty="0">
                <a:effectLst/>
                <a:latin typeface="ui-sans-serif"/>
              </a:rPr>
              <a:t>顧客サービス情報（複数）</a:t>
            </a:r>
            <a:r>
              <a:rPr lang="ja-JP" altLang="en-US" sz="1600" dirty="0">
                <a:latin typeface="ui-sans-serif"/>
              </a:rPr>
              <a:t>：</a:t>
            </a:r>
            <a:r>
              <a:rPr lang="ja-JP" altLang="en-US" sz="1600" b="0" i="0" dirty="0">
                <a:effectLst/>
                <a:latin typeface="ui-sans-serif"/>
              </a:rPr>
              <a:t>全てのサービス利用履歴、最新データ、現在の利用状況など、用途に応じた複数のデータセット。</a:t>
            </a:r>
            <a:endParaRPr lang="en-US" altLang="ja-JP" sz="1600" b="0" i="0" dirty="0">
              <a:effectLst/>
              <a:latin typeface="ui-sans-serif"/>
            </a:endParaRPr>
          </a:p>
          <a:p>
            <a:r>
              <a:rPr lang="ja-JP" altLang="en-US" sz="1600" i="0" dirty="0">
                <a:effectLst/>
                <a:latin typeface="ui-sans-serif"/>
              </a:rPr>
              <a:t>顧客介護認定情報マスタ</a:t>
            </a:r>
            <a:r>
              <a:rPr lang="ja-JP" altLang="en-US" sz="1600" dirty="0">
                <a:latin typeface="ui-sans-serif"/>
              </a:rPr>
              <a:t>：</a:t>
            </a:r>
            <a:r>
              <a:rPr lang="ja-JP" altLang="en-US" sz="1600" i="0" dirty="0">
                <a:effectLst/>
                <a:latin typeface="ui-sans-serif"/>
              </a:rPr>
              <a:t>要介護度や認定期間など、介護保険に関する情報。</a:t>
            </a:r>
            <a:endParaRPr lang="en-US" altLang="ja-JP" sz="1600" i="0" dirty="0">
              <a:effectLst/>
              <a:latin typeface="ui-sans-serif"/>
            </a:endParaRPr>
          </a:p>
          <a:p>
            <a:r>
              <a:rPr lang="ja-JP" altLang="en-US" sz="1600" dirty="0">
                <a:latin typeface="ui-sans-serif"/>
              </a:rPr>
              <a:t>介護保険負担割合</a:t>
            </a:r>
            <a:r>
              <a:rPr lang="ja-JP" altLang="en-US" sz="1600" i="0" dirty="0">
                <a:effectLst/>
                <a:latin typeface="ui-sans-serif"/>
              </a:rPr>
              <a:t>：自己負担割合や給付制限など、費用に関する情報。</a:t>
            </a:r>
            <a:endParaRPr lang="en-US" altLang="ja-JP" sz="1600" u="sng" dirty="0"/>
          </a:p>
          <a:p>
            <a:endParaRPr lang="en-US" altLang="ja-JP" sz="1600" dirty="0"/>
          </a:p>
          <a:p>
            <a:r>
              <a:rPr lang="ja-JP" altLang="en-US" sz="1600" dirty="0"/>
              <a:t>＜</a:t>
            </a:r>
            <a:r>
              <a:rPr lang="ja-JP" altLang="en-US" sz="1600" i="0" dirty="0">
                <a:effectLst/>
                <a:latin typeface="ui-sans-serif"/>
              </a:rPr>
              <a:t>事業・組織関連マスタ</a:t>
            </a:r>
            <a:r>
              <a:rPr lang="ja-JP" altLang="en-US" sz="1600" dirty="0"/>
              <a:t>＞</a:t>
            </a:r>
            <a:endParaRPr lang="en-US" altLang="ja-JP" sz="1600" dirty="0"/>
          </a:p>
          <a:p>
            <a:r>
              <a:rPr lang="ja-JP" altLang="en-US" sz="1600" i="0" dirty="0">
                <a:effectLst/>
                <a:latin typeface="ui-sans-serif"/>
              </a:rPr>
              <a:t>事業所情報（複数）：</a:t>
            </a:r>
            <a:r>
              <a:rPr lang="ja-JP" altLang="en-US" sz="1600" b="0" i="0" dirty="0">
                <a:effectLst/>
                <a:latin typeface="ui-sans-serif"/>
              </a:rPr>
              <a:t>全ての事業所情報、最新データのみ、会計上の代表事業所など、用途に応じた複数のデータセット。</a:t>
            </a:r>
            <a:endParaRPr lang="en-US" altLang="ja-JP" sz="1600" b="0" i="0" dirty="0">
              <a:effectLst/>
              <a:latin typeface="ui-sans-serif"/>
            </a:endParaRPr>
          </a:p>
          <a:p>
            <a:r>
              <a:rPr lang="ja-JP" altLang="en-US" sz="1600" dirty="0">
                <a:latin typeface="ui-sans-serif"/>
              </a:rPr>
              <a:t>サービスマスタ：</a:t>
            </a:r>
            <a:r>
              <a:rPr lang="ja-JP" altLang="en-US" sz="1600" b="0" i="0" dirty="0">
                <a:effectLst/>
                <a:latin typeface="ui-sans-serif"/>
              </a:rPr>
              <a:t> 提供される介護サービスの種類を定義するマスタ。</a:t>
            </a:r>
            <a:endParaRPr lang="en-US" altLang="ja-JP" sz="1600" b="0" i="0" dirty="0">
              <a:effectLst/>
              <a:latin typeface="ui-sans-serif"/>
            </a:endParaRPr>
          </a:p>
          <a:p>
            <a:r>
              <a:rPr lang="ja-JP" altLang="en-US" sz="1600" i="0" dirty="0">
                <a:effectLst/>
                <a:latin typeface="ui-sans-serif"/>
              </a:rPr>
              <a:t>従業員</a:t>
            </a:r>
            <a:r>
              <a:rPr lang="ja-JP" altLang="en-US" sz="1600" dirty="0">
                <a:latin typeface="ui-sans-serif"/>
              </a:rPr>
              <a:t>：</a:t>
            </a:r>
            <a:r>
              <a:rPr lang="ja-JP" altLang="en-US" sz="1600" i="0" dirty="0">
                <a:effectLst/>
                <a:latin typeface="ui-sans-serif"/>
              </a:rPr>
              <a:t>従業員の氏名、所属、入退社日などの基本情報。</a:t>
            </a:r>
            <a:endParaRPr lang="en-US" altLang="ja-JP" sz="1600" i="0" dirty="0">
              <a:effectLst/>
              <a:latin typeface="ui-sans-serif"/>
            </a:endParaRPr>
          </a:p>
          <a:p>
            <a:r>
              <a:rPr lang="ja-JP" altLang="en-US" sz="1600" i="0" dirty="0">
                <a:effectLst/>
                <a:latin typeface="ui-sans-serif"/>
              </a:rPr>
              <a:t>保険者</a:t>
            </a:r>
            <a:r>
              <a:rPr lang="ja-JP" altLang="en-US" sz="1600" dirty="0">
                <a:latin typeface="ui-sans-serif"/>
              </a:rPr>
              <a:t>：</a:t>
            </a:r>
            <a:r>
              <a:rPr lang="ja-JP" altLang="en-US" sz="1600" i="0" dirty="0">
                <a:effectLst/>
                <a:latin typeface="ui-sans-serif"/>
              </a:rPr>
              <a:t>介護保険を提供する保険者（市町村など）の番号と名称。</a:t>
            </a:r>
            <a:endParaRPr lang="en-US" altLang="ja-JP" sz="1600" i="0" dirty="0">
              <a:effectLst/>
              <a:latin typeface="ui-sans-serif"/>
            </a:endParaRPr>
          </a:p>
          <a:p>
            <a:r>
              <a:rPr lang="ja-JP" altLang="en-US" sz="1600" i="0" dirty="0">
                <a:effectLst/>
                <a:latin typeface="ui-sans-serif"/>
              </a:rPr>
              <a:t>担当ケアマネ情報</a:t>
            </a:r>
            <a:r>
              <a:rPr lang="ja-JP" altLang="en-US" sz="1600" dirty="0">
                <a:latin typeface="ui-sans-serif"/>
              </a:rPr>
              <a:t>：</a:t>
            </a:r>
            <a:r>
              <a:rPr lang="ja-JP" altLang="en-US" sz="1600" i="0" dirty="0">
                <a:effectLst/>
                <a:latin typeface="ui-sans-serif"/>
              </a:rPr>
              <a:t>顧客にどの従業員が担当として割り当てられたかの履歴。</a:t>
            </a:r>
            <a:endParaRPr lang="en-US" altLang="ja-JP" sz="1600" i="0" dirty="0">
              <a:effectLst/>
              <a:latin typeface="ui-sans-serif"/>
            </a:endParaRPr>
          </a:p>
          <a:p>
            <a:endParaRPr lang="en-US" altLang="ja-JP" sz="1800" dirty="0"/>
          </a:p>
        </p:txBody>
      </p:sp>
    </p:spTree>
    <p:extLst>
      <p:ext uri="{BB962C8B-B14F-4D97-AF65-F5344CB8AC3E}">
        <p14:creationId xmlns:p14="http://schemas.microsoft.com/office/powerpoint/2010/main" val="7648916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 7">
            <a:extLst>
              <a:ext uri="{FF2B5EF4-FFF2-40B4-BE49-F238E27FC236}">
                <a16:creationId xmlns:a16="http://schemas.microsoft.com/office/drawing/2014/main" id="{599A95D3-AB2B-101C-82D7-1D238875D0A7}"/>
              </a:ext>
            </a:extLst>
          </p:cNvPr>
          <p:cNvGraphicFramePr>
            <a:graphicFrameLocks noGrp="1"/>
          </p:cNvGraphicFramePr>
          <p:nvPr/>
        </p:nvGraphicFramePr>
        <p:xfrm>
          <a:off x="482769" y="2218604"/>
          <a:ext cx="11365945" cy="1854200"/>
        </p:xfrm>
        <a:graphic>
          <a:graphicData uri="http://schemas.openxmlformats.org/drawingml/2006/table">
            <a:tbl>
              <a:tblPr firstRow="1" bandRow="1">
                <a:tableStyleId>{5C22544A-7EE6-4342-B048-85BDC9FD1C3A}</a:tableStyleId>
              </a:tblPr>
              <a:tblGrid>
                <a:gridCol w="2107230">
                  <a:extLst>
                    <a:ext uri="{9D8B030D-6E8A-4147-A177-3AD203B41FA5}">
                      <a16:colId xmlns:a16="http://schemas.microsoft.com/office/drawing/2014/main" val="3219167172"/>
                    </a:ext>
                  </a:extLst>
                </a:gridCol>
                <a:gridCol w="1851743">
                  <a:extLst>
                    <a:ext uri="{9D8B030D-6E8A-4147-A177-3AD203B41FA5}">
                      <a16:colId xmlns:a16="http://schemas.microsoft.com/office/drawing/2014/main" val="3613030092"/>
                    </a:ext>
                  </a:extLst>
                </a:gridCol>
                <a:gridCol w="1851743">
                  <a:extLst>
                    <a:ext uri="{9D8B030D-6E8A-4147-A177-3AD203B41FA5}">
                      <a16:colId xmlns:a16="http://schemas.microsoft.com/office/drawing/2014/main" val="1897280176"/>
                    </a:ext>
                  </a:extLst>
                </a:gridCol>
                <a:gridCol w="1851743">
                  <a:extLst>
                    <a:ext uri="{9D8B030D-6E8A-4147-A177-3AD203B41FA5}">
                      <a16:colId xmlns:a16="http://schemas.microsoft.com/office/drawing/2014/main" val="268246374"/>
                    </a:ext>
                  </a:extLst>
                </a:gridCol>
                <a:gridCol w="1851743">
                  <a:extLst>
                    <a:ext uri="{9D8B030D-6E8A-4147-A177-3AD203B41FA5}">
                      <a16:colId xmlns:a16="http://schemas.microsoft.com/office/drawing/2014/main" val="2535013891"/>
                    </a:ext>
                  </a:extLst>
                </a:gridCol>
                <a:gridCol w="1851743">
                  <a:extLst>
                    <a:ext uri="{9D8B030D-6E8A-4147-A177-3AD203B41FA5}">
                      <a16:colId xmlns:a16="http://schemas.microsoft.com/office/drawing/2014/main" val="3200228194"/>
                    </a:ext>
                  </a:extLst>
                </a:gridCol>
              </a:tblGrid>
              <a:tr h="370840">
                <a:tc>
                  <a:txBody>
                    <a:bodyPr/>
                    <a:lstStyle/>
                    <a:p>
                      <a:pPr algn="ctr"/>
                      <a:endParaRPr kumimoji="1" lang="ja-JP" altLang="en-US" sz="1200" dirty="0"/>
                    </a:p>
                  </a:txBody>
                  <a:tcPr/>
                </a:tc>
                <a:tc>
                  <a:txBody>
                    <a:bodyPr/>
                    <a:lstStyle/>
                    <a:p>
                      <a:pPr algn="ctr"/>
                      <a:r>
                        <a:rPr kumimoji="1" lang="en-US" altLang="ja-JP" sz="1200" dirty="0"/>
                        <a:t>2025</a:t>
                      </a:r>
                      <a:r>
                        <a:rPr kumimoji="1" lang="ja-JP" altLang="en-US" sz="1200" dirty="0"/>
                        <a:t>年</a:t>
                      </a:r>
                      <a:r>
                        <a:rPr kumimoji="1" lang="en-US" altLang="ja-JP" sz="1200" dirty="0"/>
                        <a:t>4</a:t>
                      </a:r>
                      <a:r>
                        <a:rPr kumimoji="1" lang="ja-JP" altLang="en-US" sz="1200" dirty="0"/>
                        <a:t>月</a:t>
                      </a:r>
                    </a:p>
                  </a:txBody>
                  <a:tcPr/>
                </a:tc>
                <a:tc>
                  <a:txBody>
                    <a:bodyPr/>
                    <a:lstStyle/>
                    <a:p>
                      <a:pPr algn="ctr"/>
                      <a:r>
                        <a:rPr kumimoji="1" lang="en-US" altLang="ja-JP" sz="1200" dirty="0"/>
                        <a:t>2025</a:t>
                      </a:r>
                      <a:r>
                        <a:rPr kumimoji="1" lang="ja-JP" altLang="en-US" sz="1200" dirty="0"/>
                        <a:t>年</a:t>
                      </a:r>
                      <a:r>
                        <a:rPr kumimoji="1" lang="en-US" altLang="ja-JP" sz="1200" dirty="0"/>
                        <a:t>5</a:t>
                      </a:r>
                      <a:r>
                        <a:rPr kumimoji="1" lang="ja-JP" altLang="en-US" sz="1200" dirty="0"/>
                        <a:t>月</a:t>
                      </a:r>
                    </a:p>
                  </a:txBody>
                  <a:tcPr/>
                </a:tc>
                <a:tc>
                  <a:txBody>
                    <a:bodyPr/>
                    <a:lstStyle/>
                    <a:p>
                      <a:pPr algn="ctr"/>
                      <a:r>
                        <a:rPr kumimoji="1" lang="en-US" altLang="ja-JP" sz="1200" dirty="0"/>
                        <a:t>2025</a:t>
                      </a:r>
                      <a:r>
                        <a:rPr kumimoji="1" lang="ja-JP" altLang="en-US" sz="1200" dirty="0"/>
                        <a:t>年</a:t>
                      </a:r>
                      <a:r>
                        <a:rPr kumimoji="1" lang="en-US" altLang="ja-JP" sz="1200" dirty="0"/>
                        <a:t>6</a:t>
                      </a:r>
                      <a:r>
                        <a:rPr kumimoji="1" lang="ja-JP" altLang="en-US" sz="1200" dirty="0"/>
                        <a:t>月</a:t>
                      </a:r>
                    </a:p>
                  </a:txBody>
                  <a:tcPr/>
                </a:tc>
                <a:tc>
                  <a:txBody>
                    <a:bodyPr/>
                    <a:lstStyle/>
                    <a:p>
                      <a:pPr algn="ctr"/>
                      <a:r>
                        <a:rPr kumimoji="1" lang="en-US" altLang="ja-JP" sz="1200" dirty="0"/>
                        <a:t>2025</a:t>
                      </a:r>
                      <a:r>
                        <a:rPr kumimoji="1" lang="ja-JP" altLang="en-US" sz="1200" dirty="0"/>
                        <a:t>年</a:t>
                      </a:r>
                      <a:r>
                        <a:rPr kumimoji="1" lang="en-US" altLang="ja-JP" sz="1200" dirty="0"/>
                        <a:t>7</a:t>
                      </a:r>
                      <a:r>
                        <a:rPr kumimoji="1" lang="ja-JP" altLang="en-US" sz="1200" dirty="0"/>
                        <a:t>月</a:t>
                      </a:r>
                    </a:p>
                  </a:txBody>
                  <a:tcPr/>
                </a:tc>
                <a:tc>
                  <a:txBody>
                    <a:bodyPr/>
                    <a:lstStyle/>
                    <a:p>
                      <a:pPr algn="ctr"/>
                      <a:r>
                        <a:rPr kumimoji="1" lang="en-US" altLang="ja-JP" sz="1200" dirty="0"/>
                        <a:t>2025</a:t>
                      </a:r>
                      <a:r>
                        <a:rPr kumimoji="1" lang="ja-JP" altLang="en-US" sz="1200" dirty="0"/>
                        <a:t>年</a:t>
                      </a:r>
                      <a:r>
                        <a:rPr kumimoji="1" lang="en-US" altLang="ja-JP" sz="1200" dirty="0"/>
                        <a:t>8</a:t>
                      </a:r>
                      <a:r>
                        <a:rPr kumimoji="1" lang="ja-JP" altLang="en-US" sz="1200" dirty="0"/>
                        <a:t>月</a:t>
                      </a:r>
                      <a:endParaRPr kumimoji="1" lang="en-US" altLang="ja-JP" sz="1200" dirty="0"/>
                    </a:p>
                  </a:txBody>
                  <a:tcPr/>
                </a:tc>
                <a:extLst>
                  <a:ext uri="{0D108BD9-81ED-4DB2-BD59-A6C34878D82A}">
                    <a16:rowId xmlns:a16="http://schemas.microsoft.com/office/drawing/2014/main" val="7335132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バッチ時間（秒）</a:t>
                      </a:r>
                    </a:p>
                  </a:txBody>
                  <a:tcPr/>
                </a:tc>
                <a:tc>
                  <a:txBody>
                    <a:bodyPr/>
                    <a:lstStyle/>
                    <a:p>
                      <a:pPr algn="ctr"/>
                      <a:r>
                        <a:rPr kumimoji="1" lang="en-US" altLang="ja-JP" sz="1400" dirty="0"/>
                        <a:t>287</a:t>
                      </a:r>
                      <a:endParaRPr kumimoji="1" lang="ja-JP" altLang="en-US" sz="1400" dirty="0"/>
                    </a:p>
                  </a:txBody>
                  <a:tcPr/>
                </a:tc>
                <a:tc>
                  <a:txBody>
                    <a:bodyPr/>
                    <a:lstStyle/>
                    <a:p>
                      <a:pPr algn="ctr"/>
                      <a:r>
                        <a:rPr kumimoji="1" lang="en-US" altLang="ja-JP" sz="1400" dirty="0"/>
                        <a:t>274</a:t>
                      </a:r>
                      <a:endParaRPr kumimoji="1" lang="ja-JP" altLang="en-US" sz="1400" dirty="0"/>
                    </a:p>
                  </a:txBody>
                  <a:tcPr/>
                </a:tc>
                <a:tc>
                  <a:txBody>
                    <a:bodyPr/>
                    <a:lstStyle/>
                    <a:p>
                      <a:pPr algn="ctr"/>
                      <a:r>
                        <a:rPr kumimoji="1" lang="en-US" altLang="ja-JP" sz="1400" dirty="0"/>
                        <a:t>256</a:t>
                      </a:r>
                      <a:endParaRPr kumimoji="1" lang="ja-JP" altLang="en-US" sz="1400" dirty="0"/>
                    </a:p>
                  </a:txBody>
                  <a:tcPr/>
                </a:tc>
                <a:tc>
                  <a:txBody>
                    <a:bodyPr/>
                    <a:lstStyle/>
                    <a:p>
                      <a:pPr algn="ctr"/>
                      <a:r>
                        <a:rPr kumimoji="1" lang="en-US" altLang="ja-JP" sz="1400" dirty="0"/>
                        <a:t>238</a:t>
                      </a:r>
                      <a:endParaRPr kumimoji="1" lang="ja-JP" altLang="en-US" sz="1400" dirty="0"/>
                    </a:p>
                  </a:txBody>
                  <a:tcPr/>
                </a:tc>
                <a:tc>
                  <a:txBody>
                    <a:bodyPr/>
                    <a:lstStyle/>
                    <a:p>
                      <a:pPr algn="ctr"/>
                      <a:r>
                        <a:rPr kumimoji="1" lang="en-US" altLang="ja-JP" sz="1400" dirty="0"/>
                        <a:t>222</a:t>
                      </a:r>
                      <a:endParaRPr kumimoji="1" lang="ja-JP" altLang="en-US" sz="1400" dirty="0"/>
                    </a:p>
                  </a:txBody>
                  <a:tcPr/>
                </a:tc>
                <a:extLst>
                  <a:ext uri="{0D108BD9-81ED-4DB2-BD59-A6C34878D82A}">
                    <a16:rowId xmlns:a16="http://schemas.microsoft.com/office/drawing/2014/main" val="147578453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増加率（秒）</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t>ー</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-0.05</a:t>
                      </a:r>
                      <a:endParaRPr kumimoji="1" lang="ja-JP" altLang="en-US"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rgbClr val="FF0000"/>
                          </a:solidFill>
                        </a:rPr>
                        <a:t>-0.07</a:t>
                      </a:r>
                      <a:endParaRPr kumimoji="1" lang="ja-JP" altLang="en-US" sz="1400" dirty="0">
                        <a:solidFill>
                          <a:srgbClr val="FF0000"/>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rgbClr val="FF0000"/>
                          </a:solidFill>
                        </a:rPr>
                        <a:t>-0.07</a:t>
                      </a:r>
                      <a:endParaRPr kumimoji="1" lang="ja-JP" altLang="en-US" sz="1400" dirty="0">
                        <a:solidFill>
                          <a:srgbClr val="FF0000"/>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rgbClr val="FF0000"/>
                          </a:solidFill>
                        </a:rPr>
                        <a:t>-0.07</a:t>
                      </a:r>
                      <a:endParaRPr kumimoji="1" lang="ja-JP" altLang="en-US" sz="1400" dirty="0">
                        <a:solidFill>
                          <a:srgbClr val="FF0000"/>
                        </a:solidFill>
                      </a:endParaRPr>
                    </a:p>
                  </a:txBody>
                  <a:tcPr/>
                </a:tc>
                <a:extLst>
                  <a:ext uri="{0D108BD9-81ED-4DB2-BD59-A6C34878D82A}">
                    <a16:rowId xmlns:a16="http://schemas.microsoft.com/office/drawing/2014/main" val="289903325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ストレージ（</a:t>
                      </a:r>
                      <a:r>
                        <a:rPr kumimoji="1" lang="en-US" altLang="ja-JP" sz="1400" dirty="0"/>
                        <a:t>GB</a:t>
                      </a:r>
                      <a:r>
                        <a:rPr kumimoji="1" lang="ja-JP" altLang="en-US" sz="1400" dirty="0"/>
                        <a:t>）</a:t>
                      </a:r>
                    </a:p>
                  </a:txBody>
                  <a:tcPr/>
                </a:tc>
                <a:tc>
                  <a:txBody>
                    <a:bodyPr/>
                    <a:lstStyle/>
                    <a:p>
                      <a:pPr algn="ctr"/>
                      <a:r>
                        <a:rPr kumimoji="1" lang="en-US" altLang="ja-JP" sz="1400" dirty="0"/>
                        <a:t>1773</a:t>
                      </a:r>
                      <a:endParaRPr kumimoji="1" lang="ja-JP" altLang="en-US" sz="1400" dirty="0"/>
                    </a:p>
                  </a:txBody>
                  <a:tcPr/>
                </a:tc>
                <a:tc>
                  <a:txBody>
                    <a:bodyPr/>
                    <a:lstStyle/>
                    <a:p>
                      <a:pPr algn="ctr"/>
                      <a:r>
                        <a:rPr kumimoji="1" lang="en-US" altLang="ja-JP" sz="1400" dirty="0"/>
                        <a:t>1846</a:t>
                      </a:r>
                      <a:endParaRPr kumimoji="1" lang="ja-JP" altLang="en-US" sz="1400" dirty="0"/>
                    </a:p>
                  </a:txBody>
                  <a:tcPr/>
                </a:tc>
                <a:tc>
                  <a:txBody>
                    <a:bodyPr/>
                    <a:lstStyle/>
                    <a:p>
                      <a:pPr algn="ctr"/>
                      <a:r>
                        <a:rPr kumimoji="1" lang="en-US" altLang="ja-JP" sz="1400" dirty="0"/>
                        <a:t>1921</a:t>
                      </a:r>
                      <a:endParaRPr kumimoji="1" lang="ja-JP" altLang="en-US"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1996</a:t>
                      </a:r>
                      <a:endParaRPr kumimoji="1" lang="ja-JP" altLang="en-US" sz="1400" dirty="0"/>
                    </a:p>
                  </a:txBody>
                  <a:tcPr/>
                </a:tc>
                <a:tc>
                  <a:txBody>
                    <a:bodyPr/>
                    <a:lstStyle/>
                    <a:p>
                      <a:pPr algn="ctr"/>
                      <a:r>
                        <a:rPr kumimoji="1" lang="en-US" altLang="ja-JP" sz="1400" dirty="0"/>
                        <a:t>2072</a:t>
                      </a:r>
                      <a:endParaRPr kumimoji="1" lang="ja-JP" altLang="en-US" sz="1400" dirty="0"/>
                    </a:p>
                  </a:txBody>
                  <a:tcPr/>
                </a:tc>
                <a:extLst>
                  <a:ext uri="{0D108BD9-81ED-4DB2-BD59-A6C34878D82A}">
                    <a16:rowId xmlns:a16="http://schemas.microsoft.com/office/drawing/2014/main" val="336765877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増加率（</a:t>
                      </a:r>
                      <a:r>
                        <a:rPr kumimoji="1" lang="en-US" altLang="ja-JP" sz="1400" dirty="0"/>
                        <a:t>GB</a:t>
                      </a:r>
                      <a:r>
                        <a:rPr kumimoji="1" lang="ja-JP" altLang="en-US" sz="1400"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t>ー</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aseline="0" dirty="0">
                          <a:solidFill>
                            <a:schemeClr val="tx1"/>
                          </a:solidFill>
                        </a:rPr>
                        <a:t>0.04</a:t>
                      </a:r>
                      <a:endParaRPr kumimoji="1" lang="ja-JP" altLang="en-US" sz="1400" baseline="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aseline="0" dirty="0">
                          <a:solidFill>
                            <a:schemeClr val="tx1"/>
                          </a:solidFill>
                        </a:rPr>
                        <a:t>0.04</a:t>
                      </a:r>
                      <a:endParaRPr kumimoji="1" lang="ja-JP" altLang="en-US" sz="1400" baseline="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aseline="0" dirty="0">
                          <a:solidFill>
                            <a:schemeClr val="tx1"/>
                          </a:solidFill>
                        </a:rPr>
                        <a:t>0.04</a:t>
                      </a:r>
                      <a:endParaRPr kumimoji="1" lang="ja-JP" altLang="en-US" sz="1400" baseline="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aseline="0" dirty="0">
                          <a:solidFill>
                            <a:schemeClr val="tx1"/>
                          </a:solidFill>
                        </a:rPr>
                        <a:t>0.04</a:t>
                      </a:r>
                      <a:endParaRPr kumimoji="1" lang="ja-JP" altLang="en-US" sz="1400" baseline="0" dirty="0">
                        <a:solidFill>
                          <a:schemeClr val="tx1"/>
                        </a:solidFill>
                      </a:endParaRPr>
                    </a:p>
                  </a:txBody>
                  <a:tcPr/>
                </a:tc>
                <a:extLst>
                  <a:ext uri="{0D108BD9-81ED-4DB2-BD59-A6C34878D82A}">
                    <a16:rowId xmlns:a16="http://schemas.microsoft.com/office/drawing/2014/main" val="1376111490"/>
                  </a:ext>
                </a:extLst>
              </a:tr>
            </a:tbl>
          </a:graphicData>
        </a:graphic>
      </p:graphicFrame>
      <p:sp>
        <p:nvSpPr>
          <p:cNvPr id="3" name="テキスト ボックス 2">
            <a:extLst>
              <a:ext uri="{FF2B5EF4-FFF2-40B4-BE49-F238E27FC236}">
                <a16:creationId xmlns:a16="http://schemas.microsoft.com/office/drawing/2014/main" id="{573ADE81-A3D8-43E4-6C6B-E0938F64586A}"/>
              </a:ext>
            </a:extLst>
          </p:cNvPr>
          <p:cNvSpPr txBox="1"/>
          <p:nvPr/>
        </p:nvSpPr>
        <p:spPr>
          <a:xfrm>
            <a:off x="413027" y="961392"/>
            <a:ext cx="11125257" cy="923330"/>
          </a:xfrm>
          <a:prstGeom prst="rect">
            <a:avLst/>
          </a:prstGeom>
          <a:noFill/>
        </p:spPr>
        <p:txBody>
          <a:bodyPr wrap="square" rtlCol="0">
            <a:spAutoFit/>
          </a:bodyPr>
          <a:lstStyle/>
          <a:p>
            <a:r>
              <a:rPr lang="ja-JP" altLang="en-US" b="1" dirty="0"/>
              <a:t>眠りスキャン</a:t>
            </a:r>
            <a:r>
              <a:rPr kumimoji="1" lang="ja-JP" altLang="en-US" b="1" dirty="0"/>
              <a:t>（プロジェクト単位）：</a:t>
            </a:r>
            <a:endParaRPr kumimoji="1" lang="en-US" altLang="ja-JP" b="1" dirty="0"/>
          </a:p>
          <a:p>
            <a:r>
              <a:rPr lang="ja-JP" altLang="en-US" dirty="0"/>
              <a:t>バッチ時間は </a:t>
            </a:r>
            <a:r>
              <a:rPr lang="en-US" altLang="ja-JP" dirty="0"/>
              <a:t>200</a:t>
            </a:r>
            <a:r>
              <a:rPr lang="ja-JP" altLang="en-US" dirty="0"/>
              <a:t>秒台 と安定して推移している。</a:t>
            </a:r>
            <a:br>
              <a:rPr lang="ja-JP" altLang="en-US" dirty="0"/>
            </a:br>
            <a:r>
              <a:rPr lang="ja-JP" altLang="en-US" dirty="0"/>
              <a:t>ストレージは </a:t>
            </a:r>
            <a:r>
              <a:rPr lang="en-US" altLang="ja-JP" dirty="0"/>
              <a:t>1,773GB</a:t>
            </a:r>
            <a:r>
              <a:rPr lang="ja-JP" altLang="en-US" dirty="0"/>
              <a:t>から</a:t>
            </a:r>
            <a:r>
              <a:rPr lang="en-US" altLang="ja-JP" dirty="0"/>
              <a:t>2,072GB</a:t>
            </a:r>
            <a:r>
              <a:rPr lang="ja-JP" altLang="en-US" dirty="0"/>
              <a:t> へ緩やかに増加しており、増加率は概ね </a:t>
            </a:r>
            <a:r>
              <a:rPr lang="en-US" altLang="ja-JP" dirty="0"/>
              <a:t>4%</a:t>
            </a:r>
            <a:r>
              <a:rPr lang="ja-JP" altLang="en-US" dirty="0"/>
              <a:t>前後 で安定している。</a:t>
            </a:r>
            <a:endParaRPr kumimoji="1" lang="en-US" altLang="ja-JP" dirty="0"/>
          </a:p>
        </p:txBody>
      </p:sp>
    </p:spTree>
    <p:extLst>
      <p:ext uri="{BB962C8B-B14F-4D97-AF65-F5344CB8AC3E}">
        <p14:creationId xmlns:p14="http://schemas.microsoft.com/office/powerpoint/2010/main" val="36915205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573ADE81-A3D8-43E4-6C6B-E0938F64586A}"/>
              </a:ext>
            </a:extLst>
          </p:cNvPr>
          <p:cNvSpPr txBox="1"/>
          <p:nvPr/>
        </p:nvSpPr>
        <p:spPr>
          <a:xfrm>
            <a:off x="307229" y="921635"/>
            <a:ext cx="11418514" cy="3816429"/>
          </a:xfrm>
          <a:prstGeom prst="rect">
            <a:avLst/>
          </a:prstGeom>
          <a:noFill/>
        </p:spPr>
        <p:txBody>
          <a:bodyPr wrap="square" rtlCol="0">
            <a:spAutoFit/>
          </a:bodyPr>
          <a:lstStyle/>
          <a:p>
            <a:r>
              <a:rPr kumimoji="1" lang="ja-JP" altLang="en-US" b="1" dirty="0"/>
              <a:t>眠りスキャン（処理概要）：</a:t>
            </a:r>
            <a:endParaRPr kumimoji="1" lang="en-US" altLang="ja-JP" b="1" dirty="0"/>
          </a:p>
          <a:p>
            <a:r>
              <a:rPr lang="ja-JP" altLang="en-US" sz="1600" dirty="0"/>
              <a:t>複数の施設から収集されるセンターデータを自動で処理し、分析に活用できるデータセットへと変換するデータパイプラインを構築している。</a:t>
            </a:r>
            <a:endParaRPr lang="en-US" altLang="ja-JP" sz="1600" dirty="0"/>
          </a:p>
          <a:p>
            <a:endParaRPr kumimoji="1" lang="en-US" altLang="ja-JP" sz="1600" dirty="0"/>
          </a:p>
          <a:p>
            <a:r>
              <a:rPr kumimoji="1" lang="ja-JP" altLang="en-US" sz="1600" u="sng" dirty="0"/>
              <a:t>第</a:t>
            </a:r>
            <a:r>
              <a:rPr kumimoji="1" lang="en-US" altLang="ja-JP" sz="1600" u="sng" dirty="0"/>
              <a:t>1</a:t>
            </a:r>
            <a:r>
              <a:rPr kumimoji="1" lang="ja-JP" altLang="en-US" sz="1600" u="sng" dirty="0"/>
              <a:t>段階：データ取込</a:t>
            </a:r>
            <a:endParaRPr lang="en-US" altLang="ja-JP" sz="1600" u="sng" dirty="0"/>
          </a:p>
          <a:p>
            <a:r>
              <a:rPr lang="ja-JP" altLang="en-US" sz="1600" dirty="0"/>
              <a:t>・</a:t>
            </a:r>
            <a:r>
              <a:rPr lang="en-US" altLang="ja-JP" sz="1600" dirty="0"/>
              <a:t> Incremental</a:t>
            </a:r>
            <a:r>
              <a:rPr lang="ja-JP" altLang="en-US" sz="1600" dirty="0"/>
              <a:t>更新。</a:t>
            </a:r>
            <a:r>
              <a:rPr lang="en-US" altLang="ja-JP" sz="1600" dirty="0"/>
              <a:t> .tar.gz</a:t>
            </a:r>
            <a:r>
              <a:rPr lang="ja-JP" altLang="en-US" sz="1600" dirty="0"/>
              <a:t>ファイルを解凍し、個別の</a:t>
            </a:r>
            <a:r>
              <a:rPr lang="en-US" altLang="ja-JP" sz="1600" dirty="0"/>
              <a:t>csv</a:t>
            </a:r>
            <a:r>
              <a:rPr lang="ja-JP" altLang="en-US" sz="1600" dirty="0"/>
              <a:t>ファイルを取り出す。各</a:t>
            </a:r>
            <a:r>
              <a:rPr lang="en-US" altLang="ja-JP" sz="1600" dirty="0"/>
              <a:t>csv</a:t>
            </a:r>
            <a:r>
              <a:rPr lang="ja-JP" altLang="en-US" sz="1600" dirty="0"/>
              <a:t>を「ヘッダー」「サマリー」「時系列データ」の</a:t>
            </a:r>
            <a:r>
              <a:rPr lang="en-US" altLang="ja-JP" sz="1600" dirty="0"/>
              <a:t>3</a:t>
            </a:r>
            <a:r>
              <a:rPr lang="ja-JP" altLang="en-US" sz="1600" dirty="0"/>
              <a:t>種類にパースする。高速な</a:t>
            </a:r>
            <a:r>
              <a:rPr lang="en-US" altLang="ja-JP" sz="1600" dirty="0"/>
              <a:t>Java(Spark)</a:t>
            </a:r>
            <a:r>
              <a:rPr lang="ja-JP" altLang="en-US" sz="1600" dirty="0"/>
              <a:t>により、大量データを効率的に取込み。</a:t>
            </a:r>
            <a:endParaRPr lang="en-US" altLang="ja-JP" sz="1600" dirty="0"/>
          </a:p>
          <a:p>
            <a:endParaRPr lang="en-US" altLang="ja-JP" sz="1600" dirty="0"/>
          </a:p>
          <a:p>
            <a:r>
              <a:rPr kumimoji="1" lang="ja-JP" altLang="en-US" sz="1600" u="sng" dirty="0"/>
              <a:t>第</a:t>
            </a:r>
            <a:r>
              <a:rPr lang="en-US" altLang="ja-JP" sz="1600" u="sng" dirty="0"/>
              <a:t>2</a:t>
            </a:r>
            <a:r>
              <a:rPr kumimoji="1" lang="ja-JP" altLang="en-US" sz="1600" u="sng" dirty="0"/>
              <a:t>段階：整形（第</a:t>
            </a:r>
            <a:r>
              <a:rPr kumimoji="1" lang="en-US" altLang="ja-JP" sz="1600" u="sng" dirty="0"/>
              <a:t>2</a:t>
            </a:r>
            <a:r>
              <a:rPr kumimoji="1" lang="ja-JP" altLang="en-US" sz="1600" u="sng" dirty="0"/>
              <a:t>段階以降は</a:t>
            </a:r>
            <a:r>
              <a:rPr kumimoji="1" lang="en-US" altLang="ja-JP" sz="1600" u="sng" dirty="0"/>
              <a:t>python)</a:t>
            </a:r>
            <a:endParaRPr lang="en-US" altLang="ja-JP" sz="1600" u="sng" dirty="0"/>
          </a:p>
          <a:p>
            <a:r>
              <a:rPr lang="ja-JP" altLang="en-US" sz="1600" dirty="0"/>
              <a:t>・分析で使いやすいように、日次集計データの型を整える。</a:t>
            </a:r>
            <a:endParaRPr lang="en-US" altLang="ja-JP" sz="1600" dirty="0"/>
          </a:p>
          <a:p>
            <a:r>
              <a:rPr lang="ja-JP" altLang="en-US" sz="1600" dirty="0"/>
              <a:t>・取込みファイルのファイルパスの命名規則より正規表現で解析し「施設</a:t>
            </a:r>
            <a:r>
              <a:rPr lang="en-US" altLang="ja-JP" sz="1600" dirty="0"/>
              <a:t>ID</a:t>
            </a:r>
            <a:r>
              <a:rPr lang="ja-JP" altLang="en-US" sz="1600" dirty="0"/>
              <a:t>」「施設名」「部屋番号」「利用者名」などを抽出する。</a:t>
            </a:r>
            <a:endParaRPr lang="en-US" altLang="ja-JP" sz="1600" dirty="0"/>
          </a:p>
          <a:p>
            <a:r>
              <a:rPr lang="ja-JP" altLang="en-US" sz="1600" dirty="0"/>
              <a:t>・同一利用者の同一時間のデータが重複しないよう抽出。</a:t>
            </a:r>
            <a:endParaRPr lang="en-US" altLang="ja-JP" sz="1600" dirty="0"/>
          </a:p>
          <a:p>
            <a:endParaRPr lang="en-US" altLang="ja-JP" sz="1600" dirty="0"/>
          </a:p>
          <a:p>
            <a:endParaRPr lang="en-US" altLang="ja-JP" sz="1600" u="sng" dirty="0"/>
          </a:p>
        </p:txBody>
      </p:sp>
    </p:spTree>
    <p:extLst>
      <p:ext uri="{BB962C8B-B14F-4D97-AF65-F5344CB8AC3E}">
        <p14:creationId xmlns:p14="http://schemas.microsoft.com/office/powerpoint/2010/main" val="6818892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 7">
            <a:extLst>
              <a:ext uri="{FF2B5EF4-FFF2-40B4-BE49-F238E27FC236}">
                <a16:creationId xmlns:a16="http://schemas.microsoft.com/office/drawing/2014/main" id="{599A95D3-AB2B-101C-82D7-1D238875D0A7}"/>
              </a:ext>
            </a:extLst>
          </p:cNvPr>
          <p:cNvGraphicFramePr>
            <a:graphicFrameLocks noGrp="1"/>
          </p:cNvGraphicFramePr>
          <p:nvPr/>
        </p:nvGraphicFramePr>
        <p:xfrm>
          <a:off x="506017" y="3187247"/>
          <a:ext cx="11365945" cy="1854200"/>
        </p:xfrm>
        <a:graphic>
          <a:graphicData uri="http://schemas.openxmlformats.org/drawingml/2006/table">
            <a:tbl>
              <a:tblPr firstRow="1" bandRow="1">
                <a:tableStyleId>{5C22544A-7EE6-4342-B048-85BDC9FD1C3A}</a:tableStyleId>
              </a:tblPr>
              <a:tblGrid>
                <a:gridCol w="2107230">
                  <a:extLst>
                    <a:ext uri="{9D8B030D-6E8A-4147-A177-3AD203B41FA5}">
                      <a16:colId xmlns:a16="http://schemas.microsoft.com/office/drawing/2014/main" val="3219167172"/>
                    </a:ext>
                  </a:extLst>
                </a:gridCol>
                <a:gridCol w="1851743">
                  <a:extLst>
                    <a:ext uri="{9D8B030D-6E8A-4147-A177-3AD203B41FA5}">
                      <a16:colId xmlns:a16="http://schemas.microsoft.com/office/drawing/2014/main" val="3613030092"/>
                    </a:ext>
                  </a:extLst>
                </a:gridCol>
                <a:gridCol w="1851743">
                  <a:extLst>
                    <a:ext uri="{9D8B030D-6E8A-4147-A177-3AD203B41FA5}">
                      <a16:colId xmlns:a16="http://schemas.microsoft.com/office/drawing/2014/main" val="1897280176"/>
                    </a:ext>
                  </a:extLst>
                </a:gridCol>
                <a:gridCol w="1851743">
                  <a:extLst>
                    <a:ext uri="{9D8B030D-6E8A-4147-A177-3AD203B41FA5}">
                      <a16:colId xmlns:a16="http://schemas.microsoft.com/office/drawing/2014/main" val="268246374"/>
                    </a:ext>
                  </a:extLst>
                </a:gridCol>
                <a:gridCol w="1851743">
                  <a:extLst>
                    <a:ext uri="{9D8B030D-6E8A-4147-A177-3AD203B41FA5}">
                      <a16:colId xmlns:a16="http://schemas.microsoft.com/office/drawing/2014/main" val="2535013891"/>
                    </a:ext>
                  </a:extLst>
                </a:gridCol>
                <a:gridCol w="1851743">
                  <a:extLst>
                    <a:ext uri="{9D8B030D-6E8A-4147-A177-3AD203B41FA5}">
                      <a16:colId xmlns:a16="http://schemas.microsoft.com/office/drawing/2014/main" val="3200228194"/>
                    </a:ext>
                  </a:extLst>
                </a:gridCol>
              </a:tblGrid>
              <a:tr h="370840">
                <a:tc>
                  <a:txBody>
                    <a:bodyPr/>
                    <a:lstStyle/>
                    <a:p>
                      <a:pPr algn="ctr"/>
                      <a:endParaRPr kumimoji="1" lang="ja-JP" altLang="en-US" sz="1200" dirty="0"/>
                    </a:p>
                  </a:txBody>
                  <a:tcPr/>
                </a:tc>
                <a:tc>
                  <a:txBody>
                    <a:bodyPr/>
                    <a:lstStyle/>
                    <a:p>
                      <a:pPr algn="ctr"/>
                      <a:r>
                        <a:rPr kumimoji="1" lang="en-US" altLang="ja-JP" sz="1200" dirty="0"/>
                        <a:t>2025</a:t>
                      </a:r>
                      <a:r>
                        <a:rPr kumimoji="1" lang="ja-JP" altLang="en-US" sz="1200" dirty="0"/>
                        <a:t>年</a:t>
                      </a:r>
                      <a:r>
                        <a:rPr kumimoji="1" lang="en-US" altLang="ja-JP" sz="1200" dirty="0"/>
                        <a:t>4</a:t>
                      </a:r>
                      <a:r>
                        <a:rPr kumimoji="1" lang="ja-JP" altLang="en-US" sz="1200" dirty="0"/>
                        <a:t>月</a:t>
                      </a:r>
                    </a:p>
                  </a:txBody>
                  <a:tcPr/>
                </a:tc>
                <a:tc>
                  <a:txBody>
                    <a:bodyPr/>
                    <a:lstStyle/>
                    <a:p>
                      <a:pPr algn="ctr"/>
                      <a:r>
                        <a:rPr kumimoji="1" lang="en-US" altLang="ja-JP" sz="1200" dirty="0"/>
                        <a:t>2025</a:t>
                      </a:r>
                      <a:r>
                        <a:rPr kumimoji="1" lang="ja-JP" altLang="en-US" sz="1200" dirty="0"/>
                        <a:t>年</a:t>
                      </a:r>
                      <a:r>
                        <a:rPr kumimoji="1" lang="en-US" altLang="ja-JP" sz="1200" dirty="0"/>
                        <a:t>5</a:t>
                      </a:r>
                      <a:r>
                        <a:rPr kumimoji="1" lang="ja-JP" altLang="en-US" sz="1200" dirty="0"/>
                        <a:t>月</a:t>
                      </a:r>
                    </a:p>
                  </a:txBody>
                  <a:tcPr/>
                </a:tc>
                <a:tc>
                  <a:txBody>
                    <a:bodyPr/>
                    <a:lstStyle/>
                    <a:p>
                      <a:pPr algn="ctr"/>
                      <a:r>
                        <a:rPr kumimoji="1" lang="en-US" altLang="ja-JP" sz="1200" dirty="0"/>
                        <a:t>2025</a:t>
                      </a:r>
                      <a:r>
                        <a:rPr kumimoji="1" lang="ja-JP" altLang="en-US" sz="1200" dirty="0"/>
                        <a:t>年</a:t>
                      </a:r>
                      <a:r>
                        <a:rPr kumimoji="1" lang="en-US" altLang="ja-JP" sz="1200" dirty="0"/>
                        <a:t>6</a:t>
                      </a:r>
                      <a:r>
                        <a:rPr kumimoji="1" lang="ja-JP" altLang="en-US" sz="1200" dirty="0"/>
                        <a:t>月</a:t>
                      </a:r>
                    </a:p>
                  </a:txBody>
                  <a:tcPr/>
                </a:tc>
                <a:tc>
                  <a:txBody>
                    <a:bodyPr/>
                    <a:lstStyle/>
                    <a:p>
                      <a:pPr algn="ctr"/>
                      <a:r>
                        <a:rPr kumimoji="1" lang="en-US" altLang="ja-JP" sz="1200" dirty="0"/>
                        <a:t>2025</a:t>
                      </a:r>
                      <a:r>
                        <a:rPr kumimoji="1" lang="ja-JP" altLang="en-US" sz="1200" dirty="0"/>
                        <a:t>年</a:t>
                      </a:r>
                      <a:r>
                        <a:rPr kumimoji="1" lang="en-US" altLang="ja-JP" sz="1200" dirty="0"/>
                        <a:t>7</a:t>
                      </a:r>
                      <a:r>
                        <a:rPr kumimoji="1" lang="ja-JP" altLang="en-US" sz="1200" dirty="0"/>
                        <a:t>月</a:t>
                      </a:r>
                    </a:p>
                  </a:txBody>
                  <a:tcPr/>
                </a:tc>
                <a:tc>
                  <a:txBody>
                    <a:bodyPr/>
                    <a:lstStyle/>
                    <a:p>
                      <a:pPr algn="ctr"/>
                      <a:r>
                        <a:rPr kumimoji="1" lang="en-US" altLang="ja-JP" sz="1200" dirty="0"/>
                        <a:t>2025</a:t>
                      </a:r>
                      <a:r>
                        <a:rPr kumimoji="1" lang="ja-JP" altLang="en-US" sz="1200" dirty="0"/>
                        <a:t>年</a:t>
                      </a:r>
                      <a:r>
                        <a:rPr kumimoji="1" lang="en-US" altLang="ja-JP" sz="1200" dirty="0"/>
                        <a:t>8</a:t>
                      </a:r>
                      <a:r>
                        <a:rPr kumimoji="1" lang="ja-JP" altLang="en-US" sz="1200" dirty="0"/>
                        <a:t>月</a:t>
                      </a:r>
                      <a:endParaRPr kumimoji="1" lang="en-US" altLang="ja-JP" sz="1200" dirty="0"/>
                    </a:p>
                  </a:txBody>
                  <a:tcPr/>
                </a:tc>
                <a:extLst>
                  <a:ext uri="{0D108BD9-81ED-4DB2-BD59-A6C34878D82A}">
                    <a16:rowId xmlns:a16="http://schemas.microsoft.com/office/drawing/2014/main" val="7335132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バッチ時間（秒）</a:t>
                      </a:r>
                    </a:p>
                  </a:txBody>
                  <a:tcPr/>
                </a:tc>
                <a:tc>
                  <a:txBody>
                    <a:bodyPr/>
                    <a:lstStyle/>
                    <a:p>
                      <a:pPr algn="ctr"/>
                      <a:r>
                        <a:rPr kumimoji="1" lang="en-US" altLang="ja-JP" sz="1400" dirty="0"/>
                        <a:t>77</a:t>
                      </a:r>
                      <a:endParaRPr kumimoji="1" lang="ja-JP" altLang="en-US" sz="1400" dirty="0"/>
                    </a:p>
                  </a:txBody>
                  <a:tcPr/>
                </a:tc>
                <a:tc>
                  <a:txBody>
                    <a:bodyPr/>
                    <a:lstStyle/>
                    <a:p>
                      <a:pPr algn="ctr"/>
                      <a:r>
                        <a:rPr kumimoji="1" lang="en-US" altLang="ja-JP" sz="1400" dirty="0"/>
                        <a:t>94</a:t>
                      </a:r>
                      <a:endParaRPr kumimoji="1" lang="ja-JP" altLang="en-US" sz="1400" dirty="0"/>
                    </a:p>
                  </a:txBody>
                  <a:tcPr/>
                </a:tc>
                <a:tc>
                  <a:txBody>
                    <a:bodyPr/>
                    <a:lstStyle/>
                    <a:p>
                      <a:pPr algn="ctr"/>
                      <a:r>
                        <a:rPr kumimoji="1" lang="en-US" altLang="ja-JP" sz="1400" dirty="0"/>
                        <a:t>93</a:t>
                      </a:r>
                      <a:endParaRPr kumimoji="1" lang="ja-JP" altLang="en-US" sz="1400" dirty="0"/>
                    </a:p>
                  </a:txBody>
                  <a:tcPr/>
                </a:tc>
                <a:tc>
                  <a:txBody>
                    <a:bodyPr/>
                    <a:lstStyle/>
                    <a:p>
                      <a:pPr algn="ctr"/>
                      <a:r>
                        <a:rPr kumimoji="1" lang="en-US" altLang="ja-JP" sz="1400" dirty="0"/>
                        <a:t>79</a:t>
                      </a:r>
                      <a:endParaRPr kumimoji="1" lang="ja-JP" altLang="en-US" sz="1400" dirty="0"/>
                    </a:p>
                  </a:txBody>
                  <a:tcPr/>
                </a:tc>
                <a:tc>
                  <a:txBody>
                    <a:bodyPr/>
                    <a:lstStyle/>
                    <a:p>
                      <a:pPr algn="ctr"/>
                      <a:r>
                        <a:rPr kumimoji="1" lang="en-US" altLang="ja-JP" sz="1400" dirty="0"/>
                        <a:t>74</a:t>
                      </a:r>
                      <a:endParaRPr kumimoji="1" lang="ja-JP" altLang="en-US" sz="1400" dirty="0"/>
                    </a:p>
                  </a:txBody>
                  <a:tcPr/>
                </a:tc>
                <a:extLst>
                  <a:ext uri="{0D108BD9-81ED-4DB2-BD59-A6C34878D82A}">
                    <a16:rowId xmlns:a16="http://schemas.microsoft.com/office/drawing/2014/main" val="147578453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増加率（秒）</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t>ー</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0.22</a:t>
                      </a:r>
                      <a:endParaRPr kumimoji="1" lang="ja-JP" altLang="en-US"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rgbClr val="FF0000"/>
                          </a:solidFill>
                        </a:rPr>
                        <a:t>-0.01</a:t>
                      </a:r>
                      <a:endParaRPr kumimoji="1" lang="ja-JP" altLang="en-US" sz="1400" dirty="0">
                        <a:solidFill>
                          <a:srgbClr val="FF0000"/>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rgbClr val="FF0000"/>
                          </a:solidFill>
                        </a:rPr>
                        <a:t>-0.15</a:t>
                      </a:r>
                      <a:endParaRPr kumimoji="1" lang="ja-JP" altLang="en-US" sz="1400" dirty="0">
                        <a:solidFill>
                          <a:srgbClr val="FF0000"/>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rgbClr val="FF0000"/>
                          </a:solidFill>
                        </a:rPr>
                        <a:t>-0.06</a:t>
                      </a:r>
                      <a:endParaRPr kumimoji="1" lang="ja-JP" altLang="en-US" sz="1400" dirty="0">
                        <a:solidFill>
                          <a:srgbClr val="FF0000"/>
                        </a:solidFill>
                      </a:endParaRPr>
                    </a:p>
                  </a:txBody>
                  <a:tcPr/>
                </a:tc>
                <a:extLst>
                  <a:ext uri="{0D108BD9-81ED-4DB2-BD59-A6C34878D82A}">
                    <a16:rowId xmlns:a16="http://schemas.microsoft.com/office/drawing/2014/main" val="289903325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ストレージ（</a:t>
                      </a:r>
                      <a:r>
                        <a:rPr kumimoji="1" lang="en-US" altLang="ja-JP" sz="1400" dirty="0"/>
                        <a:t>GB</a:t>
                      </a:r>
                      <a:r>
                        <a:rPr kumimoji="1" lang="ja-JP" altLang="en-US" sz="1400" dirty="0"/>
                        <a:t>）</a:t>
                      </a:r>
                    </a:p>
                  </a:txBody>
                  <a:tcPr/>
                </a:tc>
                <a:tc>
                  <a:txBody>
                    <a:bodyPr/>
                    <a:lstStyle/>
                    <a:p>
                      <a:pPr algn="ctr"/>
                      <a:r>
                        <a:rPr kumimoji="1" lang="en-US" altLang="ja-JP" sz="1400" dirty="0"/>
                        <a:t>39</a:t>
                      </a:r>
                      <a:endParaRPr kumimoji="1" lang="ja-JP" altLang="en-US" sz="1400" dirty="0"/>
                    </a:p>
                  </a:txBody>
                  <a:tcPr/>
                </a:tc>
                <a:tc>
                  <a:txBody>
                    <a:bodyPr/>
                    <a:lstStyle/>
                    <a:p>
                      <a:pPr algn="ctr"/>
                      <a:r>
                        <a:rPr kumimoji="1" lang="en-US" altLang="ja-JP" sz="1400" dirty="0"/>
                        <a:t>42</a:t>
                      </a:r>
                      <a:endParaRPr kumimoji="1" lang="ja-JP" altLang="en-US" sz="1400" dirty="0"/>
                    </a:p>
                  </a:txBody>
                  <a:tcPr/>
                </a:tc>
                <a:tc>
                  <a:txBody>
                    <a:bodyPr/>
                    <a:lstStyle/>
                    <a:p>
                      <a:pPr algn="ctr"/>
                      <a:r>
                        <a:rPr kumimoji="1" lang="en-US" altLang="ja-JP" sz="1400" dirty="0"/>
                        <a:t>46</a:t>
                      </a:r>
                      <a:endParaRPr kumimoji="1" lang="ja-JP" altLang="en-US"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50</a:t>
                      </a:r>
                      <a:endParaRPr kumimoji="1" lang="ja-JP" altLang="en-US" sz="1400" dirty="0"/>
                    </a:p>
                  </a:txBody>
                  <a:tcPr/>
                </a:tc>
                <a:tc>
                  <a:txBody>
                    <a:bodyPr/>
                    <a:lstStyle/>
                    <a:p>
                      <a:pPr algn="ctr"/>
                      <a:r>
                        <a:rPr kumimoji="1" lang="en-US" altLang="ja-JP" sz="1400" dirty="0"/>
                        <a:t>46</a:t>
                      </a:r>
                      <a:endParaRPr kumimoji="1" lang="ja-JP" altLang="en-US" sz="1400" dirty="0"/>
                    </a:p>
                  </a:txBody>
                  <a:tcPr/>
                </a:tc>
                <a:extLst>
                  <a:ext uri="{0D108BD9-81ED-4DB2-BD59-A6C34878D82A}">
                    <a16:rowId xmlns:a16="http://schemas.microsoft.com/office/drawing/2014/main" val="336765877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増加率（</a:t>
                      </a:r>
                      <a:r>
                        <a:rPr kumimoji="1" lang="en-US" altLang="ja-JP" sz="1400" dirty="0"/>
                        <a:t>GB</a:t>
                      </a:r>
                      <a:r>
                        <a:rPr kumimoji="1" lang="ja-JP" altLang="en-US" sz="1400"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t>ー</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aseline="0" dirty="0">
                          <a:solidFill>
                            <a:schemeClr val="tx1"/>
                          </a:solidFill>
                        </a:rPr>
                        <a:t>0.08</a:t>
                      </a:r>
                      <a:endParaRPr kumimoji="1" lang="ja-JP" altLang="en-US" sz="1400" baseline="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aseline="0" dirty="0">
                          <a:solidFill>
                            <a:schemeClr val="tx1"/>
                          </a:solidFill>
                        </a:rPr>
                        <a:t>0.10</a:t>
                      </a:r>
                      <a:endParaRPr kumimoji="1" lang="ja-JP" altLang="en-US" sz="1400" baseline="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aseline="0" dirty="0">
                          <a:solidFill>
                            <a:schemeClr val="tx1"/>
                          </a:solidFill>
                        </a:rPr>
                        <a:t>0.09</a:t>
                      </a:r>
                      <a:endParaRPr kumimoji="1" lang="ja-JP" altLang="en-US" sz="1400" baseline="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aseline="0" dirty="0">
                          <a:solidFill>
                            <a:srgbClr val="FF0000"/>
                          </a:solidFill>
                        </a:rPr>
                        <a:t>-0.08</a:t>
                      </a:r>
                      <a:endParaRPr kumimoji="1" lang="ja-JP" altLang="en-US" sz="1400" baseline="0" dirty="0">
                        <a:solidFill>
                          <a:srgbClr val="FF0000"/>
                        </a:solidFill>
                      </a:endParaRPr>
                    </a:p>
                  </a:txBody>
                  <a:tcPr/>
                </a:tc>
                <a:extLst>
                  <a:ext uri="{0D108BD9-81ED-4DB2-BD59-A6C34878D82A}">
                    <a16:rowId xmlns:a16="http://schemas.microsoft.com/office/drawing/2014/main" val="1376111490"/>
                  </a:ext>
                </a:extLst>
              </a:tr>
            </a:tbl>
          </a:graphicData>
        </a:graphic>
      </p:graphicFrame>
      <p:sp>
        <p:nvSpPr>
          <p:cNvPr id="3" name="テキスト ボックス 2">
            <a:extLst>
              <a:ext uri="{FF2B5EF4-FFF2-40B4-BE49-F238E27FC236}">
                <a16:creationId xmlns:a16="http://schemas.microsoft.com/office/drawing/2014/main" id="{573ADE81-A3D8-43E4-6C6B-E0938F64586A}"/>
              </a:ext>
            </a:extLst>
          </p:cNvPr>
          <p:cNvSpPr txBox="1"/>
          <p:nvPr/>
        </p:nvSpPr>
        <p:spPr>
          <a:xfrm>
            <a:off x="413027" y="961392"/>
            <a:ext cx="11125257" cy="2031325"/>
          </a:xfrm>
          <a:prstGeom prst="rect">
            <a:avLst/>
          </a:prstGeom>
          <a:noFill/>
        </p:spPr>
        <p:txBody>
          <a:bodyPr wrap="square" rtlCol="0">
            <a:spAutoFit/>
          </a:bodyPr>
          <a:lstStyle/>
          <a:p>
            <a:r>
              <a:rPr lang="ja-JP" altLang="en-US" b="1" dirty="0"/>
              <a:t>ナースコール</a:t>
            </a:r>
            <a:r>
              <a:rPr kumimoji="1" lang="ja-JP" altLang="en-US" b="1" dirty="0"/>
              <a:t>（プロジェクト単位）：</a:t>
            </a:r>
            <a:endParaRPr kumimoji="1" lang="en-US" altLang="ja-JP" b="1" dirty="0"/>
          </a:p>
          <a:p>
            <a:r>
              <a:rPr lang="ja-JP" altLang="en-US" dirty="0"/>
              <a:t>バッチ時間は </a:t>
            </a:r>
            <a:r>
              <a:rPr lang="en-US" altLang="ja-JP" dirty="0"/>
              <a:t>77</a:t>
            </a:r>
            <a:r>
              <a:rPr lang="ja-JP" altLang="en-US" dirty="0"/>
              <a:t>～</a:t>
            </a:r>
            <a:r>
              <a:rPr lang="en-US" altLang="ja-JP" dirty="0"/>
              <a:t>94</a:t>
            </a:r>
            <a:r>
              <a:rPr lang="ja-JP" altLang="en-US" dirty="0"/>
              <a:t>秒 の範囲で推移しており、概ね安定している。</a:t>
            </a:r>
            <a:endParaRPr lang="en-US" altLang="ja-JP" dirty="0"/>
          </a:p>
          <a:p>
            <a:r>
              <a:rPr lang="ja-JP" altLang="en-US" dirty="0"/>
              <a:t>ストレージは </a:t>
            </a:r>
            <a:r>
              <a:rPr lang="en-US" altLang="ja-JP" dirty="0"/>
              <a:t>39GB</a:t>
            </a:r>
            <a:r>
              <a:rPr lang="ja-JP" altLang="en-US" dirty="0"/>
              <a:t>から</a:t>
            </a:r>
            <a:r>
              <a:rPr lang="en-US" altLang="ja-JP" dirty="0"/>
              <a:t>50GB</a:t>
            </a:r>
            <a:r>
              <a:rPr lang="ja-JP" altLang="en-US" dirty="0"/>
              <a:t> に増加しており、増加率は </a:t>
            </a:r>
            <a:r>
              <a:rPr lang="en-US" altLang="ja-JP" dirty="0"/>
              <a:t>8</a:t>
            </a:r>
            <a:r>
              <a:rPr lang="ja-JP" altLang="en-US" dirty="0"/>
              <a:t>～</a:t>
            </a:r>
            <a:r>
              <a:rPr lang="en-US" altLang="ja-JP" dirty="0"/>
              <a:t>10%</a:t>
            </a:r>
            <a:r>
              <a:rPr lang="ja-JP" altLang="en-US" dirty="0"/>
              <a:t>前後で推移しているが、</a:t>
            </a:r>
            <a:r>
              <a:rPr lang="en-US" altLang="ja-JP" dirty="0"/>
              <a:t>8</a:t>
            </a:r>
            <a:r>
              <a:rPr lang="ja-JP" altLang="en-US" dirty="0"/>
              <a:t>月にはやや減少している。</a:t>
            </a:r>
          </a:p>
          <a:p>
            <a:r>
              <a:rPr lang="ja-JP" altLang="en-US" dirty="0"/>
              <a:t>これらのことから、バッチ処理時間は概ね安定している一方で、データ蓄積の影響によりストレージ使用量は緩やかに増加している。</a:t>
            </a:r>
          </a:p>
          <a:p>
            <a:endParaRPr kumimoji="1" lang="en-US" altLang="ja-JP" b="1" dirty="0"/>
          </a:p>
        </p:txBody>
      </p:sp>
    </p:spTree>
    <p:extLst>
      <p:ext uri="{BB962C8B-B14F-4D97-AF65-F5344CB8AC3E}">
        <p14:creationId xmlns:p14="http://schemas.microsoft.com/office/powerpoint/2010/main" val="30762731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573ADE81-A3D8-43E4-6C6B-E0938F64586A}"/>
              </a:ext>
            </a:extLst>
          </p:cNvPr>
          <p:cNvSpPr txBox="1"/>
          <p:nvPr/>
        </p:nvSpPr>
        <p:spPr>
          <a:xfrm>
            <a:off x="307229" y="921635"/>
            <a:ext cx="11418514" cy="4062651"/>
          </a:xfrm>
          <a:prstGeom prst="rect">
            <a:avLst/>
          </a:prstGeom>
          <a:noFill/>
        </p:spPr>
        <p:txBody>
          <a:bodyPr wrap="square" rtlCol="0">
            <a:spAutoFit/>
          </a:bodyPr>
          <a:lstStyle/>
          <a:p>
            <a:r>
              <a:rPr lang="ja-JP" altLang="en-US" b="1" dirty="0"/>
              <a:t>ナースコール</a:t>
            </a:r>
            <a:r>
              <a:rPr kumimoji="1" lang="ja-JP" altLang="en-US" b="1" dirty="0"/>
              <a:t>（処理概要）：</a:t>
            </a:r>
            <a:endParaRPr kumimoji="1" lang="en-US" altLang="ja-JP" b="1" dirty="0"/>
          </a:p>
          <a:p>
            <a:r>
              <a:rPr kumimoji="1" lang="ja-JP" altLang="en-US" sz="1600" dirty="0"/>
              <a:t>メーカーごとに形式の異なり、複数の施設から収集される「ナースコールログ」を自動で処理し、横断的な</a:t>
            </a:r>
            <a:r>
              <a:rPr lang="ja-JP" altLang="en-US" sz="1600" dirty="0"/>
              <a:t>分析に活用できるデータセットへと変換するデータパイプラインを構築している。</a:t>
            </a:r>
            <a:endParaRPr kumimoji="1" lang="en-US" altLang="ja-JP" sz="1600" dirty="0"/>
          </a:p>
          <a:p>
            <a:endParaRPr kumimoji="1" lang="en-US" altLang="ja-JP" sz="1600" dirty="0"/>
          </a:p>
          <a:p>
            <a:r>
              <a:rPr kumimoji="1" lang="ja-JP" altLang="en-US" sz="1600" u="sng" dirty="0"/>
              <a:t>第</a:t>
            </a:r>
            <a:r>
              <a:rPr kumimoji="1" lang="en-US" altLang="ja-JP" sz="1600" u="sng" dirty="0"/>
              <a:t>1</a:t>
            </a:r>
            <a:r>
              <a:rPr kumimoji="1" lang="ja-JP" altLang="en-US" sz="1600" u="sng" dirty="0"/>
              <a:t>段階：データ取込</a:t>
            </a:r>
            <a:endParaRPr lang="en-US" altLang="ja-JP" sz="1600" u="sng" dirty="0"/>
          </a:p>
          <a:p>
            <a:r>
              <a:rPr lang="ja-JP" altLang="en-US" sz="1600" dirty="0"/>
              <a:t>・</a:t>
            </a:r>
            <a:r>
              <a:rPr lang="en-US" altLang="ja-JP" sz="1600" dirty="0"/>
              <a:t> Incremental</a:t>
            </a:r>
            <a:r>
              <a:rPr lang="ja-JP" altLang="en-US" sz="1600" dirty="0"/>
              <a:t>更新。</a:t>
            </a:r>
            <a:r>
              <a:rPr lang="en-US" altLang="ja-JP" sz="1600" dirty="0"/>
              <a:t> .tar.gz</a:t>
            </a:r>
            <a:r>
              <a:rPr lang="ja-JP" altLang="en-US" sz="1600" dirty="0"/>
              <a:t>ファイルを解凍し、個別の</a:t>
            </a:r>
            <a:r>
              <a:rPr lang="en-US" altLang="ja-JP" sz="1600" dirty="0"/>
              <a:t>csv</a:t>
            </a:r>
            <a:r>
              <a:rPr lang="ja-JP" altLang="en-US" sz="1600" dirty="0"/>
              <a:t>ファイルを取り出す。データ形式ごとにデータセットを作成。</a:t>
            </a:r>
            <a:endParaRPr lang="en-US" altLang="ja-JP" sz="1600" dirty="0"/>
          </a:p>
          <a:p>
            <a:r>
              <a:rPr lang="ja-JP" altLang="en-US" sz="1600" dirty="0"/>
              <a:t>高速な</a:t>
            </a:r>
            <a:r>
              <a:rPr lang="en-US" altLang="ja-JP" sz="1600" dirty="0"/>
              <a:t>Java(Spark)</a:t>
            </a:r>
            <a:r>
              <a:rPr lang="ja-JP" altLang="en-US" sz="1600" dirty="0"/>
              <a:t>により、大量データを効率的に取込み。</a:t>
            </a:r>
            <a:endParaRPr lang="en-US" altLang="ja-JP" sz="1600" dirty="0"/>
          </a:p>
          <a:p>
            <a:endParaRPr lang="en-US" altLang="ja-JP" sz="1600" dirty="0"/>
          </a:p>
          <a:p>
            <a:r>
              <a:rPr kumimoji="1" lang="ja-JP" altLang="en-US" sz="1600" u="sng" dirty="0"/>
              <a:t>第</a:t>
            </a:r>
            <a:r>
              <a:rPr lang="en-US" altLang="ja-JP" sz="1600" u="sng" dirty="0"/>
              <a:t>2</a:t>
            </a:r>
            <a:r>
              <a:rPr kumimoji="1" lang="ja-JP" altLang="en-US" sz="1600" u="sng" dirty="0"/>
              <a:t>段階：整形（第</a:t>
            </a:r>
            <a:r>
              <a:rPr kumimoji="1" lang="en-US" altLang="ja-JP" sz="1600" u="sng" dirty="0"/>
              <a:t>2</a:t>
            </a:r>
            <a:r>
              <a:rPr kumimoji="1" lang="ja-JP" altLang="en-US" sz="1600" u="sng" dirty="0"/>
              <a:t>段階以降は</a:t>
            </a:r>
            <a:r>
              <a:rPr kumimoji="1" lang="en-US" altLang="ja-JP" sz="1600" u="sng" dirty="0"/>
              <a:t>python)</a:t>
            </a:r>
            <a:endParaRPr lang="en-US" altLang="ja-JP" sz="1600" u="sng" dirty="0"/>
          </a:p>
          <a:p>
            <a:r>
              <a:rPr lang="ja-JP" altLang="en-US" sz="1600" dirty="0"/>
              <a:t>・取込みファイルのファイルパスの命名規則より正規表現で解析し「施設</a:t>
            </a:r>
            <a:r>
              <a:rPr lang="en-US" altLang="ja-JP" sz="1600" dirty="0"/>
              <a:t>ID</a:t>
            </a:r>
            <a:r>
              <a:rPr lang="ja-JP" altLang="en-US" sz="1600" dirty="0"/>
              <a:t>」を抽出。</a:t>
            </a:r>
            <a:endParaRPr lang="en-US" altLang="ja-JP" sz="1600" dirty="0"/>
          </a:p>
          <a:p>
            <a:r>
              <a:rPr lang="ja-JP" altLang="en-US" sz="1600" dirty="0"/>
              <a:t>・分析対象のログにフィルタ。</a:t>
            </a:r>
            <a:endParaRPr lang="en-US" altLang="ja-JP" sz="1600" dirty="0"/>
          </a:p>
          <a:p>
            <a:r>
              <a:rPr lang="ja-JP" altLang="en-US" sz="1600" dirty="0"/>
              <a:t>・全角数字を半角変換し、部屋番号として不適切な値を削除。</a:t>
            </a:r>
            <a:endParaRPr lang="en-US" altLang="ja-JP" sz="1600" dirty="0"/>
          </a:p>
          <a:p>
            <a:r>
              <a:rPr lang="ja-JP" altLang="en-US" sz="1600" dirty="0"/>
              <a:t>・カラム名の統一。部屋番号の特殊な採番ルールに適用。</a:t>
            </a:r>
            <a:endParaRPr lang="en-US" altLang="ja-JP" sz="1600" dirty="0"/>
          </a:p>
          <a:p>
            <a:r>
              <a:rPr lang="ja-JP" altLang="en-US" sz="1600" dirty="0"/>
              <a:t>・ナースコールの日時と部屋番号をキーに、利用者</a:t>
            </a:r>
            <a:r>
              <a:rPr lang="en-US" altLang="ja-JP" sz="1600" dirty="0"/>
              <a:t>ID</a:t>
            </a:r>
            <a:r>
              <a:rPr lang="ja-JP" altLang="en-US" sz="1600" dirty="0"/>
              <a:t>を特定し、ログに追加。</a:t>
            </a:r>
            <a:endParaRPr lang="en-US" altLang="ja-JP" sz="1600" dirty="0"/>
          </a:p>
          <a:p>
            <a:r>
              <a:rPr lang="ja-JP" altLang="en-US" sz="1600" dirty="0"/>
              <a:t>・全てのデータセットを縦に結合し、単一のログを生成。</a:t>
            </a:r>
            <a:endParaRPr lang="en-US" altLang="ja-JP" sz="1600" dirty="0"/>
          </a:p>
          <a:p>
            <a:endParaRPr lang="en-US" altLang="ja-JP" sz="1600" u="sng" dirty="0"/>
          </a:p>
        </p:txBody>
      </p:sp>
    </p:spTree>
    <p:extLst>
      <p:ext uri="{BB962C8B-B14F-4D97-AF65-F5344CB8AC3E}">
        <p14:creationId xmlns:p14="http://schemas.microsoft.com/office/powerpoint/2010/main" val="8999547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表 8">
            <a:extLst>
              <a:ext uri="{FF2B5EF4-FFF2-40B4-BE49-F238E27FC236}">
                <a16:creationId xmlns:a16="http://schemas.microsoft.com/office/drawing/2014/main" id="{BD9F5918-98C1-BF9E-7979-913A46A24413}"/>
              </a:ext>
            </a:extLst>
          </p:cNvPr>
          <p:cNvGraphicFramePr>
            <a:graphicFrameLocks noGrp="1"/>
          </p:cNvGraphicFramePr>
          <p:nvPr/>
        </p:nvGraphicFramePr>
        <p:xfrm>
          <a:off x="600773" y="948862"/>
          <a:ext cx="11010098" cy="5002770"/>
        </p:xfrm>
        <a:graphic>
          <a:graphicData uri="http://schemas.openxmlformats.org/drawingml/2006/table">
            <a:tbl>
              <a:tblPr firstRow="1" bandRow="1">
                <a:tableStyleId>{93296810-A885-4BE3-A3E7-6D5BEEA58F35}</a:tableStyleId>
              </a:tblPr>
              <a:tblGrid>
                <a:gridCol w="354098">
                  <a:extLst>
                    <a:ext uri="{9D8B030D-6E8A-4147-A177-3AD203B41FA5}">
                      <a16:colId xmlns:a16="http://schemas.microsoft.com/office/drawing/2014/main" val="812963202"/>
                    </a:ext>
                  </a:extLst>
                </a:gridCol>
                <a:gridCol w="1116000">
                  <a:extLst>
                    <a:ext uri="{9D8B030D-6E8A-4147-A177-3AD203B41FA5}">
                      <a16:colId xmlns:a16="http://schemas.microsoft.com/office/drawing/2014/main" val="3552761749"/>
                    </a:ext>
                  </a:extLst>
                </a:gridCol>
                <a:gridCol w="2268000">
                  <a:extLst>
                    <a:ext uri="{9D8B030D-6E8A-4147-A177-3AD203B41FA5}">
                      <a16:colId xmlns:a16="http://schemas.microsoft.com/office/drawing/2014/main" val="2979720789"/>
                    </a:ext>
                  </a:extLst>
                </a:gridCol>
                <a:gridCol w="3528000">
                  <a:extLst>
                    <a:ext uri="{9D8B030D-6E8A-4147-A177-3AD203B41FA5}">
                      <a16:colId xmlns:a16="http://schemas.microsoft.com/office/drawing/2014/main" val="22645629"/>
                    </a:ext>
                  </a:extLst>
                </a:gridCol>
                <a:gridCol w="936000">
                  <a:extLst>
                    <a:ext uri="{9D8B030D-6E8A-4147-A177-3AD203B41FA5}">
                      <a16:colId xmlns:a16="http://schemas.microsoft.com/office/drawing/2014/main" val="2105486870"/>
                    </a:ext>
                  </a:extLst>
                </a:gridCol>
                <a:gridCol w="756000">
                  <a:extLst>
                    <a:ext uri="{9D8B030D-6E8A-4147-A177-3AD203B41FA5}">
                      <a16:colId xmlns:a16="http://schemas.microsoft.com/office/drawing/2014/main" val="1011953104"/>
                    </a:ext>
                  </a:extLst>
                </a:gridCol>
                <a:gridCol w="1152000">
                  <a:extLst>
                    <a:ext uri="{9D8B030D-6E8A-4147-A177-3AD203B41FA5}">
                      <a16:colId xmlns:a16="http://schemas.microsoft.com/office/drawing/2014/main" val="3660153348"/>
                    </a:ext>
                  </a:extLst>
                </a:gridCol>
                <a:gridCol w="900000">
                  <a:extLst>
                    <a:ext uri="{9D8B030D-6E8A-4147-A177-3AD203B41FA5}">
                      <a16:colId xmlns:a16="http://schemas.microsoft.com/office/drawing/2014/main" val="3806340882"/>
                    </a:ext>
                  </a:extLst>
                </a:gridCol>
              </a:tblGrid>
              <a:tr h="360850">
                <a:tc>
                  <a:txBody>
                    <a:bodyPr/>
                    <a:lstStyle/>
                    <a:p>
                      <a:pPr algn="ctr" fontAlgn="ctr"/>
                      <a:r>
                        <a:rPr lang="en-US" altLang="ja-JP" sz="1200" b="1" i="0" u="none" strike="noStrike" dirty="0">
                          <a:solidFill>
                            <a:schemeClr val="bg1"/>
                          </a:solidFill>
                          <a:effectLst/>
                          <a:latin typeface="游ゴシック" panose="020B0400000000000000" pitchFamily="50" charset="-128"/>
                          <a:ea typeface="游ゴシック" panose="020B0400000000000000" pitchFamily="50" charset="-128"/>
                        </a:rPr>
                        <a:t>#</a:t>
                      </a:r>
                      <a:endParaRPr lang="ja-JP" altLang="en-US" sz="12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72000" marR="72000" marT="0" marB="0" anchor="ctr"/>
                </a:tc>
                <a:tc>
                  <a:txBody>
                    <a:bodyPr/>
                    <a:lstStyle/>
                    <a:p>
                      <a:pPr algn="ctr" fontAlgn="ctr"/>
                      <a:r>
                        <a:rPr lang="ja-JP" altLang="en-US" sz="1200" b="1" i="0" u="none" strike="noStrike" dirty="0">
                          <a:solidFill>
                            <a:schemeClr val="bg1"/>
                          </a:solidFill>
                          <a:effectLst/>
                          <a:latin typeface="游ゴシック" panose="020B0400000000000000" pitchFamily="50" charset="-128"/>
                          <a:ea typeface="游ゴシック" panose="020B0400000000000000" pitchFamily="50" charset="-128"/>
                        </a:rPr>
                        <a:t>システム名</a:t>
                      </a:r>
                    </a:p>
                  </a:txBody>
                  <a:tcPr marL="72000" marR="72000" marT="0" marB="0" anchor="ctr"/>
                </a:tc>
                <a:tc>
                  <a:txBody>
                    <a:bodyPr/>
                    <a:lstStyle/>
                    <a:p>
                      <a:pPr algn="ctr" fontAlgn="ctr"/>
                      <a:r>
                        <a:rPr lang="ja-JP" altLang="en-US" sz="1200" b="1" i="0" u="none" strike="noStrike" dirty="0">
                          <a:solidFill>
                            <a:schemeClr val="bg1"/>
                          </a:solidFill>
                          <a:effectLst/>
                          <a:latin typeface="游ゴシック" panose="020B0400000000000000" pitchFamily="50" charset="-128"/>
                          <a:ea typeface="游ゴシック" panose="020B0400000000000000" pitchFamily="50" charset="-128"/>
                        </a:rPr>
                        <a:t>データ名</a:t>
                      </a:r>
                    </a:p>
                  </a:txBody>
                  <a:tcPr marL="72000" marR="72000" marT="0" marB="0" anchor="ctr"/>
                </a:tc>
                <a:tc>
                  <a:txBody>
                    <a:bodyPr/>
                    <a:lstStyle/>
                    <a:p>
                      <a:pPr algn="ctr" fontAlgn="ctr"/>
                      <a:r>
                        <a:rPr lang="en-US" altLang="ja-JP" sz="1200" b="1" i="0" u="none" strike="noStrike" dirty="0">
                          <a:solidFill>
                            <a:schemeClr val="bg1"/>
                          </a:solidFill>
                          <a:effectLst/>
                          <a:latin typeface="游ゴシック" panose="020B0400000000000000" pitchFamily="50" charset="-128"/>
                          <a:ea typeface="游ゴシック" panose="020B0400000000000000" pitchFamily="50" charset="-128"/>
                        </a:rPr>
                        <a:t>AI</a:t>
                      </a:r>
                      <a:r>
                        <a:rPr lang="ja-JP" altLang="en-US" sz="1200" b="1" i="0" u="none" strike="noStrike" dirty="0">
                          <a:solidFill>
                            <a:schemeClr val="bg1"/>
                          </a:solidFill>
                          <a:effectLst/>
                          <a:latin typeface="游ゴシック" panose="020B0400000000000000" pitchFamily="50" charset="-128"/>
                          <a:ea typeface="游ゴシック" panose="020B0400000000000000" pitchFamily="50" charset="-128"/>
                        </a:rPr>
                        <a:t>予測モデルの特徴量化対象</a:t>
                      </a:r>
                    </a:p>
                  </a:txBody>
                  <a:tcPr marL="72000" marR="72000" marT="0" marB="0" anchor="ctr"/>
                </a:tc>
                <a:tc>
                  <a:txBody>
                    <a:bodyPr/>
                    <a:lstStyle/>
                    <a:p>
                      <a:pPr algn="ctr" fontAlgn="ctr"/>
                      <a:r>
                        <a:rPr lang="ja-JP" altLang="en-US" sz="1200" b="1" i="0" u="none" strike="noStrike" dirty="0">
                          <a:solidFill>
                            <a:schemeClr val="bg1"/>
                          </a:solidFill>
                          <a:effectLst/>
                          <a:latin typeface="游ゴシック" panose="020B0400000000000000" pitchFamily="50" charset="-128"/>
                          <a:ea typeface="游ゴシック" panose="020B0400000000000000" pitchFamily="50" charset="-128"/>
                        </a:rPr>
                        <a:t>行数</a:t>
                      </a:r>
                      <a:r>
                        <a:rPr lang="en-US" altLang="ja-JP" sz="1200" b="1" i="0" u="none" strike="noStrike" dirty="0">
                          <a:solidFill>
                            <a:schemeClr val="bg1"/>
                          </a:solidFill>
                          <a:effectLst/>
                          <a:latin typeface="游ゴシック" panose="020B0400000000000000" pitchFamily="50" charset="-128"/>
                          <a:ea typeface="游ゴシック" panose="020B0400000000000000" pitchFamily="50" charset="-128"/>
                        </a:rPr>
                        <a:t>(K)</a:t>
                      </a:r>
                      <a:endParaRPr lang="ja-JP" altLang="en-US" sz="12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72000" marR="72000" marT="0" marB="0" anchor="ctr"/>
                </a:tc>
                <a:tc>
                  <a:txBody>
                    <a:bodyPr/>
                    <a:lstStyle/>
                    <a:p>
                      <a:pPr algn="ctr" fontAlgn="ctr"/>
                      <a:r>
                        <a:rPr lang="ja-JP" altLang="en-US" sz="1200" b="1" i="0" u="none" strike="noStrike" dirty="0">
                          <a:solidFill>
                            <a:schemeClr val="bg1"/>
                          </a:solidFill>
                          <a:effectLst/>
                          <a:latin typeface="游ゴシック" panose="020B0400000000000000" pitchFamily="50" charset="-128"/>
                          <a:ea typeface="游ゴシック" panose="020B0400000000000000" pitchFamily="50" charset="-128"/>
                        </a:rPr>
                        <a:t>カラム数</a:t>
                      </a:r>
                    </a:p>
                  </a:txBody>
                  <a:tcPr marL="72000" marR="72000" marT="0" marB="0" anchor="ctr"/>
                </a:tc>
                <a:tc>
                  <a:txBody>
                    <a:bodyPr/>
                    <a:lstStyle/>
                    <a:p>
                      <a:pPr algn="ctr" fontAlgn="ctr"/>
                      <a:r>
                        <a:rPr lang="ja-JP" altLang="en-US" sz="1200" b="1" i="0" u="none" strike="noStrike" dirty="0">
                          <a:solidFill>
                            <a:schemeClr val="bg1"/>
                          </a:solidFill>
                          <a:effectLst/>
                          <a:latin typeface="游ゴシック" panose="020B0400000000000000" pitchFamily="50" charset="-128"/>
                          <a:ea typeface="游ゴシック" panose="020B0400000000000000" pitchFamily="50" charset="-128"/>
                        </a:rPr>
                        <a:t>合計容量 </a:t>
                      </a:r>
                      <a:r>
                        <a:rPr lang="en-US" altLang="ja-JP" sz="1200" b="1" i="0" u="none" strike="noStrike" dirty="0">
                          <a:solidFill>
                            <a:schemeClr val="bg1"/>
                          </a:solidFill>
                          <a:effectLst/>
                          <a:latin typeface="游ゴシック" panose="020B0400000000000000" pitchFamily="50" charset="-128"/>
                          <a:ea typeface="游ゴシック" panose="020B0400000000000000" pitchFamily="50" charset="-128"/>
                        </a:rPr>
                        <a:t>(GB)</a:t>
                      </a:r>
                      <a:endParaRPr lang="ja-JP" altLang="en-US" sz="12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72000" marR="72000" marT="0" marB="0" anchor="ctr"/>
                </a:tc>
                <a:tc>
                  <a:txBody>
                    <a:bodyPr/>
                    <a:lstStyle/>
                    <a:p>
                      <a:pPr algn="ctr" fontAlgn="ctr"/>
                      <a:r>
                        <a:rPr lang="ja-JP" altLang="en-US" sz="1200" b="1" i="0" u="none" strike="noStrike" dirty="0">
                          <a:solidFill>
                            <a:schemeClr val="bg1"/>
                          </a:solidFill>
                          <a:effectLst/>
                          <a:latin typeface="游ゴシック" panose="020B0400000000000000" pitchFamily="50" charset="-128"/>
                          <a:ea typeface="游ゴシック" panose="020B0400000000000000" pitchFamily="50" charset="-128"/>
                        </a:rPr>
                        <a:t>更新頻度</a:t>
                      </a:r>
                    </a:p>
                  </a:txBody>
                  <a:tcPr marL="72000" marR="72000" marT="0" marB="0" anchor="ctr"/>
                </a:tc>
                <a:extLst>
                  <a:ext uri="{0D108BD9-81ED-4DB2-BD59-A6C34878D82A}">
                    <a16:rowId xmlns:a16="http://schemas.microsoft.com/office/drawing/2014/main" val="4174035300"/>
                  </a:ext>
                </a:extLst>
              </a:tr>
              <a:tr h="360850">
                <a:tc>
                  <a:txBody>
                    <a:bodyPr/>
                    <a:lstStyle/>
                    <a:p>
                      <a:pPr algn="ctr"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1</a:t>
                      </a:r>
                    </a:p>
                  </a:txBody>
                  <a:tcPr marL="72000" marR="72000" marT="0" marB="0" anchor="ctr"/>
                </a:tc>
                <a:tc>
                  <a:txBody>
                    <a:bodyPr/>
                    <a:lstStyle/>
                    <a:p>
                      <a:pPr algn="l"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ほのぼの</a:t>
                      </a:r>
                      <a:endParaRPr 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0" marB="0" anchor="ctr"/>
                </a:tc>
                <a:tc>
                  <a:txBody>
                    <a:bodyPr/>
                    <a:lstStyle/>
                    <a:p>
                      <a:pPr algn="l" fontAlgn="ctr"/>
                      <a:r>
                        <a:rPr lang="en-US" sz="1400" b="0" i="0" u="none" strike="noStrike" dirty="0" err="1">
                          <a:solidFill>
                            <a:srgbClr val="000000"/>
                          </a:solidFill>
                          <a:effectLst/>
                          <a:latin typeface="游ゴシック" panose="020B0400000000000000" pitchFamily="50" charset="-128"/>
                          <a:ea typeface="游ゴシック" panose="020B0400000000000000" pitchFamily="50" charset="-128"/>
                        </a:rPr>
                        <a:t>residency_change_history</a:t>
                      </a:r>
                      <a:endParaRPr 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0" marB="0" anchor="ctr"/>
                </a:tc>
                <a:tc>
                  <a:txBody>
                    <a:bodyPr/>
                    <a:lstStyle/>
                    <a:p>
                      <a:pPr algn="l"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入居状況、入院有無</a:t>
                      </a:r>
                      <a:endParaRPr 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0" marB="0" anchor="ctr"/>
                </a:tc>
                <a:tc>
                  <a:txBody>
                    <a:bodyPr/>
                    <a:lstStyle/>
                    <a:p>
                      <a:pPr algn="r"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488</a:t>
                      </a:r>
                    </a:p>
                  </a:txBody>
                  <a:tcPr marL="72000" marR="72000" marT="0" marB="0" anchor="ct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10</a:t>
                      </a:r>
                    </a:p>
                  </a:txBody>
                  <a:tcPr marL="72000" marR="72000" marT="0" marB="0" anchor="ctr"/>
                </a:tc>
                <a:tc>
                  <a:txBody>
                    <a:bodyPr/>
                    <a:lstStyle/>
                    <a:p>
                      <a:pPr algn="r"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0.03</a:t>
                      </a:r>
                    </a:p>
                  </a:txBody>
                  <a:tcPr marL="72000" marR="72000" marT="0" marB="0" anchor="ctr"/>
                </a:tc>
                <a:tc>
                  <a:txBody>
                    <a:bodyPr/>
                    <a:lstStyle/>
                    <a:p>
                      <a:pPr algn="l"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monthly</a:t>
                      </a:r>
                    </a:p>
                  </a:txBody>
                  <a:tcPr marL="72000" marR="72000" marT="0" marB="0" anchor="ctr"/>
                </a:tc>
                <a:extLst>
                  <a:ext uri="{0D108BD9-81ED-4DB2-BD59-A6C34878D82A}">
                    <a16:rowId xmlns:a16="http://schemas.microsoft.com/office/drawing/2014/main" val="52200815"/>
                  </a:ext>
                </a:extLst>
              </a:tr>
              <a:tr h="360000">
                <a:tc>
                  <a:txBody>
                    <a:bodyPr/>
                    <a:lstStyle/>
                    <a:p>
                      <a:pPr algn="ctr"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2</a:t>
                      </a:r>
                    </a:p>
                  </a:txBody>
                  <a:tcPr marL="72000" marR="72000" marT="0" marB="0" anchor="ctr"/>
                </a:tc>
                <a:tc>
                  <a:txBody>
                    <a:bodyPr/>
                    <a:lstStyle/>
                    <a:p>
                      <a:pPr algn="l"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連携</a:t>
                      </a: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PF</a:t>
                      </a:r>
                      <a:endParaRPr 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0" marB="0" anchor="ctr"/>
                </a:tc>
                <a:tc>
                  <a:txBody>
                    <a:bodyPr/>
                    <a:lstStyle/>
                    <a:p>
                      <a:pPr algn="l"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recipient</a:t>
                      </a:r>
                    </a:p>
                  </a:txBody>
                  <a:tcPr marL="72000" marR="72000" marT="0" marB="0" anchor="ctr"/>
                </a:tc>
                <a:tc>
                  <a:txBody>
                    <a:bodyPr/>
                    <a:lstStyle/>
                    <a:p>
                      <a:pPr algn="l"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メタ情報</a:t>
                      </a:r>
                      <a:endParaRPr 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0" marB="0" anchor="ctr"/>
                </a:tc>
                <a:tc>
                  <a:txBody>
                    <a:bodyPr/>
                    <a:lstStyle/>
                    <a:p>
                      <a:pPr algn="r"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182</a:t>
                      </a:r>
                    </a:p>
                  </a:txBody>
                  <a:tcPr marL="72000" marR="72000" marT="0" marB="0" anchor="ct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21</a:t>
                      </a:r>
                    </a:p>
                  </a:txBody>
                  <a:tcPr marL="72000" marR="72000" marT="0" marB="0" anchor="ctr"/>
                </a:tc>
                <a:tc>
                  <a:txBody>
                    <a:bodyPr/>
                    <a:lstStyle/>
                    <a:p>
                      <a:pPr algn="r"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0.02</a:t>
                      </a:r>
                    </a:p>
                  </a:txBody>
                  <a:tcPr marL="72000" marR="72000" marT="0" marB="0" anchor="ctr"/>
                </a:tc>
                <a:tc>
                  <a:txBody>
                    <a:bodyPr/>
                    <a:lstStyle/>
                    <a:p>
                      <a:pPr algn="l"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daily</a:t>
                      </a:r>
                    </a:p>
                  </a:txBody>
                  <a:tcPr marL="72000" marR="72000" marT="0" marB="0" anchor="ctr"/>
                </a:tc>
                <a:extLst>
                  <a:ext uri="{0D108BD9-81ED-4DB2-BD59-A6C34878D82A}">
                    <a16:rowId xmlns:a16="http://schemas.microsoft.com/office/drawing/2014/main" val="2277130631"/>
                  </a:ext>
                </a:extLst>
              </a:tr>
              <a:tr h="360000">
                <a:tc>
                  <a:txBody>
                    <a:bodyPr/>
                    <a:lstStyle/>
                    <a:p>
                      <a:pPr algn="ctr"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3</a:t>
                      </a:r>
                    </a:p>
                  </a:txBody>
                  <a:tcPr marL="72000" marR="72000" marT="0" marB="0" anchor="ctr"/>
                </a:tc>
                <a:tc>
                  <a:txBody>
                    <a:bodyPr/>
                    <a:lstStyle/>
                    <a:p>
                      <a:pPr algn="l"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連携</a:t>
                      </a: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PF</a:t>
                      </a:r>
                      <a:endParaRPr 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0" marB="0" anchor="ctr"/>
                </a:tc>
                <a:tc>
                  <a:txBody>
                    <a:bodyPr/>
                    <a:lstStyle/>
                    <a:p>
                      <a:pPr algn="l"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facility</a:t>
                      </a:r>
                    </a:p>
                  </a:txBody>
                  <a:tcPr marL="72000" marR="72000" marT="0" marB="0" anchor="ctr"/>
                </a:tc>
                <a:tc>
                  <a:txBody>
                    <a:bodyPr/>
                    <a:lstStyle/>
                    <a:p>
                      <a:pPr algn="l"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メタ情報</a:t>
                      </a:r>
                      <a:endParaRPr 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0" marB="0" anchor="ctr"/>
                </a:tc>
                <a:tc>
                  <a:txBody>
                    <a:bodyPr/>
                    <a:lstStyle/>
                    <a:p>
                      <a:pPr algn="r"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2</a:t>
                      </a:r>
                    </a:p>
                  </a:txBody>
                  <a:tcPr marL="72000" marR="72000" marT="0" marB="0" anchor="ct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25</a:t>
                      </a:r>
                    </a:p>
                  </a:txBody>
                  <a:tcPr marL="72000" marR="72000" marT="0" marB="0" anchor="ctr"/>
                </a:tc>
                <a:tc>
                  <a:txBody>
                    <a:bodyPr/>
                    <a:lstStyle/>
                    <a:p>
                      <a:pPr algn="r"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&lt;0.01</a:t>
                      </a:r>
                    </a:p>
                  </a:txBody>
                  <a:tcPr marL="72000" marR="72000" marT="0" marB="0" anchor="ctr"/>
                </a:tc>
                <a:tc>
                  <a:txBody>
                    <a:bodyPr/>
                    <a:lstStyle/>
                    <a:p>
                      <a:pPr algn="l"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daily</a:t>
                      </a:r>
                    </a:p>
                  </a:txBody>
                  <a:tcPr marL="72000" marR="72000" marT="0" marB="0" anchor="ctr"/>
                </a:tc>
                <a:extLst>
                  <a:ext uri="{0D108BD9-81ED-4DB2-BD59-A6C34878D82A}">
                    <a16:rowId xmlns:a16="http://schemas.microsoft.com/office/drawing/2014/main" val="2406415863"/>
                  </a:ext>
                </a:extLst>
              </a:tr>
              <a:tr h="360000">
                <a:tc>
                  <a:txBody>
                    <a:bodyPr/>
                    <a:lstStyle/>
                    <a:p>
                      <a:pPr algn="ctr"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4</a:t>
                      </a:r>
                    </a:p>
                  </a:txBody>
                  <a:tcPr marL="72000" marR="72000" marT="0" marB="0" anchor="ctr"/>
                </a:tc>
                <a:tc>
                  <a:txBody>
                    <a:bodyPr/>
                    <a:lstStyle/>
                    <a:p>
                      <a:pPr algn="l"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ケア記録</a:t>
                      </a:r>
                      <a:endParaRPr 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0" marB="0" anchor="ctr"/>
                </a:tc>
                <a:tc>
                  <a:txBody>
                    <a:bodyPr/>
                    <a:lstStyle/>
                    <a:p>
                      <a:pPr algn="l" fontAlgn="ctr"/>
                      <a:r>
                        <a:rPr lang="en-US" sz="1400" b="0" i="0" u="none" strike="noStrike" dirty="0" err="1">
                          <a:solidFill>
                            <a:srgbClr val="000000"/>
                          </a:solidFill>
                          <a:effectLst/>
                          <a:latin typeface="游ゴシック" panose="020B0400000000000000" pitchFamily="50" charset="-128"/>
                          <a:ea typeface="游ゴシック" panose="020B0400000000000000" pitchFamily="50" charset="-128"/>
                        </a:rPr>
                        <a:t>care_record</a:t>
                      </a:r>
                      <a:endParaRPr 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0" marB="0" anchor="ctr"/>
                </a:tc>
                <a:tc>
                  <a:txBody>
                    <a:bodyPr/>
                    <a:lstStyle/>
                    <a:p>
                      <a:pPr algn="l"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ケア回数、ケアキャンセル回数</a:t>
                      </a:r>
                      <a:endPar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0" marB="0" anchor="ctr"/>
                </a:tc>
                <a:tc>
                  <a:txBody>
                    <a:bodyPr/>
                    <a:lstStyle/>
                    <a:p>
                      <a:pPr algn="r"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804,000</a:t>
                      </a:r>
                    </a:p>
                  </a:txBody>
                  <a:tcPr marL="72000" marR="72000" marT="0" marB="0" anchor="ct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28</a:t>
                      </a:r>
                    </a:p>
                  </a:txBody>
                  <a:tcPr marL="72000" marR="72000" marT="0" marB="0" anchor="ctr"/>
                </a:tc>
                <a:tc>
                  <a:txBody>
                    <a:bodyPr/>
                    <a:lstStyle/>
                    <a:p>
                      <a:pPr algn="r"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69.80</a:t>
                      </a:r>
                    </a:p>
                  </a:txBody>
                  <a:tcPr marL="72000" marR="72000" marT="0" marB="0" anchor="ctr"/>
                </a:tc>
                <a:tc>
                  <a:txBody>
                    <a:bodyPr/>
                    <a:lstStyle/>
                    <a:p>
                      <a:pPr algn="l"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daily</a:t>
                      </a:r>
                    </a:p>
                  </a:txBody>
                  <a:tcPr marL="72000" marR="72000" marT="0" marB="0" anchor="ctr"/>
                </a:tc>
                <a:extLst>
                  <a:ext uri="{0D108BD9-81ED-4DB2-BD59-A6C34878D82A}">
                    <a16:rowId xmlns:a16="http://schemas.microsoft.com/office/drawing/2014/main" val="3037910575"/>
                  </a:ext>
                </a:extLst>
              </a:tr>
              <a:tr h="360000">
                <a:tc>
                  <a:txBody>
                    <a:bodyPr/>
                    <a:lstStyle/>
                    <a:p>
                      <a:pPr algn="ctr"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5</a:t>
                      </a:r>
                    </a:p>
                  </a:txBody>
                  <a:tcPr marL="72000" marR="72000" marT="0"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400" b="0" i="0" u="none" strike="noStrike" dirty="0">
                          <a:solidFill>
                            <a:srgbClr val="000000"/>
                          </a:solidFill>
                          <a:effectLst/>
                          <a:latin typeface="游ゴシック" panose="020B0400000000000000" pitchFamily="50" charset="-128"/>
                          <a:ea typeface="+mn-ea"/>
                        </a:rPr>
                        <a:t>ケア記録</a:t>
                      </a:r>
                      <a:endParaRPr lang="en-US" altLang="ja-JP" sz="1400" b="0" i="0" u="none" strike="noStrike" dirty="0">
                        <a:solidFill>
                          <a:srgbClr val="000000"/>
                        </a:solidFill>
                        <a:effectLst/>
                        <a:latin typeface="游ゴシック" panose="020B0400000000000000" pitchFamily="50" charset="-128"/>
                        <a:ea typeface="+mn-ea"/>
                      </a:endParaRPr>
                    </a:p>
                  </a:txBody>
                  <a:tcPr marL="72000" marR="72000" marT="0" marB="0" anchor="ctr"/>
                </a:tc>
                <a:tc>
                  <a:txBody>
                    <a:bodyPr/>
                    <a:lstStyle/>
                    <a:p>
                      <a:pPr algn="l" fontAlgn="ctr"/>
                      <a:r>
                        <a:rPr lang="en-US" sz="1400" b="0" i="0" u="none" strike="noStrike" dirty="0" err="1">
                          <a:solidFill>
                            <a:srgbClr val="000000"/>
                          </a:solidFill>
                          <a:effectLst/>
                          <a:latin typeface="游ゴシック" panose="020B0400000000000000" pitchFamily="50" charset="-128"/>
                          <a:ea typeface="游ゴシック" panose="020B0400000000000000" pitchFamily="50" charset="-128"/>
                        </a:rPr>
                        <a:t>vital_measurement</a:t>
                      </a:r>
                      <a:endParaRPr 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0" marB="0" anchor="ctr"/>
                </a:tc>
                <a:tc>
                  <a:txBody>
                    <a:bodyPr/>
                    <a:lstStyle/>
                    <a:p>
                      <a:pPr algn="l"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体重、食事量、飲水量、体温、酸素飽和度</a:t>
                      </a:r>
                      <a:endParaRPr 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0" marB="0" anchor="ctr"/>
                </a:tc>
                <a:tc>
                  <a:txBody>
                    <a:bodyPr/>
                    <a:lstStyle/>
                    <a:p>
                      <a:pPr algn="r"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415,000</a:t>
                      </a:r>
                    </a:p>
                  </a:txBody>
                  <a:tcPr marL="72000" marR="72000" marT="0" marB="0" anchor="ct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9</a:t>
                      </a:r>
                    </a:p>
                  </a:txBody>
                  <a:tcPr marL="72000" marR="72000" marT="0" marB="0" anchor="ctr"/>
                </a:tc>
                <a:tc>
                  <a:txBody>
                    <a:bodyPr/>
                    <a:lstStyle/>
                    <a:p>
                      <a:pPr algn="r"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29.20</a:t>
                      </a:r>
                    </a:p>
                  </a:txBody>
                  <a:tcPr marL="72000" marR="72000" marT="0" marB="0" anchor="ctr"/>
                </a:tc>
                <a:tc>
                  <a:txBody>
                    <a:bodyPr/>
                    <a:lstStyle/>
                    <a:p>
                      <a:pPr algn="l"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daily</a:t>
                      </a:r>
                    </a:p>
                  </a:txBody>
                  <a:tcPr marL="72000" marR="72000" marT="0" marB="0" anchor="ctr"/>
                </a:tc>
                <a:extLst>
                  <a:ext uri="{0D108BD9-81ED-4DB2-BD59-A6C34878D82A}">
                    <a16:rowId xmlns:a16="http://schemas.microsoft.com/office/drawing/2014/main" val="715201043"/>
                  </a:ext>
                </a:extLst>
              </a:tr>
              <a:tr h="360000">
                <a:tc>
                  <a:txBody>
                    <a:bodyPr/>
                    <a:lstStyle/>
                    <a:p>
                      <a:pPr algn="ctr"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6</a:t>
                      </a:r>
                    </a:p>
                  </a:txBody>
                  <a:tcPr marL="72000" marR="72000" marT="0"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400" b="0" i="0" u="none" strike="noStrike" dirty="0">
                          <a:solidFill>
                            <a:srgbClr val="000000"/>
                          </a:solidFill>
                          <a:effectLst/>
                          <a:latin typeface="游ゴシック" panose="020B0400000000000000" pitchFamily="50" charset="-128"/>
                          <a:ea typeface="+mn-ea"/>
                        </a:rPr>
                        <a:t>ケア記録</a:t>
                      </a:r>
                      <a:endParaRPr lang="en-US" altLang="ja-JP" sz="1400" b="0" i="0" u="none" strike="noStrike" dirty="0">
                        <a:solidFill>
                          <a:srgbClr val="000000"/>
                        </a:solidFill>
                        <a:effectLst/>
                        <a:latin typeface="游ゴシック" panose="020B0400000000000000" pitchFamily="50" charset="-128"/>
                        <a:ea typeface="+mn-ea"/>
                      </a:endParaRPr>
                    </a:p>
                  </a:txBody>
                  <a:tcPr marL="72000" marR="72000" marT="0" marB="0" anchor="ctr"/>
                </a:tc>
                <a:tc>
                  <a:txBody>
                    <a:bodyPr/>
                    <a:lstStyle/>
                    <a:p>
                      <a:pPr algn="l"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accident</a:t>
                      </a:r>
                    </a:p>
                  </a:txBody>
                  <a:tcPr marL="72000" marR="72000" marT="0" marB="0" anchor="ctr"/>
                </a:tc>
                <a:tc>
                  <a:txBody>
                    <a:bodyPr/>
                    <a:lstStyle/>
                    <a:p>
                      <a:pPr algn="l"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事故件数</a:t>
                      </a:r>
                      <a:endParaRPr 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0" marB="0" anchor="ctr"/>
                </a:tc>
                <a:tc>
                  <a:txBody>
                    <a:bodyPr/>
                    <a:lstStyle/>
                    <a:p>
                      <a:pPr algn="r"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477</a:t>
                      </a:r>
                    </a:p>
                  </a:txBody>
                  <a:tcPr marL="72000" marR="72000" marT="0" marB="0" anchor="ct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44</a:t>
                      </a:r>
                    </a:p>
                  </a:txBody>
                  <a:tcPr marL="72000" marR="72000" marT="0" marB="0" anchor="ctr"/>
                </a:tc>
                <a:tc>
                  <a:txBody>
                    <a:bodyPr/>
                    <a:lstStyle/>
                    <a:p>
                      <a:pPr algn="r"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0.15</a:t>
                      </a:r>
                    </a:p>
                  </a:txBody>
                  <a:tcPr marL="72000" marR="72000" marT="0" marB="0" anchor="ctr"/>
                </a:tc>
                <a:tc>
                  <a:txBody>
                    <a:bodyPr/>
                    <a:lstStyle/>
                    <a:p>
                      <a:pPr algn="l"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daily</a:t>
                      </a:r>
                    </a:p>
                  </a:txBody>
                  <a:tcPr marL="72000" marR="72000" marT="0" marB="0" anchor="ctr"/>
                </a:tc>
                <a:extLst>
                  <a:ext uri="{0D108BD9-81ED-4DB2-BD59-A6C34878D82A}">
                    <a16:rowId xmlns:a16="http://schemas.microsoft.com/office/drawing/2014/main" val="1646544722"/>
                  </a:ext>
                </a:extLst>
              </a:tr>
              <a:tr h="360000">
                <a:tc>
                  <a:txBody>
                    <a:bodyPr/>
                    <a:lstStyle/>
                    <a:p>
                      <a:pPr algn="ctr"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7</a:t>
                      </a:r>
                    </a:p>
                  </a:txBody>
                  <a:tcPr marL="72000" marR="72000" marT="0" marB="0" anchor="ctr"/>
                </a:tc>
                <a:tc>
                  <a:txBody>
                    <a:bodyPr/>
                    <a:lstStyle/>
                    <a:p>
                      <a:pPr algn="l"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眠り</a:t>
                      </a: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SCAN</a:t>
                      </a:r>
                      <a:endParaRPr 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0" marB="0" anchor="ctr"/>
                </a:tc>
                <a:tc>
                  <a:txBody>
                    <a:bodyPr/>
                    <a:lstStyle/>
                    <a:p>
                      <a:pPr algn="l" fontAlgn="ctr"/>
                      <a:r>
                        <a:rPr lang="en-US" sz="1400" b="0" i="0" u="none" strike="noStrike" dirty="0" err="1">
                          <a:solidFill>
                            <a:srgbClr val="000000"/>
                          </a:solidFill>
                          <a:effectLst/>
                          <a:latin typeface="游ゴシック" panose="020B0400000000000000" pitchFamily="50" charset="-128"/>
                          <a:ea typeface="游ゴシック" panose="020B0400000000000000" pitchFamily="50" charset="-128"/>
                        </a:rPr>
                        <a:t>sleep_event</a:t>
                      </a:r>
                      <a:endParaRPr 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0" marB="0" anchor="ctr"/>
                </a:tc>
                <a:tc>
                  <a:txBody>
                    <a:bodyPr/>
                    <a:lstStyle/>
                    <a:p>
                      <a:pPr algn="l"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心拍数、呼吸数、睡眠時間</a:t>
                      </a:r>
                      <a:endParaRPr 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0" marB="0" anchor="ctr"/>
                </a:tc>
                <a:tc>
                  <a:txBody>
                    <a:bodyPr/>
                    <a:lstStyle/>
                    <a:p>
                      <a:pPr algn="r"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22,600</a:t>
                      </a:r>
                    </a:p>
                  </a:txBody>
                  <a:tcPr marL="72000" marR="72000" marT="0" marB="0" anchor="ct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22</a:t>
                      </a:r>
                    </a:p>
                  </a:txBody>
                  <a:tcPr marL="72000" marR="72000" marT="0" marB="0" anchor="ctr"/>
                </a:tc>
                <a:tc>
                  <a:txBody>
                    <a:bodyPr/>
                    <a:lstStyle/>
                    <a:p>
                      <a:pPr algn="r"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0.71</a:t>
                      </a:r>
                    </a:p>
                  </a:txBody>
                  <a:tcPr marL="72000" marR="72000" marT="0" marB="0" anchor="ctr"/>
                </a:tc>
                <a:tc>
                  <a:txBody>
                    <a:bodyPr/>
                    <a:lstStyle/>
                    <a:p>
                      <a:pPr algn="l"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hourly</a:t>
                      </a:r>
                      <a:endPar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0" marB="0" anchor="ctr"/>
                </a:tc>
                <a:extLst>
                  <a:ext uri="{0D108BD9-81ED-4DB2-BD59-A6C34878D82A}">
                    <a16:rowId xmlns:a16="http://schemas.microsoft.com/office/drawing/2014/main" val="487754121"/>
                  </a:ext>
                </a:extLst>
              </a:tr>
              <a:tr h="468000">
                <a:tc>
                  <a:txBody>
                    <a:bodyPr/>
                    <a:lstStyle/>
                    <a:p>
                      <a:pPr algn="ctr"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8</a:t>
                      </a:r>
                    </a:p>
                  </a:txBody>
                  <a:tcPr marL="72000" marR="72000" marT="0" marB="0" anchor="ctr"/>
                </a:tc>
                <a:tc>
                  <a:txBody>
                    <a:bodyPr/>
                    <a:lstStyle/>
                    <a:p>
                      <a:pPr algn="l"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AV4</a:t>
                      </a:r>
                      <a:endParaRPr 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0" marB="0" anchor="ctr"/>
                </a:tc>
                <a:tc>
                  <a:txBody>
                    <a:bodyPr/>
                    <a:lstStyle/>
                    <a:p>
                      <a:pPr algn="l" fontAlgn="ctr"/>
                      <a:r>
                        <a:rPr lang="en-US" sz="1050" b="0" i="0" u="none" strike="noStrike" dirty="0">
                          <a:solidFill>
                            <a:srgbClr val="000000"/>
                          </a:solidFill>
                          <a:effectLst/>
                          <a:latin typeface="游ゴシック" panose="020B0400000000000000" pitchFamily="50" charset="-128"/>
                          <a:ea typeface="游ゴシック" panose="020B0400000000000000" pitchFamily="50" charset="-128"/>
                        </a:rPr>
                        <a:t>[Production]</a:t>
                      </a:r>
                      <a:r>
                        <a:rPr lang="ja-JP" altLang="en-US" sz="1050" b="0" i="0" u="none" strike="noStrike" dirty="0">
                          <a:solidFill>
                            <a:srgbClr val="000000"/>
                          </a:solidFill>
                          <a:effectLst/>
                          <a:latin typeface="游ゴシック" panose="020B0400000000000000" pitchFamily="50" charset="-128"/>
                          <a:ea typeface="+mn-ea"/>
                        </a:rPr>
                        <a:t>アセス</a:t>
                      </a:r>
                      <a:r>
                        <a:rPr lang="en-US" sz="1050" b="0" i="0" u="none" strike="noStrike" dirty="0">
                          <a:solidFill>
                            <a:srgbClr val="000000"/>
                          </a:solidFill>
                          <a:effectLst/>
                          <a:latin typeface="游ゴシック" panose="020B0400000000000000" pitchFamily="50" charset="-128"/>
                          <a:ea typeface="游ゴシック" panose="020B0400000000000000" pitchFamily="50" charset="-128"/>
                        </a:rPr>
                        <a:t>v4 - 00－1－</a:t>
                      </a:r>
                      <a:r>
                        <a:rPr lang="ja-JP" altLang="en-US" sz="1050" b="0" i="0" u="none" strike="noStrike" dirty="0">
                          <a:solidFill>
                            <a:srgbClr val="000000"/>
                          </a:solidFill>
                          <a:effectLst/>
                          <a:latin typeface="游ゴシック" panose="020B0400000000000000" pitchFamily="50" charset="-128"/>
                          <a:ea typeface="+mn-ea"/>
                        </a:rPr>
                        <a:t>アセスメント共通</a:t>
                      </a:r>
                      <a:r>
                        <a:rPr lang="en-US" altLang="ja-JP" sz="1050" b="0" i="0" u="none" strike="noStrike" dirty="0">
                          <a:solidFill>
                            <a:srgbClr val="000000"/>
                          </a:solidFill>
                          <a:effectLst/>
                          <a:latin typeface="游ゴシック" panose="020B0400000000000000" pitchFamily="50" charset="-128"/>
                          <a:ea typeface="+mn-ea"/>
                        </a:rPr>
                        <a:t>_</a:t>
                      </a:r>
                      <a:r>
                        <a:rPr lang="en-US" sz="1050" b="0" i="0" u="none" strike="noStrike" dirty="0" err="1">
                          <a:solidFill>
                            <a:srgbClr val="000000"/>
                          </a:solidFill>
                          <a:effectLst/>
                          <a:latin typeface="游ゴシック" panose="020B0400000000000000" pitchFamily="50" charset="-128"/>
                          <a:ea typeface="游ゴシック" panose="020B0400000000000000" pitchFamily="50" charset="-128"/>
                        </a:rPr>
                        <a:t>export_dataset</a:t>
                      </a:r>
                      <a:r>
                        <a:rPr lang="en-US" sz="1050" b="0" i="0" u="none" strike="noStrike" dirty="0">
                          <a:solidFill>
                            <a:srgbClr val="000000"/>
                          </a:solidFill>
                          <a:effectLst/>
                          <a:latin typeface="游ゴシック" panose="020B0400000000000000" pitchFamily="50" charset="-128"/>
                          <a:ea typeface="游ゴシック" panose="020B0400000000000000" pitchFamily="50" charset="-128"/>
                        </a:rPr>
                        <a:t> </a:t>
                      </a:r>
                    </a:p>
                    <a:p>
                      <a:pPr algn="l" fontAlgn="ct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他</a:t>
                      </a:r>
                      <a:r>
                        <a:rPr lang="en-US" sz="1050" b="0" i="0" u="none" strike="noStrike" dirty="0">
                          <a:solidFill>
                            <a:srgbClr val="000000"/>
                          </a:solidFill>
                          <a:effectLst/>
                          <a:latin typeface="游ゴシック" panose="020B0400000000000000" pitchFamily="50" charset="-128"/>
                          <a:ea typeface="游ゴシック" panose="020B0400000000000000" pitchFamily="50" charset="-128"/>
                        </a:rPr>
                        <a:t>23files</a:t>
                      </a:r>
                    </a:p>
                  </a:txBody>
                  <a:tcPr marL="72000" marR="72000" marT="0" marB="0" anchor="ctr"/>
                </a:tc>
                <a:tc>
                  <a:txBody>
                    <a:bodyPr/>
                    <a:lstStyle/>
                    <a:p>
                      <a:pPr algn="l"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メタ情報</a:t>
                      </a:r>
                      <a:r>
                        <a:rPr lang="ja-JP" altLang="en-US" sz="1400" b="0" i="0" u="none" strike="noStrike" dirty="0">
                          <a:solidFill>
                            <a:srgbClr val="000000"/>
                          </a:solidFill>
                          <a:effectLst/>
                          <a:latin typeface="游ゴシック" panose="020B0400000000000000" pitchFamily="50" charset="-128"/>
                          <a:ea typeface="+mn-ea"/>
                        </a:rPr>
                        <a:t>、介護度、基礎疾患、服薬、日常生活自立度、身体機能、認知機能</a:t>
                      </a:r>
                      <a:endParaRPr 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0" marB="0" anchor="ctr"/>
                </a:tc>
                <a:tc>
                  <a:txBody>
                    <a:bodyPr/>
                    <a:lstStyle/>
                    <a:p>
                      <a:pPr algn="r"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~4,900</a:t>
                      </a:r>
                    </a:p>
                  </a:txBody>
                  <a:tcPr marL="72000" marR="72000" marT="0" marB="0" anchor="ct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~150</a:t>
                      </a:r>
                    </a:p>
                  </a:txBody>
                  <a:tcPr marL="72000" marR="72000" marT="0" marB="0" anchor="ctr"/>
                </a:tc>
                <a:tc>
                  <a:txBody>
                    <a:bodyPr/>
                    <a:lstStyle/>
                    <a:p>
                      <a:pPr algn="r" fontAlgn="ctr"/>
                      <a:r>
                        <a:rPr lang="en-US" sz="1200" b="0" i="0" u="none" strike="noStrike" dirty="0">
                          <a:solidFill>
                            <a:srgbClr val="000000"/>
                          </a:solidFill>
                          <a:effectLst/>
                          <a:latin typeface="游ゴシック" panose="020B0400000000000000" pitchFamily="50" charset="-128"/>
                          <a:ea typeface="游ゴシック" panose="020B0400000000000000" pitchFamily="50" charset="-128"/>
                        </a:rPr>
                        <a:t>(</a:t>
                      </a:r>
                      <a:r>
                        <a:rPr lang="ja-JP" altLang="en-US" sz="1200" b="0" i="0" u="none" strike="noStrike" dirty="0">
                          <a:solidFill>
                            <a:srgbClr val="000000"/>
                          </a:solidFill>
                          <a:effectLst/>
                          <a:latin typeface="游ゴシック" panose="020B0400000000000000" pitchFamily="50" charset="-128"/>
                          <a:ea typeface="游ゴシック" panose="020B0400000000000000" pitchFamily="50" charset="-128"/>
                        </a:rPr>
                        <a:t>推計</a:t>
                      </a:r>
                      <a:r>
                        <a:rPr lang="en-US" sz="1200" b="0" i="0" u="none" strike="noStrike" dirty="0">
                          <a:solidFill>
                            <a:srgbClr val="000000"/>
                          </a:solidFill>
                          <a:effectLst/>
                          <a:latin typeface="游ゴシック" panose="020B0400000000000000" pitchFamily="50" charset="-128"/>
                          <a:ea typeface="游ゴシック" panose="020B0400000000000000" pitchFamily="50" charset="-128"/>
                        </a:rPr>
                        <a:t>) </a:t>
                      </a: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3.36</a:t>
                      </a:r>
                    </a:p>
                  </a:txBody>
                  <a:tcPr marL="72000" marR="72000" marT="0" marB="0" anchor="ctr"/>
                </a:tc>
                <a:tc>
                  <a:txBody>
                    <a:bodyPr/>
                    <a:lstStyle/>
                    <a:p>
                      <a:pPr algn="l"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daily</a:t>
                      </a:r>
                    </a:p>
                  </a:txBody>
                  <a:tcPr marL="72000" marR="72000" marT="0" marB="0" anchor="ctr"/>
                </a:tc>
                <a:extLst>
                  <a:ext uri="{0D108BD9-81ED-4DB2-BD59-A6C34878D82A}">
                    <a16:rowId xmlns:a16="http://schemas.microsoft.com/office/drawing/2014/main" val="3990613345"/>
                  </a:ext>
                </a:extLst>
              </a:tr>
              <a:tr h="360850">
                <a:tc>
                  <a:txBody>
                    <a:bodyPr/>
                    <a:lstStyle/>
                    <a:p>
                      <a:pPr algn="ctr"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9</a:t>
                      </a:r>
                    </a:p>
                  </a:txBody>
                  <a:tcPr marL="72000" marR="72000" marT="0" marB="0" anchor="ctr"/>
                </a:tc>
                <a:tc>
                  <a:txBody>
                    <a:bodyPr/>
                    <a:lstStyle/>
                    <a:p>
                      <a:pPr algn="l"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LIFE</a:t>
                      </a:r>
                    </a:p>
                  </a:txBody>
                  <a:tcPr marL="72000" marR="72000" marT="0" marB="0" anchor="ctr"/>
                </a:tc>
                <a:tc>
                  <a:txBody>
                    <a:bodyPr/>
                    <a:lstStyle/>
                    <a:p>
                      <a:pPr algn="l"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FORM_0000_edited</a:t>
                      </a:r>
                    </a:p>
                  </a:txBody>
                  <a:tcPr marL="72000" marR="72000" marT="0" marB="0" anchor="ctr"/>
                </a:tc>
                <a:tc>
                  <a:txBody>
                    <a:bodyPr/>
                    <a:lstStyle/>
                    <a:p>
                      <a:pPr algn="l"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バーセルインデックス</a:t>
                      </a:r>
                      <a:endParaRPr 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0" marB="0" anchor="ctr"/>
                </a:tc>
                <a:tc>
                  <a:txBody>
                    <a:bodyPr/>
                    <a:lstStyle/>
                    <a:p>
                      <a:pPr algn="r"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309</a:t>
                      </a:r>
                    </a:p>
                  </a:txBody>
                  <a:tcPr marL="72000" marR="72000" marT="0" marB="0" anchor="ct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144</a:t>
                      </a:r>
                    </a:p>
                  </a:txBody>
                  <a:tcPr marL="72000" marR="72000" marT="0" marB="0" anchor="ctr"/>
                </a:tc>
                <a:tc>
                  <a:txBody>
                    <a:bodyPr/>
                    <a:lstStyle/>
                    <a:p>
                      <a:pPr algn="r"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0.09</a:t>
                      </a:r>
                    </a:p>
                  </a:txBody>
                  <a:tcPr marL="72000" marR="72000" marT="0" marB="0" anchor="ctr"/>
                </a:tc>
                <a:tc>
                  <a:txBody>
                    <a:bodyPr/>
                    <a:lstStyle/>
                    <a:p>
                      <a:pPr algn="l"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hourly</a:t>
                      </a:r>
                    </a:p>
                  </a:txBody>
                  <a:tcPr marL="72000" marR="72000" marT="0" marB="0" anchor="ctr"/>
                </a:tc>
                <a:extLst>
                  <a:ext uri="{0D108BD9-81ED-4DB2-BD59-A6C34878D82A}">
                    <a16:rowId xmlns:a16="http://schemas.microsoft.com/office/drawing/2014/main" val="2820527172"/>
                  </a:ext>
                </a:extLst>
              </a:tr>
              <a:tr h="415224">
                <a:tc>
                  <a:txBody>
                    <a:bodyPr/>
                    <a:lstStyle/>
                    <a:p>
                      <a:pPr algn="ctr" fontAlgn="ctr"/>
                      <a:endPar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0" marB="0" anchor="ctr">
                    <a:solidFill>
                      <a:schemeClr val="bg1">
                        <a:lumMod val="65000"/>
                      </a:schemeClr>
                    </a:solidFill>
                  </a:tcPr>
                </a:tc>
                <a:tc>
                  <a:txBody>
                    <a:bodyPr/>
                    <a:lstStyle/>
                    <a:p>
                      <a:pPr algn="l" fontAlgn="ctr"/>
                      <a:endParaRPr 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0" marB="0" anchor="ctr">
                    <a:solidFill>
                      <a:schemeClr val="bg1">
                        <a:lumMod val="65000"/>
                      </a:schemeClr>
                    </a:solidFill>
                  </a:tcPr>
                </a:tc>
                <a:tc>
                  <a:txBody>
                    <a:bodyPr/>
                    <a:lstStyle/>
                    <a:p>
                      <a:pPr algn="l" fontAlgn="ctr"/>
                      <a:r>
                        <a:rPr lang="en-US" sz="1400" b="0" i="0" u="none" strike="noStrike" dirty="0" err="1">
                          <a:solidFill>
                            <a:srgbClr val="000000"/>
                          </a:solidFill>
                          <a:effectLst/>
                          <a:latin typeface="游ゴシック" panose="020B0400000000000000" pitchFamily="50" charset="-128"/>
                          <a:ea typeface="游ゴシック" panose="020B0400000000000000" pitchFamily="50" charset="-128"/>
                        </a:rPr>
                        <a:t>production_recipient_alert</a:t>
                      </a:r>
                      <a:endParaRPr 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0" marB="0" anchor="ctr">
                    <a:solidFill>
                      <a:schemeClr val="bg1">
                        <a:lumMod val="65000"/>
                      </a:schemeClr>
                    </a:solidFill>
                  </a:tcPr>
                </a:tc>
                <a:tc>
                  <a:txBody>
                    <a:bodyPr/>
                    <a:lstStyle/>
                    <a:p>
                      <a:pPr algn="l"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CMC</a:t>
                      </a: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アラート発報情報の説明変数化</a:t>
                      </a:r>
                      <a:endParaRPr 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0" marB="0" anchor="ctr">
                    <a:solidFill>
                      <a:schemeClr val="bg1">
                        <a:lumMod val="65000"/>
                      </a:schemeClr>
                    </a:solidFill>
                  </a:tcPr>
                </a:tc>
                <a:tc>
                  <a:txBody>
                    <a:bodyPr/>
                    <a:lstStyle/>
                    <a:p>
                      <a:pPr algn="l"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6.9M</a:t>
                      </a:r>
                    </a:p>
                  </a:txBody>
                  <a:tcPr marL="72000" marR="72000" marT="0" marB="0" anchor="ctr">
                    <a:solidFill>
                      <a:schemeClr val="bg1">
                        <a:lumMod val="65000"/>
                      </a:schemeClr>
                    </a:solidFill>
                  </a:tcP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14</a:t>
                      </a:r>
                    </a:p>
                  </a:txBody>
                  <a:tcPr marL="72000" marR="72000" marT="0" marB="0" anchor="ctr">
                    <a:solidFill>
                      <a:schemeClr val="bg1">
                        <a:lumMod val="65000"/>
                      </a:schemeClr>
                    </a:solidFill>
                  </a:tcPr>
                </a:tc>
                <a:tc>
                  <a:txBody>
                    <a:bodyPr/>
                    <a:lstStyle/>
                    <a:p>
                      <a:pPr algn="l"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179MB</a:t>
                      </a:r>
                    </a:p>
                  </a:txBody>
                  <a:tcPr marL="72000" marR="72000" marT="0" marB="0" anchor="ctr">
                    <a:solidFill>
                      <a:schemeClr val="bg1">
                        <a:lumMod val="65000"/>
                      </a:schemeClr>
                    </a:solidFill>
                  </a:tcPr>
                </a:tc>
                <a:tc>
                  <a:txBody>
                    <a:bodyPr/>
                    <a:lstStyle/>
                    <a:p>
                      <a:pPr algn="l"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daily</a:t>
                      </a: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（更新停止）</a:t>
                      </a:r>
                      <a:endParaRPr 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0" marB="0" anchor="ctr">
                    <a:solidFill>
                      <a:schemeClr val="bg1">
                        <a:lumMod val="65000"/>
                      </a:schemeClr>
                    </a:solidFill>
                  </a:tcPr>
                </a:tc>
                <a:extLst>
                  <a:ext uri="{0D108BD9-81ED-4DB2-BD59-A6C34878D82A}">
                    <a16:rowId xmlns:a16="http://schemas.microsoft.com/office/drawing/2014/main" val="3186190792"/>
                  </a:ext>
                </a:extLst>
              </a:tr>
              <a:tr h="415224">
                <a:tc>
                  <a:txBody>
                    <a:bodyPr/>
                    <a:lstStyle/>
                    <a:p>
                      <a:pPr algn="ctr" fontAlgn="ctr"/>
                      <a:endPar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0" marB="0" anchor="ctr">
                    <a:solidFill>
                      <a:schemeClr val="bg1">
                        <a:lumMod val="65000"/>
                      </a:schemeClr>
                    </a:solidFill>
                  </a:tcPr>
                </a:tc>
                <a:tc>
                  <a:txBody>
                    <a:bodyPr/>
                    <a:lstStyle/>
                    <a:p>
                      <a:pPr algn="l" fontAlgn="ctr"/>
                      <a:endParaRPr 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0" marB="0" anchor="ctr">
                    <a:solidFill>
                      <a:schemeClr val="bg1">
                        <a:lumMod val="65000"/>
                      </a:schemeClr>
                    </a:solidFill>
                  </a:tcPr>
                </a:tc>
                <a:tc>
                  <a:txBody>
                    <a:bodyPr/>
                    <a:lstStyle/>
                    <a:p>
                      <a:pPr algn="l"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output</a:t>
                      </a: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　（アラート情報）</a:t>
                      </a:r>
                      <a:endParaRPr 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0" marB="0" anchor="ctr">
                    <a:solidFill>
                      <a:schemeClr val="bg1">
                        <a:lumMod val="65000"/>
                      </a:schemeClr>
                    </a:solidFill>
                  </a:tcPr>
                </a:tc>
                <a:tc>
                  <a:txBody>
                    <a:bodyPr/>
                    <a:lstStyle/>
                    <a:p>
                      <a:pPr algn="l"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　</a:t>
                      </a: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0" marB="0" anchor="ctr">
                    <a:solidFill>
                      <a:schemeClr val="bg1">
                        <a:lumMod val="65000"/>
                      </a:schemeClr>
                    </a:solidFill>
                  </a:tcPr>
                </a:tc>
                <a:tc>
                  <a:txBody>
                    <a:bodyPr/>
                    <a:lstStyle/>
                    <a:p>
                      <a:pPr algn="l"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121K</a:t>
                      </a:r>
                    </a:p>
                  </a:txBody>
                  <a:tcPr marL="72000" marR="72000" marT="0" marB="0" anchor="ctr">
                    <a:solidFill>
                      <a:schemeClr val="bg1">
                        <a:lumMod val="65000"/>
                      </a:schemeClr>
                    </a:solidFill>
                  </a:tcP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8</a:t>
                      </a:r>
                    </a:p>
                  </a:txBody>
                  <a:tcPr marL="72000" marR="72000" marT="0" marB="0" anchor="ctr">
                    <a:solidFill>
                      <a:schemeClr val="bg1">
                        <a:lumMod val="65000"/>
                      </a:schemeClr>
                    </a:solidFill>
                  </a:tcPr>
                </a:tc>
                <a:tc>
                  <a:txBody>
                    <a:bodyPr/>
                    <a:lstStyle/>
                    <a:p>
                      <a:pPr algn="l"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10.8MB</a:t>
                      </a:r>
                    </a:p>
                  </a:txBody>
                  <a:tcPr marL="72000" marR="72000" marT="0" marB="0" anchor="ctr">
                    <a:solidFill>
                      <a:schemeClr val="bg1">
                        <a:lumMod val="65000"/>
                      </a:schemeClr>
                    </a:solidFill>
                  </a:tcPr>
                </a:tc>
                <a:tc>
                  <a:txBody>
                    <a:bodyPr/>
                    <a:lstStyle/>
                    <a:p>
                      <a:pPr algn="l"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daily</a:t>
                      </a:r>
                    </a:p>
                  </a:txBody>
                  <a:tcPr marL="72000" marR="72000" marT="0" marB="0" anchor="ctr">
                    <a:solidFill>
                      <a:schemeClr val="bg1">
                        <a:lumMod val="65000"/>
                      </a:schemeClr>
                    </a:solidFill>
                  </a:tcPr>
                </a:tc>
                <a:extLst>
                  <a:ext uri="{0D108BD9-81ED-4DB2-BD59-A6C34878D82A}">
                    <a16:rowId xmlns:a16="http://schemas.microsoft.com/office/drawing/2014/main" val="2724084606"/>
                  </a:ext>
                </a:extLst>
              </a:tr>
              <a:tr h="415224">
                <a:tc>
                  <a:txBody>
                    <a:bodyPr/>
                    <a:lstStyle/>
                    <a:p>
                      <a:pPr algn="ctr" fontAlgn="ctr"/>
                      <a:endPar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0" marB="0" anchor="ctr">
                    <a:solidFill>
                      <a:schemeClr val="bg1">
                        <a:lumMod val="65000"/>
                      </a:schemeClr>
                    </a:solidFill>
                  </a:tcPr>
                </a:tc>
                <a:tc>
                  <a:txBody>
                    <a:bodyPr/>
                    <a:lstStyle/>
                    <a:p>
                      <a:pPr algn="l" fontAlgn="ctr"/>
                      <a:endPar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0" marB="0" anchor="ctr">
                    <a:solidFill>
                      <a:schemeClr val="bg1">
                        <a:lumMod val="65000"/>
                      </a:schemeClr>
                    </a:solidFill>
                  </a:tcPr>
                </a:tc>
                <a:tc gridSpan="4">
                  <a:txBody>
                    <a:bodyPr/>
                    <a:lstStyle/>
                    <a:p>
                      <a:pPr algn="l"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/SOMPO Care/RDP - Wellbeing - </a:t>
                      </a: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自立支援</a:t>
                      </a: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a:t>
                      </a: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datasets/inputs/</a:t>
                      </a: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の各ファイル　</a:t>
                      </a:r>
                      <a:b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b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　　　ほのぼのから</a:t>
                      </a: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csv</a:t>
                      </a: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ファイルにて</a:t>
                      </a: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Foundry</a:t>
                      </a: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取り込み　アセスメント説明変数化</a:t>
                      </a:r>
                    </a:p>
                  </a:txBody>
                  <a:tcPr marL="72000" marR="72000" marT="0" marB="0" anchor="ctr">
                    <a:solidFill>
                      <a:schemeClr val="bg1">
                        <a:lumMod val="65000"/>
                      </a:scheme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a:txBody>
                    <a:bodyPr/>
                    <a:lstStyle/>
                    <a:p>
                      <a:pPr algn="l"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20MB x 19</a:t>
                      </a:r>
                    </a:p>
                  </a:txBody>
                  <a:tcPr marL="72000" marR="72000" marT="0" marB="0" anchor="ctr">
                    <a:solidFill>
                      <a:schemeClr val="bg1">
                        <a:lumMod val="65000"/>
                      </a:schemeClr>
                    </a:solidFill>
                  </a:tcPr>
                </a:tc>
                <a:tc>
                  <a:txBody>
                    <a:bodyPr/>
                    <a:lstStyle/>
                    <a:p>
                      <a:pPr algn="l" fontAlgn="ctr"/>
                      <a:r>
                        <a:rPr lang="en-US" sz="1400" b="0" i="0" u="none" strike="noStrike" dirty="0">
                          <a:solidFill>
                            <a:srgbClr val="000000"/>
                          </a:solidFill>
                          <a:effectLst/>
                          <a:latin typeface="游ゴシック" panose="020B0400000000000000" pitchFamily="50" charset="-128"/>
                          <a:ea typeface="游ゴシック" panose="020B0400000000000000" pitchFamily="50" charset="-128"/>
                        </a:rPr>
                        <a:t>monthly</a:t>
                      </a:r>
                    </a:p>
                  </a:txBody>
                  <a:tcPr marL="72000" marR="72000" marT="0" marB="0" anchor="ctr">
                    <a:solidFill>
                      <a:schemeClr val="bg1">
                        <a:lumMod val="65000"/>
                      </a:schemeClr>
                    </a:solidFill>
                  </a:tcPr>
                </a:tc>
                <a:extLst>
                  <a:ext uri="{0D108BD9-81ED-4DB2-BD59-A6C34878D82A}">
                    <a16:rowId xmlns:a16="http://schemas.microsoft.com/office/drawing/2014/main" val="3330182947"/>
                  </a:ext>
                </a:extLst>
              </a:tr>
            </a:tbl>
          </a:graphicData>
        </a:graphic>
      </p:graphicFrame>
      <p:sp>
        <p:nvSpPr>
          <p:cNvPr id="6" name="タイトル 2">
            <a:extLst>
              <a:ext uri="{FF2B5EF4-FFF2-40B4-BE49-F238E27FC236}">
                <a16:creationId xmlns:a16="http://schemas.microsoft.com/office/drawing/2014/main" id="{EE7B12B9-F3D8-13DD-8364-45159244C48C}"/>
              </a:ext>
            </a:extLst>
          </p:cNvPr>
          <p:cNvSpPr txBox="1">
            <a:spLocks/>
          </p:cNvSpPr>
          <p:nvPr/>
        </p:nvSpPr>
        <p:spPr>
          <a:xfrm>
            <a:off x="300178" y="181737"/>
            <a:ext cx="10988087" cy="342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ja-JP" sz="1900" dirty="0">
                <a:latin typeface="Meiryo UI" panose="020B0604030504040204" pitchFamily="50" charset="-128"/>
                <a:ea typeface="Meiryo UI" panose="020B0604030504040204" pitchFamily="50" charset="-128"/>
              </a:rPr>
              <a:t>2-2 1)-1 </a:t>
            </a:r>
            <a:r>
              <a:rPr lang="ja-JP" altLang="en-US" sz="1900" dirty="0">
                <a:latin typeface="Meiryo UI" panose="020B0604030504040204" pitchFamily="50" charset="-128"/>
                <a:ea typeface="Meiryo UI" panose="020B0604030504040204" pitchFamily="50" charset="-128"/>
              </a:rPr>
              <a:t>分析対象データセット一覧</a:t>
            </a:r>
            <a:endParaRPr kumimoji="1" lang="ja-JP" altLang="en-US" sz="1900" dirty="0">
              <a:latin typeface="Meiryo UI" panose="020B0604030504040204" pitchFamily="50" charset="-128"/>
              <a:ea typeface="Meiryo UI" panose="020B0604030504040204" pitchFamily="50" charset="-128"/>
            </a:endParaRPr>
          </a:p>
        </p:txBody>
      </p:sp>
      <p:sp>
        <p:nvSpPr>
          <p:cNvPr id="2" name="四角形: 角を丸くする 1">
            <a:extLst>
              <a:ext uri="{FF2B5EF4-FFF2-40B4-BE49-F238E27FC236}">
                <a16:creationId xmlns:a16="http://schemas.microsoft.com/office/drawing/2014/main" id="{48E5BB68-9FA8-020D-5CF2-1D5864D50704}"/>
              </a:ext>
            </a:extLst>
          </p:cNvPr>
          <p:cNvSpPr/>
          <p:nvPr/>
        </p:nvSpPr>
        <p:spPr>
          <a:xfrm>
            <a:off x="10503233" y="221462"/>
            <a:ext cx="785032" cy="440700"/>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堀家</a:t>
            </a:r>
            <a:endParaRPr kumimoji="1" lang="ja-JP" altLang="en-US" dirty="0"/>
          </a:p>
        </p:txBody>
      </p:sp>
    </p:spTree>
    <p:extLst>
      <p:ext uri="{BB962C8B-B14F-4D97-AF65-F5344CB8AC3E}">
        <p14:creationId xmlns:p14="http://schemas.microsoft.com/office/powerpoint/2010/main" val="14438501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4C449-AB0E-F8A6-8F3B-EB46B26C87F3}"/>
            </a:ext>
          </a:extLst>
        </p:cNvPr>
        <p:cNvGrpSpPr/>
        <p:nvPr/>
      </p:nvGrpSpPr>
      <p:grpSpPr>
        <a:xfrm>
          <a:off x="0" y="0"/>
          <a:ext cx="0" cy="0"/>
          <a:chOff x="0" y="0"/>
          <a:chExt cx="0" cy="0"/>
        </a:xfrm>
      </p:grpSpPr>
      <p:sp>
        <p:nvSpPr>
          <p:cNvPr id="4" name="タイトル 2">
            <a:extLst>
              <a:ext uri="{FF2B5EF4-FFF2-40B4-BE49-F238E27FC236}">
                <a16:creationId xmlns:a16="http://schemas.microsoft.com/office/drawing/2014/main" id="{59177BC2-63F3-9DB2-E6F1-19EDD87CD48B}"/>
              </a:ext>
            </a:extLst>
          </p:cNvPr>
          <p:cNvSpPr txBox="1">
            <a:spLocks/>
          </p:cNvSpPr>
          <p:nvPr/>
        </p:nvSpPr>
        <p:spPr>
          <a:xfrm>
            <a:off x="300178" y="181737"/>
            <a:ext cx="10988087" cy="342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kumimoji="1" lang="ja-JP" altLang="en-US" sz="1900" dirty="0">
                <a:latin typeface="Meiryo UI" panose="020B0604030504040204" pitchFamily="50" charset="-128"/>
                <a:ea typeface="Meiryo UI" panose="020B0604030504040204" pitchFamily="50" charset="-128"/>
              </a:rPr>
              <a:t>モデル</a:t>
            </a:r>
            <a:r>
              <a:rPr kumimoji="1" lang="en-US" altLang="ja-JP" sz="1900" dirty="0">
                <a:latin typeface="Meiryo UI" panose="020B0604030504040204" pitchFamily="50" charset="-128"/>
                <a:ea typeface="Meiryo UI" panose="020B0604030504040204" pitchFamily="50" charset="-128"/>
              </a:rPr>
              <a:t>(1)</a:t>
            </a:r>
            <a:r>
              <a:rPr kumimoji="1" lang="ja-JP" altLang="en-US" sz="1900" dirty="0">
                <a:latin typeface="Meiryo UI" panose="020B0604030504040204" pitchFamily="50" charset="-128"/>
                <a:ea typeface="Meiryo UI" panose="020B0604030504040204" pitchFamily="50" charset="-128"/>
              </a:rPr>
              <a:t>：ヘルスケアスコアモデル</a:t>
            </a:r>
          </a:p>
        </p:txBody>
      </p:sp>
      <p:sp>
        <p:nvSpPr>
          <p:cNvPr id="12" name="正方形/長方形 11">
            <a:extLst>
              <a:ext uri="{FF2B5EF4-FFF2-40B4-BE49-F238E27FC236}">
                <a16:creationId xmlns:a16="http://schemas.microsoft.com/office/drawing/2014/main" id="{AFEA5427-A2DF-BE92-7459-712F921BF637}"/>
              </a:ext>
            </a:extLst>
          </p:cNvPr>
          <p:cNvSpPr/>
          <p:nvPr/>
        </p:nvSpPr>
        <p:spPr>
          <a:xfrm>
            <a:off x="801384" y="1461328"/>
            <a:ext cx="360000" cy="2466664"/>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vert="eaVert" rtlCol="0" anchor="ctr"/>
          <a:lstStyle/>
          <a:p>
            <a:pPr algn="ctr"/>
            <a:r>
              <a:rPr lang="ja-JP" altLang="en-US" sz="1600">
                <a:latin typeface="Meiryo UI" panose="020B0604030504040204" pitchFamily="50" charset="-128"/>
                <a:ea typeface="Meiryo UI" panose="020B0604030504040204" pitchFamily="50" charset="-128"/>
              </a:rPr>
              <a:t>データ収集と加工</a:t>
            </a:r>
            <a:endParaRPr kumimoji="1" lang="ja-JP" altLang="en-US" sz="1600">
              <a:latin typeface="Meiryo UI" panose="020B0604030504040204" pitchFamily="50" charset="-128"/>
              <a:ea typeface="Meiryo UI" panose="020B0604030504040204" pitchFamily="50" charset="-128"/>
            </a:endParaRPr>
          </a:p>
        </p:txBody>
      </p:sp>
      <p:sp>
        <p:nvSpPr>
          <p:cNvPr id="13" name="正方形/長方形 12">
            <a:extLst>
              <a:ext uri="{FF2B5EF4-FFF2-40B4-BE49-F238E27FC236}">
                <a16:creationId xmlns:a16="http://schemas.microsoft.com/office/drawing/2014/main" id="{E1DEF67A-973E-16D5-C7D8-110A601EE520}"/>
              </a:ext>
            </a:extLst>
          </p:cNvPr>
          <p:cNvSpPr/>
          <p:nvPr/>
        </p:nvSpPr>
        <p:spPr>
          <a:xfrm>
            <a:off x="795661" y="3998681"/>
            <a:ext cx="360000" cy="1485413"/>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vert="eaVert" rtlCol="0" anchor="ctr"/>
          <a:lstStyle/>
          <a:p>
            <a:pPr algn="ctr"/>
            <a:r>
              <a:rPr kumimoji="1" lang="ja-JP" altLang="en-US" sz="1600" dirty="0">
                <a:latin typeface="Meiryo UI" panose="020B0604030504040204" pitchFamily="50" charset="-128"/>
                <a:ea typeface="Meiryo UI" panose="020B0604030504040204" pitchFamily="50" charset="-128"/>
              </a:rPr>
              <a:t>モデル構築</a:t>
            </a:r>
          </a:p>
        </p:txBody>
      </p:sp>
      <p:sp>
        <p:nvSpPr>
          <p:cNvPr id="19" name="正方形/長方形 18">
            <a:extLst>
              <a:ext uri="{FF2B5EF4-FFF2-40B4-BE49-F238E27FC236}">
                <a16:creationId xmlns:a16="http://schemas.microsoft.com/office/drawing/2014/main" id="{167CA845-9535-B31D-6DF9-6FC224CE8A70}"/>
              </a:ext>
            </a:extLst>
          </p:cNvPr>
          <p:cNvSpPr/>
          <p:nvPr/>
        </p:nvSpPr>
        <p:spPr>
          <a:xfrm>
            <a:off x="1271018" y="5558291"/>
            <a:ext cx="10298417" cy="9000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ja-JP" altLang="en-US" sz="1600" b="1" dirty="0">
                <a:latin typeface="Meiryo UI" panose="020B0604030504040204" pitchFamily="50" charset="-128"/>
                <a:ea typeface="Meiryo UI" panose="020B0604030504040204" pitchFamily="50" charset="-128"/>
              </a:rPr>
              <a:t>可視化：</a:t>
            </a:r>
            <a:r>
              <a:rPr lang="ja-JP" altLang="en-US" sz="1600" dirty="0">
                <a:latin typeface="Meiryo UI" panose="020B0604030504040204" pitchFamily="50" charset="-128"/>
                <a:ea typeface="Meiryo UI" panose="020B0604030504040204" pitchFamily="50" charset="-128"/>
              </a:rPr>
              <a:t>分析基盤に組み込まれた標準</a:t>
            </a:r>
            <a:r>
              <a:rPr lang="en-US" altLang="ja-JP" sz="1600" dirty="0">
                <a:latin typeface="Meiryo UI" panose="020B0604030504040204" pitchFamily="50" charset="-128"/>
                <a:ea typeface="Meiryo UI" panose="020B0604030504040204" pitchFamily="50" charset="-128"/>
              </a:rPr>
              <a:t>BI</a:t>
            </a:r>
            <a:r>
              <a:rPr lang="ja-JP" altLang="en-US" sz="1600" dirty="0">
                <a:latin typeface="Meiryo UI" panose="020B0604030504040204" pitchFamily="50" charset="-128"/>
                <a:ea typeface="Meiryo UI" panose="020B0604030504040204" pitchFamily="50" charset="-128"/>
              </a:rPr>
              <a:t> </a:t>
            </a:r>
            <a:r>
              <a:rPr lang="en-US" altLang="ja-JP" sz="1600" dirty="0">
                <a:latin typeface="Meiryo UI" panose="020B0604030504040204" pitchFamily="50" charset="-128"/>
                <a:ea typeface="Meiryo UI" panose="020B0604030504040204" pitchFamily="50" charset="-128"/>
              </a:rPr>
              <a:t>(GUI</a:t>
            </a:r>
            <a:r>
              <a:rPr lang="ja-JP" altLang="en-US" sz="1600" dirty="0">
                <a:latin typeface="Meiryo UI" panose="020B0604030504040204" pitchFamily="50" charset="-128"/>
                <a:ea typeface="Meiryo UI" panose="020B0604030504040204" pitchFamily="50" charset="-128"/>
              </a:rPr>
              <a:t>画面</a:t>
            </a:r>
            <a:r>
              <a:rPr lang="en-US" altLang="ja-JP" sz="1600" dirty="0">
                <a:latin typeface="Meiryo UI" panose="020B0604030504040204" pitchFamily="50" charset="-128"/>
                <a:ea typeface="Meiryo UI" panose="020B0604030504040204" pitchFamily="50" charset="-128"/>
              </a:rPr>
              <a:t>)</a:t>
            </a:r>
            <a:r>
              <a:rPr lang="ja-JP" altLang="en-US" sz="1600" dirty="0">
                <a:latin typeface="Meiryo UI" panose="020B0604030504040204" pitchFamily="50" charset="-128"/>
                <a:ea typeface="Meiryo UI" panose="020B0604030504040204" pitchFamily="50" charset="-128"/>
              </a:rPr>
              <a:t> を利用</a:t>
            </a:r>
            <a:endParaRPr lang="en-US" altLang="ja-JP" sz="1600" dirty="0">
              <a:latin typeface="Meiryo UI" panose="020B0604030504040204" pitchFamily="50" charset="-128"/>
              <a:ea typeface="Meiryo UI" panose="020B0604030504040204" pitchFamily="50" charset="-128"/>
            </a:endParaRPr>
          </a:p>
          <a:p>
            <a:r>
              <a:rPr kumimoji="1" lang="ja-JP" altLang="en-US" sz="1600" b="1" dirty="0">
                <a:latin typeface="Meiryo UI" panose="020B0604030504040204" pitchFamily="50" charset="-128"/>
                <a:ea typeface="Meiryo UI" panose="020B0604030504040204" pitchFamily="50" charset="-128"/>
              </a:rPr>
              <a:t>データ更新：</a:t>
            </a:r>
            <a:r>
              <a:rPr kumimoji="1" lang="ja-JP" altLang="en-US" sz="1600" dirty="0">
                <a:latin typeface="Meiryo UI" panose="020B0604030504040204" pitchFamily="50" charset="-128"/>
                <a:ea typeface="Meiryo UI" panose="020B0604030504040204" pitchFamily="50" charset="-128"/>
              </a:rPr>
              <a:t>毎月</a:t>
            </a:r>
            <a:r>
              <a:rPr kumimoji="1" lang="en-US" altLang="ja-JP" sz="1600" dirty="0">
                <a:latin typeface="Meiryo UI" panose="020B0604030504040204" pitchFamily="50" charset="-128"/>
                <a:ea typeface="Meiryo UI" panose="020B0604030504040204" pitchFamily="50" charset="-128"/>
              </a:rPr>
              <a:t>1</a:t>
            </a:r>
            <a:r>
              <a:rPr kumimoji="1" lang="ja-JP" altLang="en-US" sz="1600" dirty="0">
                <a:latin typeface="Meiryo UI" panose="020B0604030504040204" pitchFamily="50" charset="-128"/>
                <a:ea typeface="Meiryo UI" panose="020B0604030504040204" pitchFamily="50" charset="-128"/>
              </a:rPr>
              <a:t>回、自動スケジュールでデータ更新および</a:t>
            </a:r>
            <a:r>
              <a:rPr kumimoji="1" lang="en-US" altLang="ja-JP" sz="1600" dirty="0">
                <a:latin typeface="Meiryo UI" panose="020B0604030504040204" pitchFamily="50" charset="-128"/>
                <a:ea typeface="Meiryo UI" panose="020B0604030504040204" pitchFamily="50" charset="-128"/>
              </a:rPr>
              <a:t>GUI</a:t>
            </a:r>
            <a:r>
              <a:rPr kumimoji="1" lang="ja-JP" altLang="en-US" sz="1600" dirty="0">
                <a:latin typeface="Meiryo UI" panose="020B0604030504040204" pitchFamily="50" charset="-128"/>
                <a:ea typeface="Meiryo UI" panose="020B0604030504040204" pitchFamily="50" charset="-128"/>
              </a:rPr>
              <a:t>画面更新</a:t>
            </a:r>
            <a:endParaRPr kumimoji="1" lang="en-US" altLang="ja-JP" sz="1600" dirty="0">
              <a:latin typeface="Meiryo UI" panose="020B0604030504040204" pitchFamily="50" charset="-128"/>
              <a:ea typeface="Meiryo UI" panose="020B0604030504040204" pitchFamily="50" charset="-128"/>
            </a:endParaRPr>
          </a:p>
          <a:p>
            <a:r>
              <a:rPr lang="ja-JP" altLang="en-US" sz="1600" b="1" dirty="0">
                <a:latin typeface="Meiryo UI" panose="020B0604030504040204" pitchFamily="50" charset="-128"/>
                <a:ea typeface="Meiryo UI" panose="020B0604030504040204" pitchFamily="50" charset="-128"/>
              </a:rPr>
              <a:t>モデル再学習：</a:t>
            </a:r>
            <a:r>
              <a:rPr lang="ja-JP" altLang="en-US" sz="1600" dirty="0">
                <a:latin typeface="Meiryo UI" panose="020B0604030504040204" pitchFamily="50" charset="-128"/>
                <a:ea typeface="Meiryo UI" panose="020B0604030504040204" pitchFamily="50" charset="-128"/>
              </a:rPr>
              <a:t>未実施</a:t>
            </a:r>
            <a:endParaRPr lang="en-US" altLang="ja-JP" sz="1600" dirty="0">
              <a:latin typeface="Meiryo UI" panose="020B0604030504040204" pitchFamily="50" charset="-128"/>
              <a:ea typeface="Meiryo UI" panose="020B0604030504040204" pitchFamily="50" charset="-128"/>
            </a:endParaRPr>
          </a:p>
        </p:txBody>
      </p:sp>
      <p:sp>
        <p:nvSpPr>
          <p:cNvPr id="22" name="テキスト ボックス 21">
            <a:extLst>
              <a:ext uri="{FF2B5EF4-FFF2-40B4-BE49-F238E27FC236}">
                <a16:creationId xmlns:a16="http://schemas.microsoft.com/office/drawing/2014/main" id="{414D4C7A-66C7-3761-1326-D9C0BBE0F6A7}"/>
              </a:ext>
            </a:extLst>
          </p:cNvPr>
          <p:cNvSpPr txBox="1"/>
          <p:nvPr/>
        </p:nvSpPr>
        <p:spPr>
          <a:xfrm>
            <a:off x="357328" y="782669"/>
            <a:ext cx="11138278" cy="338554"/>
          </a:xfrm>
          <a:prstGeom prst="rect">
            <a:avLst/>
          </a:prstGeom>
          <a:noFill/>
        </p:spPr>
        <p:txBody>
          <a:bodyPr wrap="square">
            <a:spAutoFit/>
          </a:bodyPr>
          <a:lstStyle/>
          <a:p>
            <a:pPr algn="l"/>
            <a:r>
              <a:rPr kumimoji="1" lang="ja-JP" altLang="en-US" sz="1600" dirty="0">
                <a:solidFill>
                  <a:schemeClr val="tx1"/>
                </a:solidFill>
                <a:latin typeface="Meiryo UI" panose="020B0604030504040204" pitchFamily="50" charset="-128"/>
                <a:ea typeface="Meiryo UI" panose="020B0604030504040204" pitchFamily="50" charset="-128"/>
              </a:rPr>
              <a:t>目的：大量に蓄積された過去データを活用し、ご入居者の健康状態の可視化・将来の健康状態の予測から自立支援介護を支援</a:t>
            </a:r>
          </a:p>
        </p:txBody>
      </p:sp>
      <p:grpSp>
        <p:nvGrpSpPr>
          <p:cNvPr id="63" name="グループ化 62">
            <a:extLst>
              <a:ext uri="{FF2B5EF4-FFF2-40B4-BE49-F238E27FC236}">
                <a16:creationId xmlns:a16="http://schemas.microsoft.com/office/drawing/2014/main" id="{69CA32C3-CE84-2F67-2211-550569E9AACF}"/>
              </a:ext>
            </a:extLst>
          </p:cNvPr>
          <p:cNvGrpSpPr/>
          <p:nvPr/>
        </p:nvGrpSpPr>
        <p:grpSpPr>
          <a:xfrm>
            <a:off x="1271018" y="1466333"/>
            <a:ext cx="10440000" cy="2466664"/>
            <a:chOff x="1441200" y="1495164"/>
            <a:chExt cx="10440000" cy="2466664"/>
          </a:xfrm>
        </p:grpSpPr>
        <p:sp>
          <p:nvSpPr>
            <p:cNvPr id="2" name="Google Shape;3515;g24948b862d3_0_60">
              <a:extLst>
                <a:ext uri="{FF2B5EF4-FFF2-40B4-BE49-F238E27FC236}">
                  <a16:creationId xmlns:a16="http://schemas.microsoft.com/office/drawing/2014/main" id="{5AD3EA60-B65A-1EEC-C891-27107FD30D29}"/>
                </a:ext>
              </a:extLst>
            </p:cNvPr>
            <p:cNvSpPr/>
            <p:nvPr/>
          </p:nvSpPr>
          <p:spPr>
            <a:xfrm>
              <a:off x="1441200" y="1495164"/>
              <a:ext cx="3667202" cy="288000"/>
            </a:xfrm>
            <a:prstGeom prst="rect">
              <a:avLst/>
            </a:prstGeom>
            <a:solidFill>
              <a:schemeClr val="tx2"/>
            </a:solidFill>
            <a:ln>
              <a:noFill/>
            </a:ln>
          </p:spPr>
          <p:txBody>
            <a:bodyPr spcFirstLastPara="1" wrap="square" lIns="80625" tIns="40300" rIns="80625" bIns="403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ja-JP" altLang="en-US" sz="1600" b="0" i="0" u="none" strike="noStrike" cap="none" dirty="0">
                  <a:solidFill>
                    <a:schemeClr val="bg1"/>
                  </a:solidFill>
                  <a:latin typeface="Meiryo UI" panose="020B0604030504040204" pitchFamily="50" charset="-128"/>
                  <a:ea typeface="Meiryo UI" panose="020B0604030504040204" pitchFamily="50" charset="-128"/>
                  <a:cs typeface="Arial"/>
                  <a:sym typeface="Arial"/>
                </a:rPr>
                <a:t>入力データ一覧</a:t>
              </a:r>
              <a:endParaRPr sz="1600" b="0" i="0" u="none" strike="noStrike" cap="none" dirty="0">
                <a:solidFill>
                  <a:schemeClr val="bg1"/>
                </a:solidFill>
                <a:latin typeface="Meiryo UI" panose="020B0604030504040204" pitchFamily="50" charset="-128"/>
                <a:ea typeface="Meiryo UI" panose="020B0604030504040204" pitchFamily="50" charset="-128"/>
                <a:cs typeface="Arial"/>
                <a:sym typeface="Arial"/>
              </a:endParaRPr>
            </a:p>
          </p:txBody>
        </p:sp>
        <p:sp>
          <p:nvSpPr>
            <p:cNvPr id="3" name="Google Shape;3515;g24948b862d3_0_60">
              <a:extLst>
                <a:ext uri="{FF2B5EF4-FFF2-40B4-BE49-F238E27FC236}">
                  <a16:creationId xmlns:a16="http://schemas.microsoft.com/office/drawing/2014/main" id="{3BCDF071-5863-4E8B-1E0A-38912880673F}"/>
                </a:ext>
              </a:extLst>
            </p:cNvPr>
            <p:cNvSpPr/>
            <p:nvPr/>
          </p:nvSpPr>
          <p:spPr>
            <a:xfrm>
              <a:off x="5315145" y="1495164"/>
              <a:ext cx="1479793" cy="288000"/>
            </a:xfrm>
            <a:prstGeom prst="rect">
              <a:avLst/>
            </a:prstGeom>
            <a:solidFill>
              <a:schemeClr val="tx2"/>
            </a:solidFill>
            <a:ln>
              <a:noFill/>
            </a:ln>
          </p:spPr>
          <p:txBody>
            <a:bodyPr spcFirstLastPara="1" wrap="square" lIns="80625" tIns="40300" rIns="80625" bIns="403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ja-JP" altLang="en-US" sz="1600" dirty="0">
                  <a:solidFill>
                    <a:schemeClr val="bg1"/>
                  </a:solidFill>
                  <a:latin typeface="Meiryo UI" panose="020B0604030504040204" pitchFamily="50" charset="-128"/>
                  <a:ea typeface="Meiryo UI" panose="020B0604030504040204" pitchFamily="50" charset="-128"/>
                </a:rPr>
                <a:t>前処理</a:t>
              </a:r>
              <a:endParaRPr sz="1600" b="0" i="0" u="none" strike="noStrike" cap="none" dirty="0">
                <a:solidFill>
                  <a:schemeClr val="bg1"/>
                </a:solidFill>
                <a:latin typeface="Meiryo UI" panose="020B0604030504040204" pitchFamily="50" charset="-128"/>
                <a:ea typeface="Meiryo UI" panose="020B0604030504040204" pitchFamily="50" charset="-128"/>
                <a:cs typeface="Arial"/>
                <a:sym typeface="Arial"/>
              </a:endParaRPr>
            </a:p>
          </p:txBody>
        </p:sp>
        <p:sp>
          <p:nvSpPr>
            <p:cNvPr id="5" name="Google Shape;3515;g24948b862d3_0_60">
              <a:extLst>
                <a:ext uri="{FF2B5EF4-FFF2-40B4-BE49-F238E27FC236}">
                  <a16:creationId xmlns:a16="http://schemas.microsoft.com/office/drawing/2014/main" id="{4D3F5A63-CC75-B9D9-B4E4-E8D252F6DCB5}"/>
                </a:ext>
              </a:extLst>
            </p:cNvPr>
            <p:cNvSpPr/>
            <p:nvPr/>
          </p:nvSpPr>
          <p:spPr>
            <a:xfrm>
              <a:off x="7005805" y="1495164"/>
              <a:ext cx="4875395" cy="288000"/>
            </a:xfrm>
            <a:prstGeom prst="rect">
              <a:avLst/>
            </a:prstGeom>
            <a:solidFill>
              <a:schemeClr val="tx2"/>
            </a:solidFill>
            <a:ln>
              <a:noFill/>
            </a:ln>
          </p:spPr>
          <p:txBody>
            <a:bodyPr spcFirstLastPara="1" wrap="square" lIns="80625" tIns="40300" rIns="80625" bIns="403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ja-JP" altLang="en-US" sz="1600" b="0" i="0" u="none" strike="noStrike" cap="none" dirty="0">
                  <a:solidFill>
                    <a:schemeClr val="bg1"/>
                  </a:solidFill>
                  <a:latin typeface="Meiryo UI" panose="020B0604030504040204" pitchFamily="50" charset="-128"/>
                  <a:ea typeface="Meiryo UI" panose="020B0604030504040204" pitchFamily="50" charset="-128"/>
                  <a:cs typeface="Arial"/>
                  <a:sym typeface="Arial"/>
                </a:rPr>
                <a:t>特徴量</a:t>
              </a:r>
              <a:r>
                <a:rPr lang="ja-JP" altLang="en-US" sz="1600" dirty="0">
                  <a:solidFill>
                    <a:schemeClr val="bg1"/>
                  </a:solidFill>
                  <a:latin typeface="Meiryo UI" panose="020B0604030504040204" pitchFamily="50" charset="-128"/>
                  <a:ea typeface="Meiryo UI" panose="020B0604030504040204" pitchFamily="50" charset="-128"/>
                </a:rPr>
                <a:t>化</a:t>
              </a:r>
              <a:endParaRPr sz="1600" b="0" i="0" u="none" strike="noStrike" cap="none" dirty="0">
                <a:solidFill>
                  <a:schemeClr val="bg1"/>
                </a:solidFill>
                <a:latin typeface="Meiryo UI" panose="020B0604030504040204" pitchFamily="50" charset="-128"/>
                <a:ea typeface="Meiryo UI" panose="020B0604030504040204" pitchFamily="50" charset="-128"/>
                <a:cs typeface="Arial"/>
                <a:sym typeface="Arial"/>
              </a:endParaRPr>
            </a:p>
          </p:txBody>
        </p:sp>
        <p:sp>
          <p:nvSpPr>
            <p:cNvPr id="37" name="正方形/長方形 36">
              <a:extLst>
                <a:ext uri="{FF2B5EF4-FFF2-40B4-BE49-F238E27FC236}">
                  <a16:creationId xmlns:a16="http://schemas.microsoft.com/office/drawing/2014/main" id="{7B3F50C5-0688-FCAF-CBD1-E02B3F062EAC}"/>
                </a:ext>
              </a:extLst>
            </p:cNvPr>
            <p:cNvSpPr/>
            <p:nvPr/>
          </p:nvSpPr>
          <p:spPr>
            <a:xfrm>
              <a:off x="2216353" y="1898897"/>
              <a:ext cx="2892049" cy="864000"/>
            </a:xfrm>
            <a:prstGeom prst="rect">
              <a:avLst/>
            </a:prstGeom>
            <a:solidFill>
              <a:schemeClr val="accent1">
                <a:lumMod val="20000"/>
                <a:lumOff val="8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t"/>
            <a:lstStyle/>
            <a:p>
              <a:r>
                <a:rPr kumimoji="1" lang="ja-JP" altLang="en-US" sz="1200" dirty="0">
                  <a:solidFill>
                    <a:schemeClr val="tx1">
                      <a:lumMod val="75000"/>
                      <a:lumOff val="25000"/>
                    </a:schemeClr>
                  </a:solidFill>
                  <a:latin typeface="Meiryo UI" panose="020B0604030504040204" pitchFamily="50" charset="-128"/>
                  <a:ea typeface="Meiryo UI" panose="020B0604030504040204" pitchFamily="50" charset="-128"/>
                </a:rPr>
                <a:t>ケア記録</a:t>
              </a:r>
              <a:endParaRPr kumimoji="1" lang="en-US" altLang="ja-JP" sz="12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9" name="正方形/長方形 38">
              <a:extLst>
                <a:ext uri="{FF2B5EF4-FFF2-40B4-BE49-F238E27FC236}">
                  <a16:creationId xmlns:a16="http://schemas.microsoft.com/office/drawing/2014/main" id="{91B74365-3847-B6F0-273E-7C49C5B6E2BE}"/>
                </a:ext>
              </a:extLst>
            </p:cNvPr>
            <p:cNvSpPr/>
            <p:nvPr/>
          </p:nvSpPr>
          <p:spPr>
            <a:xfrm>
              <a:off x="2216353" y="2794202"/>
              <a:ext cx="2892049" cy="792000"/>
            </a:xfrm>
            <a:prstGeom prst="rect">
              <a:avLst/>
            </a:prstGeom>
            <a:solidFill>
              <a:srgbClr val="CCFFFF">
                <a:alpha val="49804"/>
              </a:srgbClr>
            </a:solidFill>
            <a:ln>
              <a:noFill/>
            </a:ln>
          </p:spPr>
          <p:style>
            <a:lnRef idx="0">
              <a:scrgbClr r="0" g="0" b="0"/>
            </a:lnRef>
            <a:fillRef idx="0">
              <a:scrgbClr r="0" g="0" b="0"/>
            </a:fillRef>
            <a:effectRef idx="0">
              <a:scrgbClr r="0" g="0" b="0"/>
            </a:effectRef>
            <a:fontRef idx="minor">
              <a:schemeClr val="lt1"/>
            </a:fontRef>
          </p:style>
          <p:txBody>
            <a:bodyPr rtlCol="0" anchor="t"/>
            <a:lstStyle/>
            <a:p>
              <a:r>
                <a:rPr kumimoji="1" lang="en-US" altLang="ja-JP" sz="1200" dirty="0">
                  <a:solidFill>
                    <a:schemeClr val="tx1">
                      <a:lumMod val="75000"/>
                      <a:lumOff val="25000"/>
                    </a:schemeClr>
                  </a:solidFill>
                  <a:latin typeface="Meiryo UI" panose="020B0604030504040204" pitchFamily="50" charset="-128"/>
                  <a:ea typeface="Meiryo UI" panose="020B0604030504040204" pitchFamily="50" charset="-128"/>
                </a:rPr>
                <a:t>AV4</a:t>
              </a:r>
            </a:p>
          </p:txBody>
        </p:sp>
        <p:sp>
          <p:nvSpPr>
            <p:cNvPr id="41" name="正方形/長方形 40">
              <a:extLst>
                <a:ext uri="{FF2B5EF4-FFF2-40B4-BE49-F238E27FC236}">
                  <a16:creationId xmlns:a16="http://schemas.microsoft.com/office/drawing/2014/main" id="{BA015F91-E71C-BBEF-4A71-8DB0841348BC}"/>
                </a:ext>
              </a:extLst>
            </p:cNvPr>
            <p:cNvSpPr/>
            <p:nvPr/>
          </p:nvSpPr>
          <p:spPr>
            <a:xfrm>
              <a:off x="2216353" y="3610768"/>
              <a:ext cx="2892049" cy="324000"/>
            </a:xfrm>
            <a:prstGeom prst="rect">
              <a:avLst/>
            </a:prstGeom>
            <a:solidFill>
              <a:schemeClr val="bg2">
                <a:lumMod val="9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t"/>
            <a:lstStyle/>
            <a:p>
              <a:r>
                <a:rPr kumimoji="1" lang="ja-JP" altLang="en-US" sz="1200" dirty="0">
                  <a:solidFill>
                    <a:schemeClr val="tx1">
                      <a:lumMod val="75000"/>
                      <a:lumOff val="25000"/>
                    </a:schemeClr>
                  </a:solidFill>
                  <a:latin typeface="Meiryo UI" panose="020B0604030504040204" pitchFamily="50" charset="-128"/>
                  <a:ea typeface="Meiryo UI" panose="020B0604030504040204" pitchFamily="50" charset="-128"/>
                </a:rPr>
                <a:t>ほのぼの </a:t>
              </a:r>
              <a:endParaRPr kumimoji="1" lang="en-US" altLang="ja-JP" sz="12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2D47FC54-4BE1-1FB8-AFE7-8AC50C17284A}"/>
                </a:ext>
              </a:extLst>
            </p:cNvPr>
            <p:cNvSpPr/>
            <p:nvPr/>
          </p:nvSpPr>
          <p:spPr>
            <a:xfrm>
              <a:off x="3173158" y="2801618"/>
              <a:ext cx="1885695" cy="230650"/>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ysClr val="windowText" lastClr="000000"/>
                  </a:solidFill>
                  <a:latin typeface="Meiryo UI" panose="020B0604030504040204" pitchFamily="50" charset="-128"/>
                  <a:ea typeface="Meiryo UI" panose="020B0604030504040204" pitchFamily="50" charset="-128"/>
                </a:rPr>
                <a:t>基本情報</a:t>
              </a:r>
              <a:r>
                <a:rPr lang="en-US" altLang="ja-JP" sz="1200" dirty="0">
                  <a:solidFill>
                    <a:sysClr val="windowText" lastClr="000000"/>
                  </a:solidFill>
                  <a:latin typeface="Meiryo UI" panose="020B0604030504040204" pitchFamily="50" charset="-128"/>
                  <a:ea typeface="Meiryo UI" panose="020B0604030504040204" pitchFamily="50" charset="-128"/>
                </a:rPr>
                <a:t>, </a:t>
              </a:r>
              <a:r>
                <a:rPr lang="ja-JP" altLang="en-US" sz="1200" dirty="0">
                  <a:solidFill>
                    <a:sysClr val="windowText" lastClr="000000"/>
                  </a:solidFill>
                  <a:latin typeface="Meiryo UI" panose="020B0604030504040204" pitchFamily="50" charset="-128"/>
                  <a:ea typeface="Meiryo UI" panose="020B0604030504040204" pitchFamily="50" charset="-128"/>
                </a:rPr>
                <a:t>身体機能</a:t>
              </a:r>
              <a:endParaRPr kumimoji="1" lang="ja-JP" altLang="en-US" sz="1200" dirty="0">
                <a:solidFill>
                  <a:sysClr val="windowText" lastClr="000000"/>
                </a:solidFill>
                <a:latin typeface="Meiryo UI" panose="020B0604030504040204" pitchFamily="50" charset="-128"/>
                <a:ea typeface="Meiryo UI" panose="020B0604030504040204" pitchFamily="50" charset="-128"/>
              </a:endParaRPr>
            </a:p>
          </p:txBody>
        </p:sp>
        <p:sp>
          <p:nvSpPr>
            <p:cNvPr id="10" name="正方形/長方形 9">
              <a:extLst>
                <a:ext uri="{FF2B5EF4-FFF2-40B4-BE49-F238E27FC236}">
                  <a16:creationId xmlns:a16="http://schemas.microsoft.com/office/drawing/2014/main" id="{67CBA9FF-AE9F-B6AC-FAD9-864E39615348}"/>
                </a:ext>
              </a:extLst>
            </p:cNvPr>
            <p:cNvSpPr/>
            <p:nvPr/>
          </p:nvSpPr>
          <p:spPr>
            <a:xfrm>
              <a:off x="3173158" y="3066032"/>
              <a:ext cx="1885695" cy="230650"/>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ysClr val="windowText" lastClr="000000"/>
                  </a:solidFill>
                  <a:latin typeface="Meiryo UI" panose="020B0604030504040204" pitchFamily="50" charset="-128"/>
                  <a:ea typeface="Meiryo UI" panose="020B0604030504040204" pitchFamily="50" charset="-128"/>
                </a:rPr>
                <a:t>ADL</a:t>
              </a:r>
              <a:r>
                <a:rPr kumimoji="1" lang="ja-JP" altLang="en-US" sz="1200" dirty="0">
                  <a:solidFill>
                    <a:sysClr val="windowText" lastClr="000000"/>
                  </a:solidFill>
                  <a:latin typeface="Meiryo UI" panose="020B0604030504040204" pitchFamily="50" charset="-128"/>
                  <a:ea typeface="Meiryo UI" panose="020B0604030504040204" pitchFamily="50" charset="-128"/>
                </a:rPr>
                <a:t>自立度</a:t>
              </a:r>
              <a:r>
                <a:rPr kumimoji="1" lang="en-US" altLang="ja-JP" sz="1200" dirty="0">
                  <a:solidFill>
                    <a:sysClr val="windowText" lastClr="000000"/>
                  </a:solidFill>
                  <a:latin typeface="Meiryo UI" panose="020B0604030504040204" pitchFamily="50" charset="-128"/>
                  <a:ea typeface="Meiryo UI" panose="020B0604030504040204" pitchFamily="50" charset="-128"/>
                </a:rPr>
                <a:t>, </a:t>
              </a:r>
              <a:r>
                <a:rPr kumimoji="1" lang="ja-JP" altLang="en-US" sz="1200" dirty="0">
                  <a:solidFill>
                    <a:sysClr val="windowText" lastClr="000000"/>
                  </a:solidFill>
                  <a:latin typeface="Meiryo UI" panose="020B0604030504040204" pitchFamily="50" charset="-128"/>
                  <a:ea typeface="Meiryo UI" panose="020B0604030504040204" pitchFamily="50" charset="-128"/>
                </a:rPr>
                <a:t>認知機能</a:t>
              </a:r>
            </a:p>
          </p:txBody>
        </p:sp>
        <p:sp>
          <p:nvSpPr>
            <p:cNvPr id="18" name="正方形/長方形 17">
              <a:extLst>
                <a:ext uri="{FF2B5EF4-FFF2-40B4-BE49-F238E27FC236}">
                  <a16:creationId xmlns:a16="http://schemas.microsoft.com/office/drawing/2014/main" id="{57313B84-A82E-6822-31AB-C2C3D1BF5454}"/>
                </a:ext>
              </a:extLst>
            </p:cNvPr>
            <p:cNvSpPr/>
            <p:nvPr/>
          </p:nvSpPr>
          <p:spPr>
            <a:xfrm>
              <a:off x="3173158" y="3666232"/>
              <a:ext cx="1885695" cy="230650"/>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ysClr val="windowText" lastClr="000000"/>
                  </a:solidFill>
                  <a:latin typeface="Meiryo UI" panose="020B0604030504040204" pitchFamily="50" charset="-128"/>
                  <a:ea typeface="Meiryo UI" panose="020B0604030504040204" pitchFamily="50" charset="-128"/>
                </a:rPr>
                <a:t>入院の有無</a:t>
              </a:r>
              <a:r>
                <a:rPr kumimoji="1" lang="en-US" altLang="ja-JP" sz="1200" dirty="0">
                  <a:solidFill>
                    <a:sysClr val="windowText" lastClr="000000"/>
                  </a:solidFill>
                  <a:latin typeface="Meiryo UI" panose="020B0604030504040204" pitchFamily="50" charset="-128"/>
                  <a:ea typeface="Meiryo UI" panose="020B0604030504040204" pitchFamily="50" charset="-128"/>
                </a:rPr>
                <a:t>, </a:t>
              </a:r>
              <a:r>
                <a:rPr kumimoji="1" lang="ja-JP" altLang="en-US" sz="1200" dirty="0">
                  <a:solidFill>
                    <a:sysClr val="windowText" lastClr="000000"/>
                  </a:solidFill>
                  <a:latin typeface="Meiryo UI" panose="020B0604030504040204" pitchFamily="50" charset="-128"/>
                  <a:ea typeface="Meiryo UI" panose="020B0604030504040204" pitchFamily="50" charset="-128"/>
                </a:rPr>
                <a:t>退去の有無</a:t>
              </a:r>
            </a:p>
          </p:txBody>
        </p:sp>
        <p:sp>
          <p:nvSpPr>
            <p:cNvPr id="25" name="正方形/長方形 24">
              <a:extLst>
                <a:ext uri="{FF2B5EF4-FFF2-40B4-BE49-F238E27FC236}">
                  <a16:creationId xmlns:a16="http://schemas.microsoft.com/office/drawing/2014/main" id="{5310BBAA-C2E3-39F8-42A2-B8D780171702}"/>
                </a:ext>
              </a:extLst>
            </p:cNvPr>
            <p:cNvSpPr/>
            <p:nvPr/>
          </p:nvSpPr>
          <p:spPr>
            <a:xfrm>
              <a:off x="3173158" y="1947558"/>
              <a:ext cx="1885695" cy="230650"/>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ysClr val="windowText" lastClr="000000"/>
                  </a:solidFill>
                  <a:latin typeface="Meiryo UI" panose="020B0604030504040204" pitchFamily="50" charset="-128"/>
                  <a:ea typeface="Meiryo UI" panose="020B0604030504040204" pitchFamily="50" charset="-128"/>
                </a:rPr>
                <a:t>事故</a:t>
              </a:r>
            </a:p>
          </p:txBody>
        </p:sp>
        <p:sp>
          <p:nvSpPr>
            <p:cNvPr id="26" name="正方形/長方形 25">
              <a:extLst>
                <a:ext uri="{FF2B5EF4-FFF2-40B4-BE49-F238E27FC236}">
                  <a16:creationId xmlns:a16="http://schemas.microsoft.com/office/drawing/2014/main" id="{83E29972-D72C-8C5B-F428-7AFD82C5F21A}"/>
                </a:ext>
              </a:extLst>
            </p:cNvPr>
            <p:cNvSpPr/>
            <p:nvPr/>
          </p:nvSpPr>
          <p:spPr>
            <a:xfrm>
              <a:off x="3173158" y="2481964"/>
              <a:ext cx="1885695" cy="230650"/>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ysClr val="windowText" lastClr="000000"/>
                  </a:solidFill>
                  <a:latin typeface="Meiryo UI" panose="020B0604030504040204" pitchFamily="50" charset="-128"/>
                  <a:ea typeface="Meiryo UI" panose="020B0604030504040204" pitchFamily="50" charset="-128"/>
                </a:rPr>
                <a:t>体重</a:t>
              </a:r>
              <a:r>
                <a:rPr kumimoji="1" lang="en-US" altLang="ja-JP" sz="1200" dirty="0">
                  <a:solidFill>
                    <a:sysClr val="windowText" lastClr="000000"/>
                  </a:solidFill>
                  <a:latin typeface="Meiryo UI" panose="020B0604030504040204" pitchFamily="50" charset="-128"/>
                  <a:ea typeface="Meiryo UI" panose="020B0604030504040204" pitchFamily="50" charset="-128"/>
                </a:rPr>
                <a:t>, </a:t>
              </a:r>
              <a:r>
                <a:rPr kumimoji="1" lang="ja-JP" altLang="en-US" sz="1200" dirty="0">
                  <a:solidFill>
                    <a:sysClr val="windowText" lastClr="000000"/>
                  </a:solidFill>
                  <a:latin typeface="Meiryo UI" panose="020B0604030504040204" pitchFamily="50" charset="-128"/>
                  <a:ea typeface="Meiryo UI" panose="020B0604030504040204" pitchFamily="50" charset="-128"/>
                </a:rPr>
                <a:t>食事量</a:t>
              </a:r>
            </a:p>
          </p:txBody>
        </p:sp>
        <p:sp>
          <p:nvSpPr>
            <p:cNvPr id="28" name="正方形/長方形 27">
              <a:extLst>
                <a:ext uri="{FF2B5EF4-FFF2-40B4-BE49-F238E27FC236}">
                  <a16:creationId xmlns:a16="http://schemas.microsoft.com/office/drawing/2014/main" id="{94EA077D-5634-1DF6-B38A-EB879C8A700C}"/>
                </a:ext>
              </a:extLst>
            </p:cNvPr>
            <p:cNvSpPr/>
            <p:nvPr/>
          </p:nvSpPr>
          <p:spPr>
            <a:xfrm>
              <a:off x="3173158" y="2217551"/>
              <a:ext cx="1885695" cy="230650"/>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ysClr val="windowText" lastClr="000000"/>
                  </a:solidFill>
                  <a:latin typeface="Meiryo UI" panose="020B0604030504040204" pitchFamily="50" charset="-128"/>
                  <a:ea typeface="Meiryo UI" panose="020B0604030504040204" pitchFamily="50" charset="-128"/>
                </a:rPr>
                <a:t>ケア実施</a:t>
              </a:r>
            </a:p>
          </p:txBody>
        </p:sp>
        <p:cxnSp>
          <p:nvCxnSpPr>
            <p:cNvPr id="146" name="直線コネクタ 145">
              <a:extLst>
                <a:ext uri="{FF2B5EF4-FFF2-40B4-BE49-F238E27FC236}">
                  <a16:creationId xmlns:a16="http://schemas.microsoft.com/office/drawing/2014/main" id="{B36771BB-D5EB-A9C8-902C-371AE0215016}"/>
                </a:ext>
              </a:extLst>
            </p:cNvPr>
            <p:cNvCxnSpPr>
              <a:stCxn id="25" idx="3"/>
              <a:endCxn id="112" idx="1"/>
            </p:cNvCxnSpPr>
            <p:nvPr/>
          </p:nvCxnSpPr>
          <p:spPr>
            <a:xfrm>
              <a:off x="5058853" y="2062883"/>
              <a:ext cx="4283169" cy="0"/>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0" name="直線コネクタ 149">
              <a:extLst>
                <a:ext uri="{FF2B5EF4-FFF2-40B4-BE49-F238E27FC236}">
                  <a16:creationId xmlns:a16="http://schemas.microsoft.com/office/drawing/2014/main" id="{DEC1723F-79E2-17EE-3E8A-153D53DA8088}"/>
                </a:ext>
              </a:extLst>
            </p:cNvPr>
            <p:cNvCxnSpPr>
              <a:cxnSpLocks/>
              <a:stCxn id="28" idx="3"/>
              <a:endCxn id="115" idx="1"/>
            </p:cNvCxnSpPr>
            <p:nvPr/>
          </p:nvCxnSpPr>
          <p:spPr>
            <a:xfrm>
              <a:off x="5058853" y="2332876"/>
              <a:ext cx="4283169" cy="0"/>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83" name="直線コネクタ 182">
              <a:extLst>
                <a:ext uri="{FF2B5EF4-FFF2-40B4-BE49-F238E27FC236}">
                  <a16:creationId xmlns:a16="http://schemas.microsoft.com/office/drawing/2014/main" id="{80C54A60-1F3D-264B-7232-A8981E0BC701}"/>
                </a:ext>
              </a:extLst>
            </p:cNvPr>
            <p:cNvCxnSpPr>
              <a:cxnSpLocks/>
              <a:stCxn id="10" idx="3"/>
              <a:endCxn id="99" idx="1"/>
            </p:cNvCxnSpPr>
            <p:nvPr/>
          </p:nvCxnSpPr>
          <p:spPr>
            <a:xfrm flipV="1">
              <a:off x="5058853" y="3172932"/>
              <a:ext cx="4283169" cy="8425"/>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1" name="直線コネクタ 200">
              <a:extLst>
                <a:ext uri="{FF2B5EF4-FFF2-40B4-BE49-F238E27FC236}">
                  <a16:creationId xmlns:a16="http://schemas.microsoft.com/office/drawing/2014/main" id="{D0266CA2-C283-FD66-4F99-0D006877BEED}"/>
                </a:ext>
              </a:extLst>
            </p:cNvPr>
            <p:cNvCxnSpPr>
              <a:cxnSpLocks/>
              <a:stCxn id="18" idx="3"/>
              <a:endCxn id="106" idx="1"/>
            </p:cNvCxnSpPr>
            <p:nvPr/>
          </p:nvCxnSpPr>
          <p:spPr>
            <a:xfrm>
              <a:off x="5058853" y="3781557"/>
              <a:ext cx="4283169" cy="0"/>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直線コネクタ 44">
              <a:extLst>
                <a:ext uri="{FF2B5EF4-FFF2-40B4-BE49-F238E27FC236}">
                  <a16:creationId xmlns:a16="http://schemas.microsoft.com/office/drawing/2014/main" id="{E133DE8D-0CF8-EC75-C108-E3A0EDE55760}"/>
                </a:ext>
              </a:extLst>
            </p:cNvPr>
            <p:cNvCxnSpPr>
              <a:cxnSpLocks/>
              <a:stCxn id="26" idx="3"/>
              <a:endCxn id="113" idx="1"/>
            </p:cNvCxnSpPr>
            <p:nvPr/>
          </p:nvCxnSpPr>
          <p:spPr>
            <a:xfrm>
              <a:off x="5058853" y="2597289"/>
              <a:ext cx="4283169" cy="0"/>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E4B2C80C-DAB0-ADCB-2209-2F384D8689D4}"/>
                </a:ext>
              </a:extLst>
            </p:cNvPr>
            <p:cNvCxnSpPr>
              <a:cxnSpLocks/>
              <a:endCxn id="97" idx="1"/>
            </p:cNvCxnSpPr>
            <p:nvPr/>
          </p:nvCxnSpPr>
          <p:spPr>
            <a:xfrm>
              <a:off x="4883152" y="2904881"/>
              <a:ext cx="4458870" cy="3637"/>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91" name="正方形/長方形 90">
              <a:extLst>
                <a:ext uri="{FF2B5EF4-FFF2-40B4-BE49-F238E27FC236}">
                  <a16:creationId xmlns:a16="http://schemas.microsoft.com/office/drawing/2014/main" id="{A6493388-C058-5C12-A889-E315771AFD0C}"/>
                </a:ext>
              </a:extLst>
            </p:cNvPr>
            <p:cNvSpPr/>
            <p:nvPr/>
          </p:nvSpPr>
          <p:spPr>
            <a:xfrm>
              <a:off x="9298700" y="1898897"/>
              <a:ext cx="2582500" cy="864000"/>
            </a:xfrm>
            <a:prstGeom prst="rect">
              <a:avLst/>
            </a:prstGeom>
            <a:solidFill>
              <a:schemeClr val="accent1">
                <a:lumMod val="20000"/>
                <a:lumOff val="8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kumimoji="1" lang="en-US" altLang="ja-JP" sz="12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3" name="正方形/長方形 92">
              <a:extLst>
                <a:ext uri="{FF2B5EF4-FFF2-40B4-BE49-F238E27FC236}">
                  <a16:creationId xmlns:a16="http://schemas.microsoft.com/office/drawing/2014/main" id="{6ECCECE6-31D4-4FFD-1400-1F924D031B88}"/>
                </a:ext>
              </a:extLst>
            </p:cNvPr>
            <p:cNvSpPr/>
            <p:nvPr/>
          </p:nvSpPr>
          <p:spPr>
            <a:xfrm>
              <a:off x="9298700" y="2773182"/>
              <a:ext cx="2582500" cy="1188646"/>
            </a:xfrm>
            <a:prstGeom prst="rect">
              <a:avLst/>
            </a:prstGeom>
            <a:solidFill>
              <a:srgbClr val="CCFFFF">
                <a:alpha val="49804"/>
              </a:srgb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kumimoji="1" lang="en-US" altLang="ja-JP" sz="12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5" name="正方形/長方形 94">
              <a:extLst>
                <a:ext uri="{FF2B5EF4-FFF2-40B4-BE49-F238E27FC236}">
                  <a16:creationId xmlns:a16="http://schemas.microsoft.com/office/drawing/2014/main" id="{6793E06C-45FA-C5CA-448B-3DB58FDE9284}"/>
                </a:ext>
              </a:extLst>
            </p:cNvPr>
            <p:cNvSpPr/>
            <p:nvPr/>
          </p:nvSpPr>
          <p:spPr>
            <a:xfrm>
              <a:off x="9298700" y="3610768"/>
              <a:ext cx="2582500" cy="324000"/>
            </a:xfrm>
            <a:prstGeom prst="rect">
              <a:avLst/>
            </a:prstGeom>
            <a:solidFill>
              <a:srgbClr val="D1D1D1">
                <a:alpha val="49804"/>
              </a:srgb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kumimoji="1" lang="en-US" altLang="ja-JP" sz="12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7" name="正方形/長方形 96">
              <a:extLst>
                <a:ext uri="{FF2B5EF4-FFF2-40B4-BE49-F238E27FC236}">
                  <a16:creationId xmlns:a16="http://schemas.microsoft.com/office/drawing/2014/main" id="{DB62F8F3-2187-70E2-AA85-839EAA095A47}"/>
                </a:ext>
              </a:extLst>
            </p:cNvPr>
            <p:cNvSpPr/>
            <p:nvPr/>
          </p:nvSpPr>
          <p:spPr>
            <a:xfrm>
              <a:off x="9342022" y="2793193"/>
              <a:ext cx="2510293" cy="230650"/>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ysClr val="windowText" lastClr="000000"/>
                  </a:solidFill>
                  <a:latin typeface="Meiryo UI" panose="020B0604030504040204" pitchFamily="50" charset="-128"/>
                  <a:ea typeface="Meiryo UI" panose="020B0604030504040204" pitchFamily="50" charset="-128"/>
                </a:rPr>
                <a:t>年齢</a:t>
              </a:r>
              <a:r>
                <a:rPr kumimoji="1" lang="en-US" altLang="ja-JP" sz="1200" dirty="0">
                  <a:solidFill>
                    <a:sysClr val="windowText" lastClr="000000"/>
                  </a:solidFill>
                  <a:latin typeface="Meiryo UI" panose="020B0604030504040204" pitchFamily="50" charset="-128"/>
                  <a:ea typeface="Meiryo UI" panose="020B0604030504040204" pitchFamily="50" charset="-128"/>
                </a:rPr>
                <a:t>, </a:t>
              </a:r>
              <a:r>
                <a:rPr kumimoji="1" lang="ja-JP" altLang="en-US" sz="1200" dirty="0">
                  <a:solidFill>
                    <a:sysClr val="windowText" lastClr="000000"/>
                  </a:solidFill>
                  <a:latin typeface="Meiryo UI" panose="020B0604030504040204" pitchFamily="50" charset="-128"/>
                  <a:ea typeface="Meiryo UI" panose="020B0604030504040204" pitchFamily="50" charset="-128"/>
                </a:rPr>
                <a:t>性別</a:t>
              </a:r>
              <a:r>
                <a:rPr kumimoji="1" lang="en-US" altLang="ja-JP" sz="1200" dirty="0">
                  <a:solidFill>
                    <a:sysClr val="windowText" lastClr="000000"/>
                  </a:solidFill>
                  <a:latin typeface="Meiryo UI" panose="020B0604030504040204" pitchFamily="50" charset="-128"/>
                  <a:ea typeface="Meiryo UI" panose="020B0604030504040204" pitchFamily="50" charset="-128"/>
                </a:rPr>
                <a:t>, </a:t>
              </a:r>
              <a:r>
                <a:rPr kumimoji="1" lang="ja-JP" altLang="en-US" sz="1200" dirty="0">
                  <a:solidFill>
                    <a:sysClr val="windowText" lastClr="000000"/>
                  </a:solidFill>
                  <a:latin typeface="Meiryo UI" panose="020B0604030504040204" pitchFamily="50" charset="-128"/>
                  <a:ea typeface="Meiryo UI" panose="020B0604030504040204" pitchFamily="50" charset="-128"/>
                </a:rPr>
                <a:t>介護度</a:t>
              </a:r>
              <a:r>
                <a:rPr kumimoji="1" lang="en-US" altLang="ja-JP" sz="1200" dirty="0">
                  <a:solidFill>
                    <a:sysClr val="windowText" lastClr="000000"/>
                  </a:solidFill>
                  <a:latin typeface="Meiryo UI" panose="020B0604030504040204" pitchFamily="50" charset="-128"/>
                  <a:ea typeface="Meiryo UI" panose="020B0604030504040204" pitchFamily="50" charset="-128"/>
                </a:rPr>
                <a:t>, </a:t>
              </a:r>
              <a:r>
                <a:rPr kumimoji="1" lang="ja-JP" altLang="en-US" sz="1200" dirty="0">
                  <a:solidFill>
                    <a:sysClr val="windowText" lastClr="000000"/>
                  </a:solidFill>
                  <a:latin typeface="Meiryo UI" panose="020B0604030504040204" pitchFamily="50" charset="-128"/>
                  <a:ea typeface="Meiryo UI" panose="020B0604030504040204" pitchFamily="50" charset="-128"/>
                </a:rPr>
                <a:t>視力</a:t>
              </a:r>
              <a:r>
                <a:rPr kumimoji="1" lang="en-US" altLang="ja-JP" sz="1200" dirty="0">
                  <a:solidFill>
                    <a:sysClr val="windowText" lastClr="000000"/>
                  </a:solidFill>
                  <a:latin typeface="Meiryo UI" panose="020B0604030504040204" pitchFamily="50" charset="-128"/>
                  <a:ea typeface="Meiryo UI" panose="020B0604030504040204" pitchFamily="50" charset="-128"/>
                </a:rPr>
                <a:t>, </a:t>
              </a:r>
              <a:r>
                <a:rPr kumimoji="1" lang="ja-JP" altLang="en-US" sz="1200" dirty="0">
                  <a:solidFill>
                    <a:sysClr val="windowText" lastClr="000000"/>
                  </a:solidFill>
                  <a:latin typeface="Meiryo UI" panose="020B0604030504040204" pitchFamily="50" charset="-128"/>
                  <a:ea typeface="Meiryo UI" panose="020B0604030504040204" pitchFamily="50" charset="-128"/>
                </a:rPr>
                <a:t>歩行レベル</a:t>
              </a:r>
            </a:p>
          </p:txBody>
        </p:sp>
        <p:sp>
          <p:nvSpPr>
            <p:cNvPr id="99" name="正方形/長方形 98">
              <a:extLst>
                <a:ext uri="{FF2B5EF4-FFF2-40B4-BE49-F238E27FC236}">
                  <a16:creationId xmlns:a16="http://schemas.microsoft.com/office/drawing/2014/main" id="{2E758634-E9E5-5ABF-DD53-BFF4AFAE9CE5}"/>
                </a:ext>
              </a:extLst>
            </p:cNvPr>
            <p:cNvSpPr/>
            <p:nvPr/>
          </p:nvSpPr>
          <p:spPr>
            <a:xfrm>
              <a:off x="9342022" y="3057607"/>
              <a:ext cx="2510293" cy="230650"/>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ysClr val="windowText" lastClr="000000"/>
                  </a:solidFill>
                  <a:latin typeface="Meiryo UI" panose="020B0604030504040204" pitchFamily="50" charset="-128"/>
                  <a:ea typeface="Meiryo UI" panose="020B0604030504040204" pitchFamily="50" charset="-128"/>
                </a:rPr>
                <a:t>認知機能</a:t>
              </a:r>
            </a:p>
          </p:txBody>
        </p:sp>
        <p:sp>
          <p:nvSpPr>
            <p:cNvPr id="106" name="正方形/長方形 105">
              <a:extLst>
                <a:ext uri="{FF2B5EF4-FFF2-40B4-BE49-F238E27FC236}">
                  <a16:creationId xmlns:a16="http://schemas.microsoft.com/office/drawing/2014/main" id="{C1A27BFE-4A3E-9C9F-6E68-D7D923E04E6D}"/>
                </a:ext>
              </a:extLst>
            </p:cNvPr>
            <p:cNvSpPr/>
            <p:nvPr/>
          </p:nvSpPr>
          <p:spPr>
            <a:xfrm>
              <a:off x="9342022" y="3666232"/>
              <a:ext cx="2510293" cy="230650"/>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ysClr val="windowText" lastClr="000000"/>
                  </a:solidFill>
                  <a:latin typeface="Meiryo UI" panose="020B0604030504040204" pitchFamily="50" charset="-128"/>
                  <a:ea typeface="Meiryo UI" panose="020B0604030504040204" pitchFamily="50" charset="-128"/>
                </a:rPr>
                <a:t>ターゲット </a:t>
              </a:r>
              <a:r>
                <a:rPr lang="en-US" altLang="ja-JP" sz="1200" dirty="0">
                  <a:solidFill>
                    <a:sysClr val="windowText" lastClr="000000"/>
                  </a:solidFill>
                  <a:latin typeface="Meiryo UI" panose="020B0604030504040204" pitchFamily="50" charset="-128"/>
                  <a:ea typeface="Meiryo UI" panose="020B0604030504040204" pitchFamily="50" charset="-128"/>
                </a:rPr>
                <a:t>(</a:t>
              </a:r>
              <a:r>
                <a:rPr lang="ja-JP" altLang="en-US" sz="1200" dirty="0">
                  <a:solidFill>
                    <a:sysClr val="windowText" lastClr="000000"/>
                  </a:solidFill>
                  <a:latin typeface="Meiryo UI" panose="020B0604030504040204" pitchFamily="50" charset="-128"/>
                  <a:ea typeface="Meiryo UI" panose="020B0604030504040204" pitchFamily="50" charset="-128"/>
                </a:rPr>
                <a:t>予測対象</a:t>
              </a:r>
              <a:r>
                <a:rPr lang="en-US" altLang="ja-JP" sz="1200" dirty="0">
                  <a:solidFill>
                    <a:sysClr val="windowText" lastClr="000000"/>
                  </a:solidFill>
                  <a:latin typeface="Meiryo UI" panose="020B0604030504040204" pitchFamily="50" charset="-128"/>
                  <a:ea typeface="Meiryo UI" panose="020B0604030504040204" pitchFamily="50" charset="-128"/>
                </a:rPr>
                <a:t>)</a:t>
              </a:r>
            </a:p>
          </p:txBody>
        </p:sp>
        <p:sp>
          <p:nvSpPr>
            <p:cNvPr id="112" name="正方形/長方形 111">
              <a:extLst>
                <a:ext uri="{FF2B5EF4-FFF2-40B4-BE49-F238E27FC236}">
                  <a16:creationId xmlns:a16="http://schemas.microsoft.com/office/drawing/2014/main" id="{3ABA21AB-D599-898D-DCCE-2E2703DCF72C}"/>
                </a:ext>
              </a:extLst>
            </p:cNvPr>
            <p:cNvSpPr/>
            <p:nvPr/>
          </p:nvSpPr>
          <p:spPr>
            <a:xfrm>
              <a:off x="9342022" y="1947558"/>
              <a:ext cx="2510293" cy="230650"/>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ysClr val="windowText" lastClr="000000"/>
                  </a:solidFill>
                  <a:latin typeface="Meiryo UI" panose="020B0604030504040204" pitchFamily="50" charset="-128"/>
                  <a:ea typeface="Meiryo UI" panose="020B0604030504040204" pitchFamily="50" charset="-128"/>
                </a:rPr>
                <a:t>事故件数</a:t>
              </a:r>
            </a:p>
          </p:txBody>
        </p:sp>
        <p:sp>
          <p:nvSpPr>
            <p:cNvPr id="113" name="正方形/長方形 112">
              <a:extLst>
                <a:ext uri="{FF2B5EF4-FFF2-40B4-BE49-F238E27FC236}">
                  <a16:creationId xmlns:a16="http://schemas.microsoft.com/office/drawing/2014/main" id="{CC7F7B28-9661-7559-B779-51A4CF2DF76D}"/>
                </a:ext>
              </a:extLst>
            </p:cNvPr>
            <p:cNvSpPr/>
            <p:nvPr/>
          </p:nvSpPr>
          <p:spPr>
            <a:xfrm>
              <a:off x="9342022" y="2481964"/>
              <a:ext cx="2510293" cy="230650"/>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ysClr val="windowText" lastClr="000000"/>
                  </a:solidFill>
                  <a:latin typeface="Meiryo UI" panose="020B0604030504040204" pitchFamily="50" charset="-128"/>
                  <a:ea typeface="Meiryo UI" panose="020B0604030504040204" pitchFamily="50" charset="-128"/>
                </a:rPr>
                <a:t>BMI</a:t>
              </a:r>
              <a:r>
                <a:rPr kumimoji="1" lang="ja-JP" altLang="en-US" sz="1200" dirty="0">
                  <a:solidFill>
                    <a:sysClr val="windowText" lastClr="000000"/>
                  </a:solidFill>
                  <a:latin typeface="Meiryo UI" panose="020B0604030504040204" pitchFamily="50" charset="-128"/>
                  <a:ea typeface="Meiryo UI" panose="020B0604030504040204" pitchFamily="50" charset="-128"/>
                </a:rPr>
                <a:t>の変化</a:t>
              </a:r>
              <a:r>
                <a:rPr kumimoji="1" lang="en-US" altLang="ja-JP" sz="1200" dirty="0">
                  <a:solidFill>
                    <a:sysClr val="windowText" lastClr="000000"/>
                  </a:solidFill>
                  <a:latin typeface="Meiryo UI" panose="020B0604030504040204" pitchFamily="50" charset="-128"/>
                  <a:ea typeface="Meiryo UI" panose="020B0604030504040204" pitchFamily="50" charset="-128"/>
                </a:rPr>
                <a:t>, </a:t>
              </a:r>
              <a:r>
                <a:rPr kumimoji="1" lang="ja-JP" altLang="en-US" sz="1200" dirty="0">
                  <a:solidFill>
                    <a:sysClr val="windowText" lastClr="000000"/>
                  </a:solidFill>
                  <a:latin typeface="Meiryo UI" panose="020B0604030504040204" pitchFamily="50" charset="-128"/>
                  <a:ea typeface="Meiryo UI" panose="020B0604030504040204" pitchFamily="50" charset="-128"/>
                </a:rPr>
                <a:t>食事量</a:t>
              </a:r>
              <a:r>
                <a:rPr lang="ja-JP" altLang="en-US" sz="1200" dirty="0">
                  <a:solidFill>
                    <a:sysClr val="windowText" lastClr="000000"/>
                  </a:solidFill>
                  <a:latin typeface="Meiryo UI" panose="020B0604030504040204" pitchFamily="50" charset="-128"/>
                  <a:ea typeface="Meiryo UI" panose="020B0604030504040204" pitchFamily="50" charset="-128"/>
                </a:rPr>
                <a:t>の</a:t>
              </a:r>
              <a:r>
                <a:rPr kumimoji="1" lang="ja-JP" altLang="en-US" sz="1200" dirty="0">
                  <a:solidFill>
                    <a:sysClr val="windowText" lastClr="000000"/>
                  </a:solidFill>
                  <a:latin typeface="Meiryo UI" panose="020B0604030504040204" pitchFamily="50" charset="-128"/>
                  <a:ea typeface="Meiryo UI" panose="020B0604030504040204" pitchFamily="50" charset="-128"/>
                </a:rPr>
                <a:t>変化</a:t>
              </a:r>
            </a:p>
          </p:txBody>
        </p:sp>
        <p:sp>
          <p:nvSpPr>
            <p:cNvPr id="115" name="正方形/長方形 114">
              <a:extLst>
                <a:ext uri="{FF2B5EF4-FFF2-40B4-BE49-F238E27FC236}">
                  <a16:creationId xmlns:a16="http://schemas.microsoft.com/office/drawing/2014/main" id="{F14CB11E-7E98-84A5-B216-83ACF36173A0}"/>
                </a:ext>
              </a:extLst>
            </p:cNvPr>
            <p:cNvSpPr/>
            <p:nvPr/>
          </p:nvSpPr>
          <p:spPr>
            <a:xfrm>
              <a:off x="9342022" y="2217551"/>
              <a:ext cx="2510293" cy="230650"/>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ysClr val="windowText" lastClr="000000"/>
                  </a:solidFill>
                  <a:latin typeface="Meiryo UI" panose="020B0604030504040204" pitchFamily="50" charset="-128"/>
                  <a:ea typeface="Meiryo UI" panose="020B0604030504040204" pitchFamily="50" charset="-128"/>
                </a:rPr>
                <a:t>ケア件数変動</a:t>
              </a:r>
              <a:r>
                <a:rPr kumimoji="1" lang="en-US" altLang="ja-JP" sz="1200" dirty="0">
                  <a:solidFill>
                    <a:sysClr val="windowText" lastClr="000000"/>
                  </a:solidFill>
                  <a:latin typeface="Meiryo UI" panose="020B0604030504040204" pitchFamily="50" charset="-128"/>
                  <a:ea typeface="Meiryo UI" panose="020B0604030504040204" pitchFamily="50" charset="-128"/>
                </a:rPr>
                <a:t>, </a:t>
              </a:r>
              <a:r>
                <a:rPr kumimoji="1" lang="ja-JP" altLang="en-US" sz="1200" dirty="0">
                  <a:solidFill>
                    <a:sysClr val="windowText" lastClr="000000"/>
                  </a:solidFill>
                  <a:latin typeface="Meiryo UI" panose="020B0604030504040204" pitchFamily="50" charset="-128"/>
                  <a:ea typeface="Meiryo UI" panose="020B0604030504040204" pitchFamily="50" charset="-128"/>
                </a:rPr>
                <a:t>ケアキャンセル数変動</a:t>
              </a:r>
            </a:p>
          </p:txBody>
        </p:sp>
        <p:sp>
          <p:nvSpPr>
            <p:cNvPr id="46" name="フリーフォーム: 図形 45">
              <a:extLst>
                <a:ext uri="{FF2B5EF4-FFF2-40B4-BE49-F238E27FC236}">
                  <a16:creationId xmlns:a16="http://schemas.microsoft.com/office/drawing/2014/main" id="{A713162F-D5AF-5FDA-2D44-6F6477F8576D}"/>
                </a:ext>
              </a:extLst>
            </p:cNvPr>
            <p:cNvSpPr/>
            <p:nvPr/>
          </p:nvSpPr>
          <p:spPr>
            <a:xfrm>
              <a:off x="5043117" y="2883861"/>
              <a:ext cx="4474706" cy="589082"/>
            </a:xfrm>
            <a:custGeom>
              <a:avLst/>
              <a:gdLst>
                <a:gd name="connsiteX0" fmla="*/ 0 w 4759890"/>
                <a:gd name="connsiteY0" fmla="*/ 0 h 589082"/>
                <a:gd name="connsiteX1" fmla="*/ 187890 w 4759890"/>
                <a:gd name="connsiteY1" fmla="*/ 137786 h 589082"/>
                <a:gd name="connsiteX2" fmla="*/ 375781 w 4759890"/>
                <a:gd name="connsiteY2" fmla="*/ 526093 h 589082"/>
                <a:gd name="connsiteX3" fmla="*/ 3206663 w 4759890"/>
                <a:gd name="connsiteY3" fmla="*/ 588723 h 589082"/>
                <a:gd name="connsiteX4" fmla="*/ 3645074 w 4759890"/>
                <a:gd name="connsiteY4" fmla="*/ 551145 h 589082"/>
                <a:gd name="connsiteX5" fmla="*/ 4759890 w 4759890"/>
                <a:gd name="connsiteY5" fmla="*/ 538619 h 58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890" h="589082">
                  <a:moveTo>
                    <a:pt x="0" y="0"/>
                  </a:moveTo>
                  <a:cubicBezTo>
                    <a:pt x="62630" y="25052"/>
                    <a:pt x="125260" y="50104"/>
                    <a:pt x="187890" y="137786"/>
                  </a:cubicBezTo>
                  <a:cubicBezTo>
                    <a:pt x="250520" y="225468"/>
                    <a:pt x="-127348" y="450937"/>
                    <a:pt x="375781" y="526093"/>
                  </a:cubicBezTo>
                  <a:cubicBezTo>
                    <a:pt x="878910" y="601249"/>
                    <a:pt x="2661781" y="584548"/>
                    <a:pt x="3206663" y="588723"/>
                  </a:cubicBezTo>
                  <a:cubicBezTo>
                    <a:pt x="3751545" y="592898"/>
                    <a:pt x="3386203" y="559496"/>
                    <a:pt x="3645074" y="551145"/>
                  </a:cubicBezTo>
                  <a:cubicBezTo>
                    <a:pt x="3903945" y="542794"/>
                    <a:pt x="4331917" y="540706"/>
                    <a:pt x="4759890" y="538619"/>
                  </a:cubicBezTo>
                </a:path>
              </a:pathLst>
            </a:custGeom>
            <a:noFill/>
            <a:ln w="12700">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42" name="正方形/長方形 41">
              <a:extLst>
                <a:ext uri="{FF2B5EF4-FFF2-40B4-BE49-F238E27FC236}">
                  <a16:creationId xmlns:a16="http://schemas.microsoft.com/office/drawing/2014/main" id="{283D7971-F6C9-61CB-1BBC-E99C848574D8}"/>
                </a:ext>
              </a:extLst>
            </p:cNvPr>
            <p:cNvSpPr/>
            <p:nvPr/>
          </p:nvSpPr>
          <p:spPr>
            <a:xfrm>
              <a:off x="9342022" y="3321322"/>
              <a:ext cx="2510293" cy="230650"/>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ysClr val="windowText" lastClr="000000"/>
                  </a:solidFill>
                  <a:latin typeface="Meiryo UI" panose="020B0604030504040204" pitchFamily="50" charset="-128"/>
                  <a:ea typeface="Meiryo UI" panose="020B0604030504040204" pitchFamily="50" charset="-128"/>
                </a:rPr>
                <a:t>ヘルスケアスコア</a:t>
              </a:r>
            </a:p>
          </p:txBody>
        </p:sp>
        <p:sp>
          <p:nvSpPr>
            <p:cNvPr id="48" name="フリーフォーム: 図形 47">
              <a:extLst>
                <a:ext uri="{FF2B5EF4-FFF2-40B4-BE49-F238E27FC236}">
                  <a16:creationId xmlns:a16="http://schemas.microsoft.com/office/drawing/2014/main" id="{21AE5BF4-89E5-1905-BE65-2F9AC8AF0A82}"/>
                </a:ext>
              </a:extLst>
            </p:cNvPr>
            <p:cNvSpPr/>
            <p:nvPr/>
          </p:nvSpPr>
          <p:spPr>
            <a:xfrm>
              <a:off x="5043117" y="3140149"/>
              <a:ext cx="471023" cy="282331"/>
            </a:xfrm>
            <a:custGeom>
              <a:avLst/>
              <a:gdLst>
                <a:gd name="connsiteX0" fmla="*/ 0 w 501041"/>
                <a:gd name="connsiteY0" fmla="*/ 19285 h 282331"/>
                <a:gd name="connsiteX1" fmla="*/ 62630 w 501041"/>
                <a:gd name="connsiteY1" fmla="*/ 19285 h 282331"/>
                <a:gd name="connsiteX2" fmla="*/ 162838 w 501041"/>
                <a:gd name="connsiteY2" fmla="*/ 219701 h 282331"/>
                <a:gd name="connsiteX3" fmla="*/ 501041 w 501041"/>
                <a:gd name="connsiteY3" fmla="*/ 282331 h 282331"/>
              </a:gdLst>
              <a:ahLst/>
              <a:cxnLst>
                <a:cxn ang="0">
                  <a:pos x="connsiteX0" y="connsiteY0"/>
                </a:cxn>
                <a:cxn ang="0">
                  <a:pos x="connsiteX1" y="connsiteY1"/>
                </a:cxn>
                <a:cxn ang="0">
                  <a:pos x="connsiteX2" y="connsiteY2"/>
                </a:cxn>
                <a:cxn ang="0">
                  <a:pos x="connsiteX3" y="connsiteY3"/>
                </a:cxn>
              </a:cxnLst>
              <a:rect l="l" t="t" r="r" b="b"/>
              <a:pathLst>
                <a:path w="501041" h="282331">
                  <a:moveTo>
                    <a:pt x="0" y="19285"/>
                  </a:moveTo>
                  <a:cubicBezTo>
                    <a:pt x="17745" y="2583"/>
                    <a:pt x="35490" y="-14118"/>
                    <a:pt x="62630" y="19285"/>
                  </a:cubicBezTo>
                  <a:cubicBezTo>
                    <a:pt x="89770" y="52688"/>
                    <a:pt x="89770" y="175860"/>
                    <a:pt x="162838" y="219701"/>
                  </a:cubicBezTo>
                  <a:cubicBezTo>
                    <a:pt x="235906" y="263542"/>
                    <a:pt x="368473" y="272936"/>
                    <a:pt x="501041" y="282331"/>
                  </a:cubicBezTo>
                </a:path>
              </a:pathLst>
            </a:custGeom>
            <a:noFill/>
            <a:ln w="12700">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50" name="フリーフォーム: 図形 49">
              <a:extLst>
                <a:ext uri="{FF2B5EF4-FFF2-40B4-BE49-F238E27FC236}">
                  <a16:creationId xmlns:a16="http://schemas.microsoft.com/office/drawing/2014/main" id="{106826A1-EAC2-16DE-E630-AF8FFFA12B4C}"/>
                </a:ext>
              </a:extLst>
            </p:cNvPr>
            <p:cNvSpPr/>
            <p:nvPr/>
          </p:nvSpPr>
          <p:spPr>
            <a:xfrm>
              <a:off x="7883403" y="3431509"/>
              <a:ext cx="1436617" cy="366752"/>
            </a:xfrm>
            <a:custGeom>
              <a:avLst/>
              <a:gdLst>
                <a:gd name="connsiteX0" fmla="*/ 0 w 1528175"/>
                <a:gd name="connsiteY0" fmla="*/ 41075 h 366752"/>
                <a:gd name="connsiteX1" fmla="*/ 400833 w 1528175"/>
                <a:gd name="connsiteY1" fmla="*/ 16023 h 366752"/>
                <a:gd name="connsiteX2" fmla="*/ 576197 w 1528175"/>
                <a:gd name="connsiteY2" fmla="*/ 254018 h 366752"/>
                <a:gd name="connsiteX3" fmla="*/ 1528175 w 1528175"/>
                <a:gd name="connsiteY3" fmla="*/ 366752 h 366752"/>
              </a:gdLst>
              <a:ahLst/>
              <a:cxnLst>
                <a:cxn ang="0">
                  <a:pos x="connsiteX0" y="connsiteY0"/>
                </a:cxn>
                <a:cxn ang="0">
                  <a:pos x="connsiteX1" y="connsiteY1"/>
                </a:cxn>
                <a:cxn ang="0">
                  <a:pos x="connsiteX2" y="connsiteY2"/>
                </a:cxn>
                <a:cxn ang="0">
                  <a:pos x="connsiteX3" y="connsiteY3"/>
                </a:cxn>
              </a:cxnLst>
              <a:rect l="l" t="t" r="r" b="b"/>
              <a:pathLst>
                <a:path w="1528175" h="366752">
                  <a:moveTo>
                    <a:pt x="0" y="41075"/>
                  </a:moveTo>
                  <a:cubicBezTo>
                    <a:pt x="152400" y="10804"/>
                    <a:pt x="304800" y="-19467"/>
                    <a:pt x="400833" y="16023"/>
                  </a:cubicBezTo>
                  <a:cubicBezTo>
                    <a:pt x="496866" y="51513"/>
                    <a:pt x="388307" y="195563"/>
                    <a:pt x="576197" y="254018"/>
                  </a:cubicBezTo>
                  <a:cubicBezTo>
                    <a:pt x="764087" y="312473"/>
                    <a:pt x="1146131" y="339612"/>
                    <a:pt x="1528175" y="366752"/>
                  </a:cubicBezTo>
                </a:path>
              </a:pathLst>
            </a:custGeom>
            <a:noFill/>
            <a:ln w="12700">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34" name="正方形/長方形 33">
              <a:extLst>
                <a:ext uri="{FF2B5EF4-FFF2-40B4-BE49-F238E27FC236}">
                  <a16:creationId xmlns:a16="http://schemas.microsoft.com/office/drawing/2014/main" id="{45EB66AB-8B84-716E-5297-C38E25A8045B}"/>
                </a:ext>
              </a:extLst>
            </p:cNvPr>
            <p:cNvSpPr/>
            <p:nvPr/>
          </p:nvSpPr>
          <p:spPr>
            <a:xfrm>
              <a:off x="7005805" y="1966505"/>
              <a:ext cx="422970" cy="1942836"/>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200" b="1" dirty="0">
                  <a:solidFill>
                    <a:schemeClr val="tx1">
                      <a:lumMod val="50000"/>
                      <a:lumOff val="50000"/>
                    </a:schemeClr>
                  </a:solidFill>
                  <a:latin typeface="Meiryo UI" panose="020B0604030504040204" pitchFamily="50" charset="-128"/>
                  <a:ea typeface="Meiryo UI" panose="020B0604030504040204" pitchFamily="50" charset="-128"/>
                </a:rPr>
                <a:t>月次単位まとめ</a:t>
              </a:r>
            </a:p>
          </p:txBody>
        </p:sp>
        <p:sp>
          <p:nvSpPr>
            <p:cNvPr id="33" name="正方形/長方形 32">
              <a:extLst>
                <a:ext uri="{FF2B5EF4-FFF2-40B4-BE49-F238E27FC236}">
                  <a16:creationId xmlns:a16="http://schemas.microsoft.com/office/drawing/2014/main" id="{47067FEE-7E7E-7322-45E8-D3A8FAA5482A}"/>
                </a:ext>
              </a:extLst>
            </p:cNvPr>
            <p:cNvSpPr/>
            <p:nvPr/>
          </p:nvSpPr>
          <p:spPr>
            <a:xfrm>
              <a:off x="5313981" y="2758201"/>
              <a:ext cx="737769" cy="925949"/>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50000"/>
                      <a:lumOff val="50000"/>
                    </a:schemeClr>
                  </a:solidFill>
                  <a:latin typeface="Meiryo UI" panose="020B0604030504040204" pitchFamily="50" charset="-128"/>
                  <a:ea typeface="Meiryo UI" panose="020B0604030504040204" pitchFamily="50" charset="-128"/>
                </a:rPr>
                <a:t>エンコーディング</a:t>
              </a:r>
            </a:p>
          </p:txBody>
        </p:sp>
        <p:sp>
          <p:nvSpPr>
            <p:cNvPr id="15" name="正方形/長方形 14">
              <a:extLst>
                <a:ext uri="{FF2B5EF4-FFF2-40B4-BE49-F238E27FC236}">
                  <a16:creationId xmlns:a16="http://schemas.microsoft.com/office/drawing/2014/main" id="{4CFC3FB5-AE9C-DEFA-5EBF-D16359ECA7D6}"/>
                </a:ext>
              </a:extLst>
            </p:cNvPr>
            <p:cNvSpPr/>
            <p:nvPr/>
          </p:nvSpPr>
          <p:spPr>
            <a:xfrm>
              <a:off x="8369096" y="1963923"/>
              <a:ext cx="819582" cy="1580686"/>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kumimoji="1" lang="ja-JP" altLang="en-US" sz="1200" b="1" dirty="0">
                  <a:solidFill>
                    <a:schemeClr val="tx1">
                      <a:lumMod val="50000"/>
                      <a:lumOff val="50000"/>
                    </a:schemeClr>
                  </a:solidFill>
                  <a:latin typeface="Meiryo UI" panose="020B0604030504040204" pitchFamily="50" charset="-128"/>
                  <a:ea typeface="Meiryo UI" panose="020B0604030504040204" pitchFamily="50" charset="-128"/>
                </a:rPr>
                <a:t>変化パターン抽出</a:t>
              </a:r>
              <a:endParaRPr kumimoji="1" lang="en-US" altLang="ja-JP" sz="1200" b="1" dirty="0">
                <a:solidFill>
                  <a:schemeClr val="tx1">
                    <a:lumMod val="50000"/>
                    <a:lumOff val="50000"/>
                  </a:schemeClr>
                </a:solidFill>
                <a:latin typeface="Meiryo UI" panose="020B0604030504040204" pitchFamily="50" charset="-128"/>
                <a:ea typeface="Meiryo UI" panose="020B0604030504040204" pitchFamily="50" charset="-128"/>
              </a:endParaRPr>
            </a:p>
            <a:p>
              <a:pPr>
                <a:spcBef>
                  <a:spcPts val="600"/>
                </a:spcBef>
              </a:pPr>
              <a:r>
                <a:rPr lang="ja-JP" altLang="en-US" sz="1200" dirty="0">
                  <a:solidFill>
                    <a:schemeClr val="tx1">
                      <a:lumMod val="50000"/>
                      <a:lumOff val="50000"/>
                    </a:schemeClr>
                  </a:solidFill>
                  <a:latin typeface="Meiryo UI" panose="020B0604030504040204" pitchFamily="50" charset="-128"/>
                  <a:ea typeface="Meiryo UI" panose="020B0604030504040204" pitchFamily="50" charset="-128"/>
                </a:rPr>
                <a:t>・変化量</a:t>
              </a:r>
              <a:endParaRPr lang="en-US" altLang="ja-JP" sz="1200" dirty="0">
                <a:solidFill>
                  <a:schemeClr val="tx1">
                    <a:lumMod val="50000"/>
                    <a:lumOff val="50000"/>
                  </a:schemeClr>
                </a:solidFill>
                <a:latin typeface="Meiryo UI" panose="020B0604030504040204" pitchFamily="50" charset="-128"/>
                <a:ea typeface="Meiryo UI" panose="020B0604030504040204" pitchFamily="50" charset="-128"/>
              </a:endParaRPr>
            </a:p>
            <a:p>
              <a:r>
                <a:rPr lang="ja-JP" altLang="en-US" sz="1200" dirty="0">
                  <a:solidFill>
                    <a:schemeClr val="tx1">
                      <a:lumMod val="50000"/>
                      <a:lumOff val="50000"/>
                    </a:schemeClr>
                  </a:solidFill>
                  <a:latin typeface="Meiryo UI" panose="020B0604030504040204" pitchFamily="50" charset="-128"/>
                  <a:ea typeface="Meiryo UI" panose="020B0604030504040204" pitchFamily="50" charset="-128"/>
                </a:rPr>
                <a:t>・変化率</a:t>
              </a:r>
              <a:endParaRPr lang="en-US" altLang="ja-JP" sz="1200" dirty="0">
                <a:solidFill>
                  <a:schemeClr val="tx1">
                    <a:lumMod val="50000"/>
                    <a:lumOff val="50000"/>
                  </a:schemeClr>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6B54A2CE-F9CF-1CA9-BEA4-21380B96F3FF}"/>
                </a:ext>
              </a:extLst>
            </p:cNvPr>
            <p:cNvSpPr/>
            <p:nvPr/>
          </p:nvSpPr>
          <p:spPr>
            <a:xfrm>
              <a:off x="7509368" y="3275662"/>
              <a:ext cx="778392" cy="427531"/>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ja-JP" altLang="en-US" sz="1200" b="1" dirty="0">
                  <a:solidFill>
                    <a:schemeClr val="tx1">
                      <a:lumMod val="50000"/>
                      <a:lumOff val="50000"/>
                    </a:schemeClr>
                  </a:solidFill>
                  <a:latin typeface="Meiryo UI" panose="020B0604030504040204" pitchFamily="50" charset="-128"/>
                  <a:ea typeface="Meiryo UI" panose="020B0604030504040204" pitchFamily="50" charset="-128"/>
                </a:rPr>
                <a:t>ヘルスケアスコア</a:t>
              </a:r>
              <a:endParaRPr lang="en-US" altLang="ja-JP" sz="1200" dirty="0">
                <a:solidFill>
                  <a:schemeClr val="tx1">
                    <a:lumMod val="50000"/>
                    <a:lumOff val="50000"/>
                  </a:schemeClr>
                </a:solidFill>
                <a:latin typeface="Meiryo UI" panose="020B0604030504040204" pitchFamily="50" charset="-128"/>
                <a:ea typeface="Meiryo UI" panose="020B0604030504040204" pitchFamily="50" charset="-128"/>
              </a:endParaRPr>
            </a:p>
          </p:txBody>
        </p:sp>
        <p:sp>
          <p:nvSpPr>
            <p:cNvPr id="27" name="正方形/長方形 26">
              <a:extLst>
                <a:ext uri="{FF2B5EF4-FFF2-40B4-BE49-F238E27FC236}">
                  <a16:creationId xmlns:a16="http://schemas.microsoft.com/office/drawing/2014/main" id="{CDACDBC0-F5FB-1506-25CF-33E62F719392}"/>
                </a:ext>
              </a:extLst>
            </p:cNvPr>
            <p:cNvSpPr/>
            <p:nvPr/>
          </p:nvSpPr>
          <p:spPr>
            <a:xfrm>
              <a:off x="6057169" y="3275662"/>
              <a:ext cx="737770" cy="408488"/>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tx1">
                      <a:lumMod val="50000"/>
                      <a:lumOff val="50000"/>
                    </a:schemeClr>
                  </a:solidFill>
                  <a:latin typeface="Meiryo UI" panose="020B0604030504040204" pitchFamily="50" charset="-128"/>
                  <a:ea typeface="Meiryo UI" panose="020B0604030504040204" pitchFamily="50" charset="-128"/>
                </a:rPr>
                <a:t>スコアリング</a:t>
              </a:r>
              <a:endParaRPr kumimoji="1" lang="ja-JP" altLang="en-US" sz="1200" b="1" dirty="0">
                <a:solidFill>
                  <a:schemeClr val="tx1">
                    <a:lumMod val="50000"/>
                    <a:lumOff val="50000"/>
                  </a:schemeClr>
                </a:solidFill>
                <a:latin typeface="Meiryo UI" panose="020B0604030504040204" pitchFamily="50" charset="-128"/>
                <a:ea typeface="Meiryo UI" panose="020B0604030504040204" pitchFamily="50" charset="-128"/>
              </a:endParaRPr>
            </a:p>
          </p:txBody>
        </p:sp>
        <p:sp>
          <p:nvSpPr>
            <p:cNvPr id="55" name="正方形/長方形 54">
              <a:extLst>
                <a:ext uri="{FF2B5EF4-FFF2-40B4-BE49-F238E27FC236}">
                  <a16:creationId xmlns:a16="http://schemas.microsoft.com/office/drawing/2014/main" id="{A0A64E9B-63C4-523C-3E0D-401C60E7EA12}"/>
                </a:ext>
              </a:extLst>
            </p:cNvPr>
            <p:cNvSpPr/>
            <p:nvPr/>
          </p:nvSpPr>
          <p:spPr>
            <a:xfrm>
              <a:off x="1441200" y="1902834"/>
              <a:ext cx="707534" cy="864000"/>
            </a:xfrm>
            <a:prstGeom prst="rect">
              <a:avLst/>
            </a:prstGeom>
            <a:solidFill>
              <a:schemeClr val="accent1">
                <a:lumMod val="20000"/>
                <a:lumOff val="8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t"/>
            <a:lstStyle/>
            <a:p>
              <a:r>
                <a:rPr lang="en-US" altLang="ja-JP" sz="1200" dirty="0">
                  <a:solidFill>
                    <a:schemeClr val="tx1">
                      <a:lumMod val="75000"/>
                      <a:lumOff val="25000"/>
                    </a:schemeClr>
                  </a:solidFill>
                  <a:latin typeface="Meiryo UI" panose="020B0604030504040204" pitchFamily="50" charset="-128"/>
                  <a:ea typeface="Meiryo UI" panose="020B0604030504040204" pitchFamily="50" charset="-128"/>
                </a:rPr>
                <a:t>#4,5,6</a:t>
              </a:r>
              <a:endParaRPr kumimoji="1" lang="en-US" altLang="ja-JP" sz="12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6" name="正方形/長方形 55">
              <a:extLst>
                <a:ext uri="{FF2B5EF4-FFF2-40B4-BE49-F238E27FC236}">
                  <a16:creationId xmlns:a16="http://schemas.microsoft.com/office/drawing/2014/main" id="{38AD2629-8689-A094-EE50-0D87EF32DEBA}"/>
                </a:ext>
              </a:extLst>
            </p:cNvPr>
            <p:cNvSpPr/>
            <p:nvPr/>
          </p:nvSpPr>
          <p:spPr>
            <a:xfrm>
              <a:off x="1441200" y="2798139"/>
              <a:ext cx="707534" cy="792000"/>
            </a:xfrm>
            <a:prstGeom prst="rect">
              <a:avLst/>
            </a:prstGeom>
            <a:solidFill>
              <a:srgbClr val="CCFFFF">
                <a:alpha val="49804"/>
              </a:srgbClr>
            </a:solidFill>
            <a:ln>
              <a:noFill/>
            </a:ln>
          </p:spPr>
          <p:style>
            <a:lnRef idx="0">
              <a:scrgbClr r="0" g="0" b="0"/>
            </a:lnRef>
            <a:fillRef idx="0">
              <a:scrgbClr r="0" g="0" b="0"/>
            </a:fillRef>
            <a:effectRef idx="0">
              <a:scrgbClr r="0" g="0" b="0"/>
            </a:effectRef>
            <a:fontRef idx="minor">
              <a:schemeClr val="lt1"/>
            </a:fontRef>
          </p:style>
          <p:txBody>
            <a:bodyPr rtlCol="0" anchor="t"/>
            <a:lstStyle/>
            <a:p>
              <a:r>
                <a:rPr kumimoji="1" lang="en-US" altLang="ja-JP" sz="1200" dirty="0">
                  <a:solidFill>
                    <a:schemeClr val="tx1">
                      <a:lumMod val="75000"/>
                      <a:lumOff val="25000"/>
                    </a:schemeClr>
                  </a:solidFill>
                  <a:latin typeface="Meiryo UI" panose="020B0604030504040204" pitchFamily="50" charset="-128"/>
                  <a:ea typeface="Meiryo UI" panose="020B0604030504040204" pitchFamily="50" charset="-128"/>
                </a:rPr>
                <a:t>#8</a:t>
              </a:r>
            </a:p>
          </p:txBody>
        </p:sp>
        <p:sp>
          <p:nvSpPr>
            <p:cNvPr id="57" name="正方形/長方形 56">
              <a:extLst>
                <a:ext uri="{FF2B5EF4-FFF2-40B4-BE49-F238E27FC236}">
                  <a16:creationId xmlns:a16="http://schemas.microsoft.com/office/drawing/2014/main" id="{7C833710-8FCE-5ED9-AAB2-4EB0ED691C95}"/>
                </a:ext>
              </a:extLst>
            </p:cNvPr>
            <p:cNvSpPr/>
            <p:nvPr/>
          </p:nvSpPr>
          <p:spPr>
            <a:xfrm>
              <a:off x="1441200" y="3614705"/>
              <a:ext cx="707534" cy="324000"/>
            </a:xfrm>
            <a:prstGeom prst="rect">
              <a:avLst/>
            </a:prstGeom>
            <a:solidFill>
              <a:schemeClr val="bg2">
                <a:lumMod val="9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t"/>
            <a:lstStyle/>
            <a:p>
              <a:r>
                <a:rPr lang="en-US" altLang="ja-JP" sz="1200" dirty="0">
                  <a:solidFill>
                    <a:schemeClr val="tx1">
                      <a:lumMod val="75000"/>
                      <a:lumOff val="25000"/>
                    </a:schemeClr>
                  </a:solidFill>
                  <a:latin typeface="Meiryo UI" panose="020B0604030504040204" pitchFamily="50" charset="-128"/>
                  <a:ea typeface="Meiryo UI" panose="020B0604030504040204" pitchFamily="50" charset="-128"/>
                </a:rPr>
                <a:t>#1</a:t>
              </a:r>
              <a:r>
                <a:rPr kumimoji="1" lang="ja-JP" altLang="en-US" sz="1200" dirty="0">
                  <a:solidFill>
                    <a:schemeClr val="tx1">
                      <a:lumMod val="75000"/>
                      <a:lumOff val="25000"/>
                    </a:schemeClr>
                  </a:solidFill>
                  <a:latin typeface="Meiryo UI" panose="020B0604030504040204" pitchFamily="50" charset="-128"/>
                  <a:ea typeface="Meiryo UI" panose="020B0604030504040204" pitchFamily="50" charset="-128"/>
                </a:rPr>
                <a:t> </a:t>
              </a:r>
              <a:endParaRPr kumimoji="1" lang="en-US" altLang="ja-JP" sz="1200" dirty="0">
                <a:solidFill>
                  <a:schemeClr val="tx1">
                    <a:lumMod val="75000"/>
                    <a:lumOff val="25000"/>
                  </a:schemeClr>
                </a:solidFill>
                <a:latin typeface="Meiryo UI" panose="020B0604030504040204" pitchFamily="50" charset="-128"/>
                <a:ea typeface="Meiryo UI" panose="020B0604030504040204" pitchFamily="50" charset="-128"/>
              </a:endParaRPr>
            </a:p>
          </p:txBody>
        </p:sp>
      </p:grpSp>
      <p:sp>
        <p:nvSpPr>
          <p:cNvPr id="59" name="正方形/長方形 58">
            <a:extLst>
              <a:ext uri="{FF2B5EF4-FFF2-40B4-BE49-F238E27FC236}">
                <a16:creationId xmlns:a16="http://schemas.microsoft.com/office/drawing/2014/main" id="{90CB2197-7F0A-52DB-9F6A-A9EEE73A21CB}"/>
              </a:ext>
            </a:extLst>
          </p:cNvPr>
          <p:cNvSpPr/>
          <p:nvPr/>
        </p:nvSpPr>
        <p:spPr>
          <a:xfrm>
            <a:off x="386261" y="5558292"/>
            <a:ext cx="769400" cy="9000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vert="eaVert" rtlCol="0" anchor="ctr"/>
          <a:lstStyle/>
          <a:p>
            <a:pPr algn="ctr"/>
            <a:r>
              <a:rPr lang="ja-JP" altLang="en-US" sz="1600" dirty="0">
                <a:latin typeface="Meiryo UI" panose="020B0604030504040204" pitchFamily="50" charset="-128"/>
                <a:ea typeface="Meiryo UI" panose="020B0604030504040204" pitchFamily="50" charset="-128"/>
              </a:rPr>
              <a:t>実装</a:t>
            </a:r>
            <a:endParaRPr kumimoji="1" lang="ja-JP" altLang="en-US" sz="1600" dirty="0">
              <a:latin typeface="Meiryo UI" panose="020B0604030504040204" pitchFamily="50" charset="-128"/>
              <a:ea typeface="Meiryo UI" panose="020B0604030504040204" pitchFamily="50" charset="-128"/>
            </a:endParaRPr>
          </a:p>
        </p:txBody>
      </p:sp>
      <p:sp>
        <p:nvSpPr>
          <p:cNvPr id="60" name="正方形/長方形 59">
            <a:extLst>
              <a:ext uri="{FF2B5EF4-FFF2-40B4-BE49-F238E27FC236}">
                <a16:creationId xmlns:a16="http://schemas.microsoft.com/office/drawing/2014/main" id="{347516D0-B9DE-7696-45A4-1A4738A40F58}"/>
              </a:ext>
            </a:extLst>
          </p:cNvPr>
          <p:cNvSpPr/>
          <p:nvPr/>
        </p:nvSpPr>
        <p:spPr>
          <a:xfrm>
            <a:off x="1271018" y="3996873"/>
            <a:ext cx="10298417" cy="148722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kumimoji="1" lang="ja-JP" altLang="en-US" sz="1600" b="1" dirty="0">
                <a:latin typeface="Meiryo UI" panose="020B0604030504040204" pitchFamily="50" charset="-128"/>
                <a:ea typeface="Meiryo UI" panose="020B0604030504040204" pitchFamily="50" charset="-128"/>
              </a:rPr>
              <a:t>予測対象：</a:t>
            </a:r>
            <a:r>
              <a:rPr lang="en-US" altLang="ja-JP" sz="1600" dirty="0">
                <a:latin typeface="Meiryo UI" panose="020B0604030504040204" pitchFamily="50" charset="-128"/>
                <a:ea typeface="Meiryo UI" panose="020B0604030504040204" pitchFamily="50" charset="-128"/>
              </a:rPr>
              <a:t>3</a:t>
            </a:r>
            <a:r>
              <a:rPr lang="ja-JP" altLang="en-US" sz="1600" dirty="0">
                <a:latin typeface="Meiryo UI" panose="020B0604030504040204" pitchFamily="50" charset="-128"/>
                <a:ea typeface="Meiryo UI" panose="020B0604030504040204" pitchFamily="50" charset="-128"/>
              </a:rPr>
              <a:t>か月後の</a:t>
            </a:r>
            <a:r>
              <a:rPr kumimoji="1" lang="ja-JP" altLang="en-US" sz="1600" dirty="0">
                <a:latin typeface="Meiryo UI" panose="020B0604030504040204" pitchFamily="50" charset="-128"/>
                <a:ea typeface="Meiryo UI" panose="020B0604030504040204" pitchFamily="50" charset="-128"/>
              </a:rPr>
              <a:t>ヘルスケアスコアが</a:t>
            </a:r>
            <a:r>
              <a:rPr kumimoji="1" lang="en-US" altLang="ja-JP" sz="1600" dirty="0">
                <a:latin typeface="Meiryo UI" panose="020B0604030504040204" pitchFamily="50" charset="-128"/>
                <a:ea typeface="Meiryo UI" panose="020B0604030504040204" pitchFamily="50" charset="-128"/>
              </a:rPr>
              <a:t>4</a:t>
            </a:r>
            <a:r>
              <a:rPr kumimoji="1" lang="ja-JP" altLang="en-US" sz="1600" dirty="0">
                <a:latin typeface="Meiryo UI" panose="020B0604030504040204" pitchFamily="50" charset="-128"/>
                <a:ea typeface="Meiryo UI" panose="020B0604030504040204" pitchFamily="50" charset="-128"/>
              </a:rPr>
              <a:t>点下がるまたは死亡退去か医療機関退去となるまたは入院となる</a:t>
            </a:r>
            <a:r>
              <a:rPr kumimoji="1" lang="en-US" altLang="ja-JP" sz="1600" dirty="0">
                <a:latin typeface="Meiryo UI" panose="020B0604030504040204" pitchFamily="50" charset="-128"/>
                <a:ea typeface="Meiryo UI" panose="020B0604030504040204" pitchFamily="50" charset="-128"/>
              </a:rPr>
              <a:t>(</a:t>
            </a:r>
            <a:r>
              <a:rPr kumimoji="1" lang="ja-JP" altLang="en-US" sz="1600" dirty="0">
                <a:latin typeface="Meiryo UI" panose="020B0604030504040204" pitchFamily="50" charset="-128"/>
                <a:ea typeface="Meiryo UI" panose="020B0604030504040204" pitchFamily="50" charset="-128"/>
              </a:rPr>
              <a:t>バイナリ分類</a:t>
            </a:r>
            <a:r>
              <a:rPr kumimoji="1" lang="en-US" altLang="ja-JP" sz="1600" dirty="0">
                <a:latin typeface="Meiryo UI" panose="020B0604030504040204" pitchFamily="50" charset="-128"/>
                <a:ea typeface="Meiryo UI" panose="020B0604030504040204" pitchFamily="50" charset="-128"/>
              </a:rPr>
              <a:t>)</a:t>
            </a:r>
          </a:p>
          <a:p>
            <a:r>
              <a:rPr kumimoji="1" lang="ja-JP" altLang="en-US" sz="1600" b="1" dirty="0">
                <a:latin typeface="Meiryo UI" panose="020B0604030504040204" pitchFamily="50" charset="-128"/>
                <a:ea typeface="Meiryo UI" panose="020B0604030504040204" pitchFamily="50" charset="-128"/>
              </a:rPr>
              <a:t>アルゴリズム：</a:t>
            </a:r>
            <a:r>
              <a:rPr kumimoji="1" lang="en-US" altLang="ja-JP" sz="1600" dirty="0" err="1">
                <a:latin typeface="Meiryo UI" panose="020B0604030504040204" pitchFamily="50" charset="-128"/>
                <a:ea typeface="Meiryo UI" panose="020B0604030504040204" pitchFamily="50" charset="-128"/>
              </a:rPr>
              <a:t>LightGBM</a:t>
            </a:r>
            <a:r>
              <a:rPr lang="ja-JP" altLang="en-US" sz="1600" dirty="0">
                <a:latin typeface="Meiryo UI" panose="020B0604030504040204" pitchFamily="50" charset="-128"/>
                <a:ea typeface="Meiryo UI" panose="020B0604030504040204" pitchFamily="50" charset="-128"/>
              </a:rPr>
              <a:t> </a:t>
            </a:r>
            <a:r>
              <a:rPr lang="en-US" altLang="ja-JP" sz="1600" dirty="0">
                <a:latin typeface="Meiryo UI" panose="020B0604030504040204" pitchFamily="50" charset="-128"/>
                <a:ea typeface="Meiryo UI" panose="020B0604030504040204" pitchFamily="50" charset="-128"/>
              </a:rPr>
              <a:t>(</a:t>
            </a:r>
            <a:r>
              <a:rPr lang="ja-JP" altLang="en-US" sz="1600" dirty="0">
                <a:latin typeface="Meiryo UI" panose="020B0604030504040204" pitchFamily="50" charset="-128"/>
                <a:ea typeface="Meiryo UI" panose="020B0604030504040204" pitchFamily="50" charset="-128"/>
              </a:rPr>
              <a:t>パラメータ調整：</a:t>
            </a:r>
            <a:r>
              <a:rPr kumimoji="1" lang="en-US" altLang="ja-JP" sz="1600" dirty="0" err="1">
                <a:latin typeface="Meiryo UI" panose="020B0604030504040204" pitchFamily="50" charset="-128"/>
                <a:ea typeface="Meiryo UI" panose="020B0604030504040204" pitchFamily="50" charset="-128"/>
              </a:rPr>
              <a:t>optuna</a:t>
            </a:r>
            <a:r>
              <a:rPr kumimoji="1" lang="en-US" altLang="ja-JP" sz="1600" dirty="0">
                <a:latin typeface="Meiryo UI" panose="020B0604030504040204" pitchFamily="50" charset="-128"/>
                <a:ea typeface="Meiryo UI" panose="020B0604030504040204" pitchFamily="50" charset="-128"/>
              </a:rPr>
              <a:t>)</a:t>
            </a:r>
          </a:p>
          <a:p>
            <a:r>
              <a:rPr lang="ja-JP" altLang="en-US" sz="1600" b="1" dirty="0">
                <a:latin typeface="Meiryo UI" panose="020B0604030504040204" pitchFamily="50" charset="-128"/>
                <a:ea typeface="Meiryo UI" panose="020B0604030504040204" pitchFamily="50" charset="-128"/>
              </a:rPr>
              <a:t>精度指標：</a:t>
            </a:r>
            <a:r>
              <a:rPr lang="en-US" altLang="ja-JP" sz="1600" dirty="0">
                <a:latin typeface="Meiryo UI" panose="020B0604030504040204" pitchFamily="50" charset="-128"/>
                <a:ea typeface="Meiryo UI" panose="020B0604030504040204" pitchFamily="50" charset="-128"/>
              </a:rPr>
              <a:t>F1</a:t>
            </a:r>
            <a:endParaRPr kumimoji="1" lang="en-US" altLang="ja-JP" sz="1600" dirty="0">
              <a:latin typeface="Meiryo UI" panose="020B0604030504040204" pitchFamily="50" charset="-128"/>
              <a:ea typeface="Meiryo UI" panose="020B0604030504040204" pitchFamily="50" charset="-128"/>
            </a:endParaRPr>
          </a:p>
        </p:txBody>
      </p:sp>
      <p:sp>
        <p:nvSpPr>
          <p:cNvPr id="62" name="正方形/長方形 61">
            <a:extLst>
              <a:ext uri="{FF2B5EF4-FFF2-40B4-BE49-F238E27FC236}">
                <a16:creationId xmlns:a16="http://schemas.microsoft.com/office/drawing/2014/main" id="{B6A5499C-46B6-A536-6B6C-C7CEB224CB31}"/>
              </a:ext>
            </a:extLst>
          </p:cNvPr>
          <p:cNvSpPr/>
          <p:nvPr/>
        </p:nvSpPr>
        <p:spPr>
          <a:xfrm>
            <a:off x="386373" y="1466333"/>
            <a:ext cx="360000" cy="4017761"/>
          </a:xfrm>
          <a:prstGeom prst="rect">
            <a:avLst/>
          </a:prstGeom>
          <a:solidFill>
            <a:schemeClr val="tx2">
              <a:lumMod val="75000"/>
              <a:lumOff val="25000"/>
              <a:alpha val="50000"/>
            </a:schemeClr>
          </a:solidFill>
          <a:ln>
            <a:noFill/>
          </a:ln>
        </p:spPr>
        <p:style>
          <a:lnRef idx="0">
            <a:scrgbClr r="0" g="0" b="0"/>
          </a:lnRef>
          <a:fillRef idx="0">
            <a:scrgbClr r="0" g="0" b="0"/>
          </a:fillRef>
          <a:effectRef idx="0">
            <a:scrgbClr r="0" g="0" b="0"/>
          </a:effectRef>
          <a:fontRef idx="minor">
            <a:schemeClr val="lt1"/>
          </a:fontRef>
        </p:style>
        <p:txBody>
          <a:bodyPr vert="vert" rtlCol="0" anchor="ctr"/>
          <a:lstStyle/>
          <a:p>
            <a:pPr algn="ctr"/>
            <a:r>
              <a:rPr kumimoji="1" lang="ja-JP" altLang="en-US" sz="1600" dirty="0">
                <a:latin typeface="Meiryo UI" panose="020B0604030504040204" pitchFamily="50" charset="-128"/>
                <a:ea typeface="Meiryo UI" panose="020B0604030504040204" pitchFamily="50" charset="-128"/>
              </a:rPr>
              <a:t>コードベース</a:t>
            </a:r>
            <a:r>
              <a:rPr kumimoji="1" lang="en-US" altLang="ja-JP" sz="1600" dirty="0">
                <a:latin typeface="Meiryo UI" panose="020B0604030504040204" pitchFamily="50" charset="-128"/>
                <a:ea typeface="Meiryo UI" panose="020B0604030504040204" pitchFamily="50" charset="-128"/>
              </a:rPr>
              <a:t>ETL</a:t>
            </a:r>
            <a:r>
              <a:rPr kumimoji="1" lang="ja-JP" altLang="en-US" sz="1600" dirty="0">
                <a:latin typeface="Meiryo UI" panose="020B0604030504040204" pitchFamily="50" charset="-128"/>
                <a:ea typeface="Meiryo UI" panose="020B0604030504040204" pitchFamily="50" charset="-128"/>
              </a:rPr>
              <a:t>ツール</a:t>
            </a:r>
          </a:p>
        </p:txBody>
      </p:sp>
      <p:sp>
        <p:nvSpPr>
          <p:cNvPr id="7" name="四角形: 角を丸くする 6">
            <a:extLst>
              <a:ext uri="{FF2B5EF4-FFF2-40B4-BE49-F238E27FC236}">
                <a16:creationId xmlns:a16="http://schemas.microsoft.com/office/drawing/2014/main" id="{9FD4A592-4BDA-8312-BA31-80DE4249FC49}"/>
              </a:ext>
            </a:extLst>
          </p:cNvPr>
          <p:cNvSpPr/>
          <p:nvPr/>
        </p:nvSpPr>
        <p:spPr>
          <a:xfrm>
            <a:off x="10503233" y="221462"/>
            <a:ext cx="785032" cy="440700"/>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堀家</a:t>
            </a:r>
            <a:endParaRPr kumimoji="1" lang="ja-JP" altLang="en-US" dirty="0"/>
          </a:p>
        </p:txBody>
      </p:sp>
    </p:spTree>
    <p:extLst>
      <p:ext uri="{BB962C8B-B14F-4D97-AF65-F5344CB8AC3E}">
        <p14:creationId xmlns:p14="http://schemas.microsoft.com/office/powerpoint/2010/main" val="6296999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4C449-AB0E-F8A6-8F3B-EB46B26C87F3}"/>
            </a:ext>
          </a:extLst>
        </p:cNvPr>
        <p:cNvGrpSpPr/>
        <p:nvPr/>
      </p:nvGrpSpPr>
      <p:grpSpPr>
        <a:xfrm>
          <a:off x="0" y="0"/>
          <a:ext cx="0" cy="0"/>
          <a:chOff x="0" y="0"/>
          <a:chExt cx="0" cy="0"/>
        </a:xfrm>
      </p:grpSpPr>
      <p:sp>
        <p:nvSpPr>
          <p:cNvPr id="4" name="タイトル 2">
            <a:extLst>
              <a:ext uri="{FF2B5EF4-FFF2-40B4-BE49-F238E27FC236}">
                <a16:creationId xmlns:a16="http://schemas.microsoft.com/office/drawing/2014/main" id="{59177BC2-63F3-9DB2-E6F1-19EDD87CD48B}"/>
              </a:ext>
            </a:extLst>
          </p:cNvPr>
          <p:cNvSpPr txBox="1">
            <a:spLocks/>
          </p:cNvSpPr>
          <p:nvPr/>
        </p:nvSpPr>
        <p:spPr>
          <a:xfrm>
            <a:off x="300178" y="181737"/>
            <a:ext cx="10988087" cy="342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ja-JP" altLang="en-US" sz="1900" dirty="0">
                <a:latin typeface="Meiryo UI" panose="020B0604030504040204" pitchFamily="50" charset="-128"/>
                <a:ea typeface="Meiryo UI" panose="020B0604030504040204" pitchFamily="50" charset="-128"/>
              </a:rPr>
              <a:t>モデル</a:t>
            </a:r>
            <a:r>
              <a:rPr kumimoji="1" lang="en-US" altLang="ja-JP" sz="1900" dirty="0">
                <a:latin typeface="Meiryo UI" panose="020B0604030504040204" pitchFamily="50" charset="-128"/>
                <a:ea typeface="Meiryo UI" panose="020B0604030504040204" pitchFamily="50" charset="-128"/>
              </a:rPr>
              <a:t>(2)</a:t>
            </a:r>
            <a:r>
              <a:rPr kumimoji="1" lang="ja-JP" altLang="en-US" sz="1900" dirty="0">
                <a:latin typeface="Meiryo UI" panose="020B0604030504040204" pitchFamily="50" charset="-128"/>
                <a:ea typeface="Meiryo UI" panose="020B0604030504040204" pitchFamily="50" charset="-128"/>
              </a:rPr>
              <a:t>：入院予測モデル</a:t>
            </a:r>
          </a:p>
        </p:txBody>
      </p:sp>
      <p:sp>
        <p:nvSpPr>
          <p:cNvPr id="229" name="テキスト ボックス 228">
            <a:extLst>
              <a:ext uri="{FF2B5EF4-FFF2-40B4-BE49-F238E27FC236}">
                <a16:creationId xmlns:a16="http://schemas.microsoft.com/office/drawing/2014/main" id="{93E689CC-7ABF-4B64-74CF-8B5122B0EC9A}"/>
              </a:ext>
            </a:extLst>
          </p:cNvPr>
          <p:cNvSpPr txBox="1"/>
          <p:nvPr/>
        </p:nvSpPr>
        <p:spPr>
          <a:xfrm>
            <a:off x="357328" y="782669"/>
            <a:ext cx="11138278" cy="338554"/>
          </a:xfrm>
          <a:prstGeom prst="rect">
            <a:avLst/>
          </a:prstGeom>
          <a:noFill/>
        </p:spPr>
        <p:txBody>
          <a:bodyPr wrap="square">
            <a:spAutoFit/>
          </a:bodyPr>
          <a:lstStyle/>
          <a:p>
            <a:pPr algn="l"/>
            <a:r>
              <a:rPr kumimoji="1" lang="ja-JP" altLang="en-US" sz="1600" dirty="0">
                <a:solidFill>
                  <a:schemeClr val="tx1"/>
                </a:solidFill>
                <a:latin typeface="Meiryo UI" panose="020B0604030504040204" pitchFamily="50" charset="-128"/>
                <a:ea typeface="Meiryo UI" panose="020B0604030504040204" pitchFamily="50" charset="-128"/>
              </a:rPr>
              <a:t>目的：ご利用者様の体調変化の早期発見と適切な介入によって重度化を予防し、避けられる入院を最小化する</a:t>
            </a:r>
          </a:p>
        </p:txBody>
      </p:sp>
      <p:sp>
        <p:nvSpPr>
          <p:cNvPr id="49" name="正方形/長方形 48">
            <a:extLst>
              <a:ext uri="{FF2B5EF4-FFF2-40B4-BE49-F238E27FC236}">
                <a16:creationId xmlns:a16="http://schemas.microsoft.com/office/drawing/2014/main" id="{7807E50D-CBC2-6FB9-4017-E5781C9AE2CB}"/>
              </a:ext>
            </a:extLst>
          </p:cNvPr>
          <p:cNvSpPr/>
          <p:nvPr/>
        </p:nvSpPr>
        <p:spPr>
          <a:xfrm>
            <a:off x="789649" y="1379554"/>
            <a:ext cx="360000" cy="356656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vert="eaVert" rtlCol="0" anchor="ctr"/>
          <a:lstStyle/>
          <a:p>
            <a:pPr algn="ctr"/>
            <a:r>
              <a:rPr lang="ja-JP" altLang="en-US" sz="1600">
                <a:latin typeface="Meiryo UI" panose="020B0604030504040204" pitchFamily="50" charset="-128"/>
                <a:ea typeface="Meiryo UI" panose="020B0604030504040204" pitchFamily="50" charset="-128"/>
              </a:rPr>
              <a:t>データ収集と加工</a:t>
            </a:r>
            <a:endParaRPr kumimoji="1" lang="ja-JP" altLang="en-US" sz="1600">
              <a:latin typeface="Meiryo UI" panose="020B0604030504040204" pitchFamily="50" charset="-128"/>
              <a:ea typeface="Meiryo UI" panose="020B0604030504040204" pitchFamily="50" charset="-128"/>
            </a:endParaRPr>
          </a:p>
        </p:txBody>
      </p:sp>
      <p:sp>
        <p:nvSpPr>
          <p:cNvPr id="50" name="正方形/長方形 49">
            <a:extLst>
              <a:ext uri="{FF2B5EF4-FFF2-40B4-BE49-F238E27FC236}">
                <a16:creationId xmlns:a16="http://schemas.microsoft.com/office/drawing/2014/main" id="{8379009A-B629-2979-DA5E-96A6F55B307B}"/>
              </a:ext>
            </a:extLst>
          </p:cNvPr>
          <p:cNvSpPr/>
          <p:nvPr/>
        </p:nvSpPr>
        <p:spPr>
          <a:xfrm>
            <a:off x="783926" y="5035463"/>
            <a:ext cx="360000" cy="13680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vert="eaVert" rtlCol="0" anchor="ctr"/>
          <a:lstStyle/>
          <a:p>
            <a:pPr algn="ctr"/>
            <a:r>
              <a:rPr kumimoji="1" lang="ja-JP" altLang="en-US" sz="1600" dirty="0">
                <a:latin typeface="Meiryo UI" panose="020B0604030504040204" pitchFamily="50" charset="-128"/>
                <a:ea typeface="Meiryo UI" panose="020B0604030504040204" pitchFamily="50" charset="-128"/>
              </a:rPr>
              <a:t>モデル構築</a:t>
            </a:r>
          </a:p>
        </p:txBody>
      </p:sp>
      <p:sp>
        <p:nvSpPr>
          <p:cNvPr id="51" name="正方形/長方形 50">
            <a:extLst>
              <a:ext uri="{FF2B5EF4-FFF2-40B4-BE49-F238E27FC236}">
                <a16:creationId xmlns:a16="http://schemas.microsoft.com/office/drawing/2014/main" id="{DE9F2ADE-DC1D-609C-719F-D5BEBD1BD1BD}"/>
              </a:ext>
            </a:extLst>
          </p:cNvPr>
          <p:cNvSpPr/>
          <p:nvPr/>
        </p:nvSpPr>
        <p:spPr>
          <a:xfrm>
            <a:off x="1228635" y="5035462"/>
            <a:ext cx="10298417" cy="13680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kumimoji="1" lang="ja-JP" altLang="en-US" sz="1600" b="1" dirty="0">
                <a:latin typeface="Meiryo UI" panose="020B0604030504040204" pitchFamily="50" charset="-128"/>
                <a:ea typeface="Meiryo UI" panose="020B0604030504040204" pitchFamily="50" charset="-128"/>
              </a:rPr>
              <a:t>予測対象：</a:t>
            </a:r>
            <a:r>
              <a:rPr kumimoji="1" lang="en-US" altLang="ja-JP" sz="1600" dirty="0">
                <a:latin typeface="Meiryo UI" panose="020B0604030504040204" pitchFamily="50" charset="-128"/>
                <a:ea typeface="Meiryo UI" panose="020B0604030504040204" pitchFamily="50" charset="-128"/>
              </a:rPr>
              <a:t>6</a:t>
            </a:r>
            <a:r>
              <a:rPr kumimoji="1" lang="ja-JP" altLang="en-US" sz="1600" dirty="0">
                <a:latin typeface="Meiryo UI" panose="020B0604030504040204" pitchFamily="50" charset="-128"/>
                <a:ea typeface="Meiryo UI" panose="020B0604030504040204" pitchFamily="50" charset="-128"/>
              </a:rPr>
              <a:t>ヶ月以内の入院 </a:t>
            </a:r>
            <a:r>
              <a:rPr kumimoji="1" lang="en-US" altLang="ja-JP" sz="1600" dirty="0">
                <a:latin typeface="Meiryo UI" panose="020B0604030504040204" pitchFamily="50" charset="-128"/>
                <a:ea typeface="Meiryo UI" panose="020B0604030504040204" pitchFamily="50" charset="-128"/>
              </a:rPr>
              <a:t>(</a:t>
            </a:r>
            <a:r>
              <a:rPr kumimoji="1" lang="ja-JP" altLang="en-US" sz="1600" dirty="0">
                <a:latin typeface="Meiryo UI" panose="020B0604030504040204" pitchFamily="50" charset="-128"/>
                <a:ea typeface="Meiryo UI" panose="020B0604030504040204" pitchFamily="50" charset="-128"/>
              </a:rPr>
              <a:t>バイナリ分類</a:t>
            </a:r>
            <a:r>
              <a:rPr kumimoji="1" lang="en-US" altLang="ja-JP" sz="1600" dirty="0">
                <a:latin typeface="Meiryo UI" panose="020B0604030504040204" pitchFamily="50" charset="-128"/>
                <a:ea typeface="Meiryo UI" panose="020B0604030504040204" pitchFamily="50" charset="-128"/>
              </a:rPr>
              <a:t>)</a:t>
            </a:r>
          </a:p>
          <a:p>
            <a:r>
              <a:rPr kumimoji="1" lang="ja-JP" altLang="en-US" sz="1600" b="1" dirty="0">
                <a:latin typeface="Meiryo UI" panose="020B0604030504040204" pitchFamily="50" charset="-128"/>
                <a:ea typeface="Meiryo UI" panose="020B0604030504040204" pitchFamily="50" charset="-128"/>
              </a:rPr>
              <a:t>アルゴリズム：</a:t>
            </a:r>
            <a:r>
              <a:rPr kumimoji="1" lang="en-US" altLang="ja-JP" sz="1600" dirty="0" err="1">
                <a:latin typeface="Meiryo UI" panose="020B0604030504040204" pitchFamily="50" charset="-128"/>
                <a:ea typeface="Meiryo UI" panose="020B0604030504040204" pitchFamily="50" charset="-128"/>
              </a:rPr>
              <a:t>RandumForest</a:t>
            </a:r>
            <a:r>
              <a:rPr kumimoji="1" lang="en-US" altLang="ja-JP" sz="1600" dirty="0">
                <a:latin typeface="Meiryo UI" panose="020B0604030504040204" pitchFamily="50" charset="-128"/>
                <a:ea typeface="Meiryo UI" panose="020B0604030504040204" pitchFamily="50" charset="-128"/>
              </a:rPr>
              <a:t>, </a:t>
            </a:r>
            <a:r>
              <a:rPr kumimoji="1" lang="en-US" altLang="ja-JP" sz="1600" dirty="0" err="1">
                <a:latin typeface="Meiryo UI" panose="020B0604030504040204" pitchFamily="50" charset="-128"/>
                <a:ea typeface="Meiryo UI" panose="020B0604030504040204" pitchFamily="50" charset="-128"/>
              </a:rPr>
              <a:t>XGBoost</a:t>
            </a:r>
            <a:r>
              <a:rPr kumimoji="1" lang="en-US" altLang="ja-JP" sz="1600" dirty="0">
                <a:latin typeface="Meiryo UI" panose="020B0604030504040204" pitchFamily="50" charset="-128"/>
                <a:ea typeface="Meiryo UI" panose="020B0604030504040204" pitchFamily="50" charset="-128"/>
              </a:rPr>
              <a:t>, </a:t>
            </a:r>
            <a:r>
              <a:rPr kumimoji="1" lang="en-US" altLang="ja-JP" sz="1600" dirty="0" err="1">
                <a:latin typeface="Meiryo UI" panose="020B0604030504040204" pitchFamily="50" charset="-128"/>
                <a:ea typeface="Meiryo UI" panose="020B0604030504040204" pitchFamily="50" charset="-128"/>
              </a:rPr>
              <a:t>CatBoost</a:t>
            </a:r>
            <a:r>
              <a:rPr kumimoji="1" lang="en-US" altLang="ja-JP" sz="1600" dirty="0">
                <a:latin typeface="Meiryo UI" panose="020B0604030504040204" pitchFamily="50" charset="-128"/>
                <a:ea typeface="Meiryo UI" panose="020B0604030504040204" pitchFamily="50" charset="-128"/>
              </a:rPr>
              <a:t>, </a:t>
            </a:r>
            <a:r>
              <a:rPr kumimoji="1" lang="en-US" altLang="ja-JP" sz="1600" dirty="0" err="1">
                <a:latin typeface="Meiryo UI" panose="020B0604030504040204" pitchFamily="50" charset="-128"/>
                <a:ea typeface="Meiryo UI" panose="020B0604030504040204" pitchFamily="50" charset="-128"/>
              </a:rPr>
              <a:t>LightGBM</a:t>
            </a:r>
            <a:endParaRPr kumimoji="1" lang="en-US" altLang="ja-JP" sz="1600" dirty="0">
              <a:latin typeface="Meiryo UI" panose="020B0604030504040204" pitchFamily="50" charset="-128"/>
              <a:ea typeface="Meiryo UI" panose="020B0604030504040204" pitchFamily="50" charset="-128"/>
            </a:endParaRPr>
          </a:p>
          <a:p>
            <a:r>
              <a:rPr lang="ja-JP" altLang="en-US" sz="1600" b="1" dirty="0">
                <a:latin typeface="Meiryo UI" panose="020B0604030504040204" pitchFamily="50" charset="-128"/>
                <a:ea typeface="Meiryo UI" panose="020B0604030504040204" pitchFamily="50" charset="-128"/>
              </a:rPr>
              <a:t>精度指標：</a:t>
            </a:r>
            <a:r>
              <a:rPr lang="en-US" altLang="ja-JP" sz="1600" dirty="0">
                <a:latin typeface="Meiryo UI" panose="020B0604030504040204" pitchFamily="50" charset="-128"/>
                <a:ea typeface="Meiryo UI" panose="020B0604030504040204" pitchFamily="50" charset="-128"/>
              </a:rPr>
              <a:t>Precision, F1</a:t>
            </a:r>
          </a:p>
          <a:p>
            <a:r>
              <a:rPr kumimoji="1" lang="ja-JP" altLang="en-US" sz="1600" b="1" dirty="0">
                <a:latin typeface="Meiryo UI" panose="020B0604030504040204" pitchFamily="50" charset="-128"/>
                <a:ea typeface="Meiryo UI" panose="020B0604030504040204" pitchFamily="50" charset="-128"/>
              </a:rPr>
              <a:t>特徴量選定アプローチ：</a:t>
            </a:r>
            <a:r>
              <a:rPr kumimoji="1" lang="en-US" altLang="ja-JP" sz="1600" dirty="0">
                <a:latin typeface="Meiryo UI" panose="020B0604030504040204" pitchFamily="50" charset="-128"/>
                <a:ea typeface="Meiryo UI" panose="020B0604030504040204" pitchFamily="50" charset="-128"/>
              </a:rPr>
              <a:t>Permutation Importance</a:t>
            </a:r>
            <a:r>
              <a:rPr kumimoji="1" lang="ja-JP" altLang="en-US" sz="1600" dirty="0">
                <a:latin typeface="Meiryo UI" panose="020B0604030504040204" pitchFamily="50" charset="-128"/>
                <a:ea typeface="Meiryo UI" panose="020B0604030504040204" pitchFamily="50" charset="-128"/>
              </a:rPr>
              <a:t>、</a:t>
            </a:r>
            <a:r>
              <a:rPr kumimoji="1" lang="en-US" altLang="ja-JP" sz="1600" dirty="0">
                <a:latin typeface="Meiryo UI" panose="020B0604030504040204" pitchFamily="50" charset="-128"/>
                <a:ea typeface="Meiryo UI" panose="020B0604030504040204" pitchFamily="50" charset="-128"/>
              </a:rPr>
              <a:t>SHAP</a:t>
            </a:r>
            <a:r>
              <a:rPr kumimoji="1" lang="ja-JP" altLang="en-US" sz="1600" dirty="0">
                <a:latin typeface="Meiryo UI" panose="020B0604030504040204" pitchFamily="50" charset="-128"/>
                <a:ea typeface="Meiryo UI" panose="020B0604030504040204" pitchFamily="50" charset="-128"/>
              </a:rPr>
              <a:t>、</a:t>
            </a:r>
            <a:r>
              <a:rPr lang="en-US" altLang="ja-JP" sz="1600" dirty="0">
                <a:latin typeface="Meiryo UI" panose="020B0604030504040204" pitchFamily="50" charset="-128"/>
                <a:ea typeface="Meiryo UI" panose="020B0604030504040204" pitchFamily="50" charset="-128"/>
              </a:rPr>
              <a:t>VIF</a:t>
            </a:r>
            <a:r>
              <a:rPr lang="ja-JP" altLang="en-US" sz="1600" dirty="0">
                <a:latin typeface="Meiryo UI" panose="020B0604030504040204" pitchFamily="50" charset="-128"/>
                <a:ea typeface="Meiryo UI" panose="020B0604030504040204" pitchFamily="50" charset="-128"/>
              </a:rPr>
              <a:t>と相関係数をもとに絞り込み</a:t>
            </a:r>
            <a:endParaRPr lang="en-US" altLang="ja-JP" sz="1600" dirty="0">
              <a:latin typeface="Meiryo UI" panose="020B0604030504040204" pitchFamily="50" charset="-128"/>
              <a:ea typeface="Meiryo UI" panose="020B0604030504040204" pitchFamily="50" charset="-128"/>
            </a:endParaRPr>
          </a:p>
        </p:txBody>
      </p:sp>
      <p:grpSp>
        <p:nvGrpSpPr>
          <p:cNvPr id="62" name="グループ化 61">
            <a:extLst>
              <a:ext uri="{FF2B5EF4-FFF2-40B4-BE49-F238E27FC236}">
                <a16:creationId xmlns:a16="http://schemas.microsoft.com/office/drawing/2014/main" id="{1CD8F0EB-30EE-90F2-56E1-16C2F109EEB8}"/>
              </a:ext>
            </a:extLst>
          </p:cNvPr>
          <p:cNvGrpSpPr/>
          <p:nvPr/>
        </p:nvGrpSpPr>
        <p:grpSpPr>
          <a:xfrm>
            <a:off x="1228635" y="1379555"/>
            <a:ext cx="10440000" cy="3574120"/>
            <a:chOff x="1009582" y="1379555"/>
            <a:chExt cx="10471590" cy="3574120"/>
          </a:xfrm>
        </p:grpSpPr>
        <p:sp>
          <p:nvSpPr>
            <p:cNvPr id="2" name="Google Shape;3515;g24948b862d3_0_60">
              <a:extLst>
                <a:ext uri="{FF2B5EF4-FFF2-40B4-BE49-F238E27FC236}">
                  <a16:creationId xmlns:a16="http://schemas.microsoft.com/office/drawing/2014/main" id="{5AD3EA60-B65A-1EEC-C891-27107FD30D29}"/>
                </a:ext>
              </a:extLst>
            </p:cNvPr>
            <p:cNvSpPr/>
            <p:nvPr/>
          </p:nvSpPr>
          <p:spPr>
            <a:xfrm>
              <a:off x="1009582" y="1379555"/>
              <a:ext cx="3741833" cy="329500"/>
            </a:xfrm>
            <a:prstGeom prst="rect">
              <a:avLst/>
            </a:prstGeom>
            <a:solidFill>
              <a:schemeClr val="tx2"/>
            </a:solidFill>
            <a:ln>
              <a:noFill/>
            </a:ln>
          </p:spPr>
          <p:txBody>
            <a:bodyPr spcFirstLastPara="1" wrap="square" lIns="80625" tIns="40300" rIns="80625" bIns="403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ja-JP" altLang="en-US" sz="1600" b="0" i="0" u="none" strike="noStrike" cap="none" dirty="0">
                  <a:solidFill>
                    <a:schemeClr val="bg1"/>
                  </a:solidFill>
                  <a:latin typeface="Meiryo UI" panose="020B0604030504040204" pitchFamily="50" charset="-128"/>
                  <a:ea typeface="Meiryo UI" panose="020B0604030504040204" pitchFamily="50" charset="-128"/>
                  <a:cs typeface="Arial"/>
                  <a:sym typeface="Arial"/>
                </a:rPr>
                <a:t>入力データ一覧</a:t>
              </a:r>
              <a:endParaRPr sz="1600" b="0" i="0" u="none" strike="noStrike" cap="none" dirty="0">
                <a:solidFill>
                  <a:schemeClr val="bg1"/>
                </a:solidFill>
                <a:latin typeface="Meiryo UI" panose="020B0604030504040204" pitchFamily="50" charset="-128"/>
                <a:ea typeface="Meiryo UI" panose="020B0604030504040204" pitchFamily="50" charset="-128"/>
                <a:cs typeface="Arial"/>
                <a:sym typeface="Arial"/>
              </a:endParaRPr>
            </a:p>
          </p:txBody>
        </p:sp>
        <p:sp>
          <p:nvSpPr>
            <p:cNvPr id="3" name="Google Shape;3515;g24948b862d3_0_60">
              <a:extLst>
                <a:ext uri="{FF2B5EF4-FFF2-40B4-BE49-F238E27FC236}">
                  <a16:creationId xmlns:a16="http://schemas.microsoft.com/office/drawing/2014/main" id="{3BCDF071-5863-4E8B-1E0A-38912880673F}"/>
                </a:ext>
              </a:extLst>
            </p:cNvPr>
            <p:cNvSpPr/>
            <p:nvPr/>
          </p:nvSpPr>
          <p:spPr>
            <a:xfrm>
              <a:off x="4970281" y="1379555"/>
              <a:ext cx="1972578" cy="329500"/>
            </a:xfrm>
            <a:prstGeom prst="rect">
              <a:avLst/>
            </a:prstGeom>
            <a:solidFill>
              <a:schemeClr val="tx2"/>
            </a:solidFill>
            <a:ln>
              <a:noFill/>
            </a:ln>
          </p:spPr>
          <p:txBody>
            <a:bodyPr spcFirstLastPara="1" wrap="square" lIns="80625" tIns="40300" rIns="80625" bIns="403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ja-JP" altLang="en-US" sz="1600" dirty="0">
                  <a:solidFill>
                    <a:schemeClr val="bg1"/>
                  </a:solidFill>
                  <a:latin typeface="Meiryo UI" panose="020B0604030504040204" pitchFamily="50" charset="-128"/>
                  <a:ea typeface="Meiryo UI" panose="020B0604030504040204" pitchFamily="50" charset="-128"/>
                </a:rPr>
                <a:t>前処理</a:t>
              </a:r>
              <a:endParaRPr sz="1600" b="0" i="0" u="none" strike="noStrike" cap="none" dirty="0">
                <a:solidFill>
                  <a:schemeClr val="bg1"/>
                </a:solidFill>
                <a:latin typeface="Meiryo UI" panose="020B0604030504040204" pitchFamily="50" charset="-128"/>
                <a:ea typeface="Meiryo UI" panose="020B0604030504040204" pitchFamily="50" charset="-128"/>
                <a:cs typeface="Arial"/>
                <a:sym typeface="Arial"/>
              </a:endParaRPr>
            </a:p>
          </p:txBody>
        </p:sp>
        <p:sp>
          <p:nvSpPr>
            <p:cNvPr id="5" name="Google Shape;3515;g24948b862d3_0_60">
              <a:extLst>
                <a:ext uri="{FF2B5EF4-FFF2-40B4-BE49-F238E27FC236}">
                  <a16:creationId xmlns:a16="http://schemas.microsoft.com/office/drawing/2014/main" id="{4D3F5A63-CC75-B9D9-B4E4-E8D252F6DCB5}"/>
                </a:ext>
              </a:extLst>
            </p:cNvPr>
            <p:cNvSpPr/>
            <p:nvPr/>
          </p:nvSpPr>
          <p:spPr>
            <a:xfrm>
              <a:off x="7161725" y="1379555"/>
              <a:ext cx="4319447" cy="329500"/>
            </a:xfrm>
            <a:prstGeom prst="rect">
              <a:avLst/>
            </a:prstGeom>
            <a:solidFill>
              <a:schemeClr val="tx2"/>
            </a:solidFill>
            <a:ln>
              <a:noFill/>
            </a:ln>
          </p:spPr>
          <p:txBody>
            <a:bodyPr spcFirstLastPara="1" wrap="square" lIns="80625" tIns="40300" rIns="80625" bIns="403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ja-JP" altLang="en-US" sz="1600" b="0" i="0" u="none" strike="noStrike" cap="none" dirty="0">
                  <a:solidFill>
                    <a:schemeClr val="bg1"/>
                  </a:solidFill>
                  <a:latin typeface="Meiryo UI" panose="020B0604030504040204" pitchFamily="50" charset="-128"/>
                  <a:ea typeface="Meiryo UI" panose="020B0604030504040204" pitchFamily="50" charset="-128"/>
                  <a:cs typeface="Arial"/>
                  <a:sym typeface="Arial"/>
                </a:rPr>
                <a:t>特徴量</a:t>
              </a:r>
              <a:r>
                <a:rPr lang="ja-JP" altLang="en-US" sz="1600" dirty="0">
                  <a:solidFill>
                    <a:schemeClr val="bg1"/>
                  </a:solidFill>
                  <a:latin typeface="Meiryo UI" panose="020B0604030504040204" pitchFamily="50" charset="-128"/>
                  <a:ea typeface="Meiryo UI" panose="020B0604030504040204" pitchFamily="50" charset="-128"/>
                </a:rPr>
                <a:t>化</a:t>
              </a:r>
              <a:endParaRPr sz="1600" b="0" i="0" u="none" strike="noStrike" cap="none" dirty="0">
                <a:solidFill>
                  <a:schemeClr val="bg1"/>
                </a:solidFill>
                <a:latin typeface="Meiryo UI" panose="020B0604030504040204" pitchFamily="50" charset="-128"/>
                <a:ea typeface="Meiryo UI" panose="020B0604030504040204" pitchFamily="50" charset="-128"/>
                <a:cs typeface="Arial"/>
                <a:sym typeface="Arial"/>
              </a:endParaRPr>
            </a:p>
          </p:txBody>
        </p:sp>
        <p:sp>
          <p:nvSpPr>
            <p:cNvPr id="37" name="正方形/長方形 36">
              <a:extLst>
                <a:ext uri="{FF2B5EF4-FFF2-40B4-BE49-F238E27FC236}">
                  <a16:creationId xmlns:a16="http://schemas.microsoft.com/office/drawing/2014/main" id="{7B3F50C5-0688-FCAF-CBD1-E02B3F062EAC}"/>
                </a:ext>
              </a:extLst>
            </p:cNvPr>
            <p:cNvSpPr/>
            <p:nvPr/>
          </p:nvSpPr>
          <p:spPr>
            <a:xfrm>
              <a:off x="1791372" y="1783288"/>
              <a:ext cx="2960043" cy="1116000"/>
            </a:xfrm>
            <a:prstGeom prst="rect">
              <a:avLst/>
            </a:prstGeom>
            <a:solidFill>
              <a:schemeClr val="accent1">
                <a:lumMod val="20000"/>
                <a:lumOff val="8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t"/>
            <a:lstStyle/>
            <a:p>
              <a:r>
                <a:rPr kumimoji="1" lang="ja-JP" altLang="en-US" sz="1200" dirty="0">
                  <a:solidFill>
                    <a:schemeClr val="tx1">
                      <a:lumMod val="75000"/>
                      <a:lumOff val="25000"/>
                    </a:schemeClr>
                  </a:solidFill>
                  <a:latin typeface="Meiryo UI" panose="020B0604030504040204" pitchFamily="50" charset="-128"/>
                  <a:ea typeface="Meiryo UI" panose="020B0604030504040204" pitchFamily="50" charset="-128"/>
                </a:rPr>
                <a:t>ケア記録</a:t>
              </a:r>
              <a:endParaRPr kumimoji="1" lang="en-US" altLang="ja-JP" sz="12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8" name="正方形/長方形 37">
              <a:extLst>
                <a:ext uri="{FF2B5EF4-FFF2-40B4-BE49-F238E27FC236}">
                  <a16:creationId xmlns:a16="http://schemas.microsoft.com/office/drawing/2014/main" id="{BD33C17F-FD79-0124-E6B2-CCD3DD89C07E}"/>
                </a:ext>
              </a:extLst>
            </p:cNvPr>
            <p:cNvSpPr/>
            <p:nvPr/>
          </p:nvSpPr>
          <p:spPr>
            <a:xfrm>
              <a:off x="1791372" y="2907697"/>
              <a:ext cx="2960043" cy="288000"/>
            </a:xfrm>
            <a:prstGeom prst="rect">
              <a:avLst/>
            </a:prstGeom>
            <a:solidFill>
              <a:srgbClr val="99CCFF">
                <a:alpha val="49804"/>
              </a:srgbClr>
            </a:solidFill>
            <a:ln>
              <a:noFill/>
            </a:ln>
          </p:spPr>
          <p:style>
            <a:lnRef idx="0">
              <a:scrgbClr r="0" g="0" b="0"/>
            </a:lnRef>
            <a:fillRef idx="0">
              <a:scrgbClr r="0" g="0" b="0"/>
            </a:fillRef>
            <a:effectRef idx="0">
              <a:scrgbClr r="0" g="0" b="0"/>
            </a:effectRef>
            <a:fontRef idx="minor">
              <a:schemeClr val="lt1"/>
            </a:fontRef>
          </p:style>
          <p:txBody>
            <a:bodyPr rtlCol="0" anchor="t"/>
            <a:lstStyle/>
            <a:p>
              <a:r>
                <a:rPr kumimoji="1" lang="ja-JP" altLang="en-US" sz="1200" dirty="0">
                  <a:solidFill>
                    <a:schemeClr val="tx1">
                      <a:lumMod val="75000"/>
                      <a:lumOff val="25000"/>
                    </a:schemeClr>
                  </a:solidFill>
                  <a:latin typeface="Meiryo UI" panose="020B0604030504040204" pitchFamily="50" charset="-128"/>
                  <a:ea typeface="Meiryo UI" panose="020B0604030504040204" pitchFamily="50" charset="-128"/>
                </a:rPr>
                <a:t>眠りスキャン</a:t>
              </a:r>
              <a:endParaRPr kumimoji="1" lang="en-US" altLang="ja-JP" sz="12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9" name="正方形/長方形 38">
              <a:extLst>
                <a:ext uri="{FF2B5EF4-FFF2-40B4-BE49-F238E27FC236}">
                  <a16:creationId xmlns:a16="http://schemas.microsoft.com/office/drawing/2014/main" id="{91B74365-3847-B6F0-273E-7C49C5B6E2BE}"/>
                </a:ext>
              </a:extLst>
            </p:cNvPr>
            <p:cNvSpPr/>
            <p:nvPr/>
          </p:nvSpPr>
          <p:spPr>
            <a:xfrm>
              <a:off x="1791372" y="3571971"/>
              <a:ext cx="2960043" cy="792000"/>
            </a:xfrm>
            <a:prstGeom prst="rect">
              <a:avLst/>
            </a:prstGeom>
            <a:solidFill>
              <a:srgbClr val="CCFFFF">
                <a:alpha val="49804"/>
              </a:srgbClr>
            </a:solidFill>
            <a:ln>
              <a:noFill/>
            </a:ln>
          </p:spPr>
          <p:style>
            <a:lnRef idx="0">
              <a:scrgbClr r="0" g="0" b="0"/>
            </a:lnRef>
            <a:fillRef idx="0">
              <a:scrgbClr r="0" g="0" b="0"/>
            </a:fillRef>
            <a:effectRef idx="0">
              <a:scrgbClr r="0" g="0" b="0"/>
            </a:effectRef>
            <a:fontRef idx="minor">
              <a:schemeClr val="lt1"/>
            </a:fontRef>
          </p:style>
          <p:txBody>
            <a:bodyPr rtlCol="0" anchor="t"/>
            <a:lstStyle/>
            <a:p>
              <a:r>
                <a:rPr kumimoji="1" lang="en-US" altLang="ja-JP" sz="1200" dirty="0">
                  <a:solidFill>
                    <a:schemeClr val="tx1">
                      <a:lumMod val="75000"/>
                      <a:lumOff val="25000"/>
                    </a:schemeClr>
                  </a:solidFill>
                  <a:latin typeface="Meiryo UI" panose="020B0604030504040204" pitchFamily="50" charset="-128"/>
                  <a:ea typeface="Meiryo UI" panose="020B0604030504040204" pitchFamily="50" charset="-128"/>
                </a:rPr>
                <a:t>AV4</a:t>
              </a:r>
            </a:p>
          </p:txBody>
        </p:sp>
        <p:sp>
          <p:nvSpPr>
            <p:cNvPr id="40" name="正方形/長方形 39">
              <a:extLst>
                <a:ext uri="{FF2B5EF4-FFF2-40B4-BE49-F238E27FC236}">
                  <a16:creationId xmlns:a16="http://schemas.microsoft.com/office/drawing/2014/main" id="{387AF346-1B9E-E107-E9AF-8DDFF8176249}"/>
                </a:ext>
              </a:extLst>
            </p:cNvPr>
            <p:cNvSpPr/>
            <p:nvPr/>
          </p:nvSpPr>
          <p:spPr>
            <a:xfrm>
              <a:off x="1791372" y="3217892"/>
              <a:ext cx="2960043" cy="329500"/>
            </a:xfrm>
            <a:prstGeom prst="rect">
              <a:avLst/>
            </a:prstGeom>
            <a:solidFill>
              <a:schemeClr val="accent3">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t"/>
            <a:lstStyle/>
            <a:p>
              <a:r>
                <a:rPr kumimoji="1" lang="en-US" altLang="ja-JP" sz="1200" dirty="0">
                  <a:solidFill>
                    <a:schemeClr val="tx1">
                      <a:lumMod val="75000"/>
                      <a:lumOff val="25000"/>
                    </a:schemeClr>
                  </a:solidFill>
                  <a:latin typeface="Meiryo UI" panose="020B0604030504040204" pitchFamily="50" charset="-128"/>
                  <a:ea typeface="Meiryo UI" panose="020B0604030504040204" pitchFamily="50" charset="-128"/>
                </a:rPr>
                <a:t>LIFE</a:t>
              </a:r>
            </a:p>
          </p:txBody>
        </p:sp>
        <p:sp>
          <p:nvSpPr>
            <p:cNvPr id="41" name="正方形/長方形 40">
              <a:extLst>
                <a:ext uri="{FF2B5EF4-FFF2-40B4-BE49-F238E27FC236}">
                  <a16:creationId xmlns:a16="http://schemas.microsoft.com/office/drawing/2014/main" id="{BA015F91-E71C-BBEF-4A71-8DB0841348BC}"/>
                </a:ext>
              </a:extLst>
            </p:cNvPr>
            <p:cNvSpPr/>
            <p:nvPr/>
          </p:nvSpPr>
          <p:spPr>
            <a:xfrm>
              <a:off x="1791372" y="4384935"/>
              <a:ext cx="2960043" cy="561188"/>
            </a:xfrm>
            <a:prstGeom prst="rect">
              <a:avLst/>
            </a:prstGeom>
            <a:solidFill>
              <a:schemeClr val="bg2">
                <a:lumMod val="9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t"/>
            <a:lstStyle/>
            <a:p>
              <a:r>
                <a:rPr kumimoji="1" lang="ja-JP" altLang="en-US" sz="1200" dirty="0">
                  <a:solidFill>
                    <a:schemeClr val="tx1">
                      <a:lumMod val="75000"/>
                      <a:lumOff val="25000"/>
                    </a:schemeClr>
                  </a:solidFill>
                  <a:latin typeface="Meiryo UI" panose="020B0604030504040204" pitchFamily="50" charset="-128"/>
                  <a:ea typeface="Meiryo UI" panose="020B0604030504040204" pitchFamily="50" charset="-128"/>
                </a:rPr>
                <a:t>ほのぼの</a:t>
              </a:r>
              <a:endParaRPr kumimoji="1" lang="en-US" altLang="ja-JP" sz="12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2D47FC54-4BE1-1FB8-AFE7-8AC50C17284A}"/>
                </a:ext>
              </a:extLst>
            </p:cNvPr>
            <p:cNvSpPr/>
            <p:nvPr/>
          </p:nvSpPr>
          <p:spPr>
            <a:xfrm>
              <a:off x="2770672" y="3579387"/>
              <a:ext cx="1930029" cy="230650"/>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ysClr val="windowText" lastClr="000000"/>
                  </a:solidFill>
                  <a:latin typeface="Meiryo UI" panose="020B0604030504040204" pitchFamily="50" charset="-128"/>
                  <a:ea typeface="Meiryo UI" panose="020B0604030504040204" pitchFamily="50" charset="-128"/>
                </a:rPr>
                <a:t>基本情報</a:t>
              </a:r>
              <a:r>
                <a:rPr lang="en-US" altLang="ja-JP" sz="1200" dirty="0">
                  <a:solidFill>
                    <a:sysClr val="windowText" lastClr="000000"/>
                  </a:solidFill>
                  <a:latin typeface="Meiryo UI" panose="020B0604030504040204" pitchFamily="50" charset="-128"/>
                  <a:ea typeface="Meiryo UI" panose="020B0604030504040204" pitchFamily="50" charset="-128"/>
                </a:rPr>
                <a:t>, </a:t>
              </a:r>
              <a:r>
                <a:rPr lang="ja-JP" altLang="en-US" sz="1200" dirty="0">
                  <a:solidFill>
                    <a:sysClr val="windowText" lastClr="000000"/>
                  </a:solidFill>
                  <a:latin typeface="Meiryo UI" panose="020B0604030504040204" pitchFamily="50" charset="-128"/>
                  <a:ea typeface="Meiryo UI" panose="020B0604030504040204" pitchFamily="50" charset="-128"/>
                </a:rPr>
                <a:t>身体機能</a:t>
              </a:r>
              <a:endParaRPr kumimoji="1" lang="ja-JP" altLang="en-US" sz="1200" dirty="0">
                <a:solidFill>
                  <a:sysClr val="windowText" lastClr="000000"/>
                </a:solidFill>
                <a:latin typeface="Meiryo UI" panose="020B0604030504040204" pitchFamily="50" charset="-128"/>
                <a:ea typeface="Meiryo UI" panose="020B0604030504040204" pitchFamily="50" charset="-128"/>
              </a:endParaRPr>
            </a:p>
          </p:txBody>
        </p:sp>
        <p:sp>
          <p:nvSpPr>
            <p:cNvPr id="10" name="正方形/長方形 9">
              <a:extLst>
                <a:ext uri="{FF2B5EF4-FFF2-40B4-BE49-F238E27FC236}">
                  <a16:creationId xmlns:a16="http://schemas.microsoft.com/office/drawing/2014/main" id="{67CBA9FF-AE9F-B6AC-FAD9-864E39615348}"/>
                </a:ext>
              </a:extLst>
            </p:cNvPr>
            <p:cNvSpPr/>
            <p:nvPr/>
          </p:nvSpPr>
          <p:spPr>
            <a:xfrm>
              <a:off x="2770672" y="3843801"/>
              <a:ext cx="1930029" cy="230650"/>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ysClr val="windowText" lastClr="000000"/>
                  </a:solidFill>
                  <a:latin typeface="Meiryo UI" panose="020B0604030504040204" pitchFamily="50" charset="-128"/>
                  <a:ea typeface="Meiryo UI" panose="020B0604030504040204" pitchFamily="50" charset="-128"/>
                </a:rPr>
                <a:t>認知機能</a:t>
              </a:r>
            </a:p>
          </p:txBody>
        </p:sp>
        <p:sp>
          <p:nvSpPr>
            <p:cNvPr id="14" name="正方形/長方形 13">
              <a:extLst>
                <a:ext uri="{FF2B5EF4-FFF2-40B4-BE49-F238E27FC236}">
                  <a16:creationId xmlns:a16="http://schemas.microsoft.com/office/drawing/2014/main" id="{C34CAB8E-5DD7-142D-F1FC-3CC43C93B985}"/>
                </a:ext>
              </a:extLst>
            </p:cNvPr>
            <p:cNvSpPr/>
            <p:nvPr/>
          </p:nvSpPr>
          <p:spPr>
            <a:xfrm>
              <a:off x="2770672" y="4114518"/>
              <a:ext cx="1930029" cy="230650"/>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ysClr val="windowText" lastClr="000000"/>
                  </a:solidFill>
                  <a:latin typeface="Meiryo UI" panose="020B0604030504040204" pitchFamily="50" charset="-128"/>
                  <a:ea typeface="Meiryo UI" panose="020B0604030504040204" pitchFamily="50" charset="-128"/>
                </a:rPr>
                <a:t>基礎疾患</a:t>
              </a:r>
              <a:r>
                <a:rPr kumimoji="1" lang="en-US" altLang="ja-JP" sz="1200" dirty="0">
                  <a:solidFill>
                    <a:sysClr val="windowText" lastClr="000000"/>
                  </a:solidFill>
                  <a:latin typeface="Meiryo UI" panose="020B0604030504040204" pitchFamily="50" charset="-128"/>
                  <a:ea typeface="Meiryo UI" panose="020B0604030504040204" pitchFamily="50" charset="-128"/>
                </a:rPr>
                <a:t>, </a:t>
              </a:r>
              <a:r>
                <a:rPr kumimoji="1" lang="ja-JP" altLang="en-US" sz="1200" dirty="0">
                  <a:solidFill>
                    <a:sysClr val="windowText" lastClr="000000"/>
                  </a:solidFill>
                  <a:latin typeface="Meiryo UI" panose="020B0604030504040204" pitchFamily="50" charset="-128"/>
                  <a:ea typeface="Meiryo UI" panose="020B0604030504040204" pitchFamily="50" charset="-128"/>
                </a:rPr>
                <a:t>処方薬剤</a:t>
              </a:r>
            </a:p>
          </p:txBody>
        </p:sp>
        <p:grpSp>
          <p:nvGrpSpPr>
            <p:cNvPr id="16" name="グループ化 15">
              <a:extLst>
                <a:ext uri="{FF2B5EF4-FFF2-40B4-BE49-F238E27FC236}">
                  <a16:creationId xmlns:a16="http://schemas.microsoft.com/office/drawing/2014/main" id="{9252948F-0900-1FC1-0697-76F2135FC7AE}"/>
                </a:ext>
              </a:extLst>
            </p:cNvPr>
            <p:cNvGrpSpPr/>
            <p:nvPr/>
          </p:nvGrpSpPr>
          <p:grpSpPr>
            <a:xfrm>
              <a:off x="2770672" y="4414456"/>
              <a:ext cx="1930029" cy="500635"/>
              <a:chOff x="1986967" y="5612313"/>
              <a:chExt cx="2880000" cy="546977"/>
            </a:xfrm>
          </p:grpSpPr>
          <p:sp>
            <p:nvSpPr>
              <p:cNvPr id="17" name="正方形/長方形 16">
                <a:extLst>
                  <a:ext uri="{FF2B5EF4-FFF2-40B4-BE49-F238E27FC236}">
                    <a16:creationId xmlns:a16="http://schemas.microsoft.com/office/drawing/2014/main" id="{4A687C25-9BBE-DAEB-60FA-35E9F258C79F}"/>
                  </a:ext>
                </a:extLst>
              </p:cNvPr>
              <p:cNvSpPr/>
              <p:nvPr/>
            </p:nvSpPr>
            <p:spPr>
              <a:xfrm>
                <a:off x="1986967" y="5612313"/>
                <a:ext cx="2880000" cy="252000"/>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ysClr val="windowText" lastClr="000000"/>
                    </a:solidFill>
                    <a:latin typeface="Meiryo UI" panose="020B0604030504040204" pitchFamily="50" charset="-128"/>
                    <a:ea typeface="Meiryo UI" panose="020B0604030504040204" pitchFamily="50" charset="-128"/>
                  </a:rPr>
                  <a:t>入院疾患名</a:t>
                </a:r>
              </a:p>
            </p:txBody>
          </p:sp>
          <p:sp>
            <p:nvSpPr>
              <p:cNvPr id="18" name="正方形/長方形 17">
                <a:extLst>
                  <a:ext uri="{FF2B5EF4-FFF2-40B4-BE49-F238E27FC236}">
                    <a16:creationId xmlns:a16="http://schemas.microsoft.com/office/drawing/2014/main" id="{57313B84-A82E-6822-31AB-C2C3D1BF5454}"/>
                  </a:ext>
                </a:extLst>
              </p:cNvPr>
              <p:cNvSpPr/>
              <p:nvPr/>
            </p:nvSpPr>
            <p:spPr>
              <a:xfrm>
                <a:off x="1986967" y="5907290"/>
                <a:ext cx="2880000" cy="252000"/>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ysClr val="windowText" lastClr="000000"/>
                    </a:solidFill>
                    <a:latin typeface="Meiryo UI" panose="020B0604030504040204" pitchFamily="50" charset="-128"/>
                    <a:ea typeface="Meiryo UI" panose="020B0604030504040204" pitchFamily="50" charset="-128"/>
                  </a:rPr>
                  <a:t>入院の有無</a:t>
                </a:r>
              </a:p>
            </p:txBody>
          </p:sp>
        </p:grpSp>
        <p:sp>
          <p:nvSpPr>
            <p:cNvPr id="21" name="正方形/長方形 20">
              <a:extLst>
                <a:ext uri="{FF2B5EF4-FFF2-40B4-BE49-F238E27FC236}">
                  <a16:creationId xmlns:a16="http://schemas.microsoft.com/office/drawing/2014/main" id="{DC48E947-AFAE-85E5-99A9-C5A8F4FAD4C4}"/>
                </a:ext>
              </a:extLst>
            </p:cNvPr>
            <p:cNvSpPr/>
            <p:nvPr/>
          </p:nvSpPr>
          <p:spPr>
            <a:xfrm>
              <a:off x="2770672" y="2931777"/>
              <a:ext cx="1930029" cy="230649"/>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ysClr val="windowText" lastClr="000000"/>
                  </a:solidFill>
                  <a:latin typeface="Meiryo UI" panose="020B0604030504040204" pitchFamily="50" charset="-128"/>
                  <a:ea typeface="Meiryo UI" panose="020B0604030504040204" pitchFamily="50" charset="-128"/>
                </a:rPr>
                <a:t>心拍数</a:t>
              </a:r>
              <a:r>
                <a:rPr lang="en-US" altLang="ja-JP" sz="1200" dirty="0">
                  <a:solidFill>
                    <a:sysClr val="windowText" lastClr="000000"/>
                  </a:solidFill>
                  <a:latin typeface="Meiryo UI" panose="020B0604030504040204" pitchFamily="50" charset="-128"/>
                  <a:ea typeface="Meiryo UI" panose="020B0604030504040204" pitchFamily="50" charset="-128"/>
                </a:rPr>
                <a:t>, </a:t>
              </a:r>
              <a:r>
                <a:rPr lang="ja-JP" altLang="en-US" sz="1200" dirty="0">
                  <a:solidFill>
                    <a:sysClr val="windowText" lastClr="000000"/>
                  </a:solidFill>
                  <a:latin typeface="Meiryo UI" panose="020B0604030504040204" pitchFamily="50" charset="-128"/>
                  <a:ea typeface="Meiryo UI" panose="020B0604030504040204" pitchFamily="50" charset="-128"/>
                </a:rPr>
                <a:t>呼吸数</a:t>
              </a:r>
              <a:r>
                <a:rPr lang="en-US" altLang="ja-JP" sz="1200" dirty="0">
                  <a:solidFill>
                    <a:sysClr val="windowText" lastClr="000000"/>
                  </a:solidFill>
                  <a:latin typeface="Meiryo UI" panose="020B0604030504040204" pitchFamily="50" charset="-128"/>
                  <a:ea typeface="Meiryo UI" panose="020B0604030504040204" pitchFamily="50" charset="-128"/>
                </a:rPr>
                <a:t>, </a:t>
              </a:r>
              <a:r>
                <a:rPr lang="ja-JP" altLang="en-US" sz="1200" dirty="0">
                  <a:solidFill>
                    <a:sysClr val="windowText" lastClr="000000"/>
                  </a:solidFill>
                  <a:latin typeface="Meiryo UI" panose="020B0604030504040204" pitchFamily="50" charset="-128"/>
                  <a:ea typeface="Meiryo UI" panose="020B0604030504040204" pitchFamily="50" charset="-128"/>
                </a:rPr>
                <a:t>睡眠時間</a:t>
              </a:r>
              <a:endParaRPr kumimoji="1" lang="ja-JP" altLang="en-US" sz="1200" dirty="0">
                <a:solidFill>
                  <a:sysClr val="windowText" lastClr="000000"/>
                </a:solidFill>
                <a:latin typeface="Meiryo UI" panose="020B0604030504040204" pitchFamily="50" charset="-128"/>
                <a:ea typeface="Meiryo UI" panose="020B0604030504040204" pitchFamily="50" charset="-128"/>
              </a:endParaRPr>
            </a:p>
          </p:txBody>
        </p:sp>
        <p:sp>
          <p:nvSpPr>
            <p:cNvPr id="23" name="正方形/長方形 22">
              <a:extLst>
                <a:ext uri="{FF2B5EF4-FFF2-40B4-BE49-F238E27FC236}">
                  <a16:creationId xmlns:a16="http://schemas.microsoft.com/office/drawing/2014/main" id="{2EBA6879-B1FD-993F-EF05-864E5951E159}"/>
                </a:ext>
              </a:extLst>
            </p:cNvPr>
            <p:cNvSpPr/>
            <p:nvPr/>
          </p:nvSpPr>
          <p:spPr>
            <a:xfrm>
              <a:off x="2770672" y="3266388"/>
              <a:ext cx="1930029" cy="230649"/>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ysClr val="windowText" lastClr="000000"/>
                  </a:solidFill>
                  <a:latin typeface="Meiryo UI" panose="020B0604030504040204" pitchFamily="50" charset="-128"/>
                  <a:ea typeface="Meiryo UI" panose="020B0604030504040204" pitchFamily="50" charset="-128"/>
                </a:rPr>
                <a:t>バーセルインデックス</a:t>
              </a:r>
            </a:p>
          </p:txBody>
        </p:sp>
        <p:grpSp>
          <p:nvGrpSpPr>
            <p:cNvPr id="24" name="グループ化 23">
              <a:extLst>
                <a:ext uri="{FF2B5EF4-FFF2-40B4-BE49-F238E27FC236}">
                  <a16:creationId xmlns:a16="http://schemas.microsoft.com/office/drawing/2014/main" id="{6C054D3E-08B1-1C1A-FE62-E89DCDDC4335}"/>
                </a:ext>
              </a:extLst>
            </p:cNvPr>
            <p:cNvGrpSpPr/>
            <p:nvPr/>
          </p:nvGrpSpPr>
          <p:grpSpPr>
            <a:xfrm>
              <a:off x="2770672" y="1831949"/>
              <a:ext cx="1930029" cy="1040628"/>
              <a:chOff x="1986967" y="3252433"/>
              <a:chExt cx="2880000" cy="1136955"/>
            </a:xfrm>
          </p:grpSpPr>
          <p:sp>
            <p:nvSpPr>
              <p:cNvPr id="25" name="正方形/長方形 24">
                <a:extLst>
                  <a:ext uri="{FF2B5EF4-FFF2-40B4-BE49-F238E27FC236}">
                    <a16:creationId xmlns:a16="http://schemas.microsoft.com/office/drawing/2014/main" id="{5310BBAA-C2E3-39F8-42A2-B8D780171702}"/>
                  </a:ext>
                </a:extLst>
              </p:cNvPr>
              <p:cNvSpPr/>
              <p:nvPr/>
            </p:nvSpPr>
            <p:spPr>
              <a:xfrm>
                <a:off x="1986967" y="3252433"/>
                <a:ext cx="2880000" cy="252000"/>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ysClr val="windowText" lastClr="000000"/>
                    </a:solidFill>
                    <a:latin typeface="Meiryo UI" panose="020B0604030504040204" pitchFamily="50" charset="-128"/>
                    <a:ea typeface="Meiryo UI" panose="020B0604030504040204" pitchFamily="50" charset="-128"/>
                  </a:rPr>
                  <a:t>事故</a:t>
                </a:r>
              </a:p>
            </p:txBody>
          </p:sp>
          <p:sp>
            <p:nvSpPr>
              <p:cNvPr id="26" name="正方形/長方形 25">
                <a:extLst>
                  <a:ext uri="{FF2B5EF4-FFF2-40B4-BE49-F238E27FC236}">
                    <a16:creationId xmlns:a16="http://schemas.microsoft.com/office/drawing/2014/main" id="{83E29972-D72C-8C5B-F428-7AFD82C5F21A}"/>
                  </a:ext>
                </a:extLst>
              </p:cNvPr>
              <p:cNvSpPr/>
              <p:nvPr/>
            </p:nvSpPr>
            <p:spPr>
              <a:xfrm>
                <a:off x="1986967" y="4137388"/>
                <a:ext cx="2880000" cy="252000"/>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ysClr val="windowText" lastClr="000000"/>
                    </a:solidFill>
                    <a:latin typeface="Meiryo UI" panose="020B0604030504040204" pitchFamily="50" charset="-128"/>
                    <a:ea typeface="Meiryo UI" panose="020B0604030504040204" pitchFamily="50" charset="-128"/>
                  </a:rPr>
                  <a:t>体重</a:t>
                </a:r>
                <a:r>
                  <a:rPr kumimoji="1" lang="en-US" altLang="ja-JP" sz="1200" dirty="0">
                    <a:solidFill>
                      <a:sysClr val="windowText" lastClr="000000"/>
                    </a:solidFill>
                    <a:latin typeface="Meiryo UI" panose="020B0604030504040204" pitchFamily="50" charset="-128"/>
                    <a:ea typeface="Meiryo UI" panose="020B0604030504040204" pitchFamily="50" charset="-128"/>
                  </a:rPr>
                  <a:t>, </a:t>
                </a:r>
                <a:r>
                  <a:rPr kumimoji="1" lang="ja-JP" altLang="en-US" sz="1200" dirty="0">
                    <a:solidFill>
                      <a:sysClr val="windowText" lastClr="000000"/>
                    </a:solidFill>
                    <a:latin typeface="Meiryo UI" panose="020B0604030504040204" pitchFamily="50" charset="-128"/>
                    <a:ea typeface="Meiryo UI" panose="020B0604030504040204" pitchFamily="50" charset="-128"/>
                  </a:rPr>
                  <a:t>食事量</a:t>
                </a:r>
                <a:r>
                  <a:rPr kumimoji="1" lang="en-US" altLang="ja-JP" sz="1200" dirty="0">
                    <a:solidFill>
                      <a:sysClr val="windowText" lastClr="000000"/>
                    </a:solidFill>
                    <a:latin typeface="Meiryo UI" panose="020B0604030504040204" pitchFamily="50" charset="-128"/>
                    <a:ea typeface="Meiryo UI" panose="020B0604030504040204" pitchFamily="50" charset="-128"/>
                  </a:rPr>
                  <a:t>, </a:t>
                </a:r>
                <a:r>
                  <a:rPr kumimoji="1" lang="ja-JP" altLang="en-US" sz="1200" dirty="0">
                    <a:solidFill>
                      <a:sysClr val="windowText" lastClr="000000"/>
                    </a:solidFill>
                    <a:latin typeface="Meiryo UI" panose="020B0604030504040204" pitchFamily="50" charset="-128"/>
                    <a:ea typeface="Meiryo UI" panose="020B0604030504040204" pitchFamily="50" charset="-128"/>
                  </a:rPr>
                  <a:t>飲水量</a:t>
                </a:r>
              </a:p>
            </p:txBody>
          </p:sp>
          <p:sp>
            <p:nvSpPr>
              <p:cNvPr id="28" name="正方形/長方形 27">
                <a:extLst>
                  <a:ext uri="{FF2B5EF4-FFF2-40B4-BE49-F238E27FC236}">
                    <a16:creationId xmlns:a16="http://schemas.microsoft.com/office/drawing/2014/main" id="{94EA077D-5634-1DF6-B38A-EB879C8A700C}"/>
                  </a:ext>
                </a:extLst>
              </p:cNvPr>
              <p:cNvSpPr/>
              <p:nvPr/>
            </p:nvSpPr>
            <p:spPr>
              <a:xfrm>
                <a:off x="1986967" y="3547418"/>
                <a:ext cx="2880000" cy="252000"/>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ysClr val="windowText" lastClr="000000"/>
                    </a:solidFill>
                    <a:latin typeface="Meiryo UI" panose="020B0604030504040204" pitchFamily="50" charset="-128"/>
                    <a:ea typeface="Meiryo UI" panose="020B0604030504040204" pitchFamily="50" charset="-128"/>
                  </a:rPr>
                  <a:t>ケア実施</a:t>
                </a:r>
              </a:p>
            </p:txBody>
          </p:sp>
          <p:sp>
            <p:nvSpPr>
              <p:cNvPr id="29" name="正方形/長方形 28">
                <a:extLst>
                  <a:ext uri="{FF2B5EF4-FFF2-40B4-BE49-F238E27FC236}">
                    <a16:creationId xmlns:a16="http://schemas.microsoft.com/office/drawing/2014/main" id="{13FC5FF8-2085-6E3E-DF2F-89B55037CC2D}"/>
                  </a:ext>
                </a:extLst>
              </p:cNvPr>
              <p:cNvSpPr/>
              <p:nvPr/>
            </p:nvSpPr>
            <p:spPr>
              <a:xfrm>
                <a:off x="1986967" y="3842403"/>
                <a:ext cx="2880000" cy="252000"/>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ysClr val="windowText" lastClr="000000"/>
                    </a:solidFill>
                    <a:latin typeface="Meiryo UI" panose="020B0604030504040204" pitchFamily="50" charset="-128"/>
                    <a:ea typeface="Meiryo UI" panose="020B0604030504040204" pitchFamily="50" charset="-128"/>
                  </a:rPr>
                  <a:t>体温</a:t>
                </a:r>
                <a:r>
                  <a:rPr lang="en-US" altLang="ja-JP" sz="1200" dirty="0">
                    <a:solidFill>
                      <a:sysClr val="windowText" lastClr="000000"/>
                    </a:solidFill>
                    <a:latin typeface="Meiryo UI" panose="020B0604030504040204" pitchFamily="50" charset="-128"/>
                    <a:ea typeface="Meiryo UI" panose="020B0604030504040204" pitchFamily="50" charset="-128"/>
                  </a:rPr>
                  <a:t>, SpO2</a:t>
                </a:r>
                <a:endParaRPr kumimoji="1" lang="ja-JP" altLang="en-US" sz="1200" dirty="0">
                  <a:solidFill>
                    <a:sysClr val="windowText" lastClr="000000"/>
                  </a:solidFill>
                  <a:latin typeface="Meiryo UI" panose="020B0604030504040204" pitchFamily="50" charset="-128"/>
                  <a:ea typeface="Meiryo UI" panose="020B0604030504040204" pitchFamily="50" charset="-128"/>
                </a:endParaRPr>
              </a:p>
            </p:txBody>
          </p:sp>
        </p:grpSp>
        <p:sp>
          <p:nvSpPr>
            <p:cNvPr id="91" name="正方形/長方形 90">
              <a:extLst>
                <a:ext uri="{FF2B5EF4-FFF2-40B4-BE49-F238E27FC236}">
                  <a16:creationId xmlns:a16="http://schemas.microsoft.com/office/drawing/2014/main" id="{A6493388-C058-5C12-A889-E315771AFD0C}"/>
                </a:ext>
              </a:extLst>
            </p:cNvPr>
            <p:cNvSpPr/>
            <p:nvPr/>
          </p:nvSpPr>
          <p:spPr>
            <a:xfrm>
              <a:off x="8744709" y="1783288"/>
              <a:ext cx="2736463" cy="1116000"/>
            </a:xfrm>
            <a:prstGeom prst="rect">
              <a:avLst/>
            </a:prstGeom>
            <a:solidFill>
              <a:schemeClr val="accent1">
                <a:lumMod val="20000"/>
                <a:lumOff val="8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kumimoji="1" lang="en-US" altLang="ja-JP" sz="12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2" name="正方形/長方形 91">
              <a:extLst>
                <a:ext uri="{FF2B5EF4-FFF2-40B4-BE49-F238E27FC236}">
                  <a16:creationId xmlns:a16="http://schemas.microsoft.com/office/drawing/2014/main" id="{8690C1F9-17DC-CD3B-628D-E5839FC3B478}"/>
                </a:ext>
              </a:extLst>
            </p:cNvPr>
            <p:cNvSpPr/>
            <p:nvPr/>
          </p:nvSpPr>
          <p:spPr>
            <a:xfrm>
              <a:off x="8744709" y="2907697"/>
              <a:ext cx="2736463" cy="288000"/>
            </a:xfrm>
            <a:prstGeom prst="rect">
              <a:avLst/>
            </a:prstGeom>
            <a:solidFill>
              <a:srgbClr val="99CCFF">
                <a:alpha val="49804"/>
              </a:srgb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kumimoji="1" lang="en-US" altLang="ja-JP" sz="12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3" name="正方形/長方形 92">
              <a:extLst>
                <a:ext uri="{FF2B5EF4-FFF2-40B4-BE49-F238E27FC236}">
                  <a16:creationId xmlns:a16="http://schemas.microsoft.com/office/drawing/2014/main" id="{6ECCECE6-31D4-4FFD-1400-1F924D031B88}"/>
                </a:ext>
              </a:extLst>
            </p:cNvPr>
            <p:cNvSpPr/>
            <p:nvPr/>
          </p:nvSpPr>
          <p:spPr>
            <a:xfrm>
              <a:off x="8744709" y="3571971"/>
              <a:ext cx="2736463" cy="792000"/>
            </a:xfrm>
            <a:prstGeom prst="rect">
              <a:avLst/>
            </a:prstGeom>
            <a:solidFill>
              <a:srgbClr val="CCFFFF">
                <a:alpha val="49804"/>
              </a:srgb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kumimoji="1" lang="en-US" altLang="ja-JP" sz="12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5" name="正方形/長方形 94">
              <a:extLst>
                <a:ext uri="{FF2B5EF4-FFF2-40B4-BE49-F238E27FC236}">
                  <a16:creationId xmlns:a16="http://schemas.microsoft.com/office/drawing/2014/main" id="{6793E06C-45FA-C5CA-448B-3DB58FDE9284}"/>
                </a:ext>
              </a:extLst>
            </p:cNvPr>
            <p:cNvSpPr/>
            <p:nvPr/>
          </p:nvSpPr>
          <p:spPr>
            <a:xfrm>
              <a:off x="8744709" y="4384935"/>
              <a:ext cx="2736463" cy="561188"/>
            </a:xfrm>
            <a:prstGeom prst="rect">
              <a:avLst/>
            </a:prstGeom>
            <a:solidFill>
              <a:schemeClr val="bg2">
                <a:lumMod val="9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kumimoji="1" lang="en-US" altLang="ja-JP" sz="12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7" name="正方形/長方形 96">
              <a:extLst>
                <a:ext uri="{FF2B5EF4-FFF2-40B4-BE49-F238E27FC236}">
                  <a16:creationId xmlns:a16="http://schemas.microsoft.com/office/drawing/2014/main" id="{DB62F8F3-2187-70E2-AA85-839EAA095A47}"/>
                </a:ext>
              </a:extLst>
            </p:cNvPr>
            <p:cNvSpPr/>
            <p:nvPr/>
          </p:nvSpPr>
          <p:spPr>
            <a:xfrm>
              <a:off x="8810659" y="3570962"/>
              <a:ext cx="2597908" cy="230650"/>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ysClr val="windowText" lastClr="000000"/>
                  </a:solidFill>
                  <a:latin typeface="Meiryo UI" panose="020B0604030504040204" pitchFamily="50" charset="-128"/>
                  <a:ea typeface="Meiryo UI" panose="020B0604030504040204" pitchFamily="50" charset="-128"/>
                </a:rPr>
                <a:t>年齢</a:t>
              </a:r>
              <a:r>
                <a:rPr kumimoji="1" lang="en-US" altLang="ja-JP" sz="1200" dirty="0">
                  <a:solidFill>
                    <a:sysClr val="windowText" lastClr="000000"/>
                  </a:solidFill>
                  <a:latin typeface="Meiryo UI" panose="020B0604030504040204" pitchFamily="50" charset="-128"/>
                  <a:ea typeface="Meiryo UI" panose="020B0604030504040204" pitchFamily="50" charset="-128"/>
                </a:rPr>
                <a:t>, </a:t>
              </a:r>
              <a:r>
                <a:rPr kumimoji="1" lang="ja-JP" altLang="en-US" sz="1200" dirty="0">
                  <a:solidFill>
                    <a:sysClr val="windowText" lastClr="000000"/>
                  </a:solidFill>
                  <a:latin typeface="Meiryo UI" panose="020B0604030504040204" pitchFamily="50" charset="-128"/>
                  <a:ea typeface="Meiryo UI" panose="020B0604030504040204" pitchFamily="50" charset="-128"/>
                </a:rPr>
                <a:t>性別</a:t>
              </a:r>
              <a:r>
                <a:rPr kumimoji="1" lang="en-US" altLang="ja-JP" sz="1200" dirty="0">
                  <a:solidFill>
                    <a:sysClr val="windowText" lastClr="000000"/>
                  </a:solidFill>
                  <a:latin typeface="Meiryo UI" panose="020B0604030504040204" pitchFamily="50" charset="-128"/>
                  <a:ea typeface="Meiryo UI" panose="020B0604030504040204" pitchFamily="50" charset="-128"/>
                </a:rPr>
                <a:t>, </a:t>
              </a:r>
              <a:r>
                <a:rPr kumimoji="1" lang="ja-JP" altLang="en-US" sz="1200" dirty="0">
                  <a:solidFill>
                    <a:sysClr val="windowText" lastClr="000000"/>
                  </a:solidFill>
                  <a:latin typeface="Meiryo UI" panose="020B0604030504040204" pitchFamily="50" charset="-128"/>
                  <a:ea typeface="Meiryo UI" panose="020B0604030504040204" pitchFamily="50" charset="-128"/>
                </a:rPr>
                <a:t>介護度</a:t>
              </a:r>
              <a:r>
                <a:rPr kumimoji="1" lang="en-US" altLang="ja-JP" sz="1200" dirty="0">
                  <a:solidFill>
                    <a:sysClr val="windowText" lastClr="000000"/>
                  </a:solidFill>
                  <a:latin typeface="Meiryo UI" panose="020B0604030504040204" pitchFamily="50" charset="-128"/>
                  <a:ea typeface="Meiryo UI" panose="020B0604030504040204" pitchFamily="50" charset="-128"/>
                </a:rPr>
                <a:t>, </a:t>
              </a:r>
              <a:r>
                <a:rPr kumimoji="1" lang="ja-JP" altLang="en-US" sz="1200" dirty="0">
                  <a:solidFill>
                    <a:sysClr val="windowText" lastClr="000000"/>
                  </a:solidFill>
                  <a:latin typeface="Meiryo UI" panose="020B0604030504040204" pitchFamily="50" charset="-128"/>
                  <a:ea typeface="Meiryo UI" panose="020B0604030504040204" pitchFamily="50" charset="-128"/>
                </a:rPr>
                <a:t>視力</a:t>
              </a:r>
              <a:r>
                <a:rPr kumimoji="1" lang="en-US" altLang="ja-JP" sz="1200" dirty="0">
                  <a:solidFill>
                    <a:sysClr val="windowText" lastClr="000000"/>
                  </a:solidFill>
                  <a:latin typeface="Meiryo UI" panose="020B0604030504040204" pitchFamily="50" charset="-128"/>
                  <a:ea typeface="Meiryo UI" panose="020B0604030504040204" pitchFamily="50" charset="-128"/>
                </a:rPr>
                <a:t>, </a:t>
              </a:r>
              <a:r>
                <a:rPr kumimoji="1" lang="ja-JP" altLang="en-US" sz="1200" dirty="0">
                  <a:solidFill>
                    <a:sysClr val="windowText" lastClr="000000"/>
                  </a:solidFill>
                  <a:latin typeface="Meiryo UI" panose="020B0604030504040204" pitchFamily="50" charset="-128"/>
                  <a:ea typeface="Meiryo UI" panose="020B0604030504040204" pitchFamily="50" charset="-128"/>
                </a:rPr>
                <a:t>歩行レベル</a:t>
              </a:r>
            </a:p>
          </p:txBody>
        </p:sp>
        <p:sp>
          <p:nvSpPr>
            <p:cNvPr id="99" name="正方形/長方形 98">
              <a:extLst>
                <a:ext uri="{FF2B5EF4-FFF2-40B4-BE49-F238E27FC236}">
                  <a16:creationId xmlns:a16="http://schemas.microsoft.com/office/drawing/2014/main" id="{2E758634-E9E5-5ABF-DD53-BFF4AFAE9CE5}"/>
                </a:ext>
              </a:extLst>
            </p:cNvPr>
            <p:cNvSpPr/>
            <p:nvPr/>
          </p:nvSpPr>
          <p:spPr>
            <a:xfrm>
              <a:off x="8810659" y="3835376"/>
              <a:ext cx="2597908" cy="230650"/>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ysClr val="windowText" lastClr="000000"/>
                  </a:solidFill>
                  <a:latin typeface="Meiryo UI" panose="020B0604030504040204" pitchFamily="50" charset="-128"/>
                  <a:ea typeface="Meiryo UI" panose="020B0604030504040204" pitchFamily="50" charset="-128"/>
                </a:rPr>
                <a:t>認知機能スコア</a:t>
              </a:r>
            </a:p>
          </p:txBody>
        </p:sp>
        <p:sp>
          <p:nvSpPr>
            <p:cNvPr id="102" name="正方形/長方形 101">
              <a:extLst>
                <a:ext uri="{FF2B5EF4-FFF2-40B4-BE49-F238E27FC236}">
                  <a16:creationId xmlns:a16="http://schemas.microsoft.com/office/drawing/2014/main" id="{1E0FE90E-8714-D884-275D-32F1A36F5EC9}"/>
                </a:ext>
              </a:extLst>
            </p:cNvPr>
            <p:cNvSpPr/>
            <p:nvPr/>
          </p:nvSpPr>
          <p:spPr>
            <a:xfrm>
              <a:off x="8810659" y="4106093"/>
              <a:ext cx="2597908" cy="230650"/>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ysClr val="windowText" lastClr="000000"/>
                  </a:solidFill>
                  <a:latin typeface="Meiryo UI" panose="020B0604030504040204" pitchFamily="50" charset="-128"/>
                  <a:ea typeface="Meiryo UI" panose="020B0604030504040204" pitchFamily="50" charset="-128"/>
                </a:rPr>
                <a:t>抗コリン薬スコア</a:t>
              </a:r>
              <a:r>
                <a:rPr kumimoji="1" lang="en-US" altLang="ja-JP" sz="1200" dirty="0">
                  <a:solidFill>
                    <a:sysClr val="windowText" lastClr="000000"/>
                  </a:solidFill>
                  <a:latin typeface="Meiryo UI" panose="020B0604030504040204" pitchFamily="50" charset="-128"/>
                  <a:ea typeface="Meiryo UI" panose="020B0604030504040204" pitchFamily="50" charset="-128"/>
                </a:rPr>
                <a:t>, </a:t>
              </a:r>
              <a:r>
                <a:rPr kumimoji="1" lang="ja-JP" altLang="en-US" sz="1200" dirty="0">
                  <a:solidFill>
                    <a:schemeClr val="tx1"/>
                  </a:solidFill>
                  <a:latin typeface="Meiryo UI" panose="020B0604030504040204" pitchFamily="50" charset="-128"/>
                  <a:ea typeface="Meiryo UI" panose="020B0604030504040204" pitchFamily="50" charset="-128"/>
                </a:rPr>
                <a:t>併存疾患指数</a:t>
              </a:r>
              <a:endParaRPr kumimoji="1" lang="en-US" altLang="ja-JP" sz="1200" dirty="0">
                <a:solidFill>
                  <a:sysClr val="windowText" lastClr="000000"/>
                </a:solidFill>
                <a:latin typeface="Meiryo UI" panose="020B0604030504040204" pitchFamily="50" charset="-128"/>
                <a:ea typeface="Meiryo UI" panose="020B0604030504040204" pitchFamily="50" charset="-128"/>
              </a:endParaRPr>
            </a:p>
          </p:txBody>
        </p:sp>
        <p:grpSp>
          <p:nvGrpSpPr>
            <p:cNvPr id="104" name="グループ化 103">
              <a:extLst>
                <a:ext uri="{FF2B5EF4-FFF2-40B4-BE49-F238E27FC236}">
                  <a16:creationId xmlns:a16="http://schemas.microsoft.com/office/drawing/2014/main" id="{59E15C53-2C65-F05F-66A9-0A91FF702127}"/>
                </a:ext>
              </a:extLst>
            </p:cNvPr>
            <p:cNvGrpSpPr/>
            <p:nvPr/>
          </p:nvGrpSpPr>
          <p:grpSpPr>
            <a:xfrm>
              <a:off x="8810659" y="4414456"/>
              <a:ext cx="2597908" cy="500635"/>
              <a:chOff x="1986967" y="5612313"/>
              <a:chExt cx="2880000" cy="546977"/>
            </a:xfrm>
          </p:grpSpPr>
          <p:sp>
            <p:nvSpPr>
              <p:cNvPr id="105" name="正方形/長方形 104">
                <a:extLst>
                  <a:ext uri="{FF2B5EF4-FFF2-40B4-BE49-F238E27FC236}">
                    <a16:creationId xmlns:a16="http://schemas.microsoft.com/office/drawing/2014/main" id="{46150360-8377-B0BA-48BA-45E08EFD0062}"/>
                  </a:ext>
                </a:extLst>
              </p:cNvPr>
              <p:cNvSpPr/>
              <p:nvPr/>
            </p:nvSpPr>
            <p:spPr>
              <a:xfrm>
                <a:off x="1986967" y="5612313"/>
                <a:ext cx="2880000" cy="252000"/>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ysClr val="windowText" lastClr="000000"/>
                    </a:solidFill>
                    <a:latin typeface="Meiryo UI" panose="020B0604030504040204" pitchFamily="50" charset="-128"/>
                    <a:ea typeface="Meiryo UI" panose="020B0604030504040204" pitchFamily="50" charset="-128"/>
                  </a:rPr>
                  <a:t>入院疾患名</a:t>
                </a:r>
              </a:p>
            </p:txBody>
          </p:sp>
          <p:sp>
            <p:nvSpPr>
              <p:cNvPr id="106" name="正方形/長方形 105">
                <a:extLst>
                  <a:ext uri="{FF2B5EF4-FFF2-40B4-BE49-F238E27FC236}">
                    <a16:creationId xmlns:a16="http://schemas.microsoft.com/office/drawing/2014/main" id="{C1A27BFE-4A3E-9C9F-6E68-D7D923E04E6D}"/>
                  </a:ext>
                </a:extLst>
              </p:cNvPr>
              <p:cNvSpPr/>
              <p:nvPr/>
            </p:nvSpPr>
            <p:spPr>
              <a:xfrm>
                <a:off x="1986967" y="5907290"/>
                <a:ext cx="2880000" cy="252000"/>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ysClr val="windowText" lastClr="000000"/>
                    </a:solidFill>
                    <a:latin typeface="Meiryo UI" panose="020B0604030504040204" pitchFamily="50" charset="-128"/>
                    <a:ea typeface="Meiryo UI" panose="020B0604030504040204" pitchFamily="50" charset="-128"/>
                  </a:rPr>
                  <a:t>ターゲット </a:t>
                </a:r>
                <a:r>
                  <a:rPr lang="en-US" altLang="ja-JP" sz="1200" dirty="0">
                    <a:solidFill>
                      <a:sysClr val="windowText" lastClr="000000"/>
                    </a:solidFill>
                    <a:latin typeface="Meiryo UI" panose="020B0604030504040204" pitchFamily="50" charset="-128"/>
                    <a:ea typeface="Meiryo UI" panose="020B0604030504040204" pitchFamily="50" charset="-128"/>
                  </a:rPr>
                  <a:t>(</a:t>
                </a:r>
                <a:r>
                  <a:rPr lang="ja-JP" altLang="en-US" sz="1200" dirty="0">
                    <a:solidFill>
                      <a:sysClr val="windowText" lastClr="000000"/>
                    </a:solidFill>
                    <a:latin typeface="Meiryo UI" panose="020B0604030504040204" pitchFamily="50" charset="-128"/>
                    <a:ea typeface="Meiryo UI" panose="020B0604030504040204" pitchFamily="50" charset="-128"/>
                  </a:rPr>
                  <a:t>予測対象</a:t>
                </a:r>
                <a:r>
                  <a:rPr lang="en-US" altLang="ja-JP" sz="1200" dirty="0">
                    <a:solidFill>
                      <a:sysClr val="windowText" lastClr="000000"/>
                    </a:solidFill>
                    <a:latin typeface="Meiryo UI" panose="020B0604030504040204" pitchFamily="50" charset="-128"/>
                    <a:ea typeface="Meiryo UI" panose="020B0604030504040204" pitchFamily="50" charset="-128"/>
                  </a:rPr>
                  <a:t>)</a:t>
                </a:r>
              </a:p>
            </p:txBody>
          </p:sp>
        </p:grpSp>
        <p:sp>
          <p:nvSpPr>
            <p:cNvPr id="109" name="正方形/長方形 108">
              <a:extLst>
                <a:ext uri="{FF2B5EF4-FFF2-40B4-BE49-F238E27FC236}">
                  <a16:creationId xmlns:a16="http://schemas.microsoft.com/office/drawing/2014/main" id="{1B68A2E0-EC54-4B8C-C5DB-273BACA84B85}"/>
                </a:ext>
              </a:extLst>
            </p:cNvPr>
            <p:cNvSpPr/>
            <p:nvPr/>
          </p:nvSpPr>
          <p:spPr>
            <a:xfrm>
              <a:off x="8810659" y="2931777"/>
              <a:ext cx="2597908" cy="230649"/>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ysClr val="windowText" lastClr="000000"/>
                  </a:solidFill>
                  <a:latin typeface="Meiryo UI" panose="020B0604030504040204" pitchFamily="50" charset="-128"/>
                  <a:ea typeface="Meiryo UI" panose="020B0604030504040204" pitchFamily="50" charset="-128"/>
                </a:rPr>
                <a:t>心拍数</a:t>
              </a:r>
              <a:r>
                <a:rPr lang="en-US" altLang="ja-JP" sz="1200" dirty="0">
                  <a:solidFill>
                    <a:sysClr val="windowText" lastClr="000000"/>
                  </a:solidFill>
                  <a:latin typeface="Meiryo UI" panose="020B0604030504040204" pitchFamily="50" charset="-128"/>
                  <a:ea typeface="Meiryo UI" panose="020B0604030504040204" pitchFamily="50" charset="-128"/>
                </a:rPr>
                <a:t>, </a:t>
              </a:r>
              <a:r>
                <a:rPr lang="ja-JP" altLang="en-US" sz="1200" dirty="0">
                  <a:solidFill>
                    <a:sysClr val="windowText" lastClr="000000"/>
                  </a:solidFill>
                  <a:latin typeface="Meiryo UI" panose="020B0604030504040204" pitchFamily="50" charset="-128"/>
                  <a:ea typeface="Meiryo UI" panose="020B0604030504040204" pitchFamily="50" charset="-128"/>
                </a:rPr>
                <a:t>呼吸数</a:t>
              </a:r>
              <a:r>
                <a:rPr lang="en-US" altLang="ja-JP" sz="1200" dirty="0">
                  <a:solidFill>
                    <a:sysClr val="windowText" lastClr="000000"/>
                  </a:solidFill>
                  <a:latin typeface="Meiryo UI" panose="020B0604030504040204" pitchFamily="50" charset="-128"/>
                  <a:ea typeface="Meiryo UI" panose="020B0604030504040204" pitchFamily="50" charset="-128"/>
                </a:rPr>
                <a:t>,</a:t>
              </a:r>
              <a:r>
                <a:rPr lang="ja-JP" altLang="en-US" sz="1200" dirty="0">
                  <a:solidFill>
                    <a:sysClr val="windowText" lastClr="000000"/>
                  </a:solidFill>
                  <a:latin typeface="Meiryo UI" panose="020B0604030504040204" pitchFamily="50" charset="-128"/>
                  <a:ea typeface="Meiryo UI" panose="020B0604030504040204" pitchFamily="50" charset="-128"/>
                </a:rPr>
                <a:t> 睡眠時間</a:t>
              </a:r>
              <a:r>
                <a:rPr lang="en-US" altLang="ja-JP" sz="1200" dirty="0">
                  <a:solidFill>
                    <a:sysClr val="windowText" lastClr="000000"/>
                  </a:solidFill>
                  <a:latin typeface="Meiryo UI" panose="020B0604030504040204" pitchFamily="50" charset="-128"/>
                  <a:ea typeface="Meiryo UI" panose="020B0604030504040204" pitchFamily="50" charset="-128"/>
                </a:rPr>
                <a:t> +</a:t>
              </a:r>
              <a:r>
                <a:rPr lang="ja-JP" altLang="en-US" sz="1200" dirty="0">
                  <a:solidFill>
                    <a:sysClr val="windowText" lastClr="000000"/>
                  </a:solidFill>
                  <a:latin typeface="Meiryo UI" panose="020B0604030504040204" pitchFamily="50" charset="-128"/>
                  <a:ea typeface="Meiryo UI" panose="020B0604030504040204" pitchFamily="50" charset="-128"/>
                </a:rPr>
                <a:t>変化</a:t>
              </a:r>
              <a:endParaRPr kumimoji="1" lang="ja-JP" altLang="en-US" sz="1200" dirty="0">
                <a:solidFill>
                  <a:sysClr val="windowText" lastClr="000000"/>
                </a:solidFill>
                <a:latin typeface="Meiryo UI" panose="020B0604030504040204" pitchFamily="50" charset="-128"/>
                <a:ea typeface="Meiryo UI" panose="020B0604030504040204" pitchFamily="50" charset="-128"/>
              </a:endParaRPr>
            </a:p>
          </p:txBody>
        </p:sp>
        <p:grpSp>
          <p:nvGrpSpPr>
            <p:cNvPr id="111" name="グループ化 110">
              <a:extLst>
                <a:ext uri="{FF2B5EF4-FFF2-40B4-BE49-F238E27FC236}">
                  <a16:creationId xmlns:a16="http://schemas.microsoft.com/office/drawing/2014/main" id="{2698A914-515F-CB02-7C39-A7EF81ADAF16}"/>
                </a:ext>
              </a:extLst>
            </p:cNvPr>
            <p:cNvGrpSpPr/>
            <p:nvPr/>
          </p:nvGrpSpPr>
          <p:grpSpPr>
            <a:xfrm>
              <a:off x="8810659" y="1831949"/>
              <a:ext cx="2597908" cy="1040628"/>
              <a:chOff x="1986967" y="3252433"/>
              <a:chExt cx="2880000" cy="1136955"/>
            </a:xfrm>
          </p:grpSpPr>
          <p:sp>
            <p:nvSpPr>
              <p:cNvPr id="112" name="正方形/長方形 111">
                <a:extLst>
                  <a:ext uri="{FF2B5EF4-FFF2-40B4-BE49-F238E27FC236}">
                    <a16:creationId xmlns:a16="http://schemas.microsoft.com/office/drawing/2014/main" id="{3ABA21AB-D599-898D-DCCE-2E2703DCF72C}"/>
                  </a:ext>
                </a:extLst>
              </p:cNvPr>
              <p:cNvSpPr/>
              <p:nvPr/>
            </p:nvSpPr>
            <p:spPr>
              <a:xfrm>
                <a:off x="1986967" y="3252433"/>
                <a:ext cx="2880000" cy="252000"/>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ysClr val="windowText" lastClr="000000"/>
                    </a:solidFill>
                    <a:latin typeface="Meiryo UI" panose="020B0604030504040204" pitchFamily="50" charset="-128"/>
                    <a:ea typeface="Meiryo UI" panose="020B0604030504040204" pitchFamily="50" charset="-128"/>
                  </a:rPr>
                  <a:t>事故件数</a:t>
                </a:r>
              </a:p>
            </p:txBody>
          </p:sp>
          <p:sp>
            <p:nvSpPr>
              <p:cNvPr id="113" name="正方形/長方形 112">
                <a:extLst>
                  <a:ext uri="{FF2B5EF4-FFF2-40B4-BE49-F238E27FC236}">
                    <a16:creationId xmlns:a16="http://schemas.microsoft.com/office/drawing/2014/main" id="{CC7F7B28-9661-7559-B779-51A4CF2DF76D}"/>
                  </a:ext>
                </a:extLst>
              </p:cNvPr>
              <p:cNvSpPr/>
              <p:nvPr/>
            </p:nvSpPr>
            <p:spPr>
              <a:xfrm>
                <a:off x="1986967" y="4137388"/>
                <a:ext cx="2880000" cy="252000"/>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ysClr val="windowText" lastClr="000000"/>
                    </a:solidFill>
                    <a:latin typeface="Meiryo UI" panose="020B0604030504040204" pitchFamily="50" charset="-128"/>
                    <a:ea typeface="Meiryo UI" panose="020B0604030504040204" pitchFamily="50" charset="-128"/>
                  </a:rPr>
                  <a:t>BMI, </a:t>
                </a:r>
                <a:r>
                  <a:rPr kumimoji="1" lang="ja-JP" altLang="en-US" sz="1200" dirty="0">
                    <a:solidFill>
                      <a:sysClr val="windowText" lastClr="000000"/>
                    </a:solidFill>
                    <a:latin typeface="Meiryo UI" panose="020B0604030504040204" pitchFamily="50" charset="-128"/>
                    <a:ea typeface="Meiryo UI" panose="020B0604030504040204" pitchFamily="50" charset="-128"/>
                  </a:rPr>
                  <a:t>食事量</a:t>
                </a:r>
                <a:r>
                  <a:rPr kumimoji="1" lang="en-US" altLang="ja-JP" sz="1200" dirty="0">
                    <a:solidFill>
                      <a:sysClr val="windowText" lastClr="000000"/>
                    </a:solidFill>
                    <a:latin typeface="Meiryo UI" panose="020B0604030504040204" pitchFamily="50" charset="-128"/>
                    <a:ea typeface="Meiryo UI" panose="020B0604030504040204" pitchFamily="50" charset="-128"/>
                  </a:rPr>
                  <a:t>, </a:t>
                </a:r>
                <a:r>
                  <a:rPr kumimoji="1" lang="ja-JP" altLang="en-US" sz="1200" dirty="0">
                    <a:solidFill>
                      <a:sysClr val="windowText" lastClr="000000"/>
                    </a:solidFill>
                    <a:latin typeface="Meiryo UI" panose="020B0604030504040204" pitchFamily="50" charset="-128"/>
                    <a:ea typeface="Meiryo UI" panose="020B0604030504040204" pitchFamily="50" charset="-128"/>
                  </a:rPr>
                  <a:t>飲水量</a:t>
                </a:r>
                <a:r>
                  <a:rPr kumimoji="1" lang="en-US" altLang="ja-JP" sz="1200" dirty="0">
                    <a:solidFill>
                      <a:sysClr val="windowText" lastClr="000000"/>
                    </a:solidFill>
                    <a:latin typeface="Meiryo UI" panose="020B0604030504040204" pitchFamily="50" charset="-128"/>
                    <a:ea typeface="Meiryo UI" panose="020B0604030504040204" pitchFamily="50" charset="-128"/>
                  </a:rPr>
                  <a:t>, +</a:t>
                </a:r>
                <a:r>
                  <a:rPr kumimoji="1" lang="ja-JP" altLang="en-US" sz="1200" dirty="0">
                    <a:solidFill>
                      <a:sysClr val="windowText" lastClr="000000"/>
                    </a:solidFill>
                    <a:latin typeface="Meiryo UI" panose="020B0604030504040204" pitchFamily="50" charset="-128"/>
                    <a:ea typeface="Meiryo UI" panose="020B0604030504040204" pitchFamily="50" charset="-128"/>
                  </a:rPr>
                  <a:t>変化</a:t>
                </a:r>
              </a:p>
            </p:txBody>
          </p:sp>
          <p:sp>
            <p:nvSpPr>
              <p:cNvPr id="115" name="正方形/長方形 114">
                <a:extLst>
                  <a:ext uri="{FF2B5EF4-FFF2-40B4-BE49-F238E27FC236}">
                    <a16:creationId xmlns:a16="http://schemas.microsoft.com/office/drawing/2014/main" id="{F14CB11E-7E98-84A5-B216-83ACF36173A0}"/>
                  </a:ext>
                </a:extLst>
              </p:cNvPr>
              <p:cNvSpPr/>
              <p:nvPr/>
            </p:nvSpPr>
            <p:spPr>
              <a:xfrm>
                <a:off x="1986967" y="3547418"/>
                <a:ext cx="2880000" cy="252000"/>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ysClr val="windowText" lastClr="000000"/>
                    </a:solidFill>
                    <a:latin typeface="Meiryo UI" panose="020B0604030504040204" pitchFamily="50" charset="-128"/>
                    <a:ea typeface="Meiryo UI" panose="020B0604030504040204" pitchFamily="50" charset="-128"/>
                  </a:rPr>
                  <a:t>ケア件数変動</a:t>
                </a:r>
                <a:r>
                  <a:rPr kumimoji="1" lang="en-US" altLang="ja-JP" sz="1200" dirty="0">
                    <a:solidFill>
                      <a:sysClr val="windowText" lastClr="000000"/>
                    </a:solidFill>
                    <a:latin typeface="Meiryo UI" panose="020B0604030504040204" pitchFamily="50" charset="-128"/>
                    <a:ea typeface="Meiryo UI" panose="020B0604030504040204" pitchFamily="50" charset="-128"/>
                  </a:rPr>
                  <a:t>, </a:t>
                </a:r>
                <a:r>
                  <a:rPr kumimoji="1" lang="ja-JP" altLang="en-US" sz="1200" dirty="0">
                    <a:solidFill>
                      <a:sysClr val="windowText" lastClr="000000"/>
                    </a:solidFill>
                    <a:latin typeface="Meiryo UI" panose="020B0604030504040204" pitchFamily="50" charset="-128"/>
                    <a:ea typeface="Meiryo UI" panose="020B0604030504040204" pitchFamily="50" charset="-128"/>
                  </a:rPr>
                  <a:t>ケアキャンセル数変動</a:t>
                </a:r>
              </a:p>
            </p:txBody>
          </p:sp>
          <p:sp>
            <p:nvSpPr>
              <p:cNvPr id="116" name="正方形/長方形 115">
                <a:extLst>
                  <a:ext uri="{FF2B5EF4-FFF2-40B4-BE49-F238E27FC236}">
                    <a16:creationId xmlns:a16="http://schemas.microsoft.com/office/drawing/2014/main" id="{D9D14379-4CF9-8326-6BA4-06393F261585}"/>
                  </a:ext>
                </a:extLst>
              </p:cNvPr>
              <p:cNvSpPr/>
              <p:nvPr/>
            </p:nvSpPr>
            <p:spPr>
              <a:xfrm>
                <a:off x="1986967" y="3842403"/>
                <a:ext cx="2880000" cy="252000"/>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ysClr val="windowText" lastClr="000000"/>
                    </a:solidFill>
                    <a:latin typeface="Meiryo UI" panose="020B0604030504040204" pitchFamily="50" charset="-128"/>
                    <a:ea typeface="Meiryo UI" panose="020B0604030504040204" pitchFamily="50" charset="-128"/>
                  </a:rPr>
                  <a:t>バイタル測定間隔</a:t>
                </a:r>
                <a:r>
                  <a:rPr kumimoji="1" lang="en-US" altLang="ja-JP" sz="1200" dirty="0">
                    <a:solidFill>
                      <a:sysClr val="windowText" lastClr="000000"/>
                    </a:solidFill>
                    <a:latin typeface="Meiryo UI" panose="020B0604030504040204" pitchFamily="50" charset="-128"/>
                    <a:ea typeface="Meiryo UI" panose="020B0604030504040204" pitchFamily="50" charset="-128"/>
                  </a:rPr>
                  <a:t>,</a:t>
                </a:r>
                <a:r>
                  <a:rPr kumimoji="1" lang="ja-JP" altLang="en-US" sz="1200" dirty="0">
                    <a:solidFill>
                      <a:sysClr val="windowText" lastClr="000000"/>
                    </a:solidFill>
                    <a:latin typeface="Meiryo UI" panose="020B0604030504040204" pitchFamily="50" charset="-128"/>
                    <a:ea typeface="Meiryo UI" panose="020B0604030504040204" pitchFamily="50" charset="-128"/>
                  </a:rPr>
                  <a:t> 発熱日数 </a:t>
                </a:r>
                <a:r>
                  <a:rPr kumimoji="1" lang="en-US" altLang="ja-JP" sz="1200" dirty="0">
                    <a:solidFill>
                      <a:sysClr val="windowText" lastClr="000000"/>
                    </a:solidFill>
                    <a:latin typeface="Meiryo UI" panose="020B0604030504040204" pitchFamily="50" charset="-128"/>
                    <a:ea typeface="Meiryo UI" panose="020B0604030504040204" pitchFamily="50" charset="-128"/>
                  </a:rPr>
                  <a:t>+</a:t>
                </a:r>
                <a:r>
                  <a:rPr kumimoji="1" lang="ja-JP" altLang="en-US" sz="1200" dirty="0">
                    <a:solidFill>
                      <a:sysClr val="windowText" lastClr="000000"/>
                    </a:solidFill>
                    <a:latin typeface="Meiryo UI" panose="020B0604030504040204" pitchFamily="50" charset="-128"/>
                    <a:ea typeface="Meiryo UI" panose="020B0604030504040204" pitchFamily="50" charset="-128"/>
                  </a:rPr>
                  <a:t>変化</a:t>
                </a:r>
                <a:r>
                  <a:rPr kumimoji="1" lang="en-US" altLang="ja-JP" sz="1200" dirty="0">
                    <a:solidFill>
                      <a:sysClr val="windowText" lastClr="000000"/>
                    </a:solidFill>
                    <a:latin typeface="Meiryo UI" panose="020B0604030504040204" pitchFamily="50" charset="-128"/>
                    <a:ea typeface="Meiryo UI" panose="020B0604030504040204" pitchFamily="50" charset="-128"/>
                  </a:rPr>
                  <a:t> </a:t>
                </a:r>
                <a:endParaRPr kumimoji="1" lang="ja-JP" altLang="en-US" sz="1200" dirty="0">
                  <a:solidFill>
                    <a:sysClr val="windowText" lastClr="000000"/>
                  </a:solidFill>
                  <a:latin typeface="Meiryo UI" panose="020B0604030504040204" pitchFamily="50" charset="-128"/>
                  <a:ea typeface="Meiryo UI" panose="020B0604030504040204" pitchFamily="50" charset="-128"/>
                </a:endParaRPr>
              </a:p>
            </p:txBody>
          </p:sp>
        </p:grpSp>
        <p:sp>
          <p:nvSpPr>
            <p:cNvPr id="140" name="正方形/長方形 139">
              <a:extLst>
                <a:ext uri="{FF2B5EF4-FFF2-40B4-BE49-F238E27FC236}">
                  <a16:creationId xmlns:a16="http://schemas.microsoft.com/office/drawing/2014/main" id="{F5E36344-99E9-83DE-8288-0EC9EFD7DFE8}"/>
                </a:ext>
              </a:extLst>
            </p:cNvPr>
            <p:cNvSpPr/>
            <p:nvPr/>
          </p:nvSpPr>
          <p:spPr>
            <a:xfrm>
              <a:off x="8744709" y="3217892"/>
              <a:ext cx="2736463" cy="329500"/>
            </a:xfrm>
            <a:prstGeom prst="rect">
              <a:avLst/>
            </a:prstGeom>
            <a:solidFill>
              <a:schemeClr val="accent3">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kumimoji="1" lang="en-US" altLang="ja-JP" sz="12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41" name="正方形/長方形 140">
              <a:extLst>
                <a:ext uri="{FF2B5EF4-FFF2-40B4-BE49-F238E27FC236}">
                  <a16:creationId xmlns:a16="http://schemas.microsoft.com/office/drawing/2014/main" id="{D4193127-2B3E-7F7B-BC2A-98263F88C4B3}"/>
                </a:ext>
              </a:extLst>
            </p:cNvPr>
            <p:cNvSpPr/>
            <p:nvPr/>
          </p:nvSpPr>
          <p:spPr>
            <a:xfrm>
              <a:off x="8810659" y="3253918"/>
              <a:ext cx="2597908" cy="230649"/>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ysClr val="windowText" lastClr="000000"/>
                  </a:solidFill>
                  <a:latin typeface="Meiryo UI" panose="020B0604030504040204" pitchFamily="50" charset="-128"/>
                  <a:ea typeface="Meiryo UI" panose="020B0604030504040204" pitchFamily="50" charset="-128"/>
                </a:rPr>
                <a:t>バーセルインデックス</a:t>
              </a:r>
              <a:r>
                <a:rPr kumimoji="1" lang="en-US" altLang="ja-JP" sz="1200" dirty="0">
                  <a:solidFill>
                    <a:sysClr val="windowText" lastClr="000000"/>
                  </a:solidFill>
                  <a:latin typeface="Meiryo UI" panose="020B0604030504040204" pitchFamily="50" charset="-128"/>
                  <a:ea typeface="Meiryo UI" panose="020B0604030504040204" pitchFamily="50" charset="-128"/>
                </a:rPr>
                <a:t>, +</a:t>
              </a:r>
              <a:r>
                <a:rPr kumimoji="1" lang="ja-JP" altLang="en-US" sz="1200" dirty="0">
                  <a:solidFill>
                    <a:sysClr val="windowText" lastClr="000000"/>
                  </a:solidFill>
                  <a:latin typeface="Meiryo UI" panose="020B0604030504040204" pitchFamily="50" charset="-128"/>
                  <a:ea typeface="Meiryo UI" panose="020B0604030504040204" pitchFamily="50" charset="-128"/>
                </a:rPr>
                <a:t>変化</a:t>
              </a:r>
            </a:p>
          </p:txBody>
        </p:sp>
        <p:cxnSp>
          <p:nvCxnSpPr>
            <p:cNvPr id="146" name="直線コネクタ 145">
              <a:extLst>
                <a:ext uri="{FF2B5EF4-FFF2-40B4-BE49-F238E27FC236}">
                  <a16:creationId xmlns:a16="http://schemas.microsoft.com/office/drawing/2014/main" id="{B36771BB-D5EB-A9C8-902C-371AE0215016}"/>
                </a:ext>
              </a:extLst>
            </p:cNvPr>
            <p:cNvCxnSpPr>
              <a:stCxn id="25" idx="3"/>
              <a:endCxn id="112" idx="1"/>
            </p:cNvCxnSpPr>
            <p:nvPr/>
          </p:nvCxnSpPr>
          <p:spPr>
            <a:xfrm>
              <a:off x="4700701" y="1947274"/>
              <a:ext cx="4109958" cy="0"/>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0" name="直線コネクタ 149">
              <a:extLst>
                <a:ext uri="{FF2B5EF4-FFF2-40B4-BE49-F238E27FC236}">
                  <a16:creationId xmlns:a16="http://schemas.microsoft.com/office/drawing/2014/main" id="{DEC1723F-79E2-17EE-3E8A-153D53DA8088}"/>
                </a:ext>
              </a:extLst>
            </p:cNvPr>
            <p:cNvCxnSpPr>
              <a:cxnSpLocks/>
              <a:stCxn id="28" idx="3"/>
              <a:endCxn id="115" idx="1"/>
            </p:cNvCxnSpPr>
            <p:nvPr/>
          </p:nvCxnSpPr>
          <p:spPr>
            <a:xfrm>
              <a:off x="4700701" y="2217267"/>
              <a:ext cx="4109958" cy="0"/>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3" name="直線コネクタ 152">
              <a:extLst>
                <a:ext uri="{FF2B5EF4-FFF2-40B4-BE49-F238E27FC236}">
                  <a16:creationId xmlns:a16="http://schemas.microsoft.com/office/drawing/2014/main" id="{755CBC66-DE6F-2C51-115F-38FB62A37683}"/>
                </a:ext>
              </a:extLst>
            </p:cNvPr>
            <p:cNvCxnSpPr>
              <a:cxnSpLocks/>
              <a:stCxn id="29" idx="3"/>
              <a:endCxn id="116" idx="1"/>
            </p:cNvCxnSpPr>
            <p:nvPr/>
          </p:nvCxnSpPr>
          <p:spPr>
            <a:xfrm>
              <a:off x="4700701" y="2487260"/>
              <a:ext cx="4109958" cy="0"/>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7" name="直線コネクタ 166">
              <a:extLst>
                <a:ext uri="{FF2B5EF4-FFF2-40B4-BE49-F238E27FC236}">
                  <a16:creationId xmlns:a16="http://schemas.microsoft.com/office/drawing/2014/main" id="{50A2CA26-EB9A-C4E2-6E31-5BC2972A49E9}"/>
                </a:ext>
              </a:extLst>
            </p:cNvPr>
            <p:cNvCxnSpPr>
              <a:cxnSpLocks/>
              <a:stCxn id="21" idx="3"/>
              <a:endCxn id="109" idx="1"/>
            </p:cNvCxnSpPr>
            <p:nvPr/>
          </p:nvCxnSpPr>
          <p:spPr>
            <a:xfrm>
              <a:off x="4700701" y="3047102"/>
              <a:ext cx="4109958" cy="0"/>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1" name="直線コネクタ 170">
              <a:extLst>
                <a:ext uri="{FF2B5EF4-FFF2-40B4-BE49-F238E27FC236}">
                  <a16:creationId xmlns:a16="http://schemas.microsoft.com/office/drawing/2014/main" id="{B2D24941-0132-F8F3-DD77-DE77EB9DF589}"/>
                </a:ext>
              </a:extLst>
            </p:cNvPr>
            <p:cNvCxnSpPr>
              <a:cxnSpLocks/>
              <a:stCxn id="23" idx="3"/>
              <a:endCxn id="141" idx="1"/>
            </p:cNvCxnSpPr>
            <p:nvPr/>
          </p:nvCxnSpPr>
          <p:spPr>
            <a:xfrm flipV="1">
              <a:off x="4700701" y="3369243"/>
              <a:ext cx="4109958" cy="12470"/>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7" name="直線コネクタ 176">
              <a:extLst>
                <a:ext uri="{FF2B5EF4-FFF2-40B4-BE49-F238E27FC236}">
                  <a16:creationId xmlns:a16="http://schemas.microsoft.com/office/drawing/2014/main" id="{F1D39855-5601-0170-481C-D42F6DCF0C92}"/>
                </a:ext>
              </a:extLst>
            </p:cNvPr>
            <p:cNvCxnSpPr>
              <a:cxnSpLocks/>
              <a:stCxn id="8" idx="3"/>
              <a:endCxn id="97" idx="1"/>
            </p:cNvCxnSpPr>
            <p:nvPr/>
          </p:nvCxnSpPr>
          <p:spPr>
            <a:xfrm flipV="1">
              <a:off x="4700701" y="3686287"/>
              <a:ext cx="4109958" cy="8425"/>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83" name="直線コネクタ 182">
              <a:extLst>
                <a:ext uri="{FF2B5EF4-FFF2-40B4-BE49-F238E27FC236}">
                  <a16:creationId xmlns:a16="http://schemas.microsoft.com/office/drawing/2014/main" id="{80C54A60-1F3D-264B-7232-A8981E0BC701}"/>
                </a:ext>
              </a:extLst>
            </p:cNvPr>
            <p:cNvCxnSpPr>
              <a:cxnSpLocks/>
              <a:stCxn id="10" idx="3"/>
              <a:endCxn id="99" idx="1"/>
            </p:cNvCxnSpPr>
            <p:nvPr/>
          </p:nvCxnSpPr>
          <p:spPr>
            <a:xfrm flipV="1">
              <a:off x="4700701" y="3950701"/>
              <a:ext cx="4109958" cy="8425"/>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92" name="直線コネクタ 191">
              <a:extLst>
                <a:ext uri="{FF2B5EF4-FFF2-40B4-BE49-F238E27FC236}">
                  <a16:creationId xmlns:a16="http://schemas.microsoft.com/office/drawing/2014/main" id="{3527B886-6BA2-ACCB-09F2-735636BD24D9}"/>
                </a:ext>
              </a:extLst>
            </p:cNvPr>
            <p:cNvCxnSpPr>
              <a:cxnSpLocks/>
              <a:stCxn id="14" idx="3"/>
              <a:endCxn id="102" idx="1"/>
            </p:cNvCxnSpPr>
            <p:nvPr/>
          </p:nvCxnSpPr>
          <p:spPr>
            <a:xfrm flipV="1">
              <a:off x="4700701" y="4221418"/>
              <a:ext cx="4109958" cy="8425"/>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98" name="直線コネクタ 197">
              <a:extLst>
                <a:ext uri="{FF2B5EF4-FFF2-40B4-BE49-F238E27FC236}">
                  <a16:creationId xmlns:a16="http://schemas.microsoft.com/office/drawing/2014/main" id="{57401986-B283-EC56-3E14-C92525D9BBD6}"/>
                </a:ext>
              </a:extLst>
            </p:cNvPr>
            <p:cNvCxnSpPr>
              <a:cxnSpLocks/>
              <a:stCxn id="17" idx="3"/>
              <a:endCxn id="105" idx="1"/>
            </p:cNvCxnSpPr>
            <p:nvPr/>
          </p:nvCxnSpPr>
          <p:spPr>
            <a:xfrm>
              <a:off x="4700701" y="4529781"/>
              <a:ext cx="4109958" cy="0"/>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1" name="直線コネクタ 200">
              <a:extLst>
                <a:ext uri="{FF2B5EF4-FFF2-40B4-BE49-F238E27FC236}">
                  <a16:creationId xmlns:a16="http://schemas.microsoft.com/office/drawing/2014/main" id="{D0266CA2-C283-FD66-4F99-0D006877BEED}"/>
                </a:ext>
              </a:extLst>
            </p:cNvPr>
            <p:cNvCxnSpPr>
              <a:cxnSpLocks/>
              <a:stCxn id="18" idx="3"/>
              <a:endCxn id="106" idx="1"/>
            </p:cNvCxnSpPr>
            <p:nvPr/>
          </p:nvCxnSpPr>
          <p:spPr>
            <a:xfrm>
              <a:off x="4700701" y="4799766"/>
              <a:ext cx="4109958" cy="0"/>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直線コネクタ 44">
              <a:extLst>
                <a:ext uri="{FF2B5EF4-FFF2-40B4-BE49-F238E27FC236}">
                  <a16:creationId xmlns:a16="http://schemas.microsoft.com/office/drawing/2014/main" id="{E133DE8D-0CF8-EC75-C108-E3A0EDE55760}"/>
                </a:ext>
              </a:extLst>
            </p:cNvPr>
            <p:cNvCxnSpPr>
              <a:cxnSpLocks/>
              <a:stCxn id="26" idx="3"/>
              <a:endCxn id="113" idx="1"/>
            </p:cNvCxnSpPr>
            <p:nvPr/>
          </p:nvCxnSpPr>
          <p:spPr>
            <a:xfrm>
              <a:off x="4700701" y="2757252"/>
              <a:ext cx="4109958" cy="0"/>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0" name="正方形/長方形 29">
              <a:extLst>
                <a:ext uri="{FF2B5EF4-FFF2-40B4-BE49-F238E27FC236}">
                  <a16:creationId xmlns:a16="http://schemas.microsoft.com/office/drawing/2014/main" id="{F53D6070-1B43-788B-6B32-AC7F3C56E1D5}"/>
                </a:ext>
              </a:extLst>
            </p:cNvPr>
            <p:cNvSpPr/>
            <p:nvPr/>
          </p:nvSpPr>
          <p:spPr>
            <a:xfrm>
              <a:off x="6184057" y="2062599"/>
              <a:ext cx="750074" cy="560150"/>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b="1" dirty="0">
                  <a:solidFill>
                    <a:schemeClr val="tx1">
                      <a:lumMod val="50000"/>
                      <a:lumOff val="50000"/>
                    </a:schemeClr>
                  </a:solidFill>
                  <a:latin typeface="Meiryo UI" panose="020B0604030504040204" pitchFamily="50" charset="-128"/>
                  <a:ea typeface="Meiryo UI" panose="020B0604030504040204" pitchFamily="50" charset="-128"/>
                </a:rPr>
                <a:t>スケーリング</a:t>
              </a:r>
            </a:p>
          </p:txBody>
        </p:sp>
        <p:sp>
          <p:nvSpPr>
            <p:cNvPr id="31" name="正方形/長方形 30">
              <a:extLst>
                <a:ext uri="{FF2B5EF4-FFF2-40B4-BE49-F238E27FC236}">
                  <a16:creationId xmlns:a16="http://schemas.microsoft.com/office/drawing/2014/main" id="{25441830-5ADF-A953-9B83-7005578C2DAB}"/>
                </a:ext>
              </a:extLst>
            </p:cNvPr>
            <p:cNvSpPr/>
            <p:nvPr/>
          </p:nvSpPr>
          <p:spPr>
            <a:xfrm>
              <a:off x="5020619" y="2353788"/>
              <a:ext cx="943720" cy="809349"/>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50000"/>
                      <a:lumOff val="50000"/>
                    </a:schemeClr>
                  </a:solidFill>
                  <a:latin typeface="Meiryo UI" panose="020B0604030504040204" pitchFamily="50" charset="-128"/>
                  <a:ea typeface="Meiryo UI" panose="020B0604030504040204" pitchFamily="50" charset="-128"/>
                </a:rPr>
                <a:t>外れ値処理</a:t>
              </a:r>
            </a:p>
          </p:txBody>
        </p:sp>
        <p:sp>
          <p:nvSpPr>
            <p:cNvPr id="32" name="正方形/長方形 31">
              <a:extLst>
                <a:ext uri="{FF2B5EF4-FFF2-40B4-BE49-F238E27FC236}">
                  <a16:creationId xmlns:a16="http://schemas.microsoft.com/office/drawing/2014/main" id="{100D1553-C77D-F025-8999-D3297AAE9D91}"/>
                </a:ext>
              </a:extLst>
            </p:cNvPr>
            <p:cNvSpPr/>
            <p:nvPr/>
          </p:nvSpPr>
          <p:spPr>
            <a:xfrm>
              <a:off x="5442931" y="1819141"/>
              <a:ext cx="750074" cy="809349"/>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50000"/>
                      <a:lumOff val="50000"/>
                    </a:schemeClr>
                  </a:solidFill>
                  <a:latin typeface="Meiryo UI" panose="020B0604030504040204" pitchFamily="50" charset="-128"/>
                  <a:ea typeface="Meiryo UI" panose="020B0604030504040204" pitchFamily="50" charset="-128"/>
                </a:rPr>
                <a:t>欠損値処理</a:t>
              </a:r>
            </a:p>
          </p:txBody>
        </p:sp>
        <p:sp>
          <p:nvSpPr>
            <p:cNvPr id="36" name="正方形/長方形 35">
              <a:extLst>
                <a:ext uri="{FF2B5EF4-FFF2-40B4-BE49-F238E27FC236}">
                  <a16:creationId xmlns:a16="http://schemas.microsoft.com/office/drawing/2014/main" id="{38B84631-E4C5-9BFF-EAC4-466F0CAB92D4}"/>
                </a:ext>
              </a:extLst>
            </p:cNvPr>
            <p:cNvSpPr/>
            <p:nvPr/>
          </p:nvSpPr>
          <p:spPr>
            <a:xfrm>
              <a:off x="5964341" y="3825653"/>
              <a:ext cx="942971" cy="564199"/>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b="1" dirty="0">
                  <a:solidFill>
                    <a:schemeClr val="tx1">
                      <a:lumMod val="50000"/>
                      <a:lumOff val="50000"/>
                    </a:schemeClr>
                  </a:solidFill>
                  <a:latin typeface="Meiryo UI" panose="020B0604030504040204" pitchFamily="50" charset="-128"/>
                  <a:ea typeface="Meiryo UI" panose="020B0604030504040204" pitchFamily="50" charset="-128"/>
                </a:rPr>
                <a:t>スコアリング</a:t>
              </a:r>
            </a:p>
          </p:txBody>
        </p:sp>
        <p:sp>
          <p:nvSpPr>
            <p:cNvPr id="35" name="正方形/長方形 34">
              <a:extLst>
                <a:ext uri="{FF2B5EF4-FFF2-40B4-BE49-F238E27FC236}">
                  <a16:creationId xmlns:a16="http://schemas.microsoft.com/office/drawing/2014/main" id="{CA625174-43C5-FBEA-8646-C764FAFC6303}"/>
                </a:ext>
              </a:extLst>
            </p:cNvPr>
            <p:cNvSpPr/>
            <p:nvPr/>
          </p:nvSpPr>
          <p:spPr>
            <a:xfrm>
              <a:off x="5020618" y="4104072"/>
              <a:ext cx="943719" cy="585396"/>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50000"/>
                      <a:lumOff val="50000"/>
                    </a:schemeClr>
                  </a:solidFill>
                  <a:latin typeface="Meiryo UI" panose="020B0604030504040204" pitchFamily="50" charset="-128"/>
                  <a:ea typeface="Meiryo UI" panose="020B0604030504040204" pitchFamily="50" charset="-128"/>
                </a:rPr>
                <a:t>テキスト</a:t>
              </a:r>
              <a:endParaRPr kumimoji="1" lang="en-US" altLang="ja-JP" sz="1200" b="1" dirty="0">
                <a:solidFill>
                  <a:schemeClr val="tx1">
                    <a:lumMod val="50000"/>
                    <a:lumOff val="50000"/>
                  </a:schemeClr>
                </a:solidFill>
                <a:latin typeface="Meiryo UI" panose="020B0604030504040204" pitchFamily="50" charset="-128"/>
                <a:ea typeface="Meiryo UI" panose="020B0604030504040204" pitchFamily="50" charset="-128"/>
              </a:endParaRPr>
            </a:p>
            <a:p>
              <a:pPr algn="ctr"/>
              <a:r>
                <a:rPr kumimoji="1" lang="ja-JP" altLang="en-US" sz="1200" b="1" dirty="0">
                  <a:solidFill>
                    <a:schemeClr val="tx1">
                      <a:lumMod val="50000"/>
                      <a:lumOff val="50000"/>
                    </a:schemeClr>
                  </a:solidFill>
                  <a:latin typeface="Meiryo UI" panose="020B0604030504040204" pitchFamily="50" charset="-128"/>
                  <a:ea typeface="Meiryo UI" panose="020B0604030504040204" pitchFamily="50" charset="-128"/>
                </a:rPr>
                <a:t>正規化処理</a:t>
              </a:r>
            </a:p>
          </p:txBody>
        </p:sp>
        <p:sp>
          <p:nvSpPr>
            <p:cNvPr id="34" name="正方形/長方形 33">
              <a:extLst>
                <a:ext uri="{FF2B5EF4-FFF2-40B4-BE49-F238E27FC236}">
                  <a16:creationId xmlns:a16="http://schemas.microsoft.com/office/drawing/2014/main" id="{45EB66AB-8B84-716E-5297-C38E25A8045B}"/>
                </a:ext>
              </a:extLst>
            </p:cNvPr>
            <p:cNvSpPr/>
            <p:nvPr/>
          </p:nvSpPr>
          <p:spPr>
            <a:xfrm>
              <a:off x="7161725" y="1831948"/>
              <a:ext cx="432914" cy="3114175"/>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200" b="1" dirty="0">
                  <a:solidFill>
                    <a:schemeClr val="tx1">
                      <a:lumMod val="50000"/>
                      <a:lumOff val="50000"/>
                    </a:schemeClr>
                  </a:solidFill>
                  <a:latin typeface="Meiryo UI" panose="020B0604030504040204" pitchFamily="50" charset="-128"/>
                  <a:ea typeface="Meiryo UI" panose="020B0604030504040204" pitchFamily="50" charset="-128"/>
                </a:rPr>
                <a:t>月次単位まとめ</a:t>
              </a:r>
            </a:p>
          </p:txBody>
        </p:sp>
        <p:sp>
          <p:nvSpPr>
            <p:cNvPr id="142" name="正方形/長方形 141">
              <a:extLst>
                <a:ext uri="{FF2B5EF4-FFF2-40B4-BE49-F238E27FC236}">
                  <a16:creationId xmlns:a16="http://schemas.microsoft.com/office/drawing/2014/main" id="{551C3695-567B-00E3-BF5C-8BF174B17A92}"/>
                </a:ext>
              </a:extLst>
            </p:cNvPr>
            <p:cNvSpPr/>
            <p:nvPr/>
          </p:nvSpPr>
          <p:spPr>
            <a:xfrm>
              <a:off x="7720852" y="2061591"/>
              <a:ext cx="947608" cy="1485801"/>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kumimoji="1" lang="ja-JP" altLang="en-US" sz="1200" b="1" dirty="0">
                  <a:solidFill>
                    <a:schemeClr val="tx1">
                      <a:lumMod val="50000"/>
                      <a:lumOff val="50000"/>
                    </a:schemeClr>
                  </a:solidFill>
                  <a:latin typeface="Meiryo UI" panose="020B0604030504040204" pitchFamily="50" charset="-128"/>
                  <a:ea typeface="Meiryo UI" panose="020B0604030504040204" pitchFamily="50" charset="-128"/>
                </a:rPr>
                <a:t>変化パターン抽出</a:t>
              </a:r>
              <a:endParaRPr kumimoji="1" lang="en-US" altLang="ja-JP" sz="1200" b="1" dirty="0">
                <a:solidFill>
                  <a:schemeClr val="tx1">
                    <a:lumMod val="50000"/>
                    <a:lumOff val="50000"/>
                  </a:schemeClr>
                </a:solidFill>
                <a:latin typeface="Meiryo UI" panose="020B0604030504040204" pitchFamily="50" charset="-128"/>
                <a:ea typeface="Meiryo UI" panose="020B0604030504040204" pitchFamily="50" charset="-128"/>
              </a:endParaRPr>
            </a:p>
            <a:p>
              <a:pPr>
                <a:spcBef>
                  <a:spcPts val="600"/>
                </a:spcBef>
              </a:pPr>
              <a:r>
                <a:rPr lang="ja-JP" altLang="en-US" sz="1200" dirty="0">
                  <a:solidFill>
                    <a:schemeClr val="tx1">
                      <a:lumMod val="50000"/>
                      <a:lumOff val="50000"/>
                    </a:schemeClr>
                  </a:solidFill>
                  <a:latin typeface="Meiryo UI" panose="020B0604030504040204" pitchFamily="50" charset="-128"/>
                  <a:ea typeface="Meiryo UI" panose="020B0604030504040204" pitchFamily="50" charset="-128"/>
                </a:rPr>
                <a:t>・変化量</a:t>
              </a:r>
              <a:endParaRPr lang="en-US" altLang="ja-JP" sz="1200" dirty="0">
                <a:solidFill>
                  <a:schemeClr val="tx1">
                    <a:lumMod val="50000"/>
                    <a:lumOff val="50000"/>
                  </a:schemeClr>
                </a:solidFill>
                <a:latin typeface="Meiryo UI" panose="020B0604030504040204" pitchFamily="50" charset="-128"/>
                <a:ea typeface="Meiryo UI" panose="020B0604030504040204" pitchFamily="50" charset="-128"/>
              </a:endParaRPr>
            </a:p>
            <a:p>
              <a:r>
                <a:rPr lang="ja-JP" altLang="en-US" sz="1200" dirty="0">
                  <a:solidFill>
                    <a:schemeClr val="tx1">
                      <a:lumMod val="50000"/>
                      <a:lumOff val="50000"/>
                    </a:schemeClr>
                  </a:solidFill>
                  <a:latin typeface="Meiryo UI" panose="020B0604030504040204" pitchFamily="50" charset="-128"/>
                  <a:ea typeface="Meiryo UI" panose="020B0604030504040204" pitchFamily="50" charset="-128"/>
                </a:rPr>
                <a:t>・変化率</a:t>
              </a:r>
              <a:endParaRPr lang="en-US" altLang="ja-JP" sz="1200" dirty="0">
                <a:solidFill>
                  <a:schemeClr val="tx1">
                    <a:lumMod val="50000"/>
                    <a:lumOff val="50000"/>
                  </a:schemeClr>
                </a:solidFill>
                <a:latin typeface="Meiryo UI" panose="020B0604030504040204" pitchFamily="50" charset="-128"/>
                <a:ea typeface="Meiryo UI" panose="020B0604030504040204" pitchFamily="50" charset="-128"/>
              </a:endParaRPr>
            </a:p>
            <a:p>
              <a:r>
                <a:rPr lang="ja-JP" altLang="en-US" sz="1200" dirty="0">
                  <a:solidFill>
                    <a:schemeClr val="tx1">
                      <a:lumMod val="50000"/>
                      <a:lumOff val="50000"/>
                    </a:schemeClr>
                  </a:solidFill>
                  <a:latin typeface="Meiryo UI" panose="020B0604030504040204" pitchFamily="50" charset="-128"/>
                  <a:ea typeface="Meiryo UI" panose="020B0604030504040204" pitchFamily="50" charset="-128"/>
                </a:rPr>
                <a:t>・変動係数</a:t>
              </a:r>
              <a:endParaRPr lang="en-US" altLang="ja-JP" sz="1200" dirty="0">
                <a:solidFill>
                  <a:schemeClr val="tx1">
                    <a:lumMod val="50000"/>
                    <a:lumOff val="50000"/>
                  </a:schemeClr>
                </a:solidFill>
                <a:latin typeface="Meiryo UI" panose="020B0604030504040204" pitchFamily="50" charset="-128"/>
                <a:ea typeface="Meiryo UI" panose="020B0604030504040204" pitchFamily="50" charset="-128"/>
              </a:endParaRPr>
            </a:p>
            <a:p>
              <a:r>
                <a:rPr lang="ja-JP" altLang="en-US" sz="1200" dirty="0">
                  <a:solidFill>
                    <a:schemeClr val="tx1">
                      <a:lumMod val="50000"/>
                      <a:lumOff val="50000"/>
                    </a:schemeClr>
                  </a:solidFill>
                  <a:latin typeface="Meiryo UI" panose="020B0604030504040204" pitchFamily="50" charset="-128"/>
                  <a:ea typeface="Meiryo UI" panose="020B0604030504040204" pitchFamily="50" charset="-128"/>
                </a:rPr>
                <a:t>・回帰係数</a:t>
              </a:r>
              <a:endParaRPr lang="en-US" altLang="ja-JP" sz="1200" dirty="0">
                <a:solidFill>
                  <a:schemeClr val="tx1">
                    <a:lumMod val="50000"/>
                    <a:lumOff val="50000"/>
                  </a:schemeClr>
                </a:solidFill>
                <a:latin typeface="Meiryo UI" panose="020B0604030504040204" pitchFamily="50" charset="-128"/>
                <a:ea typeface="Meiryo UI" panose="020B0604030504040204" pitchFamily="50" charset="-128"/>
              </a:endParaRPr>
            </a:p>
          </p:txBody>
        </p:sp>
        <p:sp>
          <p:nvSpPr>
            <p:cNvPr id="175" name="正方形/長方形 174">
              <a:extLst>
                <a:ext uri="{FF2B5EF4-FFF2-40B4-BE49-F238E27FC236}">
                  <a16:creationId xmlns:a16="http://schemas.microsoft.com/office/drawing/2014/main" id="{E1B2B780-0FC4-85A9-BA33-EB07743B0322}"/>
                </a:ext>
              </a:extLst>
            </p:cNvPr>
            <p:cNvSpPr/>
            <p:nvPr/>
          </p:nvSpPr>
          <p:spPr>
            <a:xfrm>
              <a:off x="5964341" y="3235771"/>
              <a:ext cx="942971" cy="293474"/>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b="1" dirty="0">
                  <a:solidFill>
                    <a:schemeClr val="tx1">
                      <a:lumMod val="50000"/>
                      <a:lumOff val="50000"/>
                    </a:schemeClr>
                  </a:solidFill>
                  <a:latin typeface="Meiryo UI" panose="020B0604030504040204" pitchFamily="50" charset="-128"/>
                  <a:ea typeface="Meiryo UI" panose="020B0604030504040204" pitchFamily="50" charset="-128"/>
                </a:rPr>
                <a:t>スコアリング</a:t>
              </a:r>
            </a:p>
          </p:txBody>
        </p:sp>
        <p:sp>
          <p:nvSpPr>
            <p:cNvPr id="33" name="正方形/長方形 32">
              <a:extLst>
                <a:ext uri="{FF2B5EF4-FFF2-40B4-BE49-F238E27FC236}">
                  <a16:creationId xmlns:a16="http://schemas.microsoft.com/office/drawing/2014/main" id="{47067FEE-7E7E-7322-45E8-D3A8FAA5482A}"/>
                </a:ext>
              </a:extLst>
            </p:cNvPr>
            <p:cNvSpPr/>
            <p:nvPr/>
          </p:nvSpPr>
          <p:spPr>
            <a:xfrm>
              <a:off x="5020618" y="3235773"/>
              <a:ext cx="942971" cy="845270"/>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50000"/>
                      <a:lumOff val="50000"/>
                    </a:schemeClr>
                  </a:solidFill>
                  <a:latin typeface="Meiryo UI" panose="020B0604030504040204" pitchFamily="50" charset="-128"/>
                  <a:ea typeface="Meiryo UI" panose="020B0604030504040204" pitchFamily="50" charset="-128"/>
                </a:rPr>
                <a:t>エンコーディング</a:t>
              </a:r>
            </a:p>
          </p:txBody>
        </p:sp>
        <p:sp>
          <p:nvSpPr>
            <p:cNvPr id="55" name="正方形/長方形 54">
              <a:extLst>
                <a:ext uri="{FF2B5EF4-FFF2-40B4-BE49-F238E27FC236}">
                  <a16:creationId xmlns:a16="http://schemas.microsoft.com/office/drawing/2014/main" id="{D73F75B1-3C02-F7EC-1416-1C736CBC582F}"/>
                </a:ext>
              </a:extLst>
            </p:cNvPr>
            <p:cNvSpPr/>
            <p:nvPr/>
          </p:nvSpPr>
          <p:spPr>
            <a:xfrm>
              <a:off x="1009582" y="1790840"/>
              <a:ext cx="720000" cy="1116000"/>
            </a:xfrm>
            <a:prstGeom prst="rect">
              <a:avLst/>
            </a:prstGeom>
            <a:solidFill>
              <a:schemeClr val="accent1">
                <a:lumMod val="20000"/>
                <a:lumOff val="8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t"/>
            <a:lstStyle/>
            <a:p>
              <a:r>
                <a:rPr lang="en-US" altLang="ja-JP" sz="1200" dirty="0">
                  <a:solidFill>
                    <a:schemeClr val="tx1">
                      <a:lumMod val="75000"/>
                      <a:lumOff val="25000"/>
                    </a:schemeClr>
                  </a:solidFill>
                  <a:latin typeface="Meiryo UI" panose="020B0604030504040204" pitchFamily="50" charset="-128"/>
                  <a:ea typeface="Meiryo UI" panose="020B0604030504040204" pitchFamily="50" charset="-128"/>
                </a:rPr>
                <a:t>#4,5,6</a:t>
              </a:r>
              <a:endParaRPr kumimoji="1" lang="en-US" altLang="ja-JP" sz="12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6" name="正方形/長方形 55">
              <a:extLst>
                <a:ext uri="{FF2B5EF4-FFF2-40B4-BE49-F238E27FC236}">
                  <a16:creationId xmlns:a16="http://schemas.microsoft.com/office/drawing/2014/main" id="{846FF547-F941-59B6-2969-5703FD6B6D58}"/>
                </a:ext>
              </a:extLst>
            </p:cNvPr>
            <p:cNvSpPr/>
            <p:nvPr/>
          </p:nvSpPr>
          <p:spPr>
            <a:xfrm>
              <a:off x="1009582" y="2915249"/>
              <a:ext cx="720000" cy="288000"/>
            </a:xfrm>
            <a:prstGeom prst="rect">
              <a:avLst/>
            </a:prstGeom>
            <a:solidFill>
              <a:srgbClr val="99CCFF">
                <a:alpha val="49804"/>
              </a:srgbClr>
            </a:solidFill>
            <a:ln>
              <a:noFill/>
            </a:ln>
          </p:spPr>
          <p:style>
            <a:lnRef idx="0">
              <a:scrgbClr r="0" g="0" b="0"/>
            </a:lnRef>
            <a:fillRef idx="0">
              <a:scrgbClr r="0" g="0" b="0"/>
            </a:fillRef>
            <a:effectRef idx="0">
              <a:scrgbClr r="0" g="0" b="0"/>
            </a:effectRef>
            <a:fontRef idx="minor">
              <a:schemeClr val="lt1"/>
            </a:fontRef>
          </p:style>
          <p:txBody>
            <a:bodyPr rtlCol="0" anchor="t"/>
            <a:lstStyle/>
            <a:p>
              <a:r>
                <a:rPr lang="en-US" altLang="ja-JP" sz="1200" dirty="0">
                  <a:solidFill>
                    <a:schemeClr val="tx1">
                      <a:lumMod val="75000"/>
                      <a:lumOff val="25000"/>
                    </a:schemeClr>
                  </a:solidFill>
                  <a:latin typeface="Meiryo UI" panose="020B0604030504040204" pitchFamily="50" charset="-128"/>
                  <a:ea typeface="Meiryo UI" panose="020B0604030504040204" pitchFamily="50" charset="-128"/>
                </a:rPr>
                <a:t>#7</a:t>
              </a:r>
              <a:endParaRPr kumimoji="1" lang="en-US" altLang="ja-JP" sz="12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7" name="正方形/長方形 56">
              <a:extLst>
                <a:ext uri="{FF2B5EF4-FFF2-40B4-BE49-F238E27FC236}">
                  <a16:creationId xmlns:a16="http://schemas.microsoft.com/office/drawing/2014/main" id="{DA1DC983-24A4-A6D7-E3A8-7DB9CB4C45E7}"/>
                </a:ext>
              </a:extLst>
            </p:cNvPr>
            <p:cNvSpPr/>
            <p:nvPr/>
          </p:nvSpPr>
          <p:spPr>
            <a:xfrm>
              <a:off x="1009582" y="3579523"/>
              <a:ext cx="720000" cy="792000"/>
            </a:xfrm>
            <a:prstGeom prst="rect">
              <a:avLst/>
            </a:prstGeom>
            <a:solidFill>
              <a:srgbClr val="CCFFFF">
                <a:alpha val="49804"/>
              </a:srgbClr>
            </a:solidFill>
            <a:ln>
              <a:noFill/>
            </a:ln>
          </p:spPr>
          <p:style>
            <a:lnRef idx="0">
              <a:scrgbClr r="0" g="0" b="0"/>
            </a:lnRef>
            <a:fillRef idx="0">
              <a:scrgbClr r="0" g="0" b="0"/>
            </a:fillRef>
            <a:effectRef idx="0">
              <a:scrgbClr r="0" g="0" b="0"/>
            </a:effectRef>
            <a:fontRef idx="minor">
              <a:schemeClr val="lt1"/>
            </a:fontRef>
          </p:style>
          <p:txBody>
            <a:bodyPr rtlCol="0" anchor="t"/>
            <a:lstStyle/>
            <a:p>
              <a:r>
                <a:rPr lang="en-US" altLang="ja-JP" sz="1200" dirty="0">
                  <a:solidFill>
                    <a:schemeClr val="tx1">
                      <a:lumMod val="75000"/>
                      <a:lumOff val="25000"/>
                    </a:schemeClr>
                  </a:solidFill>
                  <a:latin typeface="Meiryo UI" panose="020B0604030504040204" pitchFamily="50" charset="-128"/>
                  <a:ea typeface="Meiryo UI" panose="020B0604030504040204" pitchFamily="50" charset="-128"/>
                </a:rPr>
                <a:t>#8</a:t>
              </a:r>
              <a:endParaRPr kumimoji="1" lang="en-US" altLang="ja-JP" sz="12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8" name="正方形/長方形 57">
              <a:extLst>
                <a:ext uri="{FF2B5EF4-FFF2-40B4-BE49-F238E27FC236}">
                  <a16:creationId xmlns:a16="http://schemas.microsoft.com/office/drawing/2014/main" id="{90E5565D-925A-D0AC-8168-0406751B65F8}"/>
                </a:ext>
              </a:extLst>
            </p:cNvPr>
            <p:cNvSpPr/>
            <p:nvPr/>
          </p:nvSpPr>
          <p:spPr>
            <a:xfrm>
              <a:off x="1009582" y="3225444"/>
              <a:ext cx="720000" cy="329500"/>
            </a:xfrm>
            <a:prstGeom prst="rect">
              <a:avLst/>
            </a:prstGeom>
            <a:solidFill>
              <a:schemeClr val="accent3">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t"/>
            <a:lstStyle/>
            <a:p>
              <a:r>
                <a:rPr lang="en-US" altLang="ja-JP" sz="1200" dirty="0">
                  <a:solidFill>
                    <a:schemeClr val="tx1">
                      <a:lumMod val="75000"/>
                      <a:lumOff val="25000"/>
                    </a:schemeClr>
                  </a:solidFill>
                  <a:latin typeface="Meiryo UI" panose="020B0604030504040204" pitchFamily="50" charset="-128"/>
                  <a:ea typeface="Meiryo UI" panose="020B0604030504040204" pitchFamily="50" charset="-128"/>
                </a:rPr>
                <a:t>#9</a:t>
              </a:r>
              <a:endParaRPr kumimoji="1" lang="en-US" altLang="ja-JP" sz="12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9" name="正方形/長方形 58">
              <a:extLst>
                <a:ext uri="{FF2B5EF4-FFF2-40B4-BE49-F238E27FC236}">
                  <a16:creationId xmlns:a16="http://schemas.microsoft.com/office/drawing/2014/main" id="{2EEE36E9-9CD9-1920-450A-921D33AED748}"/>
                </a:ext>
              </a:extLst>
            </p:cNvPr>
            <p:cNvSpPr/>
            <p:nvPr/>
          </p:nvSpPr>
          <p:spPr>
            <a:xfrm>
              <a:off x="1009582" y="4392487"/>
              <a:ext cx="720000" cy="561188"/>
            </a:xfrm>
            <a:prstGeom prst="rect">
              <a:avLst/>
            </a:prstGeom>
            <a:solidFill>
              <a:schemeClr val="bg2">
                <a:lumMod val="9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t"/>
            <a:lstStyle/>
            <a:p>
              <a:r>
                <a:rPr lang="en-US" altLang="ja-JP" sz="1200" dirty="0">
                  <a:solidFill>
                    <a:schemeClr val="tx1">
                      <a:lumMod val="75000"/>
                      <a:lumOff val="25000"/>
                    </a:schemeClr>
                  </a:solidFill>
                  <a:latin typeface="Meiryo UI" panose="020B0604030504040204" pitchFamily="50" charset="-128"/>
                  <a:ea typeface="Meiryo UI" panose="020B0604030504040204" pitchFamily="50" charset="-128"/>
                </a:rPr>
                <a:t>#1</a:t>
              </a:r>
              <a:endParaRPr kumimoji="1" lang="en-US" altLang="ja-JP" sz="1200" dirty="0">
                <a:solidFill>
                  <a:schemeClr val="tx1">
                    <a:lumMod val="75000"/>
                    <a:lumOff val="25000"/>
                  </a:schemeClr>
                </a:solidFill>
                <a:latin typeface="Meiryo UI" panose="020B0604030504040204" pitchFamily="50" charset="-128"/>
                <a:ea typeface="Meiryo UI" panose="020B0604030504040204" pitchFamily="50" charset="-128"/>
              </a:endParaRPr>
            </a:p>
          </p:txBody>
        </p:sp>
      </p:grpSp>
      <p:sp>
        <p:nvSpPr>
          <p:cNvPr id="63" name="正方形/長方形 62">
            <a:extLst>
              <a:ext uri="{FF2B5EF4-FFF2-40B4-BE49-F238E27FC236}">
                <a16:creationId xmlns:a16="http://schemas.microsoft.com/office/drawing/2014/main" id="{ADCFFB18-ED12-B9DF-FC45-D297C6139B4E}"/>
              </a:ext>
            </a:extLst>
          </p:cNvPr>
          <p:cNvSpPr/>
          <p:nvPr/>
        </p:nvSpPr>
        <p:spPr>
          <a:xfrm>
            <a:off x="343962" y="1380154"/>
            <a:ext cx="360000" cy="3573521"/>
          </a:xfrm>
          <a:prstGeom prst="rect">
            <a:avLst/>
          </a:prstGeom>
          <a:solidFill>
            <a:schemeClr val="tx2">
              <a:lumMod val="75000"/>
              <a:lumOff val="25000"/>
              <a:alpha val="50000"/>
            </a:schemeClr>
          </a:solidFill>
          <a:ln>
            <a:noFill/>
          </a:ln>
        </p:spPr>
        <p:style>
          <a:lnRef idx="0">
            <a:scrgbClr r="0" g="0" b="0"/>
          </a:lnRef>
          <a:fillRef idx="0">
            <a:scrgbClr r="0" g="0" b="0"/>
          </a:fillRef>
          <a:effectRef idx="0">
            <a:scrgbClr r="0" g="0" b="0"/>
          </a:effectRef>
          <a:fontRef idx="minor">
            <a:schemeClr val="lt1"/>
          </a:fontRef>
        </p:style>
        <p:txBody>
          <a:bodyPr vert="vert" rtlCol="0" anchor="ctr"/>
          <a:lstStyle/>
          <a:p>
            <a:pPr algn="ctr"/>
            <a:r>
              <a:rPr kumimoji="1" lang="ja-JP" altLang="en-US" sz="1600" dirty="0">
                <a:latin typeface="Meiryo UI" panose="020B0604030504040204" pitchFamily="50" charset="-128"/>
                <a:ea typeface="Meiryo UI" panose="020B0604030504040204" pitchFamily="50" charset="-128"/>
              </a:rPr>
              <a:t>ノーコード</a:t>
            </a:r>
            <a:r>
              <a:rPr kumimoji="1" lang="en-US" altLang="ja-JP" sz="1600" dirty="0">
                <a:latin typeface="Meiryo UI" panose="020B0604030504040204" pitchFamily="50" charset="-128"/>
                <a:ea typeface="Meiryo UI" panose="020B0604030504040204" pitchFamily="50" charset="-128"/>
              </a:rPr>
              <a:t>ETL</a:t>
            </a:r>
            <a:r>
              <a:rPr kumimoji="1" lang="ja-JP" altLang="en-US" sz="1600" dirty="0">
                <a:latin typeface="Meiryo UI" panose="020B0604030504040204" pitchFamily="50" charset="-128"/>
                <a:ea typeface="Meiryo UI" panose="020B0604030504040204" pitchFamily="50" charset="-128"/>
              </a:rPr>
              <a:t>ツール</a:t>
            </a:r>
          </a:p>
        </p:txBody>
      </p:sp>
      <p:sp>
        <p:nvSpPr>
          <p:cNvPr id="64" name="正方形/長方形 63">
            <a:extLst>
              <a:ext uri="{FF2B5EF4-FFF2-40B4-BE49-F238E27FC236}">
                <a16:creationId xmlns:a16="http://schemas.microsoft.com/office/drawing/2014/main" id="{A38CACC7-FAE8-13E4-BE0B-FEBDE804156B}"/>
              </a:ext>
            </a:extLst>
          </p:cNvPr>
          <p:cNvSpPr/>
          <p:nvPr/>
        </p:nvSpPr>
        <p:spPr>
          <a:xfrm>
            <a:off x="352583" y="5035462"/>
            <a:ext cx="360000" cy="1368000"/>
          </a:xfrm>
          <a:prstGeom prst="rect">
            <a:avLst/>
          </a:prstGeom>
          <a:solidFill>
            <a:schemeClr val="tx2">
              <a:lumMod val="75000"/>
              <a:lumOff val="25000"/>
              <a:alpha val="50000"/>
            </a:schemeClr>
          </a:solidFill>
          <a:ln>
            <a:noFill/>
          </a:ln>
        </p:spPr>
        <p:style>
          <a:lnRef idx="0">
            <a:scrgbClr r="0" g="0" b="0"/>
          </a:lnRef>
          <a:fillRef idx="0">
            <a:scrgbClr r="0" g="0" b="0"/>
          </a:fillRef>
          <a:effectRef idx="0">
            <a:scrgbClr r="0" g="0" b="0"/>
          </a:effectRef>
          <a:fontRef idx="minor">
            <a:schemeClr val="lt1"/>
          </a:fontRef>
        </p:style>
        <p:txBody>
          <a:bodyPr vert="vert" rtlCol="0" anchor="ctr"/>
          <a:lstStyle/>
          <a:p>
            <a:pPr algn="ctr"/>
            <a:r>
              <a:rPr lang="ja-JP" altLang="en-US" sz="1600" dirty="0">
                <a:latin typeface="Meiryo UI" panose="020B0604030504040204" pitchFamily="50" charset="-128"/>
                <a:ea typeface="Meiryo UI" panose="020B0604030504040204" pitchFamily="50" charset="-128"/>
              </a:rPr>
              <a:t>ノートブック</a:t>
            </a:r>
            <a:endParaRPr kumimoji="1" lang="ja-JP" altLang="en-US" sz="1600" dirty="0">
              <a:latin typeface="Meiryo UI" panose="020B0604030504040204" pitchFamily="50" charset="-128"/>
              <a:ea typeface="Meiryo UI" panose="020B0604030504040204" pitchFamily="50" charset="-128"/>
            </a:endParaRPr>
          </a:p>
        </p:txBody>
      </p:sp>
      <p:sp>
        <p:nvSpPr>
          <p:cNvPr id="65" name="テキスト ボックス 64">
            <a:extLst>
              <a:ext uri="{FF2B5EF4-FFF2-40B4-BE49-F238E27FC236}">
                <a16:creationId xmlns:a16="http://schemas.microsoft.com/office/drawing/2014/main" id="{C06DCCC1-6035-D064-B277-A34F8CA5F5AD}"/>
              </a:ext>
            </a:extLst>
          </p:cNvPr>
          <p:cNvSpPr txBox="1"/>
          <p:nvPr/>
        </p:nvSpPr>
        <p:spPr>
          <a:xfrm>
            <a:off x="357328" y="6403161"/>
            <a:ext cx="11138278" cy="338554"/>
          </a:xfrm>
          <a:prstGeom prst="rect">
            <a:avLst/>
          </a:prstGeom>
          <a:noFill/>
        </p:spPr>
        <p:txBody>
          <a:bodyPr wrap="square">
            <a:spAutoFit/>
          </a:bodyPr>
          <a:lstStyle/>
          <a:p>
            <a:pPr algn="l"/>
            <a:r>
              <a:rPr lang="en-US" altLang="ja-JP" sz="1600" dirty="0">
                <a:latin typeface="Meiryo UI" panose="020B0604030504040204" pitchFamily="50" charset="-128"/>
                <a:ea typeface="Meiryo UI" panose="020B0604030504040204" pitchFamily="50" charset="-128"/>
              </a:rPr>
              <a:t>*</a:t>
            </a:r>
            <a:r>
              <a:rPr lang="ja-JP" altLang="en-US" sz="1600" dirty="0">
                <a:latin typeface="Meiryo UI" panose="020B0604030504040204" pitchFamily="50" charset="-128"/>
                <a:ea typeface="Meiryo UI" panose="020B0604030504040204" pitchFamily="50" charset="-128"/>
              </a:rPr>
              <a:t>未実装</a:t>
            </a:r>
            <a:endParaRPr kumimoji="1" lang="ja-JP" altLang="en-US" sz="1600" dirty="0">
              <a:solidFill>
                <a:schemeClr val="tx1"/>
              </a:solidFill>
              <a:latin typeface="Meiryo UI" panose="020B0604030504040204" pitchFamily="50" charset="-128"/>
              <a:ea typeface="Meiryo UI" panose="020B0604030504040204" pitchFamily="50" charset="-128"/>
            </a:endParaRPr>
          </a:p>
        </p:txBody>
      </p:sp>
      <p:sp>
        <p:nvSpPr>
          <p:cNvPr id="6" name="四角形: 角を丸くする 5">
            <a:extLst>
              <a:ext uri="{FF2B5EF4-FFF2-40B4-BE49-F238E27FC236}">
                <a16:creationId xmlns:a16="http://schemas.microsoft.com/office/drawing/2014/main" id="{E7A86779-A0FC-3C59-8713-B4220CD01F92}"/>
              </a:ext>
            </a:extLst>
          </p:cNvPr>
          <p:cNvSpPr/>
          <p:nvPr/>
        </p:nvSpPr>
        <p:spPr>
          <a:xfrm>
            <a:off x="10811217" y="399417"/>
            <a:ext cx="785032" cy="440700"/>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堀家</a:t>
            </a:r>
            <a:endParaRPr kumimoji="1" lang="ja-JP" altLang="en-US" dirty="0"/>
          </a:p>
        </p:txBody>
      </p:sp>
    </p:spTree>
    <p:extLst>
      <p:ext uri="{BB962C8B-B14F-4D97-AF65-F5344CB8AC3E}">
        <p14:creationId xmlns:p14="http://schemas.microsoft.com/office/powerpoint/2010/main" val="28659522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9B6BC8C8-B810-2E43-C629-F3080BD1A199}"/>
              </a:ext>
            </a:extLst>
          </p:cNvPr>
          <p:cNvGraphicFramePr>
            <a:graphicFrameLocks noGrp="1"/>
          </p:cNvGraphicFramePr>
          <p:nvPr/>
        </p:nvGraphicFramePr>
        <p:xfrm>
          <a:off x="0" y="393955"/>
          <a:ext cx="11983916" cy="5823903"/>
        </p:xfrm>
        <a:graphic>
          <a:graphicData uri="http://schemas.openxmlformats.org/drawingml/2006/table">
            <a:tbl>
              <a:tblPr firstRow="1" bandRow="1">
                <a:tableStyleId>{5C22544A-7EE6-4342-B048-85BDC9FD1C3A}</a:tableStyleId>
              </a:tblPr>
              <a:tblGrid>
                <a:gridCol w="2130997">
                  <a:extLst>
                    <a:ext uri="{9D8B030D-6E8A-4147-A177-3AD203B41FA5}">
                      <a16:colId xmlns:a16="http://schemas.microsoft.com/office/drawing/2014/main" val="4038141546"/>
                    </a:ext>
                  </a:extLst>
                </a:gridCol>
                <a:gridCol w="3987714">
                  <a:extLst>
                    <a:ext uri="{9D8B030D-6E8A-4147-A177-3AD203B41FA5}">
                      <a16:colId xmlns:a16="http://schemas.microsoft.com/office/drawing/2014/main" val="2868126874"/>
                    </a:ext>
                  </a:extLst>
                </a:gridCol>
                <a:gridCol w="5865205">
                  <a:extLst>
                    <a:ext uri="{9D8B030D-6E8A-4147-A177-3AD203B41FA5}">
                      <a16:colId xmlns:a16="http://schemas.microsoft.com/office/drawing/2014/main" val="3634639290"/>
                    </a:ext>
                  </a:extLst>
                </a:gridCol>
              </a:tblGrid>
              <a:tr h="392041">
                <a:tc>
                  <a:txBody>
                    <a:bodyPr/>
                    <a:lstStyle/>
                    <a:p>
                      <a:pPr algn="l"/>
                      <a:r>
                        <a:rPr lang="ja-JP" altLang="en-US" sz="1400" dirty="0">
                          <a:effectLst/>
                          <a:latin typeface="Meiryo UI" panose="020B0604030504040204" pitchFamily="50" charset="-128"/>
                          <a:ea typeface="Meiryo UI" panose="020B0604030504040204" pitchFamily="50" charset="-128"/>
                        </a:rPr>
                        <a:t>機能名</a:t>
                      </a:r>
                    </a:p>
                  </a:txBody>
                  <a:tcPr marL="60960" marR="60960" marT="60960" marB="60960" anchor="ctr"/>
                </a:tc>
                <a:tc>
                  <a:txBody>
                    <a:bodyPr/>
                    <a:lstStyle/>
                    <a:p>
                      <a:pPr algn="l"/>
                      <a:r>
                        <a:rPr lang="ja-JP" altLang="en-US" sz="1400">
                          <a:effectLst/>
                          <a:latin typeface="Meiryo UI" panose="020B0604030504040204" pitchFamily="50" charset="-128"/>
                          <a:ea typeface="Meiryo UI" panose="020B0604030504040204" pitchFamily="50" charset="-128"/>
                        </a:rPr>
                        <a:t>目的（何のために使うか）</a:t>
                      </a:r>
                    </a:p>
                  </a:txBody>
                  <a:tcPr marL="60960" marR="60960" marT="60960" marB="60960" anchor="ctr"/>
                </a:tc>
                <a:tc>
                  <a:txBody>
                    <a:bodyPr/>
                    <a:lstStyle/>
                    <a:p>
                      <a:pPr algn="l"/>
                      <a:r>
                        <a:rPr lang="ja-JP" altLang="en-US" sz="1400" dirty="0">
                          <a:effectLst/>
                          <a:latin typeface="Meiryo UI" panose="020B0604030504040204" pitchFamily="50" charset="-128"/>
                          <a:ea typeface="Meiryo UI" panose="020B0604030504040204" pitchFamily="50" charset="-128"/>
                        </a:rPr>
                        <a:t>できること（主な機能・活用例）</a:t>
                      </a:r>
                    </a:p>
                  </a:txBody>
                  <a:tcPr marL="60960" marR="60960" marT="60960" marB="60960" anchor="ctr"/>
                </a:tc>
                <a:extLst>
                  <a:ext uri="{0D108BD9-81ED-4DB2-BD59-A6C34878D82A}">
                    <a16:rowId xmlns:a16="http://schemas.microsoft.com/office/drawing/2014/main" val="78364315"/>
                  </a:ext>
                </a:extLst>
              </a:tr>
              <a:tr h="1039591">
                <a:tc>
                  <a:txBody>
                    <a:bodyPr/>
                    <a:lstStyle/>
                    <a:p>
                      <a:pPr algn="l"/>
                      <a:r>
                        <a:rPr lang="en-US" sz="1400" b="1" dirty="0">
                          <a:effectLst/>
                          <a:latin typeface="Meiryo UI" panose="020B0604030504040204" pitchFamily="50" charset="-128"/>
                          <a:ea typeface="Meiryo UI" panose="020B0604030504040204" pitchFamily="50" charset="-128"/>
                        </a:rPr>
                        <a:t>TOP</a:t>
                      </a:r>
                      <a:r>
                        <a:rPr lang="ja-JP" altLang="en-US" sz="1400" b="1" dirty="0">
                          <a:effectLst/>
                          <a:latin typeface="Meiryo UI" panose="020B0604030504040204" pitchFamily="50" charset="-128"/>
                          <a:ea typeface="Meiryo UI" panose="020B0604030504040204" pitchFamily="50" charset="-128"/>
                        </a:rPr>
                        <a:t>ページ</a:t>
                      </a:r>
                      <a:endParaRPr lang="ja-JP" altLang="en-US" sz="1400" dirty="0">
                        <a:effectLst/>
                        <a:latin typeface="Meiryo UI" panose="020B0604030504040204" pitchFamily="50" charset="-128"/>
                        <a:ea typeface="Meiryo UI" panose="020B0604030504040204" pitchFamily="50" charset="-128"/>
                      </a:endParaRPr>
                    </a:p>
                  </a:txBody>
                  <a:tcPr marL="60960" marR="60960" marT="60960" marB="60960" anchor="ctr"/>
                </a:tc>
                <a:tc>
                  <a:txBody>
                    <a:bodyPr/>
                    <a:lstStyle/>
                    <a:p>
                      <a:pPr algn="l"/>
                      <a:r>
                        <a:rPr lang="ja-JP" altLang="en-US" sz="1400" dirty="0">
                          <a:effectLst/>
                          <a:latin typeface="Meiryo UI" panose="020B0604030504040204" pitchFamily="50" charset="-128"/>
                          <a:ea typeface="Meiryo UI" panose="020B0604030504040204" pitchFamily="50" charset="-128"/>
                        </a:rPr>
                        <a:t>日々の対応が必要な利用者を即座に把握し、迅速なアクションに繋げる。</a:t>
                      </a:r>
                    </a:p>
                  </a:txBody>
                  <a:tcPr marL="60960" marR="60960" marT="60960" marB="60960" anchor="ctr"/>
                </a:tc>
                <a:tc>
                  <a:txBody>
                    <a:bodyPr/>
                    <a:lstStyle/>
                    <a:p>
                      <a:pPr algn="l"/>
                      <a:r>
                        <a:rPr lang="ja-JP" altLang="en-US" sz="1400" dirty="0">
                          <a:effectLst/>
                          <a:latin typeface="Meiryo UI" panose="020B0604030504040204" pitchFamily="50" charset="-128"/>
                          <a:ea typeface="Meiryo UI" panose="020B0604030504040204" pitchFamily="50" charset="-128"/>
                        </a:rPr>
                        <a:t>・利用者一覧に「体調不良」や「区分変更」等のアラートを表示</a:t>
                      </a:r>
                      <a:endParaRPr lang="en-US" altLang="ja-JP" sz="1400" dirty="0">
                        <a:effectLst/>
                        <a:latin typeface="Meiryo UI" panose="020B0604030504040204" pitchFamily="50" charset="-128"/>
                        <a:ea typeface="Meiryo UI" panose="020B0604030504040204" pitchFamily="50" charset="-128"/>
                      </a:endParaRPr>
                    </a:p>
                    <a:p>
                      <a:pPr algn="l"/>
                      <a:r>
                        <a:rPr lang="ja-JP" altLang="en-US" sz="1400" dirty="0">
                          <a:effectLst/>
                          <a:latin typeface="Meiryo UI" panose="020B0604030504040204" pitchFamily="50" charset="-128"/>
                          <a:ea typeface="Meiryo UI" panose="020B0604030504040204" pitchFamily="50" charset="-128"/>
                        </a:rPr>
                        <a:t>・担当や権限に応じた表示制御</a:t>
                      </a:r>
                      <a:endParaRPr lang="en-US" altLang="ja-JP" sz="1400" dirty="0">
                        <a:effectLst/>
                        <a:latin typeface="Meiryo UI" panose="020B0604030504040204" pitchFamily="50" charset="-128"/>
                        <a:ea typeface="Meiryo UI" panose="020B0604030504040204" pitchFamily="50" charset="-128"/>
                      </a:endParaRPr>
                    </a:p>
                    <a:p>
                      <a:pPr algn="l"/>
                      <a:r>
                        <a:rPr lang="ja-JP" altLang="en-US" sz="1400" dirty="0">
                          <a:effectLst/>
                          <a:latin typeface="Meiryo UI" panose="020B0604030504040204" pitchFamily="50" charset="-128"/>
                          <a:ea typeface="Meiryo UI" panose="020B0604030504040204" pitchFamily="50" charset="-128"/>
                        </a:rPr>
                        <a:t>・一覧の印刷</a:t>
                      </a:r>
                    </a:p>
                  </a:txBody>
                  <a:tcPr marL="60960" marR="60960" marT="60960" marB="60960" anchor="ctr"/>
                </a:tc>
                <a:extLst>
                  <a:ext uri="{0D108BD9-81ED-4DB2-BD59-A6C34878D82A}">
                    <a16:rowId xmlns:a16="http://schemas.microsoft.com/office/drawing/2014/main" val="241846424"/>
                  </a:ext>
                </a:extLst>
              </a:tr>
              <a:tr h="1039591">
                <a:tc>
                  <a:txBody>
                    <a:bodyPr/>
                    <a:lstStyle/>
                    <a:p>
                      <a:pPr algn="l"/>
                      <a:r>
                        <a:rPr lang="ja-JP" altLang="en-US" sz="1400" b="1" dirty="0">
                          <a:effectLst/>
                          <a:latin typeface="Meiryo UI" panose="020B0604030504040204" pitchFamily="50" charset="-128"/>
                          <a:ea typeface="Meiryo UI" panose="020B0604030504040204" pitchFamily="50" charset="-128"/>
                        </a:rPr>
                        <a:t>ケアカレンダー</a:t>
                      </a:r>
                      <a:endParaRPr lang="ja-JP" altLang="en-US" sz="1400" dirty="0">
                        <a:effectLst/>
                        <a:latin typeface="Meiryo UI" panose="020B0604030504040204" pitchFamily="50" charset="-128"/>
                        <a:ea typeface="Meiryo UI" panose="020B0604030504040204" pitchFamily="50" charset="-128"/>
                      </a:endParaRPr>
                    </a:p>
                  </a:txBody>
                  <a:tcPr marL="60960" marR="60960" marT="60960" marB="60960" anchor="ctr"/>
                </a:tc>
                <a:tc>
                  <a:txBody>
                    <a:bodyPr/>
                    <a:lstStyle/>
                    <a:p>
                      <a:pPr algn="l"/>
                      <a:r>
                        <a:rPr lang="ja-JP" altLang="en-US" sz="1400" dirty="0">
                          <a:effectLst/>
                          <a:latin typeface="Meiryo UI" panose="020B0604030504040204" pitchFamily="50" charset="-128"/>
                          <a:ea typeface="Meiryo UI" panose="020B0604030504040204" pitchFamily="50" charset="-128"/>
                        </a:rPr>
                        <a:t>ケアプラン（予定）と援助実績の「ズレ」を可視化し、プランの最適化や業務改善のきっかけを見つける。</a:t>
                      </a:r>
                    </a:p>
                  </a:txBody>
                  <a:tcPr marL="60960" marR="60960" marT="60960" marB="60960" anchor="ctr"/>
                </a:tc>
                <a:tc>
                  <a:txBody>
                    <a:bodyPr/>
                    <a:lstStyle/>
                    <a:p>
                      <a:pPr algn="l"/>
                      <a:r>
                        <a:rPr lang="ja-JP" altLang="en-US" sz="1400" dirty="0">
                          <a:effectLst/>
                          <a:latin typeface="Meiryo UI" panose="020B0604030504040204" pitchFamily="50" charset="-128"/>
                          <a:ea typeface="Meiryo UI" panose="020B0604030504040204" pitchFamily="50" charset="-128"/>
                        </a:rPr>
                        <a:t>・予定と実績（実施</a:t>
                      </a:r>
                      <a:r>
                        <a:rPr lang="en-US" altLang="ja-JP" sz="1400" dirty="0">
                          <a:effectLst/>
                          <a:latin typeface="Meiryo UI" panose="020B0604030504040204" pitchFamily="50" charset="-128"/>
                          <a:ea typeface="Meiryo UI" panose="020B0604030504040204" pitchFamily="50" charset="-128"/>
                        </a:rPr>
                        <a:t>/</a:t>
                      </a:r>
                      <a:r>
                        <a:rPr lang="ja-JP" altLang="en-US" sz="1400" dirty="0">
                          <a:effectLst/>
                          <a:latin typeface="Meiryo UI" panose="020B0604030504040204" pitchFamily="50" charset="-128"/>
                          <a:ea typeface="Meiryo UI" panose="020B0604030504040204" pitchFamily="50" charset="-128"/>
                        </a:rPr>
                        <a:t>中止</a:t>
                      </a:r>
                      <a:r>
                        <a:rPr lang="en-US" altLang="ja-JP" sz="1400" dirty="0">
                          <a:effectLst/>
                          <a:latin typeface="Meiryo UI" panose="020B0604030504040204" pitchFamily="50" charset="-128"/>
                          <a:ea typeface="Meiryo UI" panose="020B0604030504040204" pitchFamily="50" charset="-128"/>
                        </a:rPr>
                        <a:t>/</a:t>
                      </a:r>
                      <a:r>
                        <a:rPr lang="ja-JP" altLang="en-US" sz="1400" dirty="0">
                          <a:effectLst/>
                          <a:latin typeface="Meiryo UI" panose="020B0604030504040204" pitchFamily="50" charset="-128"/>
                          <a:ea typeface="Meiryo UI" panose="020B0604030504040204" pitchFamily="50" charset="-128"/>
                        </a:rPr>
                        <a:t>非定時）をカレンダーで色分け表示</a:t>
                      </a:r>
                      <a:endParaRPr lang="en-US" altLang="ja-JP" sz="1400" dirty="0">
                        <a:effectLst/>
                        <a:latin typeface="Meiryo UI" panose="020B0604030504040204" pitchFamily="50" charset="-128"/>
                        <a:ea typeface="Meiryo UI" panose="020B0604030504040204" pitchFamily="50" charset="-128"/>
                      </a:endParaRPr>
                    </a:p>
                    <a:p>
                      <a:pPr algn="l"/>
                      <a:r>
                        <a:rPr lang="ja-JP" altLang="en-US" sz="1400" dirty="0">
                          <a:effectLst/>
                          <a:latin typeface="Meiryo UI" panose="020B0604030504040204" pitchFamily="50" charset="-128"/>
                          <a:ea typeface="Meiryo UI" panose="020B0604030504040204" pitchFamily="50" charset="-128"/>
                        </a:rPr>
                        <a:t>・援助内容での絞り込み</a:t>
                      </a:r>
                      <a:endParaRPr lang="en-US" altLang="ja-JP" sz="1400" dirty="0">
                        <a:effectLst/>
                        <a:latin typeface="Meiryo UI" panose="020B0604030504040204" pitchFamily="50" charset="-128"/>
                        <a:ea typeface="Meiryo UI" panose="020B0604030504040204" pitchFamily="50" charset="-128"/>
                      </a:endParaRPr>
                    </a:p>
                    <a:p>
                      <a:pPr algn="l"/>
                      <a:r>
                        <a:rPr lang="ja-JP" altLang="en-US" sz="1400" dirty="0">
                          <a:effectLst/>
                          <a:latin typeface="Meiryo UI" panose="020B0604030504040204" pitchFamily="50" charset="-128"/>
                          <a:ea typeface="Meiryo UI" panose="020B0604030504040204" pitchFamily="50" charset="-128"/>
                        </a:rPr>
                        <a:t>・カンファレンスでの見直し資料として活用</a:t>
                      </a:r>
                    </a:p>
                  </a:txBody>
                  <a:tcPr marL="60960" marR="60960" marT="60960" marB="60960" anchor="ctr"/>
                </a:tc>
                <a:extLst>
                  <a:ext uri="{0D108BD9-81ED-4DB2-BD59-A6C34878D82A}">
                    <a16:rowId xmlns:a16="http://schemas.microsoft.com/office/drawing/2014/main" val="2036240805"/>
                  </a:ext>
                </a:extLst>
              </a:tr>
              <a:tr h="1039591">
                <a:tc>
                  <a:txBody>
                    <a:bodyPr/>
                    <a:lstStyle/>
                    <a:p>
                      <a:pPr algn="l"/>
                      <a:r>
                        <a:rPr lang="ja-JP" altLang="en-US" sz="1400" b="1">
                          <a:effectLst/>
                          <a:latin typeface="Meiryo UI" panose="020B0604030504040204" pitchFamily="50" charset="-128"/>
                          <a:ea typeface="Meiryo UI" panose="020B0604030504040204" pitchFamily="50" charset="-128"/>
                        </a:rPr>
                        <a:t>援助記録</a:t>
                      </a:r>
                      <a:endParaRPr lang="ja-JP" altLang="en-US" sz="1400">
                        <a:effectLst/>
                        <a:latin typeface="Meiryo UI" panose="020B0604030504040204" pitchFamily="50" charset="-128"/>
                        <a:ea typeface="Meiryo UI" panose="020B0604030504040204" pitchFamily="50" charset="-128"/>
                      </a:endParaRPr>
                    </a:p>
                  </a:txBody>
                  <a:tcPr marL="60960" marR="60960" marT="60960" marB="60960" anchor="ctr"/>
                </a:tc>
                <a:tc>
                  <a:txBody>
                    <a:bodyPr/>
                    <a:lstStyle/>
                    <a:p>
                      <a:pPr algn="l"/>
                      <a:r>
                        <a:rPr lang="ja-JP" altLang="en-US" sz="1400" dirty="0">
                          <a:effectLst/>
                          <a:latin typeface="Meiryo UI" panose="020B0604030504040204" pitchFamily="50" charset="-128"/>
                          <a:ea typeface="Meiryo UI" panose="020B0604030504040204" pitchFamily="50" charset="-128"/>
                        </a:rPr>
                        <a:t>ケア課題の背景にある具体的な状況（利用者の言動・心身の状態）を深掘りし、チームでの情報共有を円滑にする。</a:t>
                      </a:r>
                    </a:p>
                  </a:txBody>
                  <a:tcPr marL="60960" marR="60960" marT="60960" marB="60960" anchor="ctr"/>
                </a:tc>
                <a:tc>
                  <a:txBody>
                    <a:bodyPr/>
                    <a:lstStyle/>
                    <a:p>
                      <a:pPr algn="l"/>
                      <a:r>
                        <a:rPr lang="ja-JP" altLang="en-US" sz="1400" dirty="0">
                          <a:effectLst/>
                          <a:latin typeface="Meiryo UI" panose="020B0604030504040204" pitchFamily="50" charset="-128"/>
                          <a:ea typeface="Meiryo UI" panose="020B0604030504040204" pitchFamily="50" charset="-128"/>
                        </a:rPr>
                        <a:t>・時系列でのケア記録を一覧表示</a:t>
                      </a:r>
                      <a:endParaRPr lang="en-US" altLang="ja-JP" sz="1400" dirty="0">
                        <a:effectLst/>
                        <a:latin typeface="Meiryo UI" panose="020B0604030504040204" pitchFamily="50" charset="-128"/>
                        <a:ea typeface="Meiryo UI" panose="020B0604030504040204" pitchFamily="50" charset="-128"/>
                      </a:endParaRPr>
                    </a:p>
                    <a:p>
                      <a:pPr algn="l"/>
                      <a:r>
                        <a:rPr lang="ja-JP" altLang="en-US" sz="1400" dirty="0">
                          <a:effectLst/>
                          <a:latin typeface="Meiryo UI" panose="020B0604030504040204" pitchFamily="50" charset="-128"/>
                          <a:ea typeface="Meiryo UI" panose="020B0604030504040204" pitchFamily="50" charset="-128"/>
                        </a:rPr>
                        <a:t>・キーワードによる「コメント検索」で利用者の変化を追跡</a:t>
                      </a:r>
                      <a:endParaRPr lang="en-US" altLang="ja-JP" sz="1400" dirty="0">
                        <a:effectLst/>
                        <a:latin typeface="Meiryo UI" panose="020B0604030504040204" pitchFamily="50" charset="-128"/>
                        <a:ea typeface="Meiryo UI" panose="020B0604030504040204" pitchFamily="50" charset="-128"/>
                      </a:endParaRPr>
                    </a:p>
                    <a:p>
                      <a:pPr algn="l"/>
                      <a:r>
                        <a:rPr lang="ja-JP" altLang="en-US" sz="1400" dirty="0">
                          <a:effectLst/>
                          <a:latin typeface="Meiryo UI" panose="020B0604030504040204" pitchFamily="50" charset="-128"/>
                          <a:ea typeface="Meiryo UI" panose="020B0604030504040204" pitchFamily="50" charset="-128"/>
                        </a:rPr>
                        <a:t>・多職種での状況理解の統一</a:t>
                      </a:r>
                    </a:p>
                  </a:txBody>
                  <a:tcPr marL="60960" marR="60960" marT="60960" marB="60960" anchor="ctr"/>
                </a:tc>
                <a:extLst>
                  <a:ext uri="{0D108BD9-81ED-4DB2-BD59-A6C34878D82A}">
                    <a16:rowId xmlns:a16="http://schemas.microsoft.com/office/drawing/2014/main" val="2792663865"/>
                  </a:ext>
                </a:extLst>
              </a:tr>
              <a:tr h="1273498">
                <a:tc>
                  <a:txBody>
                    <a:bodyPr/>
                    <a:lstStyle/>
                    <a:p>
                      <a:pPr algn="l"/>
                      <a:r>
                        <a:rPr lang="ja-JP" altLang="en-US" sz="1400" b="1">
                          <a:effectLst/>
                          <a:latin typeface="Meiryo UI" panose="020B0604030504040204" pitchFamily="50" charset="-128"/>
                          <a:ea typeface="Meiryo UI" panose="020B0604030504040204" pitchFamily="50" charset="-128"/>
                        </a:rPr>
                        <a:t>体調分析</a:t>
                      </a:r>
                      <a:endParaRPr lang="ja-JP" altLang="en-US" sz="1400">
                        <a:effectLst/>
                        <a:latin typeface="Meiryo UI" panose="020B0604030504040204" pitchFamily="50" charset="-128"/>
                        <a:ea typeface="Meiryo UI" panose="020B0604030504040204" pitchFamily="50" charset="-128"/>
                      </a:endParaRPr>
                    </a:p>
                  </a:txBody>
                  <a:tcPr marL="60960" marR="60960" marT="60960" marB="60960" anchor="ctr"/>
                </a:tc>
                <a:tc>
                  <a:txBody>
                    <a:bodyPr/>
                    <a:lstStyle/>
                    <a:p>
                      <a:pPr algn="l"/>
                      <a:r>
                        <a:rPr lang="ja-JP" altLang="en-US" sz="1400" dirty="0">
                          <a:effectLst/>
                          <a:latin typeface="Meiryo UI" panose="020B0604030504040204" pitchFamily="50" charset="-128"/>
                          <a:ea typeface="Meiryo UI" panose="020B0604030504040204" pitchFamily="50" charset="-128"/>
                        </a:rPr>
                        <a:t>バイタル等の継続的モニタリングにより、健康変化の兆候を早期発見し、予防的ケアや医療連携に繋げる。</a:t>
                      </a:r>
                    </a:p>
                  </a:txBody>
                  <a:tcPr marL="60960" marR="60960" marT="60960" marB="60960" anchor="ctr"/>
                </a:tc>
                <a:tc>
                  <a:txBody>
                    <a:bodyPr/>
                    <a:lstStyle/>
                    <a:p>
                      <a:pPr algn="l"/>
                      <a:r>
                        <a:rPr lang="ja-JP" altLang="en-US" sz="1400" dirty="0">
                          <a:effectLst/>
                          <a:latin typeface="Meiryo UI" panose="020B0604030504040204" pitchFamily="50" charset="-128"/>
                          <a:ea typeface="Meiryo UI" panose="020B0604030504040204" pitchFamily="50" charset="-128"/>
                        </a:rPr>
                        <a:t>・体重、血圧、食事量等をグラフで時系列表示</a:t>
                      </a:r>
                      <a:endParaRPr lang="en-US" altLang="ja-JP" sz="1400" dirty="0">
                        <a:effectLst/>
                        <a:latin typeface="Meiryo UI" panose="020B0604030504040204" pitchFamily="50" charset="-128"/>
                        <a:ea typeface="Meiryo UI" panose="020B0604030504040204" pitchFamily="50" charset="-128"/>
                      </a:endParaRPr>
                    </a:p>
                    <a:p>
                      <a:pPr algn="l"/>
                      <a:r>
                        <a:rPr lang="ja-JP" altLang="en-US" sz="1400" dirty="0">
                          <a:effectLst/>
                          <a:latin typeface="Meiryo UI" panose="020B0604030504040204" pitchFamily="50" charset="-128"/>
                          <a:ea typeface="Meiryo UI" panose="020B0604030504040204" pitchFamily="50" charset="-128"/>
                        </a:rPr>
                        <a:t>・基準値からの逸脱や急な変化を視覚的に把握</a:t>
                      </a:r>
                      <a:endParaRPr lang="en-US" altLang="ja-JP" sz="1400" dirty="0">
                        <a:effectLst/>
                        <a:latin typeface="Meiryo UI" panose="020B0604030504040204" pitchFamily="50" charset="-128"/>
                        <a:ea typeface="Meiryo UI" panose="020B0604030504040204" pitchFamily="50" charset="-128"/>
                      </a:endParaRPr>
                    </a:p>
                    <a:p>
                      <a:pPr algn="l"/>
                      <a:r>
                        <a:rPr lang="ja-JP" altLang="en-US" sz="1400" dirty="0">
                          <a:effectLst/>
                          <a:latin typeface="Meiryo UI" panose="020B0604030504040204" pitchFamily="50" charset="-128"/>
                          <a:ea typeface="Meiryo UI" panose="020B0604030504040204" pitchFamily="50" charset="-128"/>
                        </a:rPr>
                        <a:t>・看護師の報告資料や食事形態の検討に活用</a:t>
                      </a:r>
                    </a:p>
                  </a:txBody>
                  <a:tcPr marL="60960" marR="60960" marT="60960" marB="60960" anchor="ctr"/>
                </a:tc>
                <a:extLst>
                  <a:ext uri="{0D108BD9-81ED-4DB2-BD59-A6C34878D82A}">
                    <a16:rowId xmlns:a16="http://schemas.microsoft.com/office/drawing/2014/main" val="2772179058"/>
                  </a:ext>
                </a:extLst>
              </a:tr>
              <a:tr h="1039591">
                <a:tc>
                  <a:txBody>
                    <a:bodyPr/>
                    <a:lstStyle/>
                    <a:p>
                      <a:pPr algn="l"/>
                      <a:r>
                        <a:rPr lang="ja-JP" altLang="en-US" sz="1400" b="1">
                          <a:effectLst/>
                          <a:latin typeface="Meiryo UI" panose="020B0604030504040204" pitchFamily="50" charset="-128"/>
                          <a:ea typeface="Meiryo UI" panose="020B0604030504040204" pitchFamily="50" charset="-128"/>
                        </a:rPr>
                        <a:t>事故・ヒヤリ</a:t>
                      </a:r>
                      <a:endParaRPr lang="ja-JP" altLang="en-US" sz="1400">
                        <a:effectLst/>
                        <a:latin typeface="Meiryo UI" panose="020B0604030504040204" pitchFamily="50" charset="-128"/>
                        <a:ea typeface="Meiryo UI" panose="020B0604030504040204" pitchFamily="50" charset="-128"/>
                      </a:endParaRPr>
                    </a:p>
                  </a:txBody>
                  <a:tcPr marL="60960" marR="60960" marT="60960" marB="60960" anchor="ctr"/>
                </a:tc>
                <a:tc>
                  <a:txBody>
                    <a:bodyPr/>
                    <a:lstStyle/>
                    <a:p>
                      <a:pPr algn="l"/>
                      <a:r>
                        <a:rPr lang="ja-JP" altLang="en-US" sz="1400" dirty="0">
                          <a:effectLst/>
                          <a:latin typeface="Meiryo UI" panose="020B0604030504040204" pitchFamily="50" charset="-128"/>
                          <a:ea typeface="Meiryo UI" panose="020B0604030504040204" pitchFamily="50" charset="-128"/>
                        </a:rPr>
                        <a:t>事故・ヒヤリハットの発生傾向をデータで分析し、科学的根拠に基づいた効果的な再発防止策を立案する。</a:t>
                      </a:r>
                    </a:p>
                  </a:txBody>
                  <a:tcPr marL="60960" marR="60960" marT="60960" marB="60960" anchor="ctr"/>
                </a:tc>
                <a:tc>
                  <a:txBody>
                    <a:bodyPr/>
                    <a:lstStyle/>
                    <a:p>
                      <a:pPr algn="l"/>
                      <a:r>
                        <a:rPr lang="ja-JP" altLang="en-US" sz="1400" dirty="0">
                          <a:effectLst/>
                          <a:latin typeface="Meiryo UI" panose="020B0604030504040204" pitchFamily="50" charset="-128"/>
                          <a:ea typeface="Meiryo UI" panose="020B0604030504040204" pitchFamily="50" charset="-128"/>
                        </a:rPr>
                        <a:t>・発生場所、時間帯、事故の種類等で検索・集計</a:t>
                      </a:r>
                      <a:endParaRPr lang="en-US" altLang="ja-JP" sz="1400" dirty="0">
                        <a:effectLst/>
                        <a:latin typeface="Meiryo UI" panose="020B0604030504040204" pitchFamily="50" charset="-128"/>
                        <a:ea typeface="Meiryo UI" panose="020B0604030504040204" pitchFamily="50" charset="-128"/>
                      </a:endParaRPr>
                    </a:p>
                    <a:p>
                      <a:pPr algn="l"/>
                      <a:r>
                        <a:rPr lang="ja-JP" altLang="en-US" sz="1400" dirty="0">
                          <a:effectLst/>
                          <a:latin typeface="Meiryo UI" panose="020B0604030504040204" pitchFamily="50" charset="-128"/>
                          <a:ea typeface="Meiryo UI" panose="020B0604030504040204" pitchFamily="50" charset="-128"/>
                        </a:rPr>
                        <a:t>・施設全体の事故パターンを特定</a:t>
                      </a:r>
                      <a:endParaRPr lang="en-US" altLang="ja-JP" sz="1400" dirty="0">
                        <a:effectLst/>
                        <a:latin typeface="Meiryo UI" panose="020B0604030504040204" pitchFamily="50" charset="-128"/>
                        <a:ea typeface="Meiryo UI" panose="020B0604030504040204" pitchFamily="50" charset="-128"/>
                      </a:endParaRPr>
                    </a:p>
                    <a:p>
                      <a:pPr algn="l"/>
                      <a:r>
                        <a:rPr lang="ja-JP" altLang="en-US" sz="1400" dirty="0">
                          <a:effectLst/>
                          <a:latin typeface="Meiryo UI" panose="020B0604030504040204" pitchFamily="50" charset="-128"/>
                          <a:ea typeface="Meiryo UI" panose="020B0604030504040204" pitchFamily="50" charset="-128"/>
                        </a:rPr>
                        <a:t>・環境整備や見守り体制の見直しに活用</a:t>
                      </a:r>
                    </a:p>
                  </a:txBody>
                  <a:tcPr marL="60960" marR="60960" marT="60960" marB="60960" anchor="ctr"/>
                </a:tc>
                <a:extLst>
                  <a:ext uri="{0D108BD9-81ED-4DB2-BD59-A6C34878D82A}">
                    <a16:rowId xmlns:a16="http://schemas.microsoft.com/office/drawing/2014/main" val="2813612176"/>
                  </a:ext>
                </a:extLst>
              </a:tr>
            </a:tbl>
          </a:graphicData>
        </a:graphic>
      </p:graphicFrame>
      <p:sp>
        <p:nvSpPr>
          <p:cNvPr id="5" name="正方形/長方形 4">
            <a:extLst>
              <a:ext uri="{FF2B5EF4-FFF2-40B4-BE49-F238E27FC236}">
                <a16:creationId xmlns:a16="http://schemas.microsoft.com/office/drawing/2014/main" id="{E3CCC4A8-E70F-B249-87CB-EBFF974CEE27}"/>
              </a:ext>
            </a:extLst>
          </p:cNvPr>
          <p:cNvSpPr/>
          <p:nvPr/>
        </p:nvSpPr>
        <p:spPr>
          <a:xfrm>
            <a:off x="0" y="0"/>
            <a:ext cx="12192000" cy="393955"/>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000" b="1" dirty="0">
                <a:solidFill>
                  <a:schemeClr val="bg1"/>
                </a:solidFill>
                <a:latin typeface="Meiryo UI" panose="020B0604030504040204" pitchFamily="50" charset="-128"/>
                <a:ea typeface="Meiryo UI" panose="020B0604030504040204" pitchFamily="50" charset="-128"/>
              </a:rPr>
              <a:t>カスタムメイドケアサポート</a:t>
            </a:r>
            <a:r>
              <a:rPr kumimoji="1" lang="ja-JP" altLang="en-US" b="1" dirty="0">
                <a:solidFill>
                  <a:schemeClr val="bg1"/>
                </a:solidFill>
                <a:latin typeface="Meiryo UI" panose="020B0604030504040204" pitchFamily="50" charset="-128"/>
                <a:ea typeface="Meiryo UI" panose="020B0604030504040204" pitchFamily="50" charset="-128"/>
              </a:rPr>
              <a:t>（現場向けダッシュボード）機能紹介</a:t>
            </a:r>
          </a:p>
        </p:txBody>
      </p:sp>
      <p:sp>
        <p:nvSpPr>
          <p:cNvPr id="2" name="四角形: 角を丸くする 1">
            <a:extLst>
              <a:ext uri="{FF2B5EF4-FFF2-40B4-BE49-F238E27FC236}">
                <a16:creationId xmlns:a16="http://schemas.microsoft.com/office/drawing/2014/main" id="{30E0FA4B-197D-53FA-CF9D-AEA59A916569}"/>
              </a:ext>
            </a:extLst>
          </p:cNvPr>
          <p:cNvSpPr/>
          <p:nvPr/>
        </p:nvSpPr>
        <p:spPr>
          <a:xfrm>
            <a:off x="9833835" y="173605"/>
            <a:ext cx="785032" cy="440700"/>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沖野</a:t>
            </a:r>
            <a:endParaRPr kumimoji="1" lang="ja-JP" altLang="en-US" dirty="0"/>
          </a:p>
        </p:txBody>
      </p:sp>
      <p:sp>
        <p:nvSpPr>
          <p:cNvPr id="3" name="テキスト ボックス 2">
            <a:extLst>
              <a:ext uri="{FF2B5EF4-FFF2-40B4-BE49-F238E27FC236}">
                <a16:creationId xmlns:a16="http://schemas.microsoft.com/office/drawing/2014/main" id="{EAD0B041-CAF5-8233-0669-EA5C2A1495BC}"/>
              </a:ext>
            </a:extLst>
          </p:cNvPr>
          <p:cNvSpPr txBox="1"/>
          <p:nvPr/>
        </p:nvSpPr>
        <p:spPr>
          <a:xfrm>
            <a:off x="-1079776" y="1420261"/>
            <a:ext cx="3229676" cy="369332"/>
          </a:xfrm>
          <a:prstGeom prst="rect">
            <a:avLst/>
          </a:prstGeom>
          <a:solidFill>
            <a:schemeClr val="accent3">
              <a:lumMod val="20000"/>
              <a:lumOff val="80000"/>
            </a:schemeClr>
          </a:solidFill>
        </p:spPr>
        <p:txBody>
          <a:bodyPr wrap="square">
            <a:spAutoFit/>
          </a:bodyPr>
          <a:lstStyle/>
          <a:p>
            <a:r>
              <a:rPr lang="en-US" altLang="ja-JP" b="1" dirty="0"/>
              <a:t>2.2  2)  CMC</a:t>
            </a:r>
            <a:r>
              <a:rPr lang="ja-JP" altLang="en-US" b="1" dirty="0"/>
              <a:t>の説明 </a:t>
            </a:r>
          </a:p>
        </p:txBody>
      </p:sp>
    </p:spTree>
    <p:extLst>
      <p:ext uri="{BB962C8B-B14F-4D97-AF65-F5344CB8AC3E}">
        <p14:creationId xmlns:p14="http://schemas.microsoft.com/office/powerpoint/2010/main" val="17668894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3CCC4A8-E70F-B249-87CB-EBFF974CEE27}"/>
              </a:ext>
            </a:extLst>
          </p:cNvPr>
          <p:cNvSpPr/>
          <p:nvPr/>
        </p:nvSpPr>
        <p:spPr>
          <a:xfrm>
            <a:off x="0" y="0"/>
            <a:ext cx="12192000" cy="393955"/>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000" b="1" dirty="0">
                <a:solidFill>
                  <a:schemeClr val="bg1"/>
                </a:solidFill>
                <a:latin typeface="Meiryo UI" panose="020B0604030504040204" pitchFamily="50" charset="-128"/>
                <a:ea typeface="Meiryo UI" panose="020B0604030504040204" pitchFamily="50" charset="-128"/>
              </a:rPr>
              <a:t>カスタムメイドケアサポート</a:t>
            </a:r>
            <a:r>
              <a:rPr kumimoji="1" lang="ja-JP" altLang="en-US" b="1" dirty="0">
                <a:solidFill>
                  <a:schemeClr val="bg1"/>
                </a:solidFill>
                <a:latin typeface="Meiryo UI" panose="020B0604030504040204" pitchFamily="50" charset="-128"/>
                <a:ea typeface="Meiryo UI" panose="020B0604030504040204" pitchFamily="50" charset="-128"/>
              </a:rPr>
              <a:t>（現場向けダッシュボード）機能紹介</a:t>
            </a:r>
          </a:p>
        </p:txBody>
      </p:sp>
      <p:pic>
        <p:nvPicPr>
          <p:cNvPr id="3" name="図 2" descr="グラフ, 棒グラフ, ヒストグラム&#10;&#10;AI によって生成されたコンテンツは間違っている可能性があります。">
            <a:extLst>
              <a:ext uri="{FF2B5EF4-FFF2-40B4-BE49-F238E27FC236}">
                <a16:creationId xmlns:a16="http://schemas.microsoft.com/office/drawing/2014/main" id="{B5EBF1CB-85C4-D77A-BC06-B0D738C2F4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5609" y="1441570"/>
            <a:ext cx="11052698" cy="5330216"/>
          </a:xfrm>
          <a:prstGeom prst="rect">
            <a:avLst/>
          </a:prstGeom>
          <a:ln w="38100">
            <a:solidFill>
              <a:schemeClr val="tx1"/>
            </a:solidFill>
          </a:ln>
        </p:spPr>
      </p:pic>
      <p:sp>
        <p:nvSpPr>
          <p:cNvPr id="6" name="正方形/長方形 5">
            <a:extLst>
              <a:ext uri="{FF2B5EF4-FFF2-40B4-BE49-F238E27FC236}">
                <a16:creationId xmlns:a16="http://schemas.microsoft.com/office/drawing/2014/main" id="{990AAB20-3F8B-0F10-48EA-74023DEE3D9B}"/>
              </a:ext>
            </a:extLst>
          </p:cNvPr>
          <p:cNvSpPr/>
          <p:nvPr/>
        </p:nvSpPr>
        <p:spPr>
          <a:xfrm>
            <a:off x="0" y="393955"/>
            <a:ext cx="8903677" cy="10476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dirty="0"/>
              <a:t>全ユーザー利用数：</a:t>
            </a:r>
            <a:endParaRPr lang="en-US" altLang="ja-JP" dirty="0"/>
          </a:p>
          <a:p>
            <a:r>
              <a:rPr kumimoji="1" lang="ja-JP" altLang="en-US" dirty="0"/>
              <a:t>プラットフォーム全体のユーザーアクセス件数でみると</a:t>
            </a:r>
            <a:r>
              <a:rPr kumimoji="1" lang="en-US" altLang="ja-JP" dirty="0"/>
              <a:t>40</a:t>
            </a:r>
            <a:r>
              <a:rPr kumimoji="1" lang="ja-JP" altLang="en-US" dirty="0"/>
              <a:t>万件</a:t>
            </a:r>
            <a:r>
              <a:rPr kumimoji="1" lang="en-US" altLang="ja-JP" dirty="0"/>
              <a:t>/</a:t>
            </a:r>
            <a:r>
              <a:rPr kumimoji="1" lang="ja-JP" altLang="en-US" dirty="0"/>
              <a:t>月</a:t>
            </a:r>
            <a:endParaRPr lang="en-US" altLang="ja-JP" dirty="0"/>
          </a:p>
          <a:p>
            <a:r>
              <a:rPr lang="ja-JP" altLang="en-US" dirty="0"/>
              <a:t>その内カスタムメイドケアサポートのアクセス件数</a:t>
            </a:r>
            <a:r>
              <a:rPr lang="en-US" altLang="ja-JP" dirty="0"/>
              <a:t>2</a:t>
            </a:r>
            <a:r>
              <a:rPr lang="ja-JP" altLang="en-US" dirty="0"/>
              <a:t>万件</a:t>
            </a:r>
            <a:r>
              <a:rPr lang="en-US" altLang="ja-JP" dirty="0"/>
              <a:t>/</a:t>
            </a:r>
            <a:r>
              <a:rPr lang="ja-JP" altLang="en-US" dirty="0"/>
              <a:t>月</a:t>
            </a:r>
            <a:endParaRPr kumimoji="1" lang="ja-JP" altLang="en-US" dirty="0"/>
          </a:p>
        </p:txBody>
      </p:sp>
      <p:sp>
        <p:nvSpPr>
          <p:cNvPr id="2" name="四角形: 角を丸くする 1">
            <a:extLst>
              <a:ext uri="{FF2B5EF4-FFF2-40B4-BE49-F238E27FC236}">
                <a16:creationId xmlns:a16="http://schemas.microsoft.com/office/drawing/2014/main" id="{6A2F0552-A960-99CB-549C-8687F72ACD41}"/>
              </a:ext>
            </a:extLst>
          </p:cNvPr>
          <p:cNvSpPr/>
          <p:nvPr/>
        </p:nvSpPr>
        <p:spPr>
          <a:xfrm>
            <a:off x="10067097" y="477062"/>
            <a:ext cx="785032" cy="440700"/>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沖野</a:t>
            </a:r>
            <a:endParaRPr kumimoji="1" lang="ja-JP" altLang="en-US" dirty="0"/>
          </a:p>
        </p:txBody>
      </p:sp>
    </p:spTree>
    <p:extLst>
      <p:ext uri="{BB962C8B-B14F-4D97-AF65-F5344CB8AC3E}">
        <p14:creationId xmlns:p14="http://schemas.microsoft.com/office/powerpoint/2010/main" val="21216328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850F74BA-628F-A510-F576-4C0EBBA36423}"/>
              </a:ext>
            </a:extLst>
          </p:cNvPr>
          <p:cNvSpPr txBox="1"/>
          <p:nvPr/>
        </p:nvSpPr>
        <p:spPr>
          <a:xfrm flipH="1">
            <a:off x="167017" y="161101"/>
            <a:ext cx="7017554" cy="461665"/>
          </a:xfrm>
          <a:prstGeom prst="rect">
            <a:avLst/>
          </a:prstGeom>
          <a:noFill/>
        </p:spPr>
        <p:txBody>
          <a:bodyPr wrap="square" rtlCol="0">
            <a:spAutoFit/>
          </a:bodyPr>
          <a:lstStyle/>
          <a:p>
            <a:r>
              <a:rPr kumimoji="1" lang="ja-JP" altLang="en-US" sz="2400" dirty="0"/>
              <a:t>＜</a:t>
            </a:r>
            <a:r>
              <a:rPr kumimoji="1" lang="en-US" altLang="ja-JP" sz="2400" dirty="0"/>
              <a:t>2.3 Foundry</a:t>
            </a:r>
            <a:r>
              <a:rPr kumimoji="1" lang="ja-JP" altLang="en-US" sz="2400" dirty="0"/>
              <a:t>の課題＞</a:t>
            </a:r>
          </a:p>
        </p:txBody>
      </p:sp>
      <p:pic>
        <p:nvPicPr>
          <p:cNvPr id="5" name="図 4">
            <a:extLst>
              <a:ext uri="{FF2B5EF4-FFF2-40B4-BE49-F238E27FC236}">
                <a16:creationId xmlns:a16="http://schemas.microsoft.com/office/drawing/2014/main" id="{3EFCDE44-4632-A83F-10E9-817ECC0C5B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304" y="658581"/>
            <a:ext cx="10911392" cy="5785098"/>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ボックス 1">
            <a:extLst>
              <a:ext uri="{FF2B5EF4-FFF2-40B4-BE49-F238E27FC236}">
                <a16:creationId xmlns:a16="http://schemas.microsoft.com/office/drawing/2014/main" id="{FE053B21-2D4D-A8E7-0CA7-51F33A4F5E0B}"/>
              </a:ext>
            </a:extLst>
          </p:cNvPr>
          <p:cNvSpPr txBox="1"/>
          <p:nvPr/>
        </p:nvSpPr>
        <p:spPr>
          <a:xfrm>
            <a:off x="3937518" y="289249"/>
            <a:ext cx="6647974" cy="369332"/>
          </a:xfrm>
          <a:prstGeom prst="rect">
            <a:avLst/>
          </a:prstGeom>
          <a:noFill/>
        </p:spPr>
        <p:txBody>
          <a:bodyPr wrap="none" rtlCol="0">
            <a:spAutoFit/>
          </a:bodyPr>
          <a:lstStyle/>
          <a:p>
            <a:r>
              <a:rPr lang="ja-JP" altLang="en-US" dirty="0">
                <a:solidFill>
                  <a:srgbClr val="FF0000"/>
                </a:solidFill>
              </a:rPr>
              <a:t>昨年、取り組んだリノベーション活動のときに分析した課題</a:t>
            </a:r>
            <a:endParaRPr kumimoji="1" lang="ja-JP" altLang="en-US" dirty="0">
              <a:solidFill>
                <a:srgbClr val="FF0000"/>
              </a:solidFill>
            </a:endParaRPr>
          </a:p>
        </p:txBody>
      </p:sp>
    </p:spTree>
    <p:extLst>
      <p:ext uri="{BB962C8B-B14F-4D97-AF65-F5344CB8AC3E}">
        <p14:creationId xmlns:p14="http://schemas.microsoft.com/office/powerpoint/2010/main" val="4856633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AC714449-338E-1D71-49C8-78A6FF5C6DC6}"/>
              </a:ext>
            </a:extLst>
          </p:cNvPr>
          <p:cNvSpPr txBox="1"/>
          <p:nvPr/>
        </p:nvSpPr>
        <p:spPr>
          <a:xfrm flipH="1">
            <a:off x="241662" y="745562"/>
            <a:ext cx="214697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＜補足説明メモ＞</a:t>
            </a:r>
          </a:p>
        </p:txBody>
      </p:sp>
      <p:sp>
        <p:nvSpPr>
          <p:cNvPr id="5" name="テキスト ボックス 4">
            <a:extLst>
              <a:ext uri="{FF2B5EF4-FFF2-40B4-BE49-F238E27FC236}">
                <a16:creationId xmlns:a16="http://schemas.microsoft.com/office/drawing/2014/main" id="{DD8CEF2C-7C2E-E318-6F49-646E5715D5C8}"/>
              </a:ext>
            </a:extLst>
          </p:cNvPr>
          <p:cNvSpPr txBox="1"/>
          <p:nvPr/>
        </p:nvSpPr>
        <p:spPr>
          <a:xfrm>
            <a:off x="0" y="1217732"/>
            <a:ext cx="12931745" cy="12003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i="1"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現状</a:t>
            </a:r>
            <a:r>
              <a:rPr kumimoji="1" lang="en-US" altLang="ja-JP" sz="1800" b="1" i="1"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Foundry</a:t>
            </a:r>
            <a:r>
              <a:rPr kumimoji="1" lang="ja-JP" altLang="en-US" sz="1800" b="1" i="1"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の技術的問題点</a:t>
            </a:r>
            <a:endParaRPr kumimoji="1" lang="en-US" altLang="ja-JP" sz="1800" b="1" i="1"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・データ分析環境がない</a:t>
            </a:r>
            <a:endPar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・このため、データ分析者はパイプライン途中の中間データセットをもとに、データ分析をせざるをえない</a:t>
            </a:r>
            <a:endPar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・ユーザーが使える分析用</a:t>
            </a:r>
            <a:r>
              <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ETL</a:t>
            </a:r>
            <a:r>
              <a:rPr kumimoji="1" lang="ja-JP" altLang="en-US"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ツールがない。（</a:t>
            </a:r>
            <a:r>
              <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Contour/Pipeline builder</a:t>
            </a:r>
            <a:r>
              <a:rPr kumimoji="1" lang="ja-JP" altLang="en-US"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があるが、ユーザーに普及していない）</a:t>
            </a:r>
          </a:p>
        </p:txBody>
      </p:sp>
      <p:sp>
        <p:nvSpPr>
          <p:cNvPr id="6" name="矢印: 下 5">
            <a:extLst>
              <a:ext uri="{FF2B5EF4-FFF2-40B4-BE49-F238E27FC236}">
                <a16:creationId xmlns:a16="http://schemas.microsoft.com/office/drawing/2014/main" id="{1D19CA8C-879B-4C19-776D-F36B7E8E39F8}"/>
              </a:ext>
            </a:extLst>
          </p:cNvPr>
          <p:cNvSpPr/>
          <p:nvPr/>
        </p:nvSpPr>
        <p:spPr>
          <a:xfrm>
            <a:off x="5666792" y="2631232"/>
            <a:ext cx="1026368" cy="23326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sp>
        <p:nvSpPr>
          <p:cNvPr id="7" name="テキスト ボックス 6">
            <a:extLst>
              <a:ext uri="{FF2B5EF4-FFF2-40B4-BE49-F238E27FC236}">
                <a16:creationId xmlns:a16="http://schemas.microsoft.com/office/drawing/2014/main" id="{8900AF54-8B76-E3C3-B36F-48D1C90F8513}"/>
              </a:ext>
            </a:extLst>
          </p:cNvPr>
          <p:cNvSpPr txBox="1"/>
          <p:nvPr/>
        </p:nvSpPr>
        <p:spPr>
          <a:xfrm>
            <a:off x="951722" y="2967335"/>
            <a:ext cx="11495455" cy="147732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＜中間データセットの問題点＞</a:t>
            </a:r>
            <a:endPar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・データの素性がわかりにくい。</a:t>
            </a:r>
            <a:endPar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（分析用ではないので、データ定義が独特。例えば、</a:t>
            </a:r>
            <a:r>
              <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CMC</a:t>
            </a:r>
            <a:r>
              <a:rPr kumimoji="1" lang="ja-JP" altLang="en-US"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の介護度は</a:t>
            </a:r>
            <a:r>
              <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2</a:t>
            </a:r>
            <a:r>
              <a:rPr kumimoji="1" lang="ja-JP" altLang="en-US"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週間前のもので最新ではない）</a:t>
            </a:r>
            <a:endPar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・同じカラムが何回も出てくる。</a:t>
            </a:r>
            <a:endPar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（住所・年齢・部屋番号は、いろいろなデータセットで重複して保持していて、データに統一性がない）</a:t>
            </a:r>
          </a:p>
        </p:txBody>
      </p:sp>
      <p:sp>
        <p:nvSpPr>
          <p:cNvPr id="8" name="テキスト ボックス 7">
            <a:extLst>
              <a:ext uri="{FF2B5EF4-FFF2-40B4-BE49-F238E27FC236}">
                <a16:creationId xmlns:a16="http://schemas.microsoft.com/office/drawing/2014/main" id="{E24F2808-4D64-437F-3D21-1335169BF6E4}"/>
              </a:ext>
            </a:extLst>
          </p:cNvPr>
          <p:cNvSpPr txBox="1"/>
          <p:nvPr/>
        </p:nvSpPr>
        <p:spPr>
          <a:xfrm>
            <a:off x="5738326" y="485164"/>
            <a:ext cx="326243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400" b="1" i="1"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技術的問題点及び背景</a:t>
            </a:r>
          </a:p>
        </p:txBody>
      </p:sp>
      <p:sp>
        <p:nvSpPr>
          <p:cNvPr id="9" name="矢印: 下 8">
            <a:extLst>
              <a:ext uri="{FF2B5EF4-FFF2-40B4-BE49-F238E27FC236}">
                <a16:creationId xmlns:a16="http://schemas.microsoft.com/office/drawing/2014/main" id="{F6A30D63-8476-24EA-6656-939390F96054}"/>
              </a:ext>
            </a:extLst>
          </p:cNvPr>
          <p:cNvSpPr/>
          <p:nvPr/>
        </p:nvSpPr>
        <p:spPr>
          <a:xfrm>
            <a:off x="5666792" y="4760672"/>
            <a:ext cx="1026368" cy="23326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sp>
        <p:nvSpPr>
          <p:cNvPr id="10" name="テキスト ボックス 9">
            <a:extLst>
              <a:ext uri="{FF2B5EF4-FFF2-40B4-BE49-F238E27FC236}">
                <a16:creationId xmlns:a16="http://schemas.microsoft.com/office/drawing/2014/main" id="{4FDACB9B-FAEE-698B-5B60-BD450649A38C}"/>
              </a:ext>
            </a:extLst>
          </p:cNvPr>
          <p:cNvSpPr txBox="1"/>
          <p:nvPr/>
        </p:nvSpPr>
        <p:spPr>
          <a:xfrm>
            <a:off x="2640563" y="5104673"/>
            <a:ext cx="9207970"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新たにデータ分析環境を構築して、パイプラインの加工処理から分離する。</a:t>
            </a:r>
            <a:endPar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Raw</a:t>
            </a:r>
            <a:r>
              <a:rPr kumimoji="1" lang="ja-JP" altLang="en-US"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データの分類・整理をして、</a:t>
            </a:r>
            <a:r>
              <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ER</a:t>
            </a:r>
            <a:r>
              <a:rPr kumimoji="1" lang="ja-JP" altLang="en-US"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図に基づいた最適なデータマートを設計する</a:t>
            </a:r>
            <a:endPar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（例：入居者情報マスターに住所・年齢・部屋番号を集約する。</a:t>
            </a:r>
            <a:r>
              <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RDB</a:t>
            </a:r>
            <a:r>
              <a:rPr kumimoji="1" lang="ja-JP" altLang="en-US"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みたいな設計。）</a:t>
            </a:r>
          </a:p>
        </p:txBody>
      </p:sp>
    </p:spTree>
    <p:extLst>
      <p:ext uri="{BB962C8B-B14F-4D97-AF65-F5344CB8AC3E}">
        <p14:creationId xmlns:p14="http://schemas.microsoft.com/office/powerpoint/2010/main" val="26632732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5C0611C2-F278-4959-07A4-6202FFCF3BD6}"/>
              </a:ext>
            </a:extLst>
          </p:cNvPr>
          <p:cNvSpPr txBox="1"/>
          <p:nvPr/>
        </p:nvSpPr>
        <p:spPr>
          <a:xfrm>
            <a:off x="3617945" y="2609852"/>
            <a:ext cx="8166618" cy="584775"/>
          </a:xfrm>
          <a:prstGeom prst="rect">
            <a:avLst/>
          </a:prstGeom>
          <a:noFill/>
        </p:spPr>
        <p:txBody>
          <a:bodyPr wrap="square">
            <a:spAutoFit/>
          </a:bodyPr>
          <a:lstStyle/>
          <a:p>
            <a:r>
              <a:rPr lang="ja-JP" altLang="en-US" sz="3200" b="1" u="none" strike="noStrike" dirty="0">
                <a:effectLst/>
              </a:rPr>
              <a:t>新しい分析環境 について</a:t>
            </a:r>
            <a:endParaRPr lang="ja-JP" altLang="en-US" sz="3200" dirty="0"/>
          </a:p>
        </p:txBody>
      </p:sp>
    </p:spTree>
    <p:extLst>
      <p:ext uri="{BB962C8B-B14F-4D97-AF65-F5344CB8AC3E}">
        <p14:creationId xmlns:p14="http://schemas.microsoft.com/office/powerpoint/2010/main" val="22101841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四角形: 角を丸くする 5">
            <a:extLst>
              <a:ext uri="{FF2B5EF4-FFF2-40B4-BE49-F238E27FC236}">
                <a16:creationId xmlns:a16="http://schemas.microsoft.com/office/drawing/2014/main" id="{5A23FAF8-A768-F8FF-985E-A14ADC172EF6}"/>
              </a:ext>
            </a:extLst>
          </p:cNvPr>
          <p:cNvSpPr/>
          <p:nvPr/>
        </p:nvSpPr>
        <p:spPr>
          <a:xfrm>
            <a:off x="1576873" y="2771192"/>
            <a:ext cx="4945225" cy="3470988"/>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 name="テキスト ボックス 3">
            <a:extLst>
              <a:ext uri="{FF2B5EF4-FFF2-40B4-BE49-F238E27FC236}">
                <a16:creationId xmlns:a16="http://schemas.microsoft.com/office/drawing/2014/main" id="{83A7F072-32C6-8F59-ABAB-54E48868EA3E}"/>
              </a:ext>
            </a:extLst>
          </p:cNvPr>
          <p:cNvSpPr txBox="1"/>
          <p:nvPr/>
        </p:nvSpPr>
        <p:spPr>
          <a:xfrm>
            <a:off x="107649" y="193212"/>
            <a:ext cx="6558206" cy="461665"/>
          </a:xfrm>
          <a:prstGeom prst="rect">
            <a:avLst/>
          </a:prstGeom>
          <a:noFill/>
        </p:spPr>
        <p:txBody>
          <a:bodyPr wrap="none" rtlCol="0">
            <a:spAutoFit/>
          </a:bodyPr>
          <a:lstStyle/>
          <a:p>
            <a:r>
              <a:rPr kumimoji="1" lang="ja-JP" altLang="en-US" sz="2400" dirty="0"/>
              <a:t>＜</a:t>
            </a:r>
            <a:r>
              <a:rPr kumimoji="1" lang="en-US" altLang="ja-JP" sz="2400" dirty="0"/>
              <a:t>3.1.1 1) </a:t>
            </a:r>
            <a:r>
              <a:rPr kumimoji="1" lang="ja-JP" altLang="en-US" sz="2400" dirty="0"/>
              <a:t>新分析システム　システム全体図＞</a:t>
            </a:r>
          </a:p>
        </p:txBody>
      </p:sp>
      <p:sp>
        <p:nvSpPr>
          <p:cNvPr id="5" name="四角形: 角を丸くする 4">
            <a:extLst>
              <a:ext uri="{FF2B5EF4-FFF2-40B4-BE49-F238E27FC236}">
                <a16:creationId xmlns:a16="http://schemas.microsoft.com/office/drawing/2014/main" id="{6378B6CC-60AD-1999-0E90-B0E1FED5D9F4}"/>
              </a:ext>
            </a:extLst>
          </p:cNvPr>
          <p:cNvSpPr/>
          <p:nvPr/>
        </p:nvSpPr>
        <p:spPr>
          <a:xfrm>
            <a:off x="1418253" y="942392"/>
            <a:ext cx="5103845" cy="1175657"/>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C5EBE53D-7860-FB6F-12F0-5EE24016FF8E}"/>
              </a:ext>
            </a:extLst>
          </p:cNvPr>
          <p:cNvSpPr/>
          <p:nvPr/>
        </p:nvSpPr>
        <p:spPr>
          <a:xfrm>
            <a:off x="7149014" y="1011346"/>
            <a:ext cx="4945225" cy="3705397"/>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円柱 7">
            <a:extLst>
              <a:ext uri="{FF2B5EF4-FFF2-40B4-BE49-F238E27FC236}">
                <a16:creationId xmlns:a16="http://schemas.microsoft.com/office/drawing/2014/main" id="{61794182-2520-F00E-1163-106A051F0AC6}"/>
              </a:ext>
            </a:extLst>
          </p:cNvPr>
          <p:cNvSpPr/>
          <p:nvPr/>
        </p:nvSpPr>
        <p:spPr>
          <a:xfrm>
            <a:off x="1866122" y="1194318"/>
            <a:ext cx="1166327" cy="690466"/>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RedShift</a:t>
            </a:r>
            <a:endParaRPr kumimoji="1" lang="ja-JP" altLang="en-US" dirty="0"/>
          </a:p>
        </p:txBody>
      </p:sp>
      <p:pic>
        <p:nvPicPr>
          <p:cNvPr id="9" name="図 8">
            <a:extLst>
              <a:ext uri="{FF2B5EF4-FFF2-40B4-BE49-F238E27FC236}">
                <a16:creationId xmlns:a16="http://schemas.microsoft.com/office/drawing/2014/main" id="{A139F1EF-C089-F9D4-0777-787501DE4AF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15807" y="1055757"/>
            <a:ext cx="410411" cy="411920"/>
          </a:xfrm>
          <a:prstGeom prst="rect">
            <a:avLst/>
          </a:prstGeom>
        </p:spPr>
      </p:pic>
      <p:sp>
        <p:nvSpPr>
          <p:cNvPr id="13" name="円柱 12">
            <a:extLst>
              <a:ext uri="{FF2B5EF4-FFF2-40B4-BE49-F238E27FC236}">
                <a16:creationId xmlns:a16="http://schemas.microsoft.com/office/drawing/2014/main" id="{023FD9BE-10FE-2E6B-3B7F-D20CB6EE9539}"/>
              </a:ext>
            </a:extLst>
          </p:cNvPr>
          <p:cNvSpPr/>
          <p:nvPr/>
        </p:nvSpPr>
        <p:spPr>
          <a:xfrm>
            <a:off x="3387011" y="1222309"/>
            <a:ext cx="1166327" cy="690466"/>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Tableau</a:t>
            </a:r>
          </a:p>
          <a:p>
            <a:pPr algn="ctr"/>
            <a:r>
              <a:rPr kumimoji="1" lang="en-US" altLang="ja-JP" dirty="0"/>
              <a:t>Server</a:t>
            </a:r>
            <a:endParaRPr kumimoji="1" lang="ja-JP" altLang="en-US" dirty="0"/>
          </a:p>
        </p:txBody>
      </p:sp>
      <p:pic>
        <p:nvPicPr>
          <p:cNvPr id="15" name="Picture 15" descr="PE01729_">
            <a:extLst>
              <a:ext uri="{FF2B5EF4-FFF2-40B4-BE49-F238E27FC236}">
                <a16:creationId xmlns:a16="http://schemas.microsoft.com/office/drawing/2014/main" id="{C569B8BC-6B43-4762-B772-F4F380154AF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51746" y="1325868"/>
            <a:ext cx="898422" cy="951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テキスト ボックス 15">
            <a:extLst>
              <a:ext uri="{FF2B5EF4-FFF2-40B4-BE49-F238E27FC236}">
                <a16:creationId xmlns:a16="http://schemas.microsoft.com/office/drawing/2014/main" id="{200FA368-DE3E-ED9C-A965-F23ED40A47F3}"/>
              </a:ext>
            </a:extLst>
          </p:cNvPr>
          <p:cNvSpPr txBox="1"/>
          <p:nvPr/>
        </p:nvSpPr>
        <p:spPr>
          <a:xfrm>
            <a:off x="1949942" y="605942"/>
            <a:ext cx="2909771" cy="369332"/>
          </a:xfrm>
          <a:prstGeom prst="rect">
            <a:avLst/>
          </a:prstGeom>
          <a:noFill/>
        </p:spPr>
        <p:txBody>
          <a:bodyPr wrap="none" rtlCol="0">
            <a:spAutoFit/>
          </a:bodyPr>
          <a:lstStyle/>
          <a:p>
            <a:r>
              <a:rPr kumimoji="1" lang="en-US" altLang="ja-JP" dirty="0"/>
              <a:t>UI</a:t>
            </a:r>
            <a:r>
              <a:rPr kumimoji="1" lang="ja-JP" altLang="en-US" dirty="0"/>
              <a:t>モジュール（</a:t>
            </a:r>
            <a:r>
              <a:rPr kumimoji="1" lang="en-US" altLang="ja-JP" dirty="0"/>
              <a:t>JOY</a:t>
            </a:r>
            <a:r>
              <a:rPr kumimoji="1" lang="ja-JP" altLang="en-US" dirty="0"/>
              <a:t>環境）</a:t>
            </a:r>
          </a:p>
        </p:txBody>
      </p:sp>
      <p:sp>
        <p:nvSpPr>
          <p:cNvPr id="18" name="テキスト ボックス 17">
            <a:extLst>
              <a:ext uri="{FF2B5EF4-FFF2-40B4-BE49-F238E27FC236}">
                <a16:creationId xmlns:a16="http://schemas.microsoft.com/office/drawing/2014/main" id="{847129CD-DA53-F1B2-7B52-C91B3BD7A8CE}"/>
              </a:ext>
            </a:extLst>
          </p:cNvPr>
          <p:cNvSpPr txBox="1"/>
          <p:nvPr/>
        </p:nvSpPr>
        <p:spPr>
          <a:xfrm>
            <a:off x="7818897" y="620246"/>
            <a:ext cx="4404049" cy="369332"/>
          </a:xfrm>
          <a:prstGeom prst="rect">
            <a:avLst/>
          </a:prstGeom>
          <a:noFill/>
        </p:spPr>
        <p:txBody>
          <a:bodyPr wrap="square" rtlCol="0">
            <a:spAutoFit/>
          </a:bodyPr>
          <a:lstStyle/>
          <a:p>
            <a:r>
              <a:rPr kumimoji="1" lang="ja-JP" altLang="en-US" dirty="0"/>
              <a:t>データ分析モジュール</a:t>
            </a:r>
          </a:p>
        </p:txBody>
      </p:sp>
      <p:sp>
        <p:nvSpPr>
          <p:cNvPr id="19" name="四角形: 角を丸くする 18">
            <a:extLst>
              <a:ext uri="{FF2B5EF4-FFF2-40B4-BE49-F238E27FC236}">
                <a16:creationId xmlns:a16="http://schemas.microsoft.com/office/drawing/2014/main" id="{6FB27CD0-3CD1-A65B-E527-0C8FD35F0DD7}"/>
              </a:ext>
            </a:extLst>
          </p:cNvPr>
          <p:cNvSpPr/>
          <p:nvPr/>
        </p:nvSpPr>
        <p:spPr>
          <a:xfrm>
            <a:off x="263195" y="3757124"/>
            <a:ext cx="1212980" cy="491412"/>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連携</a:t>
            </a:r>
            <a:r>
              <a:rPr lang="en-US" altLang="ja-JP" dirty="0"/>
              <a:t>PF</a:t>
            </a:r>
            <a:endParaRPr kumimoji="1" lang="ja-JP" altLang="en-US" dirty="0"/>
          </a:p>
        </p:txBody>
      </p:sp>
      <p:sp>
        <p:nvSpPr>
          <p:cNvPr id="20" name="四角形: 角を丸くする 19">
            <a:extLst>
              <a:ext uri="{FF2B5EF4-FFF2-40B4-BE49-F238E27FC236}">
                <a16:creationId xmlns:a16="http://schemas.microsoft.com/office/drawing/2014/main" id="{59EAEB95-C330-6C50-5F67-2D3B86899E95}"/>
              </a:ext>
            </a:extLst>
          </p:cNvPr>
          <p:cNvSpPr/>
          <p:nvPr/>
        </p:nvSpPr>
        <p:spPr>
          <a:xfrm>
            <a:off x="8307348" y="3775745"/>
            <a:ext cx="1212980" cy="491412"/>
          </a:xfrm>
          <a:prstGeom prst="round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BI</a:t>
            </a:r>
            <a:r>
              <a:rPr kumimoji="1" lang="ja-JP" altLang="en-US" dirty="0"/>
              <a:t>ツール</a:t>
            </a:r>
          </a:p>
        </p:txBody>
      </p:sp>
      <p:sp>
        <p:nvSpPr>
          <p:cNvPr id="21" name="四角形: 角を丸くする 20">
            <a:extLst>
              <a:ext uri="{FF2B5EF4-FFF2-40B4-BE49-F238E27FC236}">
                <a16:creationId xmlns:a16="http://schemas.microsoft.com/office/drawing/2014/main" id="{E39CCD7E-4080-F620-2FE1-7E94B393B98A}"/>
              </a:ext>
            </a:extLst>
          </p:cNvPr>
          <p:cNvSpPr/>
          <p:nvPr/>
        </p:nvSpPr>
        <p:spPr>
          <a:xfrm>
            <a:off x="245701" y="4383513"/>
            <a:ext cx="1212980" cy="491412"/>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眠り</a:t>
            </a:r>
            <a:r>
              <a:rPr kumimoji="1" lang="en-US" altLang="ja-JP" dirty="0"/>
              <a:t>SCAN</a:t>
            </a:r>
            <a:endParaRPr kumimoji="1" lang="ja-JP" altLang="en-US" dirty="0"/>
          </a:p>
        </p:txBody>
      </p:sp>
      <p:sp>
        <p:nvSpPr>
          <p:cNvPr id="22" name="四角形: 角を丸くする 21">
            <a:extLst>
              <a:ext uri="{FF2B5EF4-FFF2-40B4-BE49-F238E27FC236}">
                <a16:creationId xmlns:a16="http://schemas.microsoft.com/office/drawing/2014/main" id="{259AFFF9-4A90-51BD-0B1B-493CD8A7627B}"/>
              </a:ext>
            </a:extLst>
          </p:cNvPr>
          <p:cNvSpPr/>
          <p:nvPr/>
        </p:nvSpPr>
        <p:spPr>
          <a:xfrm>
            <a:off x="235062" y="4957667"/>
            <a:ext cx="1212980" cy="491412"/>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NC</a:t>
            </a:r>
            <a:endParaRPr kumimoji="1" lang="ja-JP" altLang="en-US" dirty="0"/>
          </a:p>
        </p:txBody>
      </p:sp>
      <p:sp>
        <p:nvSpPr>
          <p:cNvPr id="23" name="矢印: 右 22">
            <a:extLst>
              <a:ext uri="{FF2B5EF4-FFF2-40B4-BE49-F238E27FC236}">
                <a16:creationId xmlns:a16="http://schemas.microsoft.com/office/drawing/2014/main" id="{BF99FA3E-1471-70D8-2150-66E6FF4BE070}"/>
              </a:ext>
            </a:extLst>
          </p:cNvPr>
          <p:cNvSpPr/>
          <p:nvPr/>
        </p:nvSpPr>
        <p:spPr>
          <a:xfrm>
            <a:off x="3115081" y="1436914"/>
            <a:ext cx="271929" cy="4478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矢印: 右 23">
            <a:extLst>
              <a:ext uri="{FF2B5EF4-FFF2-40B4-BE49-F238E27FC236}">
                <a16:creationId xmlns:a16="http://schemas.microsoft.com/office/drawing/2014/main" id="{88FFD1B9-B316-DA36-19D3-132A2D40312E}"/>
              </a:ext>
            </a:extLst>
          </p:cNvPr>
          <p:cNvSpPr/>
          <p:nvPr/>
        </p:nvSpPr>
        <p:spPr>
          <a:xfrm>
            <a:off x="4729278" y="1429078"/>
            <a:ext cx="271929" cy="4478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3B7FDE89-1A9B-64C6-E650-83080B7619DA}"/>
              </a:ext>
            </a:extLst>
          </p:cNvPr>
          <p:cNvSpPr/>
          <p:nvPr/>
        </p:nvSpPr>
        <p:spPr>
          <a:xfrm rot="5400000">
            <a:off x="2014061" y="3862197"/>
            <a:ext cx="2473967" cy="643812"/>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err="1"/>
              <a:t>Data_Lake</a:t>
            </a:r>
            <a:endParaRPr kumimoji="1" lang="ja-JP" altLang="en-US" dirty="0"/>
          </a:p>
        </p:txBody>
      </p:sp>
      <p:sp>
        <p:nvSpPr>
          <p:cNvPr id="28" name="矢印: 右 27">
            <a:extLst>
              <a:ext uri="{FF2B5EF4-FFF2-40B4-BE49-F238E27FC236}">
                <a16:creationId xmlns:a16="http://schemas.microsoft.com/office/drawing/2014/main" id="{512457E8-E4F5-4BC8-D91F-B2B6E2AE50C8}"/>
              </a:ext>
            </a:extLst>
          </p:cNvPr>
          <p:cNvSpPr/>
          <p:nvPr/>
        </p:nvSpPr>
        <p:spPr>
          <a:xfrm>
            <a:off x="1537789" y="3268900"/>
            <a:ext cx="1278294" cy="34523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四角形: 角を丸くする 25">
            <a:extLst>
              <a:ext uri="{FF2B5EF4-FFF2-40B4-BE49-F238E27FC236}">
                <a16:creationId xmlns:a16="http://schemas.microsoft.com/office/drawing/2014/main" id="{1C471594-C6BD-E207-1F1E-8D6BD0C817FE}"/>
              </a:ext>
            </a:extLst>
          </p:cNvPr>
          <p:cNvSpPr/>
          <p:nvPr/>
        </p:nvSpPr>
        <p:spPr>
          <a:xfrm rot="5400000">
            <a:off x="3134407" y="3890189"/>
            <a:ext cx="2473967" cy="643812"/>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E</a:t>
            </a:r>
            <a:r>
              <a:rPr lang="en-US" altLang="ja-JP" dirty="0"/>
              <a:t>TL</a:t>
            </a:r>
            <a:r>
              <a:rPr lang="ja-JP" altLang="en-US" dirty="0"/>
              <a:t>加工</a:t>
            </a:r>
            <a:endParaRPr kumimoji="1" lang="ja-JP" altLang="en-US" dirty="0"/>
          </a:p>
        </p:txBody>
      </p:sp>
      <p:sp>
        <p:nvSpPr>
          <p:cNvPr id="29" name="矢印: 右 28">
            <a:extLst>
              <a:ext uri="{FF2B5EF4-FFF2-40B4-BE49-F238E27FC236}">
                <a16:creationId xmlns:a16="http://schemas.microsoft.com/office/drawing/2014/main" id="{E749269B-FC5F-3A3A-A9C9-AC17304648A6}"/>
              </a:ext>
            </a:extLst>
          </p:cNvPr>
          <p:cNvSpPr/>
          <p:nvPr/>
        </p:nvSpPr>
        <p:spPr>
          <a:xfrm>
            <a:off x="3691143" y="3232377"/>
            <a:ext cx="271929" cy="4478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四角形: 角を丸くする 29">
            <a:extLst>
              <a:ext uri="{FF2B5EF4-FFF2-40B4-BE49-F238E27FC236}">
                <a16:creationId xmlns:a16="http://schemas.microsoft.com/office/drawing/2014/main" id="{4C05E7B5-6278-7CB5-B59A-B0B06C8A882B}"/>
              </a:ext>
            </a:extLst>
          </p:cNvPr>
          <p:cNvSpPr/>
          <p:nvPr/>
        </p:nvSpPr>
        <p:spPr>
          <a:xfrm rot="5400000">
            <a:off x="4330279" y="3943697"/>
            <a:ext cx="2533062" cy="643812"/>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サマリーデータセット</a:t>
            </a:r>
          </a:p>
        </p:txBody>
      </p:sp>
      <p:sp>
        <p:nvSpPr>
          <p:cNvPr id="31" name="矢印: 右 30">
            <a:extLst>
              <a:ext uri="{FF2B5EF4-FFF2-40B4-BE49-F238E27FC236}">
                <a16:creationId xmlns:a16="http://schemas.microsoft.com/office/drawing/2014/main" id="{95D3A17F-2B24-F443-5FF6-962FFE5D0DD3}"/>
              </a:ext>
            </a:extLst>
          </p:cNvPr>
          <p:cNvSpPr/>
          <p:nvPr/>
        </p:nvSpPr>
        <p:spPr>
          <a:xfrm>
            <a:off x="4943878" y="3207851"/>
            <a:ext cx="271929" cy="4478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8DBF7813-4927-B299-421B-E9D6D4740213}"/>
              </a:ext>
            </a:extLst>
          </p:cNvPr>
          <p:cNvSpPr txBox="1"/>
          <p:nvPr/>
        </p:nvSpPr>
        <p:spPr>
          <a:xfrm>
            <a:off x="1866122" y="6403773"/>
            <a:ext cx="4404049" cy="369332"/>
          </a:xfrm>
          <a:prstGeom prst="rect">
            <a:avLst/>
          </a:prstGeom>
          <a:solidFill>
            <a:schemeClr val="bg1"/>
          </a:solidFill>
        </p:spPr>
        <p:txBody>
          <a:bodyPr wrap="square" rtlCol="0">
            <a:spAutoFit/>
          </a:bodyPr>
          <a:lstStyle/>
          <a:p>
            <a:r>
              <a:rPr kumimoji="1" lang="ja-JP" altLang="en-US" dirty="0"/>
              <a:t>データ加工モジュール（パイプライン）</a:t>
            </a:r>
          </a:p>
        </p:txBody>
      </p:sp>
      <p:sp>
        <p:nvSpPr>
          <p:cNvPr id="34" name="楕円 33">
            <a:extLst>
              <a:ext uri="{FF2B5EF4-FFF2-40B4-BE49-F238E27FC236}">
                <a16:creationId xmlns:a16="http://schemas.microsoft.com/office/drawing/2014/main" id="{9659DB53-1B3A-4FD4-DB57-C41C9AB37613}"/>
              </a:ext>
            </a:extLst>
          </p:cNvPr>
          <p:cNvSpPr/>
          <p:nvPr/>
        </p:nvSpPr>
        <p:spPr>
          <a:xfrm>
            <a:off x="7929676" y="1287695"/>
            <a:ext cx="3722915" cy="884993"/>
          </a:xfrm>
          <a:prstGeom prst="ellipse">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err="1"/>
              <a:t>Data_Mart</a:t>
            </a:r>
            <a:endParaRPr kumimoji="1" lang="ja-JP" altLang="en-US" dirty="0"/>
          </a:p>
        </p:txBody>
      </p:sp>
      <p:sp>
        <p:nvSpPr>
          <p:cNvPr id="35" name="テキスト ボックス 34">
            <a:extLst>
              <a:ext uri="{FF2B5EF4-FFF2-40B4-BE49-F238E27FC236}">
                <a16:creationId xmlns:a16="http://schemas.microsoft.com/office/drawing/2014/main" id="{3735FC75-0FED-BDF0-300D-B38F7FE9BC82}"/>
              </a:ext>
            </a:extLst>
          </p:cNvPr>
          <p:cNvSpPr txBox="1"/>
          <p:nvPr/>
        </p:nvSpPr>
        <p:spPr>
          <a:xfrm>
            <a:off x="8436637" y="1002017"/>
            <a:ext cx="2799164" cy="369332"/>
          </a:xfrm>
          <a:prstGeom prst="rect">
            <a:avLst/>
          </a:prstGeom>
          <a:noFill/>
        </p:spPr>
        <p:txBody>
          <a:bodyPr wrap="none" rtlCol="0">
            <a:spAutoFit/>
          </a:bodyPr>
          <a:lstStyle/>
          <a:p>
            <a:r>
              <a:rPr kumimoji="1" lang="en-US" altLang="ja-JP" dirty="0"/>
              <a:t>Central Data </a:t>
            </a:r>
            <a:r>
              <a:rPr lang="en-US" altLang="ja-JP" dirty="0"/>
              <a:t>W</a:t>
            </a:r>
            <a:r>
              <a:rPr kumimoji="1" lang="en-US" altLang="ja-JP" dirty="0"/>
              <a:t>arehouse</a:t>
            </a:r>
            <a:endParaRPr kumimoji="1" lang="ja-JP" altLang="en-US" dirty="0"/>
          </a:p>
        </p:txBody>
      </p:sp>
      <p:cxnSp>
        <p:nvCxnSpPr>
          <p:cNvPr id="37" name="直線矢印コネクタ 36">
            <a:extLst>
              <a:ext uri="{FF2B5EF4-FFF2-40B4-BE49-F238E27FC236}">
                <a16:creationId xmlns:a16="http://schemas.microsoft.com/office/drawing/2014/main" id="{BD569E1E-1B3B-4D03-D87B-76DF3BAE1B55}"/>
              </a:ext>
            </a:extLst>
          </p:cNvPr>
          <p:cNvCxnSpPr>
            <a:cxnSpLocks/>
          </p:cNvCxnSpPr>
          <p:nvPr/>
        </p:nvCxnSpPr>
        <p:spPr>
          <a:xfrm flipH="1" flipV="1">
            <a:off x="2767987" y="1935867"/>
            <a:ext cx="2506917" cy="1063205"/>
          </a:xfrm>
          <a:prstGeom prst="straightConnector1">
            <a:avLst/>
          </a:prstGeom>
          <a:ln w="57150">
            <a:tailEnd type="stealth"/>
          </a:ln>
        </p:spPr>
        <p:style>
          <a:lnRef idx="2">
            <a:schemeClr val="accent1"/>
          </a:lnRef>
          <a:fillRef idx="0">
            <a:schemeClr val="accent1"/>
          </a:fillRef>
          <a:effectRef idx="1">
            <a:schemeClr val="accent1"/>
          </a:effectRef>
          <a:fontRef idx="minor">
            <a:schemeClr val="tx1"/>
          </a:fontRef>
        </p:style>
      </p:cxnSp>
      <p:cxnSp>
        <p:nvCxnSpPr>
          <p:cNvPr id="39" name="直線矢印コネクタ 38">
            <a:extLst>
              <a:ext uri="{FF2B5EF4-FFF2-40B4-BE49-F238E27FC236}">
                <a16:creationId xmlns:a16="http://schemas.microsoft.com/office/drawing/2014/main" id="{9538650A-CDF3-B883-FF1C-84A50E540EFA}"/>
              </a:ext>
            </a:extLst>
          </p:cNvPr>
          <p:cNvCxnSpPr>
            <a:cxnSpLocks/>
          </p:cNvCxnSpPr>
          <p:nvPr/>
        </p:nvCxnSpPr>
        <p:spPr>
          <a:xfrm flipV="1">
            <a:off x="6020941" y="1935867"/>
            <a:ext cx="2103337" cy="2928568"/>
          </a:xfrm>
          <a:prstGeom prst="straightConnector1">
            <a:avLst/>
          </a:prstGeom>
          <a:ln w="57150">
            <a:tailEnd type="stealth"/>
          </a:ln>
        </p:spPr>
        <p:style>
          <a:lnRef idx="2">
            <a:schemeClr val="accent1"/>
          </a:lnRef>
          <a:fillRef idx="0">
            <a:schemeClr val="accent1"/>
          </a:fillRef>
          <a:effectRef idx="1">
            <a:schemeClr val="accent1"/>
          </a:effectRef>
          <a:fontRef idx="minor">
            <a:schemeClr val="tx1"/>
          </a:fontRef>
        </p:style>
      </p:cxnSp>
      <p:sp>
        <p:nvSpPr>
          <p:cNvPr id="42" name="四角形: 角を丸くする 41">
            <a:extLst>
              <a:ext uri="{FF2B5EF4-FFF2-40B4-BE49-F238E27FC236}">
                <a16:creationId xmlns:a16="http://schemas.microsoft.com/office/drawing/2014/main" id="{EF6F9892-8246-43CC-E274-DC5502FA4B1D}"/>
              </a:ext>
            </a:extLst>
          </p:cNvPr>
          <p:cNvSpPr/>
          <p:nvPr/>
        </p:nvSpPr>
        <p:spPr>
          <a:xfrm>
            <a:off x="265712" y="3184848"/>
            <a:ext cx="1212980" cy="491412"/>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介護記録</a:t>
            </a:r>
          </a:p>
        </p:txBody>
      </p:sp>
      <p:pic>
        <p:nvPicPr>
          <p:cNvPr id="44" name="Picture 15" descr="PE01729_">
            <a:extLst>
              <a:ext uri="{FF2B5EF4-FFF2-40B4-BE49-F238E27FC236}">
                <a16:creationId xmlns:a16="http://schemas.microsoft.com/office/drawing/2014/main" id="{0929C98B-62EF-26FC-C5A0-8EA68090000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07861" y="3378482"/>
            <a:ext cx="898422" cy="951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テキスト ボックス 44">
            <a:extLst>
              <a:ext uri="{FF2B5EF4-FFF2-40B4-BE49-F238E27FC236}">
                <a16:creationId xmlns:a16="http://schemas.microsoft.com/office/drawing/2014/main" id="{728C0FEC-2C9E-2F9E-9020-C7F4A184259A}"/>
              </a:ext>
            </a:extLst>
          </p:cNvPr>
          <p:cNvSpPr txBox="1"/>
          <p:nvPr/>
        </p:nvSpPr>
        <p:spPr>
          <a:xfrm>
            <a:off x="7774606" y="4347412"/>
            <a:ext cx="3877985" cy="369332"/>
          </a:xfrm>
          <a:prstGeom prst="rect">
            <a:avLst/>
          </a:prstGeom>
          <a:noFill/>
        </p:spPr>
        <p:txBody>
          <a:bodyPr wrap="none" rtlCol="0">
            <a:spAutoFit/>
          </a:bodyPr>
          <a:lstStyle/>
          <a:p>
            <a:r>
              <a:rPr lang="ja-JP" altLang="en-US" dirty="0"/>
              <a:t>データ分析者（データアナリスト）</a:t>
            </a:r>
            <a:endParaRPr kumimoji="1" lang="ja-JP" altLang="en-US" dirty="0"/>
          </a:p>
        </p:txBody>
      </p:sp>
      <p:sp>
        <p:nvSpPr>
          <p:cNvPr id="46" name="矢印: 下 45">
            <a:extLst>
              <a:ext uri="{FF2B5EF4-FFF2-40B4-BE49-F238E27FC236}">
                <a16:creationId xmlns:a16="http://schemas.microsoft.com/office/drawing/2014/main" id="{31BA7A27-88A5-8965-0BBE-9D023F741188}"/>
              </a:ext>
            </a:extLst>
          </p:cNvPr>
          <p:cNvSpPr/>
          <p:nvPr/>
        </p:nvSpPr>
        <p:spPr>
          <a:xfrm>
            <a:off x="8751948" y="2277121"/>
            <a:ext cx="271176" cy="139913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矢印: 下 46">
            <a:extLst>
              <a:ext uri="{FF2B5EF4-FFF2-40B4-BE49-F238E27FC236}">
                <a16:creationId xmlns:a16="http://schemas.microsoft.com/office/drawing/2014/main" id="{C5B59655-187B-6C0E-E405-8488C02BD3CD}"/>
              </a:ext>
            </a:extLst>
          </p:cNvPr>
          <p:cNvSpPr/>
          <p:nvPr/>
        </p:nvSpPr>
        <p:spPr>
          <a:xfrm>
            <a:off x="10506165" y="2247549"/>
            <a:ext cx="271176" cy="139913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四角形: 角を丸くする 42">
            <a:extLst>
              <a:ext uri="{FF2B5EF4-FFF2-40B4-BE49-F238E27FC236}">
                <a16:creationId xmlns:a16="http://schemas.microsoft.com/office/drawing/2014/main" id="{9A0EFBAD-31AB-5358-0FF1-BB66E3019008}"/>
              </a:ext>
            </a:extLst>
          </p:cNvPr>
          <p:cNvSpPr/>
          <p:nvPr/>
        </p:nvSpPr>
        <p:spPr>
          <a:xfrm>
            <a:off x="9860520" y="2525486"/>
            <a:ext cx="1375433" cy="491412"/>
          </a:xfrm>
          <a:prstGeom prst="round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ETL</a:t>
            </a:r>
            <a:r>
              <a:rPr kumimoji="1" lang="ja-JP" altLang="en-US" dirty="0"/>
              <a:t>ツール</a:t>
            </a:r>
          </a:p>
        </p:txBody>
      </p:sp>
      <p:sp>
        <p:nvSpPr>
          <p:cNvPr id="48" name="テキスト ボックス 47">
            <a:extLst>
              <a:ext uri="{FF2B5EF4-FFF2-40B4-BE49-F238E27FC236}">
                <a16:creationId xmlns:a16="http://schemas.microsoft.com/office/drawing/2014/main" id="{2B5FD518-39F7-56F2-5FDC-89F8527B6E8F}"/>
              </a:ext>
            </a:extLst>
          </p:cNvPr>
          <p:cNvSpPr txBox="1"/>
          <p:nvPr/>
        </p:nvSpPr>
        <p:spPr>
          <a:xfrm>
            <a:off x="5703060" y="719335"/>
            <a:ext cx="1569660" cy="646331"/>
          </a:xfrm>
          <a:prstGeom prst="rect">
            <a:avLst/>
          </a:prstGeom>
          <a:noFill/>
        </p:spPr>
        <p:txBody>
          <a:bodyPr wrap="none" rtlCol="0">
            <a:spAutoFit/>
          </a:bodyPr>
          <a:lstStyle/>
          <a:p>
            <a:r>
              <a:rPr kumimoji="1" lang="ja-JP" altLang="en-US" dirty="0"/>
              <a:t>現場ユーザー</a:t>
            </a:r>
            <a:endParaRPr kumimoji="1" lang="en-US" altLang="ja-JP" dirty="0"/>
          </a:p>
          <a:p>
            <a:r>
              <a:rPr lang="ja-JP" altLang="en-US" dirty="0"/>
              <a:t>（</a:t>
            </a:r>
            <a:r>
              <a:rPr lang="en-US" altLang="ja-JP" dirty="0"/>
              <a:t>CMC</a:t>
            </a:r>
            <a:r>
              <a:rPr lang="ja-JP" altLang="en-US" dirty="0"/>
              <a:t>）</a:t>
            </a:r>
            <a:endParaRPr kumimoji="1" lang="ja-JP" altLang="en-US" dirty="0"/>
          </a:p>
        </p:txBody>
      </p:sp>
      <p:sp>
        <p:nvSpPr>
          <p:cNvPr id="49" name="楕円 48">
            <a:extLst>
              <a:ext uri="{FF2B5EF4-FFF2-40B4-BE49-F238E27FC236}">
                <a16:creationId xmlns:a16="http://schemas.microsoft.com/office/drawing/2014/main" id="{B20F0264-75A9-E643-C8A4-670620E1CF99}"/>
              </a:ext>
            </a:extLst>
          </p:cNvPr>
          <p:cNvSpPr/>
          <p:nvPr/>
        </p:nvSpPr>
        <p:spPr>
          <a:xfrm>
            <a:off x="6998631" y="5241334"/>
            <a:ext cx="4945225" cy="1024413"/>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AI</a:t>
            </a:r>
            <a:r>
              <a:rPr kumimoji="1" lang="ja-JP" altLang="en-US" dirty="0"/>
              <a:t>ライブラリ</a:t>
            </a:r>
            <a:endParaRPr kumimoji="1" lang="en-US" altLang="ja-JP" dirty="0"/>
          </a:p>
          <a:p>
            <a:pPr algn="ctr"/>
            <a:r>
              <a:rPr lang="ja-JP" altLang="en-US" dirty="0"/>
              <a:t>（機械学習・統計モジュール）</a:t>
            </a:r>
            <a:endParaRPr lang="en-US" altLang="ja-JP" dirty="0"/>
          </a:p>
          <a:p>
            <a:pPr algn="ctr"/>
            <a:r>
              <a:rPr kumimoji="1" lang="ja-JP" altLang="en-US" dirty="0"/>
              <a:t>（自然言語</a:t>
            </a:r>
            <a:r>
              <a:rPr kumimoji="1" lang="en-US" altLang="ja-JP" dirty="0"/>
              <a:t>AI)</a:t>
            </a:r>
          </a:p>
        </p:txBody>
      </p:sp>
      <p:cxnSp>
        <p:nvCxnSpPr>
          <p:cNvPr id="51" name="コネクタ: カギ線 50">
            <a:extLst>
              <a:ext uri="{FF2B5EF4-FFF2-40B4-BE49-F238E27FC236}">
                <a16:creationId xmlns:a16="http://schemas.microsoft.com/office/drawing/2014/main" id="{1A656E7B-9BEE-9D25-79D8-54C473AD3F8D}"/>
              </a:ext>
            </a:extLst>
          </p:cNvPr>
          <p:cNvCxnSpPr/>
          <p:nvPr/>
        </p:nvCxnSpPr>
        <p:spPr>
          <a:xfrm>
            <a:off x="4267419" y="5532134"/>
            <a:ext cx="2804427" cy="504772"/>
          </a:xfrm>
          <a:prstGeom prst="bentConnector3">
            <a:avLst>
              <a:gd name="adj1" fmla="val -572"/>
            </a:avLst>
          </a:prstGeom>
          <a:ln w="57150">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3" name="テキスト ボックス 52">
            <a:extLst>
              <a:ext uri="{FF2B5EF4-FFF2-40B4-BE49-F238E27FC236}">
                <a16:creationId xmlns:a16="http://schemas.microsoft.com/office/drawing/2014/main" id="{F3D9BCD3-3052-5FF3-7DB3-0933B97B9FA2}"/>
              </a:ext>
            </a:extLst>
          </p:cNvPr>
          <p:cNvSpPr txBox="1"/>
          <p:nvPr/>
        </p:nvSpPr>
        <p:spPr>
          <a:xfrm>
            <a:off x="6226793" y="6219107"/>
            <a:ext cx="1107996" cy="369332"/>
          </a:xfrm>
          <a:prstGeom prst="rect">
            <a:avLst/>
          </a:prstGeom>
          <a:noFill/>
        </p:spPr>
        <p:txBody>
          <a:bodyPr wrap="none" rtlCol="0">
            <a:spAutoFit/>
          </a:bodyPr>
          <a:lstStyle/>
          <a:p>
            <a:r>
              <a:rPr kumimoji="1" lang="ja-JP" altLang="en-US" dirty="0"/>
              <a:t>呼び出し</a:t>
            </a:r>
          </a:p>
        </p:txBody>
      </p:sp>
      <p:cxnSp>
        <p:nvCxnSpPr>
          <p:cNvPr id="55" name="コネクタ: カギ線 54">
            <a:extLst>
              <a:ext uri="{FF2B5EF4-FFF2-40B4-BE49-F238E27FC236}">
                <a16:creationId xmlns:a16="http://schemas.microsoft.com/office/drawing/2014/main" id="{5BDB2330-506D-E188-B889-E428547A51E6}"/>
              </a:ext>
            </a:extLst>
          </p:cNvPr>
          <p:cNvCxnSpPr>
            <a:stCxn id="43" idx="3"/>
          </p:cNvCxnSpPr>
          <p:nvPr/>
        </p:nvCxnSpPr>
        <p:spPr>
          <a:xfrm>
            <a:off x="11235953" y="2771192"/>
            <a:ext cx="520618" cy="2677887"/>
          </a:xfrm>
          <a:prstGeom prst="bentConnector2">
            <a:avLst/>
          </a:prstGeom>
          <a:ln w="57150">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6" name="テキスト ボックス 55">
            <a:extLst>
              <a:ext uri="{FF2B5EF4-FFF2-40B4-BE49-F238E27FC236}">
                <a16:creationId xmlns:a16="http://schemas.microsoft.com/office/drawing/2014/main" id="{A9061DED-EC1E-9F63-45C4-AD3CBA3AED82}"/>
              </a:ext>
            </a:extLst>
          </p:cNvPr>
          <p:cNvSpPr txBox="1"/>
          <p:nvPr/>
        </p:nvSpPr>
        <p:spPr>
          <a:xfrm>
            <a:off x="10681803" y="4905996"/>
            <a:ext cx="1107996" cy="369332"/>
          </a:xfrm>
          <a:prstGeom prst="rect">
            <a:avLst/>
          </a:prstGeom>
          <a:noFill/>
        </p:spPr>
        <p:txBody>
          <a:bodyPr wrap="none" rtlCol="0">
            <a:spAutoFit/>
          </a:bodyPr>
          <a:lstStyle/>
          <a:p>
            <a:r>
              <a:rPr kumimoji="1" lang="ja-JP" altLang="en-US" dirty="0"/>
              <a:t>呼び出し</a:t>
            </a:r>
          </a:p>
        </p:txBody>
      </p:sp>
      <p:sp>
        <p:nvSpPr>
          <p:cNvPr id="57" name="テキスト ボックス 56">
            <a:extLst>
              <a:ext uri="{FF2B5EF4-FFF2-40B4-BE49-F238E27FC236}">
                <a16:creationId xmlns:a16="http://schemas.microsoft.com/office/drawing/2014/main" id="{8E505B47-7E44-017C-2B2D-604A855D8F14}"/>
              </a:ext>
            </a:extLst>
          </p:cNvPr>
          <p:cNvSpPr txBox="1"/>
          <p:nvPr/>
        </p:nvSpPr>
        <p:spPr>
          <a:xfrm>
            <a:off x="8887536" y="193212"/>
            <a:ext cx="3137397" cy="369332"/>
          </a:xfrm>
          <a:prstGeom prst="rect">
            <a:avLst/>
          </a:prstGeom>
          <a:noFill/>
        </p:spPr>
        <p:txBody>
          <a:bodyPr wrap="none" rtlCol="0">
            <a:spAutoFit/>
          </a:bodyPr>
          <a:lstStyle/>
          <a:p>
            <a:r>
              <a:rPr kumimoji="1" lang="en-US" altLang="ja-JP" b="1" i="1" dirty="0"/>
              <a:t>Data Driven</a:t>
            </a:r>
            <a:r>
              <a:rPr kumimoji="1" lang="ja-JP" altLang="en-US" b="1" i="1" dirty="0"/>
              <a:t>な自由分析環境</a:t>
            </a:r>
          </a:p>
        </p:txBody>
      </p:sp>
      <p:sp>
        <p:nvSpPr>
          <p:cNvPr id="58" name="テキスト ボックス 57">
            <a:extLst>
              <a:ext uri="{FF2B5EF4-FFF2-40B4-BE49-F238E27FC236}">
                <a16:creationId xmlns:a16="http://schemas.microsoft.com/office/drawing/2014/main" id="{7BC5796C-FE82-662D-68D6-313AC3C77FB8}"/>
              </a:ext>
            </a:extLst>
          </p:cNvPr>
          <p:cNvSpPr txBox="1"/>
          <p:nvPr/>
        </p:nvSpPr>
        <p:spPr>
          <a:xfrm>
            <a:off x="7060853" y="3147736"/>
            <a:ext cx="2492990" cy="369332"/>
          </a:xfrm>
          <a:prstGeom prst="rect">
            <a:avLst/>
          </a:prstGeom>
          <a:noFill/>
        </p:spPr>
        <p:txBody>
          <a:bodyPr wrap="none" rtlCol="0">
            <a:spAutoFit/>
          </a:bodyPr>
          <a:lstStyle/>
          <a:p>
            <a:r>
              <a:rPr kumimoji="1" lang="ja-JP" altLang="en-US" i="1" dirty="0">
                <a:solidFill>
                  <a:srgbClr val="FF0000"/>
                </a:solidFill>
              </a:rPr>
              <a:t>シュミレーション機能</a:t>
            </a:r>
          </a:p>
        </p:txBody>
      </p:sp>
      <p:sp>
        <p:nvSpPr>
          <p:cNvPr id="59" name="矢印: 右 58">
            <a:extLst>
              <a:ext uri="{FF2B5EF4-FFF2-40B4-BE49-F238E27FC236}">
                <a16:creationId xmlns:a16="http://schemas.microsoft.com/office/drawing/2014/main" id="{F4C05AC9-FD88-74DF-0B1E-944579AC1B37}"/>
              </a:ext>
            </a:extLst>
          </p:cNvPr>
          <p:cNvSpPr/>
          <p:nvPr/>
        </p:nvSpPr>
        <p:spPr>
          <a:xfrm>
            <a:off x="1521271" y="3888709"/>
            <a:ext cx="1278294" cy="34523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86A089CC-4D35-546E-46B9-512AB63A04DD}"/>
              </a:ext>
            </a:extLst>
          </p:cNvPr>
          <p:cNvSpPr/>
          <p:nvPr/>
        </p:nvSpPr>
        <p:spPr>
          <a:xfrm>
            <a:off x="1521885" y="4456602"/>
            <a:ext cx="1278294" cy="34523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右 60">
            <a:extLst>
              <a:ext uri="{FF2B5EF4-FFF2-40B4-BE49-F238E27FC236}">
                <a16:creationId xmlns:a16="http://schemas.microsoft.com/office/drawing/2014/main" id="{286B6618-9E9F-D698-FCF2-37911674DEC3}"/>
              </a:ext>
            </a:extLst>
          </p:cNvPr>
          <p:cNvSpPr/>
          <p:nvPr/>
        </p:nvSpPr>
        <p:spPr>
          <a:xfrm>
            <a:off x="1513708" y="4944528"/>
            <a:ext cx="1278294" cy="34523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652926EA-75DE-C9E8-3F6D-1E6BBEA008FB}"/>
              </a:ext>
            </a:extLst>
          </p:cNvPr>
          <p:cNvSpPr txBox="1"/>
          <p:nvPr/>
        </p:nvSpPr>
        <p:spPr>
          <a:xfrm>
            <a:off x="1913568" y="3314073"/>
            <a:ext cx="461665" cy="1889300"/>
          </a:xfrm>
          <a:prstGeom prst="rect">
            <a:avLst/>
          </a:prstGeom>
          <a:solidFill>
            <a:schemeClr val="bg1">
              <a:lumMod val="85000"/>
            </a:schemeClr>
          </a:solidFill>
        </p:spPr>
        <p:txBody>
          <a:bodyPr vert="eaVert" wrap="none" rtlCol="0">
            <a:spAutoFit/>
          </a:bodyPr>
          <a:lstStyle/>
          <a:p>
            <a:r>
              <a:rPr kumimoji="1" lang="en-US" altLang="ja-JP" dirty="0" err="1"/>
              <a:t>Data_connection</a:t>
            </a:r>
            <a:endParaRPr kumimoji="1" lang="ja-JP" altLang="en-US" dirty="0"/>
          </a:p>
        </p:txBody>
      </p:sp>
      <p:grpSp>
        <p:nvGrpSpPr>
          <p:cNvPr id="64" name="グループ化 63">
            <a:extLst>
              <a:ext uri="{FF2B5EF4-FFF2-40B4-BE49-F238E27FC236}">
                <a16:creationId xmlns:a16="http://schemas.microsoft.com/office/drawing/2014/main" id="{5B5B7562-AA8D-BC00-023C-0E07137ED3A8}"/>
              </a:ext>
            </a:extLst>
          </p:cNvPr>
          <p:cNvGrpSpPr/>
          <p:nvPr/>
        </p:nvGrpSpPr>
        <p:grpSpPr>
          <a:xfrm>
            <a:off x="188870" y="2172688"/>
            <a:ext cx="1120967" cy="1100650"/>
            <a:chOff x="209316" y="1660849"/>
            <a:chExt cx="1120967" cy="1100650"/>
          </a:xfrm>
        </p:grpSpPr>
        <p:pic>
          <p:nvPicPr>
            <p:cNvPr id="63" name="図 62">
              <a:extLst>
                <a:ext uri="{FF2B5EF4-FFF2-40B4-BE49-F238E27FC236}">
                  <a16:creationId xmlns:a16="http://schemas.microsoft.com/office/drawing/2014/main" id="{2FA00AB5-B925-DBB6-4964-7DA79CB24D5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9316" y="1660849"/>
              <a:ext cx="1120967" cy="1100650"/>
            </a:xfrm>
            <a:prstGeom prst="rect">
              <a:avLst/>
            </a:prstGeom>
          </p:spPr>
        </p:pic>
        <p:sp>
          <p:nvSpPr>
            <p:cNvPr id="62" name="テキスト ボックス 61">
              <a:extLst>
                <a:ext uri="{FF2B5EF4-FFF2-40B4-BE49-F238E27FC236}">
                  <a16:creationId xmlns:a16="http://schemas.microsoft.com/office/drawing/2014/main" id="{D3326D3C-7488-1424-39F2-7D9E8404AE7E}"/>
                </a:ext>
              </a:extLst>
            </p:cNvPr>
            <p:cNvSpPr txBox="1"/>
            <p:nvPr/>
          </p:nvSpPr>
          <p:spPr>
            <a:xfrm>
              <a:off x="391601" y="2061447"/>
              <a:ext cx="692818" cy="369332"/>
            </a:xfrm>
            <a:prstGeom prst="rect">
              <a:avLst/>
            </a:prstGeom>
            <a:noFill/>
          </p:spPr>
          <p:txBody>
            <a:bodyPr wrap="none" rtlCol="0">
              <a:spAutoFit/>
            </a:bodyPr>
            <a:lstStyle/>
            <a:p>
              <a:r>
                <a:rPr kumimoji="1" lang="en-US" altLang="ja-JP" dirty="0">
                  <a:solidFill>
                    <a:schemeClr val="bg1"/>
                  </a:solidFill>
                </a:rPr>
                <a:t>AWS</a:t>
              </a:r>
              <a:endParaRPr kumimoji="1" lang="ja-JP" altLang="en-US" dirty="0">
                <a:solidFill>
                  <a:schemeClr val="bg1"/>
                </a:solidFill>
              </a:endParaRPr>
            </a:p>
          </p:txBody>
        </p:sp>
      </p:grpSp>
      <p:sp>
        <p:nvSpPr>
          <p:cNvPr id="2" name="矢印: 右 1">
            <a:extLst>
              <a:ext uri="{FF2B5EF4-FFF2-40B4-BE49-F238E27FC236}">
                <a16:creationId xmlns:a16="http://schemas.microsoft.com/office/drawing/2014/main" id="{2A1312E5-8A33-8ED6-DB79-0C1DDC0EF368}"/>
              </a:ext>
            </a:extLst>
          </p:cNvPr>
          <p:cNvSpPr/>
          <p:nvPr/>
        </p:nvSpPr>
        <p:spPr>
          <a:xfrm>
            <a:off x="3733474" y="4629218"/>
            <a:ext cx="271929" cy="4478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矢印: 右 2">
            <a:extLst>
              <a:ext uri="{FF2B5EF4-FFF2-40B4-BE49-F238E27FC236}">
                <a16:creationId xmlns:a16="http://schemas.microsoft.com/office/drawing/2014/main" id="{79694DF4-AB42-D7B6-185A-663587780319}"/>
              </a:ext>
            </a:extLst>
          </p:cNvPr>
          <p:cNvSpPr/>
          <p:nvPr/>
        </p:nvSpPr>
        <p:spPr>
          <a:xfrm>
            <a:off x="4927193" y="4667693"/>
            <a:ext cx="271929" cy="4478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357637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D7A4AC22-5C79-8460-78E4-79D0E3EFB285}"/>
              </a:ext>
            </a:extLst>
          </p:cNvPr>
          <p:cNvSpPr/>
          <p:nvPr/>
        </p:nvSpPr>
        <p:spPr>
          <a:xfrm>
            <a:off x="653143" y="3545633"/>
            <a:ext cx="9088016" cy="3200400"/>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77C39392-A1FF-BE0A-43C6-B96F2997802E}"/>
              </a:ext>
            </a:extLst>
          </p:cNvPr>
          <p:cNvSpPr txBox="1"/>
          <p:nvPr/>
        </p:nvSpPr>
        <p:spPr>
          <a:xfrm>
            <a:off x="-363893" y="1182231"/>
            <a:ext cx="12456366" cy="2246769"/>
          </a:xfrm>
          <a:prstGeom prst="rect">
            <a:avLst/>
          </a:prstGeom>
          <a:noFill/>
        </p:spPr>
        <p:txBody>
          <a:bodyPr wrap="square">
            <a:spAutoFit/>
          </a:bodyPr>
          <a:lstStyle/>
          <a:p>
            <a:pPr marL="180340" indent="139700" algn="just"/>
            <a:r>
              <a:rPr lang="ja-JP" altLang="ja-JP" sz="2000" kern="100" dirty="0">
                <a:effectLst/>
                <a:latin typeface="游明朝" panose="02020400000000000000" pitchFamily="18" charset="-128"/>
                <a:ea typeface="游明朝" panose="02020400000000000000" pitchFamily="18" charset="-128"/>
                <a:cs typeface="Times New Roman" panose="02020603050405020304" pitchFamily="18" charset="0"/>
              </a:rPr>
              <a:t>今回のリプレイスは、単なるシステムの入れ替えに留まらず、以下の実現を目指す好機と捉えております。</a:t>
            </a:r>
          </a:p>
          <a:p>
            <a:pPr marL="742950" lvl="1" indent="-285750" algn="just">
              <a:buFont typeface="Wingdings" panose="05000000000000000000" pitchFamily="2" charset="2"/>
              <a:buChar char=""/>
              <a:tabLst>
                <a:tab pos="450215" algn="l"/>
              </a:tabLst>
            </a:pPr>
            <a:r>
              <a:rPr lang="ja-JP" altLang="ja-JP" sz="2000" b="1" kern="100" dirty="0">
                <a:effectLst/>
                <a:latin typeface="游明朝" panose="02020400000000000000" pitchFamily="18" charset="-128"/>
                <a:ea typeface="游明朝" panose="02020400000000000000" pitchFamily="18" charset="-128"/>
                <a:cs typeface="Times New Roman" panose="02020603050405020304" pitchFamily="18" charset="0"/>
              </a:rPr>
              <a:t>コストの最適化</a:t>
            </a:r>
            <a:r>
              <a:rPr lang="en-US" altLang="ja-JP" sz="2000" b="1" kern="100" dirty="0">
                <a:effectLst/>
                <a:latin typeface="游明朝" panose="02020400000000000000" pitchFamily="18" charset="-128"/>
                <a:ea typeface="游明朝" panose="02020400000000000000" pitchFamily="18" charset="-128"/>
                <a:cs typeface="Times New Roman" panose="02020603050405020304" pitchFamily="18" charset="0"/>
              </a:rPr>
              <a:t>: </a:t>
            </a:r>
            <a:r>
              <a:rPr lang="ja-JP" altLang="ja-JP" sz="2000" kern="100" dirty="0">
                <a:effectLst/>
                <a:latin typeface="游明朝" panose="02020400000000000000" pitchFamily="18" charset="-128"/>
                <a:ea typeface="游明朝" panose="02020400000000000000" pitchFamily="18" charset="-128"/>
                <a:cs typeface="Times New Roman" panose="02020603050405020304" pitchFamily="18" charset="0"/>
              </a:rPr>
              <a:t>当社の事業規模や利用実態に見合った、費用対効果の高い環境の構築</a:t>
            </a:r>
          </a:p>
          <a:p>
            <a:pPr marL="742950" lvl="1" indent="-285750" algn="just">
              <a:buFont typeface="Wingdings" panose="05000000000000000000" pitchFamily="2" charset="2"/>
              <a:buChar char=""/>
              <a:tabLst>
                <a:tab pos="450215" algn="l"/>
              </a:tabLst>
            </a:pPr>
            <a:r>
              <a:rPr lang="ja-JP" altLang="ja-JP" sz="2000" b="1" kern="100" dirty="0">
                <a:effectLst/>
                <a:latin typeface="游明朝" panose="02020400000000000000" pitchFamily="18" charset="-128"/>
                <a:ea typeface="游明朝" panose="02020400000000000000" pitchFamily="18" charset="-128"/>
                <a:cs typeface="Times New Roman" panose="02020603050405020304" pitchFamily="18" charset="0"/>
              </a:rPr>
              <a:t>業務の効率化</a:t>
            </a:r>
            <a:r>
              <a:rPr lang="en-US" altLang="ja-JP" sz="2000" b="1" kern="100" dirty="0">
                <a:effectLst/>
                <a:latin typeface="游明朝" panose="02020400000000000000" pitchFamily="18" charset="-128"/>
                <a:ea typeface="游明朝" panose="02020400000000000000" pitchFamily="18" charset="-128"/>
                <a:cs typeface="Times New Roman" panose="02020603050405020304" pitchFamily="18" charset="0"/>
              </a:rPr>
              <a:t>: </a:t>
            </a:r>
            <a:r>
              <a:rPr lang="ja-JP" altLang="ja-JP" sz="2000" kern="100" dirty="0">
                <a:effectLst/>
                <a:latin typeface="游明朝" panose="02020400000000000000" pitchFamily="18" charset="-128"/>
                <a:ea typeface="游明朝" panose="02020400000000000000" pitchFamily="18" charset="-128"/>
                <a:cs typeface="Times New Roman" panose="02020603050405020304" pitchFamily="18" charset="0"/>
              </a:rPr>
              <a:t>現場スタッフから経営層まで、各利用者が直感的かつ効率的にデータを活用できる環境の実現</a:t>
            </a:r>
          </a:p>
          <a:p>
            <a:pPr marL="742950" lvl="1" indent="-285750" algn="just">
              <a:buFont typeface="Wingdings" panose="05000000000000000000" pitchFamily="2" charset="2"/>
              <a:buChar char=""/>
              <a:tabLst>
                <a:tab pos="450215" algn="l"/>
              </a:tabLst>
            </a:pPr>
            <a:r>
              <a:rPr lang="ja-JP" altLang="ja-JP" sz="2000" b="1" kern="100" dirty="0">
                <a:effectLst/>
                <a:latin typeface="游明朝" panose="02020400000000000000" pitchFamily="18" charset="-128"/>
                <a:ea typeface="游明朝" panose="02020400000000000000" pitchFamily="18" charset="-128"/>
                <a:cs typeface="Times New Roman" panose="02020603050405020304" pitchFamily="18" charset="0"/>
              </a:rPr>
              <a:t>データ活用の深化</a:t>
            </a:r>
            <a:r>
              <a:rPr lang="en-US" altLang="ja-JP" sz="2000" b="1" kern="100" dirty="0">
                <a:effectLst/>
                <a:latin typeface="游明朝" panose="02020400000000000000" pitchFamily="18" charset="-128"/>
                <a:ea typeface="游明朝" panose="02020400000000000000" pitchFamily="18" charset="-128"/>
                <a:cs typeface="Times New Roman" panose="02020603050405020304" pitchFamily="18" charset="0"/>
              </a:rPr>
              <a:t>: </a:t>
            </a:r>
            <a:r>
              <a:rPr lang="ja-JP" altLang="ja-JP" sz="2000" kern="100" dirty="0">
                <a:effectLst/>
                <a:latin typeface="游明朝" panose="02020400000000000000" pitchFamily="18" charset="-128"/>
                <a:ea typeface="游明朝" panose="02020400000000000000" pitchFamily="18" charset="-128"/>
                <a:cs typeface="Times New Roman" panose="02020603050405020304" pitchFamily="18" charset="0"/>
              </a:rPr>
              <a:t>定型レポートの確認に留まらず、利用者が自ら仮説検証を行える分析環境を整備し、</a:t>
            </a:r>
            <a:r>
              <a:rPr lang="ja-JP" altLang="ja-JP" sz="2000" kern="100" dirty="0">
                <a:solidFill>
                  <a:srgbClr val="FF0000"/>
                </a:solidFill>
                <a:effectLst/>
                <a:latin typeface="游明朝" panose="02020400000000000000" pitchFamily="18" charset="-128"/>
                <a:ea typeface="游明朝" panose="02020400000000000000" pitchFamily="18" charset="-128"/>
                <a:cs typeface="Times New Roman" panose="02020603050405020304" pitchFamily="18" charset="0"/>
              </a:rPr>
              <a:t>データドリブンな意思決定を促進</a:t>
            </a:r>
            <a:r>
              <a:rPr lang="ja-JP" altLang="ja-JP" sz="2000" kern="100" dirty="0">
                <a:effectLst/>
                <a:latin typeface="游明朝" panose="02020400000000000000" pitchFamily="18" charset="-128"/>
                <a:ea typeface="游明朝" panose="02020400000000000000" pitchFamily="18" charset="-128"/>
                <a:cs typeface="Times New Roman" panose="02020603050405020304" pitchFamily="18" charset="0"/>
              </a:rPr>
              <a:t>すること</a:t>
            </a:r>
          </a:p>
          <a:p>
            <a:pPr marL="742950" lvl="1" indent="-285750" algn="just">
              <a:buFont typeface="Wingdings" panose="05000000000000000000" pitchFamily="2" charset="2"/>
              <a:buChar char=""/>
              <a:tabLst>
                <a:tab pos="450215" algn="l"/>
              </a:tabLst>
            </a:pPr>
            <a:r>
              <a:rPr lang="ja-JP" altLang="ja-JP" sz="2000" b="1" kern="100" dirty="0">
                <a:effectLst/>
                <a:latin typeface="游明朝" panose="02020400000000000000" pitchFamily="18" charset="-128"/>
                <a:ea typeface="游明朝" panose="02020400000000000000" pitchFamily="18" charset="-128"/>
                <a:cs typeface="Times New Roman" panose="02020603050405020304" pitchFamily="18" charset="0"/>
              </a:rPr>
              <a:t>将来性・拡張性の確保</a:t>
            </a:r>
            <a:r>
              <a:rPr lang="en-US" altLang="ja-JP" sz="2000" b="1" kern="100" dirty="0">
                <a:effectLst/>
                <a:latin typeface="游明朝" panose="02020400000000000000" pitchFamily="18" charset="-128"/>
                <a:ea typeface="游明朝" panose="02020400000000000000" pitchFamily="18" charset="-128"/>
                <a:cs typeface="Times New Roman" panose="02020603050405020304" pitchFamily="18" charset="0"/>
              </a:rPr>
              <a:t>: </a:t>
            </a:r>
            <a:r>
              <a:rPr lang="ja-JP" altLang="ja-JP" sz="2000" kern="100" dirty="0">
                <a:effectLst/>
                <a:latin typeface="游明朝" panose="02020400000000000000" pitchFamily="18" charset="-128"/>
                <a:ea typeface="游明朝" panose="02020400000000000000" pitchFamily="18" charset="-128"/>
                <a:cs typeface="Times New Roman" panose="02020603050405020304" pitchFamily="18" charset="0"/>
              </a:rPr>
              <a:t>今後の事業成長やデータ活用の高度化にも柔軟に対応できる基盤の選定</a:t>
            </a:r>
          </a:p>
        </p:txBody>
      </p:sp>
      <p:sp>
        <p:nvSpPr>
          <p:cNvPr id="4" name="テキスト ボックス 3">
            <a:extLst>
              <a:ext uri="{FF2B5EF4-FFF2-40B4-BE49-F238E27FC236}">
                <a16:creationId xmlns:a16="http://schemas.microsoft.com/office/drawing/2014/main" id="{224CEE43-842E-80B8-F65D-511EA150F2B5}"/>
              </a:ext>
            </a:extLst>
          </p:cNvPr>
          <p:cNvSpPr txBox="1"/>
          <p:nvPr/>
        </p:nvSpPr>
        <p:spPr>
          <a:xfrm>
            <a:off x="0" y="94079"/>
            <a:ext cx="7481535" cy="461665"/>
          </a:xfrm>
          <a:prstGeom prst="rect">
            <a:avLst/>
          </a:prstGeom>
          <a:noFill/>
        </p:spPr>
        <p:txBody>
          <a:bodyPr wrap="none" rtlCol="0">
            <a:spAutoFit/>
          </a:bodyPr>
          <a:lstStyle/>
          <a:p>
            <a:r>
              <a:rPr kumimoji="1" lang="ja-JP" altLang="en-US" sz="2400" dirty="0"/>
              <a:t>＜</a:t>
            </a:r>
            <a:r>
              <a:rPr kumimoji="1" lang="en-US" altLang="ja-JP" sz="2400" dirty="0"/>
              <a:t>3.1.1  2)</a:t>
            </a:r>
            <a:r>
              <a:rPr kumimoji="1" lang="ja-JP" altLang="en-US" sz="2400" dirty="0"/>
              <a:t>分析環境の目的＞　　システムコンセプト</a:t>
            </a:r>
          </a:p>
        </p:txBody>
      </p:sp>
      <p:sp>
        <p:nvSpPr>
          <p:cNvPr id="5" name="テキスト ボックス 4">
            <a:extLst>
              <a:ext uri="{FF2B5EF4-FFF2-40B4-BE49-F238E27FC236}">
                <a16:creationId xmlns:a16="http://schemas.microsoft.com/office/drawing/2014/main" id="{B2439EA4-35B1-B48C-DB2E-19507338FB9A}"/>
              </a:ext>
            </a:extLst>
          </p:cNvPr>
          <p:cNvSpPr txBox="1"/>
          <p:nvPr/>
        </p:nvSpPr>
        <p:spPr>
          <a:xfrm>
            <a:off x="7147249" y="593267"/>
            <a:ext cx="1008609" cy="369332"/>
          </a:xfrm>
          <a:prstGeom prst="rect">
            <a:avLst/>
          </a:prstGeom>
          <a:solidFill>
            <a:schemeClr val="accent2">
              <a:lumMod val="20000"/>
              <a:lumOff val="80000"/>
            </a:schemeClr>
          </a:solidFill>
        </p:spPr>
        <p:txBody>
          <a:bodyPr wrap="none" rtlCol="0">
            <a:spAutoFit/>
          </a:bodyPr>
          <a:lstStyle/>
          <a:p>
            <a:r>
              <a:rPr kumimoji="1" lang="en-US" altLang="ja-JP" dirty="0"/>
              <a:t>RFI</a:t>
            </a:r>
            <a:r>
              <a:rPr kumimoji="1" lang="ja-JP" altLang="en-US" dirty="0"/>
              <a:t>より</a:t>
            </a:r>
          </a:p>
        </p:txBody>
      </p:sp>
      <p:sp>
        <p:nvSpPr>
          <p:cNvPr id="2" name="テキスト ボックス 1">
            <a:extLst>
              <a:ext uri="{FF2B5EF4-FFF2-40B4-BE49-F238E27FC236}">
                <a16:creationId xmlns:a16="http://schemas.microsoft.com/office/drawing/2014/main" id="{15394121-B525-9917-8314-12E97C0BD0C9}"/>
              </a:ext>
            </a:extLst>
          </p:cNvPr>
          <p:cNvSpPr txBox="1"/>
          <p:nvPr/>
        </p:nvSpPr>
        <p:spPr>
          <a:xfrm>
            <a:off x="970384" y="3770793"/>
            <a:ext cx="5724644" cy="646331"/>
          </a:xfrm>
          <a:prstGeom prst="rect">
            <a:avLst/>
          </a:prstGeom>
          <a:noFill/>
        </p:spPr>
        <p:txBody>
          <a:bodyPr wrap="none" rtlCol="0">
            <a:spAutoFit/>
          </a:bodyPr>
          <a:lstStyle/>
          <a:p>
            <a:r>
              <a:rPr kumimoji="1" lang="ja-JP" altLang="en-US" dirty="0"/>
              <a:t>なぜ今　新分析システムを作る必要があるのか？</a:t>
            </a:r>
            <a:endParaRPr kumimoji="1" lang="en-US" altLang="ja-JP" dirty="0"/>
          </a:p>
          <a:p>
            <a:r>
              <a:rPr kumimoji="1" lang="ja-JP" altLang="en-US" dirty="0"/>
              <a:t>この中でも、優先順位をつける？（例：コスト重視）</a:t>
            </a:r>
          </a:p>
        </p:txBody>
      </p:sp>
      <p:sp>
        <p:nvSpPr>
          <p:cNvPr id="6" name="テキスト ボックス 5">
            <a:extLst>
              <a:ext uri="{FF2B5EF4-FFF2-40B4-BE49-F238E27FC236}">
                <a16:creationId xmlns:a16="http://schemas.microsoft.com/office/drawing/2014/main" id="{CB5D637C-99C0-0D1B-62EB-8C3084996910}"/>
              </a:ext>
            </a:extLst>
          </p:cNvPr>
          <p:cNvSpPr txBox="1"/>
          <p:nvPr/>
        </p:nvSpPr>
        <p:spPr>
          <a:xfrm>
            <a:off x="970384" y="4798606"/>
            <a:ext cx="9187130" cy="1754326"/>
          </a:xfrm>
          <a:prstGeom prst="rect">
            <a:avLst/>
          </a:prstGeom>
          <a:noFill/>
        </p:spPr>
        <p:txBody>
          <a:bodyPr wrap="none" rtlCol="0">
            <a:spAutoFit/>
          </a:bodyPr>
          <a:lstStyle/>
          <a:p>
            <a:r>
              <a:rPr kumimoji="1" lang="ja-JP" altLang="en-US" dirty="0"/>
              <a:t>データドリブンな自由分析を誰がやるのか？</a:t>
            </a:r>
            <a:endParaRPr kumimoji="1" lang="en-US" altLang="ja-JP" dirty="0"/>
          </a:p>
          <a:p>
            <a:r>
              <a:rPr lang="ja-JP" altLang="en-US" dirty="0"/>
              <a:t>（ユーザーが主体的にするのか、現行通り、プログラマが分析する。）</a:t>
            </a:r>
            <a:endParaRPr lang="en-US" altLang="ja-JP" dirty="0"/>
          </a:p>
          <a:p>
            <a:r>
              <a:rPr kumimoji="1" lang="en-US" altLang="ja-JP" dirty="0" err="1"/>
              <a:t>planA</a:t>
            </a:r>
            <a:r>
              <a:rPr kumimoji="1" lang="en-US" altLang="ja-JP" dirty="0"/>
              <a:t>   </a:t>
            </a:r>
            <a:r>
              <a:rPr kumimoji="1" lang="ja-JP" altLang="en-US" dirty="0"/>
              <a:t>現行通り（プログラマが分析）</a:t>
            </a:r>
            <a:endParaRPr kumimoji="1" lang="en-US" altLang="ja-JP" dirty="0"/>
          </a:p>
          <a:p>
            <a:r>
              <a:rPr lang="en-US" altLang="ja-JP" dirty="0" err="1"/>
              <a:t>planB</a:t>
            </a:r>
            <a:r>
              <a:rPr lang="en-US" altLang="ja-JP" dirty="0"/>
              <a:t>   </a:t>
            </a:r>
            <a:r>
              <a:rPr lang="ja-JP" altLang="en-US" dirty="0"/>
              <a:t>ユーザーが主体的に分析</a:t>
            </a:r>
            <a:endParaRPr lang="en-US" altLang="ja-JP" dirty="0"/>
          </a:p>
          <a:p>
            <a:r>
              <a:rPr kumimoji="1" lang="ja-JP" altLang="en-US" dirty="0"/>
              <a:t>　　　　一部のユーザーのみ。</a:t>
            </a:r>
            <a:endParaRPr kumimoji="1" lang="en-US" altLang="ja-JP" dirty="0"/>
          </a:p>
          <a:p>
            <a:r>
              <a:rPr lang="ja-JP" altLang="en-US" dirty="0"/>
              <a:t>　　　　ノーコードツールはまだ早い？また、今後教育していく。（会社の方針は？）</a:t>
            </a:r>
            <a:endParaRPr kumimoji="1" lang="ja-JP" altLang="en-US" dirty="0"/>
          </a:p>
        </p:txBody>
      </p:sp>
    </p:spTree>
    <p:extLst>
      <p:ext uri="{BB962C8B-B14F-4D97-AF65-F5344CB8AC3E}">
        <p14:creationId xmlns:p14="http://schemas.microsoft.com/office/powerpoint/2010/main" val="13652938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4C449-AB0E-F8A6-8F3B-EB46B26C87F3}"/>
            </a:ext>
          </a:extLst>
        </p:cNvPr>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0E11F3CE-C47A-F03F-AF19-77F437B222F9}"/>
              </a:ext>
            </a:extLst>
          </p:cNvPr>
          <p:cNvSpPr txBox="1"/>
          <p:nvPr/>
        </p:nvSpPr>
        <p:spPr>
          <a:xfrm>
            <a:off x="146957" y="174563"/>
            <a:ext cx="9920774" cy="461665"/>
          </a:xfrm>
          <a:prstGeom prst="rect">
            <a:avLst/>
          </a:prstGeom>
          <a:noFill/>
        </p:spPr>
        <p:txBody>
          <a:bodyPr wrap="square">
            <a:spAutoFit/>
          </a:bodyPr>
          <a:lstStyle/>
          <a:p>
            <a:r>
              <a:rPr kumimoji="1" lang="ja-JP" altLang="en-US" sz="2400" dirty="0"/>
              <a:t>＜</a:t>
            </a:r>
            <a:r>
              <a:rPr kumimoji="1" lang="en-US" altLang="ja-JP" sz="2400" dirty="0"/>
              <a:t> 3.1.3  </a:t>
            </a:r>
            <a:r>
              <a:rPr kumimoji="1" lang="ja-JP" altLang="en-US" sz="2400" dirty="0"/>
              <a:t>想定ユーザー及びそのスキルレベル（</a:t>
            </a:r>
            <a:r>
              <a:rPr kumimoji="1" lang="en-US" altLang="ja-JP" sz="2400" dirty="0"/>
              <a:t>IT</a:t>
            </a:r>
            <a:r>
              <a:rPr kumimoji="1" lang="ja-JP" altLang="en-US" sz="2400" dirty="0"/>
              <a:t>リテラシー） ＞</a:t>
            </a:r>
            <a:endParaRPr kumimoji="1" lang="en-US" altLang="ja-JP" sz="2400" dirty="0"/>
          </a:p>
        </p:txBody>
      </p:sp>
      <p:sp>
        <p:nvSpPr>
          <p:cNvPr id="2" name="テキスト ボックス 1">
            <a:extLst>
              <a:ext uri="{FF2B5EF4-FFF2-40B4-BE49-F238E27FC236}">
                <a16:creationId xmlns:a16="http://schemas.microsoft.com/office/drawing/2014/main" id="{D65BB9BD-D3FD-514E-7FFE-44747DA5E808}"/>
              </a:ext>
            </a:extLst>
          </p:cNvPr>
          <p:cNvSpPr txBox="1"/>
          <p:nvPr/>
        </p:nvSpPr>
        <p:spPr>
          <a:xfrm>
            <a:off x="522663" y="1121474"/>
            <a:ext cx="10288210" cy="5570756"/>
          </a:xfrm>
          <a:prstGeom prst="rect">
            <a:avLst/>
          </a:prstGeom>
          <a:noFill/>
        </p:spPr>
        <p:txBody>
          <a:bodyPr wrap="square" rtlCol="0">
            <a:spAutoFit/>
          </a:bodyPr>
          <a:lstStyle/>
          <a:p>
            <a:r>
              <a:rPr lang="ja-JP" altLang="en-US" sz="2000" b="1" dirty="0">
                <a:solidFill>
                  <a:schemeClr val="accent4"/>
                </a:solidFill>
              </a:rPr>
              <a:t>ハイブリッド型分析プラットフォームの要件概要</a:t>
            </a:r>
          </a:p>
          <a:p>
            <a:r>
              <a:rPr lang="ja-JP" altLang="en-US" sz="1600" b="1" dirty="0"/>
              <a:t>コンセプト</a:t>
            </a:r>
            <a:r>
              <a:rPr lang="en-US" altLang="ja-JP" sz="1600" b="1" dirty="0"/>
              <a:t>: </a:t>
            </a:r>
            <a:r>
              <a:rPr lang="ja-JP" altLang="en-US" sz="1600" dirty="0"/>
              <a:t>「分析を依頼したい」部門と「自分で分析したい」担当者の両方のニーズに応える。さらに、直感的な</a:t>
            </a:r>
            <a:r>
              <a:rPr lang="en-US" altLang="ja-JP" sz="1600" dirty="0"/>
              <a:t>UI</a:t>
            </a:r>
            <a:r>
              <a:rPr lang="ja-JP" altLang="en-US" sz="1600" dirty="0"/>
              <a:t>だけでは対応できない高度な分析や保守を行う開発者向けの機能も統合し、あらゆるスキルレベルのユーザーを支援する。</a:t>
            </a:r>
            <a:endParaRPr lang="en-US" altLang="ja-JP" sz="1600" dirty="0"/>
          </a:p>
          <a:p>
            <a:endParaRPr lang="ja-JP" altLang="en-US" sz="1600" dirty="0"/>
          </a:p>
          <a:p>
            <a:r>
              <a:rPr lang="ja-JP" altLang="en-US" sz="1600" b="1" dirty="0"/>
              <a:t>主要な機能要件</a:t>
            </a:r>
            <a:r>
              <a:rPr lang="en-US" altLang="ja-JP" sz="1600" b="1" dirty="0"/>
              <a:t>:</a:t>
            </a:r>
          </a:p>
          <a:p>
            <a:r>
              <a:rPr lang="ja-JP" altLang="en-US" sz="1600" b="1" dirty="0"/>
              <a:t>１．分析依頼機能（依頼者向け）</a:t>
            </a:r>
          </a:p>
          <a:p>
            <a:r>
              <a:rPr lang="ja-JP" altLang="en-US" sz="1600" dirty="0"/>
              <a:t>依頼ワークフロー</a:t>
            </a:r>
            <a:r>
              <a:rPr lang="en-US" altLang="ja-JP" sz="1600" dirty="0"/>
              <a:t>: </a:t>
            </a:r>
            <a:r>
              <a:rPr lang="ja-JP" altLang="en-US" sz="1600" dirty="0"/>
              <a:t>分析目的をテンプレートで簡単に依頼。</a:t>
            </a:r>
          </a:p>
          <a:p>
            <a:r>
              <a:rPr lang="ja-JP" altLang="en-US" sz="1600" dirty="0"/>
              <a:t>進捗管理と成果物共有</a:t>
            </a:r>
            <a:r>
              <a:rPr lang="en-US" altLang="ja-JP" sz="1600" dirty="0"/>
              <a:t>: </a:t>
            </a:r>
            <a:r>
              <a:rPr lang="ja-JP" altLang="en-US" sz="1600" dirty="0"/>
              <a:t>依頼状況の可視化とレポートの一元管理。</a:t>
            </a:r>
          </a:p>
          <a:p>
            <a:r>
              <a:rPr lang="ja-JP" altLang="en-US" sz="1600" b="1" dirty="0"/>
              <a:t>２．セルフサービス分析機能（自己分析者向け）</a:t>
            </a:r>
          </a:p>
          <a:p>
            <a:r>
              <a:rPr lang="ja-JP" altLang="en-US" sz="1600" dirty="0"/>
              <a:t>直感的な</a:t>
            </a:r>
            <a:r>
              <a:rPr lang="en-US" altLang="ja-JP" sz="1600" dirty="0"/>
              <a:t>UI: </a:t>
            </a:r>
            <a:r>
              <a:rPr lang="ja-JP" altLang="en-US" sz="1600" dirty="0"/>
              <a:t>プログラミング不要でデータを可視化・分析。</a:t>
            </a:r>
          </a:p>
          <a:p>
            <a:r>
              <a:rPr lang="ja-JP" altLang="en-US" sz="1600" dirty="0"/>
              <a:t>データカタログ</a:t>
            </a:r>
            <a:r>
              <a:rPr lang="en-US" altLang="ja-JP" sz="1600" dirty="0"/>
              <a:t>: </a:t>
            </a:r>
            <a:r>
              <a:rPr lang="ja-JP" altLang="en-US" sz="1600" dirty="0"/>
              <a:t>利用可能なデータを安全に検索。</a:t>
            </a:r>
          </a:p>
          <a:p>
            <a:r>
              <a:rPr lang="ja-JP" altLang="en-US" sz="1600" b="1" dirty="0"/>
              <a:t>３．開発者・専門家向け機能</a:t>
            </a:r>
          </a:p>
          <a:p>
            <a:r>
              <a:rPr lang="ja-JP" altLang="en-US" sz="1600" dirty="0"/>
              <a:t>コードベース分析環境</a:t>
            </a:r>
            <a:r>
              <a:rPr lang="en-US" altLang="ja-JP" sz="1600" dirty="0"/>
              <a:t>: Python</a:t>
            </a:r>
            <a:r>
              <a:rPr lang="ja-JP" altLang="en-US" sz="1600" dirty="0"/>
              <a:t>や</a:t>
            </a:r>
            <a:r>
              <a:rPr lang="en-US" altLang="ja-JP" sz="1600" dirty="0"/>
              <a:t>SQL</a:t>
            </a:r>
            <a:r>
              <a:rPr lang="ja-JP" altLang="en-US" sz="1600" dirty="0"/>
              <a:t>等で、機械学習モデル構築など複雑な分析を実行。</a:t>
            </a:r>
          </a:p>
          <a:p>
            <a:r>
              <a:rPr lang="ja-JP" altLang="en-US" sz="1600" dirty="0"/>
              <a:t>カスタマイズと保守</a:t>
            </a:r>
            <a:r>
              <a:rPr lang="en-US" altLang="ja-JP" sz="1600" dirty="0"/>
              <a:t>: </a:t>
            </a:r>
            <a:r>
              <a:rPr lang="ja-JP" altLang="en-US" sz="1600" dirty="0"/>
              <a:t>データ処理の自動化やプラットフォームの細かな保守・拡張に対応。</a:t>
            </a:r>
            <a:endParaRPr lang="en-US" altLang="ja-JP" sz="1600" dirty="0"/>
          </a:p>
          <a:p>
            <a:endParaRPr lang="ja-JP" altLang="en-US" sz="1600" dirty="0"/>
          </a:p>
          <a:p>
            <a:r>
              <a:rPr lang="ja-JP" altLang="en-US" sz="1600" dirty="0"/>
              <a:t>共通基盤</a:t>
            </a:r>
          </a:p>
          <a:p>
            <a:r>
              <a:rPr lang="ja-JP" altLang="en-US" sz="1600" dirty="0"/>
              <a:t>データガバナンス</a:t>
            </a:r>
            <a:r>
              <a:rPr lang="en-US" altLang="ja-JP" sz="1600" dirty="0"/>
              <a:t>: </a:t>
            </a:r>
            <a:r>
              <a:rPr lang="ja-JP" altLang="en-US" sz="1600" dirty="0"/>
              <a:t>厳密なアクセス制御で安全性を担保。</a:t>
            </a:r>
          </a:p>
          <a:p>
            <a:r>
              <a:rPr lang="ja-JP" altLang="en-US" sz="1600" dirty="0"/>
              <a:t>ナレッジ共有</a:t>
            </a:r>
            <a:r>
              <a:rPr lang="en-US" altLang="ja-JP" sz="1600" dirty="0"/>
              <a:t>: </a:t>
            </a:r>
            <a:r>
              <a:rPr lang="ja-JP" altLang="en-US" sz="1600" dirty="0"/>
              <a:t>全ての分析成果を組織の資産として蓄積・再利用。</a:t>
            </a:r>
            <a:endParaRPr lang="en-US" altLang="ja-JP" sz="1600" dirty="0"/>
          </a:p>
          <a:p>
            <a:endParaRPr lang="ja-JP" altLang="en-US" sz="1600" dirty="0"/>
          </a:p>
          <a:p>
            <a:r>
              <a:rPr lang="ja-JP" altLang="en-US" sz="1600" b="1" dirty="0"/>
              <a:t>目的</a:t>
            </a:r>
            <a:r>
              <a:rPr lang="en-US" altLang="ja-JP" sz="1600" b="1" dirty="0"/>
              <a:t>: </a:t>
            </a:r>
            <a:r>
              <a:rPr lang="ja-JP" altLang="en-US" sz="1600" dirty="0"/>
              <a:t>セルフサービスの手軽さと、専門家による高度な分析・開発の柔軟性を両立させることで、全社的なデータ活用の深化と持続可能な運用を実現する。</a:t>
            </a:r>
            <a:endParaRPr lang="en-US" altLang="ja-JP" sz="1600" dirty="0"/>
          </a:p>
        </p:txBody>
      </p:sp>
      <p:sp>
        <p:nvSpPr>
          <p:cNvPr id="4" name="吹き出し: 四角形 3">
            <a:extLst>
              <a:ext uri="{FF2B5EF4-FFF2-40B4-BE49-F238E27FC236}">
                <a16:creationId xmlns:a16="http://schemas.microsoft.com/office/drawing/2014/main" id="{A04294EE-4D57-F389-B62C-2248CDA4BCD3}"/>
              </a:ext>
            </a:extLst>
          </p:cNvPr>
          <p:cNvSpPr/>
          <p:nvPr/>
        </p:nvSpPr>
        <p:spPr>
          <a:xfrm>
            <a:off x="9155299" y="3114092"/>
            <a:ext cx="2514038" cy="961465"/>
          </a:xfrm>
          <a:prstGeom prst="wedgeRectCallout">
            <a:avLst>
              <a:gd name="adj1" fmla="val -85883"/>
              <a:gd name="adj2" fmla="val -14549"/>
            </a:avLst>
          </a:prstGeom>
          <a:ln w="28575"/>
        </p:spPr>
        <p:style>
          <a:lnRef idx="2">
            <a:schemeClr val="accent4"/>
          </a:lnRef>
          <a:fillRef idx="1">
            <a:schemeClr val="lt1"/>
          </a:fillRef>
          <a:effectRef idx="0">
            <a:schemeClr val="accent4"/>
          </a:effectRef>
          <a:fontRef idx="minor">
            <a:schemeClr val="dk1"/>
          </a:fontRef>
        </p:style>
        <p:txBody>
          <a:bodyPr rtlCol="0" anchor="ctr"/>
          <a:lstStyle/>
          <a:p>
            <a:r>
              <a:rPr kumimoji="1" lang="ja-JP" altLang="en-US" sz="1400" dirty="0"/>
              <a:t>すぐには不要だが、</a:t>
            </a:r>
            <a:endParaRPr kumimoji="1" lang="en-US" altLang="ja-JP" sz="1400" dirty="0"/>
          </a:p>
          <a:p>
            <a:r>
              <a:rPr kumimoji="1" lang="ja-JP" altLang="en-US" sz="1400" dirty="0"/>
              <a:t>いずれはビジネスユーザーが自力でデータ分析することが好ましい</a:t>
            </a:r>
          </a:p>
        </p:txBody>
      </p:sp>
      <p:sp>
        <p:nvSpPr>
          <p:cNvPr id="3" name="吹き出し: 四角形 2">
            <a:extLst>
              <a:ext uri="{FF2B5EF4-FFF2-40B4-BE49-F238E27FC236}">
                <a16:creationId xmlns:a16="http://schemas.microsoft.com/office/drawing/2014/main" id="{A8A6ED81-C3C4-FC7E-5E96-71317D1B16BF}"/>
              </a:ext>
            </a:extLst>
          </p:cNvPr>
          <p:cNvSpPr/>
          <p:nvPr/>
        </p:nvSpPr>
        <p:spPr>
          <a:xfrm>
            <a:off x="9155299" y="4391650"/>
            <a:ext cx="2514038" cy="961465"/>
          </a:xfrm>
          <a:prstGeom prst="wedgeRectCallout">
            <a:avLst>
              <a:gd name="adj1" fmla="val -67697"/>
              <a:gd name="adj2" fmla="val -35683"/>
            </a:avLst>
          </a:prstGeom>
          <a:ln w="28575"/>
        </p:spPr>
        <p:style>
          <a:lnRef idx="2">
            <a:schemeClr val="accent4"/>
          </a:lnRef>
          <a:fillRef idx="1">
            <a:schemeClr val="lt1"/>
          </a:fillRef>
          <a:effectRef idx="0">
            <a:schemeClr val="accent4"/>
          </a:effectRef>
          <a:fontRef idx="minor">
            <a:schemeClr val="dk1"/>
          </a:fontRef>
        </p:style>
        <p:txBody>
          <a:bodyPr rtlCol="0" anchor="ctr"/>
          <a:lstStyle/>
          <a:p>
            <a:r>
              <a:rPr kumimoji="1" lang="ja-JP" altLang="en-US" sz="1400" dirty="0"/>
              <a:t>ごく一部</a:t>
            </a:r>
            <a:r>
              <a:rPr lang="ja-JP" altLang="en-US" sz="1400" dirty="0"/>
              <a:t>（</a:t>
            </a:r>
            <a:r>
              <a:rPr kumimoji="1" lang="en-US" altLang="ja-JP" sz="1400" dirty="0"/>
              <a:t>1</a:t>
            </a:r>
            <a:r>
              <a:rPr kumimoji="1" lang="ja-JP" altLang="en-US" sz="1400" dirty="0"/>
              <a:t>人</a:t>
            </a:r>
            <a:r>
              <a:rPr kumimoji="1" lang="en-US" altLang="ja-JP" sz="1400" dirty="0"/>
              <a:t>?</a:t>
            </a:r>
            <a:r>
              <a:rPr kumimoji="1" lang="ja-JP" altLang="en-US" sz="1400" dirty="0"/>
              <a:t>）のビジネスユーザーはこの機能レベルを使える</a:t>
            </a:r>
          </a:p>
        </p:txBody>
      </p:sp>
      <p:sp>
        <p:nvSpPr>
          <p:cNvPr id="6" name="テキスト ボックス 5">
            <a:extLst>
              <a:ext uri="{FF2B5EF4-FFF2-40B4-BE49-F238E27FC236}">
                <a16:creationId xmlns:a16="http://schemas.microsoft.com/office/drawing/2014/main" id="{71F2FF3F-552A-A395-1DAE-7804CB8B30C2}"/>
              </a:ext>
            </a:extLst>
          </p:cNvPr>
          <p:cNvSpPr txBox="1"/>
          <p:nvPr/>
        </p:nvSpPr>
        <p:spPr>
          <a:xfrm>
            <a:off x="4043265" y="705822"/>
            <a:ext cx="9098966" cy="369332"/>
          </a:xfrm>
          <a:prstGeom prst="rect">
            <a:avLst/>
          </a:prstGeom>
          <a:noFill/>
        </p:spPr>
        <p:txBody>
          <a:bodyPr wrap="none" rtlCol="0">
            <a:spAutoFit/>
          </a:bodyPr>
          <a:lstStyle/>
          <a:p>
            <a:r>
              <a:rPr kumimoji="1" lang="ja-JP" altLang="en-US" b="1" i="1" dirty="0">
                <a:solidFill>
                  <a:srgbClr val="FF0000"/>
                </a:solidFill>
              </a:rPr>
              <a:t>誰がユーザーになるのか？　</a:t>
            </a:r>
            <a:r>
              <a:rPr kumimoji="1" lang="en-US" altLang="ja-JP" b="1" i="1" dirty="0">
                <a:solidFill>
                  <a:srgbClr val="FF0000"/>
                </a:solidFill>
              </a:rPr>
              <a:t>S</a:t>
            </a:r>
            <a:r>
              <a:rPr kumimoji="1" lang="ja-JP" altLang="en-US" b="1" i="1" dirty="0">
                <a:solidFill>
                  <a:srgbClr val="FF0000"/>
                </a:solidFill>
              </a:rPr>
              <a:t>ケアのビジネスユーザーの</a:t>
            </a:r>
            <a:r>
              <a:rPr kumimoji="1" lang="en-US" altLang="ja-JP" b="1" i="1" dirty="0">
                <a:solidFill>
                  <a:srgbClr val="FF0000"/>
                </a:solidFill>
              </a:rPr>
              <a:t>IT</a:t>
            </a:r>
            <a:r>
              <a:rPr kumimoji="1" lang="ja-JP" altLang="en-US" b="1" i="1" dirty="0">
                <a:solidFill>
                  <a:srgbClr val="FF0000"/>
                </a:solidFill>
              </a:rPr>
              <a:t>リテラシーは高い</a:t>
            </a:r>
            <a:r>
              <a:rPr kumimoji="1" lang="en-US" altLang="ja-JP" b="1" i="1" dirty="0">
                <a:solidFill>
                  <a:srgbClr val="FF0000"/>
                </a:solidFill>
              </a:rPr>
              <a:t>or</a:t>
            </a:r>
            <a:r>
              <a:rPr kumimoji="1" lang="ja-JP" altLang="en-US" b="1" i="1" dirty="0">
                <a:solidFill>
                  <a:srgbClr val="FF0000"/>
                </a:solidFill>
              </a:rPr>
              <a:t>低い？</a:t>
            </a:r>
          </a:p>
        </p:txBody>
      </p:sp>
      <p:sp>
        <p:nvSpPr>
          <p:cNvPr id="5" name="四角形: 角を丸くする 4">
            <a:extLst>
              <a:ext uri="{FF2B5EF4-FFF2-40B4-BE49-F238E27FC236}">
                <a16:creationId xmlns:a16="http://schemas.microsoft.com/office/drawing/2014/main" id="{3F8EF9E5-8AFA-659E-D2E5-6E39C042E990}"/>
              </a:ext>
            </a:extLst>
          </p:cNvPr>
          <p:cNvSpPr/>
          <p:nvPr/>
        </p:nvSpPr>
        <p:spPr>
          <a:xfrm>
            <a:off x="289249" y="3340360"/>
            <a:ext cx="6540759" cy="73519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FB231975-6DDB-D1CD-6915-55973E3DDE89}"/>
              </a:ext>
            </a:extLst>
          </p:cNvPr>
          <p:cNvSpPr txBox="1"/>
          <p:nvPr/>
        </p:nvSpPr>
        <p:spPr>
          <a:xfrm>
            <a:off x="6241717" y="3597362"/>
            <a:ext cx="1800493" cy="369332"/>
          </a:xfrm>
          <a:prstGeom prst="rect">
            <a:avLst/>
          </a:prstGeom>
          <a:noFill/>
        </p:spPr>
        <p:txBody>
          <a:bodyPr wrap="none" rtlCol="0">
            <a:spAutoFit/>
          </a:bodyPr>
          <a:lstStyle/>
          <a:p>
            <a:r>
              <a:rPr lang="ja-JP" altLang="en-US">
                <a:solidFill>
                  <a:srgbClr val="FF0000"/>
                </a:solidFill>
              </a:rPr>
              <a:t>パワー</a:t>
            </a:r>
            <a:r>
              <a:rPr kumimoji="1" lang="ja-JP" altLang="en-US">
                <a:solidFill>
                  <a:srgbClr val="FF0000"/>
                </a:solidFill>
              </a:rPr>
              <a:t>ユーザー</a:t>
            </a:r>
            <a:endParaRPr kumimoji="1" lang="ja-JP" altLang="en-US" dirty="0">
              <a:solidFill>
                <a:srgbClr val="FF0000"/>
              </a:solidFill>
            </a:endParaRPr>
          </a:p>
        </p:txBody>
      </p:sp>
      <p:sp>
        <p:nvSpPr>
          <p:cNvPr id="9" name="テキスト ボックス 8">
            <a:extLst>
              <a:ext uri="{FF2B5EF4-FFF2-40B4-BE49-F238E27FC236}">
                <a16:creationId xmlns:a16="http://schemas.microsoft.com/office/drawing/2014/main" id="{8350071C-534F-D9B4-9CD9-06BDC68E0C81}"/>
              </a:ext>
            </a:extLst>
          </p:cNvPr>
          <p:cNvSpPr txBox="1"/>
          <p:nvPr/>
        </p:nvSpPr>
        <p:spPr>
          <a:xfrm>
            <a:off x="8934990" y="2744759"/>
            <a:ext cx="2954655" cy="369332"/>
          </a:xfrm>
          <a:prstGeom prst="rect">
            <a:avLst/>
          </a:prstGeom>
          <a:noFill/>
        </p:spPr>
        <p:txBody>
          <a:bodyPr wrap="none" rtlCol="0">
            <a:spAutoFit/>
          </a:bodyPr>
          <a:lstStyle/>
          <a:p>
            <a:r>
              <a:rPr kumimoji="1" lang="ja-JP" altLang="en-US" b="1" dirty="0"/>
              <a:t>データドリブンな自由分析</a:t>
            </a:r>
          </a:p>
        </p:txBody>
      </p:sp>
      <p:sp>
        <p:nvSpPr>
          <p:cNvPr id="10" name="テキスト ボックス 9">
            <a:extLst>
              <a:ext uri="{FF2B5EF4-FFF2-40B4-BE49-F238E27FC236}">
                <a16:creationId xmlns:a16="http://schemas.microsoft.com/office/drawing/2014/main" id="{9BBD82A4-6334-DF28-176F-545562B0032E}"/>
              </a:ext>
            </a:extLst>
          </p:cNvPr>
          <p:cNvSpPr txBox="1"/>
          <p:nvPr/>
        </p:nvSpPr>
        <p:spPr>
          <a:xfrm>
            <a:off x="6089114" y="2167601"/>
            <a:ext cx="7340471" cy="369332"/>
          </a:xfrm>
          <a:prstGeom prst="rect">
            <a:avLst/>
          </a:prstGeom>
          <a:noFill/>
        </p:spPr>
        <p:txBody>
          <a:bodyPr wrap="none" rtlCol="0">
            <a:spAutoFit/>
          </a:bodyPr>
          <a:lstStyle/>
          <a:p>
            <a:r>
              <a:rPr kumimoji="1" lang="ja-JP" altLang="en-US" dirty="0">
                <a:solidFill>
                  <a:srgbClr val="FF0000"/>
                </a:solidFill>
              </a:rPr>
              <a:t>パワーユーザーを新分析システムの</a:t>
            </a:r>
            <a:r>
              <a:rPr lang="ja-JP" altLang="en-US" dirty="0">
                <a:solidFill>
                  <a:srgbClr val="FF0000"/>
                </a:solidFill>
              </a:rPr>
              <a:t>タ</a:t>
            </a:r>
            <a:r>
              <a:rPr kumimoji="1" lang="ja-JP" altLang="en-US" dirty="0">
                <a:solidFill>
                  <a:srgbClr val="FF0000"/>
                </a:solidFill>
              </a:rPr>
              <a:t>－ゲットユーザーにするのか？</a:t>
            </a:r>
          </a:p>
        </p:txBody>
      </p:sp>
    </p:spTree>
    <p:extLst>
      <p:ext uri="{BB962C8B-B14F-4D97-AF65-F5344CB8AC3E}">
        <p14:creationId xmlns:p14="http://schemas.microsoft.com/office/powerpoint/2010/main" val="13237073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F5DA185A-5783-CC01-5337-A6E315C8A912}"/>
              </a:ext>
            </a:extLst>
          </p:cNvPr>
          <p:cNvSpPr txBox="1"/>
          <p:nvPr/>
        </p:nvSpPr>
        <p:spPr>
          <a:xfrm>
            <a:off x="146958" y="174563"/>
            <a:ext cx="6093822" cy="369332"/>
          </a:xfrm>
          <a:prstGeom prst="rect">
            <a:avLst/>
          </a:prstGeom>
          <a:noFill/>
        </p:spPr>
        <p:txBody>
          <a:bodyPr wrap="square">
            <a:spAutoFit/>
          </a:bodyPr>
          <a:lstStyle/>
          <a:p>
            <a:r>
              <a:rPr kumimoji="1" lang="ja-JP" altLang="en-US" dirty="0"/>
              <a:t>＜</a:t>
            </a:r>
            <a:r>
              <a:rPr kumimoji="1" lang="en-US" altLang="ja-JP" dirty="0"/>
              <a:t>3.2.4   </a:t>
            </a:r>
            <a:r>
              <a:rPr kumimoji="1" lang="ja-JP" altLang="en-US" dirty="0"/>
              <a:t>新分析システムの機能要件：</a:t>
            </a:r>
            <a:r>
              <a:rPr kumimoji="1" lang="en-US" altLang="ja-JP" dirty="0"/>
              <a:t>ETL</a:t>
            </a:r>
            <a:r>
              <a:rPr kumimoji="1" lang="ja-JP" altLang="en-US" dirty="0"/>
              <a:t>ツール＞</a:t>
            </a:r>
            <a:endParaRPr kumimoji="1" lang="en-US" altLang="ja-JP" dirty="0"/>
          </a:p>
        </p:txBody>
      </p:sp>
      <p:graphicFrame>
        <p:nvGraphicFramePr>
          <p:cNvPr id="3" name="表 2">
            <a:extLst>
              <a:ext uri="{FF2B5EF4-FFF2-40B4-BE49-F238E27FC236}">
                <a16:creationId xmlns:a16="http://schemas.microsoft.com/office/drawing/2014/main" id="{46733351-2C2E-105C-D6CB-0557C7EF68CF}"/>
              </a:ext>
            </a:extLst>
          </p:cNvPr>
          <p:cNvGraphicFramePr>
            <a:graphicFrameLocks noGrp="1"/>
          </p:cNvGraphicFramePr>
          <p:nvPr/>
        </p:nvGraphicFramePr>
        <p:xfrm>
          <a:off x="259313" y="543895"/>
          <a:ext cx="11844000" cy="5892800"/>
        </p:xfrm>
        <a:graphic>
          <a:graphicData uri="http://schemas.openxmlformats.org/drawingml/2006/table">
            <a:tbl>
              <a:tblPr firstRow="1" bandRow="1">
                <a:tableStyleId>{5C22544A-7EE6-4342-B048-85BDC9FD1C3A}</a:tableStyleId>
              </a:tblPr>
              <a:tblGrid>
                <a:gridCol w="576000">
                  <a:extLst>
                    <a:ext uri="{9D8B030D-6E8A-4147-A177-3AD203B41FA5}">
                      <a16:colId xmlns:a16="http://schemas.microsoft.com/office/drawing/2014/main" val="3425837480"/>
                    </a:ext>
                  </a:extLst>
                </a:gridCol>
                <a:gridCol w="3168000">
                  <a:extLst>
                    <a:ext uri="{9D8B030D-6E8A-4147-A177-3AD203B41FA5}">
                      <a16:colId xmlns:a16="http://schemas.microsoft.com/office/drawing/2014/main" val="3450554461"/>
                    </a:ext>
                  </a:extLst>
                </a:gridCol>
                <a:gridCol w="7380000">
                  <a:extLst>
                    <a:ext uri="{9D8B030D-6E8A-4147-A177-3AD203B41FA5}">
                      <a16:colId xmlns:a16="http://schemas.microsoft.com/office/drawing/2014/main" val="339515624"/>
                    </a:ext>
                  </a:extLst>
                </a:gridCol>
                <a:gridCol w="720000">
                  <a:extLst>
                    <a:ext uri="{9D8B030D-6E8A-4147-A177-3AD203B41FA5}">
                      <a16:colId xmlns:a16="http://schemas.microsoft.com/office/drawing/2014/main" val="4033975465"/>
                    </a:ext>
                  </a:extLst>
                </a:gridCol>
              </a:tblGrid>
              <a:tr h="370840">
                <a:tc>
                  <a:txBody>
                    <a:bodyPr/>
                    <a:lstStyle/>
                    <a:p>
                      <a:endParaRPr kumimoji="1" lang="ja-JP" altLang="en-US" sz="1400" dirty="0"/>
                    </a:p>
                  </a:txBody>
                  <a:tcPr/>
                </a:tc>
                <a:tc>
                  <a:txBody>
                    <a:bodyPr/>
                    <a:lstStyle/>
                    <a:p>
                      <a:r>
                        <a:rPr kumimoji="1" lang="ja-JP" altLang="en-US" sz="1400" dirty="0"/>
                        <a:t>項目</a:t>
                      </a:r>
                    </a:p>
                  </a:txBody>
                  <a:tcPr/>
                </a:tc>
                <a:tc>
                  <a:txBody>
                    <a:bodyPr/>
                    <a:lstStyle/>
                    <a:p>
                      <a:r>
                        <a:rPr kumimoji="1" lang="ja-JP" altLang="en-US" sz="1400" dirty="0"/>
                        <a:t>機能要件</a:t>
                      </a:r>
                    </a:p>
                  </a:txBody>
                  <a:tcPr/>
                </a:tc>
                <a:tc>
                  <a:txBody>
                    <a:bodyPr/>
                    <a:lstStyle/>
                    <a:p>
                      <a:r>
                        <a:rPr kumimoji="1" lang="ja-JP" altLang="en-US" sz="1050" dirty="0"/>
                        <a:t>ビジネスユーザー</a:t>
                      </a:r>
                    </a:p>
                  </a:txBody>
                  <a:tcPr/>
                </a:tc>
                <a:extLst>
                  <a:ext uri="{0D108BD9-81ED-4DB2-BD59-A6C34878D82A}">
                    <a16:rowId xmlns:a16="http://schemas.microsoft.com/office/drawing/2014/main" val="3705394553"/>
                  </a:ext>
                </a:extLst>
              </a:tr>
              <a:tr h="370840">
                <a:tc gridSpan="4">
                  <a:txBody>
                    <a:bodyPr/>
                    <a:lstStyle/>
                    <a:p>
                      <a:r>
                        <a:rPr kumimoji="1" lang="ja-JP" altLang="en-US" sz="1400" b="1" dirty="0"/>
                        <a:t>データ接続と書き出し</a:t>
                      </a:r>
                    </a:p>
                  </a:txBody>
                  <a:tcPr/>
                </a:tc>
                <a:tc hMerge="1">
                  <a:txBody>
                    <a:bodyPr/>
                    <a:lstStyle/>
                    <a:p>
                      <a:endParaRPr kumimoji="1" lang="ja-JP" altLang="en-US" sz="1600" dirty="0"/>
                    </a:p>
                  </a:txBody>
                  <a:tcPr/>
                </a:tc>
                <a:tc hMerge="1">
                  <a:txBody>
                    <a:bodyPr/>
                    <a:lstStyle/>
                    <a:p>
                      <a:endParaRPr kumimoji="1" lang="ja-JP" altLang="en-US" sz="1600" dirty="0"/>
                    </a:p>
                  </a:txBody>
                  <a:tcPr/>
                </a:tc>
                <a:tc hMerge="1">
                  <a:txBody>
                    <a:bodyPr/>
                    <a:lstStyle/>
                    <a:p>
                      <a:endParaRPr kumimoji="1" lang="ja-JP" altLang="en-US" sz="1600" dirty="0"/>
                    </a:p>
                  </a:txBody>
                  <a:tcPr/>
                </a:tc>
                <a:extLst>
                  <a:ext uri="{0D108BD9-81ED-4DB2-BD59-A6C34878D82A}">
                    <a16:rowId xmlns:a16="http://schemas.microsoft.com/office/drawing/2014/main" val="1537571722"/>
                  </a:ext>
                </a:extLst>
              </a:tr>
              <a:tr h="370840">
                <a:tc>
                  <a:txBody>
                    <a:bodyPr/>
                    <a:lstStyle/>
                    <a:p>
                      <a:endParaRPr kumimoji="1" lang="ja-JP" altLang="en-US" sz="1400" dirty="0"/>
                    </a:p>
                  </a:txBody>
                  <a:tcPr/>
                </a:tc>
                <a:tc>
                  <a:txBody>
                    <a:bodyPr/>
                    <a:lstStyle/>
                    <a:p>
                      <a:r>
                        <a:rPr kumimoji="1" lang="ja-JP" altLang="en-US" sz="1400" dirty="0"/>
                        <a:t>読み込み</a:t>
                      </a:r>
                    </a:p>
                  </a:txBody>
                  <a:tcPr/>
                </a:tc>
                <a:tc>
                  <a:txBody>
                    <a:bodyPr/>
                    <a:lstStyle/>
                    <a:p>
                      <a:r>
                        <a:rPr kumimoji="1" lang="ja-JP" altLang="en-US" sz="1400" dirty="0"/>
                        <a:t>主要な</a:t>
                      </a:r>
                      <a:r>
                        <a:rPr kumimoji="1" lang="en-US" altLang="ja-JP" sz="1400" dirty="0"/>
                        <a:t>DWH/</a:t>
                      </a:r>
                      <a:r>
                        <a:rPr kumimoji="1" lang="ja-JP" altLang="en-US" sz="1400" dirty="0"/>
                        <a:t>データレイク（</a:t>
                      </a:r>
                      <a:r>
                        <a:rPr kumimoji="1" lang="en-US" altLang="ja-JP" sz="1400" dirty="0"/>
                        <a:t>Snowflake, </a:t>
                      </a:r>
                      <a:r>
                        <a:rPr kumimoji="1" lang="en-US" altLang="ja-JP" sz="1400" dirty="0" err="1"/>
                        <a:t>BigQuery</a:t>
                      </a:r>
                      <a:r>
                        <a:rPr kumimoji="1" lang="en-US" altLang="ja-JP" sz="1400" dirty="0"/>
                        <a:t>, S3</a:t>
                      </a:r>
                      <a:r>
                        <a:rPr kumimoji="1" lang="ja-JP" altLang="en-US" sz="1400" dirty="0"/>
                        <a:t>等）から高性能にデータを読み込める。</a:t>
                      </a:r>
                    </a:p>
                  </a:txBody>
                  <a:tcPr/>
                </a:tc>
                <a:tc>
                  <a:txBody>
                    <a:bodyPr/>
                    <a:lstStyle/>
                    <a:p>
                      <a:endParaRPr kumimoji="1" lang="ja-JP" altLang="en-US" sz="1400" dirty="0"/>
                    </a:p>
                  </a:txBody>
                  <a:tcPr/>
                </a:tc>
                <a:extLst>
                  <a:ext uri="{0D108BD9-81ED-4DB2-BD59-A6C34878D82A}">
                    <a16:rowId xmlns:a16="http://schemas.microsoft.com/office/drawing/2014/main" val="1478687915"/>
                  </a:ext>
                </a:extLst>
              </a:tr>
              <a:tr h="370840">
                <a:tc>
                  <a:txBody>
                    <a:bodyPr/>
                    <a:lstStyle/>
                    <a:p>
                      <a:endParaRPr kumimoji="1" lang="ja-JP" altLang="en-US" sz="1400"/>
                    </a:p>
                  </a:txBody>
                  <a:tcPr/>
                </a:tc>
                <a:tc>
                  <a:txBody>
                    <a:bodyPr/>
                    <a:lstStyle/>
                    <a:p>
                      <a:r>
                        <a:rPr kumimoji="1" lang="ja-JP" altLang="en-US" sz="1400" dirty="0"/>
                        <a:t>書き出し</a:t>
                      </a:r>
                    </a:p>
                  </a:txBody>
                  <a:tcPr/>
                </a:tc>
                <a:tc>
                  <a:txBody>
                    <a:bodyPr/>
                    <a:lstStyle/>
                    <a:p>
                      <a:r>
                        <a:rPr kumimoji="1" lang="ja-JP" altLang="en-US" sz="1400" dirty="0"/>
                        <a:t>変換後のデータを、</a:t>
                      </a:r>
                      <a:r>
                        <a:rPr kumimoji="1" lang="en-US" altLang="ja-JP" sz="1400" dirty="0"/>
                        <a:t>BI</a:t>
                      </a:r>
                      <a:r>
                        <a:rPr kumimoji="1" lang="ja-JP" altLang="en-US" sz="1400" dirty="0"/>
                        <a:t>ツール、機械学習用のファイル、外部</a:t>
                      </a:r>
                      <a:r>
                        <a:rPr kumimoji="1" lang="en-US" altLang="ja-JP" sz="1400" dirty="0"/>
                        <a:t>SaaS</a:t>
                      </a:r>
                      <a:r>
                        <a:rPr kumimoji="1" lang="ja-JP" altLang="en-US" sz="1400" dirty="0"/>
                        <a:t>（</a:t>
                      </a:r>
                      <a:r>
                        <a:rPr kumimoji="1" lang="en-US" altLang="ja-JP" sz="1400" dirty="0"/>
                        <a:t>Reverse ETL</a:t>
                      </a:r>
                      <a:r>
                        <a:rPr kumimoji="1" lang="ja-JP" altLang="en-US" sz="1400" dirty="0"/>
                        <a:t>）など、多様な活用先に適した形式で柔軟に書き出せる。</a:t>
                      </a:r>
                    </a:p>
                  </a:txBody>
                  <a:tcPr/>
                </a:tc>
                <a:tc>
                  <a:txBody>
                    <a:bodyPr/>
                    <a:lstStyle/>
                    <a:p>
                      <a:endParaRPr kumimoji="1" lang="ja-JP" altLang="en-US" sz="1400" dirty="0"/>
                    </a:p>
                  </a:txBody>
                  <a:tcPr/>
                </a:tc>
                <a:extLst>
                  <a:ext uri="{0D108BD9-81ED-4DB2-BD59-A6C34878D82A}">
                    <a16:rowId xmlns:a16="http://schemas.microsoft.com/office/drawing/2014/main" val="2212849413"/>
                  </a:ext>
                </a:extLst>
              </a:tr>
              <a:tr h="370840">
                <a:tc gridSpan="4">
                  <a:txBody>
                    <a:bodyPr/>
                    <a:lstStyle/>
                    <a:p>
                      <a:r>
                        <a:rPr kumimoji="1" lang="ja-JP" altLang="en-US" sz="1400" b="1" dirty="0"/>
                        <a:t>データ変換・加工機能</a:t>
                      </a:r>
                    </a:p>
                  </a:txBody>
                  <a:tcPr/>
                </a:tc>
                <a:tc hMerge="1">
                  <a:txBody>
                    <a:bodyPr/>
                    <a:lstStyle/>
                    <a:p>
                      <a:endParaRPr kumimoji="1" lang="ja-JP" altLang="en-US" sz="1600" dirty="0"/>
                    </a:p>
                  </a:txBody>
                  <a:tcPr/>
                </a:tc>
                <a:tc hMerge="1">
                  <a:txBody>
                    <a:bodyPr/>
                    <a:lstStyle/>
                    <a:p>
                      <a:endParaRPr kumimoji="1" lang="ja-JP" altLang="en-US" sz="1600" dirty="0"/>
                    </a:p>
                  </a:txBody>
                  <a:tcPr/>
                </a:tc>
                <a:tc hMerge="1">
                  <a:txBody>
                    <a:bodyPr/>
                    <a:lstStyle/>
                    <a:p>
                      <a:endParaRPr kumimoji="1" lang="ja-JP" altLang="en-US" sz="1600" dirty="0"/>
                    </a:p>
                  </a:txBody>
                  <a:tcPr/>
                </a:tc>
                <a:extLst>
                  <a:ext uri="{0D108BD9-81ED-4DB2-BD59-A6C34878D82A}">
                    <a16:rowId xmlns:a16="http://schemas.microsoft.com/office/drawing/2014/main" val="2442102417"/>
                  </a:ext>
                </a:extLst>
              </a:tr>
              <a:tr h="370840">
                <a:tc>
                  <a:txBody>
                    <a:bodyPr/>
                    <a:lstStyle/>
                    <a:p>
                      <a:endParaRPr kumimoji="1" lang="ja-JP" altLang="en-US" sz="1400" dirty="0"/>
                    </a:p>
                  </a:txBody>
                  <a:tcPr/>
                </a:tc>
                <a:tc>
                  <a:txBody>
                    <a:bodyPr/>
                    <a:lstStyle/>
                    <a:p>
                      <a:r>
                        <a:rPr kumimoji="1" lang="en-US" altLang="ja-JP" sz="1400" dirty="0"/>
                        <a:t>GUI</a:t>
                      </a:r>
                      <a:r>
                        <a:rPr kumimoji="1" lang="ja-JP" altLang="en-US" sz="1400" dirty="0"/>
                        <a:t>ベースのデータプレパレーション</a:t>
                      </a:r>
                    </a:p>
                  </a:txBody>
                  <a:tcPr/>
                </a:tc>
                <a:tc>
                  <a:txBody>
                    <a:bodyPr/>
                    <a:lstStyle/>
                    <a:p>
                      <a:r>
                        <a:rPr kumimoji="1" lang="en-US" altLang="ja-JP" sz="1400" dirty="0"/>
                        <a:t>GUI</a:t>
                      </a:r>
                      <a:r>
                        <a:rPr kumimoji="1" lang="ja-JP" altLang="en-US" sz="1400" dirty="0"/>
                        <a:t>（フロー形式など）の直感的な操作で、データの結合や加工ができる。</a:t>
                      </a:r>
                    </a:p>
                  </a:txBody>
                  <a:tcPr/>
                </a:tc>
                <a:tc>
                  <a:txBody>
                    <a:bodyPr/>
                    <a:lstStyle/>
                    <a:p>
                      <a:r>
                        <a:rPr kumimoji="1" lang="ja-JP" altLang="en-US" sz="1400" dirty="0"/>
                        <a:t>○</a:t>
                      </a:r>
                    </a:p>
                  </a:txBody>
                  <a:tcPr/>
                </a:tc>
                <a:extLst>
                  <a:ext uri="{0D108BD9-81ED-4DB2-BD59-A6C34878D82A}">
                    <a16:rowId xmlns:a16="http://schemas.microsoft.com/office/drawing/2014/main" val="3976590148"/>
                  </a:ext>
                </a:extLst>
              </a:tr>
              <a:tr h="370840">
                <a:tc>
                  <a:txBody>
                    <a:bodyPr/>
                    <a:lstStyle/>
                    <a:p>
                      <a:endParaRPr kumimoji="1" lang="ja-JP" altLang="en-US" sz="1400" dirty="0"/>
                    </a:p>
                  </a:txBody>
                  <a:tcPr/>
                </a:tc>
                <a:tc>
                  <a:txBody>
                    <a:bodyPr/>
                    <a:lstStyle/>
                    <a:p>
                      <a:r>
                        <a:rPr kumimoji="1" lang="en-US" altLang="ja-JP" sz="1400" dirty="0"/>
                        <a:t>GUI</a:t>
                      </a:r>
                      <a:r>
                        <a:rPr kumimoji="1" lang="ja-JP" altLang="en-US" sz="1400" dirty="0"/>
                        <a:t>＋コードのハイブリッド開発</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ノーコードで</a:t>
                      </a:r>
                      <a:r>
                        <a:rPr kumimoji="1" lang="en-US" altLang="ja-JP" sz="1400" dirty="0"/>
                        <a:t>ETL</a:t>
                      </a:r>
                      <a:r>
                        <a:rPr kumimoji="1" lang="ja-JP" altLang="en-US" sz="1400" dirty="0"/>
                        <a:t>フローを設計できる一方、複雑なロジック（例：機械学習の前処理等）を、</a:t>
                      </a:r>
                      <a:r>
                        <a:rPr kumimoji="1" lang="en-US" altLang="ja-JP" sz="1400" dirty="0"/>
                        <a:t>Python</a:t>
                      </a:r>
                      <a:r>
                        <a:rPr kumimoji="1" lang="ja-JP" altLang="en-US" sz="1400" dirty="0"/>
                        <a:t>や</a:t>
                      </a:r>
                      <a:r>
                        <a:rPr kumimoji="1" lang="en-US" altLang="ja-JP" sz="1400" dirty="0"/>
                        <a:t>R</a:t>
                      </a:r>
                      <a:r>
                        <a:rPr kumimoji="1" lang="ja-JP" altLang="en-US" sz="1400" dirty="0"/>
                        <a:t>、</a:t>
                      </a:r>
                      <a:r>
                        <a:rPr kumimoji="1" lang="en-US" altLang="ja-JP" sz="1400" dirty="0"/>
                        <a:t>Java/Scala</a:t>
                      </a:r>
                      <a:r>
                        <a:rPr kumimoji="1" lang="ja-JP" altLang="en-US" sz="1400" dirty="0"/>
                        <a:t>等を用いて実装し、データ変換フローに組み込める。</a:t>
                      </a:r>
                    </a:p>
                  </a:txBody>
                  <a:tcPr/>
                </a:tc>
                <a:tc>
                  <a:txBody>
                    <a:bodyPr/>
                    <a:lstStyle/>
                    <a:p>
                      <a:endParaRPr kumimoji="1" lang="ja-JP" altLang="en-US" sz="1400" dirty="0"/>
                    </a:p>
                  </a:txBody>
                  <a:tcPr/>
                </a:tc>
                <a:extLst>
                  <a:ext uri="{0D108BD9-81ED-4DB2-BD59-A6C34878D82A}">
                    <a16:rowId xmlns:a16="http://schemas.microsoft.com/office/drawing/2014/main" val="2511234624"/>
                  </a:ext>
                </a:extLst>
              </a:tr>
              <a:tr h="370840">
                <a:tc gridSpan="3">
                  <a:txBody>
                    <a:bodyPr/>
                    <a:lstStyle/>
                    <a:p>
                      <a:r>
                        <a:rPr kumimoji="1" lang="ja-JP" altLang="en-US" sz="1400" b="1" dirty="0"/>
                        <a:t>パフォーマンスと拡張性</a:t>
                      </a:r>
                    </a:p>
                  </a:txBody>
                  <a:tcPr/>
                </a:tc>
                <a:tc hMerge="1">
                  <a:txBody>
                    <a:bodyPr/>
                    <a:lstStyle/>
                    <a:p>
                      <a:endParaRPr kumimoji="1" lang="ja-JP" altLang="en-US" sz="1600" dirty="0"/>
                    </a:p>
                  </a:txBody>
                  <a:tcPr/>
                </a:tc>
                <a:tc hMerge="1">
                  <a:txBody>
                    <a:bodyPr/>
                    <a:lstStyle/>
                    <a:p>
                      <a:endParaRPr kumimoji="1" lang="ja-JP" altLang="en-US" sz="1600" dirty="0"/>
                    </a:p>
                  </a:txBody>
                  <a:tcPr/>
                </a:tc>
                <a:tc>
                  <a:txBody>
                    <a:bodyPr/>
                    <a:lstStyle/>
                    <a:p>
                      <a:endParaRPr kumimoji="1" lang="ja-JP" altLang="en-US" sz="1400" dirty="0"/>
                    </a:p>
                  </a:txBody>
                  <a:tcPr/>
                </a:tc>
                <a:extLst>
                  <a:ext uri="{0D108BD9-81ED-4DB2-BD59-A6C34878D82A}">
                    <a16:rowId xmlns:a16="http://schemas.microsoft.com/office/drawing/2014/main" val="2356114802"/>
                  </a:ext>
                </a:extLst>
              </a:tr>
              <a:tr h="370840">
                <a:tc>
                  <a:txBody>
                    <a:bodyPr/>
                    <a:lstStyle/>
                    <a:p>
                      <a:endParaRPr kumimoji="1" lang="ja-JP" altLang="en-US" sz="1400" dirty="0"/>
                    </a:p>
                  </a:txBody>
                  <a:tcPr/>
                </a:tc>
                <a:tc>
                  <a:txBody>
                    <a:bodyPr/>
                    <a:lstStyle/>
                    <a:p>
                      <a:r>
                        <a:rPr kumimoji="1" lang="ja-JP" altLang="en-US" sz="1400" dirty="0"/>
                        <a:t>分散処理とスケーラビリティ</a:t>
                      </a:r>
                    </a:p>
                  </a:txBody>
                  <a:tcPr/>
                </a:tc>
                <a:tc>
                  <a:txBody>
                    <a:bodyPr/>
                    <a:lstStyle/>
                    <a:p>
                      <a:r>
                        <a:rPr kumimoji="1" lang="ja-JP" altLang="en-US" sz="1400" dirty="0"/>
                        <a:t>大規模なデータ処理や多数のジョブを並列で実行でき、処理の負荷に応じて、コンピューティングリソースを動的にスケールアップ</a:t>
                      </a:r>
                      <a:r>
                        <a:rPr kumimoji="1" lang="en-US" altLang="ja-JP" sz="1400" dirty="0"/>
                        <a:t>/</a:t>
                      </a:r>
                      <a:r>
                        <a:rPr kumimoji="1" lang="ja-JP" altLang="en-US" sz="1400" dirty="0"/>
                        <a:t>ダウンできる。</a:t>
                      </a:r>
                    </a:p>
                  </a:txBody>
                  <a:tcPr/>
                </a:tc>
                <a:tc>
                  <a:txBody>
                    <a:bodyPr/>
                    <a:lstStyle/>
                    <a:p>
                      <a:endParaRPr kumimoji="1" lang="ja-JP" altLang="en-US" sz="1400" dirty="0"/>
                    </a:p>
                  </a:txBody>
                  <a:tcPr/>
                </a:tc>
                <a:extLst>
                  <a:ext uri="{0D108BD9-81ED-4DB2-BD59-A6C34878D82A}">
                    <a16:rowId xmlns:a16="http://schemas.microsoft.com/office/drawing/2014/main" val="635186242"/>
                  </a:ext>
                </a:extLst>
              </a:tr>
              <a:tr h="370505">
                <a:tc>
                  <a:txBody>
                    <a:bodyPr/>
                    <a:lstStyle/>
                    <a:p>
                      <a:endParaRPr kumimoji="1" lang="ja-JP" altLang="en-US" sz="1400" dirty="0"/>
                    </a:p>
                  </a:txBody>
                  <a:tcPr/>
                </a:tc>
                <a:tc>
                  <a:txBody>
                    <a:bodyPr/>
                    <a:lstStyle/>
                    <a:p>
                      <a:r>
                        <a:rPr kumimoji="1" lang="ja-JP" altLang="en-US" sz="1400" dirty="0"/>
                        <a:t>データ更新処理</a:t>
                      </a:r>
                    </a:p>
                  </a:txBody>
                  <a:tcPr/>
                </a:tc>
                <a:tc>
                  <a:txBody>
                    <a:bodyPr/>
                    <a:lstStyle/>
                    <a:p>
                      <a:r>
                        <a:rPr kumimoji="1" lang="ja-JP" altLang="en-US" sz="1400" dirty="0"/>
                        <a:t>バッチとストリーミングを同一パイプラインで扱える。毎回全件を洗い替えるのではなく、差分データのみを効率的に処理する（増分更新）仕組みを容易に実装できる。</a:t>
                      </a:r>
                    </a:p>
                  </a:txBody>
                  <a:tcPr/>
                </a:tc>
                <a:tc>
                  <a:txBody>
                    <a:bodyPr/>
                    <a:lstStyle/>
                    <a:p>
                      <a:endParaRPr kumimoji="1" lang="ja-JP" altLang="en-US" sz="1400" dirty="0"/>
                    </a:p>
                  </a:txBody>
                  <a:tcPr/>
                </a:tc>
                <a:extLst>
                  <a:ext uri="{0D108BD9-81ED-4DB2-BD59-A6C34878D82A}">
                    <a16:rowId xmlns:a16="http://schemas.microsoft.com/office/drawing/2014/main" val="2589905291"/>
                  </a:ext>
                </a:extLst>
              </a:tr>
              <a:tr h="370840">
                <a:tc>
                  <a:txBody>
                    <a:bodyPr/>
                    <a:lstStyle/>
                    <a:p>
                      <a:endParaRPr kumimoji="1" lang="ja-JP" altLang="en-US" sz="1400" dirty="0"/>
                    </a:p>
                  </a:txBody>
                  <a:tcPr/>
                </a:tc>
                <a:tc>
                  <a:txBody>
                    <a:bodyPr/>
                    <a:lstStyle/>
                    <a:p>
                      <a:r>
                        <a:rPr kumimoji="1" lang="ja-JP" altLang="en-US" sz="1400" dirty="0"/>
                        <a:t>アクセス制御と監査</a:t>
                      </a:r>
                    </a:p>
                  </a:txBody>
                  <a:tcPr/>
                </a:tc>
                <a:tc>
                  <a:txBody>
                    <a:bodyPr/>
                    <a:lstStyle/>
                    <a:p>
                      <a:r>
                        <a:rPr kumimoji="1" lang="ja-JP" altLang="en-US" sz="1400" dirty="0"/>
                        <a:t>ユーザーやロールに応じて、データや機能へのアクセス権限を柔軟に設定できる。「誰が」「いつ」「何を」したかという操作ログが記録され、追跡できる。</a:t>
                      </a:r>
                    </a:p>
                  </a:txBody>
                  <a:tcPr/>
                </a:tc>
                <a:tc>
                  <a:txBody>
                    <a:bodyPr/>
                    <a:lstStyle/>
                    <a:p>
                      <a:endParaRPr kumimoji="1" lang="ja-JP" altLang="en-US" sz="1400" dirty="0"/>
                    </a:p>
                  </a:txBody>
                  <a:tcPr/>
                </a:tc>
                <a:extLst>
                  <a:ext uri="{0D108BD9-81ED-4DB2-BD59-A6C34878D82A}">
                    <a16:rowId xmlns:a16="http://schemas.microsoft.com/office/drawing/2014/main" val="3390381856"/>
                  </a:ext>
                </a:extLst>
              </a:tr>
              <a:tr h="370840">
                <a:tc gridSpan="4">
                  <a:txBody>
                    <a:bodyPr/>
                    <a:lstStyle/>
                    <a:p>
                      <a:r>
                        <a:rPr kumimoji="1" lang="ja-JP" altLang="en-US" sz="1400" b="1" dirty="0"/>
                        <a:t>共同開発とツール連携</a:t>
                      </a:r>
                      <a:endParaRPr kumimoji="1" lang="ja-JP" altLang="en-US" sz="1400" b="1" dirty="0">
                        <a:highlight>
                          <a:srgbClr val="FFFF00"/>
                        </a:highlight>
                      </a:endParaRPr>
                    </a:p>
                  </a:txBody>
                  <a:tcPr/>
                </a:tc>
                <a:tc hMerge="1">
                  <a:txBody>
                    <a:bodyPr/>
                    <a:lstStyle/>
                    <a:p>
                      <a:endParaRPr kumimoji="1" lang="ja-JP" altLang="en-US" sz="1400" dirty="0"/>
                    </a:p>
                  </a:txBody>
                  <a:tcPr/>
                </a:tc>
                <a:tc hMerge="1">
                  <a:txBody>
                    <a:bodyPr/>
                    <a:lstStyle/>
                    <a:p>
                      <a:endParaRPr kumimoji="1" lang="ja-JP" altLang="en-US" sz="1400" dirty="0"/>
                    </a:p>
                  </a:txBody>
                  <a:tcPr/>
                </a:tc>
                <a:tc hMerge="1">
                  <a:txBody>
                    <a:bodyPr/>
                    <a:lstStyle/>
                    <a:p>
                      <a:endParaRPr kumimoji="1" lang="ja-JP" altLang="en-US" sz="1400" dirty="0"/>
                    </a:p>
                  </a:txBody>
                  <a:tcPr/>
                </a:tc>
                <a:extLst>
                  <a:ext uri="{0D108BD9-81ED-4DB2-BD59-A6C34878D82A}">
                    <a16:rowId xmlns:a16="http://schemas.microsoft.com/office/drawing/2014/main" val="1085973900"/>
                  </a:ext>
                </a:extLst>
              </a:tr>
              <a:tr h="370840">
                <a:tc>
                  <a:txBody>
                    <a:bodyPr/>
                    <a:lstStyle/>
                    <a:p>
                      <a:endParaRPr kumimoji="1" lang="ja-JP" altLang="en-US" sz="1400" dirty="0"/>
                    </a:p>
                  </a:txBody>
                  <a:tcPr/>
                </a:tc>
                <a:tc>
                  <a:txBody>
                    <a:bodyPr/>
                    <a:lstStyle/>
                    <a:p>
                      <a:r>
                        <a:rPr kumimoji="1" lang="ja-JP" altLang="en-US" sz="1400" dirty="0"/>
                        <a:t>チームでの共同開発支援</a:t>
                      </a:r>
                    </a:p>
                  </a:txBody>
                  <a:tcPr/>
                </a:tc>
                <a:tc>
                  <a:txBody>
                    <a:bodyPr/>
                    <a:lstStyle/>
                    <a:p>
                      <a:r>
                        <a:rPr kumimoji="1" lang="en-US" altLang="ja-JP" sz="1400" dirty="0"/>
                        <a:t>Web</a:t>
                      </a:r>
                      <a:r>
                        <a:rPr kumimoji="1" lang="ja-JP" altLang="en-US" sz="1400" dirty="0"/>
                        <a:t> </a:t>
                      </a:r>
                      <a:r>
                        <a:rPr kumimoji="1" lang="en-US" altLang="ja-JP" sz="1400" dirty="0"/>
                        <a:t>UI</a:t>
                      </a:r>
                      <a:r>
                        <a:rPr kumimoji="1" lang="ja-JP" altLang="en-US" sz="1400" dirty="0"/>
                        <a:t>で、複数の開発者が同時編集・レビューでき、バージョン管理で競合を回避する。</a:t>
                      </a:r>
                      <a:endParaRPr kumimoji="1" lang="en-US" altLang="ja-JP" sz="1400" dirty="0"/>
                    </a:p>
                    <a:p>
                      <a:r>
                        <a:rPr kumimoji="1" lang="ja-JP" altLang="en-US" sz="1400" dirty="0"/>
                        <a:t>データカタログ等の外部ツールと連携し、データの意味や定義情報を参照できる。</a:t>
                      </a:r>
                    </a:p>
                  </a:txBody>
                  <a:tcPr/>
                </a:tc>
                <a:tc>
                  <a:txBody>
                    <a:bodyPr/>
                    <a:lstStyle/>
                    <a:p>
                      <a:endParaRPr kumimoji="1" lang="ja-JP" altLang="en-US" sz="1400" dirty="0"/>
                    </a:p>
                  </a:txBody>
                  <a:tcPr/>
                </a:tc>
                <a:extLst>
                  <a:ext uri="{0D108BD9-81ED-4DB2-BD59-A6C34878D82A}">
                    <a16:rowId xmlns:a16="http://schemas.microsoft.com/office/drawing/2014/main" val="1498922990"/>
                  </a:ext>
                </a:extLst>
              </a:tr>
            </a:tbl>
          </a:graphicData>
        </a:graphic>
      </p:graphicFrame>
    </p:spTree>
    <p:extLst>
      <p:ext uri="{BB962C8B-B14F-4D97-AF65-F5344CB8AC3E}">
        <p14:creationId xmlns:p14="http://schemas.microsoft.com/office/powerpoint/2010/main" val="40489625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F5DA185A-5783-CC01-5337-A6E315C8A912}"/>
              </a:ext>
            </a:extLst>
          </p:cNvPr>
          <p:cNvSpPr txBox="1"/>
          <p:nvPr/>
        </p:nvSpPr>
        <p:spPr>
          <a:xfrm>
            <a:off x="146958" y="174563"/>
            <a:ext cx="6440454" cy="369332"/>
          </a:xfrm>
          <a:prstGeom prst="rect">
            <a:avLst/>
          </a:prstGeom>
          <a:noFill/>
        </p:spPr>
        <p:txBody>
          <a:bodyPr wrap="square">
            <a:spAutoFit/>
          </a:bodyPr>
          <a:lstStyle/>
          <a:p>
            <a:r>
              <a:rPr kumimoji="1" lang="ja-JP" altLang="en-US" dirty="0"/>
              <a:t>＜</a:t>
            </a:r>
            <a:r>
              <a:rPr kumimoji="1" lang="en-US" altLang="ja-JP" dirty="0"/>
              <a:t>3.2.4   </a:t>
            </a:r>
            <a:r>
              <a:rPr kumimoji="1" lang="ja-JP" altLang="en-US" dirty="0"/>
              <a:t>新分析システムの機能要件：</a:t>
            </a:r>
            <a:r>
              <a:rPr lang="en-US" altLang="ja-JP" dirty="0"/>
              <a:t>AI/</a:t>
            </a:r>
            <a:r>
              <a:rPr lang="ja-JP" altLang="en-US" dirty="0"/>
              <a:t>機械学習</a:t>
            </a:r>
            <a:r>
              <a:rPr kumimoji="1" lang="ja-JP" altLang="en-US" dirty="0"/>
              <a:t>ツール＞</a:t>
            </a:r>
            <a:endParaRPr kumimoji="1" lang="en-US" altLang="ja-JP" dirty="0"/>
          </a:p>
        </p:txBody>
      </p:sp>
      <p:graphicFrame>
        <p:nvGraphicFramePr>
          <p:cNvPr id="3" name="表 2">
            <a:extLst>
              <a:ext uri="{FF2B5EF4-FFF2-40B4-BE49-F238E27FC236}">
                <a16:creationId xmlns:a16="http://schemas.microsoft.com/office/drawing/2014/main" id="{3BAC0497-1ABE-221E-E7DD-6505000A1A1D}"/>
              </a:ext>
            </a:extLst>
          </p:cNvPr>
          <p:cNvGraphicFramePr>
            <a:graphicFrameLocks noGrp="1"/>
          </p:cNvGraphicFramePr>
          <p:nvPr/>
        </p:nvGraphicFramePr>
        <p:xfrm>
          <a:off x="259313" y="543895"/>
          <a:ext cx="11844000" cy="7670800"/>
        </p:xfrm>
        <a:graphic>
          <a:graphicData uri="http://schemas.openxmlformats.org/drawingml/2006/table">
            <a:tbl>
              <a:tblPr firstRow="1" bandRow="1">
                <a:tableStyleId>{073A0DAA-6AF3-43AB-8588-CEC1D06C72B9}</a:tableStyleId>
              </a:tblPr>
              <a:tblGrid>
                <a:gridCol w="576000">
                  <a:extLst>
                    <a:ext uri="{9D8B030D-6E8A-4147-A177-3AD203B41FA5}">
                      <a16:colId xmlns:a16="http://schemas.microsoft.com/office/drawing/2014/main" val="3425837480"/>
                    </a:ext>
                  </a:extLst>
                </a:gridCol>
                <a:gridCol w="3168000">
                  <a:extLst>
                    <a:ext uri="{9D8B030D-6E8A-4147-A177-3AD203B41FA5}">
                      <a16:colId xmlns:a16="http://schemas.microsoft.com/office/drawing/2014/main" val="3450554461"/>
                    </a:ext>
                  </a:extLst>
                </a:gridCol>
                <a:gridCol w="7380000">
                  <a:extLst>
                    <a:ext uri="{9D8B030D-6E8A-4147-A177-3AD203B41FA5}">
                      <a16:colId xmlns:a16="http://schemas.microsoft.com/office/drawing/2014/main" val="339515624"/>
                    </a:ext>
                  </a:extLst>
                </a:gridCol>
                <a:gridCol w="720000">
                  <a:extLst>
                    <a:ext uri="{9D8B030D-6E8A-4147-A177-3AD203B41FA5}">
                      <a16:colId xmlns:a16="http://schemas.microsoft.com/office/drawing/2014/main" val="4033975465"/>
                    </a:ext>
                  </a:extLst>
                </a:gridCol>
              </a:tblGrid>
              <a:tr h="370840">
                <a:tc>
                  <a:txBody>
                    <a:bodyPr/>
                    <a:lstStyle/>
                    <a:p>
                      <a:endParaRPr kumimoji="1" lang="ja-JP" altLang="en-US" sz="1400" dirty="0"/>
                    </a:p>
                  </a:txBody>
                  <a:tcPr/>
                </a:tc>
                <a:tc>
                  <a:txBody>
                    <a:bodyPr/>
                    <a:lstStyle/>
                    <a:p>
                      <a:r>
                        <a:rPr kumimoji="1" lang="ja-JP" altLang="en-US" sz="1400" dirty="0"/>
                        <a:t>項目</a:t>
                      </a:r>
                    </a:p>
                  </a:txBody>
                  <a:tcPr/>
                </a:tc>
                <a:tc>
                  <a:txBody>
                    <a:bodyPr/>
                    <a:lstStyle/>
                    <a:p>
                      <a:r>
                        <a:rPr kumimoji="1" lang="ja-JP" altLang="en-US" sz="1400" dirty="0"/>
                        <a:t>機能要件</a:t>
                      </a:r>
                    </a:p>
                  </a:txBody>
                  <a:tcPr/>
                </a:tc>
                <a:tc>
                  <a:txBody>
                    <a:bodyPr/>
                    <a:lstStyle/>
                    <a:p>
                      <a:r>
                        <a:rPr kumimoji="1" lang="ja-JP" altLang="en-US" sz="1050" dirty="0"/>
                        <a:t>ビジネスユーザー</a:t>
                      </a:r>
                    </a:p>
                  </a:txBody>
                  <a:tcPr/>
                </a:tc>
                <a:extLst>
                  <a:ext uri="{0D108BD9-81ED-4DB2-BD59-A6C34878D82A}">
                    <a16:rowId xmlns:a16="http://schemas.microsoft.com/office/drawing/2014/main" val="3705394553"/>
                  </a:ext>
                </a:extLst>
              </a:tr>
              <a:tr h="370840">
                <a:tc gridSpan="4">
                  <a:txBody>
                    <a:bodyPr/>
                    <a:lstStyle/>
                    <a:p>
                      <a:r>
                        <a:rPr kumimoji="1" lang="ja-JP" altLang="en-US" sz="1400" b="1" dirty="0"/>
                        <a:t>開発環境</a:t>
                      </a:r>
                    </a:p>
                  </a:txBody>
                  <a:tcPr/>
                </a:tc>
                <a:tc hMerge="1">
                  <a:txBody>
                    <a:bodyPr/>
                    <a:lstStyle/>
                    <a:p>
                      <a:endParaRPr kumimoji="1" lang="ja-JP" altLang="en-US" sz="1600" dirty="0"/>
                    </a:p>
                  </a:txBody>
                  <a:tcPr/>
                </a:tc>
                <a:tc hMerge="1">
                  <a:txBody>
                    <a:bodyPr/>
                    <a:lstStyle/>
                    <a:p>
                      <a:endParaRPr kumimoji="1" lang="ja-JP" altLang="en-US" sz="1600" dirty="0"/>
                    </a:p>
                  </a:txBody>
                  <a:tcPr/>
                </a:tc>
                <a:tc hMerge="1">
                  <a:txBody>
                    <a:bodyPr/>
                    <a:lstStyle/>
                    <a:p>
                      <a:endParaRPr kumimoji="1" lang="ja-JP" altLang="en-US" sz="1600" dirty="0"/>
                    </a:p>
                  </a:txBody>
                  <a:tcPr/>
                </a:tc>
                <a:extLst>
                  <a:ext uri="{0D108BD9-81ED-4DB2-BD59-A6C34878D82A}">
                    <a16:rowId xmlns:a16="http://schemas.microsoft.com/office/drawing/2014/main" val="1537571722"/>
                  </a:ext>
                </a:extLst>
              </a:tr>
              <a:tr h="370840">
                <a:tc>
                  <a:txBody>
                    <a:bodyPr/>
                    <a:lstStyle/>
                    <a:p>
                      <a:endParaRPr kumimoji="1" lang="ja-JP" altLang="en-US" sz="1400" dirty="0"/>
                    </a:p>
                  </a:txBody>
                  <a:tcPr/>
                </a:tc>
                <a:tc>
                  <a:txBody>
                    <a:bodyPr/>
                    <a:lstStyle/>
                    <a:p>
                      <a:r>
                        <a:rPr kumimoji="1" lang="ja-JP" altLang="en-US" sz="1400" dirty="0">
                          <a:latin typeface="游ゴシック 本文"/>
                        </a:rPr>
                        <a:t>自動機械学習（</a:t>
                      </a:r>
                      <a:r>
                        <a:rPr kumimoji="1" lang="en-US" altLang="ja-JP" sz="1400" dirty="0" err="1">
                          <a:latin typeface="游ゴシック 本文"/>
                        </a:rPr>
                        <a:t>AutoML</a:t>
                      </a:r>
                      <a:r>
                        <a:rPr kumimoji="1" lang="ja-JP" altLang="en-US" sz="1400" dirty="0">
                          <a:latin typeface="游ゴシック 本文"/>
                        </a:rPr>
                        <a:t>）</a:t>
                      </a:r>
                      <a:endParaRPr kumimoji="1" lang="ja-JP" altLang="en-US" sz="1400" dirty="0">
                        <a:highlight>
                          <a:srgbClr val="FFFF00"/>
                        </a:highlight>
                        <a:latin typeface="游ゴシック 本文"/>
                      </a:endParaRPr>
                    </a:p>
                  </a:txBody>
                  <a:tcPr/>
                </a:tc>
                <a:tc>
                  <a:txBody>
                    <a:bodyPr/>
                    <a:lstStyle/>
                    <a:p>
                      <a:r>
                        <a:rPr kumimoji="1" lang="ja-JP" altLang="en-US" sz="1400" dirty="0"/>
                        <a:t>データ前処理・特徴量生成からモデル選定・ハイパーパラメータ最適化までを自動化し、高品質なモデルを生成し、専門知識のないユーザーでもモデル構築を可能にする。</a:t>
                      </a:r>
                    </a:p>
                  </a:txBody>
                  <a:tcPr/>
                </a:tc>
                <a:tc>
                  <a:txBody>
                    <a:bodyPr/>
                    <a:lstStyle/>
                    <a:p>
                      <a:r>
                        <a:rPr kumimoji="1" lang="ja-JP" altLang="en-US" sz="1400" dirty="0"/>
                        <a:t>○</a:t>
                      </a:r>
                    </a:p>
                  </a:txBody>
                  <a:tcPr/>
                </a:tc>
                <a:extLst>
                  <a:ext uri="{0D108BD9-81ED-4DB2-BD59-A6C34878D82A}">
                    <a16:rowId xmlns:a16="http://schemas.microsoft.com/office/drawing/2014/main" val="1478687915"/>
                  </a:ext>
                </a:extLst>
              </a:tr>
              <a:tr h="370840">
                <a:tc>
                  <a:txBody>
                    <a:bodyPr/>
                    <a:lstStyle/>
                    <a:p>
                      <a:endParaRPr kumimoji="1" lang="ja-JP" altLang="en-US" sz="1400" dirty="0"/>
                    </a:p>
                  </a:txBody>
                  <a:tcPr/>
                </a:tc>
                <a:tc>
                  <a:txBody>
                    <a:bodyPr/>
                    <a:lstStyle/>
                    <a:p>
                      <a:r>
                        <a:rPr kumimoji="1" lang="ja-JP" altLang="en-US" sz="1400" dirty="0"/>
                        <a:t>ノーコード</a:t>
                      </a:r>
                      <a:r>
                        <a:rPr kumimoji="1" lang="en-US" altLang="ja-JP" sz="1400" dirty="0"/>
                        <a:t>/</a:t>
                      </a:r>
                      <a:r>
                        <a:rPr kumimoji="1" lang="ja-JP" altLang="en-US" sz="1400" dirty="0"/>
                        <a:t>ローコードとコードの両立</a:t>
                      </a:r>
                    </a:p>
                  </a:txBody>
                  <a:tcPr/>
                </a:tc>
                <a:tc>
                  <a:txBody>
                    <a:bodyPr/>
                    <a:lstStyle/>
                    <a:p>
                      <a:r>
                        <a:rPr kumimoji="1" lang="ja-JP" altLang="en-US" sz="1400" dirty="0"/>
                        <a:t>ドラッグ＆ドロップでモデルを構築できるビジュアルインターフェースと、</a:t>
                      </a:r>
                      <a:r>
                        <a:rPr kumimoji="1" lang="en-US" altLang="ja-JP" sz="1400" dirty="0"/>
                        <a:t>Python</a:t>
                      </a:r>
                      <a:r>
                        <a:rPr kumimoji="1" lang="ja-JP" altLang="en-US" sz="1400" dirty="0"/>
                        <a:t>・</a:t>
                      </a:r>
                      <a:r>
                        <a:rPr kumimoji="1" lang="en-US" altLang="ja-JP" sz="1400" dirty="0"/>
                        <a:t>SQL</a:t>
                      </a:r>
                      <a:r>
                        <a:rPr kumimoji="1" lang="ja-JP" altLang="en-US" sz="1400" dirty="0"/>
                        <a:t>・ノートブックでの開発を併用できる。</a:t>
                      </a:r>
                    </a:p>
                  </a:txBody>
                  <a:tcPr/>
                </a:tc>
                <a:tc>
                  <a:txBody>
                    <a:bodyPr/>
                    <a:lstStyle/>
                    <a:p>
                      <a:endParaRPr kumimoji="1" lang="ja-JP" altLang="en-US" sz="1400" dirty="0"/>
                    </a:p>
                  </a:txBody>
                  <a:tcPr/>
                </a:tc>
                <a:extLst>
                  <a:ext uri="{0D108BD9-81ED-4DB2-BD59-A6C34878D82A}">
                    <a16:rowId xmlns:a16="http://schemas.microsoft.com/office/drawing/2014/main" val="2212849413"/>
                  </a:ext>
                </a:extLst>
              </a:tr>
              <a:tr h="370840">
                <a:tc gridSpan="4">
                  <a:txBody>
                    <a:bodyPr/>
                    <a:lstStyle/>
                    <a:p>
                      <a:r>
                        <a:rPr kumimoji="1" lang="ja-JP" altLang="en-US" sz="1400" b="1" dirty="0"/>
                        <a:t>モデル学習・ハイパーパラメータ最適化</a:t>
                      </a:r>
                    </a:p>
                  </a:txBody>
                  <a:tcPr/>
                </a:tc>
                <a:tc hMerge="1">
                  <a:txBody>
                    <a:bodyPr/>
                    <a:lstStyle/>
                    <a:p>
                      <a:endParaRPr kumimoji="1" lang="ja-JP" altLang="en-US" sz="1400" dirty="0"/>
                    </a:p>
                  </a:txBody>
                  <a:tcPr/>
                </a:tc>
                <a:tc hMerge="1">
                  <a:txBody>
                    <a:bodyPr/>
                    <a:lstStyle/>
                    <a:p>
                      <a:endParaRPr kumimoji="1" lang="ja-JP" altLang="en-US" sz="1400" dirty="0"/>
                    </a:p>
                  </a:txBody>
                  <a:tcPr/>
                </a:tc>
                <a:tc hMerge="1">
                  <a:txBody>
                    <a:bodyPr/>
                    <a:lstStyle/>
                    <a:p>
                      <a:endParaRPr kumimoji="1" lang="ja-JP" altLang="en-US" sz="1400" dirty="0"/>
                    </a:p>
                  </a:txBody>
                  <a:tcPr/>
                </a:tc>
                <a:extLst>
                  <a:ext uri="{0D108BD9-81ED-4DB2-BD59-A6C34878D82A}">
                    <a16:rowId xmlns:a16="http://schemas.microsoft.com/office/drawing/2014/main" val="3686898159"/>
                  </a:ext>
                </a:extLst>
              </a:tr>
              <a:tr h="370840">
                <a:tc>
                  <a:txBody>
                    <a:bodyPr/>
                    <a:lstStyle/>
                    <a:p>
                      <a:endParaRPr kumimoji="1" lang="ja-JP" altLang="en-US" sz="1400" dirty="0"/>
                    </a:p>
                  </a:txBody>
                  <a:tcPr/>
                </a:tc>
                <a:tc>
                  <a:txBody>
                    <a:bodyPr/>
                    <a:lstStyle/>
                    <a:p>
                      <a:r>
                        <a:rPr kumimoji="1" lang="ja-JP" altLang="en-US" sz="1400" dirty="0"/>
                        <a:t>自動ハイパーパラメータ</a:t>
                      </a:r>
                      <a:r>
                        <a:rPr kumimoji="1" lang="en-US" altLang="ja-JP" sz="1400" dirty="0"/>
                        <a:t>―</a:t>
                      </a:r>
                      <a:r>
                        <a:rPr kumimoji="1" lang="ja-JP" altLang="en-US" sz="1400" dirty="0"/>
                        <a:t>探索</a:t>
                      </a:r>
                    </a:p>
                  </a:txBody>
                  <a:tcPr/>
                </a:tc>
                <a:tc>
                  <a:txBody>
                    <a:bodyPr/>
                    <a:lstStyle/>
                    <a:p>
                      <a:r>
                        <a:rPr kumimoji="1" lang="ja-JP" altLang="en-US" sz="1400" dirty="0"/>
                        <a:t>グリッドサーチ・ランダムサーチに加えてベイズ最適化を用いたハイパーパラメータスイープが実装され、並列実行で効率的に最適値を探索する。</a:t>
                      </a:r>
                    </a:p>
                  </a:txBody>
                  <a:tcPr/>
                </a:tc>
                <a:tc>
                  <a:txBody>
                    <a:bodyPr/>
                    <a:lstStyle/>
                    <a:p>
                      <a:endParaRPr kumimoji="1" lang="ja-JP" altLang="en-US" sz="1400" dirty="0"/>
                    </a:p>
                  </a:txBody>
                  <a:tcPr/>
                </a:tc>
                <a:extLst>
                  <a:ext uri="{0D108BD9-81ED-4DB2-BD59-A6C34878D82A}">
                    <a16:rowId xmlns:a16="http://schemas.microsoft.com/office/drawing/2014/main" val="1306503227"/>
                  </a:ext>
                </a:extLst>
              </a:tr>
              <a:tr h="370840">
                <a:tc>
                  <a:txBody>
                    <a:bodyPr/>
                    <a:lstStyle/>
                    <a:p>
                      <a:endParaRPr kumimoji="1" lang="ja-JP" altLang="en-US" sz="1400" dirty="0"/>
                    </a:p>
                  </a:txBody>
                  <a:tcPr/>
                </a:tc>
                <a:tc>
                  <a:txBody>
                    <a:bodyPr/>
                    <a:lstStyle/>
                    <a:p>
                      <a:r>
                        <a:rPr kumimoji="1" lang="ja-JP" altLang="en-US" sz="1400" dirty="0"/>
                        <a:t>深層学習や生成</a:t>
                      </a:r>
                      <a:r>
                        <a:rPr kumimoji="1" lang="en-US" altLang="ja-JP" sz="1400" dirty="0"/>
                        <a:t>AI</a:t>
                      </a:r>
                      <a:r>
                        <a:rPr kumimoji="1" lang="ja-JP" altLang="en-US" sz="1400" dirty="0"/>
                        <a:t>の対応</a:t>
                      </a:r>
                    </a:p>
                  </a:txBody>
                  <a:tcPr/>
                </a:tc>
                <a:tc>
                  <a:txBody>
                    <a:bodyPr/>
                    <a:lstStyle/>
                    <a:p>
                      <a:r>
                        <a:rPr kumimoji="1" lang="ja-JP" altLang="en-US" sz="1400" dirty="0"/>
                        <a:t>複雑なニューラルネットワークや強化学習に対応し、画像・動画・音声データの解析や生成をサポートする。</a:t>
                      </a:r>
                    </a:p>
                  </a:txBody>
                  <a:tcPr/>
                </a:tc>
                <a:tc>
                  <a:txBody>
                    <a:bodyPr/>
                    <a:lstStyle/>
                    <a:p>
                      <a:endParaRPr kumimoji="1" lang="ja-JP" altLang="en-US" sz="1400" dirty="0"/>
                    </a:p>
                  </a:txBody>
                  <a:tcPr/>
                </a:tc>
                <a:extLst>
                  <a:ext uri="{0D108BD9-81ED-4DB2-BD59-A6C34878D82A}">
                    <a16:rowId xmlns:a16="http://schemas.microsoft.com/office/drawing/2014/main" val="2199145696"/>
                  </a:ext>
                </a:extLst>
              </a:tr>
              <a:tr h="370840">
                <a:tc gridSpan="4">
                  <a:txBody>
                    <a:bodyPr/>
                    <a:lstStyle/>
                    <a:p>
                      <a:r>
                        <a:rPr kumimoji="1" lang="ja-JP" altLang="en-US" sz="1400" b="1" dirty="0"/>
                        <a:t>モデル評価と説明可能性</a:t>
                      </a:r>
                    </a:p>
                  </a:txBody>
                  <a:tcPr/>
                </a:tc>
                <a:tc hMerge="1">
                  <a:txBody>
                    <a:bodyPr/>
                    <a:lstStyle/>
                    <a:p>
                      <a:endParaRPr kumimoji="1" lang="ja-JP" altLang="en-US" sz="1400" dirty="0"/>
                    </a:p>
                  </a:txBody>
                  <a:tcPr/>
                </a:tc>
                <a:tc hMerge="1">
                  <a:txBody>
                    <a:bodyPr/>
                    <a:lstStyle/>
                    <a:p>
                      <a:endParaRPr kumimoji="1" lang="ja-JP" altLang="en-US" sz="1400" dirty="0"/>
                    </a:p>
                  </a:txBody>
                  <a:tcPr/>
                </a:tc>
                <a:tc hMerge="1">
                  <a:txBody>
                    <a:bodyPr/>
                    <a:lstStyle/>
                    <a:p>
                      <a:endParaRPr kumimoji="1" lang="ja-JP" altLang="en-US" sz="1400" dirty="0"/>
                    </a:p>
                  </a:txBody>
                  <a:tcPr/>
                </a:tc>
                <a:extLst>
                  <a:ext uri="{0D108BD9-81ED-4DB2-BD59-A6C34878D82A}">
                    <a16:rowId xmlns:a16="http://schemas.microsoft.com/office/drawing/2014/main" val="1616656949"/>
                  </a:ext>
                </a:extLst>
              </a:tr>
              <a:tr h="458957">
                <a:tc>
                  <a:txBody>
                    <a:bodyPr/>
                    <a:lstStyle/>
                    <a:p>
                      <a:endParaRPr kumimoji="1" lang="ja-JP" altLang="en-US" sz="1400" dirty="0"/>
                    </a:p>
                  </a:txBody>
                  <a:tcPr/>
                </a:tc>
                <a:tc>
                  <a:txBody>
                    <a:bodyPr/>
                    <a:lstStyle/>
                    <a:p>
                      <a:r>
                        <a:rPr kumimoji="1" lang="ja-JP" altLang="en-US" sz="1400" dirty="0"/>
                        <a:t>科学的アプローチを支える実験管理</a:t>
                      </a:r>
                    </a:p>
                  </a:txBody>
                  <a:tcPr/>
                </a:tc>
                <a:tc>
                  <a:txBody>
                    <a:bodyPr/>
                    <a:lstStyle/>
                    <a:p>
                      <a:r>
                        <a:rPr kumimoji="1" lang="ja-JP" altLang="en-US" sz="1400" dirty="0"/>
                        <a:t>モデル学習から精度までの一連の実験結果を自動で記録・管理できる。複数の実験結果を比較検討し、最適なモデルを自動で選定される。</a:t>
                      </a:r>
                    </a:p>
                  </a:txBody>
                  <a:tcPr/>
                </a:tc>
                <a:tc>
                  <a:txBody>
                    <a:bodyPr/>
                    <a:lstStyle/>
                    <a:p>
                      <a:endParaRPr kumimoji="1" lang="ja-JP" altLang="en-US" sz="1400" dirty="0"/>
                    </a:p>
                  </a:txBody>
                  <a:tcPr/>
                </a:tc>
                <a:extLst>
                  <a:ext uri="{0D108BD9-81ED-4DB2-BD59-A6C34878D82A}">
                    <a16:rowId xmlns:a16="http://schemas.microsoft.com/office/drawing/2014/main" val="1206218003"/>
                  </a:ext>
                </a:extLst>
              </a:tr>
              <a:tr h="370840">
                <a:tc>
                  <a:txBody>
                    <a:bodyPr/>
                    <a:lstStyle/>
                    <a:p>
                      <a:endParaRPr kumimoji="1" lang="ja-JP" altLang="en-US" sz="1400" dirty="0"/>
                    </a:p>
                  </a:txBody>
                  <a:tcPr/>
                </a:tc>
                <a:tc>
                  <a:txBody>
                    <a:bodyPr/>
                    <a:lstStyle/>
                    <a:p>
                      <a:r>
                        <a:rPr kumimoji="1" lang="ja-JP" altLang="en-US" sz="1400" dirty="0"/>
                        <a:t>説明可能な</a:t>
                      </a:r>
                      <a:r>
                        <a:rPr kumimoji="1" lang="en-US" altLang="ja-JP" sz="1400" dirty="0"/>
                        <a:t>AI</a:t>
                      </a:r>
                      <a:r>
                        <a:rPr kumimoji="1" lang="ja-JP" altLang="en-US" sz="1400" dirty="0"/>
                        <a:t>（</a:t>
                      </a:r>
                      <a:r>
                        <a:rPr kumimoji="1" lang="en-US" altLang="ja-JP" sz="1400" dirty="0" err="1"/>
                        <a:t>ExplainableAI</a:t>
                      </a:r>
                      <a:r>
                        <a:rPr kumimoji="1" lang="ja-JP" altLang="en-US" sz="1400" dirty="0"/>
                        <a:t>）と公平性</a:t>
                      </a:r>
                    </a:p>
                  </a:txBody>
                  <a:tcPr/>
                </a:tc>
                <a:tc>
                  <a:txBody>
                    <a:bodyPr/>
                    <a:lstStyle/>
                    <a:p>
                      <a:r>
                        <a:rPr kumimoji="1" lang="ja-JP" altLang="en-US" sz="1400" dirty="0"/>
                        <a:t>スコア寄与度を表示するツールや</a:t>
                      </a:r>
                      <a:r>
                        <a:rPr kumimoji="1" lang="en-US" altLang="ja-JP" sz="1400" dirty="0"/>
                        <a:t>Shapley</a:t>
                      </a:r>
                      <a:r>
                        <a:rPr kumimoji="1" lang="ja-JP" altLang="en-US" sz="1400" dirty="0"/>
                        <a:t>値、</a:t>
                      </a:r>
                      <a:r>
                        <a:rPr kumimoji="1" lang="en-US" altLang="ja-JP" sz="1400" dirty="0"/>
                        <a:t>LIME</a:t>
                      </a:r>
                      <a:r>
                        <a:rPr kumimoji="1" lang="ja-JP" altLang="en-US" sz="1400" dirty="0"/>
                        <a:t>などの手法を提供し、ユーザーにとって理解しやすいモデルカードで開発経緯や倫理的配慮を説明する。</a:t>
                      </a:r>
                    </a:p>
                  </a:txBody>
                  <a:tcPr/>
                </a:tc>
                <a:tc>
                  <a:txBody>
                    <a:bodyPr/>
                    <a:lstStyle/>
                    <a:p>
                      <a:endParaRPr kumimoji="1" lang="ja-JP" altLang="en-US" sz="1400" dirty="0"/>
                    </a:p>
                  </a:txBody>
                  <a:tcPr/>
                </a:tc>
                <a:extLst>
                  <a:ext uri="{0D108BD9-81ED-4DB2-BD59-A6C34878D82A}">
                    <a16:rowId xmlns:a16="http://schemas.microsoft.com/office/drawing/2014/main" val="1323007479"/>
                  </a:ext>
                </a:extLst>
              </a:tr>
              <a:tr h="370840">
                <a:tc gridSpan="4">
                  <a:txBody>
                    <a:bodyPr/>
                    <a:lstStyle/>
                    <a:p>
                      <a:r>
                        <a:rPr kumimoji="1" lang="ja-JP" altLang="en-US" sz="1400" b="1" dirty="0"/>
                        <a:t>モデル運用ライフサイクル管理</a:t>
                      </a:r>
                    </a:p>
                  </a:txBody>
                  <a:tcPr/>
                </a:tc>
                <a:tc hMerge="1">
                  <a:txBody>
                    <a:bodyPr/>
                    <a:lstStyle/>
                    <a:p>
                      <a:endParaRPr kumimoji="1" lang="ja-JP" altLang="en-US" sz="1400" dirty="0"/>
                    </a:p>
                  </a:txBody>
                  <a:tcPr/>
                </a:tc>
                <a:tc hMerge="1">
                  <a:txBody>
                    <a:bodyPr/>
                    <a:lstStyle/>
                    <a:p>
                      <a:endParaRPr kumimoji="1" lang="ja-JP" altLang="en-US" sz="1400" dirty="0"/>
                    </a:p>
                  </a:txBody>
                  <a:tcPr/>
                </a:tc>
                <a:tc hMerge="1">
                  <a:txBody>
                    <a:bodyPr/>
                    <a:lstStyle/>
                    <a:p>
                      <a:endParaRPr kumimoji="1" lang="ja-JP" altLang="en-US" sz="1400" dirty="0"/>
                    </a:p>
                  </a:txBody>
                  <a:tcPr/>
                </a:tc>
                <a:extLst>
                  <a:ext uri="{0D108BD9-81ED-4DB2-BD59-A6C34878D82A}">
                    <a16:rowId xmlns:a16="http://schemas.microsoft.com/office/drawing/2014/main" val="3158552187"/>
                  </a:ext>
                </a:extLst>
              </a:tr>
              <a:tr h="370840">
                <a:tc>
                  <a:txBody>
                    <a:bodyPr/>
                    <a:lstStyle/>
                    <a:p>
                      <a:endParaRPr kumimoji="1" lang="ja-JP" altLang="en-US" sz="1400" dirty="0"/>
                    </a:p>
                  </a:txBody>
                  <a:tcPr/>
                </a:tc>
                <a:tc>
                  <a:txBody>
                    <a:bodyPr/>
                    <a:lstStyle/>
                    <a:p>
                      <a:r>
                        <a:rPr kumimoji="1" lang="ja-JP" altLang="en-US" sz="1400" dirty="0"/>
                        <a:t>シームレスなデプロイ</a:t>
                      </a:r>
                    </a:p>
                  </a:txBody>
                  <a:tcPr/>
                </a:tc>
                <a:tc>
                  <a:txBody>
                    <a:bodyPr/>
                    <a:lstStyle/>
                    <a:p>
                      <a:r>
                        <a:rPr kumimoji="1" lang="ja-JP" altLang="en-US" sz="1400" dirty="0"/>
                        <a:t>開発・検証済みのモデルを、数クリックで本番環境に展開できる。</a:t>
                      </a:r>
                    </a:p>
                  </a:txBody>
                  <a:tcPr/>
                </a:tc>
                <a:tc>
                  <a:txBody>
                    <a:bodyPr/>
                    <a:lstStyle/>
                    <a:p>
                      <a:endParaRPr kumimoji="1" lang="ja-JP" altLang="en-US" sz="1400" dirty="0"/>
                    </a:p>
                  </a:txBody>
                  <a:tcPr/>
                </a:tc>
                <a:extLst>
                  <a:ext uri="{0D108BD9-81ED-4DB2-BD59-A6C34878D82A}">
                    <a16:rowId xmlns:a16="http://schemas.microsoft.com/office/drawing/2014/main" val="2820872623"/>
                  </a:ext>
                </a:extLst>
              </a:tr>
              <a:tr h="370840">
                <a:tc>
                  <a:txBody>
                    <a:bodyPr/>
                    <a:lstStyle/>
                    <a:p>
                      <a:endParaRPr kumimoji="1" lang="ja-JP" altLang="en-US" sz="1400" dirty="0"/>
                    </a:p>
                  </a:txBody>
                  <a:tcPr/>
                </a:tc>
                <a:tc>
                  <a:txBody>
                    <a:bodyPr/>
                    <a:lstStyle/>
                    <a:p>
                      <a:r>
                        <a:rPr kumimoji="1" lang="ja-JP" altLang="en-US" sz="1400" dirty="0"/>
                        <a:t>モデル</a:t>
                      </a:r>
                      <a:r>
                        <a:rPr kumimoji="1" lang="ja-JP" altLang="en-US" sz="1400"/>
                        <a:t>監視とアラート</a:t>
                      </a:r>
                      <a:endParaRPr kumimoji="1" lang="ja-JP" altLang="en-US" sz="1400" dirty="0"/>
                    </a:p>
                  </a:txBody>
                  <a:tcPr/>
                </a:tc>
                <a:tc>
                  <a:txBody>
                    <a:bodyPr/>
                    <a:lstStyle/>
                    <a:p>
                      <a:r>
                        <a:rPr kumimoji="1" lang="ja-JP" altLang="en-US" sz="1400" dirty="0"/>
                        <a:t>リアルタイムで精度低下やバイアスの発生を検知し、異常をアラートする。</a:t>
                      </a:r>
                    </a:p>
                  </a:txBody>
                  <a:tcPr/>
                </a:tc>
                <a:tc>
                  <a:txBody>
                    <a:bodyPr/>
                    <a:lstStyle/>
                    <a:p>
                      <a:endParaRPr kumimoji="1" lang="ja-JP" altLang="en-US" sz="1400" dirty="0"/>
                    </a:p>
                  </a:txBody>
                  <a:tcPr/>
                </a:tc>
                <a:extLst>
                  <a:ext uri="{0D108BD9-81ED-4DB2-BD59-A6C34878D82A}">
                    <a16:rowId xmlns:a16="http://schemas.microsoft.com/office/drawing/2014/main" val="2673580918"/>
                  </a:ext>
                </a:extLst>
              </a:tr>
              <a:tr h="370840">
                <a:tc>
                  <a:txBody>
                    <a:bodyPr/>
                    <a:lstStyle/>
                    <a:p>
                      <a:endParaRPr kumimoji="1" lang="ja-JP" altLang="en-US" sz="1400" dirty="0"/>
                    </a:p>
                  </a:txBody>
                  <a:tcPr/>
                </a:tc>
                <a:tc>
                  <a:txBody>
                    <a:bodyPr/>
                    <a:lstStyle/>
                    <a:p>
                      <a:r>
                        <a:rPr kumimoji="1" lang="ja-JP" altLang="en-US" sz="1400" dirty="0"/>
                        <a:t>再学習・再デプロイ自動化</a:t>
                      </a:r>
                    </a:p>
                  </a:txBody>
                  <a:tcPr/>
                </a:tc>
                <a:tc>
                  <a:txBody>
                    <a:bodyPr/>
                    <a:lstStyle/>
                    <a:p>
                      <a:r>
                        <a:rPr kumimoji="1" lang="ja-JP" altLang="en-US" sz="1400" dirty="0"/>
                        <a:t>モデルの精度劣化を検知した際に、自動で再学習のプロセスをキックするなど、モデルの鮮度を維持するためのライフサイクル全体を自動化するパイプラインを構築できる。</a:t>
                      </a:r>
                    </a:p>
                  </a:txBody>
                  <a:tcPr/>
                </a:tc>
                <a:tc>
                  <a:txBody>
                    <a:bodyPr/>
                    <a:lstStyle/>
                    <a:p>
                      <a:endParaRPr kumimoji="1" lang="ja-JP" altLang="en-US" sz="1400" dirty="0"/>
                    </a:p>
                  </a:txBody>
                  <a:tcPr/>
                </a:tc>
                <a:extLst>
                  <a:ext uri="{0D108BD9-81ED-4DB2-BD59-A6C34878D82A}">
                    <a16:rowId xmlns:a16="http://schemas.microsoft.com/office/drawing/2014/main" val="3267402944"/>
                  </a:ext>
                </a:extLst>
              </a:tr>
              <a:tr h="370840">
                <a:tc gridSpan="4">
                  <a:txBody>
                    <a:bodyPr/>
                    <a:lstStyle/>
                    <a:p>
                      <a:r>
                        <a:rPr kumimoji="1" lang="ja-JP" altLang="en-US" sz="1400" b="1" dirty="0"/>
                        <a:t>ガバナンスとユーザー管理</a:t>
                      </a:r>
                    </a:p>
                  </a:txBody>
                  <a:tcPr/>
                </a:tc>
                <a:tc hMerge="1">
                  <a:txBody>
                    <a:bodyPr/>
                    <a:lstStyle/>
                    <a:p>
                      <a:endParaRPr kumimoji="1" lang="ja-JP" altLang="en-US" sz="1400" dirty="0"/>
                    </a:p>
                  </a:txBody>
                  <a:tcPr/>
                </a:tc>
                <a:tc hMerge="1">
                  <a:txBody>
                    <a:bodyPr/>
                    <a:lstStyle/>
                    <a:p>
                      <a:endParaRPr kumimoji="1" lang="ja-JP" altLang="en-US" sz="1400" dirty="0"/>
                    </a:p>
                  </a:txBody>
                  <a:tcPr/>
                </a:tc>
                <a:tc hMerge="1">
                  <a:txBody>
                    <a:bodyPr/>
                    <a:lstStyle/>
                    <a:p>
                      <a:endParaRPr kumimoji="1" lang="ja-JP" altLang="en-US" sz="1400" dirty="0"/>
                    </a:p>
                  </a:txBody>
                  <a:tcPr/>
                </a:tc>
                <a:extLst>
                  <a:ext uri="{0D108BD9-81ED-4DB2-BD59-A6C34878D82A}">
                    <a16:rowId xmlns:a16="http://schemas.microsoft.com/office/drawing/2014/main" val="314489893"/>
                  </a:ext>
                </a:extLst>
              </a:tr>
              <a:tr h="370840">
                <a:tc>
                  <a:txBody>
                    <a:bodyPr/>
                    <a:lstStyle/>
                    <a:p>
                      <a:endParaRPr kumimoji="1" lang="ja-JP" alt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モデルレジストリ</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開発したすべてのモデルを、バージョン、精度、開発者などの情報と共に一元的に管理できる。</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400" dirty="0"/>
                    </a:p>
                  </a:txBody>
                  <a:tcPr/>
                </a:tc>
                <a:extLst>
                  <a:ext uri="{0D108BD9-81ED-4DB2-BD59-A6C34878D82A}">
                    <a16:rowId xmlns:a16="http://schemas.microsoft.com/office/drawing/2014/main" val="3966406346"/>
                  </a:ext>
                </a:extLst>
              </a:tr>
              <a:tr h="370840">
                <a:tc>
                  <a:txBody>
                    <a:bodyPr/>
                    <a:lstStyle/>
                    <a:p>
                      <a:endParaRPr kumimoji="1" lang="ja-JP" altLang="en-US" sz="1400" dirty="0"/>
                    </a:p>
                  </a:txBody>
                  <a:tcPr/>
                </a:tc>
                <a:tc>
                  <a:txBody>
                    <a:bodyPr/>
                    <a:lstStyle/>
                    <a:p>
                      <a:r>
                        <a:rPr kumimoji="1" lang="ja-JP" altLang="en-US" sz="1400" dirty="0"/>
                        <a:t>チームでの共同開発支援</a:t>
                      </a:r>
                    </a:p>
                  </a:txBody>
                  <a:tcPr/>
                </a:tc>
                <a:tc>
                  <a:txBody>
                    <a:bodyPr/>
                    <a:lstStyle/>
                    <a:p>
                      <a:r>
                        <a:rPr kumimoji="1" lang="en-US" altLang="ja-JP" sz="1400" dirty="0"/>
                        <a:t>Web</a:t>
                      </a:r>
                      <a:r>
                        <a:rPr kumimoji="1" lang="ja-JP" altLang="en-US" sz="1400" dirty="0"/>
                        <a:t>ブラウザベースの</a:t>
                      </a:r>
                      <a:r>
                        <a:rPr kumimoji="1" lang="en-US" altLang="ja-JP" sz="1400" dirty="0"/>
                        <a:t>UI</a:t>
                      </a:r>
                      <a:r>
                        <a:rPr kumimoji="1" lang="ja-JP" altLang="en-US" sz="1400" dirty="0"/>
                        <a:t>で、プロジェクト単位でメンバーやデータへのアクセス権限を管理し、チームで安全かつ効率的に共同作業ができる。</a:t>
                      </a:r>
                    </a:p>
                  </a:txBody>
                  <a:tcPr/>
                </a:tc>
                <a:tc>
                  <a:txBody>
                    <a:bodyPr/>
                    <a:lstStyle/>
                    <a:p>
                      <a:endParaRPr kumimoji="1" lang="ja-JP" altLang="en-US" sz="1400" dirty="0"/>
                    </a:p>
                  </a:txBody>
                  <a:tcPr/>
                </a:tc>
                <a:extLst>
                  <a:ext uri="{0D108BD9-81ED-4DB2-BD59-A6C34878D82A}">
                    <a16:rowId xmlns:a16="http://schemas.microsoft.com/office/drawing/2014/main" val="3477596338"/>
                  </a:ext>
                </a:extLst>
              </a:tr>
            </a:tbl>
          </a:graphicData>
        </a:graphic>
      </p:graphicFrame>
    </p:spTree>
    <p:extLst>
      <p:ext uri="{BB962C8B-B14F-4D97-AF65-F5344CB8AC3E}">
        <p14:creationId xmlns:p14="http://schemas.microsoft.com/office/powerpoint/2010/main" val="12259205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4C449-AB0E-F8A6-8F3B-EB46B26C87F3}"/>
            </a:ext>
          </a:extLst>
        </p:cNvPr>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0E11F3CE-C47A-F03F-AF19-77F437B222F9}"/>
              </a:ext>
            </a:extLst>
          </p:cNvPr>
          <p:cNvSpPr txBox="1"/>
          <p:nvPr/>
        </p:nvSpPr>
        <p:spPr>
          <a:xfrm>
            <a:off x="78719" y="102179"/>
            <a:ext cx="6093822" cy="369332"/>
          </a:xfrm>
          <a:prstGeom prst="rect">
            <a:avLst/>
          </a:prstGeom>
          <a:noFill/>
        </p:spPr>
        <p:txBody>
          <a:bodyPr wrap="square">
            <a:spAutoFit/>
          </a:bodyPr>
          <a:lstStyle/>
          <a:p>
            <a:r>
              <a:rPr kumimoji="1" lang="ja-JP" altLang="en-US" dirty="0"/>
              <a:t>＜ユーザー目線での機能要件＞</a:t>
            </a:r>
            <a:endParaRPr kumimoji="1" lang="en-US" altLang="ja-JP" dirty="0"/>
          </a:p>
        </p:txBody>
      </p:sp>
      <p:graphicFrame>
        <p:nvGraphicFramePr>
          <p:cNvPr id="6" name="表 5">
            <a:extLst>
              <a:ext uri="{FF2B5EF4-FFF2-40B4-BE49-F238E27FC236}">
                <a16:creationId xmlns:a16="http://schemas.microsoft.com/office/drawing/2014/main" id="{0AC923B7-4BB1-83D7-3236-FF9B5E9575BE}"/>
              </a:ext>
            </a:extLst>
          </p:cNvPr>
          <p:cNvGraphicFramePr>
            <a:graphicFrameLocks noGrp="1"/>
          </p:cNvGraphicFramePr>
          <p:nvPr/>
        </p:nvGraphicFramePr>
        <p:xfrm>
          <a:off x="86861" y="1285403"/>
          <a:ext cx="4030829" cy="5538181"/>
        </p:xfrm>
        <a:graphic>
          <a:graphicData uri="http://schemas.openxmlformats.org/drawingml/2006/table">
            <a:tbl>
              <a:tblPr/>
              <a:tblGrid>
                <a:gridCol w="964173">
                  <a:extLst>
                    <a:ext uri="{9D8B030D-6E8A-4147-A177-3AD203B41FA5}">
                      <a16:colId xmlns:a16="http://schemas.microsoft.com/office/drawing/2014/main" val="75483382"/>
                    </a:ext>
                  </a:extLst>
                </a:gridCol>
                <a:gridCol w="609600">
                  <a:extLst>
                    <a:ext uri="{9D8B030D-6E8A-4147-A177-3AD203B41FA5}">
                      <a16:colId xmlns:a16="http://schemas.microsoft.com/office/drawing/2014/main" val="1661506519"/>
                    </a:ext>
                  </a:extLst>
                </a:gridCol>
                <a:gridCol w="2457056">
                  <a:extLst>
                    <a:ext uri="{9D8B030D-6E8A-4147-A177-3AD203B41FA5}">
                      <a16:colId xmlns:a16="http://schemas.microsoft.com/office/drawing/2014/main" val="3629778366"/>
                    </a:ext>
                  </a:extLst>
                </a:gridCol>
              </a:tblGrid>
              <a:tr h="760235">
                <a:tc gridSpan="3">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ja-JP" altLang="ja-JP" sz="1000" b="1" i="0" u="none" strike="noStrike" cap="none" normalizeH="0" baseline="0" dirty="0">
                          <a:ln>
                            <a:noFill/>
                          </a:ln>
                          <a:solidFill>
                            <a:srgbClr val="09090B"/>
                          </a:solidFill>
                          <a:effectLst/>
                          <a:latin typeface="Arial" panose="020B0604020202020204" pitchFamily="34" charset="0"/>
                        </a:rPr>
                        <a:t>1. ユーザーフレンドリー機能（ノーコード/ローコード）</a:t>
                      </a:r>
                    </a:p>
                    <a:p>
                      <a:pPr marL="0" marR="0" lvl="0" indent="0" algn="ctr" defTabSz="914400" rtl="0" eaLnBrk="0" fontAlgn="base" latinLnBrk="0" hangingPunct="0">
                        <a:lnSpc>
                          <a:spcPct val="100000"/>
                        </a:lnSpc>
                        <a:spcBef>
                          <a:spcPct val="0"/>
                        </a:spcBef>
                        <a:spcAft>
                          <a:spcPct val="0"/>
                        </a:spcAft>
                        <a:buClrTx/>
                        <a:buSzTx/>
                        <a:buFontTx/>
                        <a:buNone/>
                        <a:tabLst/>
                      </a:pPr>
                      <a:r>
                        <a:rPr kumimoji="0" lang="ja-JP" altLang="ja-JP" sz="1000" b="0" i="0" u="none" strike="noStrike" cap="none" normalizeH="0" baseline="0" dirty="0">
                          <a:ln>
                            <a:noFill/>
                          </a:ln>
                          <a:solidFill>
                            <a:srgbClr val="09090B"/>
                          </a:solidFill>
                          <a:effectLst/>
                          <a:latin typeface="Arial" panose="020B0604020202020204" pitchFamily="34" charset="0"/>
                        </a:rPr>
                        <a:t>ビジネス部門ユーザーが、</a:t>
                      </a:r>
                      <a:r>
                        <a:rPr kumimoji="0" lang="ja-JP" altLang="en-US" sz="1000" dirty="0">
                          <a:solidFill>
                            <a:srgbClr val="09090B"/>
                          </a:solidFill>
                        </a:rPr>
                        <a:t>開発者が準備したデータマートから</a:t>
                      </a:r>
                      <a:r>
                        <a:rPr kumimoji="0" lang="ja-JP" altLang="ja-JP" sz="1000" b="0" i="0" u="none" strike="noStrike" cap="none" normalizeH="0" baseline="0" dirty="0">
                          <a:ln>
                            <a:noFill/>
                          </a:ln>
                          <a:solidFill>
                            <a:srgbClr val="09090B"/>
                          </a:solidFill>
                          <a:effectLst/>
                          <a:latin typeface="Arial" panose="020B0604020202020204" pitchFamily="34" charset="0"/>
                        </a:rPr>
                        <a:t>プログラミングなしで</a:t>
                      </a:r>
                      <a:r>
                        <a:rPr kumimoji="0" lang="ja-JP" altLang="en-US" sz="1000" b="0" i="0" u="none" strike="noStrike" cap="none" normalizeH="0" baseline="0" dirty="0">
                          <a:ln>
                            <a:noFill/>
                          </a:ln>
                          <a:solidFill>
                            <a:srgbClr val="09090B"/>
                          </a:solidFill>
                          <a:effectLst/>
                          <a:latin typeface="Arial" panose="020B0604020202020204" pitchFamily="34" charset="0"/>
                        </a:rPr>
                        <a:t>直感的に分析</a:t>
                      </a:r>
                      <a:r>
                        <a:rPr kumimoji="0" lang="ja-JP" altLang="ja-JP" sz="1000" b="0" i="0" u="none" strike="noStrike" cap="none" normalizeH="0" baseline="0" dirty="0">
                          <a:ln>
                            <a:noFill/>
                          </a:ln>
                          <a:solidFill>
                            <a:srgbClr val="09090B"/>
                          </a:solidFill>
                          <a:effectLst/>
                          <a:latin typeface="Arial" panose="020B0604020202020204" pitchFamily="34" charset="0"/>
                        </a:rPr>
                        <a:t>できるための基本的なGUI機能についてお伺いします</a:t>
                      </a:r>
                      <a:endParaRPr kumimoji="0" lang="ja-JP" altLang="ja-JP" sz="1000" b="0" i="0" u="none" strike="noStrike" cap="none" normalizeH="0" baseline="0" dirty="0">
                        <a:ln>
                          <a:noFill/>
                        </a:ln>
                        <a:solidFill>
                          <a:schemeClr val="tx1"/>
                        </a:solidFill>
                        <a:effectLst/>
                        <a:latin typeface="Arial" panose="020B0604020202020204" pitchFamily="34" charset="0"/>
                      </a:endParaRPr>
                    </a:p>
                  </a:txBody>
                  <a:tcPr marL="21921" marR="21921" marT="21921" marB="21921"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chemeClr val="accent3">
                        <a:lumMod val="20000"/>
                        <a:lumOff val="80000"/>
                      </a:schemeClr>
                    </a:solidFill>
                  </a:tcPr>
                </a:tc>
                <a:tc hMerge="1">
                  <a:txBody>
                    <a:bodyPr/>
                    <a:lstStyle/>
                    <a:p>
                      <a:pPr algn="l"/>
                      <a:endParaRPr lang="ja-JP" altLang="en-US" sz="900">
                        <a:effectLst/>
                      </a:endParaRPr>
                    </a:p>
                  </a:txBody>
                  <a:tcPr marL="21921" marR="21921" marT="21921" marB="21921"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1F5F9"/>
                    </a:solidFill>
                  </a:tcPr>
                </a:tc>
                <a:tc hMerge="1">
                  <a:txBody>
                    <a:bodyPr/>
                    <a:lstStyle/>
                    <a:p>
                      <a:pPr algn="l"/>
                      <a:endParaRPr lang="ja-JP" altLang="en-US" sz="900" dirty="0">
                        <a:effectLst/>
                      </a:endParaRPr>
                    </a:p>
                  </a:txBody>
                  <a:tcPr marL="21921" marR="21921" marT="21921" marB="21921"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1F5F9"/>
                    </a:solidFill>
                  </a:tcPr>
                </a:tc>
                <a:extLst>
                  <a:ext uri="{0D108BD9-81ED-4DB2-BD59-A6C34878D82A}">
                    <a16:rowId xmlns:a16="http://schemas.microsoft.com/office/drawing/2014/main" val="3252089475"/>
                  </a:ext>
                </a:extLst>
              </a:tr>
              <a:tr h="317683">
                <a:tc>
                  <a:txBody>
                    <a:bodyPr/>
                    <a:lstStyle/>
                    <a:p>
                      <a:pPr algn="l"/>
                      <a:r>
                        <a:rPr lang="ja-JP" altLang="en-US" sz="900" dirty="0">
                          <a:effectLst/>
                        </a:rPr>
                        <a:t>機能項目</a:t>
                      </a:r>
                    </a:p>
                  </a:txBody>
                  <a:tcPr marL="21921" marR="21921" marT="21921" marB="21921"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1F5F9"/>
                    </a:solidFill>
                  </a:tcPr>
                </a:tc>
                <a:tc>
                  <a:txBody>
                    <a:bodyPr/>
                    <a:lstStyle/>
                    <a:p>
                      <a:pPr algn="l"/>
                      <a:r>
                        <a:rPr lang="ja-JP" altLang="en-US" sz="900" dirty="0">
                          <a:effectLst/>
                        </a:rPr>
                        <a:t>対応可否</a:t>
                      </a:r>
                    </a:p>
                  </a:txBody>
                  <a:tcPr marL="21921" marR="21921" marT="21921" marB="21921"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1F5F9"/>
                    </a:solidFill>
                  </a:tcPr>
                </a:tc>
                <a:tc>
                  <a:txBody>
                    <a:bodyPr/>
                    <a:lstStyle/>
                    <a:p>
                      <a:pPr algn="l"/>
                      <a:r>
                        <a:rPr lang="ja-JP" altLang="en-US" sz="900" dirty="0">
                          <a:effectLst/>
                        </a:rPr>
                        <a:t>具体的な実現方法・特徴</a:t>
                      </a:r>
                    </a:p>
                  </a:txBody>
                  <a:tcPr marL="21921" marR="21921" marT="21921" marB="21921"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1F5F9"/>
                    </a:solidFill>
                  </a:tcPr>
                </a:tc>
                <a:extLst>
                  <a:ext uri="{0D108BD9-81ED-4DB2-BD59-A6C34878D82A}">
                    <a16:rowId xmlns:a16="http://schemas.microsoft.com/office/drawing/2014/main" val="2554055209"/>
                  </a:ext>
                </a:extLst>
              </a:tr>
              <a:tr h="689854">
                <a:tc>
                  <a:txBody>
                    <a:bodyPr/>
                    <a:lstStyle/>
                    <a:p>
                      <a:pPr algn="l"/>
                      <a:r>
                        <a:rPr lang="en-US" altLang="ja-JP" sz="900" b="1">
                          <a:effectLst/>
                        </a:rPr>
                        <a:t>GUI</a:t>
                      </a:r>
                      <a:r>
                        <a:rPr lang="ja-JP" altLang="en-US" sz="900" b="1">
                          <a:effectLst/>
                        </a:rPr>
                        <a:t>画面ビルダー</a:t>
                      </a:r>
                      <a:endParaRPr lang="ja-JP" altLang="en-US" sz="900">
                        <a:effectLst/>
                      </a:endParaRPr>
                    </a:p>
                  </a:txBody>
                  <a:tcPr marL="21921" marR="21921" marT="21921" marB="21921"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endParaRPr lang="ja-JP" altLang="en-US" sz="900" dirty="0">
                        <a:effectLst/>
                      </a:endParaRPr>
                    </a:p>
                  </a:txBody>
                  <a:tcPr marL="21921" marR="21921" marT="21921" marB="21921"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r>
                        <a:rPr lang="ja-JP" altLang="en-US" sz="900" dirty="0">
                          <a:effectLst/>
                        </a:rPr>
                        <a:t>ドラッグ＆ドロップによる画面作成機能。</a:t>
                      </a:r>
                      <a:r>
                        <a:rPr lang="en-US" altLang="ja-JP" sz="900" dirty="0">
                          <a:effectLst/>
                        </a:rPr>
                        <a:t>PC/</a:t>
                      </a:r>
                      <a:r>
                        <a:rPr lang="ja-JP" altLang="en-US" sz="900" dirty="0">
                          <a:effectLst/>
                        </a:rPr>
                        <a:t>スマートフォン</a:t>
                      </a:r>
                      <a:r>
                        <a:rPr lang="en-US" altLang="ja-JP" sz="900" dirty="0">
                          <a:effectLst/>
                        </a:rPr>
                        <a:t>/</a:t>
                      </a:r>
                      <a:r>
                        <a:rPr lang="ja-JP" altLang="en-US" sz="900" dirty="0">
                          <a:effectLst/>
                        </a:rPr>
                        <a:t>タブレット向けのレスポンシブデザインに標準で対応しているか。</a:t>
                      </a:r>
                    </a:p>
                  </a:txBody>
                  <a:tcPr marL="21921" marR="21921" marT="21921" marB="21921"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672332394"/>
                  </a:ext>
                </a:extLst>
              </a:tr>
              <a:tr h="689854">
                <a:tc>
                  <a:txBody>
                    <a:bodyPr/>
                    <a:lstStyle/>
                    <a:p>
                      <a:pPr algn="l"/>
                      <a:r>
                        <a:rPr lang="ja-JP" altLang="en-US" sz="900" b="1">
                          <a:effectLst/>
                        </a:rPr>
                        <a:t>豊富な</a:t>
                      </a:r>
                      <a:r>
                        <a:rPr lang="en-US" altLang="ja-JP" sz="900" b="1">
                          <a:effectLst/>
                        </a:rPr>
                        <a:t>UI</a:t>
                      </a:r>
                      <a:r>
                        <a:rPr lang="ja-JP" altLang="en-US" sz="900" b="1">
                          <a:effectLst/>
                        </a:rPr>
                        <a:t>コンポーネント</a:t>
                      </a:r>
                      <a:endParaRPr lang="ja-JP" altLang="en-US" sz="900">
                        <a:effectLst/>
                      </a:endParaRPr>
                    </a:p>
                  </a:txBody>
                  <a:tcPr marL="21921" marR="21921" marT="21921" marB="21921"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endParaRPr lang="ja-JP" altLang="en-US" sz="900">
                        <a:effectLst/>
                      </a:endParaRPr>
                    </a:p>
                  </a:txBody>
                  <a:tcPr marL="21921" marR="21921" marT="21921" marB="21921"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r>
                        <a:rPr lang="ja-JP" altLang="en-US" sz="900" dirty="0">
                          <a:effectLst/>
                        </a:rPr>
                        <a:t>フォーム、テーブル、ボタン、グラフ、地図、カレンダーなど、標準で提供される</a:t>
                      </a:r>
                      <a:r>
                        <a:rPr lang="en-US" altLang="ja-JP" sz="900" dirty="0">
                          <a:effectLst/>
                        </a:rPr>
                        <a:t>UI</a:t>
                      </a:r>
                      <a:r>
                        <a:rPr lang="ja-JP" altLang="en-US" sz="900" dirty="0">
                          <a:effectLst/>
                        </a:rPr>
                        <a:t>部品の種類とカスタマイズ性について。</a:t>
                      </a:r>
                    </a:p>
                  </a:txBody>
                  <a:tcPr marL="21921" marR="21921" marT="21921" marB="21921"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3784947984"/>
                  </a:ext>
                </a:extLst>
              </a:tr>
              <a:tr h="796899">
                <a:tc>
                  <a:txBody>
                    <a:bodyPr/>
                    <a:lstStyle/>
                    <a:p>
                      <a:pPr algn="l"/>
                      <a:r>
                        <a:rPr lang="ja-JP" altLang="en-US" sz="900" b="1">
                          <a:effectLst/>
                        </a:rPr>
                        <a:t>ビジュアルなワークフロー</a:t>
                      </a:r>
                      <a:r>
                        <a:rPr lang="en-US" altLang="ja-JP" sz="900" b="1">
                          <a:effectLst/>
                        </a:rPr>
                        <a:t>/</a:t>
                      </a:r>
                      <a:r>
                        <a:rPr lang="ja-JP" altLang="en-US" sz="900" b="1">
                          <a:effectLst/>
                        </a:rPr>
                        <a:t>ロジック定義</a:t>
                      </a:r>
                      <a:endParaRPr lang="ja-JP" altLang="en-US" sz="900">
                        <a:effectLst/>
                      </a:endParaRPr>
                    </a:p>
                  </a:txBody>
                  <a:tcPr marL="21921" marR="21921" marT="21921" marB="21921"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endParaRPr lang="ja-JP" altLang="en-US" sz="900">
                        <a:effectLst/>
                      </a:endParaRPr>
                    </a:p>
                  </a:txBody>
                  <a:tcPr marL="21921" marR="21921" marT="21921" marB="21921"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r>
                        <a:rPr lang="ja-JP" altLang="en-US" sz="900" dirty="0">
                          <a:effectLst/>
                        </a:rPr>
                        <a:t>「</a:t>
                      </a:r>
                      <a:r>
                        <a:rPr lang="en-US" altLang="ja-JP" sz="900" dirty="0">
                          <a:effectLst/>
                        </a:rPr>
                        <a:t>A</a:t>
                      </a:r>
                      <a:r>
                        <a:rPr lang="ja-JP" altLang="en-US" sz="900" dirty="0">
                          <a:effectLst/>
                        </a:rPr>
                        <a:t>が実行されたら</a:t>
                      </a:r>
                      <a:r>
                        <a:rPr lang="en-US" altLang="ja-JP" sz="900" dirty="0">
                          <a:effectLst/>
                        </a:rPr>
                        <a:t>B</a:t>
                      </a:r>
                      <a:r>
                        <a:rPr lang="ja-JP" altLang="en-US" sz="900" dirty="0">
                          <a:effectLst/>
                        </a:rPr>
                        <a:t>を実行し、承認されれば</a:t>
                      </a:r>
                      <a:r>
                        <a:rPr lang="en-US" altLang="ja-JP" sz="900" dirty="0">
                          <a:effectLst/>
                        </a:rPr>
                        <a:t>C</a:t>
                      </a:r>
                      <a:r>
                        <a:rPr lang="ja-JP" altLang="en-US" sz="900" dirty="0">
                          <a:effectLst/>
                        </a:rPr>
                        <a:t>へ進む」といった業務プロセスや画面ロジックを、フローチャートのような</a:t>
                      </a:r>
                      <a:r>
                        <a:rPr lang="en-US" altLang="ja-JP" sz="900" dirty="0">
                          <a:effectLst/>
                        </a:rPr>
                        <a:t>GUI</a:t>
                      </a:r>
                      <a:r>
                        <a:rPr lang="ja-JP" altLang="en-US" sz="900" dirty="0">
                          <a:effectLst/>
                        </a:rPr>
                        <a:t>で設定できるか。</a:t>
                      </a:r>
                    </a:p>
                  </a:txBody>
                  <a:tcPr marL="21921" marR="21921" marT="21921" marB="21921"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189877232"/>
                  </a:ext>
                </a:extLst>
              </a:tr>
              <a:tr h="903948">
                <a:tc>
                  <a:txBody>
                    <a:bodyPr/>
                    <a:lstStyle/>
                    <a:p>
                      <a:pPr algn="l"/>
                      <a:r>
                        <a:rPr lang="en-US" altLang="ja-JP" sz="900" b="1">
                          <a:effectLst/>
                        </a:rPr>
                        <a:t>GUI</a:t>
                      </a:r>
                      <a:r>
                        <a:rPr lang="ja-JP" altLang="en-US" sz="900" b="1">
                          <a:effectLst/>
                        </a:rPr>
                        <a:t>によるデータモデル定義</a:t>
                      </a:r>
                      <a:endParaRPr lang="ja-JP" altLang="en-US" sz="900">
                        <a:effectLst/>
                      </a:endParaRPr>
                    </a:p>
                  </a:txBody>
                  <a:tcPr marL="21921" marR="21921" marT="21921" marB="21921"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endParaRPr lang="ja-JP" altLang="en-US" sz="900">
                        <a:effectLst/>
                      </a:endParaRPr>
                    </a:p>
                  </a:txBody>
                  <a:tcPr marL="21921" marR="21921" marT="21921" marB="21921"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r>
                        <a:rPr lang="ja-JP" altLang="en-US" sz="900" dirty="0">
                          <a:effectLst/>
                        </a:rPr>
                        <a:t>アプリケーションで利用するデータベース（テーブル、項目、リレーション）を、</a:t>
                      </a:r>
                      <a:r>
                        <a:rPr lang="en-US" altLang="ja-JP" sz="900" dirty="0">
                          <a:effectLst/>
                        </a:rPr>
                        <a:t>Excel</a:t>
                      </a:r>
                      <a:r>
                        <a:rPr lang="ja-JP" altLang="en-US" sz="900" dirty="0">
                          <a:effectLst/>
                        </a:rPr>
                        <a:t>のようなインターフェースや</a:t>
                      </a:r>
                      <a:r>
                        <a:rPr lang="en-US" altLang="ja-JP" sz="900" dirty="0">
                          <a:effectLst/>
                        </a:rPr>
                        <a:t>GUI</a:t>
                      </a:r>
                      <a:r>
                        <a:rPr lang="ja-JP" altLang="en-US" sz="900" dirty="0">
                          <a:effectLst/>
                        </a:rPr>
                        <a:t>操作で直感的に定義・変更できるか。</a:t>
                      </a:r>
                    </a:p>
                  </a:txBody>
                  <a:tcPr marL="21921" marR="21921" marT="21921" marB="21921"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3156034777"/>
                  </a:ext>
                </a:extLst>
              </a:tr>
              <a:tr h="689854">
                <a:tc>
                  <a:txBody>
                    <a:bodyPr/>
                    <a:lstStyle/>
                    <a:p>
                      <a:pPr algn="l"/>
                      <a:r>
                        <a:rPr lang="ja-JP" altLang="en-US" sz="900" b="1">
                          <a:effectLst/>
                        </a:rPr>
                        <a:t>業務テンプレート</a:t>
                      </a:r>
                      <a:endParaRPr lang="ja-JP" altLang="en-US" sz="900">
                        <a:effectLst/>
                      </a:endParaRPr>
                    </a:p>
                  </a:txBody>
                  <a:tcPr marL="21921" marR="21921" marT="21921" marB="21921"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endParaRPr lang="ja-JP" altLang="en-US" sz="900">
                        <a:effectLst/>
                      </a:endParaRPr>
                    </a:p>
                  </a:txBody>
                  <a:tcPr marL="21921" marR="21921" marT="21921" marB="21921"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r>
                        <a:rPr lang="ja-JP" altLang="en-US" sz="900" dirty="0">
                          <a:effectLst/>
                        </a:rPr>
                        <a:t>顧客管理、案件管理、日報、問い合わせ管理など、すぐに利用開始できる業務アプリケーションのテンプレートの有無と種類。</a:t>
                      </a:r>
                    </a:p>
                  </a:txBody>
                  <a:tcPr marL="21921" marR="21921" marT="21921" marB="21921"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3700444544"/>
                  </a:ext>
                </a:extLst>
              </a:tr>
              <a:tr h="689854">
                <a:tc>
                  <a:txBody>
                    <a:bodyPr/>
                    <a:lstStyle/>
                    <a:p>
                      <a:pPr algn="l"/>
                      <a:r>
                        <a:rPr lang="en-US" sz="900" b="1" dirty="0">
                          <a:effectLst/>
                        </a:rPr>
                        <a:t>Excel/CSV</a:t>
                      </a:r>
                      <a:r>
                        <a:rPr lang="ja-JP" altLang="en-US" sz="900" b="1" dirty="0">
                          <a:effectLst/>
                        </a:rPr>
                        <a:t>連携</a:t>
                      </a:r>
                      <a:endParaRPr lang="ja-JP" altLang="en-US" sz="900" dirty="0">
                        <a:effectLst/>
                      </a:endParaRPr>
                    </a:p>
                  </a:txBody>
                  <a:tcPr marL="21921" marR="21921" marT="21921" marB="21921"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endParaRPr lang="ja-JP" altLang="en-US" sz="900">
                        <a:effectLst/>
                      </a:endParaRPr>
                    </a:p>
                  </a:txBody>
                  <a:tcPr marL="21921" marR="21921" marT="21921" marB="21921"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r>
                        <a:rPr lang="ja-JP" altLang="en-US" sz="900" dirty="0">
                          <a:effectLst/>
                        </a:rPr>
                        <a:t>既存の</a:t>
                      </a:r>
                      <a:r>
                        <a:rPr lang="en-US" altLang="ja-JP" sz="900" dirty="0">
                          <a:effectLst/>
                        </a:rPr>
                        <a:t>Excel</a:t>
                      </a:r>
                      <a:r>
                        <a:rPr lang="ja-JP" altLang="en-US" sz="900" dirty="0">
                          <a:effectLst/>
                        </a:rPr>
                        <a:t>や</a:t>
                      </a:r>
                      <a:r>
                        <a:rPr lang="en-US" altLang="ja-JP" sz="900" dirty="0">
                          <a:effectLst/>
                        </a:rPr>
                        <a:t>CSV</a:t>
                      </a:r>
                      <a:r>
                        <a:rPr lang="ja-JP" altLang="en-US" sz="900" dirty="0">
                          <a:effectLst/>
                        </a:rPr>
                        <a:t>ファイルをインポートしてアプリを自動生成したり、アプリ内のデータをエクスポートする機能の有無。</a:t>
                      </a:r>
                    </a:p>
                  </a:txBody>
                  <a:tcPr marL="21921" marR="21921" marT="21921" marB="21921"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961317157"/>
                  </a:ext>
                </a:extLst>
              </a:tr>
            </a:tbl>
          </a:graphicData>
        </a:graphic>
      </p:graphicFrame>
      <p:graphicFrame>
        <p:nvGraphicFramePr>
          <p:cNvPr id="8" name="表 7">
            <a:extLst>
              <a:ext uri="{FF2B5EF4-FFF2-40B4-BE49-F238E27FC236}">
                <a16:creationId xmlns:a16="http://schemas.microsoft.com/office/drawing/2014/main" id="{6D665EC1-3AFE-4285-D2C5-894F26D48B95}"/>
              </a:ext>
            </a:extLst>
          </p:cNvPr>
          <p:cNvGraphicFramePr>
            <a:graphicFrameLocks noGrp="1"/>
          </p:cNvGraphicFramePr>
          <p:nvPr/>
        </p:nvGraphicFramePr>
        <p:xfrm>
          <a:off x="4291222" y="1281366"/>
          <a:ext cx="3856882" cy="5538180"/>
        </p:xfrm>
        <a:graphic>
          <a:graphicData uri="http://schemas.openxmlformats.org/drawingml/2006/table">
            <a:tbl>
              <a:tblPr/>
              <a:tblGrid>
                <a:gridCol w="863751">
                  <a:extLst>
                    <a:ext uri="{9D8B030D-6E8A-4147-A177-3AD203B41FA5}">
                      <a16:colId xmlns:a16="http://schemas.microsoft.com/office/drawing/2014/main" val="3537271072"/>
                    </a:ext>
                  </a:extLst>
                </a:gridCol>
                <a:gridCol w="554148">
                  <a:extLst>
                    <a:ext uri="{9D8B030D-6E8A-4147-A177-3AD203B41FA5}">
                      <a16:colId xmlns:a16="http://schemas.microsoft.com/office/drawing/2014/main" val="1568841209"/>
                    </a:ext>
                  </a:extLst>
                </a:gridCol>
                <a:gridCol w="2438983">
                  <a:extLst>
                    <a:ext uri="{9D8B030D-6E8A-4147-A177-3AD203B41FA5}">
                      <a16:colId xmlns:a16="http://schemas.microsoft.com/office/drawing/2014/main" val="2795034104"/>
                    </a:ext>
                  </a:extLst>
                </a:gridCol>
              </a:tblGrid>
              <a:tr h="733168">
                <a:tc gridSpan="3">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ja-JP" altLang="ja-JP" sz="1000" b="1" i="0" u="none" strike="noStrike" cap="none" normalizeH="0" baseline="0" dirty="0">
                          <a:ln>
                            <a:noFill/>
                          </a:ln>
                          <a:solidFill>
                            <a:srgbClr val="09090B"/>
                          </a:solidFill>
                          <a:effectLst/>
                          <a:latin typeface="Arial" panose="020B0604020202020204" pitchFamily="34" charset="0"/>
                          <a:ea typeface="ui-sans-serif"/>
                        </a:rPr>
                        <a:t>2. AIエージェント機能</a:t>
                      </a:r>
                    </a:p>
                    <a:p>
                      <a:pPr marL="0" marR="0" lvl="0" indent="0" algn="ctr" defTabSz="914400" rtl="0" eaLnBrk="0" fontAlgn="base" latinLnBrk="0" hangingPunct="0">
                        <a:lnSpc>
                          <a:spcPct val="100000"/>
                        </a:lnSpc>
                        <a:spcBef>
                          <a:spcPct val="0"/>
                        </a:spcBef>
                        <a:spcAft>
                          <a:spcPct val="0"/>
                        </a:spcAft>
                        <a:buClrTx/>
                        <a:buSzTx/>
                        <a:buFontTx/>
                        <a:buNone/>
                        <a:tabLst/>
                      </a:pPr>
                      <a:r>
                        <a:rPr kumimoji="0" lang="ja-JP" altLang="ja-JP" sz="1000" b="0" i="0" u="none" strike="noStrike" cap="none" normalizeH="0" baseline="0" dirty="0">
                          <a:ln>
                            <a:noFill/>
                          </a:ln>
                          <a:solidFill>
                            <a:srgbClr val="09090B"/>
                          </a:solidFill>
                          <a:effectLst/>
                          <a:latin typeface="Arial" panose="020B0604020202020204" pitchFamily="34" charset="0"/>
                          <a:ea typeface="ui-sans-serif"/>
                        </a:rPr>
                        <a:t>ユーザーが自然言語の指示や対話を通じて、</a:t>
                      </a:r>
                      <a:r>
                        <a:rPr kumimoji="0" lang="ja-JP" altLang="en-US" sz="1000" b="0" i="0" u="none" strike="noStrike" cap="none" normalizeH="0" baseline="0" dirty="0">
                          <a:ln>
                            <a:noFill/>
                          </a:ln>
                          <a:solidFill>
                            <a:srgbClr val="09090B"/>
                          </a:solidFill>
                          <a:effectLst/>
                          <a:latin typeface="Arial" panose="020B0604020202020204" pitchFamily="34" charset="0"/>
                          <a:ea typeface="ui-sans-serif"/>
                        </a:rPr>
                        <a:t>インタラクティブに</a:t>
                      </a:r>
                      <a:r>
                        <a:rPr kumimoji="0" lang="ja-JP" altLang="ja-JP" sz="1000" b="0" i="0" u="none" strike="noStrike" cap="none" normalizeH="0" baseline="0" dirty="0">
                          <a:ln>
                            <a:noFill/>
                          </a:ln>
                          <a:solidFill>
                            <a:srgbClr val="09090B"/>
                          </a:solidFill>
                          <a:effectLst/>
                          <a:latin typeface="Arial" panose="020B0604020202020204" pitchFamily="34" charset="0"/>
                          <a:ea typeface="ui-sans-serif"/>
                        </a:rPr>
                        <a:t>生成</a:t>
                      </a:r>
                      <a:r>
                        <a:rPr kumimoji="0" lang="ja-JP" altLang="en-US" sz="1000" b="0" i="0" u="none" strike="noStrike" cap="none" normalizeH="0" baseline="0" dirty="0">
                          <a:ln>
                            <a:noFill/>
                          </a:ln>
                          <a:solidFill>
                            <a:srgbClr val="09090B"/>
                          </a:solidFill>
                          <a:effectLst/>
                          <a:latin typeface="Arial" panose="020B0604020202020204" pitchFamily="34" charset="0"/>
                          <a:ea typeface="ui-sans-serif"/>
                        </a:rPr>
                        <a:t>したり、開発者がパイプラインのインプットとして利用可能な</a:t>
                      </a:r>
                      <a:r>
                        <a:rPr kumimoji="0" lang="ja-JP" altLang="ja-JP" sz="1000" b="0" i="0" u="none" strike="noStrike" cap="none" normalizeH="0" baseline="0" dirty="0">
                          <a:ln>
                            <a:noFill/>
                          </a:ln>
                          <a:solidFill>
                            <a:srgbClr val="09090B"/>
                          </a:solidFill>
                          <a:effectLst/>
                          <a:latin typeface="Arial" panose="020B0604020202020204" pitchFamily="34" charset="0"/>
                          <a:ea typeface="ui-sans-serif"/>
                        </a:rPr>
                        <a:t>AI機能についてお伺いします</a:t>
                      </a:r>
                      <a:endParaRPr kumimoji="0" lang="ja-JP" altLang="ja-JP" sz="1000" b="0" i="0" u="none" strike="noStrike" cap="none" normalizeH="0" baseline="0" dirty="0">
                        <a:ln>
                          <a:noFill/>
                        </a:ln>
                        <a:solidFill>
                          <a:schemeClr val="tx1"/>
                        </a:solidFill>
                        <a:effectLst/>
                        <a:latin typeface="Arial" panose="020B0604020202020204" pitchFamily="34" charset="0"/>
                      </a:endParaRPr>
                    </a:p>
                  </a:txBody>
                  <a:tcPr marL="20099" marR="20099" marT="20099" marB="20099"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chemeClr val="accent2">
                        <a:lumMod val="20000"/>
                        <a:lumOff val="80000"/>
                      </a:schemeClr>
                    </a:solidFill>
                  </a:tcPr>
                </a:tc>
                <a:tc hMerge="1">
                  <a:txBody>
                    <a:bodyPr/>
                    <a:lstStyle/>
                    <a:p>
                      <a:pPr algn="l"/>
                      <a:endParaRPr lang="ja-JP" altLang="en-US" sz="900" dirty="0">
                        <a:effectLst/>
                      </a:endParaRPr>
                    </a:p>
                  </a:txBody>
                  <a:tcPr marL="20099" marR="20099" marT="20099" marB="20099"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1F5F9"/>
                    </a:solidFill>
                  </a:tcPr>
                </a:tc>
                <a:tc hMerge="1">
                  <a:txBody>
                    <a:bodyPr/>
                    <a:lstStyle/>
                    <a:p>
                      <a:pPr algn="l"/>
                      <a:endParaRPr lang="ja-JP" altLang="en-US" sz="900" dirty="0">
                        <a:effectLst/>
                      </a:endParaRPr>
                    </a:p>
                  </a:txBody>
                  <a:tcPr marL="20099" marR="20099" marT="20099" marB="20099"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1F5F9"/>
                    </a:solidFill>
                  </a:tcPr>
                </a:tc>
                <a:extLst>
                  <a:ext uri="{0D108BD9-81ED-4DB2-BD59-A6C34878D82A}">
                    <a16:rowId xmlns:a16="http://schemas.microsoft.com/office/drawing/2014/main" val="2655512281"/>
                  </a:ext>
                </a:extLst>
              </a:tr>
              <a:tr h="315516">
                <a:tc>
                  <a:txBody>
                    <a:bodyPr/>
                    <a:lstStyle/>
                    <a:p>
                      <a:pPr algn="l"/>
                      <a:r>
                        <a:rPr lang="ja-JP" altLang="en-US" sz="900" dirty="0">
                          <a:effectLst/>
                        </a:rPr>
                        <a:t>機能項目</a:t>
                      </a:r>
                    </a:p>
                  </a:txBody>
                  <a:tcPr marL="20099" marR="20099" marT="20099" marB="20099"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1F5F9"/>
                    </a:solidFill>
                  </a:tcPr>
                </a:tc>
                <a:tc>
                  <a:txBody>
                    <a:bodyPr/>
                    <a:lstStyle/>
                    <a:p>
                      <a:pPr algn="l"/>
                      <a:r>
                        <a:rPr lang="ja-JP" altLang="en-US" sz="900" dirty="0">
                          <a:effectLst/>
                        </a:rPr>
                        <a:t>対応可否</a:t>
                      </a:r>
                    </a:p>
                  </a:txBody>
                  <a:tcPr marL="20099" marR="20099" marT="20099" marB="20099"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1F5F9"/>
                    </a:solidFill>
                  </a:tcPr>
                </a:tc>
                <a:tc>
                  <a:txBody>
                    <a:bodyPr/>
                    <a:lstStyle/>
                    <a:p>
                      <a:pPr algn="l"/>
                      <a:r>
                        <a:rPr lang="ja-JP" altLang="en-US" sz="900" dirty="0">
                          <a:effectLst/>
                        </a:rPr>
                        <a:t>具体的な実現方法・特徴</a:t>
                      </a:r>
                    </a:p>
                  </a:txBody>
                  <a:tcPr marL="20099" marR="20099" marT="20099" marB="20099"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1F5F9"/>
                    </a:solidFill>
                  </a:tcPr>
                </a:tc>
                <a:extLst>
                  <a:ext uri="{0D108BD9-81ED-4DB2-BD59-A6C34878D82A}">
                    <a16:rowId xmlns:a16="http://schemas.microsoft.com/office/drawing/2014/main" val="294493939"/>
                  </a:ext>
                </a:extLst>
              </a:tr>
              <a:tr h="728301">
                <a:tc>
                  <a:txBody>
                    <a:bodyPr/>
                    <a:lstStyle/>
                    <a:p>
                      <a:pPr algn="l"/>
                      <a:r>
                        <a:rPr lang="ja-JP" altLang="en-US" sz="900" b="1" dirty="0">
                          <a:effectLst/>
                        </a:rPr>
                        <a:t>自然言語によるアプリ生成・修正</a:t>
                      </a:r>
                      <a:endParaRPr lang="ja-JP" altLang="en-US" sz="900" dirty="0">
                        <a:effectLst/>
                      </a:endParaRPr>
                    </a:p>
                  </a:txBody>
                  <a:tcPr marL="20099" marR="20099" marT="20099" marB="20099"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endParaRPr lang="ja-JP" altLang="en-US" sz="900" dirty="0">
                        <a:effectLst/>
                      </a:endParaRPr>
                    </a:p>
                  </a:txBody>
                  <a:tcPr marL="20099" marR="20099" marT="20099" marB="20099"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r>
                        <a:rPr lang="ja-JP" altLang="en-US" sz="900" dirty="0">
                          <a:effectLst/>
                        </a:rPr>
                        <a:t>「顧客名と訪問日を記録するアプリを作って」といった自然言語での指示に基づき、アプリの雛形を自動生成したり、既存アプリを修正する機能。</a:t>
                      </a:r>
                    </a:p>
                  </a:txBody>
                  <a:tcPr marL="20099" marR="20099" marT="20099" marB="20099"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287959653"/>
                  </a:ext>
                </a:extLst>
              </a:tr>
              <a:tr h="793622">
                <a:tc>
                  <a:txBody>
                    <a:bodyPr/>
                    <a:lstStyle/>
                    <a:p>
                      <a:pPr algn="l"/>
                      <a:r>
                        <a:rPr lang="ja-JP" altLang="en-US" sz="900" b="1" dirty="0">
                          <a:effectLst/>
                        </a:rPr>
                        <a:t>データ分析アシスタント</a:t>
                      </a:r>
                      <a:endParaRPr lang="ja-JP" altLang="en-US" sz="900" dirty="0">
                        <a:effectLst/>
                      </a:endParaRPr>
                    </a:p>
                  </a:txBody>
                  <a:tcPr marL="20099" marR="20099" marT="20099" marB="20099"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endParaRPr lang="ja-JP" altLang="en-US" sz="900" dirty="0">
                        <a:effectLst/>
                      </a:endParaRPr>
                    </a:p>
                  </a:txBody>
                  <a:tcPr marL="20099" marR="20099" marT="20099" marB="20099"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r>
                        <a:rPr lang="ja-JP" altLang="en-US" sz="900" dirty="0">
                          <a:effectLst/>
                        </a:rPr>
                        <a:t>アプリ内のデータに対し、「先月の売上トップ</a:t>
                      </a:r>
                      <a:r>
                        <a:rPr lang="en-US" altLang="ja-JP" sz="900" dirty="0">
                          <a:effectLst/>
                        </a:rPr>
                        <a:t>5</a:t>
                      </a:r>
                      <a:r>
                        <a:rPr lang="ja-JP" altLang="en-US" sz="900" dirty="0">
                          <a:effectLst/>
                        </a:rPr>
                        <a:t>は？」「製品</a:t>
                      </a:r>
                      <a:r>
                        <a:rPr lang="en-US" altLang="ja-JP" sz="900" dirty="0">
                          <a:effectLst/>
                        </a:rPr>
                        <a:t>A</a:t>
                      </a:r>
                      <a:r>
                        <a:rPr lang="ja-JP" altLang="en-US" sz="900" dirty="0">
                          <a:effectLst/>
                        </a:rPr>
                        <a:t>と</a:t>
                      </a:r>
                      <a:r>
                        <a:rPr lang="en-US" altLang="ja-JP" sz="900" dirty="0">
                          <a:effectLst/>
                        </a:rPr>
                        <a:t>B</a:t>
                      </a:r>
                      <a:r>
                        <a:rPr lang="ja-JP" altLang="en-US" sz="900" dirty="0">
                          <a:effectLst/>
                        </a:rPr>
                        <a:t>の売上推移を比較して」といった質問を投げかけると、グラフや文章で回答を生成する機能。</a:t>
                      </a:r>
                    </a:p>
                  </a:txBody>
                  <a:tcPr marL="20099" marR="20099" marT="20099" marB="20099"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2641684988"/>
                  </a:ext>
                </a:extLst>
              </a:tr>
              <a:tr h="865897">
                <a:tc>
                  <a:txBody>
                    <a:bodyPr/>
                    <a:lstStyle/>
                    <a:p>
                      <a:pPr algn="l"/>
                      <a:r>
                        <a:rPr lang="ja-JP" altLang="en-US" sz="900" b="1" dirty="0">
                          <a:effectLst/>
                        </a:rPr>
                        <a:t>自律型タスク実行エージェント</a:t>
                      </a:r>
                      <a:endParaRPr lang="ja-JP" altLang="en-US" sz="900" dirty="0">
                        <a:effectLst/>
                      </a:endParaRPr>
                    </a:p>
                  </a:txBody>
                  <a:tcPr marL="20099" marR="20099" marT="20099" marB="20099"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endParaRPr lang="ja-JP" altLang="en-US" sz="900" dirty="0">
                        <a:effectLst/>
                      </a:endParaRPr>
                    </a:p>
                  </a:txBody>
                  <a:tcPr marL="20099" marR="20099" marT="20099" marB="20099"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r>
                        <a:rPr lang="ja-JP" altLang="en-US" sz="900" dirty="0">
                          <a:effectLst/>
                        </a:rPr>
                        <a:t>「毎週金曜の</a:t>
                      </a:r>
                      <a:r>
                        <a:rPr lang="en-US" altLang="ja-JP" sz="900" dirty="0">
                          <a:effectLst/>
                        </a:rPr>
                        <a:t>17</a:t>
                      </a:r>
                      <a:r>
                        <a:rPr lang="ja-JP" altLang="en-US" sz="900" dirty="0">
                          <a:effectLst/>
                        </a:rPr>
                        <a:t>時に今週の全案件データを集計し、サマリーを作成して関係者にメールで送る」といった複数ステップのタスクを自律的に実行する</a:t>
                      </a:r>
                      <a:r>
                        <a:rPr lang="en-US" altLang="ja-JP" sz="900" dirty="0">
                          <a:effectLst/>
                        </a:rPr>
                        <a:t>AI</a:t>
                      </a:r>
                      <a:r>
                        <a:rPr lang="ja-JP" altLang="en-US" sz="900" dirty="0">
                          <a:effectLst/>
                        </a:rPr>
                        <a:t>エージェントを作成・管理できるか。</a:t>
                      </a:r>
                    </a:p>
                  </a:txBody>
                  <a:tcPr marL="20099" marR="20099" marT="20099" marB="20099"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630947307"/>
                  </a:ext>
                </a:extLst>
              </a:tr>
              <a:tr h="705864">
                <a:tc>
                  <a:txBody>
                    <a:bodyPr/>
                    <a:lstStyle/>
                    <a:p>
                      <a:pPr algn="l"/>
                      <a:r>
                        <a:rPr lang="en-US" altLang="ja-JP" sz="900" b="1" dirty="0">
                          <a:effectLst/>
                        </a:rPr>
                        <a:t>AI</a:t>
                      </a:r>
                      <a:r>
                        <a:rPr lang="ja-JP" altLang="en-US" sz="900" b="1" dirty="0">
                          <a:effectLst/>
                        </a:rPr>
                        <a:t>による入力支援</a:t>
                      </a:r>
                      <a:endParaRPr lang="ja-JP" altLang="en-US" sz="900" dirty="0">
                        <a:effectLst/>
                      </a:endParaRPr>
                    </a:p>
                  </a:txBody>
                  <a:tcPr marL="20099" marR="20099" marT="20099" marB="20099"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endParaRPr lang="ja-JP" altLang="en-US" sz="900">
                        <a:effectLst/>
                      </a:endParaRPr>
                    </a:p>
                  </a:txBody>
                  <a:tcPr marL="20099" marR="20099" marT="20099" marB="20099"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r>
                        <a:rPr lang="ja-JP" altLang="en-US" sz="900" dirty="0">
                          <a:effectLst/>
                        </a:rPr>
                        <a:t>スマートフォンカメラで撮影した名刺や請求書を</a:t>
                      </a:r>
                      <a:r>
                        <a:rPr lang="en-US" altLang="ja-JP" sz="900" dirty="0">
                          <a:effectLst/>
                        </a:rPr>
                        <a:t>OCR</a:t>
                      </a:r>
                      <a:r>
                        <a:rPr lang="ja-JP" altLang="en-US" sz="900" dirty="0">
                          <a:effectLst/>
                        </a:rPr>
                        <a:t>で読み取り、データとして自動入力する機能。音声入力によるデータ登録機能など。</a:t>
                      </a:r>
                    </a:p>
                  </a:txBody>
                  <a:tcPr marL="20099" marR="20099" marT="20099" marB="20099"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3339981479"/>
                  </a:ext>
                </a:extLst>
              </a:tr>
              <a:tr h="667511">
                <a:tc>
                  <a:txBody>
                    <a:bodyPr/>
                    <a:lstStyle/>
                    <a:p>
                      <a:pPr algn="l"/>
                      <a:r>
                        <a:rPr lang="ja-JP" altLang="en-US" sz="900" b="1" dirty="0">
                          <a:effectLst/>
                        </a:rPr>
                        <a:t>アプリケーションへの</a:t>
                      </a:r>
                      <a:r>
                        <a:rPr lang="en-US" altLang="ja-JP" sz="900" b="1" dirty="0">
                          <a:effectLst/>
                        </a:rPr>
                        <a:t>AI</a:t>
                      </a:r>
                      <a:r>
                        <a:rPr lang="ja-JP" altLang="en-US" sz="900" b="1" dirty="0">
                          <a:effectLst/>
                        </a:rPr>
                        <a:t>組込み</a:t>
                      </a:r>
                      <a:endParaRPr lang="ja-JP" altLang="en-US" sz="900" dirty="0">
                        <a:effectLst/>
                      </a:endParaRPr>
                    </a:p>
                  </a:txBody>
                  <a:tcPr marL="20099" marR="20099" marT="20099" marB="20099"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endParaRPr lang="ja-JP" altLang="en-US" sz="900">
                        <a:effectLst/>
                      </a:endParaRPr>
                    </a:p>
                  </a:txBody>
                  <a:tcPr marL="20099" marR="20099" marT="20099" marB="20099"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r>
                        <a:rPr lang="ja-JP" altLang="en-US" sz="900" dirty="0">
                          <a:effectLst/>
                        </a:rPr>
                        <a:t>ユーザーが作成するアプリ内に、</a:t>
                      </a:r>
                      <a:r>
                        <a:rPr lang="en-US" altLang="ja-JP" sz="900" dirty="0">
                          <a:effectLst/>
                        </a:rPr>
                        <a:t>FAQ</a:t>
                      </a:r>
                      <a:r>
                        <a:rPr lang="ja-JP" altLang="en-US" sz="900" dirty="0">
                          <a:effectLst/>
                        </a:rPr>
                        <a:t>チャットボットや要約機能、レコメンド機能といった</a:t>
                      </a:r>
                      <a:r>
                        <a:rPr lang="en-US" altLang="ja-JP" sz="900" dirty="0">
                          <a:effectLst/>
                        </a:rPr>
                        <a:t>AI</a:t>
                      </a:r>
                      <a:r>
                        <a:rPr lang="ja-JP" altLang="en-US" sz="900" dirty="0">
                          <a:effectLst/>
                        </a:rPr>
                        <a:t>コンポーネントを簡単に組み込めるか。</a:t>
                      </a:r>
                    </a:p>
                  </a:txBody>
                  <a:tcPr marL="20099" marR="20099" marT="20099" marB="20099"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4145190949"/>
                  </a:ext>
                </a:extLst>
              </a:tr>
              <a:tr h="728301">
                <a:tc>
                  <a:txBody>
                    <a:bodyPr/>
                    <a:lstStyle/>
                    <a:p>
                      <a:pPr algn="l"/>
                      <a:r>
                        <a:rPr lang="ja-JP" altLang="en-US" sz="900" b="1" dirty="0">
                          <a:effectLst/>
                        </a:rPr>
                        <a:t>利用</a:t>
                      </a:r>
                      <a:r>
                        <a:rPr lang="en-US" altLang="ja-JP" sz="900" b="1" dirty="0">
                          <a:effectLst/>
                        </a:rPr>
                        <a:t>AI</a:t>
                      </a:r>
                      <a:r>
                        <a:rPr lang="ja-JP" altLang="en-US" sz="900" b="1" dirty="0">
                          <a:effectLst/>
                        </a:rPr>
                        <a:t>モデルと拡張性</a:t>
                      </a:r>
                      <a:endParaRPr lang="ja-JP" altLang="en-US" sz="900" dirty="0">
                        <a:effectLst/>
                      </a:endParaRPr>
                    </a:p>
                  </a:txBody>
                  <a:tcPr marL="20099" marR="20099" marT="20099" marB="20099"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endParaRPr lang="ja-JP" altLang="en-US" sz="900" dirty="0">
                        <a:effectLst/>
                      </a:endParaRPr>
                    </a:p>
                  </a:txBody>
                  <a:tcPr marL="20099" marR="20099" marT="20099" marB="20099"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r>
                        <a:rPr lang="ja-JP" altLang="en-US" sz="900" dirty="0">
                          <a:effectLst/>
                        </a:rPr>
                        <a:t>基盤となる</a:t>
                      </a:r>
                      <a:r>
                        <a:rPr lang="en-US" altLang="ja-JP" sz="900" dirty="0">
                          <a:effectLst/>
                        </a:rPr>
                        <a:t>AI</a:t>
                      </a:r>
                      <a:r>
                        <a:rPr lang="ja-JP" altLang="en-US" sz="900" dirty="0">
                          <a:effectLst/>
                        </a:rPr>
                        <a:t>モデル（例：</a:t>
                      </a:r>
                      <a:r>
                        <a:rPr lang="en-US" altLang="ja-JP" sz="900" dirty="0">
                          <a:effectLst/>
                        </a:rPr>
                        <a:t>GPT-4, Claude 3</a:t>
                      </a:r>
                      <a:r>
                        <a:rPr lang="ja-JP" altLang="en-US" sz="900" dirty="0">
                          <a:effectLst/>
                        </a:rPr>
                        <a:t>等）の種類。また、自社データでファインチューニングしたり、独自の</a:t>
                      </a:r>
                      <a:r>
                        <a:rPr lang="en-US" altLang="ja-JP" sz="900" dirty="0">
                          <a:effectLst/>
                        </a:rPr>
                        <a:t>AI</a:t>
                      </a:r>
                      <a:r>
                        <a:rPr lang="ja-JP" altLang="en-US" sz="900" dirty="0">
                          <a:effectLst/>
                        </a:rPr>
                        <a:t>モデルを連携させることは可能か。</a:t>
                      </a:r>
                    </a:p>
                  </a:txBody>
                  <a:tcPr marL="20099" marR="20099" marT="20099" marB="20099"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2349816483"/>
                  </a:ext>
                </a:extLst>
              </a:tr>
            </a:tbl>
          </a:graphicData>
        </a:graphic>
      </p:graphicFrame>
      <p:graphicFrame>
        <p:nvGraphicFramePr>
          <p:cNvPr id="9" name="表 8">
            <a:extLst>
              <a:ext uri="{FF2B5EF4-FFF2-40B4-BE49-F238E27FC236}">
                <a16:creationId xmlns:a16="http://schemas.microsoft.com/office/drawing/2014/main" id="{AFC8750F-38E6-746D-BBA9-EDA0F05B9953}"/>
              </a:ext>
            </a:extLst>
          </p:cNvPr>
          <p:cNvGraphicFramePr>
            <a:graphicFrameLocks noGrp="1"/>
          </p:cNvGraphicFramePr>
          <p:nvPr/>
        </p:nvGraphicFramePr>
        <p:xfrm>
          <a:off x="8256402" y="1319821"/>
          <a:ext cx="3856882" cy="5499724"/>
        </p:xfrm>
        <a:graphic>
          <a:graphicData uri="http://schemas.openxmlformats.org/drawingml/2006/table">
            <a:tbl>
              <a:tblPr/>
              <a:tblGrid>
                <a:gridCol w="908619">
                  <a:extLst>
                    <a:ext uri="{9D8B030D-6E8A-4147-A177-3AD203B41FA5}">
                      <a16:colId xmlns:a16="http://schemas.microsoft.com/office/drawing/2014/main" val="1450134276"/>
                    </a:ext>
                  </a:extLst>
                </a:gridCol>
                <a:gridCol w="651641">
                  <a:extLst>
                    <a:ext uri="{9D8B030D-6E8A-4147-A177-3AD203B41FA5}">
                      <a16:colId xmlns:a16="http://schemas.microsoft.com/office/drawing/2014/main" val="1015977253"/>
                    </a:ext>
                  </a:extLst>
                </a:gridCol>
                <a:gridCol w="2296622">
                  <a:extLst>
                    <a:ext uri="{9D8B030D-6E8A-4147-A177-3AD203B41FA5}">
                      <a16:colId xmlns:a16="http://schemas.microsoft.com/office/drawing/2014/main" val="4270581434"/>
                    </a:ext>
                  </a:extLst>
                </a:gridCol>
              </a:tblGrid>
              <a:tr h="672966">
                <a:tc gridSpan="3">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ja-JP" altLang="ja-JP" sz="1000" b="1" i="0" u="none" strike="noStrike" cap="none" normalizeH="0" baseline="0" dirty="0">
                          <a:ln>
                            <a:noFill/>
                          </a:ln>
                          <a:solidFill>
                            <a:srgbClr val="09090B"/>
                          </a:solidFill>
                          <a:effectLst/>
                          <a:latin typeface="Arial" panose="020B0604020202020204" pitchFamily="34" charset="0"/>
                          <a:ea typeface="ui-sans-serif"/>
                        </a:rPr>
                        <a:t>3. 開発者向け機能（CUI/Pro-Code）</a:t>
                      </a:r>
                    </a:p>
                    <a:p>
                      <a:pPr marL="0" marR="0" lvl="0" indent="0" algn="ctr" defTabSz="914400" rtl="0" eaLnBrk="0" fontAlgn="base" latinLnBrk="0" hangingPunct="0">
                        <a:lnSpc>
                          <a:spcPct val="100000"/>
                        </a:lnSpc>
                        <a:spcBef>
                          <a:spcPct val="0"/>
                        </a:spcBef>
                        <a:spcAft>
                          <a:spcPct val="0"/>
                        </a:spcAft>
                        <a:buClrTx/>
                        <a:buSzTx/>
                        <a:buFontTx/>
                        <a:buNone/>
                        <a:tabLst/>
                      </a:pPr>
                      <a:r>
                        <a:rPr kumimoji="0" lang="ja-JP" altLang="ja-JP" sz="1000" b="0" i="0" u="none" strike="noStrike" cap="none" normalizeH="0" baseline="0" dirty="0">
                          <a:ln>
                            <a:noFill/>
                          </a:ln>
                          <a:solidFill>
                            <a:srgbClr val="09090B"/>
                          </a:solidFill>
                          <a:effectLst/>
                          <a:latin typeface="Arial" panose="020B0604020202020204" pitchFamily="34" charset="0"/>
                          <a:ea typeface="ui-sans-serif"/>
                        </a:rPr>
                        <a:t>ローコード/ノーコードの範囲を超える複雑な要件や、外部システムとの高度な連携を実現するための開発者向け機能についてお伺いします</a:t>
                      </a:r>
                      <a:endParaRPr kumimoji="0" lang="ja-JP" altLang="ja-JP" sz="1000" b="0" i="0" u="none" strike="noStrike" cap="none" normalizeH="0" baseline="0" dirty="0">
                        <a:ln>
                          <a:noFill/>
                        </a:ln>
                        <a:solidFill>
                          <a:schemeClr val="tx1"/>
                        </a:solidFill>
                        <a:effectLst/>
                        <a:latin typeface="Arial" panose="020B0604020202020204" pitchFamily="34" charset="0"/>
                      </a:endParaRPr>
                    </a:p>
                  </a:txBody>
                  <a:tcPr marL="22430" marR="22430" marT="22430" marB="22430"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chemeClr val="accent4">
                        <a:lumMod val="20000"/>
                        <a:lumOff val="80000"/>
                      </a:schemeClr>
                    </a:solidFill>
                  </a:tcPr>
                </a:tc>
                <a:tc hMerge="1">
                  <a:txBody>
                    <a:bodyPr/>
                    <a:lstStyle/>
                    <a:p>
                      <a:pPr algn="l"/>
                      <a:endParaRPr lang="ja-JP" altLang="en-US" sz="1000" dirty="0">
                        <a:effectLst/>
                      </a:endParaRPr>
                    </a:p>
                  </a:txBody>
                  <a:tcPr marL="22430" marR="22430" marT="22430" marB="22430"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1F5F9"/>
                    </a:solidFill>
                  </a:tcPr>
                </a:tc>
                <a:tc hMerge="1">
                  <a:txBody>
                    <a:bodyPr/>
                    <a:lstStyle/>
                    <a:p>
                      <a:pPr algn="l"/>
                      <a:endParaRPr lang="ja-JP" altLang="en-US" sz="1000" dirty="0">
                        <a:effectLst/>
                      </a:endParaRPr>
                    </a:p>
                  </a:txBody>
                  <a:tcPr marL="22430" marR="22430" marT="22430" marB="22430"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1F5F9"/>
                    </a:solidFill>
                  </a:tcPr>
                </a:tc>
                <a:extLst>
                  <a:ext uri="{0D108BD9-81ED-4DB2-BD59-A6C34878D82A}">
                    <a16:rowId xmlns:a16="http://schemas.microsoft.com/office/drawing/2014/main" val="2706725758"/>
                  </a:ext>
                </a:extLst>
              </a:tr>
              <a:tr h="333954">
                <a:tc>
                  <a:txBody>
                    <a:bodyPr/>
                    <a:lstStyle/>
                    <a:p>
                      <a:pPr algn="l"/>
                      <a:r>
                        <a:rPr lang="ja-JP" altLang="en-US" sz="900" dirty="0">
                          <a:effectLst/>
                        </a:rPr>
                        <a:t>機能項目</a:t>
                      </a:r>
                    </a:p>
                  </a:txBody>
                  <a:tcPr marL="22430" marR="22430" marT="22430" marB="22430"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1F5F9"/>
                    </a:solidFill>
                  </a:tcPr>
                </a:tc>
                <a:tc>
                  <a:txBody>
                    <a:bodyPr/>
                    <a:lstStyle/>
                    <a:p>
                      <a:pPr algn="l"/>
                      <a:r>
                        <a:rPr lang="ja-JP" altLang="en-US" sz="900" dirty="0">
                          <a:effectLst/>
                        </a:rPr>
                        <a:t>対応可否</a:t>
                      </a:r>
                    </a:p>
                  </a:txBody>
                  <a:tcPr marL="22430" marR="22430" marT="22430" marB="22430"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1F5F9"/>
                    </a:solidFill>
                  </a:tcPr>
                </a:tc>
                <a:tc>
                  <a:txBody>
                    <a:bodyPr/>
                    <a:lstStyle/>
                    <a:p>
                      <a:pPr algn="l"/>
                      <a:r>
                        <a:rPr lang="ja-JP" altLang="en-US" sz="900" dirty="0">
                          <a:effectLst/>
                        </a:rPr>
                        <a:t>具体的な実現方法・特徴</a:t>
                      </a:r>
                    </a:p>
                  </a:txBody>
                  <a:tcPr marL="22430" marR="22430" marT="22430" marB="22430"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1F5F9"/>
                    </a:solidFill>
                  </a:tcPr>
                </a:tc>
                <a:extLst>
                  <a:ext uri="{0D108BD9-81ED-4DB2-BD59-A6C34878D82A}">
                    <a16:rowId xmlns:a16="http://schemas.microsoft.com/office/drawing/2014/main" val="1782645446"/>
                  </a:ext>
                </a:extLst>
              </a:tr>
              <a:tr h="672689">
                <a:tc>
                  <a:txBody>
                    <a:bodyPr/>
                    <a:lstStyle/>
                    <a:p>
                      <a:pPr algn="l"/>
                      <a:r>
                        <a:rPr lang="en-US" sz="900" b="1" dirty="0">
                          <a:effectLst/>
                        </a:rPr>
                        <a:t>CUI/CLI</a:t>
                      </a:r>
                      <a:r>
                        <a:rPr lang="ja-JP" altLang="en-US" sz="900" b="1" dirty="0">
                          <a:effectLst/>
                        </a:rPr>
                        <a:t>ツールの提供</a:t>
                      </a:r>
                      <a:endParaRPr lang="ja-JP" altLang="en-US" sz="900" dirty="0">
                        <a:effectLst/>
                      </a:endParaRPr>
                    </a:p>
                  </a:txBody>
                  <a:tcPr marL="22430" marR="22430" marT="22430" marB="22430"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endParaRPr lang="ja-JP" altLang="en-US" sz="900" dirty="0">
                        <a:effectLst/>
                      </a:endParaRPr>
                    </a:p>
                  </a:txBody>
                  <a:tcPr marL="22430" marR="22430" marT="22430" marB="22430"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r>
                        <a:rPr lang="ja-JP" altLang="en-US" sz="900" dirty="0">
                          <a:effectLst/>
                        </a:rPr>
                        <a:t>アプリの作成、デプロイ、環境設定、テストなどをコマンドラインで実行できるか。</a:t>
                      </a:r>
                      <a:r>
                        <a:rPr lang="en-US" altLang="ja-JP" sz="900" dirty="0">
                          <a:effectLst/>
                        </a:rPr>
                        <a:t>CI/CD</a:t>
                      </a:r>
                      <a:r>
                        <a:rPr lang="ja-JP" altLang="en-US" sz="900" dirty="0">
                          <a:effectLst/>
                        </a:rPr>
                        <a:t>パイプラインへの組み込みは容易か。</a:t>
                      </a:r>
                    </a:p>
                  </a:txBody>
                  <a:tcPr marL="22430" marR="22430" marT="22430" marB="22430"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3058053443"/>
                  </a:ext>
                </a:extLst>
              </a:tr>
              <a:tr h="825011">
                <a:tc>
                  <a:txBody>
                    <a:bodyPr/>
                    <a:lstStyle/>
                    <a:p>
                      <a:pPr algn="l"/>
                      <a:r>
                        <a:rPr lang="ja-JP" altLang="en-US" sz="900" b="1" dirty="0">
                          <a:effectLst/>
                        </a:rPr>
                        <a:t>外部公開</a:t>
                      </a:r>
                      <a:r>
                        <a:rPr lang="en-US" sz="900" b="1" dirty="0">
                          <a:effectLst/>
                        </a:rPr>
                        <a:t>API（REST</a:t>
                      </a:r>
                      <a:r>
                        <a:rPr lang="ja-JP" altLang="en-US" sz="900" b="1" dirty="0">
                          <a:effectLst/>
                        </a:rPr>
                        <a:t>等）</a:t>
                      </a:r>
                      <a:endParaRPr lang="ja-JP" altLang="en-US" sz="900" dirty="0">
                        <a:effectLst/>
                      </a:endParaRPr>
                    </a:p>
                  </a:txBody>
                  <a:tcPr marL="22430" marR="22430" marT="22430" marB="22430"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endParaRPr lang="ja-JP" altLang="en-US" sz="900" dirty="0">
                        <a:effectLst/>
                      </a:endParaRPr>
                    </a:p>
                  </a:txBody>
                  <a:tcPr marL="22430" marR="22430" marT="22430" marB="22430"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r>
                        <a:rPr lang="ja-JP" altLang="en-US" sz="900">
                          <a:effectLst/>
                        </a:rPr>
                        <a:t>プラットフォームで作成したアプリのデータや機能を、外部システムから安全に呼び出すための</a:t>
                      </a:r>
                      <a:r>
                        <a:rPr lang="en-US" altLang="ja-JP" sz="900">
                          <a:effectLst/>
                        </a:rPr>
                        <a:t>API</a:t>
                      </a:r>
                      <a:r>
                        <a:rPr lang="ja-JP" altLang="en-US" sz="900">
                          <a:effectLst/>
                        </a:rPr>
                        <a:t>（</a:t>
                      </a:r>
                      <a:r>
                        <a:rPr lang="en-US" altLang="ja-JP" sz="900">
                          <a:effectLst/>
                        </a:rPr>
                        <a:t>CRUD</a:t>
                      </a:r>
                      <a:r>
                        <a:rPr lang="ja-JP" altLang="en-US" sz="900">
                          <a:effectLst/>
                        </a:rPr>
                        <a:t>操作等）が自動生成されるか。</a:t>
                      </a:r>
                    </a:p>
                  </a:txBody>
                  <a:tcPr marL="22430" marR="22430" marT="22430" marB="22430"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2321152188"/>
                  </a:ext>
                </a:extLst>
              </a:tr>
              <a:tr h="672689">
                <a:tc>
                  <a:txBody>
                    <a:bodyPr/>
                    <a:lstStyle/>
                    <a:p>
                      <a:pPr algn="l"/>
                      <a:r>
                        <a:rPr lang="en-US" sz="900" b="1">
                          <a:effectLst/>
                        </a:rPr>
                        <a:t>SDK</a:t>
                      </a:r>
                      <a:r>
                        <a:rPr lang="ja-JP" altLang="en-US" sz="900" b="1">
                          <a:effectLst/>
                        </a:rPr>
                        <a:t>の提供</a:t>
                      </a:r>
                      <a:endParaRPr lang="ja-JP" altLang="en-US" sz="900">
                        <a:effectLst/>
                      </a:endParaRPr>
                    </a:p>
                  </a:txBody>
                  <a:tcPr marL="22430" marR="22430" marT="22430" marB="22430"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endParaRPr lang="ja-JP" altLang="en-US" sz="900">
                        <a:effectLst/>
                      </a:endParaRPr>
                    </a:p>
                  </a:txBody>
                  <a:tcPr marL="22430" marR="22430" marT="22430" marB="22430"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r>
                        <a:rPr lang="ja-JP" altLang="en-US" sz="900">
                          <a:effectLst/>
                        </a:rPr>
                        <a:t>主要なプログラミング言語（</a:t>
                      </a:r>
                      <a:r>
                        <a:rPr lang="en-US" altLang="ja-JP" sz="900">
                          <a:effectLst/>
                        </a:rPr>
                        <a:t>Java, Python, TypeScript/JavaScript</a:t>
                      </a:r>
                      <a:r>
                        <a:rPr lang="ja-JP" altLang="en-US" sz="900">
                          <a:effectLst/>
                        </a:rPr>
                        <a:t>等）向けに、開発を効率化する</a:t>
                      </a:r>
                      <a:r>
                        <a:rPr lang="en-US" altLang="ja-JP" sz="900">
                          <a:effectLst/>
                        </a:rPr>
                        <a:t>SDK</a:t>
                      </a:r>
                      <a:r>
                        <a:rPr lang="ja-JP" altLang="en-US" sz="900">
                          <a:effectLst/>
                        </a:rPr>
                        <a:t>が提供されているか。</a:t>
                      </a:r>
                    </a:p>
                  </a:txBody>
                  <a:tcPr marL="22430" marR="22430" marT="22430" marB="22430"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4191253722"/>
                  </a:ext>
                </a:extLst>
              </a:tr>
              <a:tr h="824863">
                <a:tc>
                  <a:txBody>
                    <a:bodyPr/>
                    <a:lstStyle/>
                    <a:p>
                      <a:pPr algn="l"/>
                      <a:r>
                        <a:rPr lang="ja-JP" altLang="en-US" sz="900" b="1">
                          <a:effectLst/>
                        </a:rPr>
                        <a:t>カスタムコード記述（サーバーサイド）</a:t>
                      </a:r>
                      <a:endParaRPr lang="ja-JP" altLang="en-US" sz="900">
                        <a:effectLst/>
                      </a:endParaRPr>
                    </a:p>
                  </a:txBody>
                  <a:tcPr marL="22430" marR="22430" marT="22430" marB="22430"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endParaRPr lang="ja-JP" altLang="en-US" sz="900">
                        <a:effectLst/>
                      </a:endParaRPr>
                    </a:p>
                  </a:txBody>
                  <a:tcPr marL="22430" marR="22430" marT="22430" marB="22430"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r>
                        <a:rPr lang="ja-JP" altLang="en-US" sz="900">
                          <a:effectLst/>
                        </a:rPr>
                        <a:t>サーバーサイドで複雑なビジネスロジックや外部</a:t>
                      </a:r>
                      <a:r>
                        <a:rPr lang="en-US" altLang="ja-JP" sz="900">
                          <a:effectLst/>
                        </a:rPr>
                        <a:t>API</a:t>
                      </a:r>
                      <a:r>
                        <a:rPr lang="ja-JP" altLang="en-US" sz="900">
                          <a:effectLst/>
                        </a:rPr>
                        <a:t>連携を、特定のプログラミング言語（例</a:t>
                      </a:r>
                      <a:r>
                        <a:rPr lang="en-US" altLang="ja-JP" sz="900">
                          <a:effectLst/>
                        </a:rPr>
                        <a:t>: TypeScript, Python</a:t>
                      </a:r>
                      <a:r>
                        <a:rPr lang="ja-JP" altLang="en-US" sz="900">
                          <a:effectLst/>
                        </a:rPr>
                        <a:t>）で記述できるか。</a:t>
                      </a:r>
                    </a:p>
                  </a:txBody>
                  <a:tcPr marL="22430" marR="22430" marT="22430" marB="22430"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432318015"/>
                  </a:ext>
                </a:extLst>
              </a:tr>
              <a:tr h="672689">
                <a:tc>
                  <a:txBody>
                    <a:bodyPr/>
                    <a:lstStyle/>
                    <a:p>
                      <a:pPr algn="l"/>
                      <a:r>
                        <a:rPr lang="ja-JP" altLang="en-US" sz="900" b="1">
                          <a:effectLst/>
                        </a:rPr>
                        <a:t>カスタムコード記述（フロントエンド）</a:t>
                      </a:r>
                      <a:endParaRPr lang="ja-JP" altLang="en-US" sz="900">
                        <a:effectLst/>
                      </a:endParaRPr>
                    </a:p>
                  </a:txBody>
                  <a:tcPr marL="22430" marR="22430" marT="22430" marB="22430"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endParaRPr lang="ja-JP" altLang="en-US" sz="900">
                        <a:effectLst/>
                      </a:endParaRPr>
                    </a:p>
                  </a:txBody>
                  <a:tcPr marL="22430" marR="22430" marT="22430" marB="22430"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tc>
                  <a:txBody>
                    <a:bodyPr/>
                    <a:lstStyle/>
                    <a:p>
                      <a:pPr algn="l"/>
                      <a:r>
                        <a:rPr lang="ja-JP" altLang="en-US" sz="900" dirty="0">
                          <a:effectLst/>
                        </a:rPr>
                        <a:t>標準コンポーネントでは実現できない独自の</a:t>
                      </a:r>
                      <a:r>
                        <a:rPr lang="en-US" altLang="ja-JP" sz="900" dirty="0">
                          <a:effectLst/>
                        </a:rPr>
                        <a:t>UI</a:t>
                      </a:r>
                      <a:r>
                        <a:rPr lang="ja-JP" altLang="en-US" sz="900" dirty="0">
                          <a:effectLst/>
                        </a:rPr>
                        <a:t>や画面挙動を、</a:t>
                      </a:r>
                      <a:r>
                        <a:rPr lang="en-US" altLang="ja-JP" sz="900" dirty="0">
                          <a:effectLst/>
                        </a:rPr>
                        <a:t>JavaScript/CSS</a:t>
                      </a:r>
                      <a:r>
                        <a:rPr lang="ja-JP" altLang="en-US" sz="900" dirty="0">
                          <a:effectLst/>
                        </a:rPr>
                        <a:t>等を用いて実装できるか。</a:t>
                      </a:r>
                    </a:p>
                  </a:txBody>
                  <a:tcPr marL="22430" marR="22430" marT="22430" marB="22430"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697325292"/>
                  </a:ext>
                </a:extLst>
              </a:tr>
              <a:tr h="824863">
                <a:tc>
                  <a:txBody>
                    <a:bodyPr/>
                    <a:lstStyle/>
                    <a:p>
                      <a:pPr algn="l"/>
                      <a:r>
                        <a:rPr lang="ja-JP" altLang="en-US" sz="900" b="1" dirty="0">
                          <a:effectLst/>
                        </a:rPr>
                        <a:t>バージョン管理システム連携</a:t>
                      </a:r>
                      <a:endParaRPr lang="ja-JP" altLang="en-US" sz="900" dirty="0">
                        <a:effectLst/>
                      </a:endParaRPr>
                    </a:p>
                  </a:txBody>
                  <a:tcPr marL="22430" marR="22430" marT="22430" marB="22430"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noFill/>
                  </a:tcPr>
                </a:tc>
                <a:tc>
                  <a:txBody>
                    <a:bodyPr/>
                    <a:lstStyle/>
                    <a:p>
                      <a:pPr algn="l"/>
                      <a:endParaRPr lang="ja-JP" altLang="en-US" sz="900" dirty="0">
                        <a:effectLst/>
                      </a:endParaRPr>
                    </a:p>
                  </a:txBody>
                  <a:tcPr marL="22430" marR="22430" marT="22430" marB="22430"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noFill/>
                  </a:tcPr>
                </a:tc>
                <a:tc>
                  <a:txBody>
                    <a:bodyPr/>
                    <a:lstStyle/>
                    <a:p>
                      <a:pPr algn="l"/>
                      <a:r>
                        <a:rPr lang="ja-JP" altLang="en-US" sz="900" dirty="0">
                          <a:effectLst/>
                        </a:rPr>
                        <a:t>作成したアプリケーションのソースコードや定義情報を、</a:t>
                      </a:r>
                      <a:r>
                        <a:rPr lang="en-US" altLang="ja-JP" sz="900" dirty="0">
                          <a:effectLst/>
                        </a:rPr>
                        <a:t>Git</a:t>
                      </a:r>
                      <a:r>
                        <a:rPr lang="ja-JP" altLang="en-US" sz="900" dirty="0">
                          <a:effectLst/>
                        </a:rPr>
                        <a:t>（</a:t>
                      </a:r>
                      <a:r>
                        <a:rPr lang="en-US" altLang="ja-JP" sz="900" dirty="0">
                          <a:effectLst/>
                        </a:rPr>
                        <a:t>GitHub, GitLab</a:t>
                      </a:r>
                      <a:r>
                        <a:rPr lang="ja-JP" altLang="en-US" sz="900" dirty="0">
                          <a:effectLst/>
                        </a:rPr>
                        <a:t>等）で管理し、複数人での開発や世代管理ができるか。</a:t>
                      </a:r>
                    </a:p>
                  </a:txBody>
                  <a:tcPr marL="22430" marR="22430" marT="22430" marB="22430" anchor="ctr">
                    <a:lnL w="7620" cap="flat" cmpd="sng" algn="ctr">
                      <a:solidFill>
                        <a:srgbClr val="E5E7EB"/>
                      </a:solidFill>
                      <a:prstDash val="solid"/>
                      <a:round/>
                      <a:headEnd type="none" w="med" len="med"/>
                      <a:tailEnd type="none" w="med" len="med"/>
                    </a:lnL>
                    <a:lnR w="7620" cap="flat" cmpd="sng" algn="ctr">
                      <a:solidFill>
                        <a:srgbClr val="E5E7EB"/>
                      </a:solidFill>
                      <a:prstDash val="solid"/>
                      <a:round/>
                      <a:headEnd type="none" w="med" len="med"/>
                      <a:tailEnd type="none" w="med" len="med"/>
                    </a:lnR>
                    <a:lnT w="7620" cap="flat" cmpd="sng" algn="ctr">
                      <a:solidFill>
                        <a:srgbClr val="E5E7EB"/>
                      </a:solidFill>
                      <a:prstDash val="solid"/>
                      <a:round/>
                      <a:headEnd type="none" w="med" len="med"/>
                      <a:tailEnd type="none" w="med" len="med"/>
                    </a:lnT>
                    <a:lnB w="7620" cap="flat" cmpd="sng" algn="ctr">
                      <a:solidFill>
                        <a:srgbClr val="E5E7EB"/>
                      </a:solidFill>
                      <a:prstDash val="solid"/>
                      <a:round/>
                      <a:headEnd type="none" w="med" len="med"/>
                      <a:tailEnd type="none" w="med" len="med"/>
                    </a:lnB>
                    <a:noFill/>
                  </a:tcPr>
                </a:tc>
                <a:extLst>
                  <a:ext uri="{0D108BD9-81ED-4DB2-BD59-A6C34878D82A}">
                    <a16:rowId xmlns:a16="http://schemas.microsoft.com/office/drawing/2014/main" val="863698778"/>
                  </a:ext>
                </a:extLst>
              </a:tr>
            </a:tbl>
          </a:graphicData>
        </a:graphic>
      </p:graphicFrame>
      <p:sp>
        <p:nvSpPr>
          <p:cNvPr id="10" name="Rectangle 1">
            <a:extLst>
              <a:ext uri="{FF2B5EF4-FFF2-40B4-BE49-F238E27FC236}">
                <a16:creationId xmlns:a16="http://schemas.microsoft.com/office/drawing/2014/main" id="{869B9508-48B3-0E4B-4E01-31A03EFA64FD}"/>
              </a:ext>
            </a:extLst>
          </p:cNvPr>
          <p:cNvSpPr>
            <a:spLocks noChangeArrowheads="1"/>
          </p:cNvSpPr>
          <p:nvPr/>
        </p:nvSpPr>
        <p:spPr bwMode="auto">
          <a:xfrm>
            <a:off x="144780" y="447867"/>
            <a:ext cx="11968501" cy="87195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696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000" b="1" i="0" u="none" strike="noStrike" cap="none" normalizeH="0" baseline="0" dirty="0">
                <a:ln>
                  <a:noFill/>
                </a:ln>
                <a:solidFill>
                  <a:srgbClr val="09090B"/>
                </a:solidFill>
                <a:effectLst/>
                <a:latin typeface="Arial" panose="020B0604020202020204" pitchFamily="34" charset="0"/>
                <a:ea typeface="ui-sans-serif"/>
              </a:rPr>
              <a:t>機能要件に関するご質問</a:t>
            </a: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000" b="0" i="0" u="none" strike="noStrike" cap="none" normalizeH="0" baseline="0" dirty="0">
                <a:ln>
                  <a:noFill/>
                </a:ln>
                <a:solidFill>
                  <a:srgbClr val="09090B"/>
                </a:solidFill>
                <a:effectLst/>
                <a:latin typeface="Arial" panose="020B0604020202020204" pitchFamily="34" charset="0"/>
                <a:ea typeface="ui-sans-serif"/>
              </a:rPr>
              <a:t>弊社の要件は、プログラミング経験のないビジネスユーザーが</a:t>
            </a:r>
            <a:r>
              <a:rPr kumimoji="0" lang="ja-JP" altLang="en-US" sz="1000" b="0" i="0" u="none" strike="noStrike" cap="none" normalizeH="0" baseline="0" dirty="0">
                <a:ln>
                  <a:noFill/>
                </a:ln>
                <a:solidFill>
                  <a:srgbClr val="09090B"/>
                </a:solidFill>
                <a:effectLst/>
                <a:latin typeface="Arial" panose="020B0604020202020204" pitchFamily="34" charset="0"/>
                <a:ea typeface="ui-sans-serif"/>
              </a:rPr>
              <a:t>自分達で</a:t>
            </a:r>
            <a:r>
              <a:rPr kumimoji="0" lang="ja-JP" altLang="ja-JP" sz="1000" b="0" i="0" u="none" strike="noStrike" cap="none" normalizeH="0" baseline="0" dirty="0">
                <a:ln>
                  <a:noFill/>
                </a:ln>
                <a:solidFill>
                  <a:srgbClr val="09090B"/>
                </a:solidFill>
                <a:effectLst/>
                <a:latin typeface="Arial" panose="020B0604020202020204" pitchFamily="34" charset="0"/>
                <a:ea typeface="ui-sans-serif"/>
              </a:rPr>
              <a:t>直感的に</a:t>
            </a:r>
            <a:r>
              <a:rPr kumimoji="0" lang="ja-JP" altLang="en-US" sz="1000" b="0" i="0" u="none" strike="noStrike" cap="none" normalizeH="0" baseline="0" dirty="0">
                <a:ln>
                  <a:noFill/>
                </a:ln>
                <a:solidFill>
                  <a:srgbClr val="09090B"/>
                </a:solidFill>
                <a:effectLst/>
                <a:latin typeface="Arial" panose="020B0604020202020204" pitchFamily="34" charset="0"/>
                <a:ea typeface="ui-sans-serif"/>
              </a:rPr>
              <a:t>課題分析を進めるための</a:t>
            </a:r>
            <a:r>
              <a:rPr kumimoji="0" lang="ja-JP" altLang="ja-JP" sz="1000" b="1" i="0" u="none" strike="noStrike" cap="none" normalizeH="0" baseline="0" dirty="0">
                <a:ln>
                  <a:noFill/>
                </a:ln>
                <a:solidFill>
                  <a:srgbClr val="09090B"/>
                </a:solidFill>
                <a:effectLst/>
                <a:latin typeface="Arial" panose="020B0604020202020204" pitchFamily="34" charset="0"/>
                <a:ea typeface="ui-sans-serif"/>
              </a:rPr>
              <a:t>「ユーザーフレンドリーなGUI」</a:t>
            </a:r>
            <a:r>
              <a:rPr kumimoji="0" lang="ja-JP" altLang="en-US" sz="1000" b="1" i="0" u="none" strike="noStrike" cap="none" normalizeH="0" baseline="0" dirty="0">
                <a:ln>
                  <a:noFill/>
                </a:ln>
                <a:solidFill>
                  <a:srgbClr val="09090B"/>
                </a:solidFill>
                <a:effectLst/>
                <a:latin typeface="Arial" panose="020B0604020202020204" pitchFamily="34" charset="0"/>
                <a:ea typeface="ui-sans-serif"/>
              </a:rPr>
              <a:t>と</a:t>
            </a:r>
            <a:r>
              <a:rPr kumimoji="0" lang="ja-JP" altLang="ja-JP" sz="1000" b="1" i="0" u="none" strike="noStrike" cap="none" normalizeH="0" baseline="0" dirty="0">
                <a:ln>
                  <a:noFill/>
                </a:ln>
                <a:solidFill>
                  <a:srgbClr val="09090B"/>
                </a:solidFill>
                <a:effectLst/>
                <a:latin typeface="Arial" panose="020B0604020202020204" pitchFamily="34" charset="0"/>
                <a:ea typeface="ui-sans-serif"/>
              </a:rPr>
              <a:t>「AIエージェント機能」</a:t>
            </a:r>
            <a:endParaRPr kumimoji="0" lang="en-US" altLang="ja-JP" sz="1000" b="1" i="0" u="none" strike="noStrike" cap="none" normalizeH="0" baseline="0" dirty="0">
              <a:ln>
                <a:noFill/>
              </a:ln>
              <a:solidFill>
                <a:srgbClr val="09090B"/>
              </a:solidFill>
              <a:effectLst/>
              <a:latin typeface="Arial" panose="020B0604020202020204" pitchFamily="34" charset="0"/>
              <a:ea typeface="ui-sans-serif"/>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000" i="0" u="none" strike="noStrike" cap="none" normalizeH="0" baseline="0" dirty="0">
                <a:ln>
                  <a:noFill/>
                </a:ln>
                <a:solidFill>
                  <a:srgbClr val="09090B"/>
                </a:solidFill>
                <a:effectLst/>
                <a:latin typeface="Arial" panose="020B0604020202020204" pitchFamily="34" charset="0"/>
                <a:ea typeface="ui-sans-serif"/>
              </a:rPr>
              <a:t>そして</a:t>
            </a:r>
            <a:r>
              <a:rPr kumimoji="0" lang="ja-JP" altLang="en-US" sz="1000" i="0" u="none" strike="noStrike" cap="none" normalizeH="0" baseline="0" dirty="0">
                <a:ln>
                  <a:noFill/>
                </a:ln>
                <a:solidFill>
                  <a:srgbClr val="09090B"/>
                </a:solidFill>
                <a:effectLst/>
                <a:latin typeface="Arial" panose="020B0604020202020204" pitchFamily="34" charset="0"/>
                <a:ea typeface="ui-sans-serif"/>
              </a:rPr>
              <a:t>エンジニア</a:t>
            </a:r>
            <a:r>
              <a:rPr kumimoji="0" lang="ja-JP" altLang="ja-JP" sz="1000" i="0" u="none" strike="noStrike" cap="none" normalizeH="0" baseline="0" dirty="0">
                <a:ln>
                  <a:noFill/>
                </a:ln>
                <a:solidFill>
                  <a:srgbClr val="09090B"/>
                </a:solidFill>
                <a:effectLst/>
                <a:latin typeface="Arial" panose="020B0604020202020204" pitchFamily="34" charset="0"/>
                <a:ea typeface="ui-sans-serif"/>
              </a:rPr>
              <a:t>が</a:t>
            </a:r>
            <a:r>
              <a:rPr kumimoji="0" lang="ja-JP" altLang="en-US" sz="1000" i="0" u="none" strike="noStrike" cap="none" normalizeH="0" baseline="0" dirty="0">
                <a:ln>
                  <a:noFill/>
                </a:ln>
                <a:solidFill>
                  <a:srgbClr val="09090B"/>
                </a:solidFill>
                <a:effectLst/>
                <a:latin typeface="Arial" panose="020B0604020202020204" pitchFamily="34" charset="0"/>
                <a:ea typeface="ui-sans-serif"/>
              </a:rPr>
              <a:t>支援</a:t>
            </a:r>
            <a:r>
              <a:rPr kumimoji="0" lang="ja-JP" altLang="ja-JP" sz="1000" i="0" u="none" strike="noStrike" cap="none" normalizeH="0" baseline="0" dirty="0">
                <a:ln>
                  <a:noFill/>
                </a:ln>
                <a:solidFill>
                  <a:srgbClr val="09090B"/>
                </a:solidFill>
                <a:effectLst/>
                <a:latin typeface="Arial" panose="020B0604020202020204" pitchFamily="34" charset="0"/>
                <a:ea typeface="ui-sans-serif"/>
              </a:rPr>
              <a:t>する</a:t>
            </a:r>
            <a:r>
              <a:rPr kumimoji="0" lang="ja-JP" altLang="ja-JP" sz="1000" b="1" i="0" u="none" strike="noStrike" cap="none" normalizeH="0" baseline="0" dirty="0">
                <a:ln>
                  <a:noFill/>
                </a:ln>
                <a:solidFill>
                  <a:srgbClr val="09090B"/>
                </a:solidFill>
                <a:effectLst/>
                <a:latin typeface="Arial" panose="020B0604020202020204" pitchFamily="34" charset="0"/>
                <a:ea typeface="ui-sans-serif"/>
              </a:rPr>
              <a:t>「開発者向け機能」</a:t>
            </a:r>
            <a:r>
              <a:rPr kumimoji="0" lang="ja-JP" altLang="ja-JP" sz="1000" b="0" i="0" u="none" strike="noStrike" cap="none" normalizeH="0" baseline="0" dirty="0">
                <a:ln>
                  <a:noFill/>
                </a:ln>
                <a:solidFill>
                  <a:srgbClr val="09090B"/>
                </a:solidFill>
                <a:effectLst/>
                <a:latin typeface="Arial" panose="020B0604020202020204" pitchFamily="34" charset="0"/>
                <a:ea typeface="ui-sans-serif"/>
              </a:rPr>
              <a:t>の3つの柱で構成されます。</a:t>
            </a:r>
            <a:endParaRPr kumimoji="0" lang="ja-JP" altLang="ja-JP"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000" b="0" i="0" u="none" strike="noStrike" cap="none" normalizeH="0" baseline="0" dirty="0">
                <a:ln>
                  <a:noFill/>
                </a:ln>
                <a:solidFill>
                  <a:srgbClr val="09090B"/>
                </a:solidFill>
                <a:effectLst/>
                <a:latin typeface="Arial" panose="020B0604020202020204" pitchFamily="34" charset="0"/>
                <a:ea typeface="ui-sans-serif"/>
              </a:rPr>
              <a:t>以下の各機能要件について、標準機能での対応可否（◯△✕）、</a:t>
            </a:r>
            <a:r>
              <a:rPr kumimoji="0" lang="ja-JP" altLang="en-US" sz="1000" b="1" i="0" u="none" strike="noStrike" cap="none" normalizeH="0" baseline="0" dirty="0">
                <a:ln>
                  <a:noFill/>
                </a:ln>
                <a:solidFill>
                  <a:srgbClr val="09090B"/>
                </a:solidFill>
                <a:effectLst/>
                <a:latin typeface="Arial" panose="020B0604020202020204" pitchFamily="34" charset="0"/>
                <a:ea typeface="ui-sans-serif"/>
              </a:rPr>
              <a:t>具体的な実現</a:t>
            </a:r>
            <a:r>
              <a:rPr kumimoji="0" lang="ja-JP" altLang="ja-JP" sz="1000" b="1" i="0" u="none" strike="noStrike" cap="none" normalizeH="0" baseline="0" dirty="0">
                <a:ln>
                  <a:noFill/>
                </a:ln>
                <a:solidFill>
                  <a:srgbClr val="09090B"/>
                </a:solidFill>
                <a:effectLst/>
                <a:latin typeface="Arial" panose="020B0604020202020204" pitchFamily="34" charset="0"/>
                <a:ea typeface="ui-sans-serif"/>
              </a:rPr>
              <a:t>方法</a:t>
            </a:r>
            <a:r>
              <a:rPr kumimoji="0" lang="ja-JP" altLang="en-US" sz="1000" b="1" dirty="0">
                <a:solidFill>
                  <a:srgbClr val="09090B"/>
                </a:solidFill>
                <a:ea typeface="ui-sans-serif"/>
              </a:rPr>
              <a:t>・</a:t>
            </a:r>
            <a:r>
              <a:rPr kumimoji="0" lang="ja-JP" altLang="ja-JP" sz="1000" b="1" i="0" u="none" strike="noStrike" cap="none" normalizeH="0" baseline="0" dirty="0">
                <a:ln>
                  <a:noFill/>
                </a:ln>
                <a:solidFill>
                  <a:srgbClr val="09090B"/>
                </a:solidFill>
                <a:effectLst/>
                <a:latin typeface="Arial" panose="020B0604020202020204" pitchFamily="34" charset="0"/>
                <a:ea typeface="ui-sans-serif"/>
              </a:rPr>
              <a:t>特徴を</a:t>
            </a:r>
            <a:r>
              <a:rPr kumimoji="0" lang="ja-JP" altLang="en-US" sz="1000" b="1" i="0" u="none" strike="noStrike" cap="none" normalizeH="0" baseline="0" dirty="0">
                <a:ln>
                  <a:noFill/>
                </a:ln>
                <a:solidFill>
                  <a:srgbClr val="09090B"/>
                </a:solidFill>
                <a:effectLst/>
                <a:latin typeface="Arial" panose="020B0604020202020204" pitchFamily="34" charset="0"/>
                <a:ea typeface="ui-sans-serif"/>
              </a:rPr>
              <a:t>例をご参考に</a:t>
            </a:r>
            <a:r>
              <a:rPr kumimoji="0" lang="ja-JP" altLang="ja-JP" sz="1000" b="1" i="0" u="none" strike="noStrike" cap="none" normalizeH="0" baseline="0" dirty="0">
                <a:ln>
                  <a:noFill/>
                </a:ln>
                <a:solidFill>
                  <a:srgbClr val="09090B"/>
                </a:solidFill>
                <a:effectLst/>
                <a:latin typeface="Arial" panose="020B0604020202020204" pitchFamily="34" charset="0"/>
                <a:ea typeface="ui-sans-serif"/>
              </a:rPr>
              <a:t>ご記載ください。 </a:t>
            </a:r>
            <a:r>
              <a:rPr kumimoji="0" lang="ja-JP" altLang="ja-JP" sz="1000" b="0" i="0" u="none" strike="noStrike" cap="none" normalizeH="0" baseline="0" dirty="0">
                <a:ln>
                  <a:noFill/>
                </a:ln>
                <a:solidFill>
                  <a:srgbClr val="09090B"/>
                </a:solidFill>
                <a:effectLst/>
                <a:latin typeface="Arial" panose="020B0604020202020204" pitchFamily="34" charset="0"/>
                <a:ea typeface="ui-sans-serif"/>
              </a:rPr>
              <a:t>（◯：標準機能で対応可、△：カスタマイズやオプションで対応可、✕：対応不可）</a:t>
            </a:r>
            <a:endParaRPr kumimoji="0" lang="ja-JP" altLang="ja-JP" sz="1000" b="0" i="0" u="none" strike="noStrike" cap="none" normalizeH="0" baseline="0" dirty="0">
              <a:ln>
                <a:noFill/>
              </a:ln>
              <a:solidFill>
                <a:schemeClr val="tx1"/>
              </a:solidFill>
              <a:effectLst/>
              <a:latin typeface="Arial" panose="020B0604020202020204" pitchFamily="34" charset="0"/>
            </a:endParaRPr>
          </a:p>
        </p:txBody>
      </p:sp>
      <p:sp>
        <p:nvSpPr>
          <p:cNvPr id="15" name="Rectangle 6">
            <a:extLst>
              <a:ext uri="{FF2B5EF4-FFF2-40B4-BE49-F238E27FC236}">
                <a16:creationId xmlns:a16="http://schemas.microsoft.com/office/drawing/2014/main" id="{327E7E35-08F3-7AA4-0F8F-788A87B48BEA}"/>
              </a:ext>
            </a:extLst>
          </p:cNvPr>
          <p:cNvSpPr>
            <a:spLocks noChangeArrowheads="1"/>
          </p:cNvSpPr>
          <p:nvPr/>
        </p:nvSpPr>
        <p:spPr bwMode="auto">
          <a:xfrm>
            <a:off x="144780" y="463574"/>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ja-JP" altLang="en-US"/>
          </a:p>
        </p:txBody>
      </p:sp>
    </p:spTree>
    <p:extLst>
      <p:ext uri="{BB962C8B-B14F-4D97-AF65-F5344CB8AC3E}">
        <p14:creationId xmlns:p14="http://schemas.microsoft.com/office/powerpoint/2010/main" val="17778857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F5DA185A-5783-CC01-5337-A6E315C8A912}"/>
              </a:ext>
            </a:extLst>
          </p:cNvPr>
          <p:cNvSpPr txBox="1"/>
          <p:nvPr/>
        </p:nvSpPr>
        <p:spPr>
          <a:xfrm>
            <a:off x="146958" y="174563"/>
            <a:ext cx="6093822" cy="369332"/>
          </a:xfrm>
          <a:prstGeom prst="rect">
            <a:avLst/>
          </a:prstGeom>
          <a:noFill/>
        </p:spPr>
        <p:txBody>
          <a:bodyPr wrap="square">
            <a:spAutoFit/>
          </a:bodyPr>
          <a:lstStyle/>
          <a:p>
            <a:r>
              <a:rPr kumimoji="1" lang="ja-JP" altLang="en-US" dirty="0"/>
              <a:t>＜</a:t>
            </a:r>
            <a:r>
              <a:rPr kumimoji="1" lang="en-US" altLang="ja-JP" dirty="0"/>
              <a:t>3.2.4  </a:t>
            </a:r>
            <a:r>
              <a:rPr kumimoji="1" lang="ja-JP" altLang="en-US" dirty="0"/>
              <a:t>新分析システムの機能要件：</a:t>
            </a:r>
            <a:r>
              <a:rPr kumimoji="1" lang="en-US" altLang="ja-JP" dirty="0"/>
              <a:t>B</a:t>
            </a:r>
            <a:r>
              <a:rPr lang="en-US" altLang="ja-JP" dirty="0"/>
              <a:t>I/</a:t>
            </a:r>
            <a:r>
              <a:rPr lang="ja-JP" altLang="en-US" dirty="0"/>
              <a:t>可視化</a:t>
            </a:r>
            <a:r>
              <a:rPr kumimoji="1" lang="ja-JP" altLang="en-US" dirty="0"/>
              <a:t>ツール＞</a:t>
            </a:r>
            <a:endParaRPr kumimoji="1" lang="en-US" altLang="ja-JP" dirty="0"/>
          </a:p>
        </p:txBody>
      </p:sp>
      <p:sp>
        <p:nvSpPr>
          <p:cNvPr id="3" name="テキスト ボックス 2">
            <a:extLst>
              <a:ext uri="{FF2B5EF4-FFF2-40B4-BE49-F238E27FC236}">
                <a16:creationId xmlns:a16="http://schemas.microsoft.com/office/drawing/2014/main" id="{3410C026-DBDA-AE8A-BF9F-5AA48F53C6F5}"/>
              </a:ext>
            </a:extLst>
          </p:cNvPr>
          <p:cNvSpPr txBox="1"/>
          <p:nvPr/>
        </p:nvSpPr>
        <p:spPr>
          <a:xfrm>
            <a:off x="535577" y="684425"/>
            <a:ext cx="7075458" cy="646331"/>
          </a:xfrm>
          <a:prstGeom prst="rect">
            <a:avLst/>
          </a:prstGeom>
          <a:noFill/>
        </p:spPr>
        <p:txBody>
          <a:bodyPr wrap="square" rtlCol="0">
            <a:spAutoFit/>
          </a:bodyPr>
          <a:lstStyle/>
          <a:p>
            <a:r>
              <a:rPr kumimoji="1" lang="en-US" altLang="ja-JP" dirty="0"/>
              <a:t>Tableau</a:t>
            </a:r>
            <a:r>
              <a:rPr kumimoji="1" lang="ja-JP" altLang="en-US" dirty="0"/>
              <a:t>ベース、これに繋ぐこと必須</a:t>
            </a:r>
            <a:endParaRPr kumimoji="1" lang="en-US" altLang="ja-JP" dirty="0"/>
          </a:p>
          <a:p>
            <a:r>
              <a:rPr lang="ja-JP" altLang="en-US" dirty="0"/>
              <a:t>上記以外の</a:t>
            </a:r>
            <a:r>
              <a:rPr lang="en-US" altLang="ja-JP" dirty="0"/>
              <a:t>BI</a:t>
            </a:r>
            <a:r>
              <a:rPr lang="ja-JP" altLang="en-US" dirty="0"/>
              <a:t>のニーズについて、自然言語処理で</a:t>
            </a:r>
            <a:endParaRPr kumimoji="1" lang="en-US" altLang="ja-JP" dirty="0"/>
          </a:p>
        </p:txBody>
      </p:sp>
      <p:sp>
        <p:nvSpPr>
          <p:cNvPr id="4" name="テキスト ボックス 3">
            <a:extLst>
              <a:ext uri="{FF2B5EF4-FFF2-40B4-BE49-F238E27FC236}">
                <a16:creationId xmlns:a16="http://schemas.microsoft.com/office/drawing/2014/main" id="{39C0020A-846E-A20E-AF6A-EE8A838E928E}"/>
              </a:ext>
            </a:extLst>
          </p:cNvPr>
          <p:cNvSpPr txBox="1"/>
          <p:nvPr/>
        </p:nvSpPr>
        <p:spPr>
          <a:xfrm>
            <a:off x="535577" y="1924985"/>
            <a:ext cx="4650378" cy="369332"/>
          </a:xfrm>
          <a:prstGeom prst="rect">
            <a:avLst/>
          </a:prstGeom>
          <a:noFill/>
        </p:spPr>
        <p:txBody>
          <a:bodyPr wrap="square" rtlCol="0">
            <a:spAutoFit/>
          </a:bodyPr>
          <a:lstStyle/>
          <a:p>
            <a:r>
              <a:rPr kumimoji="1" lang="en-US" altLang="ja-JP" dirty="0">
                <a:highlight>
                  <a:srgbClr val="FFFF00"/>
                </a:highlight>
              </a:rPr>
              <a:t>Tableau</a:t>
            </a:r>
            <a:r>
              <a:rPr kumimoji="1" lang="ja-JP" altLang="en-US" dirty="0">
                <a:highlight>
                  <a:srgbClr val="FFFF00"/>
                </a:highlight>
              </a:rPr>
              <a:t>と</a:t>
            </a:r>
            <a:r>
              <a:rPr kumimoji="1" lang="en-US" altLang="ja-JP" dirty="0">
                <a:highlight>
                  <a:srgbClr val="FFFF00"/>
                </a:highlight>
              </a:rPr>
              <a:t>Joy</a:t>
            </a:r>
            <a:r>
              <a:rPr kumimoji="1" lang="ja-JP" altLang="en-US" dirty="0">
                <a:highlight>
                  <a:srgbClr val="FFFF00"/>
                </a:highlight>
              </a:rPr>
              <a:t>の周辺イメージ図</a:t>
            </a:r>
            <a:endParaRPr kumimoji="1" lang="en-US" altLang="ja-JP" dirty="0">
              <a:highlight>
                <a:srgbClr val="FFFF00"/>
              </a:highlight>
            </a:endParaRPr>
          </a:p>
        </p:txBody>
      </p:sp>
      <p:grpSp>
        <p:nvGrpSpPr>
          <p:cNvPr id="13" name="グループ化 12">
            <a:extLst>
              <a:ext uri="{FF2B5EF4-FFF2-40B4-BE49-F238E27FC236}">
                <a16:creationId xmlns:a16="http://schemas.microsoft.com/office/drawing/2014/main" id="{647FBE2C-CBAE-7D4D-15C8-1549F3462F5B}"/>
              </a:ext>
            </a:extLst>
          </p:cNvPr>
          <p:cNvGrpSpPr>
            <a:grpSpLocks noChangeAspect="1"/>
          </p:cNvGrpSpPr>
          <p:nvPr/>
        </p:nvGrpSpPr>
        <p:grpSpPr>
          <a:xfrm>
            <a:off x="410632" y="3013392"/>
            <a:ext cx="11370736" cy="6320366"/>
            <a:chOff x="1007706" y="453308"/>
            <a:chExt cx="10636898" cy="5912484"/>
          </a:xfrm>
        </p:grpSpPr>
        <p:pic>
          <p:nvPicPr>
            <p:cNvPr id="5" name="図 4">
              <a:extLst>
                <a:ext uri="{FF2B5EF4-FFF2-40B4-BE49-F238E27FC236}">
                  <a16:creationId xmlns:a16="http://schemas.microsoft.com/office/drawing/2014/main" id="{F8A8B68F-32E1-8175-9D96-BA718693C448}"/>
                </a:ext>
              </a:extLst>
            </p:cNvPr>
            <p:cNvPicPr>
              <a:picLocks noChangeAspect="1"/>
            </p:cNvPicPr>
            <p:nvPr/>
          </p:nvPicPr>
          <p:blipFill>
            <a:blip r:embed="rId2"/>
            <a:stretch>
              <a:fillRect/>
            </a:stretch>
          </p:blipFill>
          <p:spPr>
            <a:xfrm>
              <a:off x="1017037" y="453308"/>
              <a:ext cx="9974424" cy="4963885"/>
            </a:xfrm>
            <a:prstGeom prst="rect">
              <a:avLst/>
            </a:prstGeom>
          </p:spPr>
        </p:pic>
        <p:sp>
          <p:nvSpPr>
            <p:cNvPr id="6" name="四角形: 角を丸くする 5">
              <a:extLst>
                <a:ext uri="{FF2B5EF4-FFF2-40B4-BE49-F238E27FC236}">
                  <a16:creationId xmlns:a16="http://schemas.microsoft.com/office/drawing/2014/main" id="{F5782900-6FEC-0F6C-FE19-CD280462DB05}"/>
                </a:ext>
              </a:extLst>
            </p:cNvPr>
            <p:cNvSpPr/>
            <p:nvPr/>
          </p:nvSpPr>
          <p:spPr>
            <a:xfrm>
              <a:off x="1007706" y="5850293"/>
              <a:ext cx="10176588" cy="515499"/>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n w="19050">
                    <a:solidFill>
                      <a:schemeClr val="tx1"/>
                    </a:solidFill>
                  </a:ln>
                  <a:solidFill>
                    <a:schemeClr val="accent2"/>
                  </a:solidFill>
                </a:rPr>
                <a:t>新　分　析　環　境</a:t>
              </a:r>
            </a:p>
          </p:txBody>
        </p:sp>
        <p:sp>
          <p:nvSpPr>
            <p:cNvPr id="7" name="矢印: 下 6">
              <a:extLst>
                <a:ext uri="{FF2B5EF4-FFF2-40B4-BE49-F238E27FC236}">
                  <a16:creationId xmlns:a16="http://schemas.microsoft.com/office/drawing/2014/main" id="{D07257AB-2AF6-BB84-1335-0216AD75C25E}"/>
                </a:ext>
              </a:extLst>
            </p:cNvPr>
            <p:cNvSpPr/>
            <p:nvPr/>
          </p:nvSpPr>
          <p:spPr>
            <a:xfrm rot="10800000">
              <a:off x="6508101" y="4778819"/>
              <a:ext cx="270588" cy="953268"/>
            </a:xfrm>
            <a:prstGeom prst="downArrow">
              <a:avLst/>
            </a:prstGeom>
            <a:no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矢印: 下 7">
              <a:extLst>
                <a:ext uri="{FF2B5EF4-FFF2-40B4-BE49-F238E27FC236}">
                  <a16:creationId xmlns:a16="http://schemas.microsoft.com/office/drawing/2014/main" id="{8701315F-CFE0-7A9D-CFCB-291E21783D99}"/>
                </a:ext>
              </a:extLst>
            </p:cNvPr>
            <p:cNvSpPr/>
            <p:nvPr/>
          </p:nvSpPr>
          <p:spPr>
            <a:xfrm rot="10800000">
              <a:off x="7080378" y="3125755"/>
              <a:ext cx="270588" cy="2600894"/>
            </a:xfrm>
            <a:prstGeom prst="downArrow">
              <a:avLst/>
            </a:prstGeom>
            <a:no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DC9656BD-F893-EBA1-9D2C-4CE17540674B}"/>
                </a:ext>
              </a:extLst>
            </p:cNvPr>
            <p:cNvSpPr/>
            <p:nvPr/>
          </p:nvSpPr>
          <p:spPr>
            <a:xfrm>
              <a:off x="10366310" y="4441371"/>
              <a:ext cx="1278294" cy="802433"/>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t>Scare</a:t>
              </a:r>
            </a:p>
            <a:p>
              <a:pPr algn="ctr"/>
              <a:r>
                <a:rPr lang="en-US" altLang="ja-JP" sz="1100" dirty="0"/>
                <a:t>Foundry</a:t>
              </a:r>
              <a:endParaRPr kumimoji="1" lang="ja-JP" altLang="en-US" sz="1100" dirty="0"/>
            </a:p>
          </p:txBody>
        </p:sp>
        <p:sp>
          <p:nvSpPr>
            <p:cNvPr id="10" name="矢印: 右 9">
              <a:extLst>
                <a:ext uri="{FF2B5EF4-FFF2-40B4-BE49-F238E27FC236}">
                  <a16:creationId xmlns:a16="http://schemas.microsoft.com/office/drawing/2014/main" id="{AC7F9E28-701B-238C-C45A-2C1B73244F44}"/>
                </a:ext>
              </a:extLst>
            </p:cNvPr>
            <p:cNvSpPr/>
            <p:nvPr/>
          </p:nvSpPr>
          <p:spPr>
            <a:xfrm rot="10800000">
              <a:off x="9657184" y="4624893"/>
              <a:ext cx="485192" cy="503853"/>
            </a:xfrm>
            <a:prstGeom prst="rightArrow">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a:extLst>
                <a:ext uri="{FF2B5EF4-FFF2-40B4-BE49-F238E27FC236}">
                  <a16:creationId xmlns:a16="http://schemas.microsoft.com/office/drawing/2014/main" id="{4E063D78-A609-D700-94EE-C3265C94ACCD}"/>
                </a:ext>
              </a:extLst>
            </p:cNvPr>
            <p:cNvCxnSpPr/>
            <p:nvPr/>
          </p:nvCxnSpPr>
          <p:spPr>
            <a:xfrm>
              <a:off x="9554547" y="4426202"/>
              <a:ext cx="811763" cy="910908"/>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直線コネクタ 11">
              <a:extLst>
                <a:ext uri="{FF2B5EF4-FFF2-40B4-BE49-F238E27FC236}">
                  <a16:creationId xmlns:a16="http://schemas.microsoft.com/office/drawing/2014/main" id="{BB8C801B-1DBC-23E9-E66D-8194360FD252}"/>
                </a:ext>
              </a:extLst>
            </p:cNvPr>
            <p:cNvCxnSpPr>
              <a:cxnSpLocks/>
            </p:cNvCxnSpPr>
            <p:nvPr/>
          </p:nvCxnSpPr>
          <p:spPr>
            <a:xfrm flipV="1">
              <a:off x="9456576" y="4508233"/>
              <a:ext cx="872412" cy="709126"/>
            </a:xfrm>
            <a:prstGeom prst="line">
              <a:avLst/>
            </a:prstGeom>
          </p:spPr>
          <p:style>
            <a:lnRef idx="2">
              <a:schemeClr val="accent1"/>
            </a:lnRef>
            <a:fillRef idx="0">
              <a:schemeClr val="accent1"/>
            </a:fillRef>
            <a:effectRef idx="1">
              <a:schemeClr val="accent1"/>
            </a:effectRef>
            <a:fontRef idx="minor">
              <a:schemeClr val="tx1"/>
            </a:fontRef>
          </p:style>
        </p:cxnSp>
      </p:grpSp>
      <p:graphicFrame>
        <p:nvGraphicFramePr>
          <p:cNvPr id="14" name="表 13">
            <a:extLst>
              <a:ext uri="{FF2B5EF4-FFF2-40B4-BE49-F238E27FC236}">
                <a16:creationId xmlns:a16="http://schemas.microsoft.com/office/drawing/2014/main" id="{3E3BEE99-4DD6-9D1C-A29E-8BB1CCD5F919}"/>
              </a:ext>
            </a:extLst>
          </p:cNvPr>
          <p:cNvGraphicFramePr>
            <a:graphicFrameLocks noGrp="1"/>
          </p:cNvGraphicFramePr>
          <p:nvPr/>
        </p:nvGraphicFramePr>
        <p:xfrm>
          <a:off x="259313" y="611130"/>
          <a:ext cx="11844000" cy="2189480"/>
        </p:xfrm>
        <a:graphic>
          <a:graphicData uri="http://schemas.openxmlformats.org/drawingml/2006/table">
            <a:tbl>
              <a:tblPr firstRow="1" bandRow="1">
                <a:tableStyleId>{00A15C55-8517-42AA-B614-E9B94910E393}</a:tableStyleId>
              </a:tblPr>
              <a:tblGrid>
                <a:gridCol w="576000">
                  <a:extLst>
                    <a:ext uri="{9D8B030D-6E8A-4147-A177-3AD203B41FA5}">
                      <a16:colId xmlns:a16="http://schemas.microsoft.com/office/drawing/2014/main" val="3425837480"/>
                    </a:ext>
                  </a:extLst>
                </a:gridCol>
                <a:gridCol w="3168000">
                  <a:extLst>
                    <a:ext uri="{9D8B030D-6E8A-4147-A177-3AD203B41FA5}">
                      <a16:colId xmlns:a16="http://schemas.microsoft.com/office/drawing/2014/main" val="3450554461"/>
                    </a:ext>
                  </a:extLst>
                </a:gridCol>
                <a:gridCol w="7380000">
                  <a:extLst>
                    <a:ext uri="{9D8B030D-6E8A-4147-A177-3AD203B41FA5}">
                      <a16:colId xmlns:a16="http://schemas.microsoft.com/office/drawing/2014/main" val="339515624"/>
                    </a:ext>
                  </a:extLst>
                </a:gridCol>
                <a:gridCol w="720000">
                  <a:extLst>
                    <a:ext uri="{9D8B030D-6E8A-4147-A177-3AD203B41FA5}">
                      <a16:colId xmlns:a16="http://schemas.microsoft.com/office/drawing/2014/main" val="4033975465"/>
                    </a:ext>
                  </a:extLst>
                </a:gridCol>
              </a:tblGrid>
              <a:tr h="370840">
                <a:tc>
                  <a:txBody>
                    <a:bodyPr/>
                    <a:lstStyle/>
                    <a:p>
                      <a:endParaRPr kumimoji="1" lang="ja-JP" altLang="en-US" sz="1400" dirty="0"/>
                    </a:p>
                  </a:txBody>
                  <a:tcPr/>
                </a:tc>
                <a:tc>
                  <a:txBody>
                    <a:bodyPr/>
                    <a:lstStyle/>
                    <a:p>
                      <a:r>
                        <a:rPr kumimoji="1" lang="ja-JP" altLang="en-US" sz="1400" dirty="0"/>
                        <a:t>項目</a:t>
                      </a:r>
                    </a:p>
                  </a:txBody>
                  <a:tcPr/>
                </a:tc>
                <a:tc>
                  <a:txBody>
                    <a:bodyPr/>
                    <a:lstStyle/>
                    <a:p>
                      <a:r>
                        <a:rPr kumimoji="1" lang="ja-JP" altLang="en-US" sz="1400" dirty="0"/>
                        <a:t>機能要件</a:t>
                      </a:r>
                    </a:p>
                  </a:txBody>
                  <a:tcPr/>
                </a:tc>
                <a:tc>
                  <a:txBody>
                    <a:bodyPr/>
                    <a:lstStyle/>
                    <a:p>
                      <a:r>
                        <a:rPr kumimoji="1" lang="ja-JP" altLang="en-US" sz="1050" dirty="0"/>
                        <a:t>ビジネスユーザー</a:t>
                      </a:r>
                    </a:p>
                  </a:txBody>
                  <a:tcPr/>
                </a:tc>
                <a:extLst>
                  <a:ext uri="{0D108BD9-81ED-4DB2-BD59-A6C34878D82A}">
                    <a16:rowId xmlns:a16="http://schemas.microsoft.com/office/drawing/2014/main" val="3705394553"/>
                  </a:ext>
                </a:extLst>
              </a:tr>
              <a:tr h="370840">
                <a:tc gridSpan="4">
                  <a:txBody>
                    <a:bodyPr/>
                    <a:lstStyle/>
                    <a:p>
                      <a:r>
                        <a:rPr kumimoji="1" lang="en-US" altLang="ja-JP" sz="1400" b="1" dirty="0"/>
                        <a:t>Tableau</a:t>
                      </a:r>
                      <a:r>
                        <a:rPr kumimoji="1" lang="ja-JP" altLang="en-US" sz="1400" b="1" dirty="0"/>
                        <a:t>へのデータ接続性</a:t>
                      </a:r>
                    </a:p>
                  </a:txBody>
                  <a:tcPr/>
                </a:tc>
                <a:tc hMerge="1">
                  <a:txBody>
                    <a:bodyPr/>
                    <a:lstStyle/>
                    <a:p>
                      <a:endParaRPr kumimoji="1" lang="ja-JP" altLang="en-US" sz="1600" dirty="0"/>
                    </a:p>
                  </a:txBody>
                  <a:tcPr/>
                </a:tc>
                <a:tc hMerge="1">
                  <a:txBody>
                    <a:bodyPr/>
                    <a:lstStyle/>
                    <a:p>
                      <a:endParaRPr kumimoji="1" lang="ja-JP" altLang="en-US" sz="1600" dirty="0"/>
                    </a:p>
                  </a:txBody>
                  <a:tcPr/>
                </a:tc>
                <a:tc hMerge="1">
                  <a:txBody>
                    <a:bodyPr/>
                    <a:lstStyle/>
                    <a:p>
                      <a:endParaRPr kumimoji="1" lang="ja-JP" altLang="en-US" sz="1600" dirty="0"/>
                    </a:p>
                  </a:txBody>
                  <a:tcPr/>
                </a:tc>
                <a:extLst>
                  <a:ext uri="{0D108BD9-81ED-4DB2-BD59-A6C34878D82A}">
                    <a16:rowId xmlns:a16="http://schemas.microsoft.com/office/drawing/2014/main" val="1537571722"/>
                  </a:ext>
                </a:extLst>
              </a:tr>
              <a:tr h="370840">
                <a:tc>
                  <a:txBody>
                    <a:bodyPr/>
                    <a:lstStyle/>
                    <a:p>
                      <a:endParaRPr kumimoji="1" lang="ja-JP" altLang="en-US" sz="1400" dirty="0"/>
                    </a:p>
                  </a:txBody>
                  <a:tcPr/>
                </a:tc>
                <a:tc>
                  <a:txBody>
                    <a:bodyPr/>
                    <a:lstStyle/>
                    <a:p>
                      <a:r>
                        <a:rPr kumimoji="1" lang="en-US" altLang="ja-JP" sz="1400" dirty="0"/>
                        <a:t>AWS (S3, Redshift) /Tableau</a:t>
                      </a:r>
                      <a:r>
                        <a:rPr kumimoji="1" lang="ja-JP" altLang="en-US" sz="1400" dirty="0"/>
                        <a:t>サーバー</a:t>
                      </a:r>
                      <a:r>
                        <a:rPr kumimoji="1" lang="en-US" altLang="ja-JP" sz="1400" dirty="0"/>
                        <a:t>/JOY-Foundry</a:t>
                      </a:r>
                      <a:r>
                        <a:rPr kumimoji="1" lang="ja-JP" altLang="en-US" sz="1400" dirty="0"/>
                        <a:t>との接続</a:t>
                      </a:r>
                      <a:endParaRPr kumimoji="1" lang="en-US" altLang="ja-JP" sz="1400" dirty="0"/>
                    </a:p>
                  </a:txBody>
                  <a:tcPr/>
                </a:tc>
                <a:tc>
                  <a:txBody>
                    <a:bodyPr/>
                    <a:lstStyle/>
                    <a:p>
                      <a:r>
                        <a:rPr kumimoji="1" lang="ja-JP" altLang="en-US" sz="1400" dirty="0"/>
                        <a:t>新分析基盤のデータ変換ツール側で作成したデータモデルを、</a:t>
                      </a:r>
                      <a:r>
                        <a:rPr kumimoji="1" lang="en-US" altLang="ja-JP" sz="1400" dirty="0"/>
                        <a:t>AWS S3/Redshift </a:t>
                      </a:r>
                      <a:r>
                        <a:rPr kumimoji="1" lang="ja-JP" altLang="en-US" sz="1400" dirty="0"/>
                        <a:t>または </a:t>
                      </a:r>
                      <a:r>
                        <a:rPr kumimoji="1" lang="en-US" altLang="ja-JP" sz="1400" dirty="0"/>
                        <a:t>Tableau</a:t>
                      </a:r>
                      <a:r>
                        <a:rPr kumimoji="1" lang="ja-JP" altLang="en-US" sz="1400" dirty="0"/>
                        <a:t>サーバー または </a:t>
                      </a:r>
                      <a:r>
                        <a:rPr kumimoji="1" lang="en-US" altLang="ja-JP" sz="1400" dirty="0"/>
                        <a:t>JOY-Foundry</a:t>
                      </a:r>
                      <a:r>
                        <a:rPr kumimoji="1" lang="ja-JP" altLang="en-US" sz="1400" dirty="0"/>
                        <a:t> に接続して</a:t>
                      </a:r>
                      <a:r>
                        <a:rPr kumimoji="1" lang="en-US" altLang="ja-JP" sz="1400" dirty="0"/>
                        <a:t>Tableau</a:t>
                      </a:r>
                      <a:r>
                        <a:rPr kumimoji="1" lang="ja-JP" altLang="en-US" sz="1400" dirty="0"/>
                        <a:t>で表示できる。</a:t>
                      </a:r>
                    </a:p>
                  </a:txBody>
                  <a:tcPr/>
                </a:tc>
                <a:tc>
                  <a:txBody>
                    <a:bodyPr/>
                    <a:lstStyle/>
                    <a:p>
                      <a:endParaRPr kumimoji="1" lang="ja-JP" altLang="en-US" sz="1400" dirty="0"/>
                    </a:p>
                  </a:txBody>
                  <a:tcPr/>
                </a:tc>
                <a:extLst>
                  <a:ext uri="{0D108BD9-81ED-4DB2-BD59-A6C34878D82A}">
                    <a16:rowId xmlns:a16="http://schemas.microsoft.com/office/drawing/2014/main" val="1478687915"/>
                  </a:ext>
                </a:extLst>
              </a:tr>
              <a:tr h="370840">
                <a:tc gridSpan="4">
                  <a:txBody>
                    <a:bodyPr/>
                    <a:lstStyle/>
                    <a:p>
                      <a:r>
                        <a:rPr kumimoji="1" lang="en-US" altLang="ja-JP" sz="1400" b="1" dirty="0"/>
                        <a:t>Tableau</a:t>
                      </a:r>
                      <a:r>
                        <a:rPr kumimoji="1" lang="ja-JP" altLang="en-US" sz="1400" b="1" dirty="0"/>
                        <a:t>を補完する対話形式の分析環境</a:t>
                      </a:r>
                    </a:p>
                  </a:txBody>
                  <a:tcPr/>
                </a:tc>
                <a:tc hMerge="1">
                  <a:txBody>
                    <a:bodyPr/>
                    <a:lstStyle/>
                    <a:p>
                      <a:endParaRPr kumimoji="1" lang="ja-JP" altLang="en-US" sz="1400" dirty="0"/>
                    </a:p>
                  </a:txBody>
                  <a:tcPr/>
                </a:tc>
                <a:tc hMerge="1">
                  <a:txBody>
                    <a:bodyPr/>
                    <a:lstStyle/>
                    <a:p>
                      <a:endParaRPr kumimoji="1" lang="ja-JP" altLang="en-US" sz="1400" dirty="0"/>
                    </a:p>
                  </a:txBody>
                  <a:tcPr/>
                </a:tc>
                <a:tc hMerge="1">
                  <a:txBody>
                    <a:bodyPr/>
                    <a:lstStyle/>
                    <a:p>
                      <a:endParaRPr kumimoji="1" lang="ja-JP" altLang="en-US" sz="1400" dirty="0"/>
                    </a:p>
                  </a:txBody>
                  <a:tcPr/>
                </a:tc>
                <a:extLst>
                  <a:ext uri="{0D108BD9-81ED-4DB2-BD59-A6C34878D82A}">
                    <a16:rowId xmlns:a16="http://schemas.microsoft.com/office/drawing/2014/main" val="3686898159"/>
                  </a:ext>
                </a:extLst>
              </a:tr>
              <a:tr h="370840">
                <a:tc>
                  <a:txBody>
                    <a:bodyPr/>
                    <a:lstStyle/>
                    <a:p>
                      <a:endParaRPr kumimoji="1" lang="ja-JP" altLang="en-US" sz="1400" dirty="0"/>
                    </a:p>
                  </a:txBody>
                  <a:tcPr/>
                </a:tc>
                <a:tc>
                  <a:txBody>
                    <a:bodyPr/>
                    <a:lstStyle/>
                    <a:p>
                      <a:r>
                        <a:rPr kumimoji="1" lang="ja-JP" altLang="en-US" sz="1400" dirty="0"/>
                        <a:t>自然言語による対話型の分析</a:t>
                      </a:r>
                    </a:p>
                  </a:txBody>
                  <a:tcPr/>
                </a:tc>
                <a:tc>
                  <a:txBody>
                    <a:bodyPr/>
                    <a:lstStyle/>
                    <a:p>
                      <a:r>
                        <a:rPr kumimoji="1" lang="ja-JP" altLang="en-US" sz="1400" dirty="0"/>
                        <a:t>で質問を投げかけると、適切なグラフや数値を自動で生成・表示できる。</a:t>
                      </a:r>
                      <a:endParaRPr kumimoji="1" lang="en-US" altLang="ja-JP" sz="1400" dirty="0"/>
                    </a:p>
                    <a:p>
                      <a:r>
                        <a:rPr kumimoji="1" lang="ja-JP" altLang="en-US" sz="1400" dirty="0"/>
                        <a:t>表示されたグラフに対して、要約や、特異点、傾向などを文章で自動的に説明してくれる。</a:t>
                      </a:r>
                    </a:p>
                  </a:txBody>
                  <a:tcPr/>
                </a:tc>
                <a:tc>
                  <a:txBody>
                    <a:bodyPr/>
                    <a:lstStyle/>
                    <a:p>
                      <a:r>
                        <a:rPr kumimoji="1" lang="ja-JP" altLang="en-US" sz="1400" dirty="0"/>
                        <a:t>○</a:t>
                      </a:r>
                    </a:p>
                  </a:txBody>
                  <a:tcPr/>
                </a:tc>
                <a:extLst>
                  <a:ext uri="{0D108BD9-81ED-4DB2-BD59-A6C34878D82A}">
                    <a16:rowId xmlns:a16="http://schemas.microsoft.com/office/drawing/2014/main" val="1306503227"/>
                  </a:ext>
                </a:extLst>
              </a:tr>
            </a:tbl>
          </a:graphicData>
        </a:graphic>
      </p:graphicFrame>
    </p:spTree>
    <p:extLst>
      <p:ext uri="{BB962C8B-B14F-4D97-AF65-F5344CB8AC3E}">
        <p14:creationId xmlns:p14="http://schemas.microsoft.com/office/powerpoint/2010/main" val="6820791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FFE697A-E565-F492-B546-A835DCBF1753}"/>
              </a:ext>
            </a:extLst>
          </p:cNvPr>
          <p:cNvSpPr>
            <a:spLocks noChangeArrowheads="1"/>
          </p:cNvSpPr>
          <p:nvPr/>
        </p:nvSpPr>
        <p:spPr bwMode="auto">
          <a:xfrm>
            <a:off x="83198" y="-134860"/>
            <a:ext cx="10122964" cy="6257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0"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ja-JP" sz="2400" b="1" i="0" u="none" strike="noStrike" cap="none" normalizeH="0" baseline="0" dirty="0">
                <a:ln>
                  <a:noFill/>
                </a:ln>
                <a:solidFill>
                  <a:srgbClr val="09090B"/>
                </a:solidFill>
                <a:effectLst/>
                <a:latin typeface="+mn-ea"/>
              </a:rPr>
              <a:t>3.2.4    </a:t>
            </a:r>
            <a:r>
              <a:rPr kumimoji="0" lang="ja-JP" altLang="ja-JP" sz="2400" b="1" i="0" u="none" strike="noStrike" cap="none" normalizeH="0" baseline="0" dirty="0">
                <a:ln>
                  <a:noFill/>
                </a:ln>
                <a:solidFill>
                  <a:srgbClr val="09090B"/>
                </a:solidFill>
                <a:effectLst/>
                <a:latin typeface="+mn-ea"/>
              </a:rPr>
              <a:t>データマート構築・分析</a:t>
            </a:r>
            <a:r>
              <a:rPr kumimoji="0" lang="ja-JP" altLang="en-US" sz="2400" b="1" dirty="0">
                <a:solidFill>
                  <a:srgbClr val="09090B"/>
                </a:solidFill>
                <a:latin typeface="+mn-ea"/>
              </a:rPr>
              <a:t>用</a:t>
            </a:r>
            <a:r>
              <a:rPr kumimoji="0" lang="ja-JP" altLang="ja-JP" sz="2400" b="1" i="0" u="none" strike="noStrike" cap="none" normalizeH="0" baseline="0" dirty="0">
                <a:ln>
                  <a:noFill/>
                </a:ln>
                <a:solidFill>
                  <a:srgbClr val="09090B"/>
                </a:solidFill>
                <a:effectLst/>
                <a:latin typeface="+mn-ea"/>
              </a:rPr>
              <a:t>データウェアハウス（DWH）主要要件</a:t>
            </a:r>
          </a:p>
        </p:txBody>
      </p:sp>
      <p:sp>
        <p:nvSpPr>
          <p:cNvPr id="3" name="Rectangle 2">
            <a:extLst>
              <a:ext uri="{FF2B5EF4-FFF2-40B4-BE49-F238E27FC236}">
                <a16:creationId xmlns:a16="http://schemas.microsoft.com/office/drawing/2014/main" id="{233103F5-15A6-4266-14E7-0B7E9C2A6CC3}"/>
              </a:ext>
            </a:extLst>
          </p:cNvPr>
          <p:cNvSpPr>
            <a:spLocks noChangeArrowheads="1"/>
          </p:cNvSpPr>
          <p:nvPr/>
        </p:nvSpPr>
        <p:spPr bwMode="auto">
          <a:xfrm>
            <a:off x="0" y="45720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ja-JP" altLang="en-US"/>
          </a:p>
        </p:txBody>
      </p:sp>
      <p:sp>
        <p:nvSpPr>
          <p:cNvPr id="4" name="Rectangle 3">
            <a:extLst>
              <a:ext uri="{FF2B5EF4-FFF2-40B4-BE49-F238E27FC236}">
                <a16:creationId xmlns:a16="http://schemas.microsoft.com/office/drawing/2014/main" id="{F1F51BF8-8425-C0EB-D39D-E6CE8407DDDF}"/>
              </a:ext>
            </a:extLst>
          </p:cNvPr>
          <p:cNvSpPr>
            <a:spLocks noChangeArrowheads="1"/>
          </p:cNvSpPr>
          <p:nvPr/>
        </p:nvSpPr>
        <p:spPr bwMode="auto">
          <a:xfrm>
            <a:off x="522514" y="457533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dirty="0">
              <a:ln>
                <a:noFill/>
              </a:ln>
              <a:solidFill>
                <a:schemeClr val="tx1"/>
              </a:solidFill>
              <a:effectLst/>
              <a:latin typeface="Arial" panose="020B0604020202020204" pitchFamily="34" charset="0"/>
            </a:endParaRPr>
          </a:p>
        </p:txBody>
      </p:sp>
      <p:sp>
        <p:nvSpPr>
          <p:cNvPr id="5" name="テキスト ボックス 4">
            <a:extLst>
              <a:ext uri="{FF2B5EF4-FFF2-40B4-BE49-F238E27FC236}">
                <a16:creationId xmlns:a16="http://schemas.microsoft.com/office/drawing/2014/main" id="{14E4B9E0-86E7-FAF4-997A-2EDEFE5F7902}"/>
              </a:ext>
            </a:extLst>
          </p:cNvPr>
          <p:cNvSpPr txBox="1"/>
          <p:nvPr/>
        </p:nvSpPr>
        <p:spPr>
          <a:xfrm>
            <a:off x="298968" y="490872"/>
            <a:ext cx="10520829" cy="6001643"/>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600" b="1" i="0" u="none" strike="noStrike" cap="none" normalizeH="0" baseline="0" dirty="0">
                <a:ln>
                  <a:noFill/>
                </a:ln>
                <a:solidFill>
                  <a:srgbClr val="09090B"/>
                </a:solidFill>
                <a:effectLst/>
                <a:latin typeface="Arial" panose="020B0604020202020204" pitchFamily="34" charset="0"/>
                <a:ea typeface="ui-sans-serif"/>
              </a:rPr>
              <a:t>1. </a:t>
            </a:r>
            <a:r>
              <a:rPr kumimoji="0" lang="ja-JP" altLang="en-US" sz="1600" b="1" i="0" u="none" strike="noStrike" cap="none" normalizeH="0" baseline="0" dirty="0">
                <a:ln>
                  <a:noFill/>
                </a:ln>
                <a:solidFill>
                  <a:srgbClr val="00B0F0"/>
                </a:solidFill>
                <a:effectLst/>
                <a:latin typeface="Arial" panose="020B0604020202020204" pitchFamily="34" charset="0"/>
                <a:ea typeface="ui-sans-serif"/>
              </a:rPr>
              <a:t>クエリ</a:t>
            </a:r>
            <a:r>
              <a:rPr kumimoji="0" lang="ja-JP" altLang="ja-JP" sz="1600" b="1" i="0" u="none" strike="noStrike" cap="none" normalizeH="0" baseline="0" dirty="0">
                <a:ln>
                  <a:noFill/>
                </a:ln>
                <a:solidFill>
                  <a:srgbClr val="00B0F0"/>
                </a:solidFill>
                <a:effectLst/>
                <a:latin typeface="Arial" panose="020B0604020202020204" pitchFamily="34" charset="0"/>
                <a:ea typeface="ui-sans-serif"/>
              </a:rPr>
              <a:t>パフォーマンス</a:t>
            </a:r>
          </a:p>
          <a:p>
            <a:pPr marL="0" marR="0" lvl="0" indent="0" algn="l" defTabSz="914400" rtl="0" eaLnBrk="0" fontAlgn="base" latinLnBrk="0" hangingPunct="0">
              <a:lnSpc>
                <a:spcPct val="100000"/>
              </a:lnSpc>
              <a:spcBef>
                <a:spcPct val="0"/>
              </a:spcBef>
              <a:spcAft>
                <a:spcPct val="0"/>
              </a:spcAft>
              <a:buClrTx/>
              <a:buSzTx/>
              <a:tabLst/>
            </a:pPr>
            <a:r>
              <a:rPr kumimoji="0" lang="ja-JP" altLang="en-US" sz="1600" b="1" i="0" u="none" strike="noStrike" cap="none" normalizeH="0" baseline="0" dirty="0">
                <a:ln>
                  <a:noFill/>
                </a:ln>
                <a:solidFill>
                  <a:srgbClr val="09090B"/>
                </a:solidFill>
                <a:effectLst/>
                <a:latin typeface="Arial" panose="020B0604020202020204" pitchFamily="34" charset="0"/>
                <a:ea typeface="ui-sans-serif"/>
              </a:rPr>
              <a:t>　</a:t>
            </a:r>
            <a:r>
              <a:rPr kumimoji="0" lang="ja-JP" altLang="en-US" sz="1600" b="1" dirty="0">
                <a:solidFill>
                  <a:srgbClr val="09090B"/>
                </a:solidFill>
                <a:latin typeface="Arial" panose="020B0604020202020204" pitchFamily="34" charset="0"/>
                <a:ea typeface="ui-sans-serif"/>
              </a:rPr>
              <a:t>・</a:t>
            </a:r>
            <a:r>
              <a:rPr kumimoji="0" lang="ja-JP" altLang="ja-JP" sz="1600" b="1" i="0" u="none" strike="noStrike" cap="none" normalizeH="0" baseline="0" dirty="0">
                <a:ln>
                  <a:noFill/>
                </a:ln>
                <a:solidFill>
                  <a:srgbClr val="09090B"/>
                </a:solidFill>
                <a:effectLst/>
                <a:latin typeface="Arial" panose="020B0604020202020204" pitchFamily="34" charset="0"/>
                <a:ea typeface="ui-sans-serif"/>
              </a:rPr>
              <a:t>高速なクエリ処理能力 :</a:t>
            </a:r>
            <a:endParaRPr kumimoji="0" lang="ja-JP" altLang="ja-JP" sz="1600" b="0" i="0" u="none" strike="noStrike" cap="none" normalizeH="0" baseline="0" dirty="0">
              <a:ln>
                <a:noFill/>
              </a:ln>
              <a:solidFill>
                <a:srgbClr val="09090B"/>
              </a:solidFill>
              <a:effectLst/>
              <a:latin typeface="Arial" panose="020B0604020202020204" pitchFamily="34" charset="0"/>
              <a:ea typeface="ui-sans-serif"/>
            </a:endParaRPr>
          </a:p>
          <a:p>
            <a:pPr marL="457200" marR="0" lvl="1" indent="0" algn="l" defTabSz="914400" rtl="0" eaLnBrk="0" fontAlgn="base" latinLnBrk="0" hangingPunct="0">
              <a:lnSpc>
                <a:spcPct val="100000"/>
              </a:lnSpc>
              <a:spcBef>
                <a:spcPct val="0"/>
              </a:spcBef>
              <a:spcAft>
                <a:spcPct val="0"/>
              </a:spcAft>
              <a:buClrTx/>
              <a:buSzTx/>
              <a:tabLst/>
            </a:pPr>
            <a:r>
              <a:rPr kumimoji="0" lang="ja-JP" altLang="ja-JP" sz="1600" b="0" i="0" u="none" strike="noStrike" cap="none" normalizeH="0" baseline="0" dirty="0">
                <a:ln>
                  <a:noFill/>
                </a:ln>
                <a:solidFill>
                  <a:srgbClr val="09090B"/>
                </a:solidFill>
                <a:effectLst/>
                <a:latin typeface="Arial" panose="020B0604020202020204" pitchFamily="34" charset="0"/>
                <a:ea typeface="ui-sans-serif"/>
              </a:rPr>
              <a:t>大量データ（2TB）に対して、複雑な分析クエリ（集計、結合など）を高速に実行できること。</a:t>
            </a:r>
          </a:p>
          <a:p>
            <a:pPr marL="0" marR="0" lvl="0" indent="0" algn="l" defTabSz="914400" rtl="0" eaLnBrk="0" fontAlgn="base" latinLnBrk="0" hangingPunct="0">
              <a:lnSpc>
                <a:spcPct val="100000"/>
              </a:lnSpc>
              <a:spcBef>
                <a:spcPct val="0"/>
              </a:spcBef>
              <a:spcAft>
                <a:spcPct val="0"/>
              </a:spcAft>
              <a:buClrTx/>
              <a:buSzTx/>
              <a:tabLst/>
            </a:pPr>
            <a:r>
              <a:rPr kumimoji="0" lang="ja-JP" altLang="en-US" sz="1600" b="1" i="0" u="none" strike="noStrike" cap="none" normalizeH="0" baseline="0" dirty="0">
                <a:ln>
                  <a:noFill/>
                </a:ln>
                <a:solidFill>
                  <a:srgbClr val="09090B"/>
                </a:solidFill>
                <a:effectLst/>
                <a:latin typeface="Arial" panose="020B0604020202020204" pitchFamily="34" charset="0"/>
                <a:ea typeface="ui-sans-serif"/>
              </a:rPr>
              <a:t>　・</a:t>
            </a:r>
            <a:r>
              <a:rPr kumimoji="0" lang="ja-JP" altLang="ja-JP" sz="1600" b="1" i="0" u="none" strike="noStrike" cap="none" normalizeH="0" baseline="0" dirty="0">
                <a:ln>
                  <a:noFill/>
                </a:ln>
                <a:solidFill>
                  <a:srgbClr val="09090B"/>
                </a:solidFill>
                <a:effectLst/>
                <a:latin typeface="Arial" panose="020B0604020202020204" pitchFamily="34" charset="0"/>
                <a:ea typeface="ui-sans-serif"/>
              </a:rPr>
              <a:t>高い並行処理性能:</a:t>
            </a:r>
            <a:endParaRPr kumimoji="0" lang="ja-JP" altLang="ja-JP" sz="1600" b="0" i="0" u="none" strike="noStrike" cap="none" normalizeH="0" baseline="0" dirty="0">
              <a:ln>
                <a:noFill/>
              </a:ln>
              <a:solidFill>
                <a:srgbClr val="09090B"/>
              </a:solidFill>
              <a:effectLst/>
              <a:latin typeface="Arial" panose="020B0604020202020204" pitchFamily="34" charset="0"/>
              <a:ea typeface="ui-sans-serif"/>
            </a:endParaRPr>
          </a:p>
          <a:p>
            <a:pPr marL="457200" marR="0" lvl="1" indent="0" algn="l" defTabSz="914400" rtl="0" eaLnBrk="0" fontAlgn="base" latinLnBrk="0" hangingPunct="0">
              <a:lnSpc>
                <a:spcPct val="100000"/>
              </a:lnSpc>
              <a:spcBef>
                <a:spcPct val="0"/>
              </a:spcBef>
              <a:spcAft>
                <a:spcPct val="0"/>
              </a:spcAft>
              <a:buClrTx/>
              <a:buSzTx/>
              <a:tabLst/>
            </a:pPr>
            <a:r>
              <a:rPr kumimoji="0" lang="ja-JP" altLang="ja-JP" sz="1600" b="0" i="0" u="none" strike="noStrike" cap="none" normalizeH="0" baseline="0" dirty="0">
                <a:ln>
                  <a:noFill/>
                </a:ln>
                <a:solidFill>
                  <a:srgbClr val="09090B"/>
                </a:solidFill>
                <a:effectLst/>
                <a:latin typeface="Arial" panose="020B0604020202020204" pitchFamily="34" charset="0"/>
                <a:ea typeface="ui-sans-serif"/>
              </a:rPr>
              <a:t>複数のユーザーやBIツールが同時にクエリを実行しても、パフォーマンスが大きく低下しないこと。</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600" b="1" i="0" u="none" strike="noStrike" cap="none" normalizeH="0" baseline="0" dirty="0">
              <a:ln>
                <a:noFill/>
              </a:ln>
              <a:solidFill>
                <a:srgbClr val="09090B"/>
              </a:solidFill>
              <a:effectLst/>
              <a:latin typeface="Arial" panose="020B0604020202020204" pitchFamily="34" charset="0"/>
              <a:ea typeface="ui-sans-serif"/>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600" b="1" i="0" u="none" strike="noStrike" cap="none" normalizeH="0" baseline="0" dirty="0">
                <a:ln>
                  <a:noFill/>
                </a:ln>
                <a:solidFill>
                  <a:srgbClr val="09090B"/>
                </a:solidFill>
                <a:effectLst/>
                <a:latin typeface="Arial" panose="020B0604020202020204" pitchFamily="34" charset="0"/>
                <a:ea typeface="ui-sans-serif"/>
              </a:rPr>
              <a:t>2. </a:t>
            </a:r>
            <a:r>
              <a:rPr kumimoji="0" lang="ja-JP" altLang="ja-JP" sz="1600" b="1" i="0" u="none" strike="noStrike" cap="none" normalizeH="0" baseline="0" dirty="0">
                <a:ln>
                  <a:noFill/>
                </a:ln>
                <a:solidFill>
                  <a:srgbClr val="00B0F0"/>
                </a:solidFill>
                <a:effectLst/>
                <a:latin typeface="Arial" panose="020B0604020202020204" pitchFamily="34" charset="0"/>
                <a:ea typeface="ui-sans-serif"/>
              </a:rPr>
              <a:t>データ統合と操作性</a:t>
            </a:r>
          </a:p>
          <a:p>
            <a:pPr marL="0" marR="0" lvl="0" indent="0" algn="l" defTabSz="914400" rtl="0" eaLnBrk="0" fontAlgn="base" latinLnBrk="0" hangingPunct="0">
              <a:lnSpc>
                <a:spcPct val="100000"/>
              </a:lnSpc>
              <a:spcBef>
                <a:spcPct val="0"/>
              </a:spcBef>
              <a:spcAft>
                <a:spcPct val="0"/>
              </a:spcAft>
              <a:buClrTx/>
              <a:buSzTx/>
              <a:tabLst/>
            </a:pPr>
            <a:r>
              <a:rPr kumimoji="0" lang="ja-JP" altLang="en-US" sz="1600" b="1" i="0" u="none" strike="noStrike" cap="none" normalizeH="0" baseline="0" dirty="0">
                <a:ln>
                  <a:noFill/>
                </a:ln>
                <a:solidFill>
                  <a:srgbClr val="09090B"/>
                </a:solidFill>
                <a:effectLst/>
                <a:latin typeface="Arial" panose="020B0604020202020204" pitchFamily="34" charset="0"/>
                <a:ea typeface="ui-sans-serif"/>
              </a:rPr>
              <a:t>　</a:t>
            </a:r>
            <a:r>
              <a:rPr kumimoji="0" lang="ja-JP" altLang="ja-JP" sz="1600" b="1" i="0" u="none" strike="noStrike" cap="none" normalizeH="0" baseline="0" dirty="0">
                <a:ln>
                  <a:noFill/>
                </a:ln>
                <a:solidFill>
                  <a:srgbClr val="09090B"/>
                </a:solidFill>
                <a:effectLst/>
                <a:latin typeface="Arial" panose="020B0604020202020204" pitchFamily="34" charset="0"/>
                <a:ea typeface="ui-sans-serif"/>
              </a:rPr>
              <a:t>多様なデータソースとの連携:</a:t>
            </a:r>
            <a:endParaRPr kumimoji="0" lang="ja-JP" altLang="ja-JP" sz="1600" b="0" i="0" u="none" strike="noStrike" cap="none" normalizeH="0" baseline="0" dirty="0">
              <a:ln>
                <a:noFill/>
              </a:ln>
              <a:solidFill>
                <a:srgbClr val="09090B"/>
              </a:solidFill>
              <a:effectLst/>
              <a:latin typeface="Arial" panose="020B0604020202020204" pitchFamily="34" charset="0"/>
              <a:ea typeface="ui-sans-serif"/>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ja-JP" altLang="ja-JP" sz="1600" b="0" i="0" u="none" strike="noStrike" cap="none" normalizeH="0" baseline="0" dirty="0">
                <a:ln>
                  <a:noFill/>
                </a:ln>
                <a:solidFill>
                  <a:srgbClr val="09090B"/>
                </a:solidFill>
                <a:effectLst/>
                <a:latin typeface="Arial" panose="020B0604020202020204" pitchFamily="34" charset="0"/>
                <a:ea typeface="ui-sans-serif"/>
              </a:rPr>
              <a:t>RDBMS、ファイルストレージ（S3 など）、様々なソースからデータを効率的に取り込めること。</a:t>
            </a:r>
          </a:p>
          <a:p>
            <a:pPr marL="0" marR="0" lvl="0" indent="0" algn="l" defTabSz="914400" rtl="0" eaLnBrk="0" fontAlgn="base" latinLnBrk="0" hangingPunct="0">
              <a:lnSpc>
                <a:spcPct val="100000"/>
              </a:lnSpc>
              <a:spcBef>
                <a:spcPct val="0"/>
              </a:spcBef>
              <a:spcAft>
                <a:spcPct val="0"/>
              </a:spcAft>
              <a:buClrTx/>
              <a:buSzTx/>
              <a:tabLst/>
            </a:pPr>
            <a:r>
              <a:rPr kumimoji="0" lang="ja-JP" altLang="en-US" sz="1600" b="1" i="0" u="none" strike="noStrike" cap="none" normalizeH="0" baseline="0" dirty="0">
                <a:ln>
                  <a:noFill/>
                </a:ln>
                <a:solidFill>
                  <a:srgbClr val="09090B"/>
                </a:solidFill>
                <a:effectLst/>
                <a:latin typeface="Arial" panose="020B0604020202020204" pitchFamily="34" charset="0"/>
                <a:ea typeface="ui-sans-serif"/>
              </a:rPr>
              <a:t>　</a:t>
            </a:r>
            <a:r>
              <a:rPr kumimoji="0" lang="ja-JP" altLang="ja-JP" sz="1600" b="1" i="0" u="none" strike="noStrike" cap="none" normalizeH="0" baseline="0" dirty="0">
                <a:ln>
                  <a:noFill/>
                </a:ln>
                <a:solidFill>
                  <a:srgbClr val="09090B"/>
                </a:solidFill>
                <a:effectLst/>
                <a:latin typeface="Arial" panose="020B0604020202020204" pitchFamily="34" charset="0"/>
                <a:ea typeface="ui-sans-serif"/>
              </a:rPr>
              <a:t>標準SQL準拠と高度な分析関数:</a:t>
            </a:r>
            <a:endParaRPr kumimoji="0" lang="ja-JP" altLang="ja-JP" sz="1600" b="0" i="0" u="none" strike="noStrike" cap="none" normalizeH="0" baseline="0" dirty="0">
              <a:ln>
                <a:noFill/>
              </a:ln>
              <a:solidFill>
                <a:srgbClr val="09090B"/>
              </a:solidFill>
              <a:effectLst/>
              <a:latin typeface="Arial" panose="020B0604020202020204" pitchFamily="34" charset="0"/>
              <a:ea typeface="ui-sans-serif"/>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ja-JP" altLang="ja-JP" sz="1600" b="0" i="0" u="none" strike="noStrike" cap="none" normalizeH="0" baseline="0" dirty="0">
                <a:ln>
                  <a:noFill/>
                </a:ln>
                <a:solidFill>
                  <a:srgbClr val="09090B"/>
                </a:solidFill>
                <a:effectLst/>
                <a:latin typeface="Arial" panose="020B0604020202020204" pitchFamily="34" charset="0"/>
                <a:ea typeface="ui-sans-serif"/>
              </a:rPr>
              <a:t>標準SQLに準拠し、ユーザーが慣れ親しんだSQLでデータマートを構築・加工できること。</a:t>
            </a:r>
            <a:endParaRPr kumimoji="0" lang="en-US" altLang="ja-JP" sz="1600" b="0" i="0" u="none" strike="noStrike" cap="none" normalizeH="0" baseline="0" dirty="0">
              <a:ln>
                <a:noFill/>
              </a:ln>
              <a:solidFill>
                <a:srgbClr val="09090B"/>
              </a:solidFill>
              <a:effectLst/>
              <a:latin typeface="Arial" panose="020B0604020202020204" pitchFamily="34" charset="0"/>
              <a:ea typeface="ui-sans-serif"/>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ja-JP" altLang="ja-JP" sz="1600" b="0" i="0" u="none" strike="noStrike" cap="none" normalizeH="0" baseline="0" dirty="0">
                <a:ln>
                  <a:noFill/>
                </a:ln>
                <a:solidFill>
                  <a:srgbClr val="09090B"/>
                </a:solidFill>
                <a:effectLst/>
                <a:latin typeface="Arial" panose="020B0604020202020204" pitchFamily="34" charset="0"/>
                <a:ea typeface="ui-sans-serif"/>
              </a:rPr>
              <a:t>ウィンドウ関数など、高度な分析関数をサポートすること。</a:t>
            </a:r>
          </a:p>
          <a:p>
            <a:pPr marL="0" marR="0" lvl="0" indent="0" algn="l" defTabSz="914400" rtl="0" eaLnBrk="0" fontAlgn="base" latinLnBrk="0" hangingPunct="0">
              <a:lnSpc>
                <a:spcPct val="100000"/>
              </a:lnSpc>
              <a:spcBef>
                <a:spcPct val="0"/>
              </a:spcBef>
              <a:spcAft>
                <a:spcPct val="0"/>
              </a:spcAft>
              <a:buClrTx/>
              <a:buSzTx/>
              <a:tabLst/>
            </a:pPr>
            <a:r>
              <a:rPr kumimoji="0" lang="ja-JP" altLang="en-US" sz="1600" b="1" i="0" u="none" strike="noStrike" cap="none" normalizeH="0" baseline="0" dirty="0">
                <a:ln>
                  <a:noFill/>
                </a:ln>
                <a:solidFill>
                  <a:srgbClr val="09090B"/>
                </a:solidFill>
                <a:effectLst/>
                <a:latin typeface="Arial" panose="020B0604020202020204" pitchFamily="34" charset="0"/>
                <a:ea typeface="ui-sans-serif"/>
              </a:rPr>
              <a:t>　</a:t>
            </a:r>
            <a:r>
              <a:rPr kumimoji="0" lang="ja-JP" altLang="ja-JP" sz="1600" b="1" i="0" u="none" strike="noStrike" cap="none" normalizeH="0" baseline="0" dirty="0">
                <a:ln>
                  <a:noFill/>
                </a:ln>
                <a:solidFill>
                  <a:srgbClr val="09090B"/>
                </a:solidFill>
                <a:effectLst/>
                <a:latin typeface="Arial" panose="020B0604020202020204" pitchFamily="34" charset="0"/>
                <a:ea typeface="ui-sans-serif"/>
              </a:rPr>
              <a:t>多様なデータ型サポート:</a:t>
            </a:r>
            <a:endParaRPr kumimoji="0" lang="ja-JP" altLang="ja-JP" sz="1600" b="0" i="0" u="none" strike="noStrike" cap="none" normalizeH="0" baseline="0" dirty="0">
              <a:ln>
                <a:noFill/>
              </a:ln>
              <a:solidFill>
                <a:srgbClr val="09090B"/>
              </a:solidFill>
              <a:effectLst/>
              <a:latin typeface="Arial" panose="020B0604020202020204" pitchFamily="34" charset="0"/>
              <a:ea typeface="ui-sans-serif"/>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ja-JP" altLang="ja-JP" sz="1600" b="0" i="0" u="none" strike="noStrike" cap="none" normalizeH="0" baseline="0" dirty="0">
                <a:ln>
                  <a:noFill/>
                </a:ln>
                <a:solidFill>
                  <a:srgbClr val="09090B"/>
                </a:solidFill>
                <a:effectLst/>
                <a:latin typeface="Arial" panose="020B0604020202020204" pitchFamily="34" charset="0"/>
                <a:ea typeface="ui-sans-serif"/>
              </a:rPr>
              <a:t>数値、文字列、日付だけでなく、JSON、ARRAYなど、多様なデータ型を適切に扱えること。</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600" b="1" i="0" u="none" strike="noStrike" cap="none" normalizeH="0" baseline="0" dirty="0">
              <a:ln>
                <a:noFill/>
              </a:ln>
              <a:solidFill>
                <a:srgbClr val="09090B"/>
              </a:solidFill>
              <a:effectLst/>
              <a:latin typeface="Arial" panose="020B0604020202020204" pitchFamily="34" charset="0"/>
              <a:ea typeface="ui-sans-serif"/>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600" b="1" i="0" u="none" strike="noStrike" cap="none" normalizeH="0" baseline="0" dirty="0">
                <a:ln>
                  <a:noFill/>
                </a:ln>
                <a:solidFill>
                  <a:srgbClr val="09090B"/>
                </a:solidFill>
                <a:effectLst/>
                <a:latin typeface="Arial" panose="020B0604020202020204" pitchFamily="34" charset="0"/>
                <a:ea typeface="ui-sans-serif"/>
              </a:rPr>
              <a:t>3. </a:t>
            </a:r>
            <a:r>
              <a:rPr kumimoji="0" lang="ja-JP" altLang="ja-JP" sz="1600" b="1" i="0" u="none" strike="noStrike" cap="none" normalizeH="0" baseline="0" dirty="0">
                <a:ln>
                  <a:noFill/>
                </a:ln>
                <a:solidFill>
                  <a:srgbClr val="00B0F0"/>
                </a:solidFill>
                <a:effectLst/>
                <a:latin typeface="Arial" panose="020B0604020202020204" pitchFamily="34" charset="0"/>
                <a:ea typeface="ui-sans-serif"/>
              </a:rPr>
              <a:t>データ活用と外部連携</a:t>
            </a:r>
          </a:p>
          <a:p>
            <a:pPr marL="0" marR="0" lvl="0" indent="0" algn="l" defTabSz="914400" rtl="0" eaLnBrk="0" fontAlgn="base" latinLnBrk="0" hangingPunct="0">
              <a:lnSpc>
                <a:spcPct val="100000"/>
              </a:lnSpc>
              <a:spcBef>
                <a:spcPct val="0"/>
              </a:spcBef>
              <a:spcAft>
                <a:spcPct val="0"/>
              </a:spcAft>
              <a:buClrTx/>
              <a:buSzTx/>
              <a:tabLst/>
            </a:pPr>
            <a:r>
              <a:rPr kumimoji="0" lang="ja-JP" altLang="en-US" sz="1600" b="1" i="0" u="none" strike="noStrike" cap="none" normalizeH="0" baseline="0" dirty="0">
                <a:ln>
                  <a:noFill/>
                </a:ln>
                <a:solidFill>
                  <a:srgbClr val="09090B"/>
                </a:solidFill>
                <a:effectLst/>
                <a:latin typeface="Arial" panose="020B0604020202020204" pitchFamily="34" charset="0"/>
                <a:ea typeface="ui-sans-serif"/>
              </a:rPr>
              <a:t>　</a:t>
            </a:r>
            <a:r>
              <a:rPr kumimoji="0" lang="ja-JP" altLang="ja-JP" sz="1600" b="1" i="0" u="none" strike="noStrike" cap="none" normalizeH="0" baseline="0" dirty="0">
                <a:ln>
                  <a:noFill/>
                </a:ln>
                <a:solidFill>
                  <a:srgbClr val="09090B"/>
                </a:solidFill>
                <a:effectLst/>
                <a:latin typeface="Arial" panose="020B0604020202020204" pitchFamily="34" charset="0"/>
                <a:ea typeface="ui-sans-serif"/>
              </a:rPr>
              <a:t>主要なBIツールとのシームレスな連携:</a:t>
            </a:r>
            <a:endParaRPr kumimoji="0" lang="ja-JP" altLang="ja-JP" sz="1600" b="0" i="0" u="none" strike="noStrike" cap="none" normalizeH="0" baseline="0" dirty="0">
              <a:ln>
                <a:noFill/>
              </a:ln>
              <a:solidFill>
                <a:srgbClr val="09090B"/>
              </a:solidFill>
              <a:effectLst/>
              <a:latin typeface="Arial" panose="020B0604020202020204" pitchFamily="34" charset="0"/>
              <a:ea typeface="ui-sans-serif"/>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ja-JP" altLang="ja-JP" sz="1600" b="0" i="0" u="none" strike="noStrike" cap="none" normalizeH="0" baseline="0" dirty="0">
                <a:ln>
                  <a:noFill/>
                </a:ln>
                <a:solidFill>
                  <a:srgbClr val="09090B"/>
                </a:solidFill>
                <a:effectLst/>
                <a:latin typeface="Arial" panose="020B0604020202020204" pitchFamily="34" charset="0"/>
                <a:ea typeface="ui-sans-serif"/>
              </a:rPr>
              <a:t>TableauなどBIツールとスムーズに接続し、最大限のパフォーマンスを引き出せること。</a:t>
            </a:r>
          </a:p>
          <a:p>
            <a:pPr marL="0" marR="0" lvl="0" indent="0" algn="l" defTabSz="914400" rtl="0" eaLnBrk="0" fontAlgn="base" latinLnBrk="0" hangingPunct="0">
              <a:lnSpc>
                <a:spcPct val="100000"/>
              </a:lnSpc>
              <a:spcBef>
                <a:spcPct val="0"/>
              </a:spcBef>
              <a:spcAft>
                <a:spcPct val="0"/>
              </a:spcAft>
              <a:buClrTx/>
              <a:buSzTx/>
              <a:tabLst/>
            </a:pPr>
            <a:r>
              <a:rPr kumimoji="0" lang="ja-JP" altLang="en-US" sz="1600" b="1" i="0" u="none" strike="noStrike" cap="none" normalizeH="0" baseline="0" dirty="0">
                <a:ln>
                  <a:noFill/>
                </a:ln>
                <a:solidFill>
                  <a:srgbClr val="09090B"/>
                </a:solidFill>
                <a:effectLst/>
                <a:latin typeface="Arial" panose="020B0604020202020204" pitchFamily="34" charset="0"/>
                <a:ea typeface="ui-sans-serif"/>
              </a:rPr>
              <a:t>　</a:t>
            </a:r>
            <a:r>
              <a:rPr kumimoji="0" lang="ja-JP" altLang="ja-JP" sz="1600" b="1" i="0" u="none" strike="noStrike" cap="none" normalizeH="0" baseline="0" dirty="0">
                <a:ln>
                  <a:noFill/>
                </a:ln>
                <a:solidFill>
                  <a:srgbClr val="09090B"/>
                </a:solidFill>
                <a:effectLst/>
                <a:latin typeface="Arial" panose="020B0604020202020204" pitchFamily="34" charset="0"/>
                <a:ea typeface="ui-sans-serif"/>
              </a:rPr>
              <a:t>機械学習・AI連携 (ML in DWH):</a:t>
            </a:r>
            <a:endParaRPr kumimoji="0" lang="ja-JP" altLang="ja-JP" sz="1600" b="0" i="0" u="none" strike="noStrike" cap="none" normalizeH="0" baseline="0" dirty="0">
              <a:ln>
                <a:noFill/>
              </a:ln>
              <a:solidFill>
                <a:srgbClr val="09090B"/>
              </a:solidFill>
              <a:effectLst/>
              <a:latin typeface="Arial" panose="020B0604020202020204" pitchFamily="34" charset="0"/>
              <a:ea typeface="ui-sans-serif"/>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ja-JP" altLang="ja-JP" sz="1600" b="0" i="0" u="none" strike="noStrike" cap="none" normalizeH="0" baseline="0" dirty="0">
                <a:ln>
                  <a:noFill/>
                </a:ln>
                <a:solidFill>
                  <a:srgbClr val="09090B"/>
                </a:solidFill>
                <a:effectLst/>
                <a:latin typeface="Arial" panose="020B0604020202020204" pitchFamily="34" charset="0"/>
                <a:ea typeface="ui-sans-serif"/>
              </a:rPr>
              <a:t>DWH内のデータを使って直接機械学習モデルを構築・推論したり、外部のMLサービスと連携できる機能。</a:t>
            </a:r>
          </a:p>
          <a:p>
            <a:pPr marL="0" marR="0" lvl="0" indent="0" algn="l" defTabSz="914400" rtl="0" eaLnBrk="0" fontAlgn="base" latinLnBrk="0" hangingPunct="0">
              <a:lnSpc>
                <a:spcPct val="100000"/>
              </a:lnSpc>
              <a:spcBef>
                <a:spcPct val="0"/>
              </a:spcBef>
              <a:spcAft>
                <a:spcPct val="0"/>
              </a:spcAft>
              <a:buClrTx/>
              <a:buSzTx/>
              <a:tabLst/>
            </a:pPr>
            <a:r>
              <a:rPr kumimoji="0" lang="ja-JP" altLang="en-US" sz="1600" b="1" i="0" u="none" strike="noStrike" cap="none" normalizeH="0" baseline="0" dirty="0">
                <a:ln>
                  <a:noFill/>
                </a:ln>
                <a:solidFill>
                  <a:srgbClr val="09090B"/>
                </a:solidFill>
                <a:effectLst/>
                <a:latin typeface="Arial" panose="020B0604020202020204" pitchFamily="34" charset="0"/>
                <a:ea typeface="ui-sans-serif"/>
              </a:rPr>
              <a:t>　</a:t>
            </a:r>
            <a:r>
              <a:rPr kumimoji="0" lang="ja-JP" altLang="ja-JP" sz="1600" b="1" i="0" u="none" strike="noStrike" cap="none" normalizeH="0" baseline="0" dirty="0">
                <a:ln>
                  <a:noFill/>
                </a:ln>
                <a:solidFill>
                  <a:srgbClr val="09090B"/>
                </a:solidFill>
                <a:effectLst/>
                <a:latin typeface="Arial" panose="020B0604020202020204" pitchFamily="34" charset="0"/>
                <a:ea typeface="ui-sans-serif"/>
              </a:rPr>
              <a:t>データエクスポート機能:</a:t>
            </a:r>
            <a:endParaRPr kumimoji="0" lang="ja-JP" altLang="ja-JP" sz="1600" b="0" i="0" u="none" strike="noStrike" cap="none" normalizeH="0" baseline="0" dirty="0">
              <a:ln>
                <a:noFill/>
              </a:ln>
              <a:solidFill>
                <a:srgbClr val="09090B"/>
              </a:solidFill>
              <a:effectLst/>
              <a:latin typeface="Arial" panose="020B0604020202020204" pitchFamily="34" charset="0"/>
              <a:ea typeface="ui-sans-serif"/>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ja-JP" altLang="ja-JP" sz="1600" b="0" i="0" u="none" strike="noStrike" cap="none" normalizeH="0" baseline="0" dirty="0">
                <a:ln>
                  <a:noFill/>
                </a:ln>
                <a:solidFill>
                  <a:srgbClr val="09090B"/>
                </a:solidFill>
                <a:effectLst/>
                <a:latin typeface="Arial" panose="020B0604020202020204" pitchFamily="34" charset="0"/>
                <a:ea typeface="ui-sans-serif"/>
              </a:rPr>
              <a:t>分析結果や加工済みデータを他のシステムやストレージに容易にエクスポートできること。</a:t>
            </a:r>
          </a:p>
          <a:p>
            <a:pPr marL="0" marR="0" lvl="0" indent="0" algn="l" defTabSz="914400" rtl="0" eaLnBrk="0" fontAlgn="base" latinLnBrk="0" hangingPunct="0">
              <a:lnSpc>
                <a:spcPct val="100000"/>
              </a:lnSpc>
              <a:spcBef>
                <a:spcPct val="0"/>
              </a:spcBef>
              <a:spcAft>
                <a:spcPct val="0"/>
              </a:spcAft>
              <a:buClrTx/>
              <a:buSzTx/>
              <a:tabLst/>
            </a:pPr>
            <a:r>
              <a:rPr kumimoji="0" lang="ja-JP" altLang="en-US" sz="1600" b="1" i="0" u="none" strike="noStrike" cap="none" normalizeH="0" baseline="0" dirty="0">
                <a:ln>
                  <a:noFill/>
                </a:ln>
                <a:solidFill>
                  <a:srgbClr val="09090B"/>
                </a:solidFill>
                <a:effectLst/>
                <a:latin typeface="Arial" panose="020B0604020202020204" pitchFamily="34" charset="0"/>
                <a:ea typeface="ui-sans-serif"/>
              </a:rPr>
              <a:t>　</a:t>
            </a:r>
            <a:r>
              <a:rPr kumimoji="0" lang="ja-JP" altLang="ja-JP" sz="1600" b="1" i="0" u="none" strike="noStrike" cap="none" normalizeH="0" baseline="0" dirty="0">
                <a:ln>
                  <a:noFill/>
                </a:ln>
                <a:solidFill>
                  <a:srgbClr val="09090B"/>
                </a:solidFill>
                <a:effectLst/>
                <a:latin typeface="Arial" panose="020B0604020202020204" pitchFamily="34" charset="0"/>
                <a:ea typeface="ui-sans-serif"/>
              </a:rPr>
              <a:t>プログラマブルなインターフェース:</a:t>
            </a:r>
            <a:endParaRPr kumimoji="0" lang="ja-JP" altLang="ja-JP" sz="1600" b="0" i="0" u="none" strike="noStrike" cap="none" normalizeH="0" baseline="0" dirty="0">
              <a:ln>
                <a:noFill/>
              </a:ln>
              <a:solidFill>
                <a:srgbClr val="09090B"/>
              </a:solidFill>
              <a:effectLst/>
              <a:latin typeface="Arial" panose="020B0604020202020204" pitchFamily="34" charset="0"/>
              <a:ea typeface="ui-sans-serif"/>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ja-JP" altLang="ja-JP" sz="1600" b="0" i="0" u="none" strike="noStrike" cap="none" normalizeH="0" baseline="0" dirty="0">
                <a:ln>
                  <a:noFill/>
                </a:ln>
                <a:solidFill>
                  <a:srgbClr val="09090B"/>
                </a:solidFill>
                <a:effectLst/>
                <a:latin typeface="Arial" panose="020B0604020202020204" pitchFamily="34" charset="0"/>
                <a:ea typeface="ui-sans-serif"/>
              </a:rPr>
              <a:t>APIなどを通じて、外部アプリケーションやスクリプトからDWHを操作できること。</a:t>
            </a:r>
          </a:p>
        </p:txBody>
      </p:sp>
    </p:spTree>
    <p:extLst>
      <p:ext uri="{BB962C8B-B14F-4D97-AF65-F5344CB8AC3E}">
        <p14:creationId xmlns:p14="http://schemas.microsoft.com/office/powerpoint/2010/main" val="40394646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ADE25A74-D233-852E-3600-7062182EAFFF}"/>
              </a:ext>
            </a:extLst>
          </p:cNvPr>
          <p:cNvSpPr txBox="1"/>
          <p:nvPr/>
        </p:nvSpPr>
        <p:spPr>
          <a:xfrm>
            <a:off x="121299" y="177281"/>
            <a:ext cx="7059946" cy="461665"/>
          </a:xfrm>
          <a:prstGeom prst="rect">
            <a:avLst/>
          </a:prstGeom>
          <a:noFill/>
        </p:spPr>
        <p:txBody>
          <a:bodyPr wrap="none" rtlCol="0">
            <a:spAutoFit/>
          </a:bodyPr>
          <a:lstStyle/>
          <a:p>
            <a:r>
              <a:rPr kumimoji="1" lang="ja-JP" altLang="en-US" sz="2400" dirty="0"/>
              <a:t>＜</a:t>
            </a:r>
            <a:r>
              <a:rPr kumimoji="1" lang="en-US" altLang="ja-JP" sz="2400" dirty="0"/>
              <a:t>3.2.1    </a:t>
            </a:r>
            <a:r>
              <a:rPr kumimoji="1" lang="ja-JP" altLang="en-US" sz="2400" dirty="0"/>
              <a:t>プラットフォーム及び開発環境の要件＞</a:t>
            </a:r>
          </a:p>
        </p:txBody>
      </p:sp>
      <p:sp>
        <p:nvSpPr>
          <p:cNvPr id="5" name="テキスト ボックス 4">
            <a:extLst>
              <a:ext uri="{FF2B5EF4-FFF2-40B4-BE49-F238E27FC236}">
                <a16:creationId xmlns:a16="http://schemas.microsoft.com/office/drawing/2014/main" id="{03C30DEC-2099-E33A-A85C-72F639B67CBC}"/>
              </a:ext>
            </a:extLst>
          </p:cNvPr>
          <p:cNvSpPr txBox="1"/>
          <p:nvPr/>
        </p:nvSpPr>
        <p:spPr>
          <a:xfrm>
            <a:off x="326572" y="566678"/>
            <a:ext cx="12187952" cy="4801314"/>
          </a:xfrm>
          <a:prstGeom prst="rect">
            <a:avLst/>
          </a:prstGeom>
          <a:noFill/>
        </p:spPr>
        <p:txBody>
          <a:bodyPr wrap="none" rtlCol="0">
            <a:spAutoFit/>
          </a:bodyPr>
          <a:lstStyle/>
          <a:p>
            <a:r>
              <a:rPr kumimoji="1" lang="ja-JP" altLang="en-US" dirty="0"/>
              <a:t>１．　プラットフォーム要件</a:t>
            </a:r>
            <a:endParaRPr kumimoji="1" lang="en-US" altLang="ja-JP" dirty="0"/>
          </a:p>
          <a:p>
            <a:r>
              <a:rPr lang="ja-JP" altLang="en-US" dirty="0"/>
              <a:t>　　　　サーバー管理者（プラットフォーム管理者）などが不要のクラウドサービスが望ましい。</a:t>
            </a:r>
            <a:endParaRPr lang="en-US" altLang="ja-JP" dirty="0"/>
          </a:p>
          <a:p>
            <a:r>
              <a:rPr lang="ja-JP" altLang="en-US" dirty="0"/>
              <a:t>　　　　メモリー・</a:t>
            </a:r>
            <a:r>
              <a:rPr lang="en-US" altLang="ja-JP" dirty="0"/>
              <a:t>CPU</a:t>
            </a:r>
            <a:r>
              <a:rPr lang="ja-JP" altLang="en-US" dirty="0"/>
              <a:t>の増強なども、簡単にできること。</a:t>
            </a:r>
            <a:endParaRPr lang="en-US" altLang="ja-JP" dirty="0"/>
          </a:p>
          <a:p>
            <a:r>
              <a:rPr kumimoji="1" lang="ja-JP" altLang="en-US" dirty="0"/>
              <a:t>２．　開発環境要件</a:t>
            </a:r>
            <a:endParaRPr kumimoji="1" lang="en-US" altLang="ja-JP" dirty="0"/>
          </a:p>
          <a:p>
            <a:r>
              <a:rPr lang="ja-JP" altLang="en-US" dirty="0"/>
              <a:t>　　　　</a:t>
            </a:r>
            <a:r>
              <a:rPr lang="en-US" altLang="ja-JP" dirty="0"/>
              <a:t>2-1 </a:t>
            </a:r>
            <a:r>
              <a:rPr lang="en-US" altLang="ja-JP" dirty="0" err="1"/>
              <a:t>Data_connection</a:t>
            </a:r>
            <a:r>
              <a:rPr lang="ja-JP" altLang="en-US" dirty="0"/>
              <a:t>（</a:t>
            </a:r>
            <a:r>
              <a:rPr lang="en-US" altLang="ja-JP" dirty="0"/>
              <a:t>AWS</a:t>
            </a:r>
            <a:r>
              <a:rPr lang="ja-JP" altLang="en-US" dirty="0"/>
              <a:t>との親和性）</a:t>
            </a:r>
            <a:endParaRPr lang="en-US" altLang="ja-JP" dirty="0"/>
          </a:p>
          <a:p>
            <a:r>
              <a:rPr kumimoji="1" lang="ja-JP" altLang="en-US" dirty="0"/>
              <a:t>　　　　　　</a:t>
            </a:r>
            <a:r>
              <a:rPr kumimoji="1" lang="en-US" altLang="ja-JP" dirty="0"/>
              <a:t>AWS</a:t>
            </a:r>
            <a:r>
              <a:rPr kumimoji="1" lang="ja-JP" altLang="en-US" dirty="0"/>
              <a:t>（</a:t>
            </a:r>
            <a:r>
              <a:rPr kumimoji="1" lang="en-US" altLang="ja-JP" dirty="0"/>
              <a:t>S3</a:t>
            </a:r>
            <a:r>
              <a:rPr kumimoji="1" lang="ja-JP" altLang="en-US" dirty="0"/>
              <a:t>）にあるデータとシームレスに連データ携できることが望ましい。</a:t>
            </a:r>
            <a:endParaRPr kumimoji="1" lang="en-US" altLang="ja-JP" dirty="0"/>
          </a:p>
          <a:p>
            <a:r>
              <a:rPr lang="ja-JP" altLang="en-US" dirty="0"/>
              <a:t>　　　　</a:t>
            </a:r>
            <a:r>
              <a:rPr lang="en-US" altLang="ja-JP" dirty="0"/>
              <a:t>2-2 </a:t>
            </a:r>
            <a:r>
              <a:rPr lang="ja-JP" altLang="en-US" dirty="0"/>
              <a:t>プログラム言語</a:t>
            </a:r>
            <a:endParaRPr lang="en-US" altLang="ja-JP" dirty="0"/>
          </a:p>
          <a:p>
            <a:r>
              <a:rPr kumimoji="1" lang="ja-JP" altLang="en-US" dirty="0"/>
              <a:t>　　　　　　 現行の</a:t>
            </a:r>
            <a:r>
              <a:rPr kumimoji="1" lang="en-US" altLang="ja-JP" dirty="0" err="1"/>
              <a:t>Pyspark</a:t>
            </a:r>
            <a:r>
              <a:rPr kumimoji="1" lang="ja-JP" altLang="en-US" dirty="0"/>
              <a:t>言語と同じか、移植が容易な言語が望ましい。（</a:t>
            </a:r>
            <a:r>
              <a:rPr kumimoji="1" lang="en-US" altLang="ja-JP" dirty="0" err="1"/>
              <a:t>Pyspark</a:t>
            </a:r>
            <a:r>
              <a:rPr kumimoji="1" lang="ja-JP" altLang="en-US" dirty="0"/>
              <a:t>との親和性）</a:t>
            </a:r>
            <a:endParaRPr kumimoji="1" lang="en-US" altLang="ja-JP" dirty="0"/>
          </a:p>
          <a:p>
            <a:r>
              <a:rPr lang="ja-JP" altLang="en-US" dirty="0"/>
              <a:t>　　　　　　・　現在の</a:t>
            </a:r>
            <a:r>
              <a:rPr lang="en-US" altLang="ja-JP" dirty="0"/>
              <a:t>S</a:t>
            </a:r>
            <a:r>
              <a:rPr lang="ja-JP" altLang="en-US" dirty="0"/>
              <a:t>ケア技術者には、</a:t>
            </a:r>
            <a:r>
              <a:rPr lang="en-US" altLang="ja-JP" dirty="0"/>
              <a:t>python</a:t>
            </a:r>
            <a:r>
              <a:rPr lang="ja-JP" altLang="en-US" dirty="0"/>
              <a:t>が多い。</a:t>
            </a:r>
            <a:endParaRPr lang="en-US" altLang="ja-JP" dirty="0"/>
          </a:p>
          <a:p>
            <a:r>
              <a:rPr lang="ja-JP" altLang="en-US" dirty="0"/>
              <a:t>　　　　　　・　移行先の言語で使えるツールやライブラリが</a:t>
            </a:r>
            <a:r>
              <a:rPr lang="en-US" altLang="ja-JP" dirty="0"/>
              <a:t>Foundry</a:t>
            </a:r>
            <a:r>
              <a:rPr lang="ja-JP" altLang="en-US" dirty="0"/>
              <a:t>で使用しているものと同等が望ましい</a:t>
            </a:r>
            <a:endParaRPr lang="en-US" altLang="ja-JP" dirty="0"/>
          </a:p>
          <a:p>
            <a:r>
              <a:rPr lang="ja-JP" altLang="en-US" dirty="0"/>
              <a:t>　　　　</a:t>
            </a:r>
            <a:r>
              <a:rPr lang="en-US" altLang="ja-JP" dirty="0"/>
              <a:t>2-3</a:t>
            </a:r>
            <a:r>
              <a:rPr lang="ja-JP" altLang="en-US" dirty="0"/>
              <a:t>　分散処理環境（大容量データの処理環境）</a:t>
            </a:r>
            <a:endParaRPr lang="en-US" altLang="ja-JP" dirty="0"/>
          </a:p>
          <a:p>
            <a:r>
              <a:rPr lang="ja-JP" altLang="en-US" dirty="0"/>
              <a:t>　　　　　　　現在は、</a:t>
            </a:r>
            <a:r>
              <a:rPr lang="en-US" altLang="ja-JP" dirty="0"/>
              <a:t>Spark</a:t>
            </a:r>
            <a:r>
              <a:rPr lang="ja-JP" altLang="en-US" dirty="0"/>
              <a:t>環境で介護記録データおよび眠り</a:t>
            </a:r>
            <a:r>
              <a:rPr lang="en-US" altLang="ja-JP" dirty="0"/>
              <a:t>SCAN</a:t>
            </a:r>
            <a:r>
              <a:rPr lang="ja-JP" altLang="en-US" dirty="0"/>
              <a:t>データの処理することで、高速化している</a:t>
            </a:r>
            <a:endParaRPr lang="en-US" altLang="ja-JP" dirty="0"/>
          </a:p>
          <a:p>
            <a:r>
              <a:rPr lang="en-US" altLang="ja-JP" dirty="0"/>
              <a:t>3</a:t>
            </a:r>
            <a:r>
              <a:rPr lang="ja-JP" altLang="en-US" dirty="0"/>
              <a:t>．</a:t>
            </a:r>
            <a:r>
              <a:rPr lang="en-US" altLang="ja-JP" dirty="0"/>
              <a:t>MUST</a:t>
            </a:r>
            <a:r>
              <a:rPr lang="ja-JP" altLang="en-US" dirty="0"/>
              <a:t>ではないが、あった方が良い機能（</a:t>
            </a:r>
            <a:r>
              <a:rPr lang="en-US" altLang="ja-JP" dirty="0"/>
              <a:t>Nice to have</a:t>
            </a:r>
            <a:r>
              <a:rPr lang="ja-JP" altLang="en-US" dirty="0"/>
              <a:t>の機能）</a:t>
            </a:r>
            <a:endParaRPr lang="en-US" altLang="ja-JP" dirty="0"/>
          </a:p>
          <a:p>
            <a:r>
              <a:rPr lang="ja-JP" altLang="en-US" dirty="0"/>
              <a:t>　　・データセットの一覧（カタログ化）が作成できて、使用頻度が簡単に分かる（不要データセットを作らない）</a:t>
            </a:r>
            <a:endParaRPr lang="en-US" altLang="ja-JP" dirty="0"/>
          </a:p>
          <a:p>
            <a:r>
              <a:rPr kumimoji="1" lang="ja-JP" altLang="en-US" dirty="0"/>
              <a:t>　　・パイプラインなどの可視化（処理工程の明確化）が簡単にできる。</a:t>
            </a:r>
            <a:endParaRPr kumimoji="1" lang="en-US" altLang="ja-JP" dirty="0"/>
          </a:p>
          <a:p>
            <a:r>
              <a:rPr lang="ja-JP" altLang="en-US" dirty="0"/>
              <a:t>　　（先行するプログラムが一目でわかり、処理の流れが画面で視覚的に確認できる）</a:t>
            </a:r>
            <a:endParaRPr lang="en-US" altLang="ja-JP" dirty="0"/>
          </a:p>
          <a:p>
            <a:r>
              <a:rPr kumimoji="1" lang="ja-JP" altLang="en-US" dirty="0"/>
              <a:t>　　・開発者向け</a:t>
            </a:r>
            <a:r>
              <a:rPr kumimoji="1" lang="en-US" altLang="ja-JP" dirty="0"/>
              <a:t>AI</a:t>
            </a:r>
            <a:r>
              <a:rPr kumimoji="1" lang="ja-JP" altLang="en-US" dirty="0"/>
              <a:t>チャット機能</a:t>
            </a:r>
          </a:p>
        </p:txBody>
      </p:sp>
      <p:sp>
        <p:nvSpPr>
          <p:cNvPr id="2" name="四角形: 角を丸くする 1">
            <a:extLst>
              <a:ext uri="{FF2B5EF4-FFF2-40B4-BE49-F238E27FC236}">
                <a16:creationId xmlns:a16="http://schemas.microsoft.com/office/drawing/2014/main" id="{26A47887-267D-5584-A713-60C16D158280}"/>
              </a:ext>
            </a:extLst>
          </p:cNvPr>
          <p:cNvSpPr/>
          <p:nvPr/>
        </p:nvSpPr>
        <p:spPr>
          <a:xfrm>
            <a:off x="6018244" y="5544873"/>
            <a:ext cx="4217437" cy="8770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Foundry</a:t>
            </a:r>
            <a:r>
              <a:rPr kumimoji="1" lang="ja-JP" altLang="en-US" dirty="0"/>
              <a:t>にあるが、一般にはない機能をまとめる。</a:t>
            </a:r>
          </a:p>
        </p:txBody>
      </p:sp>
    </p:spTree>
    <p:extLst>
      <p:ext uri="{BB962C8B-B14F-4D97-AF65-F5344CB8AC3E}">
        <p14:creationId xmlns:p14="http://schemas.microsoft.com/office/powerpoint/2010/main" val="29422879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 5">
            <a:extLst>
              <a:ext uri="{FF2B5EF4-FFF2-40B4-BE49-F238E27FC236}">
                <a16:creationId xmlns:a16="http://schemas.microsoft.com/office/drawing/2014/main" id="{DF354D4D-F55D-5F91-2274-83A9161917F5}"/>
              </a:ext>
            </a:extLst>
          </p:cNvPr>
          <p:cNvGraphicFramePr>
            <a:graphicFrameLocks noGrp="1"/>
          </p:cNvGraphicFramePr>
          <p:nvPr/>
        </p:nvGraphicFramePr>
        <p:xfrm>
          <a:off x="0" y="393954"/>
          <a:ext cx="12192000" cy="6288200"/>
        </p:xfrm>
        <a:graphic>
          <a:graphicData uri="http://schemas.openxmlformats.org/drawingml/2006/table">
            <a:tbl>
              <a:tblPr firstRow="1" bandRow="1">
                <a:tableStyleId>{5C22544A-7EE6-4342-B048-85BDC9FD1C3A}</a:tableStyleId>
              </a:tblPr>
              <a:tblGrid>
                <a:gridCol w="6154296">
                  <a:extLst>
                    <a:ext uri="{9D8B030D-6E8A-4147-A177-3AD203B41FA5}">
                      <a16:colId xmlns:a16="http://schemas.microsoft.com/office/drawing/2014/main" val="2036740464"/>
                    </a:ext>
                  </a:extLst>
                </a:gridCol>
                <a:gridCol w="6037704">
                  <a:extLst>
                    <a:ext uri="{9D8B030D-6E8A-4147-A177-3AD203B41FA5}">
                      <a16:colId xmlns:a16="http://schemas.microsoft.com/office/drawing/2014/main" val="3147237298"/>
                    </a:ext>
                  </a:extLst>
                </a:gridCol>
              </a:tblGrid>
              <a:tr h="3721089">
                <a:tc>
                  <a:txBody>
                    <a:bodyPr/>
                    <a:lstStyle/>
                    <a:p>
                      <a:r>
                        <a:rPr kumimoji="1" lang="ja-JP" altLang="en-US" sz="1600" b="1" dirty="0">
                          <a:solidFill>
                            <a:schemeClr val="tx1"/>
                          </a:solidFill>
                          <a:latin typeface="Meiryo UI" panose="020B0604030504040204" pitchFamily="50" charset="-128"/>
                          <a:ea typeface="Meiryo UI" panose="020B0604030504040204" pitchFamily="50" charset="-128"/>
                        </a:rPr>
                        <a:t>① セキュリティとアクセス制御 </a:t>
                      </a:r>
                      <a:r>
                        <a:rPr kumimoji="1" lang="ja-JP" altLang="en-US" sz="1600" b="0" dirty="0">
                          <a:solidFill>
                            <a:schemeClr val="tx1"/>
                          </a:solidFill>
                          <a:latin typeface="Meiryo UI" panose="020B0604030504040204" pitchFamily="50" charset="-128"/>
                          <a:ea typeface="Meiryo UI" panose="020B0604030504040204" pitchFamily="50" charset="-128"/>
                        </a:rPr>
                        <a:t>🛡️</a:t>
                      </a:r>
                    </a:p>
                    <a:p>
                      <a:endParaRPr kumimoji="1" lang="ja-JP" altLang="en-US" sz="1600" b="0" dirty="0">
                        <a:solidFill>
                          <a:schemeClr val="tx1"/>
                        </a:solidFill>
                        <a:latin typeface="Meiryo UI" panose="020B0604030504040204" pitchFamily="50" charset="-128"/>
                        <a:ea typeface="Meiryo UI" panose="020B0604030504040204" pitchFamily="50" charset="-128"/>
                      </a:endParaRPr>
                    </a:p>
                    <a:p>
                      <a:r>
                        <a:rPr kumimoji="1" lang="ja-JP" altLang="en-US" sz="1600" b="0" dirty="0">
                          <a:solidFill>
                            <a:schemeClr val="tx1"/>
                          </a:solidFill>
                          <a:latin typeface="Meiryo UI" panose="020B0604030504040204" pitchFamily="50" charset="-128"/>
                          <a:ea typeface="Meiryo UI" panose="020B0604030504040204" pitchFamily="50" charset="-128"/>
                        </a:rPr>
                        <a:t>■ 多階層での柔軟な権限管理</a:t>
                      </a:r>
                    </a:p>
                    <a:p>
                      <a:r>
                        <a:rPr kumimoji="1" lang="ja-JP" altLang="en-US" sz="1600" b="0" dirty="0">
                          <a:solidFill>
                            <a:schemeClr val="tx1"/>
                          </a:solidFill>
                          <a:latin typeface="Meiryo UI" panose="020B0604030504040204" pitchFamily="50" charset="-128"/>
                          <a:ea typeface="Meiryo UI" panose="020B0604030504040204" pitchFamily="50" charset="-128"/>
                        </a:rPr>
                        <a:t>・リソースレベル制御</a:t>
                      </a:r>
                      <a:r>
                        <a:rPr kumimoji="1" lang="en-US" altLang="ja-JP" sz="1600" b="0" dirty="0">
                          <a:solidFill>
                            <a:schemeClr val="tx1"/>
                          </a:solidFill>
                          <a:latin typeface="Meiryo UI" panose="020B0604030504040204" pitchFamily="50" charset="-128"/>
                          <a:ea typeface="Meiryo UI" panose="020B0604030504040204" pitchFamily="50" charset="-128"/>
                        </a:rPr>
                        <a:t>:</a:t>
                      </a:r>
                    </a:p>
                    <a:p>
                      <a:r>
                        <a:rPr kumimoji="1" lang="ja-JP" altLang="en-US" sz="1600" b="0" dirty="0">
                          <a:solidFill>
                            <a:schemeClr val="tx1"/>
                          </a:solidFill>
                          <a:latin typeface="Meiryo UI" panose="020B0604030504040204" pitchFamily="50" charset="-128"/>
                          <a:ea typeface="Meiryo UI" panose="020B0604030504040204" pitchFamily="50" charset="-128"/>
                        </a:rPr>
                        <a:t>　ファイル単位</a:t>
                      </a:r>
                      <a:r>
                        <a:rPr kumimoji="1" lang="en-US" altLang="ja-JP" sz="1600" b="0" dirty="0">
                          <a:solidFill>
                            <a:schemeClr val="tx1"/>
                          </a:solidFill>
                          <a:latin typeface="Meiryo UI" panose="020B0604030504040204" pitchFamily="50" charset="-128"/>
                          <a:ea typeface="Meiryo UI" panose="020B0604030504040204" pitchFamily="50" charset="-128"/>
                        </a:rPr>
                        <a:t>(.</a:t>
                      </a:r>
                      <a:r>
                        <a:rPr kumimoji="1" lang="en-US" altLang="ja-JP" sz="1600" b="0" dirty="0" err="1">
                          <a:solidFill>
                            <a:schemeClr val="tx1"/>
                          </a:solidFill>
                          <a:latin typeface="Meiryo UI" panose="020B0604030504040204" pitchFamily="50" charset="-128"/>
                          <a:ea typeface="Meiryo UI" panose="020B0604030504040204" pitchFamily="50" charset="-128"/>
                        </a:rPr>
                        <a:t>py</a:t>
                      </a:r>
                      <a:r>
                        <a:rPr kumimoji="1" lang="ja-JP" altLang="en-US" sz="1600" b="0" dirty="0">
                          <a:solidFill>
                            <a:schemeClr val="tx1"/>
                          </a:solidFill>
                          <a:latin typeface="Meiryo UI" panose="020B0604030504040204" pitchFamily="50" charset="-128"/>
                          <a:ea typeface="Meiryo UI" panose="020B0604030504040204" pitchFamily="50" charset="-128"/>
                        </a:rPr>
                        <a:t>等</a:t>
                      </a:r>
                      <a:r>
                        <a:rPr kumimoji="1" lang="en-US" altLang="ja-JP" sz="1600" b="0" dirty="0">
                          <a:solidFill>
                            <a:schemeClr val="tx1"/>
                          </a:solidFill>
                          <a:latin typeface="Meiryo UI" panose="020B0604030504040204" pitchFamily="50" charset="-128"/>
                          <a:ea typeface="Meiryo UI" panose="020B0604030504040204" pitchFamily="50" charset="-128"/>
                        </a:rPr>
                        <a:t>)</a:t>
                      </a:r>
                      <a:r>
                        <a:rPr kumimoji="1" lang="ja-JP" altLang="en-US" sz="1600" b="0" dirty="0">
                          <a:solidFill>
                            <a:schemeClr val="tx1"/>
                          </a:solidFill>
                          <a:latin typeface="Meiryo UI" panose="020B0604030504040204" pitchFamily="50" charset="-128"/>
                          <a:ea typeface="Meiryo UI" panose="020B0604030504040204" pitchFamily="50" charset="-128"/>
                        </a:rPr>
                        <a:t>でのアクセス制御</a:t>
                      </a:r>
                    </a:p>
                    <a:p>
                      <a:r>
                        <a:rPr kumimoji="1" lang="ja-JP" altLang="en-US" sz="1600" b="0" dirty="0">
                          <a:solidFill>
                            <a:schemeClr val="tx1"/>
                          </a:solidFill>
                          <a:latin typeface="Meiryo UI" panose="020B0604030504040204" pitchFamily="50" charset="-128"/>
                          <a:ea typeface="Meiryo UI" panose="020B0604030504040204" pitchFamily="50" charset="-128"/>
                        </a:rPr>
                        <a:t>・スコープ制御</a:t>
                      </a:r>
                      <a:r>
                        <a:rPr kumimoji="1" lang="en-US" altLang="ja-JP" sz="1600" b="0" dirty="0">
                          <a:solidFill>
                            <a:schemeClr val="tx1"/>
                          </a:solidFill>
                          <a:latin typeface="Meiryo UI" panose="020B0604030504040204" pitchFamily="50" charset="-128"/>
                          <a:ea typeface="Meiryo UI" panose="020B0604030504040204" pitchFamily="50" charset="-128"/>
                        </a:rPr>
                        <a:t>:</a:t>
                      </a:r>
                    </a:p>
                    <a:p>
                      <a:r>
                        <a:rPr kumimoji="1" lang="ja-JP" altLang="en-US" sz="1600" b="0" dirty="0">
                          <a:solidFill>
                            <a:schemeClr val="tx1"/>
                          </a:solidFill>
                          <a:latin typeface="Meiryo UI" panose="020B0604030504040204" pitchFamily="50" charset="-128"/>
                          <a:ea typeface="Meiryo UI" panose="020B0604030504040204" pitchFamily="50" charset="-128"/>
                        </a:rPr>
                        <a:t>　プロジェクト単位での一括権限設定</a:t>
                      </a:r>
                    </a:p>
                    <a:p>
                      <a:endParaRPr kumimoji="1" lang="ja-JP" altLang="en-US" sz="1600" b="0" dirty="0">
                        <a:solidFill>
                          <a:schemeClr val="tx1"/>
                        </a:solidFill>
                        <a:latin typeface="Meiryo UI" panose="020B0604030504040204" pitchFamily="50" charset="-128"/>
                        <a:ea typeface="Meiryo UI" panose="020B0604030504040204" pitchFamily="50" charset="-128"/>
                      </a:endParaRPr>
                    </a:p>
                    <a:p>
                      <a:r>
                        <a:rPr kumimoji="1" lang="ja-JP" altLang="en-US" sz="1600" b="0" dirty="0">
                          <a:solidFill>
                            <a:schemeClr val="tx1"/>
                          </a:solidFill>
                          <a:latin typeface="Meiryo UI" panose="020B0604030504040204" pitchFamily="50" charset="-128"/>
                          <a:ea typeface="Meiryo UI" panose="020B0604030504040204" pitchFamily="50" charset="-128"/>
                        </a:rPr>
                        <a:t>■ データ内部のアクセス制御</a:t>
                      </a:r>
                    </a:p>
                    <a:p>
                      <a:r>
                        <a:rPr kumimoji="1" lang="ja-JP" altLang="en-US" sz="1600" b="0" dirty="0">
                          <a:solidFill>
                            <a:schemeClr val="tx1"/>
                          </a:solidFill>
                          <a:latin typeface="Meiryo UI" panose="020B0604030504040204" pitchFamily="50" charset="-128"/>
                          <a:ea typeface="Meiryo UI" panose="020B0604030504040204" pitchFamily="50" charset="-128"/>
                        </a:rPr>
                        <a:t>・データセット内の特定「行」「列」レベルでのアクセス制御（マスキング等）</a:t>
                      </a:r>
                    </a:p>
                    <a:p>
                      <a:endParaRPr kumimoji="1" lang="ja-JP" altLang="en-US" sz="1600" b="0" dirty="0">
                        <a:solidFill>
                          <a:schemeClr val="tx1"/>
                        </a:solidFill>
                        <a:latin typeface="Meiryo UI" panose="020B0604030504040204" pitchFamily="50" charset="-128"/>
                        <a:ea typeface="Meiryo UI" panose="020B0604030504040204" pitchFamily="50" charset="-128"/>
                      </a:endParaRPr>
                    </a:p>
                    <a:p>
                      <a:r>
                        <a:rPr kumimoji="1" lang="ja-JP" altLang="en-US" sz="1600" b="0" dirty="0">
                          <a:solidFill>
                            <a:schemeClr val="tx1"/>
                          </a:solidFill>
                          <a:latin typeface="Meiryo UI" panose="020B0604030504040204" pitchFamily="50" charset="-128"/>
                          <a:ea typeface="Meiryo UI" panose="020B0604030504040204" pitchFamily="50" charset="-128"/>
                        </a:rPr>
                        <a:t>■ エクスポート制御</a:t>
                      </a:r>
                    </a:p>
                    <a:p>
                      <a:r>
                        <a:rPr kumimoji="1" lang="ja-JP" altLang="en-US" sz="1600" b="0" dirty="0">
                          <a:solidFill>
                            <a:schemeClr val="tx1"/>
                          </a:solidFill>
                          <a:latin typeface="Meiryo UI" panose="020B0604030504040204" pitchFamily="50" charset="-128"/>
                          <a:ea typeface="Meiryo UI" panose="020B0604030504040204" pitchFamily="50" charset="-128"/>
                        </a:rPr>
                        <a:t>・ユーザー毎のデータセットダウンロード可否を制御</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r>
                        <a:rPr kumimoji="1" lang="ja-JP" altLang="en-US" sz="1600" b="1" dirty="0">
                          <a:solidFill>
                            <a:schemeClr val="tx1"/>
                          </a:solidFill>
                          <a:latin typeface="Meiryo UI" panose="020B0604030504040204" pitchFamily="50" charset="-128"/>
                          <a:ea typeface="Meiryo UI" panose="020B0604030504040204" pitchFamily="50" charset="-128"/>
                        </a:rPr>
                        <a:t>② バッチスケジュールとパイプライン </a:t>
                      </a:r>
                      <a:r>
                        <a:rPr kumimoji="1" lang="ja-JP" altLang="en-US" sz="1600" b="0" dirty="0">
                          <a:solidFill>
                            <a:schemeClr val="tx1"/>
                          </a:solidFill>
                          <a:latin typeface="Meiryo UI" panose="020B0604030504040204" pitchFamily="50" charset="-128"/>
                          <a:ea typeface="Meiryo UI" panose="020B0604030504040204" pitchFamily="50" charset="-128"/>
                        </a:rPr>
                        <a:t>⚙️</a:t>
                      </a:r>
                    </a:p>
                    <a:p>
                      <a:endParaRPr kumimoji="1" lang="ja-JP" altLang="en-US" sz="1600" b="0" dirty="0">
                        <a:solidFill>
                          <a:schemeClr val="tx1"/>
                        </a:solidFill>
                        <a:latin typeface="Meiryo UI" panose="020B0604030504040204" pitchFamily="50" charset="-128"/>
                        <a:ea typeface="Meiryo UI" panose="020B0604030504040204" pitchFamily="50" charset="-128"/>
                      </a:endParaRPr>
                    </a:p>
                    <a:p>
                      <a:r>
                        <a:rPr kumimoji="1" lang="ja-JP" altLang="en-US" sz="1600" b="0" dirty="0">
                          <a:solidFill>
                            <a:schemeClr val="tx1"/>
                          </a:solidFill>
                          <a:latin typeface="Meiryo UI" panose="020B0604030504040204" pitchFamily="50" charset="-128"/>
                          <a:ea typeface="Meiryo UI" panose="020B0604030504040204" pitchFamily="50" charset="-128"/>
                        </a:rPr>
                        <a:t>■ ジョブスケジューラ機能</a:t>
                      </a:r>
                    </a:p>
                    <a:p>
                      <a:r>
                        <a:rPr kumimoji="1" lang="ja-JP" altLang="en-US" sz="1600" b="0" dirty="0">
                          <a:solidFill>
                            <a:schemeClr val="tx1"/>
                          </a:solidFill>
                          <a:latin typeface="Meiryo UI" panose="020B0604030504040204" pitchFamily="50" charset="-128"/>
                          <a:ea typeface="Meiryo UI" panose="020B0604030504040204" pitchFamily="50" charset="-128"/>
                        </a:rPr>
                        <a:t>・指定スケジュール（日時、周期的）でのプログラム自動実行</a:t>
                      </a:r>
                    </a:p>
                    <a:p>
                      <a:endParaRPr kumimoji="1" lang="ja-JP" altLang="en-US" sz="1600" b="0" dirty="0">
                        <a:solidFill>
                          <a:schemeClr val="tx1"/>
                        </a:solidFill>
                        <a:latin typeface="Meiryo UI" panose="020B0604030504040204" pitchFamily="50" charset="-128"/>
                        <a:ea typeface="Meiryo UI" panose="020B0604030504040204" pitchFamily="50" charset="-128"/>
                      </a:endParaRPr>
                    </a:p>
                    <a:p>
                      <a:r>
                        <a:rPr kumimoji="1" lang="ja-JP" altLang="en-US" sz="1600" b="0" dirty="0">
                          <a:solidFill>
                            <a:schemeClr val="tx1"/>
                          </a:solidFill>
                          <a:latin typeface="Meiryo UI" panose="020B0604030504040204" pitchFamily="50" charset="-128"/>
                          <a:ea typeface="Meiryo UI" panose="020B0604030504040204" pitchFamily="50" charset="-128"/>
                        </a:rPr>
                        <a:t>■ ワークフロー（パイプライン）機能</a:t>
                      </a:r>
                    </a:p>
                    <a:p>
                      <a:r>
                        <a:rPr kumimoji="1" lang="ja-JP" altLang="en-US" sz="1600" b="0" dirty="0">
                          <a:solidFill>
                            <a:schemeClr val="tx1"/>
                          </a:solidFill>
                          <a:latin typeface="Meiryo UI" panose="020B0604030504040204" pitchFamily="50" charset="-128"/>
                          <a:ea typeface="Meiryo UI" panose="020B0604030504040204" pitchFamily="50" charset="-128"/>
                        </a:rPr>
                        <a:t>・複数タスクの依存関係を定義し、パイプラインとして連結実行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277511049"/>
                  </a:ext>
                </a:extLst>
              </a:tr>
              <a:tr h="2567111">
                <a:tc>
                  <a:txBody>
                    <a:bodyPr/>
                    <a:lstStyle/>
                    <a:p>
                      <a:r>
                        <a:rPr kumimoji="1" lang="ja-JP" altLang="en-US" sz="1600" b="1" dirty="0">
                          <a:solidFill>
                            <a:schemeClr val="tx1"/>
                          </a:solidFill>
                          <a:latin typeface="Meiryo UI" panose="020B0604030504040204" pitchFamily="50" charset="-128"/>
                          <a:ea typeface="Meiryo UI" panose="020B0604030504040204" pitchFamily="50" charset="-128"/>
                        </a:rPr>
                        <a:t>③ 監査とログ </a:t>
                      </a:r>
                      <a:r>
                        <a:rPr kumimoji="1" lang="ja-JP" altLang="en-US" sz="1600" b="0" dirty="0">
                          <a:solidFill>
                            <a:schemeClr val="tx1"/>
                          </a:solidFill>
                          <a:latin typeface="Meiryo UI" panose="020B0604030504040204" pitchFamily="50" charset="-128"/>
                          <a:ea typeface="Meiryo UI" panose="020B0604030504040204" pitchFamily="50" charset="-128"/>
                        </a:rPr>
                        <a:t>📜</a:t>
                      </a:r>
                    </a:p>
                    <a:p>
                      <a:endParaRPr kumimoji="1" lang="ja-JP" altLang="en-US" sz="1600" b="0" dirty="0">
                        <a:solidFill>
                          <a:schemeClr val="tx1"/>
                        </a:solidFill>
                        <a:latin typeface="Meiryo UI" panose="020B0604030504040204" pitchFamily="50" charset="-128"/>
                        <a:ea typeface="Meiryo UI" panose="020B0604030504040204" pitchFamily="50" charset="-128"/>
                      </a:endParaRPr>
                    </a:p>
                    <a:p>
                      <a:r>
                        <a:rPr kumimoji="1" lang="ja-JP" altLang="en-US" sz="1600" b="0" dirty="0">
                          <a:solidFill>
                            <a:schemeClr val="tx1"/>
                          </a:solidFill>
                          <a:latin typeface="Meiryo UI" panose="020B0604030504040204" pitchFamily="50" charset="-128"/>
                          <a:ea typeface="Meiryo UI" panose="020B0604030504040204" pitchFamily="50" charset="-128"/>
                        </a:rPr>
                        <a:t>■ 操作ログの記録</a:t>
                      </a:r>
                    </a:p>
                    <a:p>
                      <a:r>
                        <a:rPr kumimoji="1" lang="ja-JP" altLang="en-US" sz="1600" b="0" dirty="0">
                          <a:solidFill>
                            <a:schemeClr val="tx1"/>
                          </a:solidFill>
                          <a:latin typeface="Meiryo UI" panose="020B0604030504040204" pitchFamily="50" charset="-128"/>
                          <a:ea typeface="Meiryo UI" panose="020B0604030504040204" pitchFamily="50" charset="-128"/>
                        </a:rPr>
                        <a:t>・アカウント毎に「誰が、いつ、どのリソースに、何をしたか」を全て記録</a:t>
                      </a:r>
                    </a:p>
                    <a:p>
                      <a:endParaRPr kumimoji="1" lang="ja-JP" altLang="en-US" sz="1600" b="0" dirty="0">
                        <a:solidFill>
                          <a:schemeClr val="tx1"/>
                        </a:solidFill>
                        <a:latin typeface="Meiryo UI" panose="020B0604030504040204" pitchFamily="50" charset="-128"/>
                        <a:ea typeface="Meiryo UI" panose="020B0604030504040204" pitchFamily="50" charset="-128"/>
                      </a:endParaRPr>
                    </a:p>
                    <a:p>
                      <a:r>
                        <a:rPr kumimoji="1" lang="ja-JP" altLang="en-US" sz="1600" b="0" dirty="0">
                          <a:solidFill>
                            <a:schemeClr val="tx1"/>
                          </a:solidFill>
                          <a:latin typeface="Meiryo UI" panose="020B0604030504040204" pitchFamily="50" charset="-128"/>
                          <a:ea typeface="Meiryo UI" panose="020B0604030504040204" pitchFamily="50" charset="-128"/>
                        </a:rPr>
                        <a:t>■ ログの取得と検索</a:t>
                      </a:r>
                    </a:p>
                    <a:p>
                      <a:r>
                        <a:rPr kumimoji="1" lang="ja-JP" altLang="en-US" sz="1600" b="0" dirty="0">
                          <a:solidFill>
                            <a:schemeClr val="tx1"/>
                          </a:solidFill>
                          <a:latin typeface="Meiryo UI" panose="020B0604030504040204" pitchFamily="50" charset="-128"/>
                          <a:ea typeface="Meiryo UI" panose="020B0604030504040204" pitchFamily="50" charset="-128"/>
                        </a:rPr>
                        <a:t>・管理者による操作ログの検索・エクスポート機能</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r>
                        <a:rPr kumimoji="1" lang="ja-JP" altLang="en-US" sz="1600" b="1" dirty="0">
                          <a:solidFill>
                            <a:schemeClr val="tx1"/>
                          </a:solidFill>
                          <a:latin typeface="Meiryo UI" panose="020B0604030504040204" pitchFamily="50" charset="-128"/>
                          <a:ea typeface="Meiryo UI" panose="020B0604030504040204" pitchFamily="50" charset="-128"/>
                        </a:rPr>
                        <a:t>④ エラーモニタリングとハンドリング </a:t>
                      </a:r>
                      <a:r>
                        <a:rPr kumimoji="1" lang="ja-JP" altLang="en-US" sz="1600" b="0" dirty="0">
                          <a:solidFill>
                            <a:schemeClr val="tx1"/>
                          </a:solidFill>
                          <a:latin typeface="Meiryo UI" panose="020B0604030504040204" pitchFamily="50" charset="-128"/>
                          <a:ea typeface="Meiryo UI" panose="020B0604030504040204" pitchFamily="50" charset="-128"/>
                        </a:rPr>
                        <a:t>⚠️</a:t>
                      </a:r>
                    </a:p>
                    <a:p>
                      <a:endParaRPr kumimoji="1" lang="ja-JP" altLang="en-US" sz="1600" b="0" dirty="0">
                        <a:solidFill>
                          <a:schemeClr val="tx1"/>
                        </a:solidFill>
                        <a:latin typeface="Meiryo UI" panose="020B0604030504040204" pitchFamily="50" charset="-128"/>
                        <a:ea typeface="Meiryo UI" panose="020B0604030504040204" pitchFamily="50" charset="-128"/>
                      </a:endParaRPr>
                    </a:p>
                    <a:p>
                      <a:r>
                        <a:rPr kumimoji="1" lang="ja-JP" altLang="en-US" sz="1600" b="0" dirty="0">
                          <a:solidFill>
                            <a:schemeClr val="tx1"/>
                          </a:solidFill>
                          <a:latin typeface="Meiryo UI" panose="020B0604030504040204" pitchFamily="50" charset="-128"/>
                          <a:ea typeface="Meiryo UI" panose="020B0604030504040204" pitchFamily="50" charset="-128"/>
                        </a:rPr>
                        <a:t>■ 実行ステータスの監視</a:t>
                      </a:r>
                    </a:p>
                    <a:p>
                      <a:r>
                        <a:rPr kumimoji="1" lang="ja-JP" altLang="en-US" sz="1600" b="0" dirty="0">
                          <a:solidFill>
                            <a:schemeClr val="tx1"/>
                          </a:solidFill>
                          <a:latin typeface="Meiryo UI" panose="020B0604030504040204" pitchFamily="50" charset="-128"/>
                          <a:ea typeface="Meiryo UI" panose="020B0604030504040204" pitchFamily="50" charset="-128"/>
                        </a:rPr>
                        <a:t>・バッチ処理やパイプラインの実行状況（成功</a:t>
                      </a:r>
                      <a:r>
                        <a:rPr kumimoji="1" lang="en-US" altLang="ja-JP" sz="1600" b="0" dirty="0">
                          <a:solidFill>
                            <a:schemeClr val="tx1"/>
                          </a:solidFill>
                          <a:latin typeface="Meiryo UI" panose="020B0604030504040204" pitchFamily="50" charset="-128"/>
                          <a:ea typeface="Meiryo UI" panose="020B0604030504040204" pitchFamily="50" charset="-128"/>
                        </a:rPr>
                        <a:t>/</a:t>
                      </a:r>
                      <a:r>
                        <a:rPr kumimoji="1" lang="ja-JP" altLang="en-US" sz="1600" b="0" dirty="0">
                          <a:solidFill>
                            <a:schemeClr val="tx1"/>
                          </a:solidFill>
                          <a:latin typeface="Meiryo UI" panose="020B0604030504040204" pitchFamily="50" charset="-128"/>
                          <a:ea typeface="Meiryo UI" panose="020B0604030504040204" pitchFamily="50" charset="-128"/>
                        </a:rPr>
                        <a:t>失敗）を常時モニタリング</a:t>
                      </a:r>
                    </a:p>
                    <a:p>
                      <a:endParaRPr kumimoji="1" lang="ja-JP" altLang="en-US" sz="1600" b="0" dirty="0">
                        <a:solidFill>
                          <a:schemeClr val="tx1"/>
                        </a:solidFill>
                        <a:latin typeface="Meiryo UI" panose="020B0604030504040204" pitchFamily="50" charset="-128"/>
                        <a:ea typeface="Meiryo UI" panose="020B0604030504040204" pitchFamily="50" charset="-128"/>
                      </a:endParaRPr>
                    </a:p>
                    <a:p>
                      <a:r>
                        <a:rPr kumimoji="1" lang="ja-JP" altLang="en-US" sz="1600" b="0" dirty="0">
                          <a:solidFill>
                            <a:schemeClr val="tx1"/>
                          </a:solidFill>
                          <a:latin typeface="Meiryo UI" panose="020B0604030504040204" pitchFamily="50" charset="-128"/>
                          <a:ea typeface="Meiryo UI" panose="020B0604030504040204" pitchFamily="50" charset="-128"/>
                        </a:rPr>
                        <a:t>■ 外部アラート通知</a:t>
                      </a:r>
                    </a:p>
                    <a:p>
                      <a:r>
                        <a:rPr kumimoji="1" lang="ja-JP" altLang="en-US" sz="1600" b="0" dirty="0">
                          <a:solidFill>
                            <a:schemeClr val="tx1"/>
                          </a:solidFill>
                          <a:latin typeface="Meiryo UI" panose="020B0604030504040204" pitchFamily="50" charset="-128"/>
                          <a:ea typeface="Meiryo UI" panose="020B0604030504040204" pitchFamily="50" charset="-128"/>
                        </a:rPr>
                        <a:t>・ジョブ失敗時に、エラー情報を指定の外部メールアドレスへ自動発信</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86707320"/>
                  </a:ext>
                </a:extLst>
              </a:tr>
            </a:tbl>
          </a:graphicData>
        </a:graphic>
      </p:graphicFrame>
      <p:sp>
        <p:nvSpPr>
          <p:cNvPr id="4" name="正方形/長方形 3">
            <a:extLst>
              <a:ext uri="{FF2B5EF4-FFF2-40B4-BE49-F238E27FC236}">
                <a16:creationId xmlns:a16="http://schemas.microsoft.com/office/drawing/2014/main" id="{9E2EF8AD-AF02-95EF-6D66-6CB791A4C97E}"/>
              </a:ext>
            </a:extLst>
          </p:cNvPr>
          <p:cNvSpPr/>
          <p:nvPr/>
        </p:nvSpPr>
        <p:spPr>
          <a:xfrm>
            <a:off x="0" y="0"/>
            <a:ext cx="12192000" cy="393955"/>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000" b="1" dirty="0">
                <a:solidFill>
                  <a:schemeClr val="bg1"/>
                </a:solidFill>
                <a:latin typeface="Meiryo UI" panose="020B0604030504040204" pitchFamily="50" charset="-128"/>
                <a:ea typeface="Meiryo UI" panose="020B0604030504040204" pitchFamily="50" charset="-128"/>
              </a:rPr>
              <a:t>セキュリティ関連要件（詳細は別紙参照）</a:t>
            </a:r>
            <a:endParaRPr kumimoji="1" lang="ja-JP" altLang="en-US" b="1" dirty="0">
              <a:solidFill>
                <a:schemeClr val="bg1"/>
              </a:solidFill>
              <a:latin typeface="Meiryo UI" panose="020B0604030504040204" pitchFamily="50" charset="-128"/>
              <a:ea typeface="Meiryo UI" panose="020B0604030504040204" pitchFamily="50" charset="-128"/>
            </a:endParaRPr>
          </a:p>
        </p:txBody>
      </p:sp>
      <p:sp>
        <p:nvSpPr>
          <p:cNvPr id="2" name="四角形: 角を丸くする 1">
            <a:extLst>
              <a:ext uri="{FF2B5EF4-FFF2-40B4-BE49-F238E27FC236}">
                <a16:creationId xmlns:a16="http://schemas.microsoft.com/office/drawing/2014/main" id="{0A043B73-8422-AE39-7379-E5E3D93C998C}"/>
              </a:ext>
            </a:extLst>
          </p:cNvPr>
          <p:cNvSpPr/>
          <p:nvPr/>
        </p:nvSpPr>
        <p:spPr>
          <a:xfrm>
            <a:off x="10811217" y="399417"/>
            <a:ext cx="785032" cy="440700"/>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沖野</a:t>
            </a:r>
          </a:p>
        </p:txBody>
      </p:sp>
      <p:sp>
        <p:nvSpPr>
          <p:cNvPr id="3" name="テキスト ボックス 2">
            <a:extLst>
              <a:ext uri="{FF2B5EF4-FFF2-40B4-BE49-F238E27FC236}">
                <a16:creationId xmlns:a16="http://schemas.microsoft.com/office/drawing/2014/main" id="{8BBC388E-7CC1-A790-A302-907A0795016D}"/>
              </a:ext>
            </a:extLst>
          </p:cNvPr>
          <p:cNvSpPr txBox="1"/>
          <p:nvPr/>
        </p:nvSpPr>
        <p:spPr>
          <a:xfrm>
            <a:off x="-715882" y="3696930"/>
            <a:ext cx="4914658" cy="369332"/>
          </a:xfrm>
          <a:prstGeom prst="rect">
            <a:avLst/>
          </a:prstGeom>
          <a:solidFill>
            <a:schemeClr val="accent3">
              <a:lumMod val="20000"/>
              <a:lumOff val="80000"/>
            </a:schemeClr>
          </a:solidFill>
        </p:spPr>
        <p:txBody>
          <a:bodyPr wrap="square">
            <a:spAutoFit/>
          </a:bodyPr>
          <a:lstStyle/>
          <a:p>
            <a:r>
              <a:rPr lang="en-US" altLang="ja-JP" b="1" dirty="0"/>
              <a:t>3.2.6 </a:t>
            </a:r>
            <a:r>
              <a:rPr lang="ja-JP" altLang="en-US" b="1" dirty="0"/>
              <a:t>セキュリティ　</a:t>
            </a:r>
            <a:r>
              <a:rPr lang="en-US" altLang="ja-JP" b="1" dirty="0"/>
              <a:t>3.2.7  </a:t>
            </a:r>
            <a:r>
              <a:rPr lang="ja-JP" altLang="en-US" b="1" dirty="0"/>
              <a:t>ガバナンス </a:t>
            </a:r>
          </a:p>
        </p:txBody>
      </p:sp>
    </p:spTree>
    <p:extLst>
      <p:ext uri="{BB962C8B-B14F-4D97-AF65-F5344CB8AC3E}">
        <p14:creationId xmlns:p14="http://schemas.microsoft.com/office/powerpoint/2010/main" val="28835712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61378AFC-9A36-C198-D8BD-A4005F1F5E11}"/>
              </a:ext>
            </a:extLst>
          </p:cNvPr>
          <p:cNvSpPr txBox="1"/>
          <p:nvPr/>
        </p:nvSpPr>
        <p:spPr>
          <a:xfrm>
            <a:off x="951722" y="513183"/>
            <a:ext cx="4257897" cy="461665"/>
          </a:xfrm>
          <a:prstGeom prst="rect">
            <a:avLst/>
          </a:prstGeom>
          <a:noFill/>
        </p:spPr>
        <p:txBody>
          <a:bodyPr wrap="none" rtlCol="0">
            <a:spAutoFit/>
          </a:bodyPr>
          <a:lstStyle/>
          <a:p>
            <a:r>
              <a:rPr kumimoji="1" lang="ja-JP" altLang="en-US" sz="2400" dirty="0"/>
              <a:t>＜</a:t>
            </a:r>
            <a:r>
              <a:rPr kumimoji="1" lang="en-US" altLang="ja-JP" sz="2400" dirty="0"/>
              <a:t>3.3   </a:t>
            </a:r>
            <a:r>
              <a:rPr kumimoji="1" lang="ja-JP" altLang="en-US" sz="2400" dirty="0"/>
              <a:t>データ移行について＞</a:t>
            </a:r>
          </a:p>
        </p:txBody>
      </p:sp>
      <p:sp>
        <p:nvSpPr>
          <p:cNvPr id="3" name="テキスト ボックス 2">
            <a:extLst>
              <a:ext uri="{FF2B5EF4-FFF2-40B4-BE49-F238E27FC236}">
                <a16:creationId xmlns:a16="http://schemas.microsoft.com/office/drawing/2014/main" id="{93E9FA50-0C89-C96D-5D6B-707330D4032E}"/>
              </a:ext>
            </a:extLst>
          </p:cNvPr>
          <p:cNvSpPr txBox="1"/>
          <p:nvPr/>
        </p:nvSpPr>
        <p:spPr>
          <a:xfrm>
            <a:off x="175447" y="1097722"/>
            <a:ext cx="11841105" cy="2031325"/>
          </a:xfrm>
          <a:prstGeom prst="rect">
            <a:avLst/>
          </a:prstGeom>
          <a:noFill/>
        </p:spPr>
        <p:txBody>
          <a:bodyPr wrap="square">
            <a:spAutoFit/>
          </a:bodyPr>
          <a:lstStyle/>
          <a:p>
            <a:r>
              <a:rPr lang="ja-JP" altLang="en-US" dirty="0"/>
              <a:t>１）データ移行時の支援ツール（パフォーマンス）</a:t>
            </a:r>
            <a:endParaRPr lang="en-US" altLang="ja-JP" dirty="0"/>
          </a:p>
          <a:p>
            <a:r>
              <a:rPr lang="ja-JP" altLang="en-US" dirty="0"/>
              <a:t>　　　</a:t>
            </a:r>
            <a:r>
              <a:rPr lang="en-US" altLang="ja-JP" dirty="0"/>
              <a:t>2TB</a:t>
            </a:r>
            <a:r>
              <a:rPr lang="ja-JP" altLang="en-US" dirty="0"/>
              <a:t>（眠り</a:t>
            </a:r>
            <a:r>
              <a:rPr lang="en-US" altLang="ja-JP" dirty="0"/>
              <a:t>SCAN)</a:t>
            </a:r>
            <a:r>
              <a:rPr lang="ja-JP" altLang="en-US" dirty="0"/>
              <a:t>のデータを</a:t>
            </a:r>
            <a:r>
              <a:rPr lang="en-US" altLang="ja-JP" dirty="0"/>
              <a:t>Foundry</a:t>
            </a:r>
            <a:r>
              <a:rPr lang="ja-JP" altLang="en-US" dirty="0"/>
              <a:t>環境から新環境へ移行するときの支援ツールがあることが望ましい。</a:t>
            </a:r>
            <a:endParaRPr lang="en-US" altLang="ja-JP" dirty="0"/>
          </a:p>
          <a:p>
            <a:r>
              <a:rPr lang="ja-JP" altLang="en-US" dirty="0"/>
              <a:t>　　　・高速転送能力（ネットワークを効率よく使うスループット）</a:t>
            </a:r>
            <a:endParaRPr lang="en-US" altLang="ja-JP" dirty="0"/>
          </a:p>
          <a:p>
            <a:r>
              <a:rPr lang="ja-JP" altLang="en-US" dirty="0"/>
              <a:t>　　　・差分・増分転送（分割して転送）</a:t>
            </a:r>
            <a:endParaRPr lang="en-US" altLang="ja-JP" dirty="0"/>
          </a:p>
          <a:p>
            <a:r>
              <a:rPr lang="ja-JP" altLang="en-US" dirty="0"/>
              <a:t>　　　・エラーハンドリング及びリトライ機能</a:t>
            </a:r>
            <a:endParaRPr lang="en-US" altLang="ja-JP" dirty="0"/>
          </a:p>
          <a:p>
            <a:endParaRPr lang="en-US" altLang="ja-JP" dirty="0"/>
          </a:p>
          <a:p>
            <a:r>
              <a:rPr lang="ja-JP" altLang="en-US" dirty="0"/>
              <a:t>２）移行対象データ</a:t>
            </a:r>
            <a:endParaRPr lang="en-US" altLang="ja-JP" dirty="0"/>
          </a:p>
        </p:txBody>
      </p:sp>
      <p:graphicFrame>
        <p:nvGraphicFramePr>
          <p:cNvPr id="6" name="表 5">
            <a:extLst>
              <a:ext uri="{FF2B5EF4-FFF2-40B4-BE49-F238E27FC236}">
                <a16:creationId xmlns:a16="http://schemas.microsoft.com/office/drawing/2014/main" id="{34B9DC62-5939-B819-4230-D52E9A5B8DA1}"/>
              </a:ext>
            </a:extLst>
          </p:cNvPr>
          <p:cNvGraphicFramePr>
            <a:graphicFrameLocks noGrp="1"/>
          </p:cNvGraphicFramePr>
          <p:nvPr>
            <p:extLst>
              <p:ext uri="{D42A27DB-BD31-4B8C-83A1-F6EECF244321}">
                <p14:modId xmlns:p14="http://schemas.microsoft.com/office/powerpoint/2010/main" val="699925897"/>
              </p:ext>
            </p:extLst>
          </p:nvPr>
        </p:nvGraphicFramePr>
        <p:xfrm>
          <a:off x="1668106" y="3429000"/>
          <a:ext cx="8474271" cy="2494280"/>
        </p:xfrm>
        <a:graphic>
          <a:graphicData uri="http://schemas.openxmlformats.org/drawingml/2006/table">
            <a:tbl>
              <a:tblPr firstRow="1" bandRow="1">
                <a:tableStyleId>{5C22544A-7EE6-4342-B048-85BDC9FD1C3A}</a:tableStyleId>
              </a:tblPr>
              <a:tblGrid>
                <a:gridCol w="2824757">
                  <a:extLst>
                    <a:ext uri="{9D8B030D-6E8A-4147-A177-3AD203B41FA5}">
                      <a16:colId xmlns:a16="http://schemas.microsoft.com/office/drawing/2014/main" val="3534983891"/>
                    </a:ext>
                  </a:extLst>
                </a:gridCol>
                <a:gridCol w="2824757">
                  <a:extLst>
                    <a:ext uri="{9D8B030D-6E8A-4147-A177-3AD203B41FA5}">
                      <a16:colId xmlns:a16="http://schemas.microsoft.com/office/drawing/2014/main" val="3333602186"/>
                    </a:ext>
                  </a:extLst>
                </a:gridCol>
                <a:gridCol w="2824757">
                  <a:extLst>
                    <a:ext uri="{9D8B030D-6E8A-4147-A177-3AD203B41FA5}">
                      <a16:colId xmlns:a16="http://schemas.microsoft.com/office/drawing/2014/main" val="3423045982"/>
                    </a:ext>
                  </a:extLst>
                </a:gridCol>
              </a:tblGrid>
              <a:tr h="370840">
                <a:tc>
                  <a:txBody>
                    <a:bodyPr/>
                    <a:lstStyle/>
                    <a:p>
                      <a:endParaRPr kumimoji="1" lang="ja-JP" altLang="en-US"/>
                    </a:p>
                  </a:txBody>
                  <a:tcPr/>
                </a:tc>
                <a:tc>
                  <a:txBody>
                    <a:bodyPr/>
                    <a:lstStyle/>
                    <a:p>
                      <a:r>
                        <a:rPr kumimoji="1" lang="en-US" altLang="ja-JP" dirty="0"/>
                        <a:t>Raw</a:t>
                      </a:r>
                      <a:r>
                        <a:rPr kumimoji="1" lang="ja-JP" altLang="en-US" dirty="0"/>
                        <a:t>データセット</a:t>
                      </a:r>
                    </a:p>
                  </a:txBody>
                  <a:tcPr/>
                </a:tc>
                <a:tc>
                  <a:txBody>
                    <a:bodyPr/>
                    <a:lstStyle/>
                    <a:p>
                      <a:r>
                        <a:rPr kumimoji="1" lang="ja-JP" altLang="en-US" dirty="0"/>
                        <a:t>サマリーデータ（</a:t>
                      </a:r>
                      <a:r>
                        <a:rPr kumimoji="1" lang="en-US" altLang="ja-JP" dirty="0" err="1"/>
                        <a:t>data_integration</a:t>
                      </a:r>
                      <a:r>
                        <a:rPr kumimoji="1" lang="en-US" altLang="ja-JP" dirty="0"/>
                        <a:t>)</a:t>
                      </a:r>
                      <a:endParaRPr kumimoji="1" lang="ja-JP" altLang="en-US" dirty="0"/>
                    </a:p>
                  </a:txBody>
                  <a:tcPr/>
                </a:tc>
                <a:extLst>
                  <a:ext uri="{0D108BD9-81ED-4DB2-BD59-A6C34878D82A}">
                    <a16:rowId xmlns:a16="http://schemas.microsoft.com/office/drawing/2014/main" val="3821300109"/>
                  </a:ext>
                </a:extLst>
              </a:tr>
              <a:tr h="370840">
                <a:tc>
                  <a:txBody>
                    <a:bodyPr/>
                    <a:lstStyle/>
                    <a:p>
                      <a:r>
                        <a:rPr kumimoji="1" lang="ja-JP" altLang="en-US" dirty="0"/>
                        <a:t>介護記録</a:t>
                      </a:r>
                      <a:endParaRPr kumimoji="1" lang="en-US" altLang="ja-JP" dirty="0"/>
                    </a:p>
                  </a:txBody>
                  <a:tcPr/>
                </a:tc>
                <a:tc>
                  <a:txBody>
                    <a:bodyPr/>
                    <a:lstStyle/>
                    <a:p>
                      <a:r>
                        <a:rPr kumimoji="1" lang="en-US" altLang="ja-JP" dirty="0"/>
                        <a:t>340 GB</a:t>
                      </a:r>
                      <a:endParaRPr kumimoji="1" lang="ja-JP" altLang="en-US" dirty="0"/>
                    </a:p>
                  </a:txBody>
                  <a:tcPr/>
                </a:tc>
                <a:tc>
                  <a:txBody>
                    <a:bodyPr/>
                    <a:lstStyle/>
                    <a:p>
                      <a:r>
                        <a:rPr kumimoji="1" lang="en-US" altLang="ja-JP" dirty="0"/>
                        <a:t>100GB</a:t>
                      </a:r>
                      <a:endParaRPr kumimoji="1" lang="ja-JP" altLang="en-US" dirty="0"/>
                    </a:p>
                  </a:txBody>
                  <a:tcPr/>
                </a:tc>
                <a:extLst>
                  <a:ext uri="{0D108BD9-81ED-4DB2-BD59-A6C34878D82A}">
                    <a16:rowId xmlns:a16="http://schemas.microsoft.com/office/drawing/2014/main" val="1720327626"/>
                  </a:ext>
                </a:extLst>
              </a:tr>
              <a:tr h="370840">
                <a:tc>
                  <a:txBody>
                    <a:bodyPr/>
                    <a:lstStyle/>
                    <a:p>
                      <a:r>
                        <a:rPr kumimoji="1" lang="ja-JP" altLang="en-US" dirty="0"/>
                        <a:t>連携</a:t>
                      </a:r>
                      <a:r>
                        <a:rPr kumimoji="1" lang="en-US" altLang="ja-JP" dirty="0"/>
                        <a:t>PF</a:t>
                      </a:r>
                      <a:endParaRPr kumimoji="1" lang="ja-JP" altLang="en-US" dirty="0"/>
                    </a:p>
                  </a:txBody>
                  <a:tcPr/>
                </a:tc>
                <a:tc>
                  <a:txBody>
                    <a:bodyPr/>
                    <a:lstStyle/>
                    <a:p>
                      <a:r>
                        <a:rPr kumimoji="1" lang="en-US" altLang="ja-JP" dirty="0"/>
                        <a:t>52.3 MB</a:t>
                      </a:r>
                      <a:endParaRPr kumimoji="1" lang="ja-JP" altLang="en-US" dirty="0"/>
                    </a:p>
                  </a:txBody>
                  <a:tcPr/>
                </a:tc>
                <a:tc>
                  <a:txBody>
                    <a:bodyPr/>
                    <a:lstStyle/>
                    <a:p>
                      <a:r>
                        <a:rPr kumimoji="1" lang="en-US" altLang="ja-JP" dirty="0"/>
                        <a:t>60 MB</a:t>
                      </a:r>
                      <a:endParaRPr kumimoji="1" lang="ja-JP" altLang="en-US" dirty="0"/>
                    </a:p>
                  </a:txBody>
                  <a:tcPr/>
                </a:tc>
                <a:extLst>
                  <a:ext uri="{0D108BD9-81ED-4DB2-BD59-A6C34878D82A}">
                    <a16:rowId xmlns:a16="http://schemas.microsoft.com/office/drawing/2014/main" val="3166859467"/>
                  </a:ext>
                </a:extLst>
              </a:tr>
              <a:tr h="370840">
                <a:tc>
                  <a:txBody>
                    <a:bodyPr/>
                    <a:lstStyle/>
                    <a:p>
                      <a:r>
                        <a:rPr kumimoji="1" lang="ja-JP" altLang="en-US" dirty="0"/>
                        <a:t>眠り</a:t>
                      </a:r>
                      <a:r>
                        <a:rPr kumimoji="1" lang="en-US" altLang="ja-JP" dirty="0"/>
                        <a:t>SCAN</a:t>
                      </a:r>
                      <a:endParaRPr kumimoji="1" lang="ja-JP" altLang="en-US" dirty="0"/>
                    </a:p>
                  </a:txBody>
                  <a:tcPr/>
                </a:tc>
                <a:tc>
                  <a:txBody>
                    <a:bodyPr/>
                    <a:lstStyle/>
                    <a:p>
                      <a:r>
                        <a:rPr kumimoji="1" lang="en-US" altLang="ja-JP" dirty="0"/>
                        <a:t>2 TB</a:t>
                      </a:r>
                      <a:endParaRPr kumimoji="1" lang="ja-JP" altLang="en-US" dirty="0"/>
                    </a:p>
                  </a:txBody>
                  <a:tcPr/>
                </a:tc>
                <a:tc>
                  <a:txBody>
                    <a:bodyPr/>
                    <a:lstStyle/>
                    <a:p>
                      <a:r>
                        <a:rPr kumimoji="1" lang="en-US" altLang="ja-JP" dirty="0"/>
                        <a:t>0.7 GB</a:t>
                      </a:r>
                      <a:endParaRPr kumimoji="1" lang="ja-JP" altLang="en-US" dirty="0"/>
                    </a:p>
                  </a:txBody>
                  <a:tcPr/>
                </a:tc>
                <a:extLst>
                  <a:ext uri="{0D108BD9-81ED-4DB2-BD59-A6C34878D82A}">
                    <a16:rowId xmlns:a16="http://schemas.microsoft.com/office/drawing/2014/main" val="3137647932"/>
                  </a:ext>
                </a:extLst>
              </a:tr>
              <a:tr h="370840">
                <a:tc>
                  <a:txBody>
                    <a:bodyPr/>
                    <a:lstStyle/>
                    <a:p>
                      <a:r>
                        <a:rPr kumimoji="1" lang="en-US" altLang="ja-JP" dirty="0"/>
                        <a:t>Nurse call</a:t>
                      </a:r>
                      <a:endParaRPr kumimoji="1" lang="ja-JP" altLang="en-US" dirty="0"/>
                    </a:p>
                  </a:txBody>
                  <a:tcPr/>
                </a:tc>
                <a:tc>
                  <a:txBody>
                    <a:bodyPr/>
                    <a:lstStyle/>
                    <a:p>
                      <a:r>
                        <a:rPr kumimoji="1" lang="en-US" altLang="ja-JP" dirty="0"/>
                        <a:t>7.5 GB</a:t>
                      </a:r>
                      <a:endParaRPr kumimoji="1" lang="ja-JP" altLang="en-US" dirty="0"/>
                    </a:p>
                  </a:txBody>
                  <a:tcPr/>
                </a:tc>
                <a:tc>
                  <a:txBody>
                    <a:bodyPr/>
                    <a:lstStyle/>
                    <a:p>
                      <a:r>
                        <a:rPr kumimoji="1" lang="en-US" altLang="ja-JP" dirty="0"/>
                        <a:t>477 MB (Nurse call log</a:t>
                      </a:r>
                      <a:r>
                        <a:rPr kumimoji="1" lang="ja-JP" altLang="en-US" dirty="0"/>
                        <a:t>）</a:t>
                      </a:r>
                    </a:p>
                  </a:txBody>
                  <a:tcPr/>
                </a:tc>
                <a:extLst>
                  <a:ext uri="{0D108BD9-81ED-4DB2-BD59-A6C34878D82A}">
                    <a16:rowId xmlns:a16="http://schemas.microsoft.com/office/drawing/2014/main" val="4025427861"/>
                  </a:ext>
                </a:extLst>
              </a:tr>
              <a:tr h="370840">
                <a:tc>
                  <a:txBody>
                    <a:bodyPr/>
                    <a:lstStyle/>
                    <a:p>
                      <a:r>
                        <a:rPr kumimoji="1" lang="en-US" altLang="ja-JP" dirty="0"/>
                        <a:t>AV4</a:t>
                      </a:r>
                      <a:endParaRPr kumimoji="1" lang="ja-JP"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3.4 GB</a:t>
                      </a:r>
                      <a:endParaRPr kumimoji="1" lang="ja-JP" altLang="en-US" dirty="0"/>
                    </a:p>
                  </a:txBody>
                  <a:tcPr/>
                </a:tc>
                <a:tc>
                  <a:txBody>
                    <a:bodyPr/>
                    <a:lstStyle/>
                    <a:p>
                      <a:r>
                        <a:rPr kumimoji="1" lang="ja-JP" altLang="en-US" dirty="0"/>
                        <a:t>多数</a:t>
                      </a:r>
                    </a:p>
                  </a:txBody>
                  <a:tcPr/>
                </a:tc>
                <a:extLst>
                  <a:ext uri="{0D108BD9-81ED-4DB2-BD59-A6C34878D82A}">
                    <a16:rowId xmlns:a16="http://schemas.microsoft.com/office/drawing/2014/main" val="685236003"/>
                  </a:ext>
                </a:extLst>
              </a:tr>
            </a:tbl>
          </a:graphicData>
        </a:graphic>
      </p:graphicFrame>
      <p:sp>
        <p:nvSpPr>
          <p:cNvPr id="7" name="テキスト ボックス 6">
            <a:extLst>
              <a:ext uri="{FF2B5EF4-FFF2-40B4-BE49-F238E27FC236}">
                <a16:creationId xmlns:a16="http://schemas.microsoft.com/office/drawing/2014/main" id="{AF5FAAC4-1506-0472-FA47-C4467AA975C9}"/>
              </a:ext>
            </a:extLst>
          </p:cNvPr>
          <p:cNvSpPr txBox="1"/>
          <p:nvPr/>
        </p:nvSpPr>
        <p:spPr>
          <a:xfrm>
            <a:off x="951722" y="5959742"/>
            <a:ext cx="8584401" cy="646331"/>
          </a:xfrm>
          <a:prstGeom prst="rect">
            <a:avLst/>
          </a:prstGeom>
          <a:noFill/>
        </p:spPr>
        <p:txBody>
          <a:bodyPr wrap="none" rtlCol="0">
            <a:spAutoFit/>
          </a:bodyPr>
          <a:lstStyle/>
          <a:p>
            <a:r>
              <a:rPr kumimoji="1" lang="ja-JP" altLang="en-US" dirty="0"/>
              <a:t>過去分をすべてコンバートする。（</a:t>
            </a:r>
            <a:r>
              <a:rPr kumimoji="1" lang="en-US" altLang="ja-JP" dirty="0"/>
              <a:t>AI</a:t>
            </a:r>
            <a:r>
              <a:rPr kumimoji="1" lang="ja-JP" altLang="en-US" dirty="0"/>
              <a:t>予測するには、過去の</a:t>
            </a:r>
            <a:r>
              <a:rPr kumimoji="1" lang="en-US" altLang="ja-JP" dirty="0"/>
              <a:t>history data</a:t>
            </a:r>
            <a:r>
              <a:rPr kumimoji="1" lang="ja-JP" altLang="en-US" dirty="0"/>
              <a:t>が必要）</a:t>
            </a:r>
            <a:endParaRPr kumimoji="1" lang="en-US" altLang="ja-JP" dirty="0"/>
          </a:p>
          <a:p>
            <a:r>
              <a:rPr lang="en-US" altLang="ja-JP" dirty="0"/>
              <a:t>CMC</a:t>
            </a:r>
            <a:r>
              <a:rPr lang="ja-JP" altLang="en-US" dirty="0"/>
              <a:t>画面への出力は、過去半年間のデータがあればよい。</a:t>
            </a:r>
            <a:endParaRPr kumimoji="1" lang="ja-JP" altLang="en-US" dirty="0"/>
          </a:p>
        </p:txBody>
      </p:sp>
    </p:spTree>
    <p:extLst>
      <p:ext uri="{BB962C8B-B14F-4D97-AF65-F5344CB8AC3E}">
        <p14:creationId xmlns:p14="http://schemas.microsoft.com/office/powerpoint/2010/main" val="20895162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3266129E-EC79-7AEB-6D54-E80099184A55}"/>
              </a:ext>
            </a:extLst>
          </p:cNvPr>
          <p:cNvSpPr txBox="1"/>
          <p:nvPr/>
        </p:nvSpPr>
        <p:spPr>
          <a:xfrm>
            <a:off x="3088433" y="1595535"/>
            <a:ext cx="7830990" cy="923330"/>
          </a:xfrm>
          <a:prstGeom prst="rect">
            <a:avLst/>
          </a:prstGeom>
          <a:noFill/>
        </p:spPr>
        <p:txBody>
          <a:bodyPr wrap="none" rtlCol="0">
            <a:spAutoFit/>
          </a:bodyPr>
          <a:lstStyle/>
          <a:p>
            <a:r>
              <a:rPr kumimoji="1" lang="ja-JP" altLang="en-US" dirty="0"/>
              <a:t>評価項目は？</a:t>
            </a:r>
            <a:endParaRPr kumimoji="1" lang="en-US" altLang="ja-JP" dirty="0"/>
          </a:p>
          <a:p>
            <a:r>
              <a:rPr kumimoji="1" lang="ja-JP" altLang="en-US" dirty="0"/>
              <a:t>評価基準は？（標準機能ではないが、</a:t>
            </a:r>
            <a:r>
              <a:rPr kumimoji="1" lang="en-US" altLang="ja-JP" dirty="0"/>
              <a:t>3rd party</a:t>
            </a:r>
            <a:r>
              <a:rPr kumimoji="1" lang="ja-JP" altLang="en-US" dirty="0"/>
              <a:t>と組み合わせればできる）</a:t>
            </a:r>
            <a:endParaRPr kumimoji="1" lang="en-US" altLang="ja-JP" dirty="0"/>
          </a:p>
          <a:p>
            <a:r>
              <a:rPr lang="en-US" altLang="ja-JP" dirty="0"/>
              <a:t>Excel</a:t>
            </a:r>
            <a:r>
              <a:rPr lang="ja-JP" altLang="en-US"/>
              <a:t>の表</a:t>
            </a:r>
            <a:endParaRPr kumimoji="1" lang="ja-JP" altLang="en-US"/>
          </a:p>
        </p:txBody>
      </p:sp>
    </p:spTree>
    <p:extLst>
      <p:ext uri="{BB962C8B-B14F-4D97-AF65-F5344CB8AC3E}">
        <p14:creationId xmlns:p14="http://schemas.microsoft.com/office/powerpoint/2010/main" val="317276316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6776</TotalTime>
  <Words>7340</Words>
  <Application>Microsoft Office PowerPoint</Application>
  <PresentationFormat>ワイド画面</PresentationFormat>
  <Paragraphs>944</Paragraphs>
  <Slides>36</Slides>
  <Notes>1</Notes>
  <HiddenSlides>0</HiddenSlides>
  <MMClips>0</MMClips>
  <ScaleCrop>false</ScaleCrop>
  <HeadingPairs>
    <vt:vector size="6" baseType="variant">
      <vt:variant>
        <vt:lpstr>使用されているフォント</vt:lpstr>
      </vt:variant>
      <vt:variant>
        <vt:i4>13</vt:i4>
      </vt:variant>
      <vt:variant>
        <vt:lpstr>テーマ</vt:lpstr>
      </vt:variant>
      <vt:variant>
        <vt:i4>1</vt:i4>
      </vt:variant>
      <vt:variant>
        <vt:lpstr>スライド タイトル</vt:lpstr>
      </vt:variant>
      <vt:variant>
        <vt:i4>36</vt:i4>
      </vt:variant>
    </vt:vector>
  </HeadingPairs>
  <TitlesOfParts>
    <vt:vector size="50" baseType="lpstr">
      <vt:lpstr>BIZ UDPゴシック</vt:lpstr>
      <vt:lpstr>Meiryo UI</vt:lpstr>
      <vt:lpstr>ＭＳ Ｐゴシック</vt:lpstr>
      <vt:lpstr>ui-sans-serif</vt:lpstr>
      <vt:lpstr>メイリオ</vt:lpstr>
      <vt:lpstr>游ゴシック</vt:lpstr>
      <vt:lpstr>游ゴシック Light</vt:lpstr>
      <vt:lpstr>游ゴシック 本文</vt:lpstr>
      <vt:lpstr>游明朝</vt:lpstr>
      <vt:lpstr>Arial</vt:lpstr>
      <vt:lpstr>Calibri</vt:lpstr>
      <vt:lpstr>Symbol</vt:lpstr>
      <vt:lpstr>Wingdings</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sup92707</dc:creator>
  <cp:lastModifiedBy>sup92707</cp:lastModifiedBy>
  <cp:revision>117</cp:revision>
  <dcterms:created xsi:type="dcterms:W3CDTF">2025-07-24T01:47:18Z</dcterms:created>
  <dcterms:modified xsi:type="dcterms:W3CDTF">2025-10-30T03:15:01Z</dcterms:modified>
</cp:coreProperties>
</file>