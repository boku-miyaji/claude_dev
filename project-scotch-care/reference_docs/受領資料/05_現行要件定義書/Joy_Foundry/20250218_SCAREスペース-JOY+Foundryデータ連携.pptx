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9">
          <p15:clr>
            <a:srgbClr val="A4A3A4"/>
          </p15:clr>
        </p15:guide>
        <p15:guide id="2" pos="3840">
          <p15:clr>
            <a:srgbClr val="A4A3A4"/>
          </p15:clr>
        </p15:guide>
        <p15:guide id="3" pos="1028">
          <p15:clr>
            <a:srgbClr val="A4A3A4"/>
          </p15:clr>
        </p15:guide>
        <p15:guide id="4" pos="6652">
          <p15:clr>
            <a:srgbClr val="A4A3A4"/>
          </p15:clr>
        </p15:guide>
        <p15:guide id="5" pos="7469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orient="horz" pos="3657">
          <p15:clr>
            <a:srgbClr val="A4A3A4"/>
          </p15:clr>
        </p15:guide>
        <p15:guide id="8" pos="3727">
          <p15:clr>
            <a:srgbClr val="A4A3A4"/>
          </p15:clr>
        </p15:guide>
        <p15:guide id="9" pos="3953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gBKCFrIbslqYp6shModnXMMqdG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291FA1-5357-42AE-8E72-F268127BD97F}">
  <a:tblStyle styleId="{51291FA1-5357-42AE-8E72-F268127BD97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FBFA"/>
          </a:solidFill>
        </a:fill>
      </a:tcStyle>
    </a:wholeTbl>
    <a:band1H>
      <a:tcTxStyle/>
      <a:tcStyle>
        <a:tcBdr/>
        <a:fill>
          <a:solidFill>
            <a:srgbClr val="F8F7F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8F7F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>
      <p:cViewPr varScale="1">
        <p:scale>
          <a:sx n="107" d="100"/>
          <a:sy n="107" d="100"/>
        </p:scale>
        <p:origin x="640" y="168"/>
      </p:cViewPr>
      <p:guideLst>
        <p:guide orient="horz" pos="799"/>
        <p:guide pos="3840"/>
        <p:guide pos="1028"/>
        <p:guide pos="6652"/>
        <p:guide pos="7469"/>
        <p:guide orient="horz" pos="2160"/>
        <p:guide orient="horz" pos="3657"/>
        <p:guide pos="3727"/>
        <p:guide pos="39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38aae21b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2738aae21b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2738aae21b7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alt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A">
  <p:cSld name="タイトルのみA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8" name="Google Shape;18;p27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7"/>
          <p:cNvSpPr txBox="1">
            <a:spLocks noGrp="1"/>
          </p:cNvSpPr>
          <p:nvPr>
            <p:ph type="body" idx="2"/>
          </p:nvPr>
        </p:nvSpPr>
        <p:spPr>
          <a:xfrm>
            <a:off x="107983" y="105075"/>
            <a:ext cx="9366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" name="Google Shape;20;p27"/>
          <p:cNvCxnSpPr/>
          <p:nvPr/>
        </p:nvCxnSpPr>
        <p:spPr>
          <a:xfrm>
            <a:off x="12000" y="491996"/>
            <a:ext cx="12168000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スライドタイトル_関係者外秘">
  <p:cSld name="スライドタイトル_関係者外秘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30"/>
          <p:cNvCxnSpPr/>
          <p:nvPr/>
        </p:nvCxnSpPr>
        <p:spPr>
          <a:xfrm>
            <a:off x="5577974" y="3368872"/>
            <a:ext cx="1036052" cy="0"/>
          </a:xfrm>
          <a:prstGeom prst="straightConnector1">
            <a:avLst/>
          </a:prstGeom>
          <a:solidFill>
            <a:srgbClr val="FF0000"/>
          </a:solidFill>
          <a:ln w="9525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0"/>
          <p:cNvSpPr txBox="1">
            <a:spLocks noGrp="1"/>
          </p:cNvSpPr>
          <p:nvPr>
            <p:ph type="subTitle" idx="1"/>
          </p:nvPr>
        </p:nvSpPr>
        <p:spPr>
          <a:xfrm>
            <a:off x="914400" y="3678390"/>
            <a:ext cx="10363200" cy="33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title"/>
          </p:nvPr>
        </p:nvSpPr>
        <p:spPr>
          <a:xfrm>
            <a:off x="952500" y="2420895"/>
            <a:ext cx="10287002" cy="63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30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30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5195969" y="6186594"/>
            <a:ext cx="1800062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A">
  <p:cSld name="セクション見出しA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/>
          <p:nvPr/>
        </p:nvSpPr>
        <p:spPr>
          <a:xfrm>
            <a:off x="0" y="0"/>
            <a:ext cx="12189046" cy="63150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31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" name="Google Shape;31;p31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A_社外秘">
  <p:cSld name="セクション見出しA_社外秘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2"/>
          <p:cNvSpPr/>
          <p:nvPr/>
        </p:nvSpPr>
        <p:spPr>
          <a:xfrm>
            <a:off x="0" y="0"/>
            <a:ext cx="12189046" cy="63150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32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32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32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A_関係者外秘">
  <p:cSld name="セクション見出しA_関係者外秘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3"/>
          <p:cNvSpPr/>
          <p:nvPr/>
        </p:nvSpPr>
        <p:spPr>
          <a:xfrm>
            <a:off x="0" y="0"/>
            <a:ext cx="12189046" cy="6315142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33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33"/>
          <p:cNvSpPr txBox="1"/>
          <p:nvPr/>
        </p:nvSpPr>
        <p:spPr>
          <a:xfrm>
            <a:off x="13033041" y="304800"/>
            <a:ext cx="227361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" name="Google Shape;42;p33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33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33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B_社外秘">
  <p:cSld name="セクション見出しB_社外秘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/>
          <p:nvPr/>
        </p:nvSpPr>
        <p:spPr>
          <a:xfrm>
            <a:off x="0" y="1988840"/>
            <a:ext cx="12189046" cy="2324604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4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34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34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B_関係者外秘">
  <p:cSld name="1_セクション見出しB_関係者外秘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/>
          <p:nvPr/>
        </p:nvSpPr>
        <p:spPr>
          <a:xfrm>
            <a:off x="0" y="1988840"/>
            <a:ext cx="12189046" cy="2324604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title"/>
          </p:nvPr>
        </p:nvSpPr>
        <p:spPr>
          <a:xfrm>
            <a:off x="951761" y="2276873"/>
            <a:ext cx="10285524" cy="174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35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35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A_社外秘">
  <p:cSld name="タイトルのみA_社外秘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/>
          <p:nvPr/>
        </p:nvSpPr>
        <p:spPr>
          <a:xfrm>
            <a:off x="0" y="-9100"/>
            <a:ext cx="12192000" cy="7200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36"/>
          <p:cNvSpPr txBox="1">
            <a:spLocks noGrp="1"/>
          </p:cNvSpPr>
          <p:nvPr>
            <p:ph type="body" idx="1"/>
          </p:nvPr>
        </p:nvSpPr>
        <p:spPr>
          <a:xfrm>
            <a:off x="1413000" y="158343"/>
            <a:ext cx="9124371" cy="41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1675942" y="1281546"/>
            <a:ext cx="8861429" cy="447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36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36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A_関係者外秘">
  <p:cSld name="タイトルのみA_関係者外秘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7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7" name="Google Shape;67;p37"/>
          <p:cNvSpPr/>
          <p:nvPr/>
        </p:nvSpPr>
        <p:spPr>
          <a:xfrm>
            <a:off x="0" y="-12700"/>
            <a:ext cx="12192000" cy="723600"/>
          </a:xfrm>
          <a:prstGeom prst="rect">
            <a:avLst/>
          </a:prstGeom>
          <a:solidFill>
            <a:srgbClr val="CC00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37"/>
          <p:cNvSpPr txBox="1">
            <a:spLocks noGrp="1"/>
          </p:cNvSpPr>
          <p:nvPr>
            <p:ph type="body" idx="2"/>
          </p:nvPr>
        </p:nvSpPr>
        <p:spPr>
          <a:xfrm>
            <a:off x="1412999" y="158343"/>
            <a:ext cx="9124371" cy="410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37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7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B">
  <p:cSld name="タイトルのみB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8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73" name="Google Shape;73;p38"/>
          <p:cNvCxnSpPr/>
          <p:nvPr/>
        </p:nvCxnSpPr>
        <p:spPr>
          <a:xfrm>
            <a:off x="332310" y="718325"/>
            <a:ext cx="11527385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1413001" y="188640"/>
            <a:ext cx="9366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6" name="Google Shape;76;p38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B_社外秘">
  <p:cSld name="1_タイトルのみB_社外秘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79" name="Google Shape;79;p39"/>
          <p:cNvCxnSpPr/>
          <p:nvPr/>
        </p:nvCxnSpPr>
        <p:spPr>
          <a:xfrm>
            <a:off x="332310" y="718325"/>
            <a:ext cx="11527385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p39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9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body" idx="2"/>
          </p:nvPr>
        </p:nvSpPr>
        <p:spPr>
          <a:xfrm>
            <a:off x="1413000" y="188640"/>
            <a:ext cx="9124371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3" name="Google Shape;83;p39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B_関係者外秘">
  <p:cSld name="タイトルのみB_関係者外秘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0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86" name="Google Shape;86;p40"/>
          <p:cNvCxnSpPr/>
          <p:nvPr/>
        </p:nvCxnSpPr>
        <p:spPr>
          <a:xfrm>
            <a:off x="332310" y="718325"/>
            <a:ext cx="11527385" cy="1530"/>
          </a:xfrm>
          <a:prstGeom prst="straightConnector1">
            <a:avLst/>
          </a:prstGeom>
          <a:solidFill>
            <a:srgbClr val="FF0000"/>
          </a:solidFill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40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0"/>
          <p:cNvSpPr txBox="1">
            <a:spLocks noGrp="1"/>
          </p:cNvSpPr>
          <p:nvPr>
            <p:ph type="body" idx="1"/>
          </p:nvPr>
        </p:nvSpPr>
        <p:spPr>
          <a:xfrm>
            <a:off x="1675942" y="1281546"/>
            <a:ext cx="8861429" cy="44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40"/>
          <p:cNvSpPr txBox="1">
            <a:spLocks noGrp="1"/>
          </p:cNvSpPr>
          <p:nvPr>
            <p:ph type="body" idx="2"/>
          </p:nvPr>
        </p:nvSpPr>
        <p:spPr>
          <a:xfrm>
            <a:off x="1413000" y="188640"/>
            <a:ext cx="9124371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なし">
  <p:cSld name="タイトルなし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1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93" name="Google Shape;93;p41"/>
          <p:cNvSpPr txBox="1">
            <a:spLocks noGrp="1"/>
          </p:cNvSpPr>
          <p:nvPr>
            <p:ph type="body" idx="1"/>
          </p:nvPr>
        </p:nvSpPr>
        <p:spPr>
          <a:xfrm>
            <a:off x="1675942" y="677158"/>
            <a:ext cx="8861429" cy="50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4" name="Google Shape;94;p41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タイトルなし_社外秘">
  <p:cSld name="1_タイトルなし_社外秘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2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97" name="Google Shape;97;p42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社外秘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2"/>
          <p:cNvSpPr txBox="1">
            <a:spLocks noGrp="1"/>
          </p:cNvSpPr>
          <p:nvPr>
            <p:ph type="body" idx="1"/>
          </p:nvPr>
        </p:nvSpPr>
        <p:spPr>
          <a:xfrm>
            <a:off x="1675942" y="677158"/>
            <a:ext cx="8861429" cy="50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9" name="Google Shape;99;p42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なし_関係者外秘">
  <p:cSld name="タイトルなし_関係者外秘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3"/>
          <p:cNvSpPr txBox="1">
            <a:spLocks noGrp="1"/>
          </p:cNvSpPr>
          <p:nvPr>
            <p:ph type="sldNum" idx="12"/>
          </p:nvPr>
        </p:nvSpPr>
        <p:spPr>
          <a:xfrm>
            <a:off x="9011938" y="6455665"/>
            <a:ext cx="2844800" cy="301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02" name="Google Shape;102;p43"/>
          <p:cNvSpPr/>
          <p:nvPr/>
        </p:nvSpPr>
        <p:spPr>
          <a:xfrm>
            <a:off x="10761818" y="259200"/>
            <a:ext cx="1099569" cy="252000"/>
          </a:xfrm>
          <a:prstGeom prst="rect">
            <a:avLst/>
          </a:prstGeom>
          <a:noFill/>
          <a:ln w="19050" cap="flat" cmpd="sng">
            <a:solidFill>
              <a:srgbClr val="CC00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CC0022"/>
                </a:solidFill>
                <a:latin typeface="Arial"/>
                <a:ea typeface="Arial"/>
                <a:cs typeface="Arial"/>
                <a:sym typeface="Arial"/>
              </a:rPr>
              <a:t>関係者外秘</a:t>
            </a:r>
            <a:endParaRPr sz="1000" b="0" i="0" u="none" strike="noStrike" cap="none">
              <a:solidFill>
                <a:srgbClr val="CC00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1"/>
          </p:nvPr>
        </p:nvSpPr>
        <p:spPr>
          <a:xfrm>
            <a:off x="1675942" y="677158"/>
            <a:ext cx="8861429" cy="50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4" name="Google Shape;104;p43"/>
          <p:cNvPicPr preferRelativeResize="0"/>
          <p:nvPr/>
        </p:nvPicPr>
        <p:blipFill rotWithShape="1">
          <a:blip r:embed="rId2">
            <a:alphaModFix/>
          </a:blip>
          <a:srcRect l="13758" t="38386" r="13635" b="42252"/>
          <a:stretch/>
        </p:blipFill>
        <p:spPr>
          <a:xfrm>
            <a:off x="308090" y="6445987"/>
            <a:ext cx="1437584" cy="287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38aae21b7_0_1"/>
          <p:cNvSpPr txBox="1">
            <a:spLocks noGrp="1"/>
          </p:cNvSpPr>
          <p:nvPr>
            <p:ph type="body" idx="2"/>
          </p:nvPr>
        </p:nvSpPr>
        <p:spPr>
          <a:xfrm>
            <a:off x="32084" y="20025"/>
            <a:ext cx="12359473" cy="400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228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ja-JP" sz="1800">
                <a:solidFill>
                  <a:schemeClr val="dk1"/>
                </a:solidFill>
              </a:rPr>
              <a:t>共通Namespaceを使ったデータ連携の</a:t>
            </a:r>
            <a:r>
              <a:rPr lang="ja-JP" altLang="en-US" sz="1800">
                <a:solidFill>
                  <a:schemeClr val="dk1"/>
                </a:solidFill>
              </a:rPr>
              <a:t>流れ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62" name="Google Shape;162;g2738aae21b7_0_1"/>
          <p:cNvSpPr/>
          <p:nvPr/>
        </p:nvSpPr>
        <p:spPr>
          <a:xfrm>
            <a:off x="4904501" y="2860135"/>
            <a:ext cx="2491649" cy="1322078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80_</a:t>
            </a:r>
            <a:r>
              <a:rPr lang="ja-JP" alt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＜既存⇔</a:t>
            </a:r>
            <a:r>
              <a:rPr lang="en" altLang="ja-JP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SCARE</a:t>
            </a:r>
            <a:r>
              <a:rPr lang="ja-JP" altLang="e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＞</a:t>
            </a:r>
            <a:endParaRPr lang="en-US" altLang="ja-JP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データ共有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2738aae21b7_0_1"/>
          <p:cNvSpPr/>
          <p:nvPr/>
        </p:nvSpPr>
        <p:spPr>
          <a:xfrm>
            <a:off x="1379929" y="3747179"/>
            <a:ext cx="2306670" cy="1702206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A（プロジェクト）</a:t>
            </a:r>
            <a:endParaRPr dirty="0"/>
          </a:p>
        </p:txBody>
      </p:sp>
      <p:sp>
        <p:nvSpPr>
          <p:cNvPr id="164" name="Google Shape;164;g2738aae21b7_0_1"/>
          <p:cNvSpPr/>
          <p:nvPr/>
        </p:nvSpPr>
        <p:spPr>
          <a:xfrm>
            <a:off x="8469669" y="3747179"/>
            <a:ext cx="2488844" cy="1702206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ja-JP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01_c20_SCARE_ALL</a:t>
            </a:r>
            <a:endParaRPr dirty="0"/>
          </a:p>
        </p:txBody>
      </p:sp>
      <p:sp>
        <p:nvSpPr>
          <p:cNvPr id="165" name="Google Shape;165;g2738aae21b7_0_1"/>
          <p:cNvSpPr/>
          <p:nvPr/>
        </p:nvSpPr>
        <p:spPr>
          <a:xfrm>
            <a:off x="991892" y="2415650"/>
            <a:ext cx="6635857" cy="3759310"/>
          </a:xfrm>
          <a:prstGeom prst="rect">
            <a:avLst/>
          </a:prstGeom>
          <a:noFill/>
          <a:ln w="31750" cap="flat" cmpd="sng">
            <a:solidFill>
              <a:srgbClr val="92D05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dirty="0">
                <a:solidFill>
                  <a:schemeClr val="dk1"/>
                </a:solidFill>
              </a:rPr>
              <a:t>Scare</a:t>
            </a:r>
            <a:r>
              <a:rPr lang="ja-JP" altLang="en-US">
                <a:solidFill>
                  <a:schemeClr val="dk1"/>
                </a:solidFill>
              </a:rPr>
              <a:t>スペース</a:t>
            </a: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環境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738aae21b7_0_1"/>
          <p:cNvSpPr/>
          <p:nvPr/>
        </p:nvSpPr>
        <p:spPr>
          <a:xfrm>
            <a:off x="4516466" y="2364851"/>
            <a:ext cx="6635857" cy="3691548"/>
          </a:xfrm>
          <a:prstGeom prst="rect">
            <a:avLst/>
          </a:prstGeom>
          <a:noFill/>
          <a:ln w="31750" cap="flat" cmpd="sng">
            <a:solidFill>
              <a:srgbClr val="0070C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JOY-Foundry環境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SCARE</a:t>
            </a: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のorganization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g2738aae21b7_0_1"/>
          <p:cNvCxnSpPr>
            <a:stCxn id="168" idx="3"/>
          </p:cNvCxnSpPr>
          <p:nvPr/>
        </p:nvCxnSpPr>
        <p:spPr>
          <a:xfrm rot="10800000" flipH="1">
            <a:off x="3522648" y="3902551"/>
            <a:ext cx="1904700" cy="1166400"/>
          </a:xfrm>
          <a:prstGeom prst="straightConnector1">
            <a:avLst/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9" name="Google Shape;169;g2738aae21b7_0_1"/>
          <p:cNvCxnSpPr>
            <a:endCxn id="170" idx="1"/>
          </p:cNvCxnSpPr>
          <p:nvPr/>
        </p:nvCxnSpPr>
        <p:spPr>
          <a:xfrm>
            <a:off x="6475162" y="3941851"/>
            <a:ext cx="2134200" cy="1127100"/>
          </a:xfrm>
          <a:prstGeom prst="straightConnector1">
            <a:avLst/>
          </a:prstGeom>
          <a:noFill/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g2738aae21b7_0_1"/>
          <p:cNvSpPr/>
          <p:nvPr/>
        </p:nvSpPr>
        <p:spPr>
          <a:xfrm>
            <a:off x="2511187" y="4779265"/>
            <a:ext cx="1011461" cy="57937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テーブルX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2738aae21b7_0_1"/>
          <p:cNvSpPr/>
          <p:nvPr/>
        </p:nvSpPr>
        <p:spPr>
          <a:xfrm>
            <a:off x="5467264" y="3519910"/>
            <a:ext cx="1008407" cy="57937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テーブル</a:t>
            </a:r>
            <a:r>
              <a:rPr lang="en-US" altLang="ja-JP" dirty="0">
                <a:solidFill>
                  <a:schemeClr val="dk1"/>
                </a:solidFill>
              </a:rPr>
              <a:t>X’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2738aae21b7_0_1"/>
          <p:cNvSpPr/>
          <p:nvPr/>
        </p:nvSpPr>
        <p:spPr>
          <a:xfrm>
            <a:off x="8609362" y="4779265"/>
            <a:ext cx="967484" cy="57937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テーブル</a:t>
            </a:r>
            <a:r>
              <a:rPr lang="en-US" altLang="ja-JP" dirty="0">
                <a:solidFill>
                  <a:schemeClr val="dk1"/>
                </a:solidFill>
              </a:rPr>
              <a:t>X’’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2738aae21b7_0_1"/>
          <p:cNvSpPr/>
          <p:nvPr/>
        </p:nvSpPr>
        <p:spPr>
          <a:xfrm>
            <a:off x="3971019" y="4352475"/>
            <a:ext cx="2013429" cy="10301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②Ⅰのツールを使って</a:t>
            </a:r>
            <a:r>
              <a:rPr lang="en-US" altLang="ja-JP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80_</a:t>
            </a:r>
            <a:r>
              <a:rPr lang="ja-JP" alt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＜既存⇔</a:t>
            </a:r>
            <a:r>
              <a:rPr lang="en" altLang="ja-JP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SCARE</a:t>
            </a:r>
            <a:r>
              <a:rPr lang="ja-JP" alt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＞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データ共有</a:t>
            </a:r>
            <a:r>
              <a:rPr lang="ja-JP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上にテーブル</a:t>
            </a:r>
            <a:r>
              <a:rPr lang="en-US" altLang="ja-JP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ja-JP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をコピー</a:t>
            </a:r>
            <a:endParaRPr dirty="0"/>
          </a:p>
        </p:txBody>
      </p:sp>
      <p:sp>
        <p:nvSpPr>
          <p:cNvPr id="173" name="Google Shape;173;g2738aae21b7_0_1"/>
          <p:cNvSpPr/>
          <p:nvPr/>
        </p:nvSpPr>
        <p:spPr>
          <a:xfrm>
            <a:off x="606575" y="705927"/>
            <a:ext cx="11166326" cy="96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itchFamily="2" charset="2"/>
              <a:buChar char="l"/>
            </a:pPr>
            <a:r>
              <a:rPr lang="ja-JP" alt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データコピー用ツールを使って、該当テーブルを２段階でコピーしてデータ連携を行います。（全体イメージは下図）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itchFamily="2" charset="2"/>
              <a:buChar char="l"/>
            </a:pPr>
            <a:r>
              <a:rPr lang="ja-JP" altLang="en-US">
                <a:solidFill>
                  <a:schemeClr val="dk1"/>
                </a:solidFill>
              </a:rPr>
              <a:t>手順</a:t>
            </a:r>
            <a:r>
              <a:rPr lang="en-US" altLang="ja-JP" dirty="0">
                <a:solidFill>
                  <a:schemeClr val="dk1"/>
                </a:solidFill>
              </a:rPr>
              <a:t>①</a:t>
            </a:r>
            <a:r>
              <a:rPr lang="ja-JP" altLang="en-US">
                <a:solidFill>
                  <a:schemeClr val="dk1"/>
                </a:solidFill>
              </a:rPr>
              <a:t>、</a:t>
            </a:r>
            <a:r>
              <a:rPr lang="en-US" altLang="ja-JP" dirty="0">
                <a:solidFill>
                  <a:schemeClr val="dk1"/>
                </a:solidFill>
              </a:rPr>
              <a:t>②</a:t>
            </a:r>
            <a:r>
              <a:rPr lang="ja-JP" altLang="en-US">
                <a:solidFill>
                  <a:schemeClr val="dk1"/>
                </a:solidFill>
              </a:rPr>
              <a:t>は</a:t>
            </a:r>
            <a:r>
              <a:rPr lang="en-US" altLang="ja-JP" dirty="0">
                <a:solidFill>
                  <a:schemeClr val="dk1"/>
                </a:solidFill>
              </a:rPr>
              <a:t>SCARE</a:t>
            </a:r>
            <a:r>
              <a:rPr lang="ja-JP" altLang="en-US">
                <a:solidFill>
                  <a:schemeClr val="dk1"/>
                </a:solidFill>
              </a:rPr>
              <a:t>スペースのシステム管理者が作業、手順</a:t>
            </a:r>
            <a:r>
              <a:rPr lang="en-US" altLang="ja-JP" dirty="0">
                <a:solidFill>
                  <a:schemeClr val="dk1"/>
                </a:solidFill>
              </a:rPr>
              <a:t>③</a:t>
            </a:r>
            <a:r>
              <a:rPr lang="ja-JP" altLang="en-US">
                <a:solidFill>
                  <a:schemeClr val="dk1"/>
                </a:solidFill>
              </a:rPr>
              <a:t>、</a:t>
            </a:r>
            <a:r>
              <a:rPr lang="en-US" altLang="ja-JP" dirty="0">
                <a:solidFill>
                  <a:schemeClr val="dk1"/>
                </a:solidFill>
              </a:rPr>
              <a:t>④</a:t>
            </a:r>
            <a:r>
              <a:rPr lang="ja-JP" altLang="en-US">
                <a:solidFill>
                  <a:schemeClr val="dk1"/>
                </a:solidFill>
              </a:rPr>
              <a:t>は</a:t>
            </a:r>
            <a:r>
              <a:rPr lang="en-US" altLang="ja-JP" dirty="0">
                <a:solidFill>
                  <a:schemeClr val="dk1"/>
                </a:solidFill>
              </a:rPr>
              <a:t>JOY</a:t>
            </a:r>
            <a:r>
              <a:rPr lang="ja-JP" altLang="en-US">
                <a:solidFill>
                  <a:schemeClr val="dk1"/>
                </a:solidFill>
              </a:rPr>
              <a:t>管理者が作業します。</a:t>
            </a:r>
            <a:endParaRPr lang="en-US" altLang="ja-JP" dirty="0">
              <a:solidFill>
                <a:schemeClr val="dk1"/>
              </a:solidFill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itchFamily="2" charset="2"/>
              <a:buChar char="l"/>
            </a:pPr>
            <a:r>
              <a:rPr lang="en-US" dirty="0" err="1">
                <a:solidFill>
                  <a:schemeClr val="dk1"/>
                </a:solidFill>
              </a:rPr>
              <a:t>自動連携とする場合、スケジュール設定を行います</a:t>
            </a:r>
            <a:r>
              <a:rPr lang="en-US" dirty="0">
                <a:solidFill>
                  <a:schemeClr val="dk1"/>
                </a:solidFill>
              </a:rPr>
              <a:t>。②</a:t>
            </a:r>
            <a:r>
              <a:rPr lang="en-US" dirty="0" err="1">
                <a:solidFill>
                  <a:schemeClr val="dk1"/>
                </a:solidFill>
              </a:rPr>
              <a:t>をSCARE側</a:t>
            </a:r>
            <a:r>
              <a:rPr lang="en-US" dirty="0">
                <a:solidFill>
                  <a:schemeClr val="dk1"/>
                </a:solidFill>
              </a:rPr>
              <a:t>、④</a:t>
            </a:r>
            <a:r>
              <a:rPr lang="en-US" dirty="0" err="1">
                <a:solidFill>
                  <a:schemeClr val="dk1"/>
                </a:solidFill>
              </a:rPr>
              <a:t>をJOY側で設定します。JOY側はテーブルX’が更新されたらビルド実行</a:t>
            </a:r>
            <a:r>
              <a:rPr lang="en-US" dirty="0">
                <a:solidFill>
                  <a:schemeClr val="dk1"/>
                </a:solidFill>
              </a:rPr>
              <a:t>（</a:t>
            </a:r>
            <a:r>
              <a:rPr lang="en" altLang="ja-JP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When specific resource(s) update</a:t>
            </a:r>
            <a:r>
              <a:rPr lang="ja-JP" alt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）を設定します。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2738aae21b7_0_1"/>
          <p:cNvSpPr/>
          <p:nvPr/>
        </p:nvSpPr>
        <p:spPr>
          <a:xfrm>
            <a:off x="870802" y="1963727"/>
            <a:ext cx="7634492" cy="579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＜データ連携のイメージ＞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2738aae21b7_0_1"/>
          <p:cNvSpPr/>
          <p:nvPr/>
        </p:nvSpPr>
        <p:spPr>
          <a:xfrm>
            <a:off x="6570267" y="3231110"/>
            <a:ext cx="1008407" cy="59171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Ⅰデータコピー用ツール</a:t>
            </a:r>
            <a:endParaRPr/>
          </a:p>
        </p:txBody>
      </p:sp>
      <p:sp>
        <p:nvSpPr>
          <p:cNvPr id="176" name="Google Shape;176;g2738aae21b7_0_1"/>
          <p:cNvSpPr/>
          <p:nvPr/>
        </p:nvSpPr>
        <p:spPr>
          <a:xfrm>
            <a:off x="6276614" y="4346472"/>
            <a:ext cx="2181002" cy="5793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4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④Ⅱ</a:t>
            </a:r>
            <a:r>
              <a:rPr lang="ja-JP" altLang="en-US" sz="1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のツールを使って</a:t>
            </a:r>
            <a:r>
              <a:rPr lang="en" altLang="ja-JP" sz="14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01_c20_SCARE_ALL</a:t>
            </a:r>
            <a:r>
              <a:rPr lang="ja-JP" altLang="en-US" sz="1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にテーブルをコピー</a:t>
            </a:r>
            <a:endParaRPr lang="ja-JP" altLang="en-US" dirty="0"/>
          </a:p>
        </p:txBody>
      </p:sp>
      <p:sp>
        <p:nvSpPr>
          <p:cNvPr id="177" name="Google Shape;177;g2738aae21b7_0_1"/>
          <p:cNvSpPr/>
          <p:nvPr/>
        </p:nvSpPr>
        <p:spPr>
          <a:xfrm>
            <a:off x="9680812" y="4766924"/>
            <a:ext cx="1079153" cy="591713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Ⅱデータコピー用ツール</a:t>
            </a:r>
            <a:endParaRPr/>
          </a:p>
        </p:txBody>
      </p:sp>
      <p:sp>
        <p:nvSpPr>
          <p:cNvPr id="178" name="Google Shape;178;g2738aae21b7_0_1"/>
          <p:cNvSpPr/>
          <p:nvPr/>
        </p:nvSpPr>
        <p:spPr>
          <a:xfrm>
            <a:off x="1733797" y="2859600"/>
            <a:ext cx="3243828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①80_</a:t>
            </a:r>
            <a:r>
              <a:rPr lang="ja-JP" alt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＜既存⇔</a:t>
            </a:r>
            <a:r>
              <a:rPr lang="en-US" altLang="ja-JP" sz="1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SCARE</a:t>
            </a:r>
            <a:r>
              <a:rPr lang="ja-JP" altLang="en-US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＞データ共有上から</a:t>
            </a:r>
            <a:r>
              <a:rPr lang="ja-JP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テーブルXにリファレンスを追加する（初回のみ）</a:t>
            </a:r>
            <a:endParaRPr dirty="0"/>
          </a:p>
        </p:txBody>
      </p:sp>
      <p:sp>
        <p:nvSpPr>
          <p:cNvPr id="179" name="Google Shape;179;g2738aae21b7_0_1"/>
          <p:cNvSpPr/>
          <p:nvPr/>
        </p:nvSpPr>
        <p:spPr>
          <a:xfrm>
            <a:off x="7718637" y="2951175"/>
            <a:ext cx="2134200" cy="72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r>
              <a:rPr lang="en-US" altLang="ja-JP" sz="14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01_c20_SCARE_ALL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からテーブルYにリファレンスを追加する（初回のみ）</a:t>
            </a:r>
            <a:endParaRPr dirty="0"/>
          </a:p>
        </p:txBody>
      </p:sp>
      <p:sp>
        <p:nvSpPr>
          <p:cNvPr id="180" name="Google Shape;180;g2738aae21b7_0_1"/>
          <p:cNvSpPr/>
          <p:nvPr/>
        </p:nvSpPr>
        <p:spPr>
          <a:xfrm>
            <a:off x="4499642" y="5595588"/>
            <a:ext cx="3325869" cy="579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共通Namespaceは両環境からアクセス出来る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マスター">
  <a:themeElements>
    <a:clrScheme name="Gnavi">
      <a:dk1>
        <a:srgbClr val="000000"/>
      </a:dk1>
      <a:lt1>
        <a:srgbClr val="FFFFFF"/>
      </a:lt1>
      <a:dk2>
        <a:srgbClr val="DC0012"/>
      </a:dk2>
      <a:lt2>
        <a:srgbClr val="FFD4CC"/>
      </a:lt2>
      <a:accent1>
        <a:srgbClr val="EDEBE6"/>
      </a:accent1>
      <a:accent2>
        <a:srgbClr val="DFDCD3"/>
      </a:accent2>
      <a:accent3>
        <a:srgbClr val="000000"/>
      </a:accent3>
      <a:accent4>
        <a:srgbClr val="757575"/>
      </a:accent4>
      <a:accent5>
        <a:srgbClr val="C2C2C2"/>
      </a:accent5>
      <a:accent6>
        <a:srgbClr val="E0E0E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228</Words>
  <Application>Microsoft Macintosh PowerPoint</Application>
  <PresentationFormat>ワイド画面</PresentationFormat>
  <Paragraphs>25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</vt:lpstr>
      <vt:lpstr>Arial</vt:lpstr>
      <vt:lpstr>Times New Roman</vt:lpstr>
      <vt:lpstr>Wingdings</vt:lpstr>
      <vt:lpstr>マスター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喜田 亜紀子</cp:lastModifiedBy>
  <cp:revision>3</cp:revision>
  <dcterms:modified xsi:type="dcterms:W3CDTF">2025-02-19T02:14:34Z</dcterms:modified>
</cp:coreProperties>
</file>