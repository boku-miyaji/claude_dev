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60" r:id="rId2"/>
    <p:sldId id="261" r:id="rId3"/>
    <p:sldId id="257" r:id="rId4"/>
    <p:sldId id="259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9">
          <p15:clr>
            <a:srgbClr val="A4A3A4"/>
          </p15:clr>
        </p15:guide>
        <p15:guide id="2" pos="3840">
          <p15:clr>
            <a:srgbClr val="A4A3A4"/>
          </p15:clr>
        </p15:guide>
        <p15:guide id="3" pos="1028">
          <p15:clr>
            <a:srgbClr val="A4A3A4"/>
          </p15:clr>
        </p15:guide>
        <p15:guide id="4" pos="6652">
          <p15:clr>
            <a:srgbClr val="A4A3A4"/>
          </p15:clr>
        </p15:guide>
        <p15:guide id="5" pos="7469">
          <p15:clr>
            <a:srgbClr val="A4A3A4"/>
          </p15:clr>
        </p15:guide>
        <p15:guide id="6" orient="horz" pos="2160">
          <p15:clr>
            <a:srgbClr val="A4A3A4"/>
          </p15:clr>
        </p15:guide>
        <p15:guide id="7" orient="horz" pos="3657">
          <p15:clr>
            <a:srgbClr val="A4A3A4"/>
          </p15:clr>
        </p15:guide>
        <p15:guide id="8" pos="3727">
          <p15:clr>
            <a:srgbClr val="A4A3A4"/>
          </p15:clr>
        </p15:guide>
        <p15:guide id="9" pos="3953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46Dc3/acxmUFnLm9RyrFb+wwu9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35CBF1E-193F-52A9-59A5-8446E26454AD}" name="長谷川 智一" initials="長智" userId="Ouu4OP1sGc4VmXvfMl11n9pmcA3hRjv4GOdQDiKtt9E=" providerId="None"/>
  <p188:author id="{71E091D8-1BB6-3B58-8D7D-AA28695AD35D}" name="佐藤 正子" initials="佐正" userId="bY8KljbKmKZFQkYPxDXqR+3eSh0QaA9O3uPZej61eNw=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0"/>
    <p:restoredTop sz="94718"/>
  </p:normalViewPr>
  <p:slideViewPr>
    <p:cSldViewPr snapToGrid="0">
      <p:cViewPr varScale="1">
        <p:scale>
          <a:sx n="117" d="100"/>
          <a:sy n="117" d="100"/>
        </p:scale>
        <p:origin x="424" y="168"/>
      </p:cViewPr>
      <p:guideLst>
        <p:guide orient="horz" pos="799"/>
        <p:guide pos="3840"/>
        <p:guide pos="1028"/>
        <p:guide pos="6652"/>
        <p:guide pos="7469"/>
        <p:guide orient="horz" pos="2160"/>
        <p:guide orient="horz" pos="3657"/>
        <p:guide pos="3727"/>
        <p:guide pos="39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9" name="Google Shape;11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738aae21b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2738aae21b7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6" name="Google Shape;216;g2738aae21b7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A">
  <p:cSld name="タイトルのみA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7" name="Google Shape;17;p27"/>
          <p:cNvSpPr txBox="1">
            <a:spLocks noGrp="1"/>
          </p:cNvSpPr>
          <p:nvPr>
            <p:ph type="body" idx="1"/>
          </p:nvPr>
        </p:nvSpPr>
        <p:spPr>
          <a:xfrm>
            <a:off x="1675942" y="1281546"/>
            <a:ext cx="8861429" cy="44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body" idx="2"/>
          </p:nvPr>
        </p:nvSpPr>
        <p:spPr>
          <a:xfrm>
            <a:off x="107983" y="105075"/>
            <a:ext cx="93660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9" name="Google Shape;19;p27"/>
          <p:cNvCxnSpPr/>
          <p:nvPr/>
        </p:nvCxnSpPr>
        <p:spPr>
          <a:xfrm>
            <a:off x="12000" y="491996"/>
            <a:ext cx="12168000" cy="1530"/>
          </a:xfrm>
          <a:prstGeom prst="straightConnector1">
            <a:avLst/>
          </a:prstGeom>
          <a:solidFill>
            <a:srgbClr val="FF0000"/>
          </a:solidFill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スライドタイトル_社外秘">
  <p:cSld name="スライドタイトル_社外秘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29"/>
          <p:cNvCxnSpPr/>
          <p:nvPr/>
        </p:nvCxnSpPr>
        <p:spPr>
          <a:xfrm>
            <a:off x="5577974" y="3368872"/>
            <a:ext cx="1036052" cy="0"/>
          </a:xfrm>
          <a:prstGeom prst="straightConnector1">
            <a:avLst/>
          </a:prstGeom>
          <a:solidFill>
            <a:srgbClr val="FF0000"/>
          </a:solidFill>
          <a:ln w="9525" cap="flat" cmpd="sng">
            <a:solidFill>
              <a:srgbClr val="CD002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29"/>
          <p:cNvSpPr txBox="1">
            <a:spLocks noGrp="1"/>
          </p:cNvSpPr>
          <p:nvPr>
            <p:ph type="subTitle" idx="1"/>
          </p:nvPr>
        </p:nvSpPr>
        <p:spPr>
          <a:xfrm>
            <a:off x="914400" y="3678390"/>
            <a:ext cx="10363200" cy="333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title"/>
          </p:nvPr>
        </p:nvSpPr>
        <p:spPr>
          <a:xfrm>
            <a:off x="952500" y="2420895"/>
            <a:ext cx="10287002" cy="63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29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CC0022"/>
                </a:solidFill>
                <a:latin typeface="Arial"/>
                <a:ea typeface="Arial"/>
                <a:cs typeface="Arial"/>
                <a:sym typeface="Arial"/>
              </a:rPr>
              <a:t>社外秘</a:t>
            </a:r>
            <a:endParaRPr sz="1000" b="0" i="0" u="none" strike="noStrike" cap="none">
              <a:solidFill>
                <a:srgbClr val="CC00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29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5195969" y="6186594"/>
            <a:ext cx="1800062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スライドタイトル_関係者外秘">
  <p:cSld name="スライドタイトル_関係者外秘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30"/>
          <p:cNvCxnSpPr/>
          <p:nvPr/>
        </p:nvCxnSpPr>
        <p:spPr>
          <a:xfrm>
            <a:off x="5577974" y="3368872"/>
            <a:ext cx="1036052" cy="0"/>
          </a:xfrm>
          <a:prstGeom prst="straightConnector1">
            <a:avLst/>
          </a:prstGeom>
          <a:solidFill>
            <a:srgbClr val="FF0000"/>
          </a:solidFill>
          <a:ln w="9525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30"/>
          <p:cNvSpPr txBox="1">
            <a:spLocks noGrp="1"/>
          </p:cNvSpPr>
          <p:nvPr>
            <p:ph type="subTitle" idx="1"/>
          </p:nvPr>
        </p:nvSpPr>
        <p:spPr>
          <a:xfrm>
            <a:off x="914400" y="3678390"/>
            <a:ext cx="10363200" cy="333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title"/>
          </p:nvPr>
        </p:nvSpPr>
        <p:spPr>
          <a:xfrm>
            <a:off x="952500" y="2420895"/>
            <a:ext cx="10287002" cy="63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30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000" b="0" i="0" u="none" strike="noStrike" cap="none">
                <a:solidFill>
                  <a:srgbClr val="CC0022"/>
                </a:solidFill>
                <a:latin typeface="Arial"/>
                <a:ea typeface="Arial"/>
                <a:cs typeface="Arial"/>
                <a:sym typeface="Arial"/>
              </a:rPr>
              <a:t>関係者外秘</a:t>
            </a:r>
            <a:endParaRPr sz="1000" b="0" i="0" u="none" strike="noStrike" cap="none">
              <a:solidFill>
                <a:srgbClr val="CC00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30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5195969" y="6186594"/>
            <a:ext cx="1800062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A">
  <p:cSld name="セクション見出しA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1"/>
          <p:cNvSpPr/>
          <p:nvPr/>
        </p:nvSpPr>
        <p:spPr>
          <a:xfrm>
            <a:off x="0" y="0"/>
            <a:ext cx="12189046" cy="6315000"/>
          </a:xfrm>
          <a:prstGeom prst="rect">
            <a:avLst/>
          </a:prstGeom>
          <a:solidFill>
            <a:srgbClr val="CC00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title"/>
          </p:nvPr>
        </p:nvSpPr>
        <p:spPr>
          <a:xfrm>
            <a:off x="951761" y="2276873"/>
            <a:ext cx="10285524" cy="174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6" name="Google Shape;36;p31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A_社外秘">
  <p:cSld name="セクション見出しA_社外秘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/>
          <p:nvPr/>
        </p:nvSpPr>
        <p:spPr>
          <a:xfrm>
            <a:off x="0" y="0"/>
            <a:ext cx="12189046" cy="6315000"/>
          </a:xfrm>
          <a:prstGeom prst="rect">
            <a:avLst/>
          </a:prstGeom>
          <a:solidFill>
            <a:srgbClr val="CC00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title"/>
          </p:nvPr>
        </p:nvSpPr>
        <p:spPr>
          <a:xfrm>
            <a:off x="951761" y="2276873"/>
            <a:ext cx="10285524" cy="174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32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社外秘</a:t>
            </a: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32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A_関係者外秘">
  <p:cSld name="セクション見出しA_関係者外秘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3"/>
          <p:cNvSpPr/>
          <p:nvPr/>
        </p:nvSpPr>
        <p:spPr>
          <a:xfrm>
            <a:off x="0" y="0"/>
            <a:ext cx="12189046" cy="6315142"/>
          </a:xfrm>
          <a:prstGeom prst="rect">
            <a:avLst/>
          </a:prstGeom>
          <a:solidFill>
            <a:srgbClr val="CC00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33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6" name="Google Shape;46;p33"/>
          <p:cNvSpPr txBox="1"/>
          <p:nvPr/>
        </p:nvSpPr>
        <p:spPr>
          <a:xfrm>
            <a:off x="13033041" y="304800"/>
            <a:ext cx="227361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7" name="Google Shape;47;p33"/>
          <p:cNvSpPr txBox="1">
            <a:spLocks noGrp="1"/>
          </p:cNvSpPr>
          <p:nvPr>
            <p:ph type="title"/>
          </p:nvPr>
        </p:nvSpPr>
        <p:spPr>
          <a:xfrm>
            <a:off x="951761" y="2276873"/>
            <a:ext cx="10285524" cy="174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33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関係者外秘</a:t>
            </a: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33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B_社外秘">
  <p:cSld name="セクション見出しB_社外秘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/>
          <p:nvPr/>
        </p:nvSpPr>
        <p:spPr>
          <a:xfrm>
            <a:off x="0" y="1988840"/>
            <a:ext cx="12189046" cy="2324604"/>
          </a:xfrm>
          <a:prstGeom prst="rect">
            <a:avLst/>
          </a:prstGeom>
          <a:solidFill>
            <a:srgbClr val="CC00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34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title"/>
          </p:nvPr>
        </p:nvSpPr>
        <p:spPr>
          <a:xfrm>
            <a:off x="951761" y="2276873"/>
            <a:ext cx="10285524" cy="174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34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CC0022"/>
                </a:solidFill>
                <a:latin typeface="Arial"/>
                <a:ea typeface="Arial"/>
                <a:cs typeface="Arial"/>
                <a:sym typeface="Arial"/>
              </a:rPr>
              <a:t>社外秘</a:t>
            </a:r>
            <a:endParaRPr sz="1000" b="0" i="0" u="none" strike="noStrike" cap="none">
              <a:solidFill>
                <a:srgbClr val="CC00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34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B_関係者外秘">
  <p:cSld name="1_セクション見出しB_関係者外秘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5"/>
          <p:cNvSpPr/>
          <p:nvPr/>
        </p:nvSpPr>
        <p:spPr>
          <a:xfrm>
            <a:off x="0" y="1988840"/>
            <a:ext cx="12189046" cy="2324604"/>
          </a:xfrm>
          <a:prstGeom prst="rect">
            <a:avLst/>
          </a:prstGeom>
          <a:solidFill>
            <a:srgbClr val="CC00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35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951761" y="2276873"/>
            <a:ext cx="10285524" cy="174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35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CC0022"/>
                </a:solidFill>
                <a:latin typeface="Arial"/>
                <a:ea typeface="Arial"/>
                <a:cs typeface="Arial"/>
                <a:sym typeface="Arial"/>
              </a:rPr>
              <a:t>関係者外秘</a:t>
            </a:r>
            <a:endParaRPr sz="1000" b="0" i="0" u="none" strike="noStrike" cap="none">
              <a:solidFill>
                <a:srgbClr val="CC00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35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A_社外秘">
  <p:cSld name="タイトルのみA_社外秘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6"/>
          <p:cNvSpPr/>
          <p:nvPr/>
        </p:nvSpPr>
        <p:spPr>
          <a:xfrm>
            <a:off x="0" y="-9100"/>
            <a:ext cx="12192000" cy="720000"/>
          </a:xfrm>
          <a:prstGeom prst="rect">
            <a:avLst/>
          </a:prstGeom>
          <a:solidFill>
            <a:srgbClr val="CC00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36"/>
          <p:cNvSpPr txBox="1">
            <a:spLocks noGrp="1"/>
          </p:cNvSpPr>
          <p:nvPr>
            <p:ph type="body" idx="1"/>
          </p:nvPr>
        </p:nvSpPr>
        <p:spPr>
          <a:xfrm>
            <a:off x="1413000" y="158343"/>
            <a:ext cx="9124371" cy="410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36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66" name="Google Shape;66;p36"/>
          <p:cNvSpPr txBox="1">
            <a:spLocks noGrp="1"/>
          </p:cNvSpPr>
          <p:nvPr>
            <p:ph type="body" idx="2"/>
          </p:nvPr>
        </p:nvSpPr>
        <p:spPr>
          <a:xfrm>
            <a:off x="1675942" y="1281546"/>
            <a:ext cx="8861429" cy="4479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36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社外秘</a:t>
            </a: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36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A_関係者外秘">
  <p:cSld name="タイトルのみA_関係者外秘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7"/>
          <p:cNvSpPr txBox="1">
            <a:spLocks noGrp="1"/>
          </p:cNvSpPr>
          <p:nvPr>
            <p:ph type="body" idx="1"/>
          </p:nvPr>
        </p:nvSpPr>
        <p:spPr>
          <a:xfrm>
            <a:off x="1675942" y="1281546"/>
            <a:ext cx="8861429" cy="4479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72" name="Google Shape;72;p37"/>
          <p:cNvSpPr/>
          <p:nvPr/>
        </p:nvSpPr>
        <p:spPr>
          <a:xfrm>
            <a:off x="0" y="-12700"/>
            <a:ext cx="12192000" cy="723600"/>
          </a:xfrm>
          <a:prstGeom prst="rect">
            <a:avLst/>
          </a:prstGeom>
          <a:solidFill>
            <a:srgbClr val="CC00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37"/>
          <p:cNvSpPr txBox="1">
            <a:spLocks noGrp="1"/>
          </p:cNvSpPr>
          <p:nvPr>
            <p:ph type="body" idx="2"/>
          </p:nvPr>
        </p:nvSpPr>
        <p:spPr>
          <a:xfrm>
            <a:off x="1412999" y="158343"/>
            <a:ext cx="9124371" cy="410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37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関係者外秘</a:t>
            </a: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37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B">
  <p:cSld name="タイトルのみB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8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78" name="Google Shape;78;p38"/>
          <p:cNvCxnSpPr/>
          <p:nvPr/>
        </p:nvCxnSpPr>
        <p:spPr>
          <a:xfrm>
            <a:off x="332310" y="718325"/>
            <a:ext cx="11527385" cy="1530"/>
          </a:xfrm>
          <a:prstGeom prst="straightConnector1">
            <a:avLst/>
          </a:prstGeom>
          <a:solidFill>
            <a:srgbClr val="FF0000"/>
          </a:solidFill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" name="Google Shape;79;p38"/>
          <p:cNvSpPr txBox="1">
            <a:spLocks noGrp="1"/>
          </p:cNvSpPr>
          <p:nvPr>
            <p:ph type="body" idx="1"/>
          </p:nvPr>
        </p:nvSpPr>
        <p:spPr>
          <a:xfrm>
            <a:off x="1675942" y="1281546"/>
            <a:ext cx="8861429" cy="44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38"/>
          <p:cNvSpPr txBox="1">
            <a:spLocks noGrp="1"/>
          </p:cNvSpPr>
          <p:nvPr>
            <p:ph type="body" idx="2"/>
          </p:nvPr>
        </p:nvSpPr>
        <p:spPr>
          <a:xfrm>
            <a:off x="1413001" y="188640"/>
            <a:ext cx="93660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1" name="Google Shape;81;p38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B_社外秘">
  <p:cSld name="1_タイトルのみB_社外秘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9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84" name="Google Shape;84;p39"/>
          <p:cNvCxnSpPr/>
          <p:nvPr/>
        </p:nvCxnSpPr>
        <p:spPr>
          <a:xfrm>
            <a:off x="332310" y="718325"/>
            <a:ext cx="11527385" cy="1530"/>
          </a:xfrm>
          <a:prstGeom prst="straightConnector1">
            <a:avLst/>
          </a:prstGeom>
          <a:solidFill>
            <a:srgbClr val="FF0000"/>
          </a:solidFill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" name="Google Shape;85;p39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CC0022"/>
                </a:solidFill>
                <a:latin typeface="Arial"/>
                <a:ea typeface="Arial"/>
                <a:cs typeface="Arial"/>
                <a:sym typeface="Arial"/>
              </a:rPr>
              <a:t>社外秘</a:t>
            </a:r>
            <a:endParaRPr sz="1000" b="0" i="0" u="none" strike="noStrike" cap="none">
              <a:solidFill>
                <a:srgbClr val="CC00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9"/>
          <p:cNvSpPr txBox="1">
            <a:spLocks noGrp="1"/>
          </p:cNvSpPr>
          <p:nvPr>
            <p:ph type="body" idx="1"/>
          </p:nvPr>
        </p:nvSpPr>
        <p:spPr>
          <a:xfrm>
            <a:off x="1675942" y="1281546"/>
            <a:ext cx="8861429" cy="44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body" idx="2"/>
          </p:nvPr>
        </p:nvSpPr>
        <p:spPr>
          <a:xfrm>
            <a:off x="1413000" y="188640"/>
            <a:ext cx="9124371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8" name="Google Shape;88;p39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B_関係者外秘">
  <p:cSld name="タイトルのみB_関係者外秘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0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91" name="Google Shape;91;p40"/>
          <p:cNvCxnSpPr/>
          <p:nvPr/>
        </p:nvCxnSpPr>
        <p:spPr>
          <a:xfrm>
            <a:off x="332310" y="718325"/>
            <a:ext cx="11527385" cy="1530"/>
          </a:xfrm>
          <a:prstGeom prst="straightConnector1">
            <a:avLst/>
          </a:prstGeom>
          <a:solidFill>
            <a:srgbClr val="FF0000"/>
          </a:solidFill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40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CC0022"/>
                </a:solidFill>
                <a:latin typeface="Arial"/>
                <a:ea typeface="Arial"/>
                <a:cs typeface="Arial"/>
                <a:sym typeface="Arial"/>
              </a:rPr>
              <a:t>関係者外秘</a:t>
            </a:r>
            <a:endParaRPr sz="1000" b="0" i="0" u="none" strike="noStrike" cap="none">
              <a:solidFill>
                <a:srgbClr val="CC00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0"/>
          <p:cNvSpPr txBox="1">
            <a:spLocks noGrp="1"/>
          </p:cNvSpPr>
          <p:nvPr>
            <p:ph type="body" idx="1"/>
          </p:nvPr>
        </p:nvSpPr>
        <p:spPr>
          <a:xfrm>
            <a:off x="1675942" y="1281546"/>
            <a:ext cx="8861429" cy="44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body" idx="2"/>
          </p:nvPr>
        </p:nvSpPr>
        <p:spPr>
          <a:xfrm>
            <a:off x="1413000" y="188640"/>
            <a:ext cx="9124371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5" name="Google Shape;95;p40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タイトルなし_社外秘">
  <p:cSld name="1_タイトルなし_社外秘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2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02" name="Google Shape;102;p42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CC0022"/>
                </a:solidFill>
                <a:latin typeface="Arial"/>
                <a:ea typeface="Arial"/>
                <a:cs typeface="Arial"/>
                <a:sym typeface="Arial"/>
              </a:rPr>
              <a:t>社外秘</a:t>
            </a:r>
            <a:endParaRPr sz="1000" b="0" i="0" u="none" strike="noStrike" cap="none">
              <a:solidFill>
                <a:srgbClr val="CC00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2"/>
          <p:cNvSpPr txBox="1">
            <a:spLocks noGrp="1"/>
          </p:cNvSpPr>
          <p:nvPr>
            <p:ph type="body" idx="1"/>
          </p:nvPr>
        </p:nvSpPr>
        <p:spPr>
          <a:xfrm>
            <a:off x="1675942" y="677158"/>
            <a:ext cx="8861429" cy="50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4" name="Google Shape;104;p42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なし_関係者外秘">
  <p:cSld name="タイトルなし_関係者外秘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3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07" name="Google Shape;107;p43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CC0022"/>
                </a:solidFill>
                <a:latin typeface="Arial"/>
                <a:ea typeface="Arial"/>
                <a:cs typeface="Arial"/>
                <a:sym typeface="Arial"/>
              </a:rPr>
              <a:t>関係者外秘</a:t>
            </a:r>
            <a:endParaRPr sz="1000" b="0" i="0" u="none" strike="noStrike" cap="none">
              <a:solidFill>
                <a:srgbClr val="CC00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3"/>
          <p:cNvSpPr txBox="1">
            <a:spLocks noGrp="1"/>
          </p:cNvSpPr>
          <p:nvPr>
            <p:ph type="body" idx="1"/>
          </p:nvPr>
        </p:nvSpPr>
        <p:spPr>
          <a:xfrm>
            <a:off x="1675942" y="677158"/>
            <a:ext cx="8861429" cy="50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9" name="Google Shape;109;p43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4" r:id="rId14"/>
    <p:sldLayoutId id="2147483665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6F9C018-0372-71E6-8DE5-1F66AF2CA8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wrap="square" anchor="t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altLang="ja-JP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</a:t>
            </a:fld>
            <a:endParaRPr lang="ja-JP" altLang="en-US" sz="900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79BB8B0F-0FCA-AC96-05D1-78F3C01C0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Paxata代替</a:t>
            </a:r>
            <a:r>
              <a:rPr lang="en-US" dirty="0"/>
              <a:t> </a:t>
            </a:r>
            <a:r>
              <a:rPr lang="ja-JP" altLang="en-US"/>
              <a:t>プレパレーション環境の全体像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4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1">
            <a:extLst>
              <a:ext uri="{FF2B5EF4-FFF2-40B4-BE49-F238E27FC236}">
                <a16:creationId xmlns:a16="http://schemas.microsoft.com/office/drawing/2014/main" id="{820FB346-579D-158A-0864-67A90D6EA3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wrap="square" anchor="t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altLang="ja-JP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</a:t>
            </a:fld>
            <a:endParaRPr lang="ja-JP" altLang="en-US" sz="9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B0AA1C8-B398-1DF2-3A6F-6F5BA82D4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9077" y="1296078"/>
            <a:ext cx="8853845" cy="4479600"/>
          </a:xfrm>
        </p:spPr>
        <p:txBody>
          <a:bodyPr/>
          <a:lstStyle/>
          <a:p>
            <a:pPr marL="114300" indent="0">
              <a:buNone/>
            </a:pPr>
            <a:r>
              <a:rPr lang="ja-JP" altLang="en-US"/>
              <a:t>本資料の目的</a:t>
            </a:r>
            <a:endParaRPr lang="en-US" altLang="ja-JP" dirty="0"/>
          </a:p>
          <a:p>
            <a:pPr marL="114300" indent="0">
              <a:buNone/>
            </a:pPr>
            <a:r>
              <a:rPr lang="ja-JP" altLang="en-US"/>
              <a:t>　</a:t>
            </a:r>
            <a:r>
              <a:rPr lang="ja-JP" altLang="en-US" sz="1600"/>
              <a:t>本資料は、</a:t>
            </a:r>
            <a:r>
              <a:rPr lang="en-US" altLang="ja-JP" sz="1600" dirty="0"/>
              <a:t>JOY</a:t>
            </a:r>
            <a:r>
              <a:rPr lang="ja-JP" altLang="en-US" sz="1600"/>
              <a:t>で提供しているプレパレーションツール（</a:t>
            </a:r>
            <a:r>
              <a:rPr lang="en-US" altLang="ja-JP" sz="1600" dirty="0" err="1"/>
              <a:t>Paxata</a:t>
            </a:r>
            <a:r>
              <a:rPr lang="ja-JP" altLang="en-US" sz="1600"/>
              <a:t>）のサービス提供終了に伴い、代替ツールとして</a:t>
            </a:r>
            <a:r>
              <a:rPr lang="en-US" altLang="ja-JP" sz="1600" dirty="0"/>
              <a:t>Foundry</a:t>
            </a:r>
            <a:r>
              <a:rPr lang="ja-JP" altLang="en-US" sz="1600"/>
              <a:t>の</a:t>
            </a:r>
            <a:r>
              <a:rPr lang="en-US" altLang="ja-JP" sz="1600" dirty="0"/>
              <a:t>Pipeline Builder</a:t>
            </a:r>
            <a:r>
              <a:rPr lang="ja-JP" altLang="en-US" sz="1600"/>
              <a:t>を採用したことを踏まえ、</a:t>
            </a:r>
            <a:r>
              <a:rPr lang="en-US" altLang="ja-JP" sz="1600" dirty="0"/>
              <a:t>JOY</a:t>
            </a:r>
            <a:r>
              <a:rPr lang="ja-JP" altLang="en-US" sz="1600"/>
              <a:t>のプレパレーション環境を説明することを目的として、</a:t>
            </a:r>
            <a:r>
              <a:rPr lang="en-US" altLang="ja-JP" sz="1600" dirty="0"/>
              <a:t>JOY / Foundry</a:t>
            </a:r>
            <a:r>
              <a:rPr lang="ja-JP" altLang="en-US" sz="1600"/>
              <a:t>のシステム構成について整理したものです。</a:t>
            </a:r>
            <a:endParaRPr lang="en-US" altLang="ja-JP" sz="1600" dirty="0"/>
          </a:p>
          <a:p>
            <a:pPr marL="114300" indent="0">
              <a:buNone/>
            </a:pPr>
            <a:r>
              <a:rPr lang="en-US" altLang="ja-JP" sz="1600" dirty="0">
                <a:solidFill>
                  <a:schemeClr val="bg2"/>
                </a:solidFill>
              </a:rPr>
              <a:t>※Foundry</a:t>
            </a:r>
            <a:r>
              <a:rPr lang="ja-JP" altLang="en-US" sz="1600">
                <a:solidFill>
                  <a:schemeClr val="bg2"/>
                </a:solidFill>
              </a:rPr>
              <a:t>環境の構成などについて正確に記載したものではありません。</a:t>
            </a:r>
            <a:endParaRPr lang="en-US" altLang="ja-JP" sz="1600" dirty="0">
              <a:solidFill>
                <a:schemeClr val="bg2"/>
              </a:solidFill>
            </a:endParaRPr>
          </a:p>
          <a:p>
            <a:pPr marL="114300" indent="0">
              <a:buNone/>
            </a:pPr>
            <a:endParaRPr lang="en-US" altLang="ja-JP" dirty="0"/>
          </a:p>
          <a:p>
            <a:pPr marL="114300" indent="0">
              <a:buNone/>
            </a:pPr>
            <a:r>
              <a:rPr lang="ja-JP" altLang="en-US"/>
              <a:t>本資料の概要</a:t>
            </a:r>
            <a:endParaRPr lang="en-US" altLang="ja-JP" dirty="0"/>
          </a:p>
          <a:p>
            <a:pPr marL="114300" indent="0">
              <a:buNone/>
            </a:pPr>
            <a:r>
              <a:rPr lang="ja-JP" altLang="en-US" sz="1600"/>
              <a:t>・</a:t>
            </a:r>
            <a:r>
              <a:rPr lang="en" altLang="ja-JP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JOY</a:t>
            </a:r>
            <a:r>
              <a:rPr lang="en" altLang="ja-JP" sz="1600" dirty="0">
                <a:solidFill>
                  <a:schemeClr val="dk1"/>
                </a:solidFill>
              </a:rPr>
              <a:t> / </a:t>
            </a:r>
            <a:r>
              <a:rPr lang="en-US" altLang="ja-JP" sz="1600" dirty="0">
                <a:solidFill>
                  <a:schemeClr val="dk1"/>
                </a:solidFill>
              </a:rPr>
              <a:t>Foundry </a:t>
            </a:r>
            <a:r>
              <a:rPr lang="ja-JP" altLang="en-US" sz="1600">
                <a:solidFill>
                  <a:schemeClr val="dk1"/>
                </a:solidFill>
              </a:rPr>
              <a:t>の</a:t>
            </a:r>
            <a:r>
              <a:rPr lang="ja-JP" alt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システム構成</a:t>
            </a:r>
            <a:r>
              <a:rPr lang="ja-JP" altLang="en-US" sz="1600">
                <a:solidFill>
                  <a:schemeClr val="dk1"/>
                </a:solidFill>
              </a:rPr>
              <a:t>概要</a:t>
            </a:r>
            <a:r>
              <a:rPr lang="ja-JP" alt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</a:t>
            </a:r>
            <a:r>
              <a:rPr lang="ja-JP" altLang="en-US" sz="1600">
                <a:solidFill>
                  <a:schemeClr val="dk1"/>
                </a:solidFill>
              </a:rPr>
              <a:t>現状）</a:t>
            </a:r>
            <a:endParaRPr lang="en-US" altLang="ja-JP" sz="1600" dirty="0">
              <a:solidFill>
                <a:schemeClr val="dk1"/>
              </a:solidFill>
            </a:endParaRPr>
          </a:p>
          <a:p>
            <a:pPr marL="114300" indent="0">
              <a:buNone/>
            </a:pPr>
            <a:r>
              <a:rPr lang="ja-JP" altLang="en-US" sz="1600"/>
              <a:t>　</a:t>
            </a:r>
            <a:r>
              <a:rPr lang="en-US" altLang="ja-JP" sz="1400" dirty="0"/>
              <a:t>JOY</a:t>
            </a:r>
            <a:r>
              <a:rPr lang="ja-JP" altLang="en-US" sz="1400"/>
              <a:t>と既存</a:t>
            </a:r>
            <a:r>
              <a:rPr lang="en-US" altLang="ja-JP" sz="1400" dirty="0"/>
              <a:t>Foundry</a:t>
            </a:r>
            <a:r>
              <a:rPr lang="ja-JP" altLang="en-US" sz="1400"/>
              <a:t>環境におけるログイン経路やデータの流れなどについて記載しています。</a:t>
            </a:r>
            <a:endParaRPr lang="ja-JP" altLang="en" sz="1400">
              <a:solidFill>
                <a:schemeClr val="dk1"/>
              </a:solidFill>
            </a:endParaRPr>
          </a:p>
          <a:p>
            <a:pPr marL="114300" indent="0">
              <a:buNone/>
            </a:pPr>
            <a:r>
              <a:rPr lang="ja-JP" altLang="en-US" sz="1600"/>
              <a:t>・</a:t>
            </a:r>
            <a:r>
              <a:rPr lang="en-US" altLang="ja-JP" sz="1600" dirty="0">
                <a:solidFill>
                  <a:schemeClr val="dk1"/>
                </a:solidFill>
              </a:rPr>
              <a:t>JOY / Foundry </a:t>
            </a:r>
            <a:r>
              <a:rPr lang="ja-JP" altLang="ja-JP" sz="1600">
                <a:solidFill>
                  <a:schemeClr val="dk1"/>
                </a:solidFill>
              </a:rPr>
              <a:t>のシステム構成概要（</a:t>
            </a:r>
            <a:r>
              <a:rPr lang="ja-JP" altLang="en-US" sz="1600">
                <a:solidFill>
                  <a:schemeClr val="dk1"/>
                </a:solidFill>
              </a:rPr>
              <a:t>変更後：</a:t>
            </a:r>
            <a:r>
              <a:rPr lang="ja-JP" altLang="ja-JP" sz="1600">
                <a:solidFill>
                  <a:schemeClr val="tx1"/>
                </a:solidFill>
              </a:rPr>
              <a:t>Paxata代替 プレパレーション環境導入）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ja-JP" altLang="en-US" sz="1600">
                <a:solidFill>
                  <a:schemeClr val="tx1"/>
                </a:solidFill>
              </a:rPr>
              <a:t>　</a:t>
            </a:r>
            <a:r>
              <a:rPr lang="en-US" altLang="ja-JP" sz="1400" dirty="0">
                <a:solidFill>
                  <a:schemeClr val="tx1"/>
                </a:solidFill>
              </a:rPr>
              <a:t>JOY</a:t>
            </a:r>
            <a:r>
              <a:rPr lang="ja-JP" altLang="en-US" sz="1400">
                <a:solidFill>
                  <a:schemeClr val="tx1"/>
                </a:solidFill>
              </a:rPr>
              <a:t>と</a:t>
            </a:r>
            <a:r>
              <a:rPr lang="en-US" altLang="ja-JP" sz="1400" dirty="0" err="1">
                <a:solidFill>
                  <a:schemeClr val="tx1"/>
                </a:solidFill>
              </a:rPr>
              <a:t>Paxata</a:t>
            </a:r>
            <a:r>
              <a:rPr lang="ja-JP" altLang="en-US" sz="1400">
                <a:solidFill>
                  <a:schemeClr val="tx1"/>
                </a:solidFill>
              </a:rPr>
              <a:t>代替</a:t>
            </a:r>
            <a:r>
              <a:rPr lang="en-US" altLang="ja-JP" sz="1400" dirty="0">
                <a:solidFill>
                  <a:schemeClr val="tx1"/>
                </a:solidFill>
              </a:rPr>
              <a:t>Foundry</a:t>
            </a:r>
            <a:r>
              <a:rPr lang="ja-JP" altLang="en-US" sz="1400">
                <a:solidFill>
                  <a:schemeClr val="tx1"/>
                </a:solidFill>
              </a:rPr>
              <a:t>環境における</a:t>
            </a:r>
            <a:r>
              <a:rPr lang="ja-JP" altLang="en-US" sz="1400"/>
              <a:t>ログイン経路・データの流れや他の</a:t>
            </a:r>
            <a:r>
              <a:rPr lang="en-US" altLang="ja-JP" sz="1400" dirty="0"/>
              <a:t>Foundry</a:t>
            </a:r>
            <a:r>
              <a:rPr lang="ja-JP" altLang="en-US" sz="1400"/>
              <a:t>環境とのデータ受け渡しなどについて記載しています。</a:t>
            </a:r>
            <a:endParaRPr lang="ja-JP" altLang="en" sz="1400">
              <a:solidFill>
                <a:schemeClr val="dk1"/>
              </a:solidFill>
            </a:endParaRPr>
          </a:p>
          <a:p>
            <a:pPr marL="114300" indent="0">
              <a:buNone/>
            </a:pPr>
            <a:endParaRPr lang="ja-JP" altLang="en-US" sz="160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altLang="ja-JP" dirty="0"/>
          </a:p>
          <a:p>
            <a:pPr marL="114300" indent="0">
              <a:buNone/>
            </a:pPr>
            <a:r>
              <a:rPr lang="ja-JP" altLang="en-US"/>
              <a:t>　</a:t>
            </a:r>
            <a:endParaRPr lang="en-US" altLang="ja-JP" dirty="0"/>
          </a:p>
          <a:p>
            <a:pPr>
              <a:buFont typeface="+mj-lt"/>
              <a:buAutoNum type="arabicPeriod"/>
            </a:pPr>
            <a:endParaRPr lang="en-US" altLang="ja-JP" dirty="0"/>
          </a:p>
          <a:p>
            <a:pPr>
              <a:buFont typeface="+mj-lt"/>
              <a:buAutoNum type="arabicPeriod"/>
            </a:pPr>
            <a:endParaRPr lang="en-US" altLang="ja-JP" dirty="0"/>
          </a:p>
          <a:p>
            <a:pPr>
              <a:buFont typeface="+mj-lt"/>
              <a:buAutoNum type="arabicPeriod"/>
            </a:pPr>
            <a:endParaRPr lang="en-US" altLang="ja-JP" dirty="0"/>
          </a:p>
          <a:p>
            <a:pPr>
              <a:buFont typeface="+mj-lt"/>
              <a:buAutoNum type="arabicPeriod"/>
            </a:pPr>
            <a:endParaRPr lang="en-US" altLang="ja-JP" dirty="0"/>
          </a:p>
          <a:p>
            <a:pPr>
              <a:buFont typeface="+mj-lt"/>
              <a:buAutoNum type="arabicPeriod"/>
            </a:pPr>
            <a:endParaRPr lang="en-US" altLang="ja-JP" dirty="0"/>
          </a:p>
        </p:txBody>
      </p:sp>
      <p:sp>
        <p:nvSpPr>
          <p:cNvPr id="9" name="Google Shape;125;p3">
            <a:extLst>
              <a:ext uri="{FF2B5EF4-FFF2-40B4-BE49-F238E27FC236}">
                <a16:creationId xmlns:a16="http://schemas.microsoft.com/office/drawing/2014/main" id="{CDB1B82D-B008-5F89-055A-3B75DB08B81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2084" y="67159"/>
            <a:ext cx="12359473" cy="400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228600" indent="0"/>
            <a:r>
              <a:rPr lang="ja-JP" altLang="en-US" sz="1800">
                <a:solidFill>
                  <a:schemeClr val="dk1"/>
                </a:solidFill>
              </a:rPr>
              <a:t>本資料の目的・概要</a:t>
            </a:r>
            <a:endParaRPr lang="ja-JP" altLang="en"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827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1893377" y="1056274"/>
            <a:ext cx="8498100" cy="28935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5432482" y="2839761"/>
            <a:ext cx="1114434" cy="102925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>
              <a:buSzPts val="800"/>
            </a:pPr>
            <a:r>
              <a:rPr lang="ja-JP" altLang="en-US" sz="800">
                <a:solidFill>
                  <a:schemeClr val="dk1"/>
                </a:solidFill>
              </a:rPr>
              <a:t>    </a:t>
            </a: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ja-JP" altLang="en-US" sz="800">
                <a:solidFill>
                  <a:schemeClr val="dk1"/>
                </a:solidFill>
              </a:rPr>
              <a:t> </a:t>
            </a: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Redshift</a:t>
            </a:r>
            <a:endParaRPr lang="en-US" altLang="ja-JP"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3979269" y="2258532"/>
            <a:ext cx="1368531" cy="51103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>
              <a:buSzPts val="800"/>
            </a:pPr>
            <a:r>
              <a:rPr lang="ja-JP" altLang="en-US" sz="800">
                <a:solidFill>
                  <a:schemeClr val="dk1"/>
                </a:solidFill>
              </a:rPr>
              <a:t>     </a:t>
            </a: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Paxata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2780156" y="1124599"/>
            <a:ext cx="1069555" cy="73270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>
              <a:buSzPts val="800"/>
            </a:pPr>
            <a:r>
              <a:rPr lang="ja-JP" altLang="en-US" sz="800">
                <a:solidFill>
                  <a:schemeClr val="dk1"/>
                </a:solidFill>
              </a:rPr>
              <a:t>    </a:t>
            </a: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Workspaces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2"/>
          </p:nvPr>
        </p:nvSpPr>
        <p:spPr>
          <a:xfrm>
            <a:off x="32084" y="67159"/>
            <a:ext cx="12359473" cy="400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228600" indent="0"/>
            <a:r>
              <a:rPr lang="en" altLang="ja-JP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JOY</a:t>
            </a:r>
            <a:r>
              <a:rPr lang="en" altLang="ja-JP" sz="1800" dirty="0">
                <a:solidFill>
                  <a:schemeClr val="dk1"/>
                </a:solidFill>
              </a:rPr>
              <a:t> / </a:t>
            </a:r>
            <a:r>
              <a:rPr lang="en-US" altLang="ja-JP" sz="1800" dirty="0">
                <a:solidFill>
                  <a:schemeClr val="dk1"/>
                </a:solidFill>
              </a:rPr>
              <a:t>Foundry </a:t>
            </a:r>
            <a:r>
              <a:rPr lang="ja-JP" altLang="en-US" sz="1800">
                <a:solidFill>
                  <a:schemeClr val="dk1"/>
                </a:solidFill>
              </a:rPr>
              <a:t>の</a:t>
            </a:r>
            <a:r>
              <a:rPr lang="ja-JP" alt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システム構成</a:t>
            </a:r>
            <a:r>
              <a:rPr lang="ja-JP" altLang="en-US" sz="1800">
                <a:solidFill>
                  <a:schemeClr val="dk1"/>
                </a:solidFill>
              </a:rPr>
              <a:t>概要</a:t>
            </a:r>
            <a:r>
              <a:rPr lang="ja-JP" alt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</a:t>
            </a:r>
            <a:r>
              <a:rPr lang="ja-JP" altLang="en-US" sz="1800">
                <a:solidFill>
                  <a:schemeClr val="dk1"/>
                </a:solidFill>
              </a:rPr>
              <a:t>現状）</a:t>
            </a:r>
            <a:endParaRPr lang="ja-JP" altLang="en" sz="1800">
              <a:solidFill>
                <a:schemeClr val="dk1"/>
              </a:solidFill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602191" y="1117441"/>
            <a:ext cx="1149364" cy="750678"/>
          </a:xfrm>
          <a:prstGeom prst="rect">
            <a:avLst/>
          </a:prstGeom>
          <a:noFill/>
          <a:ln w="9525" cap="flat" cmpd="sng">
            <a:solidFill>
              <a:srgbClr val="5A6B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36000" rIns="91425" bIns="36000" anchor="t" anchorCtr="0">
            <a:noAutofit/>
          </a:bodyPr>
          <a:lstStyle/>
          <a:p>
            <a:pPr marL="63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5A6B86"/>
                </a:solidFill>
                <a:latin typeface="Arial"/>
                <a:ea typeface="Arial"/>
                <a:cs typeface="Arial"/>
                <a:sym typeface="Arial"/>
              </a:rPr>
              <a:t>JOY分析者</a:t>
            </a:r>
            <a:endParaRPr sz="700" b="0" i="0" u="none" strike="noStrike" cap="none" dirty="0">
              <a:solidFill>
                <a:srgbClr val="5A6B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altLang="en-US" sz="700">
                <a:solidFill>
                  <a:srgbClr val="5A6B86"/>
                </a:solidFill>
              </a:rPr>
              <a:t>業務</a:t>
            </a:r>
            <a:r>
              <a:rPr lang="ja-JP" sz="700" b="0" i="0" u="none" strike="noStrike" cap="none">
                <a:solidFill>
                  <a:srgbClr val="5A6B86"/>
                </a:solidFill>
                <a:latin typeface="Arial"/>
                <a:ea typeface="Arial"/>
                <a:cs typeface="Arial"/>
                <a:sym typeface="Arial"/>
              </a:rPr>
              <a:t>端末</a:t>
            </a:r>
            <a:endParaRPr sz="700" b="0" i="0" u="none" strike="noStrike" cap="none" dirty="0">
              <a:solidFill>
                <a:srgbClr val="5A6B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191" y="1113369"/>
            <a:ext cx="180434" cy="157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4013" y="1472518"/>
            <a:ext cx="256772" cy="224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80155" y="1124599"/>
            <a:ext cx="177046" cy="15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74056" y="1318701"/>
            <a:ext cx="212197" cy="185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32481" y="2839761"/>
            <a:ext cx="177046" cy="15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31250" y="1343062"/>
            <a:ext cx="216390" cy="166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3" descr="「ブラウザ アイコン」の画像検索結果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42682" y="1653193"/>
            <a:ext cx="240024" cy="20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79269" y="2253221"/>
            <a:ext cx="177046" cy="15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"/>
          <p:cNvSpPr/>
          <p:nvPr/>
        </p:nvSpPr>
        <p:spPr>
          <a:xfrm>
            <a:off x="1999853" y="2146758"/>
            <a:ext cx="618617" cy="173153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S3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800"/>
            </a:pPr>
            <a:r>
              <a:rPr lang="ja-JP" altLang="en-US" sz="800">
                <a:solidFill>
                  <a:schemeClr val="dk1"/>
                </a:solidFill>
              </a:rPr>
              <a:t>  </a:t>
            </a:r>
            <a:r>
              <a:rPr lang="ja-JP" sz="800">
                <a:solidFill>
                  <a:schemeClr val="dk1"/>
                </a:solidFill>
              </a:rPr>
              <a:t>(raw)</a:t>
            </a: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99854" y="2148920"/>
            <a:ext cx="177046" cy="15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/>
          <p:nvPr/>
        </p:nvSpPr>
        <p:spPr>
          <a:xfrm>
            <a:off x="8637193" y="1115546"/>
            <a:ext cx="1114435" cy="75067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>
              <a:buSzPts val="800"/>
            </a:pPr>
            <a:r>
              <a:rPr lang="ja-JP" altLang="en-US" sz="800">
                <a:solidFill>
                  <a:schemeClr val="dk1"/>
                </a:solidFill>
              </a:rPr>
              <a:t>    </a:t>
            </a: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Tableau Server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7193" y="1119982"/>
            <a:ext cx="177046" cy="15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"/>
          <p:cNvSpPr/>
          <p:nvPr/>
        </p:nvSpPr>
        <p:spPr>
          <a:xfrm>
            <a:off x="1342658" y="1588833"/>
            <a:ext cx="45998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1240963" y="1189309"/>
            <a:ext cx="58175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Workspaces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アプリ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1905110" y="600535"/>
            <a:ext cx="790362" cy="398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latin typeface="Arial"/>
                <a:ea typeface="Arial"/>
                <a:cs typeface="Arial"/>
                <a:sym typeface="Arial"/>
              </a:rPr>
              <a:t>データレイク</a:t>
            </a:r>
            <a:endParaRPr sz="1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2780153" y="600536"/>
            <a:ext cx="1114435" cy="398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latin typeface="Arial"/>
                <a:ea typeface="Arial"/>
                <a:cs typeface="Arial"/>
                <a:sym typeface="Arial"/>
              </a:rPr>
              <a:t>分析環境入口</a:t>
            </a:r>
            <a:endParaRPr sz="1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latin typeface="Arial"/>
                <a:ea typeface="Arial"/>
                <a:cs typeface="Arial"/>
                <a:sym typeface="Arial"/>
              </a:rPr>
              <a:t>（踏み台サーバーの</a:t>
            </a:r>
            <a:endParaRPr sz="7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latin typeface="Arial"/>
                <a:ea typeface="Arial"/>
                <a:cs typeface="Arial"/>
                <a:sym typeface="Arial"/>
              </a:rPr>
              <a:t>位置付けも含む）</a:t>
            </a:r>
            <a:endParaRPr sz="1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3979269" y="600536"/>
            <a:ext cx="1368531" cy="398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latin typeface="Arial"/>
                <a:ea typeface="Arial"/>
                <a:cs typeface="Arial"/>
                <a:sym typeface="Arial"/>
              </a:rPr>
              <a:t>データ前処理</a:t>
            </a:r>
            <a:endParaRPr sz="1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5432481" y="600536"/>
            <a:ext cx="1788147" cy="398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latin typeface="Arial"/>
                <a:ea typeface="Arial"/>
                <a:cs typeface="Arial"/>
                <a:sym typeface="Arial"/>
              </a:rPr>
              <a:t>データマート</a:t>
            </a:r>
            <a:endParaRPr sz="1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8612254" y="591482"/>
            <a:ext cx="1190027" cy="398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latin typeface="Arial"/>
                <a:ea typeface="Arial"/>
                <a:cs typeface="Arial"/>
                <a:sym typeface="Arial"/>
              </a:rPr>
              <a:t>ダッシュボード活用</a:t>
            </a:r>
            <a:endParaRPr sz="1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607450" y="3471014"/>
            <a:ext cx="434400" cy="400800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altLang="en-US" sz="600">
                <a:solidFill>
                  <a:schemeClr val="dk1"/>
                </a:solidFill>
              </a:rPr>
              <a:t>各社</a:t>
            </a: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1397385" y="3580743"/>
            <a:ext cx="240024" cy="259252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csv</a:t>
            </a: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3"/>
          <p:cNvCxnSpPr>
            <a:cxnSpLocks/>
          </p:cNvCxnSpPr>
          <p:nvPr/>
        </p:nvCxnSpPr>
        <p:spPr>
          <a:xfrm flipV="1">
            <a:off x="2323205" y="3155477"/>
            <a:ext cx="3109276" cy="35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sm" len="sm"/>
            <a:tailEnd type="triangle" w="med" len="med"/>
          </a:ln>
        </p:spPr>
      </p:cxnSp>
      <p:cxnSp>
        <p:nvCxnSpPr>
          <p:cNvPr id="149" name="Google Shape;149;p3"/>
          <p:cNvCxnSpPr>
            <a:cxnSpLocks/>
          </p:cNvCxnSpPr>
          <p:nvPr/>
        </p:nvCxnSpPr>
        <p:spPr>
          <a:xfrm flipV="1">
            <a:off x="1637409" y="3698967"/>
            <a:ext cx="653313" cy="11402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0" name="Google Shape;150;p3"/>
          <p:cNvCxnSpPr>
            <a:cxnSpLocks/>
          </p:cNvCxnSpPr>
          <p:nvPr/>
        </p:nvCxnSpPr>
        <p:spPr>
          <a:xfrm flipV="1">
            <a:off x="2323206" y="3698967"/>
            <a:ext cx="3109275" cy="27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sm" len="sm"/>
            <a:tailEnd type="triangle" w="med" len="med"/>
          </a:ln>
        </p:spPr>
      </p:cxnSp>
      <p:sp>
        <p:nvSpPr>
          <p:cNvPr id="151" name="Google Shape;151;p3"/>
          <p:cNvSpPr/>
          <p:nvPr/>
        </p:nvSpPr>
        <p:spPr>
          <a:xfrm>
            <a:off x="607450" y="2943716"/>
            <a:ext cx="434400" cy="400800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手元にある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3"/>
          <p:cNvCxnSpPr>
            <a:cxnSpLocks/>
          </p:cNvCxnSpPr>
          <p:nvPr/>
        </p:nvCxnSpPr>
        <p:spPr>
          <a:xfrm>
            <a:off x="1041850" y="3144116"/>
            <a:ext cx="1247100" cy="1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3" name="Google Shape;153;p3"/>
          <p:cNvCxnSpPr/>
          <p:nvPr/>
        </p:nvCxnSpPr>
        <p:spPr>
          <a:xfrm>
            <a:off x="1643294" y="1410890"/>
            <a:ext cx="10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54" name="Google Shape;154;p3"/>
          <p:cNvCxnSpPr/>
          <p:nvPr/>
        </p:nvCxnSpPr>
        <p:spPr>
          <a:xfrm rot="10800000">
            <a:off x="1738643" y="1552540"/>
            <a:ext cx="10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5" name="Google Shape;155;p3"/>
          <p:cNvCxnSpPr/>
          <p:nvPr/>
        </p:nvCxnSpPr>
        <p:spPr>
          <a:xfrm>
            <a:off x="9747781" y="1461659"/>
            <a:ext cx="93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6" name="Google Shape;156;p3"/>
          <p:cNvSpPr/>
          <p:nvPr/>
        </p:nvSpPr>
        <p:spPr>
          <a:xfrm>
            <a:off x="2189170" y="1518022"/>
            <a:ext cx="160643" cy="107722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9924045" y="3762444"/>
            <a:ext cx="45998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JOY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3"/>
          <p:cNvCxnSpPr/>
          <p:nvPr/>
        </p:nvCxnSpPr>
        <p:spPr>
          <a:xfrm>
            <a:off x="3849708" y="1225422"/>
            <a:ext cx="34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62" name="Google Shape;162;p3"/>
          <p:cNvCxnSpPr>
            <a:cxnSpLocks/>
          </p:cNvCxnSpPr>
          <p:nvPr/>
        </p:nvCxnSpPr>
        <p:spPr>
          <a:xfrm rot="16200000" flipH="1">
            <a:off x="3281836" y="1883223"/>
            <a:ext cx="629700" cy="5958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64" name="Google Shape;164;p3"/>
          <p:cNvCxnSpPr>
            <a:cxnSpLocks/>
          </p:cNvCxnSpPr>
          <p:nvPr/>
        </p:nvCxnSpPr>
        <p:spPr>
          <a:xfrm>
            <a:off x="5348489" y="2635594"/>
            <a:ext cx="443184" cy="512392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oval" w="sm" len="sm"/>
          </a:ln>
        </p:spPr>
      </p:cxnSp>
      <p:sp>
        <p:nvSpPr>
          <p:cNvPr id="165" name="Google Shape;165;p3"/>
          <p:cNvSpPr/>
          <p:nvPr/>
        </p:nvSpPr>
        <p:spPr>
          <a:xfrm>
            <a:off x="1954164" y="1289713"/>
            <a:ext cx="45998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ログイン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3290041" y="2365005"/>
            <a:ext cx="45998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ログイン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10643351" y="1086320"/>
            <a:ext cx="900328" cy="750678"/>
          </a:xfrm>
          <a:prstGeom prst="rect">
            <a:avLst/>
          </a:prstGeom>
          <a:noFill/>
          <a:ln w="9525" cap="flat" cmpd="sng">
            <a:solidFill>
              <a:srgbClr val="5A6B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36000" rIns="91425" bIns="36000" anchor="t" anchorCtr="0">
            <a:noAutofit/>
          </a:bodyPr>
          <a:lstStyle/>
          <a:p>
            <a:pPr marL="63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5A6B86"/>
                </a:solidFill>
                <a:latin typeface="Arial"/>
                <a:ea typeface="Arial"/>
                <a:cs typeface="Arial"/>
                <a:sym typeface="Arial"/>
              </a:rPr>
              <a:t>JOY閲覧者</a:t>
            </a:r>
            <a:endParaRPr sz="700" b="0" i="0" u="none" strike="noStrike" cap="none" dirty="0">
              <a:solidFill>
                <a:srgbClr val="5A6B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altLang="en-US" sz="700">
                <a:solidFill>
                  <a:srgbClr val="5A6B86"/>
                </a:solidFill>
              </a:rPr>
              <a:t>業務</a:t>
            </a:r>
            <a:r>
              <a:rPr lang="ja-JP" sz="700" b="0" i="0" u="none" strike="noStrike" cap="none">
                <a:solidFill>
                  <a:srgbClr val="5A6B86"/>
                </a:solidFill>
                <a:latin typeface="Arial"/>
                <a:ea typeface="Arial"/>
                <a:cs typeface="Arial"/>
                <a:sym typeface="Arial"/>
              </a:rPr>
              <a:t>端末</a:t>
            </a:r>
            <a:endParaRPr sz="700" b="0" i="0" u="none" strike="noStrike" cap="none" dirty="0">
              <a:solidFill>
                <a:srgbClr val="5A6B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3351" y="1082248"/>
            <a:ext cx="180434" cy="157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6573" y="1445600"/>
            <a:ext cx="256772" cy="224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" descr="「ブラウザ アイコン」の画像検索結果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751547" y="1482019"/>
            <a:ext cx="240024" cy="20942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"/>
          <p:cNvSpPr/>
          <p:nvPr/>
        </p:nvSpPr>
        <p:spPr>
          <a:xfrm>
            <a:off x="10651523" y="1417659"/>
            <a:ext cx="45998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3"/>
          <p:cNvCxnSpPr/>
          <p:nvPr/>
        </p:nvCxnSpPr>
        <p:spPr>
          <a:xfrm>
            <a:off x="2618470" y="2632808"/>
            <a:ext cx="136079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3" name="Google Shape;173;p3"/>
          <p:cNvSpPr/>
          <p:nvPr/>
        </p:nvSpPr>
        <p:spPr>
          <a:xfrm>
            <a:off x="9864973" y="1202215"/>
            <a:ext cx="64169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ダッシュボード閲覧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669725" y="2034226"/>
            <a:ext cx="808285" cy="461748"/>
          </a:xfrm>
          <a:prstGeom prst="wedgeRectCallout">
            <a:avLst>
              <a:gd name="adj1" fmla="val 91410"/>
              <a:gd name="adj2" fmla="val -91205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ダウンロード制御有</a:t>
            </a:r>
            <a:endParaRPr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・上長メール</a:t>
            </a:r>
            <a:endParaRPr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・１GB制限</a:t>
            </a:r>
            <a:endParaRPr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94586" y="2403400"/>
            <a:ext cx="212197" cy="18514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"/>
          <p:cNvSpPr/>
          <p:nvPr/>
        </p:nvSpPr>
        <p:spPr>
          <a:xfrm>
            <a:off x="7281025" y="589957"/>
            <a:ext cx="1220860" cy="398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latin typeface="Arial"/>
                <a:ea typeface="Arial"/>
                <a:cs typeface="Arial"/>
                <a:sym typeface="Arial"/>
              </a:rPr>
              <a:t>ダッシュボード作成</a:t>
            </a:r>
            <a:endParaRPr sz="1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7360844" y="1130415"/>
            <a:ext cx="1114435" cy="75067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>
              <a:buSzPts val="800"/>
            </a:pPr>
            <a:r>
              <a:rPr lang="ja-JP" altLang="en-US" sz="800">
                <a:solidFill>
                  <a:schemeClr val="dk1"/>
                </a:solidFill>
              </a:rPr>
              <a:t>     </a:t>
            </a: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Tableau Desktop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※Workspaces上のアプリ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60844" y="1134851"/>
            <a:ext cx="177046" cy="15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"/>
          <p:cNvSpPr/>
          <p:nvPr/>
        </p:nvSpPr>
        <p:spPr>
          <a:xfrm>
            <a:off x="5038351" y="1107102"/>
            <a:ext cx="45998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ログイン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3"/>
          <p:cNvCxnSpPr>
            <a:cxnSpLocks/>
          </p:cNvCxnSpPr>
          <p:nvPr/>
        </p:nvCxnSpPr>
        <p:spPr>
          <a:xfrm>
            <a:off x="5347800" y="2514049"/>
            <a:ext cx="823320" cy="640867"/>
          </a:xfrm>
          <a:prstGeom prst="bentConnector3">
            <a:avLst>
              <a:gd name="adj1" fmla="val 9978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3"/>
          <p:cNvCxnSpPr/>
          <p:nvPr/>
        </p:nvCxnSpPr>
        <p:spPr>
          <a:xfrm>
            <a:off x="8475279" y="1426712"/>
            <a:ext cx="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8" name="Google Shape;158;p3"/>
          <p:cNvSpPr/>
          <p:nvPr/>
        </p:nvSpPr>
        <p:spPr>
          <a:xfrm>
            <a:off x="1996331" y="1714670"/>
            <a:ext cx="618617" cy="34316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S3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（takeout)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96332" y="1718056"/>
            <a:ext cx="177046" cy="15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3"/>
          <p:cNvCxnSpPr>
            <a:cxnSpLocks/>
          </p:cNvCxnSpPr>
          <p:nvPr/>
        </p:nvCxnSpPr>
        <p:spPr>
          <a:xfrm rot="10800000">
            <a:off x="1562754" y="1862557"/>
            <a:ext cx="437160" cy="363541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4" name="Google Shape;184;p3"/>
          <p:cNvSpPr/>
          <p:nvPr/>
        </p:nvSpPr>
        <p:spPr>
          <a:xfrm>
            <a:off x="1638769" y="2184298"/>
            <a:ext cx="160643" cy="1077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3"/>
          <p:cNvCxnSpPr/>
          <p:nvPr/>
        </p:nvCxnSpPr>
        <p:spPr>
          <a:xfrm rot="10800000">
            <a:off x="2623472" y="1795690"/>
            <a:ext cx="16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6" name="Google Shape;186;p3"/>
          <p:cNvSpPr/>
          <p:nvPr/>
        </p:nvSpPr>
        <p:spPr>
          <a:xfrm>
            <a:off x="6602011" y="2835972"/>
            <a:ext cx="618617" cy="104232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S3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(work)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02012" y="2838133"/>
            <a:ext cx="177046" cy="15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3"/>
          <p:cNvCxnSpPr>
            <a:cxnSpLocks/>
          </p:cNvCxnSpPr>
          <p:nvPr/>
        </p:nvCxnSpPr>
        <p:spPr>
          <a:xfrm>
            <a:off x="5362120" y="2403372"/>
            <a:ext cx="1549200" cy="432600"/>
          </a:xfrm>
          <a:prstGeom prst="bentConnector2">
            <a:avLst/>
          </a:prstGeom>
          <a:ln>
            <a:headEnd type="none" w="sm" len="sm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Google Shape;190;p3"/>
          <p:cNvCxnSpPr>
            <a:cxnSpLocks/>
          </p:cNvCxnSpPr>
          <p:nvPr/>
        </p:nvCxnSpPr>
        <p:spPr>
          <a:xfrm flipV="1">
            <a:off x="2618470" y="1862925"/>
            <a:ext cx="428445" cy="633785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1" name="Google Shape;191;p3"/>
          <p:cNvCxnSpPr/>
          <p:nvPr/>
        </p:nvCxnSpPr>
        <p:spPr>
          <a:xfrm rot="10800000">
            <a:off x="3850359" y="1755685"/>
            <a:ext cx="3240000" cy="1080000"/>
          </a:xfrm>
          <a:prstGeom prst="bentConnector3">
            <a:avLst>
              <a:gd name="adj1" fmla="val 173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3" name="Google Shape;193;p3"/>
          <p:cNvCxnSpPr/>
          <p:nvPr/>
        </p:nvCxnSpPr>
        <p:spPr>
          <a:xfrm>
            <a:off x="3861899" y="1379329"/>
            <a:ext cx="349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2" name="Google Shape;202;p3"/>
          <p:cNvSpPr/>
          <p:nvPr/>
        </p:nvSpPr>
        <p:spPr>
          <a:xfrm>
            <a:off x="4344607" y="1824794"/>
            <a:ext cx="1448030" cy="357738"/>
          </a:xfrm>
          <a:prstGeom prst="wedgeRectCallout">
            <a:avLst>
              <a:gd name="adj1" fmla="val -36325"/>
              <a:gd name="adj2" fmla="val 109621"/>
            </a:avLst>
          </a:prstGeom>
          <a:solidFill>
            <a:schemeClr val="l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Workspacesのみからログイン可能。</a:t>
            </a:r>
            <a:endParaRPr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altLang="ja-JP" sz="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r>
              <a:rPr lang="ja-JP" altLang="en-US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や</a:t>
            </a:r>
            <a:r>
              <a:rPr lang="en-US" altLang="ja-JP" sz="600" dirty="0">
                <a:solidFill>
                  <a:srgbClr val="FF0000"/>
                </a:solidFill>
              </a:rPr>
              <a:t>Redshift</a:t>
            </a:r>
            <a:r>
              <a:rPr lang="ja-JP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からデータマートを作成する。</a:t>
            </a:r>
            <a:endParaRPr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6116746" y="3143754"/>
            <a:ext cx="373272" cy="339619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前処理済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3"/>
          <p:cNvCxnSpPr>
            <a:cxnSpLocks/>
          </p:cNvCxnSpPr>
          <p:nvPr/>
        </p:nvCxnSpPr>
        <p:spPr>
          <a:xfrm rot="5400000" flipH="1" flipV="1">
            <a:off x="6013113" y="1796023"/>
            <a:ext cx="1638000" cy="1057462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sm" len="sm"/>
            <a:tailEnd type="triangle" w="med" len="med"/>
          </a:ln>
        </p:spPr>
      </p:cxnSp>
      <p:cxnSp>
        <p:nvCxnSpPr>
          <p:cNvPr id="206" name="Google Shape;206;p3"/>
          <p:cNvCxnSpPr>
            <a:cxnSpLocks/>
          </p:cNvCxnSpPr>
          <p:nvPr/>
        </p:nvCxnSpPr>
        <p:spPr>
          <a:xfrm>
            <a:off x="1050382" y="3710369"/>
            <a:ext cx="322091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" name="Google Shape;203;p3">
            <a:extLst>
              <a:ext uri="{FF2B5EF4-FFF2-40B4-BE49-F238E27FC236}">
                <a16:creationId xmlns:a16="http://schemas.microsoft.com/office/drawing/2014/main" id="{AF0A4820-315C-39CF-CAA7-4928283B9B7A}"/>
              </a:ext>
            </a:extLst>
          </p:cNvPr>
          <p:cNvSpPr/>
          <p:nvPr/>
        </p:nvSpPr>
        <p:spPr>
          <a:xfrm>
            <a:off x="5603258" y="3159047"/>
            <a:ext cx="373272" cy="327881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alt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連携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431;p8">
            <a:extLst>
              <a:ext uri="{FF2B5EF4-FFF2-40B4-BE49-F238E27FC236}">
                <a16:creationId xmlns:a16="http://schemas.microsoft.com/office/drawing/2014/main" id="{0FCD1C9C-0595-FE11-9DCE-6B02B3C388F1}"/>
              </a:ext>
            </a:extLst>
          </p:cNvPr>
          <p:cNvSpPr/>
          <p:nvPr/>
        </p:nvSpPr>
        <p:spPr>
          <a:xfrm>
            <a:off x="1893377" y="4192922"/>
            <a:ext cx="8468836" cy="2413971"/>
          </a:xfrm>
          <a:prstGeom prst="rect">
            <a:avLst/>
          </a:prstGeom>
          <a:solidFill>
            <a:srgbClr val="F6D8D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433;p8">
            <a:extLst>
              <a:ext uri="{FF2B5EF4-FFF2-40B4-BE49-F238E27FC236}">
                <a16:creationId xmlns:a16="http://schemas.microsoft.com/office/drawing/2014/main" id="{5DF983B5-6464-726C-DE79-2F21EE13ABE4}"/>
              </a:ext>
            </a:extLst>
          </p:cNvPr>
          <p:cNvSpPr/>
          <p:nvPr/>
        </p:nvSpPr>
        <p:spPr>
          <a:xfrm>
            <a:off x="1978958" y="4320212"/>
            <a:ext cx="7864855" cy="208272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ja-JP" alt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既存</a:t>
            </a:r>
            <a:r>
              <a:rPr lang="en-US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Foundry</a:t>
            </a:r>
            <a:r>
              <a:rPr lang="ja-JP" alt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環境</a:t>
            </a: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454;p8" descr="Palantir (パランティア)">
            <a:extLst>
              <a:ext uri="{FF2B5EF4-FFF2-40B4-BE49-F238E27FC236}">
                <a16:creationId xmlns:a16="http://schemas.microsoft.com/office/drawing/2014/main" id="{0F686201-B309-9EA9-12FC-A279C80E6BE9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981589" y="4329587"/>
            <a:ext cx="535552" cy="262263"/>
          </a:xfrm>
          <a:prstGeom prst="rect">
            <a:avLst/>
          </a:prstGeom>
          <a:solidFill>
            <a:srgbClr val="D8D8D8">
              <a:alpha val="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" name="Google Shape;480;p8">
            <a:extLst>
              <a:ext uri="{FF2B5EF4-FFF2-40B4-BE49-F238E27FC236}">
                <a16:creationId xmlns:a16="http://schemas.microsoft.com/office/drawing/2014/main" id="{3FD72FB4-BAC8-23D1-8C81-4C9742AB2E44}"/>
              </a:ext>
            </a:extLst>
          </p:cNvPr>
          <p:cNvSpPr/>
          <p:nvPr/>
        </p:nvSpPr>
        <p:spPr>
          <a:xfrm>
            <a:off x="457563" y="5832732"/>
            <a:ext cx="1086444" cy="750678"/>
          </a:xfrm>
          <a:prstGeom prst="rect">
            <a:avLst/>
          </a:prstGeom>
          <a:noFill/>
          <a:ln w="9525" cap="flat" cmpd="sng">
            <a:solidFill>
              <a:srgbClr val="5A6B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36000" rIns="91425" bIns="36000" anchor="t" anchorCtr="0">
            <a:noAutofit/>
          </a:bodyPr>
          <a:lstStyle/>
          <a:p>
            <a:pPr marL="63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>
                <a:solidFill>
                  <a:srgbClr val="5A6B86"/>
                </a:solidFill>
                <a:latin typeface="Arial"/>
                <a:ea typeface="Arial"/>
                <a:cs typeface="Arial"/>
                <a:sym typeface="Arial"/>
              </a:rPr>
              <a:t>Foundry</a:t>
            </a:r>
            <a:r>
              <a:rPr lang="ja-JP" altLang="en-US" sz="700" b="0" i="0" u="none" strike="noStrike" cap="none">
                <a:solidFill>
                  <a:srgbClr val="5A6B86"/>
                </a:solidFill>
                <a:latin typeface="Arial"/>
                <a:ea typeface="Arial"/>
                <a:cs typeface="Arial"/>
                <a:sym typeface="Arial"/>
              </a:rPr>
              <a:t>開発者</a:t>
            </a:r>
            <a:endParaRPr sz="700" b="0" i="0" u="none" strike="noStrike" cap="none" dirty="0">
              <a:solidFill>
                <a:srgbClr val="5A6B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700">
                <a:solidFill>
                  <a:srgbClr val="5A6B86"/>
                </a:solidFill>
              </a:rPr>
              <a:t>業務</a:t>
            </a:r>
            <a:r>
              <a:rPr lang="ja-JP" sz="700" b="0" i="0" u="none" strike="noStrike" cap="none">
                <a:solidFill>
                  <a:srgbClr val="5A6B86"/>
                </a:solidFill>
                <a:latin typeface="Arial"/>
                <a:ea typeface="Arial"/>
                <a:cs typeface="Arial"/>
                <a:sym typeface="Arial"/>
              </a:rPr>
              <a:t>端末</a:t>
            </a:r>
            <a:endParaRPr sz="700" b="0" i="0" u="none" strike="noStrike" cap="none" dirty="0">
              <a:solidFill>
                <a:srgbClr val="5A6B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481;p8">
            <a:extLst>
              <a:ext uri="{FF2B5EF4-FFF2-40B4-BE49-F238E27FC236}">
                <a16:creationId xmlns:a16="http://schemas.microsoft.com/office/drawing/2014/main" id="{6F53AF52-B585-727B-E67E-1430F4F7E5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563" y="5828660"/>
            <a:ext cx="180434" cy="157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482;p8">
            <a:extLst>
              <a:ext uri="{FF2B5EF4-FFF2-40B4-BE49-F238E27FC236}">
                <a16:creationId xmlns:a16="http://schemas.microsoft.com/office/drawing/2014/main" id="{45EFAA47-7CEB-919F-CD28-8C6326A02CA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385" y="6187809"/>
            <a:ext cx="256772" cy="224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483;p8" descr="「ブラウザ アイコン」の画像検索結果">
            <a:extLst>
              <a:ext uri="{FF2B5EF4-FFF2-40B4-BE49-F238E27FC236}">
                <a16:creationId xmlns:a16="http://schemas.microsoft.com/office/drawing/2014/main" id="{B4F571BD-5FCA-D2CB-F75E-7703078636A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44738" y="6193514"/>
            <a:ext cx="240024" cy="20942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484;p8">
            <a:extLst>
              <a:ext uri="{FF2B5EF4-FFF2-40B4-BE49-F238E27FC236}">
                <a16:creationId xmlns:a16="http://schemas.microsoft.com/office/drawing/2014/main" id="{6386B98A-D0D9-13FA-B7A3-125C8FCCD527}"/>
              </a:ext>
            </a:extLst>
          </p:cNvPr>
          <p:cNvSpPr/>
          <p:nvPr/>
        </p:nvSpPr>
        <p:spPr>
          <a:xfrm>
            <a:off x="943814" y="6127950"/>
            <a:ext cx="45998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dirty="0"/>
          </a:p>
        </p:txBody>
      </p:sp>
      <p:cxnSp>
        <p:nvCxnSpPr>
          <p:cNvPr id="34" name="Google Shape;486;p8">
            <a:extLst>
              <a:ext uri="{FF2B5EF4-FFF2-40B4-BE49-F238E27FC236}">
                <a16:creationId xmlns:a16="http://schemas.microsoft.com/office/drawing/2014/main" id="{538F8E99-6591-135B-DD2B-618F0116BE63}"/>
              </a:ext>
            </a:extLst>
          </p:cNvPr>
          <p:cNvCxnSpPr>
            <a:cxnSpLocks/>
            <a:endCxn id="33" idx="1"/>
          </p:cNvCxnSpPr>
          <p:nvPr/>
        </p:nvCxnSpPr>
        <p:spPr>
          <a:xfrm flipV="1">
            <a:off x="1243732" y="6129154"/>
            <a:ext cx="583511" cy="163069"/>
          </a:xfrm>
          <a:prstGeom prst="bentConnector3">
            <a:avLst>
              <a:gd name="adj1" fmla="val 6348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37" name="Google Shape;491;p8">
            <a:extLst>
              <a:ext uri="{FF2B5EF4-FFF2-40B4-BE49-F238E27FC236}">
                <a16:creationId xmlns:a16="http://schemas.microsoft.com/office/drawing/2014/main" id="{F72916D4-4F9B-D11C-D9E2-4FF8D1E3802F}"/>
              </a:ext>
            </a:extLst>
          </p:cNvPr>
          <p:cNvSpPr/>
          <p:nvPr/>
        </p:nvSpPr>
        <p:spPr>
          <a:xfrm>
            <a:off x="9675736" y="6422641"/>
            <a:ext cx="68647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Foundry</a:t>
            </a:r>
            <a:endParaRPr dirty="0"/>
          </a:p>
        </p:txBody>
      </p:sp>
      <p:sp>
        <p:nvSpPr>
          <p:cNvPr id="38" name="Google Shape;497;p8">
            <a:extLst>
              <a:ext uri="{FF2B5EF4-FFF2-40B4-BE49-F238E27FC236}">
                <a16:creationId xmlns:a16="http://schemas.microsoft.com/office/drawing/2014/main" id="{BA8174C5-CFB4-F1BE-84D9-63E1D38C8E95}"/>
              </a:ext>
            </a:extLst>
          </p:cNvPr>
          <p:cNvSpPr/>
          <p:nvPr/>
        </p:nvSpPr>
        <p:spPr>
          <a:xfrm>
            <a:off x="1314015" y="5993270"/>
            <a:ext cx="45998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ログイン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507;p8">
            <a:extLst>
              <a:ext uri="{FF2B5EF4-FFF2-40B4-BE49-F238E27FC236}">
                <a16:creationId xmlns:a16="http://schemas.microsoft.com/office/drawing/2014/main" id="{A1D8A4AA-FAE8-681F-280B-1997232F784C}"/>
              </a:ext>
            </a:extLst>
          </p:cNvPr>
          <p:cNvSpPr/>
          <p:nvPr/>
        </p:nvSpPr>
        <p:spPr>
          <a:xfrm>
            <a:off x="10632438" y="4756221"/>
            <a:ext cx="900328" cy="750678"/>
          </a:xfrm>
          <a:prstGeom prst="rect">
            <a:avLst/>
          </a:prstGeom>
          <a:noFill/>
          <a:ln w="9525" cap="flat" cmpd="sng">
            <a:solidFill>
              <a:srgbClr val="5A6B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36000" rIns="36000" bIns="36000" anchor="t" anchorCtr="0">
            <a:noAutofit/>
          </a:bodyPr>
          <a:lstStyle/>
          <a:p>
            <a:pPr marL="63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>
                <a:solidFill>
                  <a:srgbClr val="5A6B86"/>
                </a:solidFill>
                <a:latin typeface="Arial"/>
                <a:ea typeface="Arial"/>
                <a:cs typeface="Arial"/>
                <a:sym typeface="Arial"/>
              </a:rPr>
              <a:t>Foundry閲覧者</a:t>
            </a:r>
            <a:endParaRPr sz="700" b="0" i="0" u="none" strike="noStrike" cap="none" dirty="0">
              <a:solidFill>
                <a:srgbClr val="5A6B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700">
                <a:solidFill>
                  <a:srgbClr val="5A6B86"/>
                </a:solidFill>
              </a:rPr>
              <a:t>業務</a:t>
            </a:r>
            <a:r>
              <a:rPr lang="ja-JP" sz="700" b="0" i="0" u="none" strike="noStrike" cap="none">
                <a:solidFill>
                  <a:srgbClr val="5A6B86"/>
                </a:solidFill>
                <a:latin typeface="Arial"/>
                <a:ea typeface="Arial"/>
                <a:cs typeface="Arial"/>
                <a:sym typeface="Arial"/>
              </a:rPr>
              <a:t>端末</a:t>
            </a:r>
            <a:endParaRPr sz="700" b="0" i="0" u="none" strike="noStrike" cap="none" dirty="0">
              <a:solidFill>
                <a:srgbClr val="5A6B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508;p8">
            <a:extLst>
              <a:ext uri="{FF2B5EF4-FFF2-40B4-BE49-F238E27FC236}">
                <a16:creationId xmlns:a16="http://schemas.microsoft.com/office/drawing/2014/main" id="{F40A848A-D364-1D78-BFB4-A960369963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2579" y="4771191"/>
            <a:ext cx="180434" cy="157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509;p8">
            <a:extLst>
              <a:ext uri="{FF2B5EF4-FFF2-40B4-BE49-F238E27FC236}">
                <a16:creationId xmlns:a16="http://schemas.microsoft.com/office/drawing/2014/main" id="{051D61A1-9D4B-E30D-2552-3631C47658C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75660" y="5037272"/>
            <a:ext cx="256772" cy="224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510;p8" descr="「ブラウザ アイコン」の画像検索結果">
            <a:extLst>
              <a:ext uri="{FF2B5EF4-FFF2-40B4-BE49-F238E27FC236}">
                <a16:creationId xmlns:a16="http://schemas.microsoft.com/office/drawing/2014/main" id="{F2298647-FFB4-1F25-8088-94AB64FAFD3F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740634" y="5073691"/>
            <a:ext cx="240024" cy="20942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511;p8">
            <a:extLst>
              <a:ext uri="{FF2B5EF4-FFF2-40B4-BE49-F238E27FC236}">
                <a16:creationId xmlns:a16="http://schemas.microsoft.com/office/drawing/2014/main" id="{95E427AB-C236-2DF6-BCF0-AF8676DDD501}"/>
              </a:ext>
            </a:extLst>
          </p:cNvPr>
          <p:cNvSpPr/>
          <p:nvPr/>
        </p:nvSpPr>
        <p:spPr>
          <a:xfrm>
            <a:off x="10640610" y="5009331"/>
            <a:ext cx="45998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/>
          </a:p>
        </p:txBody>
      </p:sp>
      <p:sp>
        <p:nvSpPr>
          <p:cNvPr id="45" name="Google Shape;513;p8">
            <a:extLst>
              <a:ext uri="{FF2B5EF4-FFF2-40B4-BE49-F238E27FC236}">
                <a16:creationId xmlns:a16="http://schemas.microsoft.com/office/drawing/2014/main" id="{5D4C4B8C-A220-C072-5C74-2A1C8D429D87}"/>
              </a:ext>
            </a:extLst>
          </p:cNvPr>
          <p:cNvSpPr/>
          <p:nvPr/>
        </p:nvSpPr>
        <p:spPr>
          <a:xfrm>
            <a:off x="9870722" y="4957090"/>
            <a:ext cx="635830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700"/>
              <a:t>業務ツール</a:t>
            </a: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閲覧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529;p8">
            <a:extLst>
              <a:ext uri="{FF2B5EF4-FFF2-40B4-BE49-F238E27FC236}">
                <a16:creationId xmlns:a16="http://schemas.microsoft.com/office/drawing/2014/main" id="{2FEF7EF2-BA21-6D3D-6094-1BCAD92C5DA3}"/>
              </a:ext>
            </a:extLst>
          </p:cNvPr>
          <p:cNvSpPr/>
          <p:nvPr/>
        </p:nvSpPr>
        <p:spPr>
          <a:xfrm>
            <a:off x="1968242" y="6586313"/>
            <a:ext cx="956783" cy="234886"/>
          </a:xfrm>
          <a:prstGeom prst="wedgeRectCallout">
            <a:avLst>
              <a:gd name="adj1" fmla="val -73057"/>
              <a:gd name="adj2" fmla="val -99009"/>
            </a:avLst>
          </a:prstGeom>
          <a:solidFill>
            <a:schemeClr val="l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ダウンロード</a:t>
            </a:r>
            <a:r>
              <a:rPr lang="ja-JP" altLang="en-US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可</a:t>
            </a:r>
            <a:endParaRPr lang="en-US" altLang="ja-JP"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600">
                <a:solidFill>
                  <a:srgbClr val="FF0000"/>
                </a:solidFill>
              </a:rPr>
              <a:t>（</a:t>
            </a:r>
            <a:r>
              <a:rPr lang="en-US" altLang="ja-JP" sz="600" dirty="0">
                <a:solidFill>
                  <a:srgbClr val="FF0000"/>
                </a:solidFill>
              </a:rPr>
              <a:t>10</a:t>
            </a:r>
            <a:r>
              <a:rPr lang="ja-JP" altLang="en-US" sz="600">
                <a:solidFill>
                  <a:srgbClr val="FF0000"/>
                </a:solidFill>
              </a:rPr>
              <a:t>万行制限あり）</a:t>
            </a:r>
            <a:endParaRPr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220;g2738aae21b7_0_1">
            <a:extLst>
              <a:ext uri="{FF2B5EF4-FFF2-40B4-BE49-F238E27FC236}">
                <a16:creationId xmlns:a16="http://schemas.microsoft.com/office/drawing/2014/main" id="{7D2DC859-5541-865A-5E4D-672C5A6101D5}"/>
              </a:ext>
            </a:extLst>
          </p:cNvPr>
          <p:cNvSpPr/>
          <p:nvPr/>
        </p:nvSpPr>
        <p:spPr>
          <a:xfrm>
            <a:off x="2039013" y="4620953"/>
            <a:ext cx="7633702" cy="170963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altLang="ja-JP" sz="800" dirty="0">
                <a:solidFill>
                  <a:schemeClr val="dk1"/>
                </a:solidFill>
              </a:rPr>
              <a:t> Project</a:t>
            </a:r>
            <a:endParaRPr lang="en"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220;g2738aae21b7_0_1">
            <a:extLst>
              <a:ext uri="{FF2B5EF4-FFF2-40B4-BE49-F238E27FC236}">
                <a16:creationId xmlns:a16="http://schemas.microsoft.com/office/drawing/2014/main" id="{754E7503-3567-943A-B25D-94449BB1A629}"/>
              </a:ext>
            </a:extLst>
          </p:cNvPr>
          <p:cNvSpPr/>
          <p:nvPr/>
        </p:nvSpPr>
        <p:spPr>
          <a:xfrm>
            <a:off x="2116815" y="4864001"/>
            <a:ext cx="813372" cy="80022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altLang="ja-JP" sz="800" dirty="0">
                <a:solidFill>
                  <a:schemeClr val="dk1"/>
                </a:solidFill>
              </a:rPr>
              <a:t> Data   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altLang="ja-JP" sz="800" dirty="0">
                <a:solidFill>
                  <a:schemeClr val="dk1"/>
                </a:solidFill>
              </a:rPr>
              <a:t>      Connection</a:t>
            </a:r>
            <a:endParaRPr lang="en"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323;g2738aae21b7_0_1">
            <a:extLst>
              <a:ext uri="{FF2B5EF4-FFF2-40B4-BE49-F238E27FC236}">
                <a16:creationId xmlns:a16="http://schemas.microsoft.com/office/drawing/2014/main" id="{66AB5ED6-EFF7-9890-6FA2-3E23050EFF85}"/>
              </a:ext>
            </a:extLst>
          </p:cNvPr>
          <p:cNvSpPr/>
          <p:nvPr/>
        </p:nvSpPr>
        <p:spPr>
          <a:xfrm>
            <a:off x="6116745" y="5352246"/>
            <a:ext cx="431400" cy="315600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前処理済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304;g2738aae21b7_0_1">
            <a:extLst>
              <a:ext uri="{FF2B5EF4-FFF2-40B4-BE49-F238E27FC236}">
                <a16:creationId xmlns:a16="http://schemas.microsoft.com/office/drawing/2014/main" id="{79394729-2933-00CC-4B69-CC1AE83BCFB1}"/>
              </a:ext>
            </a:extLst>
          </p:cNvPr>
          <p:cNvCxnSpPr>
            <a:cxnSpLocks/>
          </p:cNvCxnSpPr>
          <p:nvPr/>
        </p:nvCxnSpPr>
        <p:spPr>
          <a:xfrm>
            <a:off x="2288950" y="3854777"/>
            <a:ext cx="0" cy="1011465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60" name="図 59">
            <a:extLst>
              <a:ext uri="{FF2B5EF4-FFF2-40B4-BE49-F238E27FC236}">
                <a16:creationId xmlns:a16="http://schemas.microsoft.com/office/drawing/2014/main" id="{3FD34201-654E-4234-ACB3-1A24B2192F7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/>
          </a:blip>
          <a:srcRect r="5197"/>
          <a:stretch/>
        </p:blipFill>
        <p:spPr>
          <a:xfrm>
            <a:off x="2041999" y="4634727"/>
            <a:ext cx="215241" cy="227040"/>
          </a:xfrm>
          <a:prstGeom prst="rect">
            <a:avLst/>
          </a:prstGeom>
        </p:spPr>
      </p:pic>
      <p:cxnSp>
        <p:nvCxnSpPr>
          <p:cNvPr id="61" name="Google Shape;542;p8">
            <a:extLst>
              <a:ext uri="{FF2B5EF4-FFF2-40B4-BE49-F238E27FC236}">
                <a16:creationId xmlns:a16="http://schemas.microsoft.com/office/drawing/2014/main" id="{76A383EA-5D5F-7349-B8CA-593B27B34009}"/>
              </a:ext>
            </a:extLst>
          </p:cNvPr>
          <p:cNvCxnSpPr>
            <a:cxnSpLocks/>
            <a:stCxn id="56" idx="1"/>
            <a:endCxn id="176" idx="2"/>
          </p:cNvCxnSpPr>
          <p:nvPr/>
        </p:nvCxnSpPr>
        <p:spPr>
          <a:xfrm rot="5400000" flipH="1" flipV="1">
            <a:off x="5389677" y="2823862"/>
            <a:ext cx="3471153" cy="1585617"/>
          </a:xfrm>
          <a:prstGeom prst="bentConnector3">
            <a:avLst>
              <a:gd name="adj1" fmla="val 2564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oval" w="sm" len="sm"/>
            <a:tailEnd type="triangle" w="med" len="med"/>
          </a:ln>
        </p:spPr>
      </p:cxnSp>
      <p:sp>
        <p:nvSpPr>
          <p:cNvPr id="71" name="Google Shape;543;p8">
            <a:extLst>
              <a:ext uri="{FF2B5EF4-FFF2-40B4-BE49-F238E27FC236}">
                <a16:creationId xmlns:a16="http://schemas.microsoft.com/office/drawing/2014/main" id="{CFD9F14A-1476-682E-5588-A814831E9269}"/>
              </a:ext>
            </a:extLst>
          </p:cNvPr>
          <p:cNvSpPr/>
          <p:nvPr/>
        </p:nvSpPr>
        <p:spPr>
          <a:xfrm>
            <a:off x="8101805" y="2588545"/>
            <a:ext cx="1542959" cy="651752"/>
          </a:xfrm>
          <a:prstGeom prst="wedgeRectCallout">
            <a:avLst>
              <a:gd name="adj1" fmla="val -60233"/>
              <a:gd name="adj2" fmla="val -13110"/>
            </a:avLst>
          </a:prstGeom>
          <a:solidFill>
            <a:schemeClr val="l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600">
                <a:solidFill>
                  <a:srgbClr val="FF0000"/>
                </a:solidFill>
              </a:rPr>
              <a:t>既存</a:t>
            </a:r>
            <a:r>
              <a:rPr lang="ja-JP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Foundry環境で作成したデータをTableauで</a:t>
            </a:r>
            <a:r>
              <a:rPr lang="ja-JP" altLang="en-US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直接参照</a:t>
            </a:r>
            <a:r>
              <a:rPr lang="ja-JP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したい場合に利用</a:t>
            </a:r>
            <a:r>
              <a:rPr lang="ja-JP" altLang="en-US" sz="600">
                <a:solidFill>
                  <a:srgbClr val="FF0000"/>
                </a:solidFill>
              </a:rPr>
              <a:t>。</a:t>
            </a:r>
            <a:endParaRPr lang="en-US" altLang="ja-JP" sz="600" dirty="0"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600">
                <a:solidFill>
                  <a:srgbClr val="FF0000"/>
                </a:solidFill>
              </a:rPr>
              <a:t>（ごく一部のケースでのみ利用しており、活用事例は限定的）</a:t>
            </a:r>
            <a:endParaRPr lang="en-US" altLang="ja-JP"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203;p3">
            <a:extLst>
              <a:ext uri="{FF2B5EF4-FFF2-40B4-BE49-F238E27FC236}">
                <a16:creationId xmlns:a16="http://schemas.microsoft.com/office/drawing/2014/main" id="{01ADBFB4-6B53-7D34-896B-F7C439BF08BD}"/>
              </a:ext>
            </a:extLst>
          </p:cNvPr>
          <p:cNvSpPr/>
          <p:nvPr/>
        </p:nvSpPr>
        <p:spPr>
          <a:xfrm>
            <a:off x="2373450" y="5220140"/>
            <a:ext cx="373272" cy="327881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alt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連携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243;g2738aae21b7_0_1">
            <a:extLst>
              <a:ext uri="{FF2B5EF4-FFF2-40B4-BE49-F238E27FC236}">
                <a16:creationId xmlns:a16="http://schemas.microsoft.com/office/drawing/2014/main" id="{4FF5F0DA-7757-FBDA-F410-3C15B36E64EE}"/>
              </a:ext>
            </a:extLst>
          </p:cNvPr>
          <p:cNvCxnSpPr>
            <a:cxnSpLocks/>
          </p:cNvCxnSpPr>
          <p:nvPr/>
        </p:nvCxnSpPr>
        <p:spPr>
          <a:xfrm flipV="1">
            <a:off x="2799259" y="5392778"/>
            <a:ext cx="1333525" cy="587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oval" w="sm" len="sm"/>
            <a:tailEnd type="triangle" w="med" len="med"/>
          </a:ln>
        </p:spPr>
      </p:cxnSp>
      <p:cxnSp>
        <p:nvCxnSpPr>
          <p:cNvPr id="75" name="Google Shape;247;g2738aae21b7_0_1">
            <a:extLst>
              <a:ext uri="{FF2B5EF4-FFF2-40B4-BE49-F238E27FC236}">
                <a16:creationId xmlns:a16="http://schemas.microsoft.com/office/drawing/2014/main" id="{B12E799F-D86A-FDF0-9F58-40391F4D8567}"/>
              </a:ext>
            </a:extLst>
          </p:cNvPr>
          <p:cNvCxnSpPr>
            <a:cxnSpLocks/>
            <a:stCxn id="49" idx="3"/>
            <a:endCxn id="56" idx="2"/>
          </p:cNvCxnSpPr>
          <p:nvPr/>
        </p:nvCxnSpPr>
        <p:spPr>
          <a:xfrm>
            <a:off x="5498608" y="5503752"/>
            <a:ext cx="618137" cy="6294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0" name="Google Shape;281;g2738aae21b7_0_1">
            <a:extLst>
              <a:ext uri="{FF2B5EF4-FFF2-40B4-BE49-F238E27FC236}">
                <a16:creationId xmlns:a16="http://schemas.microsoft.com/office/drawing/2014/main" id="{A9B77957-55DF-8DD3-A87F-40E1B030C004}"/>
              </a:ext>
            </a:extLst>
          </p:cNvPr>
          <p:cNvSpPr/>
          <p:nvPr/>
        </p:nvSpPr>
        <p:spPr>
          <a:xfrm>
            <a:off x="10154037" y="70645"/>
            <a:ext cx="1884400" cy="6608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282;g2738aae21b7_0_1">
            <a:extLst>
              <a:ext uri="{FF2B5EF4-FFF2-40B4-BE49-F238E27FC236}">
                <a16:creationId xmlns:a16="http://schemas.microsoft.com/office/drawing/2014/main" id="{E6D20DA1-4650-AF2D-0592-22889679DCDA}"/>
              </a:ext>
            </a:extLst>
          </p:cNvPr>
          <p:cNvCxnSpPr/>
          <p:nvPr/>
        </p:nvCxnSpPr>
        <p:spPr>
          <a:xfrm>
            <a:off x="11456910" y="230934"/>
            <a:ext cx="360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2" name="Google Shape;283;g2738aae21b7_0_1">
            <a:extLst>
              <a:ext uri="{FF2B5EF4-FFF2-40B4-BE49-F238E27FC236}">
                <a16:creationId xmlns:a16="http://schemas.microsoft.com/office/drawing/2014/main" id="{089C7B3F-070A-C979-E5B9-03BBB703A5B4}"/>
              </a:ext>
            </a:extLst>
          </p:cNvPr>
          <p:cNvSpPr/>
          <p:nvPr/>
        </p:nvSpPr>
        <p:spPr>
          <a:xfrm>
            <a:off x="10266257" y="206437"/>
            <a:ext cx="647696" cy="60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データの流れ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284;g2738aae21b7_0_1">
            <a:extLst>
              <a:ext uri="{FF2B5EF4-FFF2-40B4-BE49-F238E27FC236}">
                <a16:creationId xmlns:a16="http://schemas.microsoft.com/office/drawing/2014/main" id="{39B007EE-8F47-C304-2AE5-A2A126F0D9B4}"/>
              </a:ext>
            </a:extLst>
          </p:cNvPr>
          <p:cNvCxnSpPr/>
          <p:nvPr/>
        </p:nvCxnSpPr>
        <p:spPr>
          <a:xfrm>
            <a:off x="11468770" y="583774"/>
            <a:ext cx="35214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84" name="Google Shape;285;g2738aae21b7_0_1">
            <a:extLst>
              <a:ext uri="{FF2B5EF4-FFF2-40B4-BE49-F238E27FC236}">
                <a16:creationId xmlns:a16="http://schemas.microsoft.com/office/drawing/2014/main" id="{60847909-5EC4-78DB-7E20-051165F13AEB}"/>
              </a:ext>
            </a:extLst>
          </p:cNvPr>
          <p:cNvSpPr/>
          <p:nvPr/>
        </p:nvSpPr>
        <p:spPr>
          <a:xfrm>
            <a:off x="10276715" y="529973"/>
            <a:ext cx="459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ログイン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287;g2738aae21b7_0_1">
            <a:extLst>
              <a:ext uri="{FF2B5EF4-FFF2-40B4-BE49-F238E27FC236}">
                <a16:creationId xmlns:a16="http://schemas.microsoft.com/office/drawing/2014/main" id="{6BAEBCA4-A26C-7329-8008-B09AAE4BFD72}"/>
              </a:ext>
            </a:extLst>
          </p:cNvPr>
          <p:cNvSpPr/>
          <p:nvPr/>
        </p:nvSpPr>
        <p:spPr>
          <a:xfrm>
            <a:off x="10292427" y="363743"/>
            <a:ext cx="1158563" cy="9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データの流れ(</a:t>
            </a:r>
            <a:r>
              <a:rPr lang="ja-JP" alt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管理者権限</a:t>
            </a:r>
            <a:r>
              <a:rPr lang="ja-JP" sz="700"/>
              <a:t>）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286;g2738aae21b7_0_1">
            <a:extLst>
              <a:ext uri="{FF2B5EF4-FFF2-40B4-BE49-F238E27FC236}">
                <a16:creationId xmlns:a16="http://schemas.microsoft.com/office/drawing/2014/main" id="{0E882761-5A44-6A0E-7868-DF146972F4DE}"/>
              </a:ext>
            </a:extLst>
          </p:cNvPr>
          <p:cNvCxnSpPr/>
          <p:nvPr/>
        </p:nvCxnSpPr>
        <p:spPr>
          <a:xfrm>
            <a:off x="11462844" y="413134"/>
            <a:ext cx="360000" cy="0"/>
          </a:xfrm>
          <a:prstGeom prst="straightConnector1">
            <a:avLst/>
          </a:prstGeom>
          <a:noFill/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" name="Google Shape;486;p8">
            <a:extLst>
              <a:ext uri="{FF2B5EF4-FFF2-40B4-BE49-F238E27FC236}">
                <a16:creationId xmlns:a16="http://schemas.microsoft.com/office/drawing/2014/main" id="{C879AC15-EAC4-3F0B-D633-9DD56A514141}"/>
              </a:ext>
            </a:extLst>
          </p:cNvPr>
          <p:cNvCxnSpPr>
            <a:cxnSpLocks/>
          </p:cNvCxnSpPr>
          <p:nvPr/>
        </p:nvCxnSpPr>
        <p:spPr>
          <a:xfrm flipH="1" flipV="1">
            <a:off x="1641071" y="1766659"/>
            <a:ext cx="359310" cy="15029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" name="Google Shape;130;p3">
            <a:extLst>
              <a:ext uri="{FF2B5EF4-FFF2-40B4-BE49-F238E27FC236}">
                <a16:creationId xmlns:a16="http://schemas.microsoft.com/office/drawing/2014/main" id="{E67E9F94-211E-912F-130B-8C8F2E8E512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31617" y="1543871"/>
            <a:ext cx="212197" cy="1851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Google Shape;153;p3">
            <a:extLst>
              <a:ext uri="{FF2B5EF4-FFF2-40B4-BE49-F238E27FC236}">
                <a16:creationId xmlns:a16="http://schemas.microsoft.com/office/drawing/2014/main" id="{1C6939DC-A3FC-E62F-335E-777EDC4C3DC1}"/>
              </a:ext>
            </a:extLst>
          </p:cNvPr>
          <p:cNvCxnSpPr>
            <a:cxnSpLocks/>
          </p:cNvCxnSpPr>
          <p:nvPr/>
        </p:nvCxnSpPr>
        <p:spPr>
          <a:xfrm flipH="1">
            <a:off x="9843814" y="1624787"/>
            <a:ext cx="785188" cy="9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7" name="Google Shape;165;p3">
            <a:extLst>
              <a:ext uri="{FF2B5EF4-FFF2-40B4-BE49-F238E27FC236}">
                <a16:creationId xmlns:a16="http://schemas.microsoft.com/office/drawing/2014/main" id="{8E82962C-AB24-E657-0204-467817D4514A}"/>
              </a:ext>
            </a:extLst>
          </p:cNvPr>
          <p:cNvSpPr/>
          <p:nvPr/>
        </p:nvSpPr>
        <p:spPr>
          <a:xfrm>
            <a:off x="10030090" y="1663691"/>
            <a:ext cx="45998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ログイン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51;p3">
            <a:extLst>
              <a:ext uri="{FF2B5EF4-FFF2-40B4-BE49-F238E27FC236}">
                <a16:creationId xmlns:a16="http://schemas.microsoft.com/office/drawing/2014/main" id="{78B5FF45-6562-5F4C-868D-4D8D2FA43BCD}"/>
              </a:ext>
            </a:extLst>
          </p:cNvPr>
          <p:cNvSpPr/>
          <p:nvPr/>
        </p:nvSpPr>
        <p:spPr>
          <a:xfrm>
            <a:off x="601699" y="5298459"/>
            <a:ext cx="434400" cy="400800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手元にある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202;p3">
            <a:extLst>
              <a:ext uri="{FF2B5EF4-FFF2-40B4-BE49-F238E27FC236}">
                <a16:creationId xmlns:a16="http://schemas.microsoft.com/office/drawing/2014/main" id="{8243A2A9-CBAA-05D2-46BA-8A476F68A1D5}"/>
              </a:ext>
            </a:extLst>
          </p:cNvPr>
          <p:cNvSpPr/>
          <p:nvPr/>
        </p:nvSpPr>
        <p:spPr>
          <a:xfrm>
            <a:off x="2278039" y="3230512"/>
            <a:ext cx="2066565" cy="396973"/>
          </a:xfrm>
          <a:prstGeom prst="wedgeRectCallout">
            <a:avLst>
              <a:gd name="adj1" fmla="val -60564"/>
              <a:gd name="adj2" fmla="val 52819"/>
            </a:avLst>
          </a:prstGeom>
          <a:solidFill>
            <a:schemeClr val="l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altLang="ja-JP" sz="600" dirty="0">
                <a:solidFill>
                  <a:srgbClr val="FF0000"/>
                </a:solidFill>
              </a:rPr>
              <a:t>JOY</a:t>
            </a:r>
            <a:r>
              <a:rPr lang="ja-JP" altLang="en-US" sz="600">
                <a:solidFill>
                  <a:srgbClr val="FF0000"/>
                </a:solidFill>
              </a:rPr>
              <a:t>への</a:t>
            </a:r>
            <a:r>
              <a:rPr lang="ja-JP" altLang="en-US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データ連携は</a:t>
            </a:r>
            <a:r>
              <a:rPr lang="en-US" altLang="ja-JP" sz="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r>
              <a:rPr lang="ja-JP" altLang="en-US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へのファイル連携により行う。</a:t>
            </a:r>
            <a:endParaRPr lang="en-US" altLang="ja-JP"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altLang="en-US" sz="600">
                <a:solidFill>
                  <a:srgbClr val="FF0000"/>
                </a:solidFill>
              </a:rPr>
              <a:t>連携</a:t>
            </a:r>
            <a:r>
              <a:rPr lang="ja-JP" altLang="en-US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されたファイルは、</a:t>
            </a:r>
            <a:r>
              <a:rPr lang="en-US" altLang="ja-JP" sz="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JOY</a:t>
            </a:r>
            <a:r>
              <a:rPr lang="ja-JP" altLang="en-US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運用チームにてデータロード設定することで</a:t>
            </a:r>
            <a:r>
              <a:rPr lang="en-US" altLang="ja-JP" sz="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Redshift</a:t>
            </a:r>
            <a:r>
              <a:rPr lang="ja-JP" altLang="en-US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に取り込まれる。</a:t>
            </a:r>
            <a:endParaRPr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DDCEE990-910A-1426-95CE-AA075970C46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35912" y="4893105"/>
            <a:ext cx="180184" cy="212945"/>
          </a:xfrm>
          <a:prstGeom prst="rect">
            <a:avLst/>
          </a:prstGeom>
        </p:spPr>
      </p:pic>
      <p:sp>
        <p:nvSpPr>
          <p:cNvPr id="49" name="Google Shape;220;g2738aae21b7_0_1">
            <a:extLst>
              <a:ext uri="{FF2B5EF4-FFF2-40B4-BE49-F238E27FC236}">
                <a16:creationId xmlns:a16="http://schemas.microsoft.com/office/drawing/2014/main" id="{C13426E7-7AC3-AF03-7879-93C3818DDCDE}"/>
              </a:ext>
            </a:extLst>
          </p:cNvPr>
          <p:cNvSpPr/>
          <p:nvPr/>
        </p:nvSpPr>
        <p:spPr>
          <a:xfrm>
            <a:off x="4146457" y="4851078"/>
            <a:ext cx="1352151" cy="130534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 Builder</a:t>
            </a:r>
            <a:endParaRPr lang="en"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図 49">
            <a:extLst>
              <a:ext uri="{FF2B5EF4-FFF2-40B4-BE49-F238E27FC236}">
                <a16:creationId xmlns:a16="http://schemas.microsoft.com/office/drawing/2014/main" id="{F0D07F0C-0559-17BB-8B24-04A132CDACD3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t="1" r="82606" b="10411"/>
          <a:stretch/>
        </p:blipFill>
        <p:spPr>
          <a:xfrm>
            <a:off x="4174367" y="4876429"/>
            <a:ext cx="192720" cy="220585"/>
          </a:xfrm>
          <a:prstGeom prst="rect">
            <a:avLst/>
          </a:prstGeom>
        </p:spPr>
      </p:pic>
      <p:pic>
        <p:nvPicPr>
          <p:cNvPr id="33" name="Google Shape;485;p8">
            <a:extLst>
              <a:ext uri="{FF2B5EF4-FFF2-40B4-BE49-F238E27FC236}">
                <a16:creationId xmlns:a16="http://schemas.microsoft.com/office/drawing/2014/main" id="{C95D28A6-9401-134E-9545-3C87FC85454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243" y="6036581"/>
            <a:ext cx="212197" cy="18514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220;g2738aae21b7_0_1">
            <a:extLst>
              <a:ext uri="{FF2B5EF4-FFF2-40B4-BE49-F238E27FC236}">
                <a16:creationId xmlns:a16="http://schemas.microsoft.com/office/drawing/2014/main" id="{01CAE9C0-AC65-7F66-5026-FD9CF8E58920}"/>
              </a:ext>
            </a:extLst>
          </p:cNvPr>
          <p:cNvSpPr/>
          <p:nvPr/>
        </p:nvSpPr>
        <p:spPr>
          <a:xfrm>
            <a:off x="7881035" y="4752968"/>
            <a:ext cx="1352151" cy="73812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altLang="ja-JP" sz="800" dirty="0">
                <a:solidFill>
                  <a:schemeClr val="dk1"/>
                </a:solidFill>
              </a:rPr>
              <a:t>Workshop</a:t>
            </a:r>
            <a:endParaRPr lang="en"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図 89">
            <a:extLst>
              <a:ext uri="{FF2B5EF4-FFF2-40B4-BE49-F238E27FC236}">
                <a16:creationId xmlns:a16="http://schemas.microsoft.com/office/drawing/2014/main" id="{92301F72-01FB-D587-68F5-D5E6C969079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3305" y="4760151"/>
            <a:ext cx="209553" cy="225672"/>
          </a:xfrm>
          <a:prstGeom prst="rect">
            <a:avLst/>
          </a:prstGeom>
        </p:spPr>
      </p:pic>
      <p:sp>
        <p:nvSpPr>
          <p:cNvPr id="100" name="Google Shape;220;g2738aae21b7_0_1">
            <a:extLst>
              <a:ext uri="{FF2B5EF4-FFF2-40B4-BE49-F238E27FC236}">
                <a16:creationId xmlns:a16="http://schemas.microsoft.com/office/drawing/2014/main" id="{AEB8C72C-CB4E-D5A5-23D0-AEF38B58F95F}"/>
              </a:ext>
            </a:extLst>
          </p:cNvPr>
          <p:cNvSpPr/>
          <p:nvPr/>
        </p:nvSpPr>
        <p:spPr>
          <a:xfrm>
            <a:off x="2111653" y="5732889"/>
            <a:ext cx="813372" cy="52457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endParaRPr lang="en-US" altLang="ja-JP" sz="800" dirty="0">
              <a:solidFill>
                <a:schemeClr val="dk1"/>
              </a:solidFill>
            </a:endParaRPr>
          </a:p>
        </p:txBody>
      </p:sp>
      <p:sp>
        <p:nvSpPr>
          <p:cNvPr id="27" name="Google Shape;463;p8">
            <a:extLst>
              <a:ext uri="{FF2B5EF4-FFF2-40B4-BE49-F238E27FC236}">
                <a16:creationId xmlns:a16="http://schemas.microsoft.com/office/drawing/2014/main" id="{1979B68B-15D5-23DA-B428-68A3EB4E19BA}"/>
              </a:ext>
            </a:extLst>
          </p:cNvPr>
          <p:cNvSpPr/>
          <p:nvPr/>
        </p:nvSpPr>
        <p:spPr>
          <a:xfrm>
            <a:off x="601699" y="4800137"/>
            <a:ext cx="434400" cy="380865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altLang="en-US" sz="600">
                <a:solidFill>
                  <a:schemeClr val="dk1"/>
                </a:solidFill>
              </a:rPr>
              <a:t>各社</a:t>
            </a: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</a:t>
            </a:r>
            <a:endParaRPr dirty="0"/>
          </a:p>
        </p:txBody>
      </p:sp>
      <p:cxnSp>
        <p:nvCxnSpPr>
          <p:cNvPr id="36" name="Google Shape;488;p8">
            <a:extLst>
              <a:ext uri="{FF2B5EF4-FFF2-40B4-BE49-F238E27FC236}">
                <a16:creationId xmlns:a16="http://schemas.microsoft.com/office/drawing/2014/main" id="{F395D207-815B-2543-D898-D6483370121C}"/>
              </a:ext>
            </a:extLst>
          </p:cNvPr>
          <p:cNvCxnSpPr>
            <a:cxnSpLocks/>
          </p:cNvCxnSpPr>
          <p:nvPr/>
        </p:nvCxnSpPr>
        <p:spPr>
          <a:xfrm>
            <a:off x="1029245" y="5020463"/>
            <a:ext cx="1091873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6" name="Google Shape;486;p8">
            <a:extLst>
              <a:ext uri="{FF2B5EF4-FFF2-40B4-BE49-F238E27FC236}">
                <a16:creationId xmlns:a16="http://schemas.microsoft.com/office/drawing/2014/main" id="{D1256447-122A-DE86-2010-F8549F5CBF08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35022" y="6287387"/>
            <a:ext cx="492621" cy="16150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1" name="Google Shape;179;p3">
            <a:extLst>
              <a:ext uri="{FF2B5EF4-FFF2-40B4-BE49-F238E27FC236}">
                <a16:creationId xmlns:a16="http://schemas.microsoft.com/office/drawing/2014/main" id="{196BC364-A071-A661-9CD3-0922C57D6015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1036099" y="5498859"/>
            <a:ext cx="1103853" cy="318686"/>
          </a:xfrm>
          <a:prstGeom prst="bentConnector3">
            <a:avLst>
              <a:gd name="adj1" fmla="val 6068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19" name="図 118">
            <a:extLst>
              <a:ext uri="{FF2B5EF4-FFF2-40B4-BE49-F238E27FC236}">
                <a16:creationId xmlns:a16="http://schemas.microsoft.com/office/drawing/2014/main" id="{5610610D-91EB-5AFF-2470-60B41C61EB2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32487" y="5750815"/>
            <a:ext cx="218470" cy="235276"/>
          </a:xfrm>
          <a:prstGeom prst="rect">
            <a:avLst/>
          </a:prstGeom>
        </p:spPr>
      </p:pic>
      <p:sp>
        <p:nvSpPr>
          <p:cNvPr id="120" name="Google Shape;203;p3">
            <a:extLst>
              <a:ext uri="{FF2B5EF4-FFF2-40B4-BE49-F238E27FC236}">
                <a16:creationId xmlns:a16="http://schemas.microsoft.com/office/drawing/2014/main" id="{9BD193A6-6F73-9EE9-925F-6BDCE8F81A8D}"/>
              </a:ext>
            </a:extLst>
          </p:cNvPr>
          <p:cNvSpPr/>
          <p:nvPr/>
        </p:nvSpPr>
        <p:spPr>
          <a:xfrm>
            <a:off x="2368531" y="5883190"/>
            <a:ext cx="373272" cy="327881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アップ</a:t>
            </a:r>
            <a:endParaRPr lang="en-US" sz="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5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ロード</a:t>
            </a:r>
            <a:endParaRPr lang="en-US" sz="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sz="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243;g2738aae21b7_0_1">
            <a:extLst>
              <a:ext uri="{FF2B5EF4-FFF2-40B4-BE49-F238E27FC236}">
                <a16:creationId xmlns:a16="http://schemas.microsoft.com/office/drawing/2014/main" id="{5677F72D-D932-B708-0AE6-4D9D3799539A}"/>
              </a:ext>
            </a:extLst>
          </p:cNvPr>
          <p:cNvCxnSpPr>
            <a:cxnSpLocks/>
          </p:cNvCxnSpPr>
          <p:nvPr/>
        </p:nvCxnSpPr>
        <p:spPr>
          <a:xfrm flipV="1">
            <a:off x="2781170" y="6030711"/>
            <a:ext cx="1333525" cy="587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oval" w="sm" len="sm"/>
            <a:tailEnd type="triangle" w="med" len="med"/>
          </a:ln>
        </p:spPr>
      </p:cxnSp>
      <p:sp>
        <p:nvSpPr>
          <p:cNvPr id="189" name="Google Shape;220;g2738aae21b7_0_1">
            <a:extLst>
              <a:ext uri="{FF2B5EF4-FFF2-40B4-BE49-F238E27FC236}">
                <a16:creationId xmlns:a16="http://schemas.microsoft.com/office/drawing/2014/main" id="{AB1E69FE-A7A1-C69D-6A09-8FE4B977F9DE}"/>
              </a:ext>
            </a:extLst>
          </p:cNvPr>
          <p:cNvSpPr/>
          <p:nvPr/>
        </p:nvSpPr>
        <p:spPr>
          <a:xfrm>
            <a:off x="7881035" y="5541776"/>
            <a:ext cx="1352151" cy="73812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Slate</a:t>
            </a:r>
            <a:endParaRPr lang="en"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図 193">
            <a:extLst>
              <a:ext uri="{FF2B5EF4-FFF2-40B4-BE49-F238E27FC236}">
                <a16:creationId xmlns:a16="http://schemas.microsoft.com/office/drawing/2014/main" id="{C4DF88B1-4FDB-A151-2373-D9C69B3BB36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3305" y="5554694"/>
            <a:ext cx="226586" cy="242771"/>
          </a:xfrm>
          <a:prstGeom prst="rect">
            <a:avLst/>
          </a:prstGeom>
        </p:spPr>
      </p:pic>
      <p:cxnSp>
        <p:nvCxnSpPr>
          <p:cNvPr id="44" name="Google Shape;512;p8">
            <a:extLst>
              <a:ext uri="{FF2B5EF4-FFF2-40B4-BE49-F238E27FC236}">
                <a16:creationId xmlns:a16="http://schemas.microsoft.com/office/drawing/2014/main" id="{564E1017-3DA3-65B1-62F9-0CAAD1FF46D4}"/>
              </a:ext>
            </a:extLst>
          </p:cNvPr>
          <p:cNvCxnSpPr>
            <a:cxnSpLocks/>
            <a:stCxn id="86" idx="3"/>
            <a:endCxn id="39" idx="1"/>
          </p:cNvCxnSpPr>
          <p:nvPr/>
        </p:nvCxnSpPr>
        <p:spPr>
          <a:xfrm>
            <a:off x="9233186" y="5122030"/>
            <a:ext cx="1399252" cy="953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8" name="Google Shape;179;p3">
            <a:extLst>
              <a:ext uri="{FF2B5EF4-FFF2-40B4-BE49-F238E27FC236}">
                <a16:creationId xmlns:a16="http://schemas.microsoft.com/office/drawing/2014/main" id="{4CA7037A-30A8-CE45-2715-10B749186998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9211840" y="5131560"/>
            <a:ext cx="1420598" cy="795225"/>
          </a:xfrm>
          <a:prstGeom prst="bentConnector3">
            <a:avLst>
              <a:gd name="adj1" fmla="val 1470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01" name="Google Shape;130;p3">
            <a:extLst>
              <a:ext uri="{FF2B5EF4-FFF2-40B4-BE49-F238E27FC236}">
                <a16:creationId xmlns:a16="http://schemas.microsoft.com/office/drawing/2014/main" id="{E20DE690-5213-417A-149E-32AE20C33A5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33130" y="5215705"/>
            <a:ext cx="212197" cy="1851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5" name="Google Shape;153;p3">
            <a:extLst>
              <a:ext uri="{FF2B5EF4-FFF2-40B4-BE49-F238E27FC236}">
                <a16:creationId xmlns:a16="http://schemas.microsoft.com/office/drawing/2014/main" id="{FED1C72A-1E29-32C9-C7DF-683E3701A19C}"/>
              </a:ext>
            </a:extLst>
          </p:cNvPr>
          <p:cNvCxnSpPr>
            <a:cxnSpLocks/>
          </p:cNvCxnSpPr>
          <p:nvPr/>
        </p:nvCxnSpPr>
        <p:spPr>
          <a:xfrm flipH="1">
            <a:off x="9945327" y="5297578"/>
            <a:ext cx="644778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207" name="Google Shape;165;p3">
            <a:extLst>
              <a:ext uri="{FF2B5EF4-FFF2-40B4-BE49-F238E27FC236}">
                <a16:creationId xmlns:a16="http://schemas.microsoft.com/office/drawing/2014/main" id="{B18F593B-682B-7299-0E1E-8D0C143BBFB3}"/>
              </a:ext>
            </a:extLst>
          </p:cNvPr>
          <p:cNvSpPr/>
          <p:nvPr/>
        </p:nvSpPr>
        <p:spPr>
          <a:xfrm>
            <a:off x="10083393" y="5354702"/>
            <a:ext cx="45998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ログイン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02;p3">
            <a:extLst>
              <a:ext uri="{FF2B5EF4-FFF2-40B4-BE49-F238E27FC236}">
                <a16:creationId xmlns:a16="http://schemas.microsoft.com/office/drawing/2014/main" id="{41F9C885-9167-C6FF-1F6F-BB4F7B770D00}"/>
              </a:ext>
            </a:extLst>
          </p:cNvPr>
          <p:cNvSpPr/>
          <p:nvPr/>
        </p:nvSpPr>
        <p:spPr>
          <a:xfrm>
            <a:off x="2983663" y="5541776"/>
            <a:ext cx="1098993" cy="396973"/>
          </a:xfrm>
          <a:prstGeom prst="wedgeRectCallout">
            <a:avLst>
              <a:gd name="adj1" fmla="val -67721"/>
              <a:gd name="adj2" fmla="val 55296"/>
            </a:avLst>
          </a:prstGeom>
          <a:solidFill>
            <a:schemeClr val="l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altLang="en-US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業務端末から直接ファイルをアップロードすることができる</a:t>
            </a:r>
            <a:endParaRPr lang="en-US" altLang="ja-JP"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スライド番号プレースホルダー 1">
            <a:extLst>
              <a:ext uri="{FF2B5EF4-FFF2-40B4-BE49-F238E27FC236}">
                <a16:creationId xmlns:a16="http://schemas.microsoft.com/office/drawing/2014/main" id="{97E47EE5-80AA-2AC1-BCFC-EC36484F4E0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</p:spPr>
        <p:txBody>
          <a:bodyPr wrap="square" anchor="t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altLang="ja-JP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3</a:t>
            </a:fld>
            <a:endParaRPr lang="ja-JP" altLang="en-US" sz="900"/>
          </a:p>
        </p:txBody>
      </p:sp>
      <p:cxnSp>
        <p:nvCxnSpPr>
          <p:cNvPr id="213" name="Google Shape;542;p8">
            <a:extLst>
              <a:ext uri="{FF2B5EF4-FFF2-40B4-BE49-F238E27FC236}">
                <a16:creationId xmlns:a16="http://schemas.microsoft.com/office/drawing/2014/main" id="{183F65BC-A67F-DD1B-80D6-1329588D4A4B}"/>
              </a:ext>
            </a:extLst>
          </p:cNvPr>
          <p:cNvCxnSpPr>
            <a:cxnSpLocks/>
            <a:stCxn id="56" idx="4"/>
            <a:endCxn id="86" idx="1"/>
          </p:cNvCxnSpPr>
          <p:nvPr/>
        </p:nvCxnSpPr>
        <p:spPr>
          <a:xfrm flipV="1">
            <a:off x="6548145" y="5122030"/>
            <a:ext cx="1332890" cy="388016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oval" w="sm" len="sm"/>
            <a:tailEnd type="triangle" w="med" len="med"/>
          </a:ln>
        </p:spPr>
      </p:cxnSp>
      <p:cxnSp>
        <p:nvCxnSpPr>
          <p:cNvPr id="215" name="Google Shape;542;p8">
            <a:extLst>
              <a:ext uri="{FF2B5EF4-FFF2-40B4-BE49-F238E27FC236}">
                <a16:creationId xmlns:a16="http://schemas.microsoft.com/office/drawing/2014/main" id="{BF3C4FDF-36FD-6A14-4FC4-1E25152CF8B5}"/>
              </a:ext>
            </a:extLst>
          </p:cNvPr>
          <p:cNvCxnSpPr>
            <a:cxnSpLocks/>
            <a:stCxn id="56" idx="4"/>
            <a:endCxn id="189" idx="1"/>
          </p:cNvCxnSpPr>
          <p:nvPr/>
        </p:nvCxnSpPr>
        <p:spPr>
          <a:xfrm>
            <a:off x="6548145" y="5510046"/>
            <a:ext cx="1332890" cy="40079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oval" w="sm" len="sm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738aae21b7_0_1"/>
          <p:cNvSpPr/>
          <p:nvPr/>
        </p:nvSpPr>
        <p:spPr>
          <a:xfrm>
            <a:off x="1878966" y="1042880"/>
            <a:ext cx="8498100" cy="28935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2738aae21b7_0_1"/>
          <p:cNvSpPr/>
          <p:nvPr/>
        </p:nvSpPr>
        <p:spPr>
          <a:xfrm>
            <a:off x="5545135" y="2610361"/>
            <a:ext cx="933291" cy="124561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>
              <a:buSzPts val="800"/>
            </a:pPr>
            <a:r>
              <a:rPr lang="ja-JP" altLang="en-US" sz="800">
                <a:solidFill>
                  <a:schemeClr val="dk1"/>
                </a:solidFill>
              </a:rPr>
              <a:t>     </a:t>
            </a: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Redshift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2738aae21b7_0_1"/>
          <p:cNvSpPr/>
          <p:nvPr/>
        </p:nvSpPr>
        <p:spPr>
          <a:xfrm>
            <a:off x="2902582" y="1111670"/>
            <a:ext cx="1069500" cy="732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>
              <a:buSzPts val="800"/>
            </a:pPr>
            <a:r>
              <a:rPr lang="en" altLang="ja-JP" sz="800" dirty="0">
                <a:solidFill>
                  <a:schemeClr val="dk1"/>
                </a:solidFill>
              </a:rPr>
              <a:t>    </a:t>
            </a:r>
            <a:r>
              <a:rPr lang="en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Workspaces</a:t>
            </a:r>
            <a:endParaRPr lang="en"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2738aae21b7_0_1"/>
          <p:cNvSpPr txBox="1">
            <a:spLocks noGrp="1"/>
          </p:cNvSpPr>
          <p:nvPr>
            <p:ph type="body" idx="2"/>
          </p:nvPr>
        </p:nvSpPr>
        <p:spPr>
          <a:xfrm>
            <a:off x="32084" y="67159"/>
            <a:ext cx="12359400" cy="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228600" indent="0"/>
            <a:r>
              <a:rPr lang="en-US" altLang="ja-JP" sz="1800" dirty="0">
                <a:solidFill>
                  <a:schemeClr val="dk1"/>
                </a:solidFill>
              </a:rPr>
              <a:t>JOY / Foundry </a:t>
            </a:r>
            <a:r>
              <a:rPr lang="ja-JP" sz="1800">
                <a:solidFill>
                  <a:schemeClr val="dk1"/>
                </a:solidFill>
              </a:rPr>
              <a:t>のシステム構成概要（</a:t>
            </a:r>
            <a:r>
              <a:rPr lang="ja-JP" altLang="en-US" sz="1800">
                <a:solidFill>
                  <a:schemeClr val="dk1"/>
                </a:solidFill>
              </a:rPr>
              <a:t>変更後：</a:t>
            </a:r>
            <a:r>
              <a:rPr lang="ja-JP" altLang="ja-JP" sz="1800">
                <a:solidFill>
                  <a:schemeClr val="tx1"/>
                </a:solidFill>
              </a:rPr>
              <a:t>Paxata代替 プレパレーション環境導入）</a:t>
            </a:r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222" name="Google Shape;222;g2738aae21b7_0_1"/>
          <p:cNvSpPr/>
          <p:nvPr/>
        </p:nvSpPr>
        <p:spPr>
          <a:xfrm>
            <a:off x="587780" y="1104047"/>
            <a:ext cx="1149300" cy="750600"/>
          </a:xfrm>
          <a:prstGeom prst="rect">
            <a:avLst/>
          </a:prstGeom>
          <a:noFill/>
          <a:ln w="9525" cap="flat" cmpd="sng">
            <a:solidFill>
              <a:srgbClr val="5A6B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36000" rIns="91425" bIns="36000" anchor="t" anchorCtr="0">
            <a:noAutofit/>
          </a:bodyPr>
          <a:lstStyle/>
          <a:p>
            <a:pPr marL="63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5A6B86"/>
                </a:solidFill>
                <a:latin typeface="Arial"/>
                <a:ea typeface="Arial"/>
                <a:cs typeface="Arial"/>
                <a:sym typeface="Arial"/>
              </a:rPr>
              <a:t>JOY分析者</a:t>
            </a:r>
            <a:endParaRPr sz="700" b="0" i="0" u="none" strike="noStrike" cap="none" dirty="0">
              <a:solidFill>
                <a:srgbClr val="5A6B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altLang="en-US" sz="700">
                <a:solidFill>
                  <a:srgbClr val="5A6B86"/>
                </a:solidFill>
              </a:rPr>
              <a:t>業務</a:t>
            </a:r>
            <a:r>
              <a:rPr lang="ja-JP" sz="700" b="0" i="0" u="none" strike="noStrike" cap="none">
                <a:solidFill>
                  <a:srgbClr val="5A6B86"/>
                </a:solidFill>
                <a:latin typeface="Arial"/>
                <a:ea typeface="Arial"/>
                <a:cs typeface="Arial"/>
                <a:sym typeface="Arial"/>
              </a:rPr>
              <a:t>端末</a:t>
            </a:r>
            <a:endParaRPr sz="700" b="0" i="0" u="none" strike="noStrike" cap="none" dirty="0">
              <a:solidFill>
                <a:srgbClr val="5A6B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g2738aae21b7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780" y="1099975"/>
            <a:ext cx="180434" cy="157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2738aae21b7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602" y="1459124"/>
            <a:ext cx="256772" cy="224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2738aae21b7_0_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02581" y="1111670"/>
            <a:ext cx="177046" cy="15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2738aae21b7_0_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96482" y="1305772"/>
            <a:ext cx="212197" cy="185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2738aae21b7_0_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54518" y="2620492"/>
            <a:ext cx="177046" cy="15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2738aae21b7_0_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16839" y="1329668"/>
            <a:ext cx="216390" cy="166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2738aae21b7_0_1" descr="「ブラウザ アイコン」の画像検索結果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28271" y="1639799"/>
            <a:ext cx="240024" cy="20942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2738aae21b7_0_1"/>
          <p:cNvSpPr/>
          <p:nvPr/>
        </p:nvSpPr>
        <p:spPr>
          <a:xfrm>
            <a:off x="1985442" y="2133364"/>
            <a:ext cx="618600" cy="173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S3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800"/>
            </a:pPr>
            <a:r>
              <a:rPr 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ja-JP" altLang="en-US" sz="800">
                <a:solidFill>
                  <a:schemeClr val="dk1"/>
                </a:solidFill>
              </a:rPr>
              <a:t> </a:t>
            </a: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(raw)</a:t>
            </a: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g2738aae21b7_0_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85443" y="2135526"/>
            <a:ext cx="177046" cy="15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2738aae21b7_0_1"/>
          <p:cNvSpPr/>
          <p:nvPr/>
        </p:nvSpPr>
        <p:spPr>
          <a:xfrm>
            <a:off x="8622782" y="1102152"/>
            <a:ext cx="1114500" cy="750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>
              <a:buSzPts val="800"/>
            </a:pPr>
            <a:r>
              <a:rPr lang="ja-JP" altLang="en-US" sz="800">
                <a:solidFill>
                  <a:schemeClr val="dk1"/>
                </a:solidFill>
              </a:rPr>
              <a:t>     </a:t>
            </a: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Tableau Server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g2738aae21b7_0_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22782" y="1106588"/>
            <a:ext cx="177046" cy="15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2738aae21b7_0_1"/>
          <p:cNvSpPr/>
          <p:nvPr/>
        </p:nvSpPr>
        <p:spPr>
          <a:xfrm>
            <a:off x="1328247" y="1575439"/>
            <a:ext cx="459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2738aae21b7_0_1"/>
          <p:cNvSpPr/>
          <p:nvPr/>
        </p:nvSpPr>
        <p:spPr>
          <a:xfrm>
            <a:off x="1226552" y="1210356"/>
            <a:ext cx="58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Workspaces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アプリ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2738aae21b7_0_1"/>
          <p:cNvSpPr/>
          <p:nvPr/>
        </p:nvSpPr>
        <p:spPr>
          <a:xfrm>
            <a:off x="1869891" y="586271"/>
            <a:ext cx="960302" cy="39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データレイク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2738aae21b7_0_1"/>
          <p:cNvSpPr/>
          <p:nvPr/>
        </p:nvSpPr>
        <p:spPr>
          <a:xfrm>
            <a:off x="2895049" y="586272"/>
            <a:ext cx="1114500" cy="39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分析環境入口</a:t>
            </a:r>
            <a:endParaRPr sz="10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（踏み台サーバーの</a:t>
            </a:r>
            <a:endParaRPr sz="7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位置付けも含む）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2738aae21b7_0_1"/>
          <p:cNvSpPr/>
          <p:nvPr/>
        </p:nvSpPr>
        <p:spPr>
          <a:xfrm>
            <a:off x="4094165" y="586272"/>
            <a:ext cx="1368600" cy="39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データ前処理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2738aae21b7_0_1"/>
          <p:cNvSpPr/>
          <p:nvPr/>
        </p:nvSpPr>
        <p:spPr>
          <a:xfrm>
            <a:off x="5547377" y="586272"/>
            <a:ext cx="1738200" cy="39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データマート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2738aae21b7_0_1"/>
          <p:cNvSpPr/>
          <p:nvPr/>
        </p:nvSpPr>
        <p:spPr>
          <a:xfrm>
            <a:off x="8677662" y="578281"/>
            <a:ext cx="1190100" cy="39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ダッシュボード活用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2738aae21b7_0_1"/>
          <p:cNvSpPr/>
          <p:nvPr/>
        </p:nvSpPr>
        <p:spPr>
          <a:xfrm>
            <a:off x="593051" y="3492870"/>
            <a:ext cx="434400" cy="400800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altLang="en-US" sz="600">
                <a:solidFill>
                  <a:schemeClr val="dk1"/>
                </a:solidFill>
              </a:rPr>
              <a:t>各社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2738aae21b7_0_1"/>
          <p:cNvSpPr/>
          <p:nvPr/>
        </p:nvSpPr>
        <p:spPr>
          <a:xfrm>
            <a:off x="1384759" y="3561144"/>
            <a:ext cx="228157" cy="272896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csv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g2738aae21b7_0_1"/>
          <p:cNvCxnSpPr>
            <a:cxnSpLocks/>
          </p:cNvCxnSpPr>
          <p:nvPr/>
        </p:nvCxnSpPr>
        <p:spPr>
          <a:xfrm>
            <a:off x="2308794" y="3130715"/>
            <a:ext cx="3249158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sm" len="sm"/>
            <a:tailEnd type="triangle" w="med" len="med"/>
          </a:ln>
        </p:spPr>
      </p:cxnSp>
      <p:cxnSp>
        <p:nvCxnSpPr>
          <p:cNvPr id="244" name="Google Shape;244;g2738aae21b7_0_1"/>
          <p:cNvCxnSpPr>
            <a:cxnSpLocks/>
          </p:cNvCxnSpPr>
          <p:nvPr/>
        </p:nvCxnSpPr>
        <p:spPr>
          <a:xfrm>
            <a:off x="1612916" y="3682083"/>
            <a:ext cx="652550" cy="306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5" name="Google Shape;245;g2738aae21b7_0_1"/>
          <p:cNvCxnSpPr>
            <a:cxnSpLocks/>
          </p:cNvCxnSpPr>
          <p:nvPr/>
        </p:nvCxnSpPr>
        <p:spPr>
          <a:xfrm flipV="1">
            <a:off x="2308795" y="3685573"/>
            <a:ext cx="3236339" cy="27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sm" len="sm"/>
            <a:tailEnd type="triangle" w="med" len="med"/>
          </a:ln>
        </p:spPr>
      </p:cxnSp>
      <p:sp>
        <p:nvSpPr>
          <p:cNvPr id="246" name="Google Shape;246;g2738aae21b7_0_1"/>
          <p:cNvSpPr/>
          <p:nvPr/>
        </p:nvSpPr>
        <p:spPr>
          <a:xfrm>
            <a:off x="593051" y="2938247"/>
            <a:ext cx="434400" cy="400800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手元にある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g2738aae21b7_0_1"/>
          <p:cNvCxnSpPr>
            <a:cxnSpLocks/>
          </p:cNvCxnSpPr>
          <p:nvPr/>
        </p:nvCxnSpPr>
        <p:spPr>
          <a:xfrm flipV="1">
            <a:off x="1038449" y="3130715"/>
            <a:ext cx="1237862" cy="793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8" name="Google Shape;248;g2738aae21b7_0_1"/>
          <p:cNvCxnSpPr>
            <a:cxnSpLocks/>
          </p:cNvCxnSpPr>
          <p:nvPr/>
        </p:nvCxnSpPr>
        <p:spPr>
          <a:xfrm>
            <a:off x="1603052" y="1397496"/>
            <a:ext cx="1193430" cy="84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249" name="Google Shape;249;g2738aae21b7_0_1"/>
          <p:cNvCxnSpPr>
            <a:cxnSpLocks/>
          </p:cNvCxnSpPr>
          <p:nvPr/>
        </p:nvCxnSpPr>
        <p:spPr>
          <a:xfrm flipH="1">
            <a:off x="1737961" y="1570420"/>
            <a:ext cx="1143359" cy="30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0" name="Google Shape;250;g2738aae21b7_0_1"/>
          <p:cNvCxnSpPr/>
          <p:nvPr/>
        </p:nvCxnSpPr>
        <p:spPr>
          <a:xfrm>
            <a:off x="9731476" y="1468113"/>
            <a:ext cx="93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1" name="Google Shape;251;g2738aae21b7_0_1"/>
          <p:cNvSpPr/>
          <p:nvPr/>
        </p:nvSpPr>
        <p:spPr>
          <a:xfrm>
            <a:off x="2174759" y="1525223"/>
            <a:ext cx="160500" cy="10770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2738aae21b7_0_1"/>
          <p:cNvSpPr/>
          <p:nvPr/>
        </p:nvSpPr>
        <p:spPr>
          <a:xfrm>
            <a:off x="9858041" y="2610361"/>
            <a:ext cx="45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JOY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" name="Google Shape;256;g2738aae21b7_0_1"/>
          <p:cNvCxnSpPr>
            <a:cxnSpLocks/>
          </p:cNvCxnSpPr>
          <p:nvPr/>
        </p:nvCxnSpPr>
        <p:spPr>
          <a:xfrm flipV="1">
            <a:off x="3972082" y="1212028"/>
            <a:ext cx="3355215" cy="142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257" name="Google Shape;257;g2738aae21b7_0_1"/>
          <p:cNvSpPr/>
          <p:nvPr/>
        </p:nvSpPr>
        <p:spPr>
          <a:xfrm>
            <a:off x="1939753" y="1276319"/>
            <a:ext cx="459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ログイン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2738aae21b7_0_1"/>
          <p:cNvSpPr/>
          <p:nvPr/>
        </p:nvSpPr>
        <p:spPr>
          <a:xfrm>
            <a:off x="10628940" y="1072926"/>
            <a:ext cx="900300" cy="750600"/>
          </a:xfrm>
          <a:prstGeom prst="rect">
            <a:avLst/>
          </a:prstGeom>
          <a:noFill/>
          <a:ln w="9525" cap="flat" cmpd="sng">
            <a:solidFill>
              <a:srgbClr val="5A6B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36000" rIns="91425" bIns="36000" anchor="t" anchorCtr="0">
            <a:noAutofit/>
          </a:bodyPr>
          <a:lstStyle/>
          <a:p>
            <a:pPr marL="63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5A6B86"/>
                </a:solidFill>
                <a:latin typeface="Arial"/>
                <a:ea typeface="Arial"/>
                <a:cs typeface="Arial"/>
                <a:sym typeface="Arial"/>
              </a:rPr>
              <a:t>JOY閲覧者</a:t>
            </a:r>
            <a:endParaRPr sz="700" b="0" i="0" u="none" strike="noStrike" cap="none" dirty="0">
              <a:solidFill>
                <a:srgbClr val="5A6B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altLang="en-US" sz="700">
                <a:solidFill>
                  <a:srgbClr val="5A6B86"/>
                </a:solidFill>
              </a:rPr>
              <a:t>業務</a:t>
            </a:r>
            <a:r>
              <a:rPr lang="ja-JP" sz="700" b="0" i="0" u="none" strike="noStrike" cap="none">
                <a:solidFill>
                  <a:srgbClr val="5A6B86"/>
                </a:solidFill>
                <a:latin typeface="Arial"/>
                <a:ea typeface="Arial"/>
                <a:cs typeface="Arial"/>
                <a:sym typeface="Arial"/>
              </a:rPr>
              <a:t>端末</a:t>
            </a:r>
            <a:endParaRPr sz="700" b="0" i="0" u="none" strike="noStrike" cap="none" dirty="0">
              <a:solidFill>
                <a:srgbClr val="5A6B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g2738aae21b7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28940" y="1068854"/>
            <a:ext cx="180434" cy="157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2738aae21b7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72162" y="1432206"/>
            <a:ext cx="256772" cy="224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2738aae21b7_0_1" descr="「ブラウザ アイコン」の画像検索結果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737136" y="1468625"/>
            <a:ext cx="240024" cy="20942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2738aae21b7_0_1"/>
          <p:cNvSpPr/>
          <p:nvPr/>
        </p:nvSpPr>
        <p:spPr>
          <a:xfrm>
            <a:off x="10637112" y="1404265"/>
            <a:ext cx="459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2738aae21b7_0_1"/>
          <p:cNvSpPr/>
          <p:nvPr/>
        </p:nvSpPr>
        <p:spPr>
          <a:xfrm>
            <a:off x="9856163" y="1246545"/>
            <a:ext cx="686441" cy="201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ダッシュボード閲覧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2738aae21b7_0_1"/>
          <p:cNvSpPr/>
          <p:nvPr/>
        </p:nvSpPr>
        <p:spPr>
          <a:xfrm>
            <a:off x="655314" y="2020831"/>
            <a:ext cx="808200" cy="410127"/>
          </a:xfrm>
          <a:prstGeom prst="wedgeRectCallout">
            <a:avLst>
              <a:gd name="adj1" fmla="val 91410"/>
              <a:gd name="adj2" fmla="val -91205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ダウンロード制御有</a:t>
            </a:r>
            <a:endParaRPr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・上長メール</a:t>
            </a:r>
            <a:endParaRPr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・１GB制限</a:t>
            </a:r>
            <a:endParaRPr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2738aae21b7_0_1"/>
          <p:cNvSpPr/>
          <p:nvPr/>
        </p:nvSpPr>
        <p:spPr>
          <a:xfrm>
            <a:off x="7346433" y="576756"/>
            <a:ext cx="1221000" cy="39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ダッシュボード作成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2738aae21b7_0_1"/>
          <p:cNvSpPr/>
          <p:nvPr/>
        </p:nvSpPr>
        <p:spPr>
          <a:xfrm>
            <a:off x="7346433" y="1117021"/>
            <a:ext cx="1114500" cy="750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>
              <a:buSzPts val="800"/>
            </a:pPr>
            <a:r>
              <a:rPr lang="ja-JP" altLang="en-US" sz="800">
                <a:solidFill>
                  <a:schemeClr val="dk1"/>
                </a:solidFill>
              </a:rPr>
              <a:t>     </a:t>
            </a: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Tableau Desktop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※Workspaces上のアプリ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g2738aae21b7_0_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46433" y="1121457"/>
            <a:ext cx="177046" cy="154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2738aae21b7_0_1"/>
          <p:cNvSpPr/>
          <p:nvPr/>
        </p:nvSpPr>
        <p:spPr>
          <a:xfrm>
            <a:off x="5023940" y="1093708"/>
            <a:ext cx="459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ログイン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g2738aae21b7_0_1"/>
          <p:cNvCxnSpPr/>
          <p:nvPr/>
        </p:nvCxnSpPr>
        <p:spPr>
          <a:xfrm>
            <a:off x="8460868" y="1413318"/>
            <a:ext cx="144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3" name="Google Shape;253;g2738aae21b7_0_1"/>
          <p:cNvSpPr/>
          <p:nvPr/>
        </p:nvSpPr>
        <p:spPr>
          <a:xfrm>
            <a:off x="1981920" y="1701276"/>
            <a:ext cx="618600" cy="343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S3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（takeout)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g2738aae21b7_0_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81921" y="1704662"/>
            <a:ext cx="177046" cy="15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1" name="Google Shape;271;g2738aae21b7_0_1"/>
          <p:cNvCxnSpPr>
            <a:cxnSpLocks/>
          </p:cNvCxnSpPr>
          <p:nvPr/>
        </p:nvCxnSpPr>
        <p:spPr>
          <a:xfrm rot="10800000">
            <a:off x="1548343" y="1849164"/>
            <a:ext cx="437159" cy="363541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2" name="Google Shape;272;g2738aae21b7_0_1"/>
          <p:cNvSpPr/>
          <p:nvPr/>
        </p:nvSpPr>
        <p:spPr>
          <a:xfrm>
            <a:off x="1624358" y="2170904"/>
            <a:ext cx="160500" cy="10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g2738aae21b7_0_1"/>
          <p:cNvCxnSpPr>
            <a:cxnSpLocks/>
          </p:cNvCxnSpPr>
          <p:nvPr/>
        </p:nvCxnSpPr>
        <p:spPr>
          <a:xfrm flipH="1">
            <a:off x="2609061" y="1780309"/>
            <a:ext cx="285988" cy="19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4" name="Google Shape;274;g2738aae21b7_0_1"/>
          <p:cNvSpPr/>
          <p:nvPr/>
        </p:nvSpPr>
        <p:spPr>
          <a:xfrm>
            <a:off x="7011459" y="2615397"/>
            <a:ext cx="370418" cy="124566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S3  (work)</a:t>
            </a: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g2738aae21b7_0_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019622" y="2620317"/>
            <a:ext cx="177046" cy="15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g2738aae21b7_0_1"/>
          <p:cNvCxnSpPr>
            <a:cxnSpLocks/>
          </p:cNvCxnSpPr>
          <p:nvPr/>
        </p:nvCxnSpPr>
        <p:spPr>
          <a:xfrm rot="10800000" flipH="1">
            <a:off x="2604042" y="1849564"/>
            <a:ext cx="431400" cy="11496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8" name="Google Shape;278;g2738aae21b7_0_1"/>
          <p:cNvCxnSpPr>
            <a:cxnSpLocks/>
            <a:stCxn id="274" idx="0"/>
          </p:cNvCxnSpPr>
          <p:nvPr/>
        </p:nvCxnSpPr>
        <p:spPr>
          <a:xfrm rot="16200000" flipV="1">
            <a:off x="5148918" y="567646"/>
            <a:ext cx="870918" cy="3224583"/>
          </a:xfrm>
          <a:prstGeom prst="bentConnector2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0" name="Google Shape;280;g2738aae21b7_0_1"/>
          <p:cNvCxnSpPr>
            <a:cxnSpLocks/>
          </p:cNvCxnSpPr>
          <p:nvPr/>
        </p:nvCxnSpPr>
        <p:spPr>
          <a:xfrm>
            <a:off x="3972082" y="1365935"/>
            <a:ext cx="336740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8" name="Google Shape;288;g2738aae21b7_0_1"/>
          <p:cNvSpPr/>
          <p:nvPr/>
        </p:nvSpPr>
        <p:spPr>
          <a:xfrm>
            <a:off x="5987056" y="2861611"/>
            <a:ext cx="373272" cy="325750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前処理済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g2738aae21b7_0_1"/>
          <p:cNvCxnSpPr>
            <a:cxnSpLocks/>
            <a:stCxn id="288" idx="1"/>
            <a:endCxn id="266" idx="1"/>
          </p:cNvCxnSpPr>
          <p:nvPr/>
        </p:nvCxnSpPr>
        <p:spPr>
          <a:xfrm rot="5400000" flipH="1" flipV="1">
            <a:off x="6075417" y="1590596"/>
            <a:ext cx="1369290" cy="1172741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oval" w="sm" len="sm"/>
            <a:tailEnd type="triangle" w="med" len="med"/>
          </a:ln>
        </p:spPr>
      </p:cxnSp>
      <p:cxnSp>
        <p:nvCxnSpPr>
          <p:cNvPr id="291" name="Google Shape;291;g2738aae21b7_0_1"/>
          <p:cNvCxnSpPr>
            <a:cxnSpLocks/>
            <a:stCxn id="241" idx="4"/>
          </p:cNvCxnSpPr>
          <p:nvPr/>
        </p:nvCxnSpPr>
        <p:spPr>
          <a:xfrm>
            <a:off x="1027451" y="3693270"/>
            <a:ext cx="349498" cy="12232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2" name="Google Shape;292;g2738aae21b7_0_1"/>
          <p:cNvSpPr/>
          <p:nvPr/>
        </p:nvSpPr>
        <p:spPr>
          <a:xfrm>
            <a:off x="1886022" y="4160015"/>
            <a:ext cx="8468700" cy="2666620"/>
          </a:xfrm>
          <a:prstGeom prst="rect">
            <a:avLst/>
          </a:prstGeom>
          <a:solidFill>
            <a:srgbClr val="F6D8D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altLang="en-US"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　　</a:t>
            </a:r>
            <a:endParaRPr sz="10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2738aae21b7_0_1"/>
          <p:cNvSpPr/>
          <p:nvPr/>
        </p:nvSpPr>
        <p:spPr>
          <a:xfrm>
            <a:off x="2081441" y="4280941"/>
            <a:ext cx="7784400" cy="144344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alt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ja-JP" alt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</a:t>
            </a:r>
            <a:r>
              <a:rPr lang="en-US" altLang="ja-JP" sz="800" dirty="0" err="1">
                <a:solidFill>
                  <a:schemeClr val="dk1"/>
                </a:solidFill>
              </a:rPr>
              <a:t>Paxata</a:t>
            </a:r>
            <a:r>
              <a:rPr lang="ja-JP" altLang="en-US" sz="800">
                <a:solidFill>
                  <a:schemeClr val="dk1"/>
                </a:solidFill>
              </a:rPr>
              <a:t>代替</a:t>
            </a:r>
            <a:r>
              <a:rPr lang="en-US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Foundry</a:t>
            </a:r>
            <a:r>
              <a:rPr lang="ja-JP" alt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環境</a:t>
            </a: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g2738aae21b7_0_1" descr="Palantir (パランティア)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094883" y="4291695"/>
            <a:ext cx="535553" cy="262263"/>
          </a:xfrm>
          <a:prstGeom prst="rect">
            <a:avLst/>
          </a:prstGeom>
          <a:solidFill>
            <a:srgbClr val="D8D8D8">
              <a:alpha val="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05" name="Google Shape;305;g2738aae21b7_0_1"/>
          <p:cNvSpPr/>
          <p:nvPr/>
        </p:nvSpPr>
        <p:spPr>
          <a:xfrm>
            <a:off x="9624643" y="5746458"/>
            <a:ext cx="6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Foundry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2738aae21b7_0_1"/>
          <p:cNvSpPr/>
          <p:nvPr/>
        </p:nvSpPr>
        <p:spPr>
          <a:xfrm>
            <a:off x="2805313" y="4122574"/>
            <a:ext cx="459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ログイン</a:t>
            </a:r>
            <a:endParaRPr sz="7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g2738aae21b7_0_1"/>
          <p:cNvCxnSpPr>
            <a:cxnSpLocks/>
            <a:stCxn id="2" idx="2"/>
          </p:cNvCxnSpPr>
          <p:nvPr/>
        </p:nvCxnSpPr>
        <p:spPr>
          <a:xfrm>
            <a:off x="3251368" y="1790105"/>
            <a:ext cx="2133" cy="2480752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dash"/>
            <a:round/>
            <a:headEnd type="none" w="med" len="med"/>
            <a:tailEnd type="triangle" w="med" len="med"/>
          </a:ln>
        </p:spPr>
      </p:cxnSp>
      <p:pic>
        <p:nvPicPr>
          <p:cNvPr id="319" name="Google Shape;319;g2738aae21b7_0_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09497" y="4193701"/>
            <a:ext cx="280945" cy="210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29;g2738aae21b7_0_1" descr="「ブラウザ アイコン」の画像検索結果">
            <a:extLst>
              <a:ext uri="{FF2B5EF4-FFF2-40B4-BE49-F238E27FC236}">
                <a16:creationId xmlns:a16="http://schemas.microsoft.com/office/drawing/2014/main" id="{D6489EE8-BA3C-7672-BB65-EE26CFB1519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31356" y="1580681"/>
            <a:ext cx="240024" cy="20942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34;g2738aae21b7_0_1">
            <a:extLst>
              <a:ext uri="{FF2B5EF4-FFF2-40B4-BE49-F238E27FC236}">
                <a16:creationId xmlns:a16="http://schemas.microsoft.com/office/drawing/2014/main" id="{ADE805AA-2FB5-47F2-980D-856BA138DA54}"/>
              </a:ext>
            </a:extLst>
          </p:cNvPr>
          <p:cNvSpPr/>
          <p:nvPr/>
        </p:nvSpPr>
        <p:spPr>
          <a:xfrm>
            <a:off x="3028482" y="1517598"/>
            <a:ext cx="459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03;p3">
            <a:extLst>
              <a:ext uri="{FF2B5EF4-FFF2-40B4-BE49-F238E27FC236}">
                <a16:creationId xmlns:a16="http://schemas.microsoft.com/office/drawing/2014/main" id="{9CCE035A-EB0A-CC38-4993-FC9EE318CF8D}"/>
              </a:ext>
            </a:extLst>
          </p:cNvPr>
          <p:cNvSpPr/>
          <p:nvPr/>
        </p:nvSpPr>
        <p:spPr>
          <a:xfrm>
            <a:off x="5613794" y="3446751"/>
            <a:ext cx="373272" cy="327881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altLang="en-US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連携</a:t>
            </a:r>
            <a:endParaRPr sz="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lang="en-US" altLang="ja-JP" sz="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500" dirty="0">
                <a:solidFill>
                  <a:schemeClr val="dk1"/>
                </a:solidFill>
              </a:rPr>
              <a:t>(</a:t>
            </a:r>
            <a:r>
              <a:rPr lang="en-US" sz="500" dirty="0" err="1">
                <a:solidFill>
                  <a:schemeClr val="dk1"/>
                </a:solidFill>
              </a:rPr>
              <a:t>r区画</a:t>
            </a:r>
            <a:r>
              <a:rPr lang="en-US" sz="500" dirty="0">
                <a:solidFill>
                  <a:schemeClr val="dk1"/>
                </a:solidFill>
              </a:rPr>
              <a:t>)</a:t>
            </a:r>
            <a:endParaRPr sz="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220;g2738aae21b7_0_1">
            <a:extLst>
              <a:ext uri="{FF2B5EF4-FFF2-40B4-BE49-F238E27FC236}">
                <a16:creationId xmlns:a16="http://schemas.microsoft.com/office/drawing/2014/main" id="{2D2595E4-E3C7-7AF0-5035-3537CE5CF16C}"/>
              </a:ext>
            </a:extLst>
          </p:cNvPr>
          <p:cNvSpPr/>
          <p:nvPr/>
        </p:nvSpPr>
        <p:spPr>
          <a:xfrm>
            <a:off x="5682911" y="5797358"/>
            <a:ext cx="1463869" cy="31860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altLang="en-US" sz="800">
                <a:solidFill>
                  <a:schemeClr val="dk1"/>
                </a:solidFill>
              </a:rPr>
              <a:t>　　</a:t>
            </a:r>
            <a:r>
              <a:rPr lang="en-US" altLang="ja-JP" sz="800" dirty="0">
                <a:solidFill>
                  <a:schemeClr val="dk1"/>
                </a:solidFill>
              </a:rPr>
              <a:t>Project(</a:t>
            </a:r>
            <a:r>
              <a:rPr lang="en" sz="800" dirty="0" err="1">
                <a:solidFill>
                  <a:schemeClr val="dk1"/>
                </a:solidFill>
              </a:rPr>
              <a:t>データ共有用</a:t>
            </a:r>
            <a:r>
              <a:rPr lang="en" sz="800" dirty="0">
                <a:solidFill>
                  <a:schemeClr val="dk1"/>
                </a:solidFill>
              </a:rPr>
              <a:t>)</a:t>
            </a:r>
            <a:endParaRPr lang="en"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図 57">
            <a:extLst>
              <a:ext uri="{FF2B5EF4-FFF2-40B4-BE49-F238E27FC236}">
                <a16:creationId xmlns:a16="http://schemas.microsoft.com/office/drawing/2014/main" id="{078A9921-7476-414E-2723-E12CEB45A4A9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/>
          </a:blip>
          <a:srcRect r="5197"/>
          <a:stretch/>
        </p:blipFill>
        <p:spPr>
          <a:xfrm>
            <a:off x="5695283" y="5809794"/>
            <a:ext cx="182619" cy="172536"/>
          </a:xfrm>
          <a:prstGeom prst="rect">
            <a:avLst/>
          </a:prstGeom>
        </p:spPr>
      </p:pic>
      <p:sp>
        <p:nvSpPr>
          <p:cNvPr id="194" name="Google Shape;202;p3">
            <a:extLst>
              <a:ext uri="{FF2B5EF4-FFF2-40B4-BE49-F238E27FC236}">
                <a16:creationId xmlns:a16="http://schemas.microsoft.com/office/drawing/2014/main" id="{18BD2D27-52FD-76B1-E014-5E5F648A394A}"/>
              </a:ext>
            </a:extLst>
          </p:cNvPr>
          <p:cNvSpPr/>
          <p:nvPr/>
        </p:nvSpPr>
        <p:spPr>
          <a:xfrm>
            <a:off x="4041868" y="5786906"/>
            <a:ext cx="1407000" cy="363600"/>
          </a:xfrm>
          <a:prstGeom prst="wedgeRectCallout">
            <a:avLst>
              <a:gd name="adj1" fmla="val 68256"/>
              <a:gd name="adj2" fmla="val -6005"/>
            </a:avLst>
          </a:prstGeom>
          <a:solidFill>
            <a:schemeClr val="l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dirty="0" err="1">
                <a:solidFill>
                  <a:srgbClr val="FF0000"/>
                </a:solidFill>
              </a:rPr>
              <a:t>既存</a:t>
            </a:r>
            <a:r>
              <a:rPr lang="en-US" sz="6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Foundry環境や他社</a:t>
            </a:r>
            <a:r>
              <a:rPr lang="en-US" sz="600" dirty="0" err="1">
                <a:solidFill>
                  <a:srgbClr val="FF0000"/>
                </a:solidFill>
              </a:rPr>
              <a:t>Foundry</a:t>
            </a:r>
            <a:r>
              <a:rPr lang="en-US" sz="6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環境とのデータ受け渡しに利用</a:t>
            </a:r>
            <a:r>
              <a:rPr lang="en-US" sz="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dirty="0" err="1">
                <a:solidFill>
                  <a:srgbClr val="FF0000"/>
                </a:solidFill>
              </a:rPr>
              <a:t>管理者のみがアクセス可能</a:t>
            </a:r>
            <a:r>
              <a:rPr lang="en-US" sz="600" dirty="0">
                <a:solidFill>
                  <a:srgbClr val="FF0000"/>
                </a:solidFill>
              </a:rPr>
              <a:t>。</a:t>
            </a:r>
            <a:endParaRPr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202;p3">
            <a:extLst>
              <a:ext uri="{FF2B5EF4-FFF2-40B4-BE49-F238E27FC236}">
                <a16:creationId xmlns:a16="http://schemas.microsoft.com/office/drawing/2014/main" id="{83CA767D-E246-6109-D819-33787B24DD72}"/>
              </a:ext>
            </a:extLst>
          </p:cNvPr>
          <p:cNvSpPr/>
          <p:nvPr/>
        </p:nvSpPr>
        <p:spPr>
          <a:xfrm>
            <a:off x="3794910" y="1892933"/>
            <a:ext cx="1437915" cy="363600"/>
          </a:xfrm>
          <a:prstGeom prst="wedgeRectCallout">
            <a:avLst>
              <a:gd name="adj1" fmla="val -75673"/>
              <a:gd name="adj2" fmla="val -113465"/>
            </a:avLst>
          </a:prstGeom>
          <a:solidFill>
            <a:schemeClr val="l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Foundryアクセス用のブラウザ</a:t>
            </a:r>
            <a:r>
              <a:rPr lang="en-US" sz="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(Microsoft Edge)</a:t>
            </a:r>
            <a:r>
              <a:rPr lang="en-US" sz="600" dirty="0" err="1">
                <a:solidFill>
                  <a:srgbClr val="FF0000"/>
                </a:solidFill>
              </a:rPr>
              <a:t>経由で</a:t>
            </a:r>
            <a:r>
              <a:rPr lang="en-US" sz="6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ログインする</a:t>
            </a:r>
            <a:endParaRPr lang="en-US"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2;p3">
            <a:extLst>
              <a:ext uri="{FF2B5EF4-FFF2-40B4-BE49-F238E27FC236}">
                <a16:creationId xmlns:a16="http://schemas.microsoft.com/office/drawing/2014/main" id="{87777A47-1F6A-2DC9-6D12-70A1C2E02E9A}"/>
              </a:ext>
            </a:extLst>
          </p:cNvPr>
          <p:cNvSpPr/>
          <p:nvPr/>
        </p:nvSpPr>
        <p:spPr>
          <a:xfrm>
            <a:off x="5210261" y="4146564"/>
            <a:ext cx="1407000" cy="363600"/>
          </a:xfrm>
          <a:prstGeom prst="wedgeRectCallout">
            <a:avLst>
              <a:gd name="adj1" fmla="val 63027"/>
              <a:gd name="adj2" fmla="val -32021"/>
            </a:avLst>
          </a:prstGeom>
          <a:solidFill>
            <a:schemeClr val="l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Redshift</a:t>
            </a:r>
            <a:r>
              <a:rPr lang="en-US" sz="600" dirty="0">
                <a:solidFill>
                  <a:srgbClr val="FF0000"/>
                </a:solidFill>
              </a:rPr>
              <a:t>へ直接エクスポートするのではなく、S3にエクスポートしたファイルをRedshiftにコピーする方法で連携する。</a:t>
            </a:r>
            <a:endParaRPr lang="en-US"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93;g2738aae21b7_0_1">
            <a:extLst>
              <a:ext uri="{FF2B5EF4-FFF2-40B4-BE49-F238E27FC236}">
                <a16:creationId xmlns:a16="http://schemas.microsoft.com/office/drawing/2014/main" id="{A2934397-F92D-90B5-E70C-0D1668E96A21}"/>
              </a:ext>
            </a:extLst>
          </p:cNvPr>
          <p:cNvSpPr/>
          <p:nvPr/>
        </p:nvSpPr>
        <p:spPr>
          <a:xfrm>
            <a:off x="1947695" y="6195275"/>
            <a:ext cx="7918146" cy="61850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lang="ja-JP" alt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既存</a:t>
            </a:r>
            <a:r>
              <a:rPr lang="en-US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Foundry</a:t>
            </a:r>
            <a:r>
              <a:rPr lang="ja-JP" alt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環境</a:t>
            </a: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669;p10">
            <a:extLst>
              <a:ext uri="{FF2B5EF4-FFF2-40B4-BE49-F238E27FC236}">
                <a16:creationId xmlns:a16="http://schemas.microsoft.com/office/drawing/2014/main" id="{9FBA95CE-D8C9-6811-CF3A-2A2B03CDD1F5}"/>
              </a:ext>
            </a:extLst>
          </p:cNvPr>
          <p:cNvCxnSpPr>
            <a:cxnSpLocks/>
          </p:cNvCxnSpPr>
          <p:nvPr/>
        </p:nvCxnSpPr>
        <p:spPr>
          <a:xfrm flipV="1">
            <a:off x="3500101" y="5715509"/>
            <a:ext cx="0" cy="4798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2" name="Google Shape;670;p10">
            <a:extLst>
              <a:ext uri="{FF2B5EF4-FFF2-40B4-BE49-F238E27FC236}">
                <a16:creationId xmlns:a16="http://schemas.microsoft.com/office/drawing/2014/main" id="{184AF61C-CD07-F16B-609C-727A2C479CFC}"/>
              </a:ext>
            </a:extLst>
          </p:cNvPr>
          <p:cNvSpPr/>
          <p:nvPr/>
        </p:nvSpPr>
        <p:spPr>
          <a:xfrm>
            <a:off x="3408366" y="5901529"/>
            <a:ext cx="183470" cy="180425"/>
          </a:xfrm>
          <a:prstGeom prst="rect">
            <a:avLst/>
          </a:prstGeom>
          <a:solidFill>
            <a:srgbClr val="F6D8D0"/>
          </a:solidFill>
          <a:ln>
            <a:noFill/>
          </a:ln>
        </p:spPr>
        <p:txBody>
          <a:bodyPr spcFirstLastPara="1" wrap="square" lIns="0" tIns="36000" rIns="0" bIns="36000" anchor="ctr" anchorCtr="1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295;g2738aae21b7_0_1" descr="Palantir (パランティア)">
            <a:extLst>
              <a:ext uri="{FF2B5EF4-FFF2-40B4-BE49-F238E27FC236}">
                <a16:creationId xmlns:a16="http://schemas.microsoft.com/office/drawing/2014/main" id="{C1C4EA9C-CF74-0A7B-AC21-7270F255136C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956065" y="6195922"/>
            <a:ext cx="535553" cy="161089"/>
          </a:xfrm>
          <a:prstGeom prst="rect">
            <a:avLst/>
          </a:prstGeom>
          <a:solidFill>
            <a:srgbClr val="D8D8D8">
              <a:alpha val="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67" name="Google Shape;463;p8">
            <a:extLst>
              <a:ext uri="{FF2B5EF4-FFF2-40B4-BE49-F238E27FC236}">
                <a16:creationId xmlns:a16="http://schemas.microsoft.com/office/drawing/2014/main" id="{08DD1F8C-58CE-1220-C9DF-D788EBF4EE2F}"/>
              </a:ext>
            </a:extLst>
          </p:cNvPr>
          <p:cNvSpPr/>
          <p:nvPr/>
        </p:nvSpPr>
        <p:spPr>
          <a:xfrm>
            <a:off x="580217" y="4357014"/>
            <a:ext cx="434388" cy="400651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altLang="en-US" sz="600">
                <a:solidFill>
                  <a:schemeClr val="dk1"/>
                </a:solidFill>
              </a:rPr>
              <a:t>各社</a:t>
            </a: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</a:t>
            </a:r>
            <a:endParaRPr dirty="0"/>
          </a:p>
        </p:txBody>
      </p:sp>
      <p:sp>
        <p:nvSpPr>
          <p:cNvPr id="368" name="Google Shape;480;p8">
            <a:extLst>
              <a:ext uri="{FF2B5EF4-FFF2-40B4-BE49-F238E27FC236}">
                <a16:creationId xmlns:a16="http://schemas.microsoft.com/office/drawing/2014/main" id="{775DCCAB-D67F-4359-C13B-90BEF2162386}"/>
              </a:ext>
            </a:extLst>
          </p:cNvPr>
          <p:cNvSpPr/>
          <p:nvPr/>
        </p:nvSpPr>
        <p:spPr>
          <a:xfrm>
            <a:off x="548245" y="5370679"/>
            <a:ext cx="1086444" cy="750678"/>
          </a:xfrm>
          <a:prstGeom prst="rect">
            <a:avLst/>
          </a:prstGeom>
          <a:noFill/>
          <a:ln w="9525" cap="flat" cmpd="sng">
            <a:solidFill>
              <a:srgbClr val="5A6B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36000" rIns="91425" bIns="36000" anchor="t" anchorCtr="0">
            <a:noAutofit/>
          </a:bodyPr>
          <a:lstStyle/>
          <a:p>
            <a:pPr marL="63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>
                <a:solidFill>
                  <a:srgbClr val="5A6B86"/>
                </a:solidFill>
                <a:latin typeface="Arial"/>
                <a:ea typeface="Arial"/>
                <a:cs typeface="Arial"/>
                <a:sym typeface="Arial"/>
              </a:rPr>
              <a:t>Foundry分析者</a:t>
            </a:r>
            <a:endParaRPr sz="700" b="0" i="0" u="none" strike="noStrike" cap="none" dirty="0">
              <a:solidFill>
                <a:srgbClr val="5A6B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700">
                <a:solidFill>
                  <a:srgbClr val="5A6B86"/>
                </a:solidFill>
              </a:rPr>
              <a:t>業務</a:t>
            </a:r>
            <a:r>
              <a:rPr lang="ja-JP" sz="700" b="0" i="0" u="none" strike="noStrike" cap="none">
                <a:solidFill>
                  <a:srgbClr val="5A6B86"/>
                </a:solidFill>
                <a:latin typeface="Arial"/>
                <a:ea typeface="Arial"/>
                <a:cs typeface="Arial"/>
                <a:sym typeface="Arial"/>
              </a:rPr>
              <a:t>端末</a:t>
            </a:r>
            <a:endParaRPr sz="700" b="0" i="0" u="none" strike="noStrike" cap="none" dirty="0">
              <a:solidFill>
                <a:srgbClr val="5A6B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481;p8">
            <a:extLst>
              <a:ext uri="{FF2B5EF4-FFF2-40B4-BE49-F238E27FC236}">
                <a16:creationId xmlns:a16="http://schemas.microsoft.com/office/drawing/2014/main" id="{C2CCA4AA-007F-4306-8F13-1855C45B16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202" y="5367709"/>
            <a:ext cx="180434" cy="157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482;p8">
            <a:extLst>
              <a:ext uri="{FF2B5EF4-FFF2-40B4-BE49-F238E27FC236}">
                <a16:creationId xmlns:a16="http://schemas.microsoft.com/office/drawing/2014/main" id="{0F7C1C94-35EC-09F9-9425-7D7D4759BD0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2964" y="5726302"/>
            <a:ext cx="256772" cy="224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483;p8" descr="「ブラウザ アイコン」の画像検索結果">
            <a:extLst>
              <a:ext uri="{FF2B5EF4-FFF2-40B4-BE49-F238E27FC236}">
                <a16:creationId xmlns:a16="http://schemas.microsoft.com/office/drawing/2014/main" id="{ABB87D3D-7F08-EAEE-722A-129A1401F2F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65173" y="5779768"/>
            <a:ext cx="240024" cy="209424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484;p8">
            <a:extLst>
              <a:ext uri="{FF2B5EF4-FFF2-40B4-BE49-F238E27FC236}">
                <a16:creationId xmlns:a16="http://schemas.microsoft.com/office/drawing/2014/main" id="{AEBF70DE-2F1E-5434-7662-88D361392870}"/>
              </a:ext>
            </a:extLst>
          </p:cNvPr>
          <p:cNvSpPr/>
          <p:nvPr/>
        </p:nvSpPr>
        <p:spPr>
          <a:xfrm>
            <a:off x="1065149" y="5715408"/>
            <a:ext cx="45998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/>
          </a:p>
        </p:txBody>
      </p:sp>
      <p:pic>
        <p:nvPicPr>
          <p:cNvPr id="373" name="Google Shape;485;p8">
            <a:extLst>
              <a:ext uri="{FF2B5EF4-FFF2-40B4-BE49-F238E27FC236}">
                <a16:creationId xmlns:a16="http://schemas.microsoft.com/office/drawing/2014/main" id="{9D8C4791-8C53-2820-FE96-1E61544D28C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46077" y="5110722"/>
            <a:ext cx="212197" cy="1851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486;p8">
            <a:extLst>
              <a:ext uri="{FF2B5EF4-FFF2-40B4-BE49-F238E27FC236}">
                <a16:creationId xmlns:a16="http://schemas.microsoft.com/office/drawing/2014/main" id="{876C13D5-E67E-EE77-1895-B3235B6990EA}"/>
              </a:ext>
            </a:extLst>
          </p:cNvPr>
          <p:cNvCxnSpPr>
            <a:cxnSpLocks/>
            <a:stCxn id="371" idx="3"/>
            <a:endCxn id="373" idx="1"/>
          </p:cNvCxnSpPr>
          <p:nvPr/>
        </p:nvCxnSpPr>
        <p:spPr>
          <a:xfrm flipV="1">
            <a:off x="1405197" y="5203295"/>
            <a:ext cx="540880" cy="681185"/>
          </a:xfrm>
          <a:prstGeom prst="bentConnector3">
            <a:avLst>
              <a:gd name="adj1" fmla="val 2106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sp>
        <p:nvSpPr>
          <p:cNvPr id="377" name="Google Shape;497;p8">
            <a:extLst>
              <a:ext uri="{FF2B5EF4-FFF2-40B4-BE49-F238E27FC236}">
                <a16:creationId xmlns:a16="http://schemas.microsoft.com/office/drawing/2014/main" id="{51066822-153A-B046-9135-DFAB5823F0A8}"/>
              </a:ext>
            </a:extLst>
          </p:cNvPr>
          <p:cNvSpPr/>
          <p:nvPr/>
        </p:nvSpPr>
        <p:spPr>
          <a:xfrm>
            <a:off x="1558373" y="5234251"/>
            <a:ext cx="45998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ログイン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220;g2738aae21b7_0_1">
            <a:extLst>
              <a:ext uri="{FF2B5EF4-FFF2-40B4-BE49-F238E27FC236}">
                <a16:creationId xmlns:a16="http://schemas.microsoft.com/office/drawing/2014/main" id="{428C0042-811B-5559-96BF-1B818C4B2F7B}"/>
              </a:ext>
            </a:extLst>
          </p:cNvPr>
          <p:cNvSpPr/>
          <p:nvPr/>
        </p:nvSpPr>
        <p:spPr>
          <a:xfrm>
            <a:off x="2117081" y="6390840"/>
            <a:ext cx="7522274" cy="3634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altLang="ja-JP" sz="800" dirty="0">
                <a:solidFill>
                  <a:schemeClr val="dk1"/>
                </a:solidFill>
              </a:rPr>
              <a:t> Project</a:t>
            </a:r>
            <a:endParaRPr lang="en"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図 392">
            <a:extLst>
              <a:ext uri="{FF2B5EF4-FFF2-40B4-BE49-F238E27FC236}">
                <a16:creationId xmlns:a16="http://schemas.microsoft.com/office/drawing/2014/main" id="{2124A4AA-435E-E24B-77FD-CD561ECA9CC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/>
          </a:blip>
          <a:srcRect r="5197"/>
          <a:stretch/>
        </p:blipFill>
        <p:spPr>
          <a:xfrm>
            <a:off x="2145488" y="6402440"/>
            <a:ext cx="188621" cy="178207"/>
          </a:xfrm>
          <a:prstGeom prst="rect">
            <a:avLst/>
          </a:prstGeom>
        </p:spPr>
      </p:pic>
      <p:sp>
        <p:nvSpPr>
          <p:cNvPr id="394" name="Google Shape;323;g2738aae21b7_0_1">
            <a:extLst>
              <a:ext uri="{FF2B5EF4-FFF2-40B4-BE49-F238E27FC236}">
                <a16:creationId xmlns:a16="http://schemas.microsoft.com/office/drawing/2014/main" id="{3B2D5A09-4F64-6BFC-A5BA-538A2C2E0CFB}"/>
              </a:ext>
            </a:extLst>
          </p:cNvPr>
          <p:cNvSpPr/>
          <p:nvPr/>
        </p:nvSpPr>
        <p:spPr>
          <a:xfrm>
            <a:off x="6606517" y="6459066"/>
            <a:ext cx="391463" cy="222267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前処理済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202;p3">
            <a:extLst>
              <a:ext uri="{FF2B5EF4-FFF2-40B4-BE49-F238E27FC236}">
                <a16:creationId xmlns:a16="http://schemas.microsoft.com/office/drawing/2014/main" id="{BF3616DF-D7FE-01A1-DCF7-5C959C69F1C1}"/>
              </a:ext>
            </a:extLst>
          </p:cNvPr>
          <p:cNvSpPr/>
          <p:nvPr/>
        </p:nvSpPr>
        <p:spPr>
          <a:xfrm>
            <a:off x="8532867" y="3730311"/>
            <a:ext cx="1273661" cy="363600"/>
          </a:xfrm>
          <a:prstGeom prst="wedgeRectCallout">
            <a:avLst>
              <a:gd name="adj1" fmla="val -69940"/>
              <a:gd name="adj2" fmla="val 31573"/>
            </a:avLst>
          </a:prstGeom>
          <a:solidFill>
            <a:schemeClr val="l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dirty="0">
                <a:solidFill>
                  <a:srgbClr val="FF0000"/>
                </a:solidFill>
              </a:rPr>
              <a:t>Tableau-Foundry連携機能は廃止する（2024年度末予定）</a:t>
            </a:r>
            <a:endParaRPr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" name="Google Shape;304;g2738aae21b7_0_1">
            <a:extLst>
              <a:ext uri="{FF2B5EF4-FFF2-40B4-BE49-F238E27FC236}">
                <a16:creationId xmlns:a16="http://schemas.microsoft.com/office/drawing/2014/main" id="{B12F8293-7F44-BAAF-CDC6-BF8C792DB7C9}"/>
              </a:ext>
            </a:extLst>
          </p:cNvPr>
          <p:cNvCxnSpPr>
            <a:cxnSpLocks/>
          </p:cNvCxnSpPr>
          <p:nvPr/>
        </p:nvCxnSpPr>
        <p:spPr>
          <a:xfrm>
            <a:off x="2033545" y="3863086"/>
            <a:ext cx="1751" cy="2236758"/>
          </a:xfrm>
          <a:prstGeom prst="straightConnector1">
            <a:avLst/>
          </a:prstGeom>
          <a:noFill/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11" name="Google Shape;507;p8">
            <a:extLst>
              <a:ext uri="{FF2B5EF4-FFF2-40B4-BE49-F238E27FC236}">
                <a16:creationId xmlns:a16="http://schemas.microsoft.com/office/drawing/2014/main" id="{E8A56550-2811-370F-B600-C35A084193B2}"/>
              </a:ext>
            </a:extLst>
          </p:cNvPr>
          <p:cNvSpPr/>
          <p:nvPr/>
        </p:nvSpPr>
        <p:spPr>
          <a:xfrm>
            <a:off x="10634598" y="4675116"/>
            <a:ext cx="900328" cy="750678"/>
          </a:xfrm>
          <a:prstGeom prst="rect">
            <a:avLst/>
          </a:prstGeom>
          <a:noFill/>
          <a:ln w="9525" cap="flat" cmpd="sng">
            <a:solidFill>
              <a:srgbClr val="5A6B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16000" tIns="36000" rIns="36000" bIns="36000" anchor="t" anchorCtr="0">
            <a:noAutofit/>
          </a:bodyPr>
          <a:lstStyle/>
          <a:p>
            <a:pPr marL="63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>
                <a:solidFill>
                  <a:srgbClr val="5A6B86"/>
                </a:solidFill>
                <a:latin typeface="Arial"/>
                <a:ea typeface="Arial"/>
                <a:cs typeface="Arial"/>
                <a:sym typeface="Arial"/>
              </a:rPr>
              <a:t>Foundry閲覧者</a:t>
            </a:r>
            <a:endParaRPr sz="700" b="0" i="0" u="none" strike="noStrike" cap="none" dirty="0">
              <a:solidFill>
                <a:srgbClr val="5A6B8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700">
                <a:solidFill>
                  <a:srgbClr val="5A6B86"/>
                </a:solidFill>
              </a:rPr>
              <a:t>業務</a:t>
            </a:r>
            <a:r>
              <a:rPr lang="ja-JP" sz="700" b="0" i="0" u="none" strike="noStrike" cap="none">
                <a:solidFill>
                  <a:srgbClr val="5A6B86"/>
                </a:solidFill>
                <a:latin typeface="Arial"/>
                <a:ea typeface="Arial"/>
                <a:cs typeface="Arial"/>
                <a:sym typeface="Arial"/>
              </a:rPr>
              <a:t>端末</a:t>
            </a:r>
            <a:endParaRPr sz="700" b="0" i="0" u="none" strike="noStrike" cap="none" dirty="0">
              <a:solidFill>
                <a:srgbClr val="5A6B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508;p8">
            <a:extLst>
              <a:ext uri="{FF2B5EF4-FFF2-40B4-BE49-F238E27FC236}">
                <a16:creationId xmlns:a16="http://schemas.microsoft.com/office/drawing/2014/main" id="{38B43B53-D8DD-FBD5-099F-2DA1E12295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34598" y="4671044"/>
            <a:ext cx="180434" cy="157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509;p8">
            <a:extLst>
              <a:ext uri="{FF2B5EF4-FFF2-40B4-BE49-F238E27FC236}">
                <a16:creationId xmlns:a16="http://schemas.microsoft.com/office/drawing/2014/main" id="{F893256E-1342-9F1E-166B-6EBD358C79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77820" y="5034396"/>
            <a:ext cx="256772" cy="224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510;p8" descr="「ブラウザ アイコン」の画像検索結果">
            <a:extLst>
              <a:ext uri="{FF2B5EF4-FFF2-40B4-BE49-F238E27FC236}">
                <a16:creationId xmlns:a16="http://schemas.microsoft.com/office/drawing/2014/main" id="{AD73A131-1414-F82B-41B1-E5056381086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742794" y="5070815"/>
            <a:ext cx="240024" cy="20942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511;p8">
            <a:extLst>
              <a:ext uri="{FF2B5EF4-FFF2-40B4-BE49-F238E27FC236}">
                <a16:creationId xmlns:a16="http://schemas.microsoft.com/office/drawing/2014/main" id="{70800577-CE95-48B2-0519-DE955A10DA3A}"/>
              </a:ext>
            </a:extLst>
          </p:cNvPr>
          <p:cNvSpPr/>
          <p:nvPr/>
        </p:nvSpPr>
        <p:spPr>
          <a:xfrm>
            <a:off x="10642770" y="5006455"/>
            <a:ext cx="45998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/>
          </a:p>
        </p:txBody>
      </p:sp>
      <p:cxnSp>
        <p:nvCxnSpPr>
          <p:cNvPr id="416" name="Google Shape;512;p8">
            <a:extLst>
              <a:ext uri="{FF2B5EF4-FFF2-40B4-BE49-F238E27FC236}">
                <a16:creationId xmlns:a16="http://schemas.microsoft.com/office/drawing/2014/main" id="{75814DFD-4A58-8E06-FDA8-9F1EF17E062A}"/>
              </a:ext>
            </a:extLst>
          </p:cNvPr>
          <p:cNvCxnSpPr>
            <a:cxnSpLocks/>
            <a:endCxn id="411" idx="1"/>
          </p:cNvCxnSpPr>
          <p:nvPr/>
        </p:nvCxnSpPr>
        <p:spPr>
          <a:xfrm>
            <a:off x="9639355" y="5050455"/>
            <a:ext cx="99524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17" name="Google Shape;513;p8">
            <a:extLst>
              <a:ext uri="{FF2B5EF4-FFF2-40B4-BE49-F238E27FC236}">
                <a16:creationId xmlns:a16="http://schemas.microsoft.com/office/drawing/2014/main" id="{0DFA0863-9525-B231-FC89-673AA23DD7E0}"/>
              </a:ext>
            </a:extLst>
          </p:cNvPr>
          <p:cNvSpPr/>
          <p:nvPr/>
        </p:nvSpPr>
        <p:spPr>
          <a:xfrm>
            <a:off x="9915680" y="4750613"/>
            <a:ext cx="66593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700"/>
              <a:t>業務ツール</a:t>
            </a:r>
            <a:endParaRPr lang="en-US" altLang="ja-JP" sz="7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閲覧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81;g2738aae21b7_0_1">
            <a:extLst>
              <a:ext uri="{FF2B5EF4-FFF2-40B4-BE49-F238E27FC236}">
                <a16:creationId xmlns:a16="http://schemas.microsoft.com/office/drawing/2014/main" id="{D76D9C23-4482-965E-986C-6B3E9DA048BF}"/>
              </a:ext>
            </a:extLst>
          </p:cNvPr>
          <p:cNvSpPr/>
          <p:nvPr/>
        </p:nvSpPr>
        <p:spPr>
          <a:xfrm>
            <a:off x="10154037" y="70645"/>
            <a:ext cx="1884400" cy="6608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Google Shape;282;g2738aae21b7_0_1">
            <a:extLst>
              <a:ext uri="{FF2B5EF4-FFF2-40B4-BE49-F238E27FC236}">
                <a16:creationId xmlns:a16="http://schemas.microsoft.com/office/drawing/2014/main" id="{BC34D1C7-8526-F41A-6B55-28F208FF1184}"/>
              </a:ext>
            </a:extLst>
          </p:cNvPr>
          <p:cNvCxnSpPr/>
          <p:nvPr/>
        </p:nvCxnSpPr>
        <p:spPr>
          <a:xfrm>
            <a:off x="11456910" y="230934"/>
            <a:ext cx="360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" name="Google Shape;283;g2738aae21b7_0_1">
            <a:extLst>
              <a:ext uri="{FF2B5EF4-FFF2-40B4-BE49-F238E27FC236}">
                <a16:creationId xmlns:a16="http://schemas.microsoft.com/office/drawing/2014/main" id="{BAE11638-D57E-BD04-6C3B-E8647ADDF530}"/>
              </a:ext>
            </a:extLst>
          </p:cNvPr>
          <p:cNvSpPr/>
          <p:nvPr/>
        </p:nvSpPr>
        <p:spPr>
          <a:xfrm>
            <a:off x="10298981" y="206436"/>
            <a:ext cx="1185302" cy="93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データの流</a:t>
            </a:r>
            <a:r>
              <a:rPr lang="ja-JP" sz="700"/>
              <a:t>れ（新設は</a:t>
            </a:r>
            <a:r>
              <a:rPr lang="ja-JP" sz="700">
                <a:solidFill>
                  <a:srgbClr val="FF0000"/>
                </a:solidFill>
              </a:rPr>
              <a:t>赤色</a:t>
            </a:r>
            <a:r>
              <a:rPr lang="ja-JP" sz="700"/>
              <a:t>）</a:t>
            </a:r>
            <a:endParaRPr lang="ja-JP" altLang="en-US"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" name="Google Shape;284;g2738aae21b7_0_1">
            <a:extLst>
              <a:ext uri="{FF2B5EF4-FFF2-40B4-BE49-F238E27FC236}">
                <a16:creationId xmlns:a16="http://schemas.microsoft.com/office/drawing/2014/main" id="{74088C6B-6D14-0163-A27D-14F60C625727}"/>
              </a:ext>
            </a:extLst>
          </p:cNvPr>
          <p:cNvCxnSpPr/>
          <p:nvPr/>
        </p:nvCxnSpPr>
        <p:spPr>
          <a:xfrm>
            <a:off x="11468770" y="583774"/>
            <a:ext cx="35214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13" name="Google Shape;285;g2738aae21b7_0_1">
            <a:extLst>
              <a:ext uri="{FF2B5EF4-FFF2-40B4-BE49-F238E27FC236}">
                <a16:creationId xmlns:a16="http://schemas.microsoft.com/office/drawing/2014/main" id="{81F77138-9E06-B0EE-7896-E09922BD109B}"/>
              </a:ext>
            </a:extLst>
          </p:cNvPr>
          <p:cNvSpPr/>
          <p:nvPr/>
        </p:nvSpPr>
        <p:spPr>
          <a:xfrm>
            <a:off x="10290739" y="529972"/>
            <a:ext cx="988158" cy="10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ログイン</a:t>
            </a:r>
            <a:r>
              <a:rPr lang="ja-JP" sz="700"/>
              <a:t>（新設は</a:t>
            </a:r>
            <a:r>
              <a:rPr lang="ja-JP" sz="700">
                <a:solidFill>
                  <a:srgbClr val="FF0000"/>
                </a:solidFill>
              </a:rPr>
              <a:t>赤色</a:t>
            </a:r>
            <a:r>
              <a:rPr lang="ja-JP" sz="700"/>
              <a:t>）</a:t>
            </a:r>
            <a:endParaRPr lang="ja-JP" altLang="en-US"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Google Shape;287;g2738aae21b7_0_1">
            <a:extLst>
              <a:ext uri="{FF2B5EF4-FFF2-40B4-BE49-F238E27FC236}">
                <a16:creationId xmlns:a16="http://schemas.microsoft.com/office/drawing/2014/main" id="{83242DD4-E7B4-DFA8-7436-1E51C09B2169}"/>
              </a:ext>
            </a:extLst>
          </p:cNvPr>
          <p:cNvSpPr/>
          <p:nvPr/>
        </p:nvSpPr>
        <p:spPr>
          <a:xfrm>
            <a:off x="10297102" y="363743"/>
            <a:ext cx="1158563" cy="9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データの流れ</a:t>
            </a:r>
            <a:r>
              <a:rPr lang="ja-JP" sz="700"/>
              <a:t>（</a:t>
            </a:r>
            <a:r>
              <a:rPr lang="ja-JP" alt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管理者権限</a:t>
            </a:r>
            <a:r>
              <a:rPr lang="ja-JP" sz="700"/>
              <a:t>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86;g2738aae21b7_0_1">
            <a:extLst>
              <a:ext uri="{FF2B5EF4-FFF2-40B4-BE49-F238E27FC236}">
                <a16:creationId xmlns:a16="http://schemas.microsoft.com/office/drawing/2014/main" id="{C948F983-2CB3-678A-AEB1-A69BBBABE5C6}"/>
              </a:ext>
            </a:extLst>
          </p:cNvPr>
          <p:cNvCxnSpPr/>
          <p:nvPr/>
        </p:nvCxnSpPr>
        <p:spPr>
          <a:xfrm>
            <a:off x="11462844" y="408459"/>
            <a:ext cx="360000" cy="0"/>
          </a:xfrm>
          <a:prstGeom prst="straightConnector1">
            <a:avLst/>
          </a:prstGeom>
          <a:noFill/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2" name="Google Shape;683;p10">
            <a:extLst>
              <a:ext uri="{FF2B5EF4-FFF2-40B4-BE49-F238E27FC236}">
                <a16:creationId xmlns:a16="http://schemas.microsoft.com/office/drawing/2014/main" id="{5CA262DA-E213-6F04-CAD3-DC566462B0F8}"/>
              </a:ext>
            </a:extLst>
          </p:cNvPr>
          <p:cNvCxnSpPr>
            <a:cxnSpLocks/>
          </p:cNvCxnSpPr>
          <p:nvPr/>
        </p:nvCxnSpPr>
        <p:spPr>
          <a:xfrm>
            <a:off x="6579588" y="6109814"/>
            <a:ext cx="7727" cy="273644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63" name="Google Shape;683;p10">
            <a:extLst>
              <a:ext uri="{FF2B5EF4-FFF2-40B4-BE49-F238E27FC236}">
                <a16:creationId xmlns:a16="http://schemas.microsoft.com/office/drawing/2014/main" id="{EF3F8422-A11B-5CAA-BB8F-9D0FE15C0B94}"/>
              </a:ext>
            </a:extLst>
          </p:cNvPr>
          <p:cNvCxnSpPr>
            <a:cxnSpLocks/>
          </p:cNvCxnSpPr>
          <p:nvPr/>
        </p:nvCxnSpPr>
        <p:spPr>
          <a:xfrm flipV="1">
            <a:off x="6232028" y="6121287"/>
            <a:ext cx="0" cy="279841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8" name="Google Shape;486;p8">
            <a:extLst>
              <a:ext uri="{FF2B5EF4-FFF2-40B4-BE49-F238E27FC236}">
                <a16:creationId xmlns:a16="http://schemas.microsoft.com/office/drawing/2014/main" id="{1795955E-3828-E9BC-73BD-67D5134869CB}"/>
              </a:ext>
            </a:extLst>
          </p:cNvPr>
          <p:cNvCxnSpPr>
            <a:cxnSpLocks/>
          </p:cNvCxnSpPr>
          <p:nvPr/>
        </p:nvCxnSpPr>
        <p:spPr>
          <a:xfrm flipH="1" flipV="1">
            <a:off x="1641071" y="1766659"/>
            <a:ext cx="359310" cy="15029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" name="Google Shape;220;g2738aae21b7_0_1">
            <a:extLst>
              <a:ext uri="{FF2B5EF4-FFF2-40B4-BE49-F238E27FC236}">
                <a16:creationId xmlns:a16="http://schemas.microsoft.com/office/drawing/2014/main" id="{22EE9C0B-4842-1383-E5FE-8A908B6CBA1A}"/>
              </a:ext>
            </a:extLst>
          </p:cNvPr>
          <p:cNvSpPr/>
          <p:nvPr/>
        </p:nvSpPr>
        <p:spPr>
          <a:xfrm>
            <a:off x="2158967" y="4581090"/>
            <a:ext cx="7465676" cy="110513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altLang="ja-JP" sz="800" dirty="0">
                <a:solidFill>
                  <a:schemeClr val="dk1"/>
                </a:solidFill>
              </a:rPr>
              <a:t> Project</a:t>
            </a:r>
            <a:endParaRPr lang="en"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20;g2738aae21b7_0_1">
            <a:extLst>
              <a:ext uri="{FF2B5EF4-FFF2-40B4-BE49-F238E27FC236}">
                <a16:creationId xmlns:a16="http://schemas.microsoft.com/office/drawing/2014/main" id="{D60167ED-BF7D-49AD-40B3-7FA647F8791F}"/>
              </a:ext>
            </a:extLst>
          </p:cNvPr>
          <p:cNvSpPr/>
          <p:nvPr/>
        </p:nvSpPr>
        <p:spPr>
          <a:xfrm>
            <a:off x="2225694" y="4785349"/>
            <a:ext cx="760276" cy="5608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altLang="ja-JP" sz="800" dirty="0">
                <a:solidFill>
                  <a:schemeClr val="dk1"/>
                </a:solidFill>
              </a:rPr>
              <a:t> Data   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altLang="ja-JP" sz="800" dirty="0">
                <a:solidFill>
                  <a:schemeClr val="dk1"/>
                </a:solidFill>
              </a:rPr>
              <a:t>     Connection</a:t>
            </a:r>
            <a:endParaRPr lang="en"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323;g2738aae21b7_0_1">
            <a:extLst>
              <a:ext uri="{FF2B5EF4-FFF2-40B4-BE49-F238E27FC236}">
                <a16:creationId xmlns:a16="http://schemas.microsoft.com/office/drawing/2014/main" id="{D1058B60-DA70-0617-6F2D-9A4FCAF7371F}"/>
              </a:ext>
            </a:extLst>
          </p:cNvPr>
          <p:cNvSpPr/>
          <p:nvPr/>
        </p:nvSpPr>
        <p:spPr>
          <a:xfrm>
            <a:off x="6597513" y="4982083"/>
            <a:ext cx="403239" cy="221175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前処理済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ECF68D54-7F53-FCBF-BEF8-1727EC5F424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/>
          </a:blip>
          <a:srcRect r="5197"/>
          <a:stretch/>
        </p:blipFill>
        <p:spPr>
          <a:xfrm>
            <a:off x="2166855" y="4589345"/>
            <a:ext cx="201190" cy="212219"/>
          </a:xfrm>
          <a:prstGeom prst="rect">
            <a:avLst/>
          </a:prstGeom>
        </p:spPr>
      </p:pic>
      <p:sp>
        <p:nvSpPr>
          <p:cNvPr id="26" name="Google Shape;203;p3">
            <a:extLst>
              <a:ext uri="{FF2B5EF4-FFF2-40B4-BE49-F238E27FC236}">
                <a16:creationId xmlns:a16="http://schemas.microsoft.com/office/drawing/2014/main" id="{E6ED7713-03CB-602A-70C3-9EF9FA30487D}"/>
              </a:ext>
            </a:extLst>
          </p:cNvPr>
          <p:cNvSpPr/>
          <p:nvPr/>
        </p:nvSpPr>
        <p:spPr>
          <a:xfrm>
            <a:off x="2424851" y="5090353"/>
            <a:ext cx="296751" cy="213921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altLang="en-US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連携</a:t>
            </a:r>
            <a:endParaRPr sz="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sz="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243;g2738aae21b7_0_1">
            <a:extLst>
              <a:ext uri="{FF2B5EF4-FFF2-40B4-BE49-F238E27FC236}">
                <a16:creationId xmlns:a16="http://schemas.microsoft.com/office/drawing/2014/main" id="{F83C7495-7614-1038-48D5-2A93699FA058}"/>
              </a:ext>
            </a:extLst>
          </p:cNvPr>
          <p:cNvCxnSpPr>
            <a:cxnSpLocks/>
          </p:cNvCxnSpPr>
          <p:nvPr/>
        </p:nvCxnSpPr>
        <p:spPr>
          <a:xfrm flipV="1">
            <a:off x="2997959" y="5114672"/>
            <a:ext cx="1246475" cy="1756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" name="Google Shape;247;g2738aae21b7_0_1">
            <a:extLst>
              <a:ext uri="{FF2B5EF4-FFF2-40B4-BE49-F238E27FC236}">
                <a16:creationId xmlns:a16="http://schemas.microsoft.com/office/drawing/2014/main" id="{233F584C-566B-B7F3-5980-10FFFA9DA5A3}"/>
              </a:ext>
            </a:extLst>
          </p:cNvPr>
          <p:cNvCxnSpPr>
            <a:cxnSpLocks/>
            <a:stCxn id="33" idx="3"/>
            <a:endCxn id="21" idx="2"/>
          </p:cNvCxnSpPr>
          <p:nvPr/>
        </p:nvCxnSpPr>
        <p:spPr>
          <a:xfrm flipV="1">
            <a:off x="5519554" y="5092671"/>
            <a:ext cx="1077959" cy="1344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31" name="図 30">
            <a:extLst>
              <a:ext uri="{FF2B5EF4-FFF2-40B4-BE49-F238E27FC236}">
                <a16:creationId xmlns:a16="http://schemas.microsoft.com/office/drawing/2014/main" id="{9932F62F-F9CC-1E11-3510-A93B5DF1C35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44791" y="4814454"/>
            <a:ext cx="168422" cy="199044"/>
          </a:xfrm>
          <a:prstGeom prst="rect">
            <a:avLst/>
          </a:prstGeom>
        </p:spPr>
      </p:pic>
      <p:sp>
        <p:nvSpPr>
          <p:cNvPr id="33" name="Google Shape;220;g2738aae21b7_0_1">
            <a:extLst>
              <a:ext uri="{FF2B5EF4-FFF2-40B4-BE49-F238E27FC236}">
                <a16:creationId xmlns:a16="http://schemas.microsoft.com/office/drawing/2014/main" id="{EC907AAA-4609-3460-05DD-E5D55E41D03D}"/>
              </a:ext>
            </a:extLst>
          </p:cNvPr>
          <p:cNvSpPr/>
          <p:nvPr/>
        </p:nvSpPr>
        <p:spPr>
          <a:xfrm>
            <a:off x="4255669" y="4810125"/>
            <a:ext cx="1263885" cy="56778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-US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 Builder</a:t>
            </a:r>
            <a:endParaRPr lang="en"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図 33">
            <a:extLst>
              <a:ext uri="{FF2B5EF4-FFF2-40B4-BE49-F238E27FC236}">
                <a16:creationId xmlns:a16="http://schemas.microsoft.com/office/drawing/2014/main" id="{02EB0DBA-603C-A994-4599-4FBAC27B09A2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t="1" r="82606" b="10411"/>
          <a:stretch/>
        </p:blipFill>
        <p:spPr>
          <a:xfrm>
            <a:off x="4283579" y="4835476"/>
            <a:ext cx="180140" cy="206186"/>
          </a:xfrm>
          <a:prstGeom prst="rect">
            <a:avLst/>
          </a:prstGeom>
        </p:spPr>
      </p:pic>
      <p:cxnSp>
        <p:nvCxnSpPr>
          <p:cNvPr id="304" name="Google Shape;304;g2738aae21b7_0_1"/>
          <p:cNvCxnSpPr>
            <a:cxnSpLocks/>
          </p:cNvCxnSpPr>
          <p:nvPr/>
        </p:nvCxnSpPr>
        <p:spPr>
          <a:xfrm>
            <a:off x="2300843" y="3858714"/>
            <a:ext cx="7065" cy="96245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" name="カギ線コネクタ 31">
            <a:extLst>
              <a:ext uri="{FF2B5EF4-FFF2-40B4-BE49-F238E27FC236}">
                <a16:creationId xmlns:a16="http://schemas.microsoft.com/office/drawing/2014/main" id="{2D7D476B-1D49-F514-4C60-92052BE0B5FB}"/>
              </a:ext>
            </a:extLst>
          </p:cNvPr>
          <p:cNvCxnSpPr>
            <a:cxnSpLocks/>
            <a:stCxn id="290" idx="3"/>
            <a:endCxn id="17" idx="0"/>
          </p:cNvCxnSpPr>
          <p:nvPr/>
        </p:nvCxnSpPr>
        <p:spPr>
          <a:xfrm rot="5400000">
            <a:off x="3908091" y="2468478"/>
            <a:ext cx="1014613" cy="3619129"/>
          </a:xfrm>
          <a:prstGeom prst="bentConnector3">
            <a:avLst>
              <a:gd name="adj1" fmla="val 30488"/>
            </a:avLst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Google Shape;274;g2738aae21b7_0_1">
            <a:extLst>
              <a:ext uri="{FF2B5EF4-FFF2-40B4-BE49-F238E27FC236}">
                <a16:creationId xmlns:a16="http://schemas.microsoft.com/office/drawing/2014/main" id="{AE54102A-B349-CCF7-33E5-86CC27AB3ACE}"/>
              </a:ext>
            </a:extLst>
          </p:cNvPr>
          <p:cNvSpPr/>
          <p:nvPr/>
        </p:nvSpPr>
        <p:spPr>
          <a:xfrm>
            <a:off x="6615683" y="2612956"/>
            <a:ext cx="365088" cy="125504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　　　S3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foundry</a:t>
            </a:r>
            <a:r>
              <a:rPr lang="ja-JP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275;g2738aae21b7_0_1">
            <a:extLst>
              <a:ext uri="{FF2B5EF4-FFF2-40B4-BE49-F238E27FC236}">
                <a16:creationId xmlns:a16="http://schemas.microsoft.com/office/drawing/2014/main" id="{CA618E46-172A-C5A1-6F83-8ACB921DE5C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2087" y="2609264"/>
            <a:ext cx="177046" cy="154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320;g2738aae21b7_0_1">
            <a:extLst>
              <a:ext uri="{FF2B5EF4-FFF2-40B4-BE49-F238E27FC236}">
                <a16:creationId xmlns:a16="http://schemas.microsoft.com/office/drawing/2014/main" id="{80873F84-A6FB-54D0-9E4C-7B1953DA3C42}"/>
              </a:ext>
            </a:extLst>
          </p:cNvPr>
          <p:cNvCxnSpPr>
            <a:cxnSpLocks/>
            <a:stCxn id="21" idx="1"/>
            <a:endCxn id="55" idx="2"/>
          </p:cNvCxnSpPr>
          <p:nvPr/>
        </p:nvCxnSpPr>
        <p:spPr>
          <a:xfrm flipH="1" flipV="1">
            <a:off x="6798227" y="3868003"/>
            <a:ext cx="906" cy="111408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5" name="Google Shape;325;g2738aae21b7_0_1"/>
          <p:cNvCxnSpPr>
            <a:cxnSpLocks/>
            <a:stCxn id="21" idx="1"/>
          </p:cNvCxnSpPr>
          <p:nvPr/>
        </p:nvCxnSpPr>
        <p:spPr>
          <a:xfrm rot="5400000" flipH="1" flipV="1">
            <a:off x="6403025" y="4273471"/>
            <a:ext cx="1104720" cy="312504"/>
          </a:xfrm>
          <a:prstGeom prst="bentConnector3">
            <a:avLst>
              <a:gd name="adj1" fmla="val 45526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96" name="Google Shape;1120;p14">
            <a:extLst>
              <a:ext uri="{FF2B5EF4-FFF2-40B4-BE49-F238E27FC236}">
                <a16:creationId xmlns:a16="http://schemas.microsoft.com/office/drawing/2014/main" id="{DEC7C785-978F-ED33-7183-E8314BF59E8A}"/>
              </a:ext>
            </a:extLst>
          </p:cNvPr>
          <p:cNvCxnSpPr>
            <a:cxnSpLocks/>
            <a:stCxn id="394" idx="4"/>
          </p:cNvCxnSpPr>
          <p:nvPr/>
        </p:nvCxnSpPr>
        <p:spPr>
          <a:xfrm flipV="1">
            <a:off x="6997980" y="1850204"/>
            <a:ext cx="1273662" cy="4719996"/>
          </a:xfrm>
          <a:prstGeom prst="bentConnector2">
            <a:avLst/>
          </a:prstGeom>
          <a:noFill/>
          <a:ln w="28575" cap="flat" cmpd="sng">
            <a:solidFill>
              <a:srgbClr val="FF0000">
                <a:alpha val="9803"/>
              </a:srgbClr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0" name="カギ線コネクタ 209">
            <a:extLst>
              <a:ext uri="{FF2B5EF4-FFF2-40B4-BE49-F238E27FC236}">
                <a16:creationId xmlns:a16="http://schemas.microsoft.com/office/drawing/2014/main" id="{836556BB-D224-32B3-05AA-F9F1772B4788}"/>
              </a:ext>
            </a:extLst>
          </p:cNvPr>
          <p:cNvCxnSpPr>
            <a:cxnSpLocks/>
            <a:stCxn id="274" idx="2"/>
            <a:endCxn id="17" idx="0"/>
          </p:cNvCxnSpPr>
          <p:nvPr/>
        </p:nvCxnSpPr>
        <p:spPr>
          <a:xfrm rot="5400000">
            <a:off x="4439108" y="2027789"/>
            <a:ext cx="924284" cy="4590836"/>
          </a:xfrm>
          <a:prstGeom prst="bentConnector3">
            <a:avLst>
              <a:gd name="adj1" fmla="val 23482"/>
            </a:avLst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Google Shape;683;p10">
            <a:extLst>
              <a:ext uri="{FF2B5EF4-FFF2-40B4-BE49-F238E27FC236}">
                <a16:creationId xmlns:a16="http://schemas.microsoft.com/office/drawing/2014/main" id="{4CBDE73A-8997-D751-E56C-68B0CC9F413E}"/>
              </a:ext>
            </a:extLst>
          </p:cNvPr>
          <p:cNvCxnSpPr>
            <a:cxnSpLocks/>
          </p:cNvCxnSpPr>
          <p:nvPr/>
        </p:nvCxnSpPr>
        <p:spPr>
          <a:xfrm flipV="1">
            <a:off x="6222121" y="5655164"/>
            <a:ext cx="0" cy="167966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4" name="Google Shape;683;p10">
            <a:extLst>
              <a:ext uri="{FF2B5EF4-FFF2-40B4-BE49-F238E27FC236}">
                <a16:creationId xmlns:a16="http://schemas.microsoft.com/office/drawing/2014/main" id="{D5B1CBB5-CB1F-4709-9988-CC5C05D2D1C4}"/>
              </a:ext>
            </a:extLst>
          </p:cNvPr>
          <p:cNvCxnSpPr>
            <a:cxnSpLocks/>
          </p:cNvCxnSpPr>
          <p:nvPr/>
        </p:nvCxnSpPr>
        <p:spPr>
          <a:xfrm>
            <a:off x="6579267" y="5661569"/>
            <a:ext cx="0" cy="196035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290" name="Google Shape;203;p3">
            <a:extLst>
              <a:ext uri="{FF2B5EF4-FFF2-40B4-BE49-F238E27FC236}">
                <a16:creationId xmlns:a16="http://schemas.microsoft.com/office/drawing/2014/main" id="{A4C9B9A4-5BB7-8405-4055-1DFC9B4DA499}"/>
              </a:ext>
            </a:extLst>
          </p:cNvPr>
          <p:cNvSpPr/>
          <p:nvPr/>
        </p:nvSpPr>
        <p:spPr>
          <a:xfrm>
            <a:off x="6038325" y="3442855"/>
            <a:ext cx="373272" cy="327881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altLang="en-US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連携</a:t>
            </a:r>
            <a:endParaRPr sz="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lang="en-US" altLang="ja-JP" sz="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500" dirty="0">
                <a:solidFill>
                  <a:schemeClr val="dk1"/>
                </a:solidFill>
              </a:rPr>
              <a:t>(w</a:t>
            </a:r>
            <a:r>
              <a:rPr lang="ja-JP" altLang="en-US" sz="500">
                <a:solidFill>
                  <a:schemeClr val="dk1"/>
                </a:solidFill>
              </a:rPr>
              <a:t>区画</a:t>
            </a:r>
            <a:r>
              <a:rPr lang="en-US" altLang="ja-JP" sz="600" dirty="0">
                <a:solidFill>
                  <a:schemeClr val="dk1"/>
                </a:solidFill>
              </a:rPr>
              <a:t>)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04;g2738aae21b7_0_1">
            <a:extLst>
              <a:ext uri="{FF2B5EF4-FFF2-40B4-BE49-F238E27FC236}">
                <a16:creationId xmlns:a16="http://schemas.microsoft.com/office/drawing/2014/main" id="{941F5702-2C3F-89C4-F13D-34C0D05D4800}"/>
              </a:ext>
            </a:extLst>
          </p:cNvPr>
          <p:cNvCxnSpPr>
            <a:cxnSpLocks/>
          </p:cNvCxnSpPr>
          <p:nvPr/>
        </p:nvCxnSpPr>
        <p:spPr>
          <a:xfrm flipH="1">
            <a:off x="2434639" y="4003190"/>
            <a:ext cx="3896" cy="821984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7" name="カギ線コネクタ 336">
            <a:extLst>
              <a:ext uri="{FF2B5EF4-FFF2-40B4-BE49-F238E27FC236}">
                <a16:creationId xmlns:a16="http://schemas.microsoft.com/office/drawing/2014/main" id="{A1D00285-C6A7-688A-2139-499F7F893AB7}"/>
              </a:ext>
            </a:extLst>
          </p:cNvPr>
          <p:cNvCxnSpPr>
            <a:cxnSpLocks/>
            <a:endCxn id="16" idx="3"/>
          </p:cNvCxnSpPr>
          <p:nvPr/>
        </p:nvCxnSpPr>
        <p:spPr>
          <a:xfrm flipV="1">
            <a:off x="2431756" y="3774632"/>
            <a:ext cx="3368674" cy="230044"/>
          </a:xfrm>
          <a:prstGeom prst="bentConnector2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3" name="グループ化 342">
            <a:extLst>
              <a:ext uri="{FF2B5EF4-FFF2-40B4-BE49-F238E27FC236}">
                <a16:creationId xmlns:a16="http://schemas.microsoft.com/office/drawing/2014/main" id="{8D5D90F1-0ACB-65D1-7334-AE8C41BA68CB}"/>
              </a:ext>
            </a:extLst>
          </p:cNvPr>
          <p:cNvGrpSpPr/>
          <p:nvPr/>
        </p:nvGrpSpPr>
        <p:grpSpPr>
          <a:xfrm>
            <a:off x="6394147" y="2998348"/>
            <a:ext cx="198411" cy="138852"/>
            <a:chOff x="11540384" y="3130715"/>
            <a:chExt cx="290268" cy="214850"/>
          </a:xfrm>
        </p:grpSpPr>
        <p:sp>
          <p:nvSpPr>
            <p:cNvPr id="341" name="山形 340">
              <a:extLst>
                <a:ext uri="{FF2B5EF4-FFF2-40B4-BE49-F238E27FC236}">
                  <a16:creationId xmlns:a16="http://schemas.microsoft.com/office/drawing/2014/main" id="{D330354B-3763-F1D2-0B40-5687895D7779}"/>
                </a:ext>
              </a:extLst>
            </p:cNvPr>
            <p:cNvSpPr/>
            <p:nvPr/>
          </p:nvSpPr>
          <p:spPr>
            <a:xfrm rot="10800000">
              <a:off x="11540384" y="3130715"/>
              <a:ext cx="157595" cy="208332"/>
            </a:xfrm>
            <a:prstGeom prst="chevron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42" name="山形 341">
              <a:extLst>
                <a:ext uri="{FF2B5EF4-FFF2-40B4-BE49-F238E27FC236}">
                  <a16:creationId xmlns:a16="http://schemas.microsoft.com/office/drawing/2014/main" id="{41F1EDD6-1EC0-E53D-5607-E5CAA3C84323}"/>
                </a:ext>
              </a:extLst>
            </p:cNvPr>
            <p:cNvSpPr/>
            <p:nvPr/>
          </p:nvSpPr>
          <p:spPr>
            <a:xfrm rot="10800000">
              <a:off x="11673057" y="3137233"/>
              <a:ext cx="157595" cy="208332"/>
            </a:xfrm>
            <a:prstGeom prst="chevron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51" name="Google Shape;317;g2738aae21b7_0_1">
            <a:extLst>
              <a:ext uri="{FF2B5EF4-FFF2-40B4-BE49-F238E27FC236}">
                <a16:creationId xmlns:a16="http://schemas.microsoft.com/office/drawing/2014/main" id="{8B5F1258-3633-34F0-2537-4E27A61D8410}"/>
              </a:ext>
            </a:extLst>
          </p:cNvPr>
          <p:cNvSpPr/>
          <p:nvPr/>
        </p:nvSpPr>
        <p:spPr>
          <a:xfrm>
            <a:off x="6300085" y="3164596"/>
            <a:ext cx="459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コピ</a:t>
            </a:r>
            <a:r>
              <a:rPr lang="en-US" sz="7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ー</a:t>
            </a:r>
            <a:endParaRPr sz="7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" name="Google Shape;486;p8">
            <a:extLst>
              <a:ext uri="{FF2B5EF4-FFF2-40B4-BE49-F238E27FC236}">
                <a16:creationId xmlns:a16="http://schemas.microsoft.com/office/drawing/2014/main" id="{13EF9DEB-CE8A-6B38-EFB4-2D9CFE15F57B}"/>
              </a:ext>
            </a:extLst>
          </p:cNvPr>
          <p:cNvCxnSpPr>
            <a:cxnSpLocks/>
            <a:stCxn id="367" idx="4"/>
            <a:endCxn id="31" idx="1"/>
          </p:cNvCxnSpPr>
          <p:nvPr/>
        </p:nvCxnSpPr>
        <p:spPr>
          <a:xfrm>
            <a:off x="1014605" y="4557340"/>
            <a:ext cx="1230186" cy="356636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87" name="Google Shape;272;g2738aae21b7_0_1">
            <a:extLst>
              <a:ext uri="{FF2B5EF4-FFF2-40B4-BE49-F238E27FC236}">
                <a16:creationId xmlns:a16="http://schemas.microsoft.com/office/drawing/2014/main" id="{58E36302-6E16-135C-9ED7-586BA755B026}"/>
              </a:ext>
            </a:extLst>
          </p:cNvPr>
          <p:cNvSpPr/>
          <p:nvPr/>
        </p:nvSpPr>
        <p:spPr>
          <a:xfrm>
            <a:off x="1437152" y="5508579"/>
            <a:ext cx="160500" cy="10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3" name="Google Shape;486;p8">
            <a:extLst>
              <a:ext uri="{FF2B5EF4-FFF2-40B4-BE49-F238E27FC236}">
                <a16:creationId xmlns:a16="http://schemas.microsoft.com/office/drawing/2014/main" id="{68E61BCB-E079-DFE8-C4F6-02B155C6F65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96664" y="5431084"/>
            <a:ext cx="569768" cy="482101"/>
          </a:xfrm>
          <a:prstGeom prst="bentConnector3">
            <a:avLst>
              <a:gd name="adj1" fmla="val 6590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19" name="Google Shape;246;g2738aae21b7_0_1">
            <a:extLst>
              <a:ext uri="{FF2B5EF4-FFF2-40B4-BE49-F238E27FC236}">
                <a16:creationId xmlns:a16="http://schemas.microsoft.com/office/drawing/2014/main" id="{9C7AF306-5FBB-8B19-DA2F-C94FE1C350AA}"/>
              </a:ext>
            </a:extLst>
          </p:cNvPr>
          <p:cNvSpPr/>
          <p:nvPr/>
        </p:nvSpPr>
        <p:spPr>
          <a:xfrm>
            <a:off x="574368" y="4827512"/>
            <a:ext cx="434400" cy="400800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手元にある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247;g2738aae21b7_0_1">
            <a:extLst>
              <a:ext uri="{FF2B5EF4-FFF2-40B4-BE49-F238E27FC236}">
                <a16:creationId xmlns:a16="http://schemas.microsoft.com/office/drawing/2014/main" id="{19C18233-E566-A3DD-F497-BE472F5E5C02}"/>
              </a:ext>
            </a:extLst>
          </p:cNvPr>
          <p:cNvCxnSpPr>
            <a:cxnSpLocks/>
          </p:cNvCxnSpPr>
          <p:nvPr/>
        </p:nvCxnSpPr>
        <p:spPr>
          <a:xfrm>
            <a:off x="1019766" y="5027919"/>
            <a:ext cx="1075117" cy="1136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2" name="Google Shape;272;g2738aae21b7_0_1">
            <a:extLst>
              <a:ext uri="{FF2B5EF4-FFF2-40B4-BE49-F238E27FC236}">
                <a16:creationId xmlns:a16="http://schemas.microsoft.com/office/drawing/2014/main" id="{287E0CE7-FA79-F85B-2C37-DD5546B90756}"/>
              </a:ext>
            </a:extLst>
          </p:cNvPr>
          <p:cNvSpPr/>
          <p:nvPr/>
        </p:nvSpPr>
        <p:spPr>
          <a:xfrm>
            <a:off x="1276652" y="5009565"/>
            <a:ext cx="160500" cy="10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5" name="Google Shape;130;p3">
            <a:extLst>
              <a:ext uri="{FF2B5EF4-FFF2-40B4-BE49-F238E27FC236}">
                <a16:creationId xmlns:a16="http://schemas.microsoft.com/office/drawing/2014/main" id="{E92C7D4F-121E-94FD-2CEB-7BCD4ED1D68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39355" y="1497994"/>
            <a:ext cx="212197" cy="1851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6" name="Google Shape;153;p3">
            <a:extLst>
              <a:ext uri="{FF2B5EF4-FFF2-40B4-BE49-F238E27FC236}">
                <a16:creationId xmlns:a16="http://schemas.microsoft.com/office/drawing/2014/main" id="{3FF6F72E-80B6-625C-F018-5C669A19781F}"/>
              </a:ext>
            </a:extLst>
          </p:cNvPr>
          <p:cNvCxnSpPr>
            <a:cxnSpLocks/>
          </p:cNvCxnSpPr>
          <p:nvPr/>
        </p:nvCxnSpPr>
        <p:spPr>
          <a:xfrm flipH="1">
            <a:off x="9845478" y="1587709"/>
            <a:ext cx="785188" cy="9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427" name="Google Shape;165;p3">
            <a:extLst>
              <a:ext uri="{FF2B5EF4-FFF2-40B4-BE49-F238E27FC236}">
                <a16:creationId xmlns:a16="http://schemas.microsoft.com/office/drawing/2014/main" id="{356A9A47-A370-E462-9F45-A296CAEFCAF0}"/>
              </a:ext>
            </a:extLst>
          </p:cNvPr>
          <p:cNvSpPr/>
          <p:nvPr/>
        </p:nvSpPr>
        <p:spPr>
          <a:xfrm>
            <a:off x="10023451" y="1618419"/>
            <a:ext cx="45998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ログイン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130;p3">
            <a:extLst>
              <a:ext uri="{FF2B5EF4-FFF2-40B4-BE49-F238E27FC236}">
                <a16:creationId xmlns:a16="http://schemas.microsoft.com/office/drawing/2014/main" id="{C044D22A-E229-7955-96C9-D949BAE6B15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66036" y="5115599"/>
            <a:ext cx="212197" cy="1851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9" name="Google Shape;153;p3">
            <a:extLst>
              <a:ext uri="{FF2B5EF4-FFF2-40B4-BE49-F238E27FC236}">
                <a16:creationId xmlns:a16="http://schemas.microsoft.com/office/drawing/2014/main" id="{6BB73873-8921-E7C6-C82C-887C911559F4}"/>
              </a:ext>
            </a:extLst>
          </p:cNvPr>
          <p:cNvCxnSpPr>
            <a:cxnSpLocks/>
          </p:cNvCxnSpPr>
          <p:nvPr/>
        </p:nvCxnSpPr>
        <p:spPr>
          <a:xfrm flipH="1">
            <a:off x="9978233" y="5197472"/>
            <a:ext cx="644778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430" name="Google Shape;165;p3">
            <a:extLst>
              <a:ext uri="{FF2B5EF4-FFF2-40B4-BE49-F238E27FC236}">
                <a16:creationId xmlns:a16="http://schemas.microsoft.com/office/drawing/2014/main" id="{7F04580C-0968-089A-EC3F-EA2B80B83001}"/>
              </a:ext>
            </a:extLst>
          </p:cNvPr>
          <p:cNvSpPr/>
          <p:nvPr/>
        </p:nvSpPr>
        <p:spPr>
          <a:xfrm>
            <a:off x="10116299" y="5254596"/>
            <a:ext cx="459984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ログイン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272;g2738aae21b7_0_1">
            <a:extLst>
              <a:ext uri="{FF2B5EF4-FFF2-40B4-BE49-F238E27FC236}">
                <a16:creationId xmlns:a16="http://schemas.microsoft.com/office/drawing/2014/main" id="{3D06CFFC-1271-3BE9-23A5-B9B4F305F6AB}"/>
              </a:ext>
            </a:extLst>
          </p:cNvPr>
          <p:cNvSpPr/>
          <p:nvPr/>
        </p:nvSpPr>
        <p:spPr>
          <a:xfrm>
            <a:off x="10140643" y="5002537"/>
            <a:ext cx="160500" cy="1077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272;g2738aae21b7_0_1">
            <a:extLst>
              <a:ext uri="{FF2B5EF4-FFF2-40B4-BE49-F238E27FC236}">
                <a16:creationId xmlns:a16="http://schemas.microsoft.com/office/drawing/2014/main" id="{D3061600-120F-CBA1-C5BB-76D90ED42261}"/>
              </a:ext>
            </a:extLst>
          </p:cNvPr>
          <p:cNvSpPr/>
          <p:nvPr/>
        </p:nvSpPr>
        <p:spPr>
          <a:xfrm>
            <a:off x="10164070" y="5160811"/>
            <a:ext cx="160500" cy="1077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スライド番号プレースホルダー 1">
            <a:extLst>
              <a:ext uri="{FF2B5EF4-FFF2-40B4-BE49-F238E27FC236}">
                <a16:creationId xmlns:a16="http://schemas.microsoft.com/office/drawing/2014/main" id="{1F4D20E2-183C-4FC2-3843-D491079C2F8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</p:spPr>
        <p:txBody>
          <a:bodyPr wrap="square" anchor="t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altLang="ja-JP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4</a:t>
            </a:fld>
            <a:endParaRPr lang="ja-JP" altLang="en-US" sz="900"/>
          </a:p>
        </p:txBody>
      </p:sp>
      <p:sp>
        <p:nvSpPr>
          <p:cNvPr id="438" name="Google Shape;529;p8">
            <a:extLst>
              <a:ext uri="{FF2B5EF4-FFF2-40B4-BE49-F238E27FC236}">
                <a16:creationId xmlns:a16="http://schemas.microsoft.com/office/drawing/2014/main" id="{00584550-D9D0-6B8B-33ED-DB21ED36013C}"/>
              </a:ext>
            </a:extLst>
          </p:cNvPr>
          <p:cNvSpPr/>
          <p:nvPr/>
        </p:nvSpPr>
        <p:spPr>
          <a:xfrm>
            <a:off x="880495" y="6310532"/>
            <a:ext cx="805975" cy="234886"/>
          </a:xfrm>
          <a:prstGeom prst="wedgeRectCallout">
            <a:avLst>
              <a:gd name="adj1" fmla="val 56947"/>
              <a:gd name="adj2" fmla="val -200716"/>
            </a:avLst>
          </a:prstGeom>
          <a:solidFill>
            <a:schemeClr val="l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ダウンロード</a:t>
            </a:r>
            <a:r>
              <a:rPr lang="ja-JP" altLang="en-US" sz="600">
                <a:solidFill>
                  <a:srgbClr val="FF0000"/>
                </a:solidFill>
              </a:rPr>
              <a:t>不可</a:t>
            </a:r>
            <a:endParaRPr lang="en-US" altLang="ja-JP"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9" name="Google Shape;243;g2738aae21b7_0_1">
            <a:extLst>
              <a:ext uri="{FF2B5EF4-FFF2-40B4-BE49-F238E27FC236}">
                <a16:creationId xmlns:a16="http://schemas.microsoft.com/office/drawing/2014/main" id="{8B02BF41-D04F-41B8-E95B-17620726AE6D}"/>
              </a:ext>
            </a:extLst>
          </p:cNvPr>
          <p:cNvCxnSpPr>
            <a:cxnSpLocks/>
          </p:cNvCxnSpPr>
          <p:nvPr/>
        </p:nvCxnSpPr>
        <p:spPr>
          <a:xfrm flipV="1">
            <a:off x="3669995" y="1858854"/>
            <a:ext cx="7207" cy="2741178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2" name="Google Shape;529;p8">
            <a:extLst>
              <a:ext uri="{FF2B5EF4-FFF2-40B4-BE49-F238E27FC236}">
                <a16:creationId xmlns:a16="http://schemas.microsoft.com/office/drawing/2014/main" id="{C815B714-2E2F-396C-DA05-D219C412C844}"/>
              </a:ext>
            </a:extLst>
          </p:cNvPr>
          <p:cNvSpPr/>
          <p:nvPr/>
        </p:nvSpPr>
        <p:spPr>
          <a:xfrm>
            <a:off x="3972311" y="2675073"/>
            <a:ext cx="1017448" cy="398714"/>
          </a:xfrm>
          <a:prstGeom prst="wedgeRectCallout">
            <a:avLst>
              <a:gd name="adj1" fmla="val -74904"/>
              <a:gd name="adj2" fmla="val -53414"/>
            </a:avLst>
          </a:prstGeom>
          <a:solidFill>
            <a:schemeClr val="l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600" dirty="0" err="1">
                <a:solidFill>
                  <a:srgbClr val="FF0000"/>
                </a:solidFill>
              </a:rPr>
              <a:t>WorkSpaces</a:t>
            </a:r>
            <a:r>
              <a:rPr lang="ja-JP" altLang="en-US" sz="600">
                <a:solidFill>
                  <a:srgbClr val="FF0000"/>
                </a:solidFill>
              </a:rPr>
              <a:t>上へのダウンロードが可能</a:t>
            </a:r>
            <a:endParaRPr lang="en-US" altLang="ja-JP" sz="600" dirty="0">
              <a:solidFill>
                <a:srgbClr val="FF0000"/>
              </a:solidFill>
            </a:endParaRPr>
          </a:p>
          <a:p>
            <a:r>
              <a:rPr lang="ja-JP" altLang="en-US" sz="600">
                <a:solidFill>
                  <a:srgbClr val="FF0000"/>
                </a:solidFill>
              </a:rPr>
              <a:t>（</a:t>
            </a:r>
            <a:r>
              <a:rPr lang="en-US" altLang="ja-JP" sz="600" dirty="0">
                <a:solidFill>
                  <a:srgbClr val="FF0000"/>
                </a:solidFill>
              </a:rPr>
              <a:t>10</a:t>
            </a:r>
            <a:r>
              <a:rPr lang="ja-JP" altLang="en-US" sz="600">
                <a:solidFill>
                  <a:srgbClr val="FF0000"/>
                </a:solidFill>
              </a:rPr>
              <a:t>万行制限あり）</a:t>
            </a:r>
            <a:endParaRPr lang="ja-JP" altLang="en-US" sz="6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272;g2738aae21b7_0_1">
            <a:extLst>
              <a:ext uri="{FF2B5EF4-FFF2-40B4-BE49-F238E27FC236}">
                <a16:creationId xmlns:a16="http://schemas.microsoft.com/office/drawing/2014/main" id="{4CA15D55-FB3D-0F50-FC22-B8391C7CB56A}"/>
              </a:ext>
            </a:extLst>
          </p:cNvPr>
          <p:cNvSpPr/>
          <p:nvPr/>
        </p:nvSpPr>
        <p:spPr>
          <a:xfrm>
            <a:off x="1708966" y="5661569"/>
            <a:ext cx="160500" cy="10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ja-JP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529;p8">
            <a:extLst>
              <a:ext uri="{FF2B5EF4-FFF2-40B4-BE49-F238E27FC236}">
                <a16:creationId xmlns:a16="http://schemas.microsoft.com/office/drawing/2014/main" id="{2DFE4284-D6A9-7CCA-AED7-4249CCD73C50}"/>
              </a:ext>
            </a:extLst>
          </p:cNvPr>
          <p:cNvSpPr/>
          <p:nvPr/>
        </p:nvSpPr>
        <p:spPr>
          <a:xfrm>
            <a:off x="6301397" y="2014818"/>
            <a:ext cx="818426" cy="393070"/>
          </a:xfrm>
          <a:prstGeom prst="wedgeRectCallout">
            <a:avLst>
              <a:gd name="adj1" fmla="val 14888"/>
              <a:gd name="adj2" fmla="val 114657"/>
            </a:avLst>
          </a:prstGeom>
          <a:solidFill>
            <a:schemeClr val="l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Redshift</a:t>
            </a:r>
            <a:r>
              <a:rPr lang="ja-JP" altLang="en-US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へのコピー専用の</a:t>
            </a:r>
            <a:r>
              <a:rPr lang="ja-JP" altLang="en-US" sz="600">
                <a:solidFill>
                  <a:srgbClr val="FF0000"/>
                </a:solidFill>
              </a:rPr>
              <a:t>新設</a:t>
            </a:r>
            <a:r>
              <a:rPr lang="en-US" altLang="ja-JP" sz="6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r>
              <a:rPr lang="ja-JP" altLang="en-US" sz="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バケット</a:t>
            </a:r>
            <a:endParaRPr lang="en-US" altLang="ja-JP"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20;g2738aae21b7_0_1">
            <a:extLst>
              <a:ext uri="{FF2B5EF4-FFF2-40B4-BE49-F238E27FC236}">
                <a16:creationId xmlns:a16="http://schemas.microsoft.com/office/drawing/2014/main" id="{4BDFDD52-DFCC-4D96-5563-621A12727AC9}"/>
              </a:ext>
            </a:extLst>
          </p:cNvPr>
          <p:cNvSpPr/>
          <p:nvPr/>
        </p:nvSpPr>
        <p:spPr>
          <a:xfrm>
            <a:off x="2225694" y="5374118"/>
            <a:ext cx="760276" cy="28745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altLang="ja-JP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endParaRPr lang="en-US" altLang="ja-JP" sz="800" dirty="0">
              <a:solidFill>
                <a:schemeClr val="dk1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AB3887C7-EA1B-3E99-773B-EBA5AF4C555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37496" y="5383054"/>
            <a:ext cx="185801" cy="200094"/>
          </a:xfrm>
          <a:prstGeom prst="rect">
            <a:avLst/>
          </a:prstGeom>
        </p:spPr>
      </p:pic>
      <p:sp>
        <p:nvSpPr>
          <p:cNvPr id="12" name="Google Shape;203;p3">
            <a:extLst>
              <a:ext uri="{FF2B5EF4-FFF2-40B4-BE49-F238E27FC236}">
                <a16:creationId xmlns:a16="http://schemas.microsoft.com/office/drawing/2014/main" id="{57651A01-2007-9B0C-10CE-8670FEF1E5A9}"/>
              </a:ext>
            </a:extLst>
          </p:cNvPr>
          <p:cNvSpPr/>
          <p:nvPr/>
        </p:nvSpPr>
        <p:spPr>
          <a:xfrm>
            <a:off x="2454008" y="5420502"/>
            <a:ext cx="317455" cy="209275"/>
          </a:xfrm>
          <a:prstGeom prst="can">
            <a:avLst>
              <a:gd name="adj" fmla="val 25000"/>
            </a:avLst>
          </a:prstGeom>
          <a:solidFill>
            <a:schemeClr val="lt1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アップ</a:t>
            </a:r>
            <a:endParaRPr lang="en-US" sz="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ロード</a:t>
            </a:r>
            <a:endParaRPr lang="en-US" sz="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sz="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</a:t>
            </a:r>
            <a:endParaRPr sz="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277;g2738aae21b7_0_1">
            <a:extLst>
              <a:ext uri="{FF2B5EF4-FFF2-40B4-BE49-F238E27FC236}">
                <a16:creationId xmlns:a16="http://schemas.microsoft.com/office/drawing/2014/main" id="{E054DD39-045C-4A94-3A37-4CA45947CF03}"/>
              </a:ext>
            </a:extLst>
          </p:cNvPr>
          <p:cNvCxnSpPr>
            <a:cxnSpLocks/>
            <a:stCxn id="220" idx="2"/>
            <a:endCxn id="6" idx="3"/>
          </p:cNvCxnSpPr>
          <p:nvPr/>
        </p:nvCxnSpPr>
        <p:spPr>
          <a:xfrm rot="5400000">
            <a:off x="1374864" y="3455376"/>
            <a:ext cx="3673574" cy="451362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" name="Google Shape;486;p8">
            <a:extLst>
              <a:ext uri="{FF2B5EF4-FFF2-40B4-BE49-F238E27FC236}">
                <a16:creationId xmlns:a16="http://schemas.microsoft.com/office/drawing/2014/main" id="{352AAE2B-9A16-E9E7-871F-5C25BCD2B707}"/>
              </a:ext>
            </a:extLst>
          </p:cNvPr>
          <p:cNvCxnSpPr>
            <a:cxnSpLocks/>
          </p:cNvCxnSpPr>
          <p:nvPr/>
        </p:nvCxnSpPr>
        <p:spPr>
          <a:xfrm flipV="1">
            <a:off x="2977846" y="5120970"/>
            <a:ext cx="1266588" cy="32158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4" name="Google Shape;529;p8">
            <a:extLst>
              <a:ext uri="{FF2B5EF4-FFF2-40B4-BE49-F238E27FC236}">
                <a16:creationId xmlns:a16="http://schemas.microsoft.com/office/drawing/2014/main" id="{7D16A637-20D7-EDC2-E53B-C3F5763C1757}"/>
              </a:ext>
            </a:extLst>
          </p:cNvPr>
          <p:cNvSpPr/>
          <p:nvPr/>
        </p:nvSpPr>
        <p:spPr>
          <a:xfrm>
            <a:off x="2192536" y="5746977"/>
            <a:ext cx="871564" cy="385481"/>
          </a:xfrm>
          <a:prstGeom prst="wedgeRectCallout">
            <a:avLst>
              <a:gd name="adj1" fmla="val 61377"/>
              <a:gd name="adj2" fmla="val -103384"/>
            </a:avLst>
          </a:prstGeom>
          <a:solidFill>
            <a:schemeClr val="l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600" dirty="0" err="1">
                <a:solidFill>
                  <a:srgbClr val="FF0000"/>
                </a:solidFill>
              </a:rPr>
              <a:t>WorkSpaces</a:t>
            </a:r>
            <a:r>
              <a:rPr lang="ja-JP" altLang="en-US" sz="600">
                <a:solidFill>
                  <a:srgbClr val="FF0000"/>
                </a:solidFill>
              </a:rPr>
              <a:t>上から直接ファイルのアップロードが可能</a:t>
            </a:r>
            <a:endParaRPr lang="en-US" altLang="ja-JP" sz="6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マスター">
  <a:themeElements>
    <a:clrScheme name="Gnavi">
      <a:dk1>
        <a:srgbClr val="000000"/>
      </a:dk1>
      <a:lt1>
        <a:srgbClr val="FFFFFF"/>
      </a:lt1>
      <a:dk2>
        <a:srgbClr val="DC0012"/>
      </a:dk2>
      <a:lt2>
        <a:srgbClr val="FFD4CC"/>
      </a:lt2>
      <a:accent1>
        <a:srgbClr val="EDEBE6"/>
      </a:accent1>
      <a:accent2>
        <a:srgbClr val="DFDCD3"/>
      </a:accent2>
      <a:accent3>
        <a:srgbClr val="000000"/>
      </a:accent3>
      <a:accent4>
        <a:srgbClr val="757575"/>
      </a:accent4>
      <a:accent5>
        <a:srgbClr val="C2C2C2"/>
      </a:accent5>
      <a:accent6>
        <a:srgbClr val="E0E0E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ホワイ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3126</TotalTime>
  <Words>733</Words>
  <Application>Microsoft Macintosh PowerPoint</Application>
  <PresentationFormat>ワイド画面</PresentationFormat>
  <Paragraphs>226</Paragraphs>
  <Slides>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Meiryo</vt:lpstr>
      <vt:lpstr>Arial</vt:lpstr>
      <vt:lpstr>Times New Roman</vt:lpstr>
      <vt:lpstr>マスター</vt:lpstr>
      <vt:lpstr>Paxata代替 プレパレーション環境の全体像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現行のJOY プレパレーション環境のシステム構成（As-Is）</dc:title>
  <cp:lastModifiedBy>加藤 孟</cp:lastModifiedBy>
  <cp:revision>342</cp:revision>
  <dcterms:modified xsi:type="dcterms:W3CDTF">2024-09-19T07:15:43Z</dcterms:modified>
</cp:coreProperties>
</file>