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68" r:id="rId2"/>
    <p:sldMasterId id="2147483681" r:id="rId3"/>
  </p:sldMasterIdLst>
  <p:notesMasterIdLst>
    <p:notesMasterId r:id="rId31"/>
  </p:notesMasterIdLst>
  <p:sldIdLst>
    <p:sldId id="279" r:id="rId4"/>
    <p:sldId id="2147476304" r:id="rId5"/>
    <p:sldId id="2147476338" r:id="rId6"/>
    <p:sldId id="2147476257" r:id="rId7"/>
    <p:sldId id="2147476305" r:id="rId8"/>
    <p:sldId id="2147476262" r:id="rId9"/>
    <p:sldId id="2147476320" r:id="rId10"/>
    <p:sldId id="2147476282" r:id="rId11"/>
    <p:sldId id="2147476267" r:id="rId12"/>
    <p:sldId id="2147476330" r:id="rId13"/>
    <p:sldId id="2147476335" r:id="rId14"/>
    <p:sldId id="2147476336" r:id="rId15"/>
    <p:sldId id="2147476337" r:id="rId16"/>
    <p:sldId id="2147476331" r:id="rId17"/>
    <p:sldId id="2147476318" r:id="rId18"/>
    <p:sldId id="2147476313" r:id="rId19"/>
    <p:sldId id="2147476324" r:id="rId20"/>
    <p:sldId id="2147476325" r:id="rId21"/>
    <p:sldId id="2147476307" r:id="rId22"/>
    <p:sldId id="2147476321" r:id="rId23"/>
    <p:sldId id="2147476319" r:id="rId24"/>
    <p:sldId id="2147476323" r:id="rId25"/>
    <p:sldId id="2147476326" r:id="rId26"/>
    <p:sldId id="2147476327" r:id="rId27"/>
    <p:sldId id="2147476328" r:id="rId28"/>
    <p:sldId id="2147476315" r:id="rId29"/>
    <p:sldId id="3234" r:id="rId3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p93069" initials="sup93069" lastIdx="9" clrIdx="0">
    <p:extLst>
      <p:ext uri="{19B8F6BF-5375-455C-9EA6-DF929625EA0E}">
        <p15:presenceInfo xmlns:p15="http://schemas.microsoft.com/office/powerpoint/2012/main" userId="sup93069" providerId="None"/>
      </p:ext>
    </p:extLst>
  </p:cmAuthor>
  <p:cmAuthor id="2" name="sup92429" initials="sup92429" lastIdx="2" clrIdx="1">
    <p:extLst>
      <p:ext uri="{19B8F6BF-5375-455C-9EA6-DF929625EA0E}">
        <p15:presenceInfo xmlns:p15="http://schemas.microsoft.com/office/powerpoint/2012/main" userId="sup9242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6F7F9"/>
    <a:srgbClr val="578EDB"/>
    <a:srgbClr val="1D68CF"/>
    <a:srgbClr val="5C697A"/>
    <a:srgbClr val="ECECEC"/>
    <a:srgbClr val="CCECFF"/>
    <a:srgbClr val="F3F8FF"/>
    <a:srgbClr val="020FBE"/>
    <a:srgbClr val="A9B1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95" autoAdjust="0"/>
    <p:restoredTop sz="95852" autoAdjust="0"/>
  </p:normalViewPr>
  <p:slideViewPr>
    <p:cSldViewPr snapToGrid="0">
      <p:cViewPr varScale="1">
        <p:scale>
          <a:sx n="95" d="100"/>
          <a:sy n="95" d="100"/>
        </p:scale>
        <p:origin x="398" y="72"/>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Lst>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4.xml"/><Relationship Id="rId18" Type="http://schemas.openxmlformats.org/officeDocument/2006/relationships/slide" Target="slides/slide19.xml"/><Relationship Id="rId3" Type="http://schemas.openxmlformats.org/officeDocument/2006/relationships/slide" Target="slides/slide4.xml"/><Relationship Id="rId21" Type="http://schemas.openxmlformats.org/officeDocument/2006/relationships/slide" Target="slides/slide26.xml"/><Relationship Id="rId7" Type="http://schemas.openxmlformats.org/officeDocument/2006/relationships/slide" Target="slides/slide8.xml"/><Relationship Id="rId12" Type="http://schemas.openxmlformats.org/officeDocument/2006/relationships/slide" Target="slides/slide13.xml"/><Relationship Id="rId17" Type="http://schemas.openxmlformats.org/officeDocument/2006/relationships/slide" Target="slides/slide18.xml"/><Relationship Id="rId2" Type="http://schemas.openxmlformats.org/officeDocument/2006/relationships/slide" Target="slides/slide3.xml"/><Relationship Id="rId16" Type="http://schemas.openxmlformats.org/officeDocument/2006/relationships/slide" Target="slides/slide17.xml"/><Relationship Id="rId20" Type="http://schemas.openxmlformats.org/officeDocument/2006/relationships/slide" Target="slides/slide21.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5" Type="http://schemas.openxmlformats.org/officeDocument/2006/relationships/slide" Target="slides/slide16.xml"/><Relationship Id="rId10" Type="http://schemas.openxmlformats.org/officeDocument/2006/relationships/slide" Target="slides/slide11.xml"/><Relationship Id="rId19" Type="http://schemas.openxmlformats.org/officeDocument/2006/relationships/slide" Target="slides/slide20.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 Id="rId22"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09DAD6-E54F-4D60-9155-905C3CDA5B19}" type="datetimeFigureOut">
              <a:rPr kumimoji="1" lang="ja-JP" altLang="en-US" smtClean="0"/>
              <a:t>2024/5/14</a:t>
            </a:fld>
            <a:endParaRPr kumimoji="1"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dirty="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285497-130E-4DAA-9257-7304ECFFAC3D}" type="slidenum">
              <a:rPr kumimoji="1" lang="ja-JP" altLang="en-US" smtClean="0"/>
              <a:t>‹#›</a:t>
            </a:fld>
            <a:endParaRPr kumimoji="1" lang="ja-JP" altLang="en-US" dirty="0"/>
          </a:p>
        </p:txBody>
      </p:sp>
    </p:spTree>
    <p:extLst>
      <p:ext uri="{BB962C8B-B14F-4D97-AF65-F5344CB8AC3E}">
        <p14:creationId xmlns:p14="http://schemas.microsoft.com/office/powerpoint/2010/main" val="110841999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CC7F-2AA0-6859-1BAD-209F261903E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794F85-3501-6B64-EEC9-EFF50F8A575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E99CD4-2A36-BEF1-5598-CA1EAD7EEF7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7C94F53-0EE5-6B2F-8B0D-2497E31FBE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334453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0D8E5-297C-5A0A-FD6A-C135360E836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EEEBFF-7AFF-8DA5-C9E3-33DD4D35687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5BCFE0-DCDF-193E-74AD-457DF21C855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27DBAAE-EDB5-8CCC-907B-F3554C88AA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975177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47B33-DE1E-4549-ECA1-7205B9FE23B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49A3926-CCB4-6D7D-26F8-3E78C7E338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EDD3E45-1879-9E30-CAF1-428B30B1CDB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86716D4-1149-E8C4-A71F-46642E222B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647197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8C4B3-F951-E56B-5C72-6207B4C8FB1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6EC47AA-42BF-DADD-4666-3E978EF336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DF40A2-CE49-6107-5833-D3F771ACCB7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6D2D04-F8E1-3738-8B86-AC9BA1C015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234188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3B800-A676-B6D0-8F77-70355F4B95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82AF93D-8DFB-4A2B-4D16-83B7191A4F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9F51B3A-9211-7279-AC44-88C18BB1D30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AB969CB-F305-C613-6742-73BE4DAF18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542387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898918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96916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34806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8102208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356616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061259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285497-130E-4DAA-9257-7304ECFFAC3D}"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701332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28369B-831D-4136-8F09-6A363C9F97F2}" type="slidenum">
              <a:rPr kumimoji="1" lang="ja-JP" altLang="en-US" sz="1200" b="0" i="0" u="none" strike="noStrike" kern="1200" cap="none" spc="0" normalizeH="0" baseline="0" noProof="0" smtClean="0">
                <a:ln>
                  <a:noFill/>
                </a:ln>
                <a:solidFill>
                  <a:prstClr val="black"/>
                </a:solidFill>
                <a:effectLst/>
                <a:uLnTx/>
                <a:uFillTx/>
                <a:latin typeface="Calibri"/>
                <a:ea typeface="Meiryo UI" panose="020B060403050404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1" lang="ja-JP" altLang="en-US" sz="1200" b="0" i="0" u="none" strike="noStrike" kern="1200" cap="none" spc="0" normalizeH="0" baseline="0" noProof="0" dirty="0">
              <a:ln>
                <a:noFill/>
              </a:ln>
              <a:solidFill>
                <a:prstClr val="black"/>
              </a:solidFill>
              <a:effectLst/>
              <a:uLnTx/>
              <a:uFillTx/>
              <a:latin typeface="Calibri"/>
              <a:ea typeface="Meiryo UI" panose="020B0604030504040204" pitchFamily="50" charset="-128"/>
              <a:cs typeface="+mn-cs"/>
            </a:endParaRPr>
          </a:p>
        </p:txBody>
      </p:sp>
    </p:spTree>
    <p:extLst>
      <p:ext uri="{BB962C8B-B14F-4D97-AF65-F5344CB8AC3E}">
        <p14:creationId xmlns:p14="http://schemas.microsoft.com/office/powerpoint/2010/main" val="124265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3" name="サブタイトル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dirty="0"/>
              <a:t>マスタ サブタイトルの書式設定</a:t>
            </a:r>
          </a:p>
        </p:txBody>
      </p:sp>
      <p:sp>
        <p:nvSpPr>
          <p:cNvPr id="4" name="日付プレースホルダ 3"/>
          <p:cNvSpPr>
            <a:spLocks noGrp="1"/>
          </p:cNvSpPr>
          <p:nvPr>
            <p:ph type="dt" sz="half" idx="10"/>
          </p:nvPr>
        </p:nvSpPr>
        <p:spPr/>
        <p:txBody>
          <a:bodyPr/>
          <a:lstStyle/>
          <a:p>
            <a:endParaRPr kumimoji="1" lang="ja-JP" altLang="en-US" dirty="0"/>
          </a:p>
        </p:txBody>
      </p:sp>
      <p:sp>
        <p:nvSpPr>
          <p:cNvPr id="6" name="スライド番号プレースホルダ 5"/>
          <p:cNvSpPr>
            <a:spLocks noGrp="1"/>
          </p:cNvSpPr>
          <p:nvPr>
            <p:ph type="sldNum" sz="quarter" idx="12"/>
          </p:nvPr>
        </p:nvSpPr>
        <p:spPr>
          <a:xfrm>
            <a:off x="9347200" y="6492876"/>
            <a:ext cx="2844800" cy="365125"/>
          </a:xfrm>
          <a:prstGeom prst="rect">
            <a:avLst/>
          </a:prstGeom>
        </p:spPr>
        <p:txBody>
          <a:bodyPr/>
          <a:lstStyle>
            <a:lvl1pPr>
              <a:defRPr>
                <a:solidFill>
                  <a:schemeClr val="tx1"/>
                </a:solidFill>
                <a:ea typeface="Meiryo UI" panose="020B0604030504040204" pitchFamily="50" charset="-128"/>
              </a:defRPr>
            </a:lvl1pPr>
          </a:lstStyle>
          <a:p>
            <a:fld id="{BFD8CB9D-0677-470C-B00A-10D0F9C54D26}" type="slidenum">
              <a:rPr lang="ja-JP" altLang="en-US" smtClean="0"/>
              <a:pPr/>
              <a:t>‹#›</a:t>
            </a:fld>
            <a:endParaRPr lang="ja-JP" altLang="en-US" dirty="0"/>
          </a:p>
        </p:txBody>
      </p:sp>
    </p:spTree>
    <p:extLst>
      <p:ext uri="{BB962C8B-B14F-4D97-AF65-F5344CB8AC3E}">
        <p14:creationId xmlns:p14="http://schemas.microsoft.com/office/powerpoint/2010/main" val="1553368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119336" y="127575"/>
            <a:ext cx="8932800" cy="619200"/>
          </a:xfrm>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endParaRPr kumimoji="1" lang="ja-JP" altLang="en-US" dirty="0"/>
          </a:p>
        </p:txBody>
      </p:sp>
      <p:sp>
        <p:nvSpPr>
          <p:cNvPr id="5" name="スライド番号プレースホルダ 4"/>
          <p:cNvSpPr>
            <a:spLocks noGrp="1"/>
          </p:cNvSpPr>
          <p:nvPr>
            <p:ph type="sldNum" sz="quarter" idx="12"/>
          </p:nvPr>
        </p:nvSpPr>
        <p:spPr>
          <a:xfrm>
            <a:off x="9347200" y="6492876"/>
            <a:ext cx="2844800" cy="365125"/>
          </a:xfrm>
          <a:prstGeom prst="rect">
            <a:avLst/>
          </a:prstGeom>
        </p:spPr>
        <p:txBody>
          <a:bodyPr/>
          <a:lstStyle>
            <a:lvl1pPr>
              <a:defRPr>
                <a:ea typeface="Meiryo UI" panose="020B0604030504040204" pitchFamily="50" charset="-128"/>
              </a:defRPr>
            </a:lvl1pPr>
          </a:lstStyle>
          <a:p>
            <a:fld id="{BFD8CB9D-0677-470C-B00A-10D0F9C54D26}" type="slidenum">
              <a:rPr lang="ja-JP" altLang="en-US" smtClean="0"/>
              <a:pPr/>
              <a:t>‹#›</a:t>
            </a:fld>
            <a:endParaRPr lang="ja-JP" altLang="en-US" dirty="0"/>
          </a:p>
        </p:txBody>
      </p:sp>
    </p:spTree>
    <p:extLst>
      <p:ext uri="{BB962C8B-B14F-4D97-AF65-F5344CB8AC3E}">
        <p14:creationId xmlns:p14="http://schemas.microsoft.com/office/powerpoint/2010/main" val="865126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endParaRPr kumimoji="1" lang="ja-JP" altLang="en-US" dirty="0"/>
          </a:p>
        </p:txBody>
      </p:sp>
      <p:sp>
        <p:nvSpPr>
          <p:cNvPr id="4" name="スライド番号プレースホルダ 3"/>
          <p:cNvSpPr>
            <a:spLocks noGrp="1"/>
          </p:cNvSpPr>
          <p:nvPr>
            <p:ph type="sldNum" sz="quarter" idx="12"/>
          </p:nvPr>
        </p:nvSpPr>
        <p:spPr>
          <a:xfrm>
            <a:off x="9347200" y="6492876"/>
            <a:ext cx="2844800" cy="365125"/>
          </a:xfrm>
          <a:prstGeom prst="rect">
            <a:avLst/>
          </a:prstGeom>
        </p:spPr>
        <p:txBody>
          <a:bodyPr/>
          <a:lstStyle>
            <a:lvl1pPr>
              <a:defRPr>
                <a:ea typeface="Meiryo UI" panose="020B0604030504040204" pitchFamily="50" charset="-128"/>
              </a:defRPr>
            </a:lvl1pPr>
          </a:lstStyle>
          <a:p>
            <a:fld id="{BFD8CB9D-0677-470C-B00A-10D0F9C54D26}" type="slidenum">
              <a:rPr lang="ja-JP" altLang="en-US" smtClean="0"/>
              <a:pPr/>
              <a:t>‹#›</a:t>
            </a:fld>
            <a:endParaRPr lang="ja-JP" altLang="en-US" dirty="0"/>
          </a:p>
        </p:txBody>
      </p:sp>
      <p:sp>
        <p:nvSpPr>
          <p:cNvPr id="5" name="タイトル 1">
            <a:extLst>
              <a:ext uri="{FF2B5EF4-FFF2-40B4-BE49-F238E27FC236}">
                <a16:creationId xmlns:a16="http://schemas.microsoft.com/office/drawing/2014/main" id="{EE9FEB76-4A07-4672-9F40-E702325A1D5E}"/>
              </a:ext>
            </a:extLst>
          </p:cNvPr>
          <p:cNvSpPr>
            <a:spLocks noGrp="1"/>
          </p:cNvSpPr>
          <p:nvPr>
            <p:ph type="title"/>
          </p:nvPr>
        </p:nvSpPr>
        <p:spPr>
          <a:xfrm>
            <a:off x="119336" y="127575"/>
            <a:ext cx="8932800" cy="619200"/>
          </a:xfrm>
        </p:spPr>
        <p:txBody>
          <a:bodyPr>
            <a:normAutofit/>
          </a:bodyPr>
          <a:lstStyle>
            <a:lvl1pPr>
              <a:defRPr sz="2400"/>
            </a:lvl1pPr>
          </a:lstStyle>
          <a:p>
            <a:r>
              <a:rPr kumimoji="1" lang="ja-JP" altLang="en-US" dirty="0"/>
              <a:t>マスタ タイトルの書式設定</a:t>
            </a:r>
          </a:p>
        </p:txBody>
      </p:sp>
      <p:sp>
        <p:nvSpPr>
          <p:cNvPr id="3" name="正方形/長方形 2">
            <a:extLst>
              <a:ext uri="{FF2B5EF4-FFF2-40B4-BE49-F238E27FC236}">
                <a16:creationId xmlns:a16="http://schemas.microsoft.com/office/drawing/2014/main" id="{F49CE28E-E327-4A42-B5A1-8EC70DB6475C}"/>
              </a:ext>
            </a:extLst>
          </p:cNvPr>
          <p:cNvSpPr/>
          <p:nvPr userDrawn="1"/>
        </p:nvSpPr>
        <p:spPr>
          <a:xfrm>
            <a:off x="9552384" y="127575"/>
            <a:ext cx="2411818" cy="6713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6" name="図 5">
            <a:extLst>
              <a:ext uri="{FF2B5EF4-FFF2-40B4-BE49-F238E27FC236}">
                <a16:creationId xmlns:a16="http://schemas.microsoft.com/office/drawing/2014/main" id="{A2ED0738-6942-4397-B6F5-037CDD07EB9B}"/>
              </a:ext>
            </a:extLst>
          </p:cNvPr>
          <p:cNvPicPr>
            <a:picLocks noChangeAspect="1"/>
          </p:cNvPicPr>
          <p:nvPr userDrawn="1"/>
        </p:nvPicPr>
        <p:blipFill rotWithShape="1">
          <a:blip r:embed="rId2"/>
          <a:srcRect t="6022"/>
          <a:stretch/>
        </p:blipFill>
        <p:spPr>
          <a:xfrm>
            <a:off x="11064552" y="38501"/>
            <a:ext cx="1121126" cy="972916"/>
          </a:xfrm>
          <a:prstGeom prst="rect">
            <a:avLst/>
          </a:prstGeom>
        </p:spPr>
      </p:pic>
    </p:spTree>
    <p:extLst>
      <p:ext uri="{BB962C8B-B14F-4D97-AF65-F5344CB8AC3E}">
        <p14:creationId xmlns:p14="http://schemas.microsoft.com/office/powerpoint/2010/main" val="748316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タイトル スライド">
    <p:spTree>
      <p:nvGrpSpPr>
        <p:cNvPr id="1" name=""/>
        <p:cNvGrpSpPr/>
        <p:nvPr/>
      </p:nvGrpSpPr>
      <p:grpSpPr>
        <a:xfrm>
          <a:off x="0" y="0"/>
          <a:ext cx="0" cy="0"/>
          <a:chOff x="0" y="0"/>
          <a:chExt cx="0" cy="0"/>
        </a:xfrm>
      </p:grpSpPr>
      <p:sp>
        <p:nvSpPr>
          <p:cNvPr id="11" name="テキスト プレースホルダ 10"/>
          <p:cNvSpPr>
            <a:spLocks noGrp="1"/>
          </p:cNvSpPr>
          <p:nvPr>
            <p:ph type="body" sz="quarter" idx="10"/>
          </p:nvPr>
        </p:nvSpPr>
        <p:spPr>
          <a:xfrm>
            <a:off x="1587742" y="5429425"/>
            <a:ext cx="9020353" cy="219673"/>
          </a:xfrm>
        </p:spPr>
        <p:txBody>
          <a:bodyPr/>
          <a:lstStyle>
            <a:lvl1pPr algn="ctr">
              <a:defRPr sz="1477"/>
            </a:lvl1pPr>
          </a:lstStyle>
          <a:p>
            <a:pPr lvl="0"/>
            <a:r>
              <a:rPr lang="ja-JP" altLang="en-US" dirty="0"/>
              <a:t>マスタ テキストの書式設定</a:t>
            </a:r>
          </a:p>
        </p:txBody>
      </p:sp>
      <p:sp>
        <p:nvSpPr>
          <p:cNvPr id="9218" name="Rectangle 2"/>
          <p:cNvSpPr>
            <a:spLocks noGrp="1" noChangeArrowheads="1"/>
          </p:cNvSpPr>
          <p:nvPr>
            <p:ph type="ctrTitle"/>
          </p:nvPr>
        </p:nvSpPr>
        <p:spPr>
          <a:xfrm>
            <a:off x="1991576" y="2349000"/>
            <a:ext cx="8212683" cy="1080000"/>
          </a:xfrm>
          <a:ln w="9525"/>
        </p:spPr>
        <p:txBody>
          <a:bodyPr/>
          <a:lstStyle>
            <a:lvl1pPr algn="ctr" fontAlgn="t">
              <a:defRPr sz="2585" b="0">
                <a:solidFill>
                  <a:schemeClr val="tx1"/>
                </a:solidFill>
                <a:latin typeface="+mj-lt"/>
              </a:defRPr>
            </a:lvl1pPr>
          </a:lstStyle>
          <a:p>
            <a:r>
              <a:rPr lang="ja-JP" altLang="en-US" dirty="0"/>
              <a:t>マスタ タイトルの書式設定</a:t>
            </a:r>
          </a:p>
        </p:txBody>
      </p:sp>
      <p:sp>
        <p:nvSpPr>
          <p:cNvPr id="13" name="テキスト プレースホルダ 10"/>
          <p:cNvSpPr>
            <a:spLocks noGrp="1"/>
          </p:cNvSpPr>
          <p:nvPr>
            <p:ph type="body" sz="quarter" idx="12"/>
          </p:nvPr>
        </p:nvSpPr>
        <p:spPr>
          <a:xfrm>
            <a:off x="1587742" y="4711159"/>
            <a:ext cx="9020353" cy="219673"/>
          </a:xfrm>
        </p:spPr>
        <p:txBody>
          <a:bodyPr/>
          <a:lstStyle>
            <a:lvl1pPr algn="ctr">
              <a:defRPr sz="1385"/>
            </a:lvl1pPr>
          </a:lstStyle>
          <a:p>
            <a:pPr lvl="0"/>
            <a:r>
              <a:rPr lang="ja-JP" altLang="en-US" dirty="0"/>
              <a:t>マスター テキストの書式設定</a:t>
            </a:r>
          </a:p>
        </p:txBody>
      </p:sp>
      <p:pic>
        <p:nvPicPr>
          <p:cNvPr id="5" name="図 4">
            <a:extLst>
              <a:ext uri="{FF2B5EF4-FFF2-40B4-BE49-F238E27FC236}">
                <a16:creationId xmlns:a16="http://schemas.microsoft.com/office/drawing/2014/main" id="{F162E475-F46D-4722-B940-261878B282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2424" y="188640"/>
            <a:ext cx="2010883" cy="612954"/>
          </a:xfrm>
          <a:prstGeom prst="rect">
            <a:avLst/>
          </a:prstGeom>
          <a:ln>
            <a:noFill/>
          </a:ln>
        </p:spPr>
      </p:pic>
    </p:spTree>
    <p:extLst>
      <p:ext uri="{BB962C8B-B14F-4D97-AF65-F5344CB8AC3E}">
        <p14:creationId xmlns:p14="http://schemas.microsoft.com/office/powerpoint/2010/main" val="3738484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sp>
        <p:nvSpPr>
          <p:cNvPr id="3" name="日付プレースホルダー 2"/>
          <p:cNvSpPr>
            <a:spLocks noGrp="1"/>
          </p:cNvSpPr>
          <p:nvPr>
            <p:ph type="dt" sz="half" idx="10"/>
          </p:nvPr>
        </p:nvSpPr>
        <p:spPr>
          <a:xfrm>
            <a:off x="838200" y="6356351"/>
            <a:ext cx="2743200" cy="365125"/>
          </a:xfrm>
          <a:prstGeom prst="rect">
            <a:avLst/>
          </a:prstGeom>
        </p:spPr>
        <p:txBody>
          <a:bodyPr/>
          <a:lstStyle/>
          <a:p>
            <a:fld id="{6A98D5DA-5B19-4B76-ACE3-12EF74348704}" type="datetimeFigureOut">
              <a:rPr kumimoji="1" lang="ja-JP" altLang="en-US" smtClean="0"/>
              <a:t>2024/5/14</a:t>
            </a:fld>
            <a:endParaRPr kumimoji="1" lang="ja-JP" altLang="en-US" dirty="0"/>
          </a:p>
        </p:txBody>
      </p:sp>
      <p:sp>
        <p:nvSpPr>
          <p:cNvPr id="4" name="フッター プレースホルダー 3"/>
          <p:cNvSpPr>
            <a:spLocks noGrp="1"/>
          </p:cNvSpPr>
          <p:nvPr>
            <p:ph type="ftr" sz="quarter" idx="11"/>
          </p:nvPr>
        </p:nvSpPr>
        <p:spPr>
          <a:xfrm>
            <a:off x="4038601" y="6356351"/>
            <a:ext cx="4114800" cy="365125"/>
          </a:xfrm>
          <a:prstGeom prst="rect">
            <a:avLst/>
          </a:prstGeom>
        </p:spPr>
        <p:txBody>
          <a:bodyPr/>
          <a:lstStyle/>
          <a:p>
            <a:endParaRPr kumimoji="1" lang="ja-JP" altLang="en-US" dirty="0"/>
          </a:p>
        </p:txBody>
      </p:sp>
      <p:sp>
        <p:nvSpPr>
          <p:cNvPr id="5" name="スライド番号プレースホルダー 4"/>
          <p:cNvSpPr>
            <a:spLocks noGrp="1"/>
          </p:cNvSpPr>
          <p:nvPr>
            <p:ph type="sldNum" sz="quarter" idx="12"/>
          </p:nvPr>
        </p:nvSpPr>
        <p:spPr>
          <a:xfrm>
            <a:off x="8610600" y="6356351"/>
            <a:ext cx="2743200" cy="365125"/>
          </a:xfrm>
          <a:prstGeom prst="rect">
            <a:avLst/>
          </a:prstGeom>
        </p:spPr>
        <p:txBody>
          <a:bodyPr/>
          <a:lstStyle/>
          <a:p>
            <a:fld id="{3DD405F2-7060-4310-9530-DD91A0CBBA22}" type="slidenum">
              <a:rPr kumimoji="1" lang="ja-JP" altLang="en-US" smtClean="0"/>
              <a:t>‹#›</a:t>
            </a:fld>
            <a:endParaRPr kumimoji="1" lang="ja-JP" altLang="en-US" dirty="0"/>
          </a:p>
        </p:txBody>
      </p:sp>
      <p:sp>
        <p:nvSpPr>
          <p:cNvPr id="6" name="タイトル 1">
            <a:extLst>
              <a:ext uri="{FF2B5EF4-FFF2-40B4-BE49-F238E27FC236}">
                <a16:creationId xmlns:a16="http://schemas.microsoft.com/office/drawing/2014/main" id="{F0EB4BF5-1E47-4B95-8DD2-3799BFCAD776}"/>
              </a:ext>
            </a:extLst>
          </p:cNvPr>
          <p:cNvSpPr>
            <a:spLocks noGrp="1"/>
          </p:cNvSpPr>
          <p:nvPr>
            <p:ph type="title"/>
          </p:nvPr>
        </p:nvSpPr>
        <p:spPr>
          <a:xfrm>
            <a:off x="424827" y="245221"/>
            <a:ext cx="10972800" cy="490066"/>
          </a:xfrm>
        </p:spPr>
        <p:txBody>
          <a:bodyPr>
            <a:noAutofit/>
          </a:bodyPr>
          <a:lstStyle>
            <a:lvl1pPr algn="l">
              <a:defRPr sz="2800">
                <a:latin typeface="+mn-ea"/>
                <a:ea typeface="+mn-ea"/>
              </a:defRPr>
            </a:lvl1pPr>
          </a:lstStyle>
          <a:p>
            <a:r>
              <a:rPr kumimoji="1" lang="ja-JP" altLang="en-US" dirty="0"/>
              <a:t>マスター タイトルの書式設定</a:t>
            </a:r>
          </a:p>
        </p:txBody>
      </p:sp>
    </p:spTree>
    <p:extLst>
      <p:ext uri="{BB962C8B-B14F-4D97-AF65-F5344CB8AC3E}">
        <p14:creationId xmlns:p14="http://schemas.microsoft.com/office/powerpoint/2010/main" val="1292998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8200" y="157831"/>
            <a:ext cx="10515600" cy="456658"/>
          </a:xfrm>
        </p:spPr>
        <p:txBody>
          <a:bodyPr>
            <a:normAutofit/>
          </a:bodyPr>
          <a:lstStyle>
            <a:lvl1pPr>
              <a:defRPr sz="1904">
                <a:latin typeface="ＭＳ Ｐゴシック" panose="020B0600070205080204" pitchFamily="50" charset="-128"/>
                <a:ea typeface="ＭＳ Ｐゴシック" panose="020B0600070205080204" pitchFamily="50" charset="-128"/>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838200" y="866196"/>
            <a:ext cx="10515600" cy="5310768"/>
          </a:xfrm>
        </p:spPr>
        <p:txBody>
          <a:bodyPr>
            <a:normAutofit/>
          </a:bodyPr>
          <a:lstStyle>
            <a:lvl1pPr>
              <a:defRPr sz="2176">
                <a:latin typeface="ＭＳ Ｐゴシック" panose="020B0600070205080204" pitchFamily="50" charset="-128"/>
                <a:ea typeface="ＭＳ Ｐゴシック" panose="020B0600070205080204" pitchFamily="50" charset="-128"/>
              </a:defRPr>
            </a:lvl1pPr>
            <a:lvl2pPr>
              <a:defRPr sz="1814">
                <a:latin typeface="ＭＳ Ｐゴシック" panose="020B0600070205080204" pitchFamily="50" charset="-128"/>
                <a:ea typeface="ＭＳ Ｐゴシック" panose="020B0600070205080204" pitchFamily="50" charset="-128"/>
              </a:defRPr>
            </a:lvl2pPr>
            <a:lvl3pPr>
              <a:defRPr sz="1632">
                <a:latin typeface="ＭＳ Ｐゴシック" panose="020B0600070205080204" pitchFamily="50" charset="-128"/>
                <a:ea typeface="ＭＳ Ｐゴシック" panose="020B0600070205080204" pitchFamily="50" charset="-128"/>
              </a:defRPr>
            </a:lvl3pPr>
            <a:lvl4pPr>
              <a:defRPr sz="1451">
                <a:latin typeface="ＭＳ Ｐゴシック" panose="020B0600070205080204" pitchFamily="50" charset="-128"/>
                <a:ea typeface="ＭＳ Ｐゴシック" panose="020B0600070205080204" pitchFamily="50" charset="-128"/>
              </a:defRPr>
            </a:lvl4pPr>
            <a:lvl5pPr>
              <a:defRPr sz="1451">
                <a:latin typeface="ＭＳ Ｐゴシック" panose="020B0600070205080204" pitchFamily="50" charset="-128"/>
                <a:ea typeface="ＭＳ Ｐゴシック" panose="020B0600070205080204" pitchFamily="50"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Slide Number Placeholder 5"/>
          <p:cNvSpPr>
            <a:spLocks noGrp="1"/>
          </p:cNvSpPr>
          <p:nvPr>
            <p:ph type="sldNum" sz="quarter" idx="12"/>
          </p:nvPr>
        </p:nvSpPr>
        <p:spPr/>
        <p:txBody>
          <a:bodyPr/>
          <a:lstStyle/>
          <a:p>
            <a:fld id="{E36C9D40-15D9-4C54-80BE-CC4969344A17}" type="slidenum">
              <a:rPr kumimoji="1" lang="ja-JP" altLang="en-US" smtClean="0"/>
              <a:t>‹#›</a:t>
            </a:fld>
            <a:endParaRPr kumimoji="1" lang="ja-JP" altLang="en-US" dirty="0"/>
          </a:p>
        </p:txBody>
      </p:sp>
      <p:sp>
        <p:nvSpPr>
          <p:cNvPr id="10" name="テキスト プレースホルダー 2">
            <a:extLst>
              <a:ext uri="{FF2B5EF4-FFF2-40B4-BE49-F238E27FC236}">
                <a16:creationId xmlns:a16="http://schemas.microsoft.com/office/drawing/2014/main" id="{9E59F080-4764-4594-B978-0CB362F31CA5}"/>
              </a:ext>
            </a:extLst>
          </p:cNvPr>
          <p:cNvSpPr txBox="1">
            <a:spLocks noChangeArrowheads="1"/>
          </p:cNvSpPr>
          <p:nvPr userDrawn="1"/>
        </p:nvSpPr>
        <p:spPr>
          <a:xfrm>
            <a:off x="495166" y="6415208"/>
            <a:ext cx="3391074" cy="218895"/>
          </a:xfrm>
          <a:prstGeom prst="rect">
            <a:avLst/>
          </a:prstGeom>
        </p:spPr>
        <p:txBody>
          <a:bodyPr vert="horz" lIns="82949" tIns="41474" rIns="82949" bIns="41474" rtlCol="0" anchor="ctr"/>
          <a:lstStyle>
            <a:defPPr>
              <a:defRPr lang="ja-JP"/>
            </a:defPPr>
            <a:lvl1pPr marL="0" algn="l"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907" dirty="0">
                <a:latin typeface="ＭＳ Ｐゴシック" panose="020B0600070205080204" pitchFamily="50" charset="-128"/>
                <a:ea typeface="ＭＳ Ｐゴシック" panose="020B0600070205080204" pitchFamily="50" charset="-128"/>
              </a:rPr>
              <a:t>© Sompo Care Inc. All Rights Reserved.</a:t>
            </a:r>
          </a:p>
        </p:txBody>
      </p:sp>
      <p:cxnSp>
        <p:nvCxnSpPr>
          <p:cNvPr id="8" name="直線コネクタ 7">
            <a:extLst>
              <a:ext uri="{FF2B5EF4-FFF2-40B4-BE49-F238E27FC236}">
                <a16:creationId xmlns:a16="http://schemas.microsoft.com/office/drawing/2014/main" id="{81E5D137-6472-4735-A38C-8D590D35692A}"/>
              </a:ext>
            </a:extLst>
          </p:cNvPr>
          <p:cNvCxnSpPr>
            <a:cxnSpLocks/>
          </p:cNvCxnSpPr>
          <p:nvPr userDrawn="1"/>
        </p:nvCxnSpPr>
        <p:spPr>
          <a:xfrm>
            <a:off x="495166" y="664847"/>
            <a:ext cx="11188662" cy="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707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84EF83-6AB2-46D4-9940-CBB6847A8F5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E201707-FF4D-4E51-8D8D-6555AA6A6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698F87A-48BA-4CAC-8383-0315EAF666EA}"/>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5" name="フッター プレースホルダー 4">
            <a:extLst>
              <a:ext uri="{FF2B5EF4-FFF2-40B4-BE49-F238E27FC236}">
                <a16:creationId xmlns:a16="http://schemas.microsoft.com/office/drawing/2014/main" id="{2BE5AA65-DFEB-477B-A733-126E396D23B8}"/>
              </a:ext>
            </a:extLst>
          </p:cNvPr>
          <p:cNvSpPr>
            <a:spLocks noGrp="1"/>
          </p:cNvSpPr>
          <p:nvPr>
            <p:ph type="ftr" sz="quarter" idx="11"/>
          </p:nvPr>
        </p:nvSpPr>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94473007-3BB9-41A1-AED7-CF94478330E2}"/>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2300415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51A9C6-3217-49D2-A606-89CCB256939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E2296D7-0D1A-498C-93C8-FCB16E15D90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CBF2239-5D94-4E15-85CF-FDCFCC5E0038}"/>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5" name="フッター プレースホルダー 4">
            <a:extLst>
              <a:ext uri="{FF2B5EF4-FFF2-40B4-BE49-F238E27FC236}">
                <a16:creationId xmlns:a16="http://schemas.microsoft.com/office/drawing/2014/main" id="{11E7B058-1B33-406E-9E0A-DDB43A82DFAD}"/>
              </a:ext>
            </a:extLst>
          </p:cNvPr>
          <p:cNvSpPr>
            <a:spLocks noGrp="1"/>
          </p:cNvSpPr>
          <p:nvPr>
            <p:ph type="ftr" sz="quarter" idx="11"/>
          </p:nvPr>
        </p:nvSpPr>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62F4C2F8-8B41-4766-91FB-7B6884E28B59}"/>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3383369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AAC359-B72A-49E8-ADC9-0CA4DB71450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5E702FD-75E4-473A-9012-989B59672E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D16F472-9009-4937-AB17-8D84C4E935C5}"/>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5" name="フッター プレースホルダー 4">
            <a:extLst>
              <a:ext uri="{FF2B5EF4-FFF2-40B4-BE49-F238E27FC236}">
                <a16:creationId xmlns:a16="http://schemas.microsoft.com/office/drawing/2014/main" id="{83EF7C08-8B04-49DF-B376-C753CADA8B1C}"/>
              </a:ext>
            </a:extLst>
          </p:cNvPr>
          <p:cNvSpPr>
            <a:spLocks noGrp="1"/>
          </p:cNvSpPr>
          <p:nvPr>
            <p:ph type="ftr" sz="quarter" idx="11"/>
          </p:nvPr>
        </p:nvSpPr>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63CBA4C3-3981-4224-BF77-FB1BDA1EC027}"/>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22044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23CD59-EBB8-424E-BB0C-42BBC73307E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02216C5-2E7A-4073-BDE5-869CB20438C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5DA248E-E5E8-49AF-B1A9-CC6D83994ED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8BCF600-2A80-415E-A814-0AE5EDBD4506}"/>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6" name="フッター プレースホルダー 5">
            <a:extLst>
              <a:ext uri="{FF2B5EF4-FFF2-40B4-BE49-F238E27FC236}">
                <a16:creationId xmlns:a16="http://schemas.microsoft.com/office/drawing/2014/main" id="{9282008B-B8D7-4106-B84C-0F194879C04D}"/>
              </a:ext>
            </a:extLst>
          </p:cNvPr>
          <p:cNvSpPr>
            <a:spLocks noGrp="1"/>
          </p:cNvSpPr>
          <p:nvPr>
            <p:ph type="ftr" sz="quarter" idx="11"/>
          </p:nvPr>
        </p:nvSpPr>
        <p:spPr/>
        <p:txBody>
          <a:bodyPr/>
          <a:lstStyle/>
          <a:p>
            <a:endParaRPr kumimoji="1" lang="ja-JP" altLang="en-US" dirty="0"/>
          </a:p>
        </p:txBody>
      </p:sp>
      <p:sp>
        <p:nvSpPr>
          <p:cNvPr id="7" name="スライド番号プレースホルダー 6">
            <a:extLst>
              <a:ext uri="{FF2B5EF4-FFF2-40B4-BE49-F238E27FC236}">
                <a16:creationId xmlns:a16="http://schemas.microsoft.com/office/drawing/2014/main" id="{37107EDE-C760-47CE-AC90-C41252CEECFC}"/>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3839147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1DF693-3F02-47FB-9B27-DF3B82CE796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3DEFE2C-3AB7-4AE7-BFC5-B04B2D9082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543C53C-508C-4A2B-BCA7-76EFEB6ED80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2A61A64-4821-4FE1-9115-74BCD97E9C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C13324A-6D8A-4A83-8DA8-1736FA720F4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B8C7880-DD28-44D2-A6D6-1B068033CDA9}"/>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8" name="フッター プレースホルダー 7">
            <a:extLst>
              <a:ext uri="{FF2B5EF4-FFF2-40B4-BE49-F238E27FC236}">
                <a16:creationId xmlns:a16="http://schemas.microsoft.com/office/drawing/2014/main" id="{95701C2E-2AD6-44BB-A4B9-04572C0EBE9B}"/>
              </a:ext>
            </a:extLst>
          </p:cNvPr>
          <p:cNvSpPr>
            <a:spLocks noGrp="1"/>
          </p:cNvSpPr>
          <p:nvPr>
            <p:ph type="ftr" sz="quarter" idx="11"/>
          </p:nvPr>
        </p:nvSpPr>
        <p:spPr/>
        <p:txBody>
          <a:bodyPr/>
          <a:lstStyle/>
          <a:p>
            <a:endParaRPr kumimoji="1" lang="ja-JP" altLang="en-US" dirty="0"/>
          </a:p>
        </p:txBody>
      </p:sp>
      <p:sp>
        <p:nvSpPr>
          <p:cNvPr id="9" name="スライド番号プレースホルダー 8">
            <a:extLst>
              <a:ext uri="{FF2B5EF4-FFF2-40B4-BE49-F238E27FC236}">
                <a16:creationId xmlns:a16="http://schemas.microsoft.com/office/drawing/2014/main" id="{87F65F73-D988-41C4-BD5B-95A488728F3C}"/>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1259573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30C158-3326-4BEE-9DFA-E0C160F94FB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1DCB901-98FA-4203-8B36-FD36C600944F}"/>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4" name="フッター プレースホルダー 3">
            <a:extLst>
              <a:ext uri="{FF2B5EF4-FFF2-40B4-BE49-F238E27FC236}">
                <a16:creationId xmlns:a16="http://schemas.microsoft.com/office/drawing/2014/main" id="{11078C3C-6972-4172-8F71-20857667A0B7}"/>
              </a:ext>
            </a:extLst>
          </p:cNvPr>
          <p:cNvSpPr>
            <a:spLocks noGrp="1"/>
          </p:cNvSpPr>
          <p:nvPr>
            <p:ph type="ftr" sz="quarter" idx="11"/>
          </p:nvPr>
        </p:nvSpPr>
        <p:spPr/>
        <p:txBody>
          <a:bodyPr/>
          <a:lstStyle/>
          <a:p>
            <a:endParaRPr kumimoji="1" lang="ja-JP" altLang="en-US" dirty="0"/>
          </a:p>
        </p:txBody>
      </p:sp>
      <p:sp>
        <p:nvSpPr>
          <p:cNvPr id="5" name="スライド番号プレースホルダー 4">
            <a:extLst>
              <a:ext uri="{FF2B5EF4-FFF2-40B4-BE49-F238E27FC236}">
                <a16:creationId xmlns:a16="http://schemas.microsoft.com/office/drawing/2014/main" id="{11948674-2777-4FB7-BD8E-C743CF37AF32}"/>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1147127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E3B7821-A6C9-40C5-A91E-E623352ABC71}"/>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3" name="フッター プレースホルダー 2">
            <a:extLst>
              <a:ext uri="{FF2B5EF4-FFF2-40B4-BE49-F238E27FC236}">
                <a16:creationId xmlns:a16="http://schemas.microsoft.com/office/drawing/2014/main" id="{E66EA6FD-DA5F-4812-A54C-3240A8122FDE}"/>
              </a:ext>
            </a:extLst>
          </p:cNvPr>
          <p:cNvSpPr>
            <a:spLocks noGrp="1"/>
          </p:cNvSpPr>
          <p:nvPr>
            <p:ph type="ftr" sz="quarter" idx="1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0FAD706-AAF1-4480-BF48-8EF4B0D29A3D}"/>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236585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8CF50E-F852-47A7-BAB0-482DE3831E4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7650E19-641B-45E9-B908-60C8CF915E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8C6FB7A-3676-4826-A85F-E1D8DA72EB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FA551F4-9A6C-48C1-BDD1-C4E5A3F4168D}"/>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6" name="フッター プレースホルダー 5">
            <a:extLst>
              <a:ext uri="{FF2B5EF4-FFF2-40B4-BE49-F238E27FC236}">
                <a16:creationId xmlns:a16="http://schemas.microsoft.com/office/drawing/2014/main" id="{602FF8B7-638E-42E2-B1DE-9A58085A6469}"/>
              </a:ext>
            </a:extLst>
          </p:cNvPr>
          <p:cNvSpPr>
            <a:spLocks noGrp="1"/>
          </p:cNvSpPr>
          <p:nvPr>
            <p:ph type="ftr" sz="quarter" idx="11"/>
          </p:nvPr>
        </p:nvSpPr>
        <p:spPr/>
        <p:txBody>
          <a:bodyPr/>
          <a:lstStyle/>
          <a:p>
            <a:endParaRPr kumimoji="1" lang="ja-JP" altLang="en-US" dirty="0"/>
          </a:p>
        </p:txBody>
      </p:sp>
      <p:sp>
        <p:nvSpPr>
          <p:cNvPr id="7" name="スライド番号プレースホルダー 6">
            <a:extLst>
              <a:ext uri="{FF2B5EF4-FFF2-40B4-BE49-F238E27FC236}">
                <a16:creationId xmlns:a16="http://schemas.microsoft.com/office/drawing/2014/main" id="{D040FE6D-7AC9-4435-A32E-A2B8A80631F8}"/>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2651369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C5652A-C2DC-45D4-BF9F-D0998FA4171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1549C55-D0F7-45A8-B690-331F3EF516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dirty="0"/>
          </a:p>
        </p:txBody>
      </p:sp>
      <p:sp>
        <p:nvSpPr>
          <p:cNvPr id="4" name="テキスト プレースホルダー 3">
            <a:extLst>
              <a:ext uri="{FF2B5EF4-FFF2-40B4-BE49-F238E27FC236}">
                <a16:creationId xmlns:a16="http://schemas.microsoft.com/office/drawing/2014/main" id="{B64D09A9-2C46-4FBC-A400-C809866AB1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F64FBF7-3E6C-4BA6-B289-D61BECBEFFDA}"/>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6" name="フッター プレースホルダー 5">
            <a:extLst>
              <a:ext uri="{FF2B5EF4-FFF2-40B4-BE49-F238E27FC236}">
                <a16:creationId xmlns:a16="http://schemas.microsoft.com/office/drawing/2014/main" id="{E4CB2596-50FC-4632-BC8A-1FFB78717256}"/>
              </a:ext>
            </a:extLst>
          </p:cNvPr>
          <p:cNvSpPr>
            <a:spLocks noGrp="1"/>
          </p:cNvSpPr>
          <p:nvPr>
            <p:ph type="ftr" sz="quarter" idx="11"/>
          </p:nvPr>
        </p:nvSpPr>
        <p:spPr/>
        <p:txBody>
          <a:bodyPr/>
          <a:lstStyle/>
          <a:p>
            <a:endParaRPr kumimoji="1" lang="ja-JP" altLang="en-US" dirty="0"/>
          </a:p>
        </p:txBody>
      </p:sp>
      <p:sp>
        <p:nvSpPr>
          <p:cNvPr id="7" name="スライド番号プレースホルダー 6">
            <a:extLst>
              <a:ext uri="{FF2B5EF4-FFF2-40B4-BE49-F238E27FC236}">
                <a16:creationId xmlns:a16="http://schemas.microsoft.com/office/drawing/2014/main" id="{A5F13A18-669C-498D-887B-222FEA062DB2}"/>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841086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E4A029-90AA-481F-832C-E9A2DB9390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0FEAEAD-A8FE-4058-9D93-971772DFD6D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27B01D3-CDF9-438E-8DF4-7F0147F104F0}"/>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5" name="フッター プレースホルダー 4">
            <a:extLst>
              <a:ext uri="{FF2B5EF4-FFF2-40B4-BE49-F238E27FC236}">
                <a16:creationId xmlns:a16="http://schemas.microsoft.com/office/drawing/2014/main" id="{DA1F4B33-7938-428B-87F7-3B61661383B7}"/>
              </a:ext>
            </a:extLst>
          </p:cNvPr>
          <p:cNvSpPr>
            <a:spLocks noGrp="1"/>
          </p:cNvSpPr>
          <p:nvPr>
            <p:ph type="ftr" sz="quarter" idx="11"/>
          </p:nvPr>
        </p:nvSpPr>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2ACAD6F9-018D-4E2C-A398-81B778302906}"/>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1090932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CA58F74-5452-4E2B-A1C8-9D474F32BF5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06C455A-D2F5-4F01-921A-1648DDF425F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A21790-36BB-4A94-A0E8-B790F692C51F}"/>
              </a:ext>
            </a:extLst>
          </p:cNvPr>
          <p:cNvSpPr>
            <a:spLocks noGrp="1"/>
          </p:cNvSpPr>
          <p:nvPr>
            <p:ph type="dt" sz="half" idx="10"/>
          </p:nvPr>
        </p:nvSpPr>
        <p:spPr/>
        <p:txBody>
          <a:bodyPr/>
          <a:lstStyle/>
          <a:p>
            <a:fld id="{9E4378DF-48AF-468F-A3C4-4E8149E60F78}" type="datetimeFigureOut">
              <a:rPr kumimoji="1" lang="ja-JP" altLang="en-US" smtClean="0"/>
              <a:t>2024/5/14</a:t>
            </a:fld>
            <a:endParaRPr kumimoji="1" lang="ja-JP" altLang="en-US" dirty="0"/>
          </a:p>
        </p:txBody>
      </p:sp>
      <p:sp>
        <p:nvSpPr>
          <p:cNvPr id="5" name="フッター プレースホルダー 4">
            <a:extLst>
              <a:ext uri="{FF2B5EF4-FFF2-40B4-BE49-F238E27FC236}">
                <a16:creationId xmlns:a16="http://schemas.microsoft.com/office/drawing/2014/main" id="{595BB962-D37D-4756-A464-90EB95FA032C}"/>
              </a:ext>
            </a:extLst>
          </p:cNvPr>
          <p:cNvSpPr>
            <a:spLocks noGrp="1"/>
          </p:cNvSpPr>
          <p:nvPr>
            <p:ph type="ftr" sz="quarter" idx="11"/>
          </p:nvPr>
        </p:nvSpPr>
        <p:spPr/>
        <p:txBody>
          <a:bodyPr/>
          <a:lstStyle/>
          <a:p>
            <a:endParaRPr kumimoji="1" lang="ja-JP" altLang="en-US" dirty="0"/>
          </a:p>
        </p:txBody>
      </p:sp>
      <p:sp>
        <p:nvSpPr>
          <p:cNvPr id="6" name="スライド番号プレースホルダー 5">
            <a:extLst>
              <a:ext uri="{FF2B5EF4-FFF2-40B4-BE49-F238E27FC236}">
                <a16:creationId xmlns:a16="http://schemas.microsoft.com/office/drawing/2014/main" id="{C6E5D201-0E4D-406D-A60F-967A5FDD2692}"/>
              </a:ext>
            </a:extLst>
          </p:cNvPr>
          <p:cNvSpPr>
            <a:spLocks noGrp="1"/>
          </p:cNvSpPr>
          <p:nvPr>
            <p:ph type="sldNum" sz="quarter" idx="12"/>
          </p:nvPr>
        </p:nvSpPr>
        <p:spPr/>
        <p:txBody>
          <a:body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632661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タイトル スライド">
    <p:spTree>
      <p:nvGrpSpPr>
        <p:cNvPr id="1" name=""/>
        <p:cNvGrpSpPr/>
        <p:nvPr/>
      </p:nvGrpSpPr>
      <p:grpSpPr>
        <a:xfrm>
          <a:off x="0" y="0"/>
          <a:ext cx="0" cy="0"/>
          <a:chOff x="0" y="0"/>
          <a:chExt cx="0" cy="0"/>
        </a:xfrm>
      </p:grpSpPr>
      <p:sp>
        <p:nvSpPr>
          <p:cNvPr id="7" name="テキスト ボックス 6"/>
          <p:cNvSpPr txBox="1">
            <a:spLocks noChangeArrowheads="1"/>
          </p:cNvSpPr>
          <p:nvPr userDrawn="1"/>
        </p:nvSpPr>
        <p:spPr bwMode="auto">
          <a:xfrm>
            <a:off x="4604400" y="6444000"/>
            <a:ext cx="2988000" cy="178510"/>
          </a:xfrm>
          <a:prstGeom prst="rect">
            <a:avLst/>
          </a:prstGeom>
          <a:noFill/>
          <a:ln>
            <a:noFill/>
          </a:ln>
        </p:spPr>
        <p:txBody>
          <a:bodyPr>
            <a:spAutoFit/>
          </a:bodyPr>
          <a:lstStyle>
            <a:lvl1pPr>
              <a:defRPr kumimoji="1" sz="2600">
                <a:solidFill>
                  <a:schemeClr val="tx1"/>
                </a:solidFill>
                <a:latin typeface="Microsoft Sans Serif" charset="0"/>
                <a:ea typeface="ＭＳ Ｐゴシック" charset="-128"/>
              </a:defRPr>
            </a:lvl1pPr>
            <a:lvl2pPr marL="742950" indent="-285750">
              <a:defRPr kumimoji="1" sz="2600">
                <a:solidFill>
                  <a:schemeClr val="tx1"/>
                </a:solidFill>
                <a:latin typeface="Microsoft Sans Serif" charset="0"/>
                <a:ea typeface="ＭＳ Ｐゴシック" charset="-128"/>
              </a:defRPr>
            </a:lvl2pPr>
            <a:lvl3pPr marL="1143000" indent="-228600">
              <a:defRPr kumimoji="1" sz="2600">
                <a:solidFill>
                  <a:schemeClr val="tx1"/>
                </a:solidFill>
                <a:latin typeface="Microsoft Sans Serif" charset="0"/>
                <a:ea typeface="ＭＳ Ｐゴシック" charset="-128"/>
              </a:defRPr>
            </a:lvl3pPr>
            <a:lvl4pPr marL="1600200" indent="-228600">
              <a:defRPr kumimoji="1" sz="2600">
                <a:solidFill>
                  <a:schemeClr val="tx1"/>
                </a:solidFill>
                <a:latin typeface="Microsoft Sans Serif" charset="0"/>
                <a:ea typeface="ＭＳ Ｐゴシック" charset="-128"/>
              </a:defRPr>
            </a:lvl4pPr>
            <a:lvl5pPr marL="2057400" indent="-228600">
              <a:defRPr kumimoji="1" sz="2600">
                <a:solidFill>
                  <a:schemeClr val="tx1"/>
                </a:solidFill>
                <a:latin typeface="Microsoft Sans Serif" charset="0"/>
                <a:ea typeface="ＭＳ Ｐゴシック" charset="-128"/>
              </a:defRPr>
            </a:lvl5pPr>
            <a:lvl6pPr marL="2514600" indent="-228600" eaLnBrk="0" fontAlgn="base" hangingPunct="0">
              <a:spcBef>
                <a:spcPct val="0"/>
              </a:spcBef>
              <a:spcAft>
                <a:spcPct val="0"/>
              </a:spcAft>
              <a:defRPr kumimoji="1" sz="2600">
                <a:solidFill>
                  <a:schemeClr val="tx1"/>
                </a:solidFill>
                <a:latin typeface="Microsoft Sans Serif" charset="0"/>
                <a:ea typeface="ＭＳ Ｐゴシック" charset="-128"/>
              </a:defRPr>
            </a:lvl6pPr>
            <a:lvl7pPr marL="2971800" indent="-228600" eaLnBrk="0" fontAlgn="base" hangingPunct="0">
              <a:spcBef>
                <a:spcPct val="0"/>
              </a:spcBef>
              <a:spcAft>
                <a:spcPct val="0"/>
              </a:spcAft>
              <a:defRPr kumimoji="1" sz="2600">
                <a:solidFill>
                  <a:schemeClr val="tx1"/>
                </a:solidFill>
                <a:latin typeface="Microsoft Sans Serif" charset="0"/>
                <a:ea typeface="ＭＳ Ｐゴシック" charset="-128"/>
              </a:defRPr>
            </a:lvl7pPr>
            <a:lvl8pPr marL="3429000" indent="-228600" eaLnBrk="0" fontAlgn="base" hangingPunct="0">
              <a:spcBef>
                <a:spcPct val="0"/>
              </a:spcBef>
              <a:spcAft>
                <a:spcPct val="0"/>
              </a:spcAft>
              <a:defRPr kumimoji="1" sz="2600">
                <a:solidFill>
                  <a:schemeClr val="tx1"/>
                </a:solidFill>
                <a:latin typeface="Microsoft Sans Serif" charset="0"/>
                <a:ea typeface="ＭＳ Ｐゴシック" charset="-128"/>
              </a:defRPr>
            </a:lvl8pPr>
            <a:lvl9pPr marL="3886200" indent="-228600" eaLnBrk="0" fontAlgn="base" hangingPunct="0">
              <a:spcBef>
                <a:spcPct val="0"/>
              </a:spcBef>
              <a:spcAft>
                <a:spcPct val="0"/>
              </a:spcAft>
              <a:defRPr kumimoji="1" sz="2600">
                <a:solidFill>
                  <a:schemeClr val="tx1"/>
                </a:solidFill>
                <a:latin typeface="Microsoft Sans Serif" charset="0"/>
                <a:ea typeface="ＭＳ Ｐゴシック" charset="-128"/>
              </a:defRPr>
            </a:lvl9pPr>
          </a:lstStyle>
          <a:p>
            <a:pPr algn="ctr" eaLnBrk="1" hangingPunct="1">
              <a:lnSpc>
                <a:spcPct val="70000"/>
              </a:lnSpc>
              <a:defRPr/>
            </a:pPr>
            <a:r>
              <a:rPr lang="en-US" altLang="ja-JP" sz="800" dirty="0">
                <a:solidFill>
                  <a:srgbClr val="757983"/>
                </a:solidFill>
                <a:latin typeface="+mj-lt"/>
              </a:rPr>
              <a:t>© 2023 Sompo Care, Inc. All Rights Reserved.</a:t>
            </a:r>
            <a:endParaRPr lang="ja-JP" altLang="en-US" sz="800" dirty="0">
              <a:solidFill>
                <a:srgbClr val="757983"/>
              </a:solidFill>
              <a:latin typeface="+mj-lt"/>
            </a:endParaRPr>
          </a:p>
        </p:txBody>
      </p:sp>
      <p:sp>
        <p:nvSpPr>
          <p:cNvPr id="11" name="テキスト プレースホルダ 10"/>
          <p:cNvSpPr>
            <a:spLocks noGrp="1"/>
          </p:cNvSpPr>
          <p:nvPr>
            <p:ph type="body" sz="quarter" idx="10"/>
          </p:nvPr>
        </p:nvSpPr>
        <p:spPr>
          <a:xfrm>
            <a:off x="1587741" y="5709599"/>
            <a:ext cx="9020353" cy="244800"/>
          </a:xfrm>
          <a:prstGeom prst="rect">
            <a:avLst/>
          </a:prstGeom>
        </p:spPr>
        <p:txBody>
          <a:bodyPr/>
          <a:lstStyle>
            <a:lvl1pPr algn="ctr">
              <a:defRPr sz="1600"/>
            </a:lvl1pPr>
          </a:lstStyle>
          <a:p>
            <a:pPr lvl="0"/>
            <a:r>
              <a:rPr lang="ja-JP" altLang="en-US" dirty="0"/>
              <a:t>マスタ テキストの書式設定</a:t>
            </a:r>
          </a:p>
        </p:txBody>
      </p:sp>
      <p:sp>
        <p:nvSpPr>
          <p:cNvPr id="13" name="テキスト プレースホルダ 10"/>
          <p:cNvSpPr>
            <a:spLocks noGrp="1"/>
          </p:cNvSpPr>
          <p:nvPr>
            <p:ph type="body" sz="quarter" idx="12"/>
          </p:nvPr>
        </p:nvSpPr>
        <p:spPr>
          <a:xfrm>
            <a:off x="1587741" y="4711157"/>
            <a:ext cx="8972755" cy="230011"/>
          </a:xfrm>
          <a:prstGeom prst="rect">
            <a:avLst/>
          </a:prstGeom>
        </p:spPr>
        <p:txBody>
          <a:bodyPr/>
          <a:lstStyle>
            <a:lvl1pPr algn="ctr">
              <a:defRPr sz="1500"/>
            </a:lvl1pPr>
          </a:lstStyle>
          <a:p>
            <a:pPr lvl="0"/>
            <a:r>
              <a:rPr lang="ja-JP" altLang="en-US" dirty="0"/>
              <a:t>マスター テキストの書式設定</a:t>
            </a:r>
          </a:p>
        </p:txBody>
      </p:sp>
      <p:sp>
        <p:nvSpPr>
          <p:cNvPr id="9" name="テキスト プレースホルダ 10"/>
          <p:cNvSpPr>
            <a:spLocks noGrp="1"/>
          </p:cNvSpPr>
          <p:nvPr>
            <p:ph type="body" sz="quarter" idx="11"/>
          </p:nvPr>
        </p:nvSpPr>
        <p:spPr>
          <a:xfrm>
            <a:off x="536400" y="468000"/>
            <a:ext cx="4978400" cy="326485"/>
          </a:xfrm>
          <a:prstGeom prst="rect">
            <a:avLst/>
          </a:prstGeom>
        </p:spPr>
        <p:txBody>
          <a:bodyPr/>
          <a:lstStyle>
            <a:lvl1pPr>
              <a:defRPr sz="2000" u="none"/>
            </a:lvl1pPr>
          </a:lstStyle>
          <a:p>
            <a:pPr lvl="0"/>
            <a:r>
              <a:rPr lang="ja-JP" altLang="en-US" dirty="0"/>
              <a:t>マスタ テキストの書式設定</a:t>
            </a:r>
          </a:p>
        </p:txBody>
      </p:sp>
      <p:sp>
        <p:nvSpPr>
          <p:cNvPr id="25" name="Rectangle 2"/>
          <p:cNvSpPr>
            <a:spLocks noGrp="1" noChangeArrowheads="1"/>
          </p:cNvSpPr>
          <p:nvPr>
            <p:ph type="ctrTitle"/>
          </p:nvPr>
        </p:nvSpPr>
        <p:spPr>
          <a:xfrm>
            <a:off x="2567608" y="2204864"/>
            <a:ext cx="7200000" cy="398912"/>
          </a:xfrm>
          <a:prstGeom prst="rect">
            <a:avLst/>
          </a:prstGeom>
          <a:ln w="9525"/>
        </p:spPr>
        <p:txBody>
          <a:bodyPr anchor="b"/>
          <a:lstStyle>
            <a:lvl1pPr algn="ctr" fontAlgn="t">
              <a:defRPr sz="3000" b="0">
                <a:solidFill>
                  <a:schemeClr val="tx1"/>
                </a:solidFill>
                <a:latin typeface="+mj-lt"/>
              </a:defRPr>
            </a:lvl1pPr>
          </a:lstStyle>
          <a:p>
            <a:endParaRPr lang="ja-JP" altLang="en-US" dirty="0"/>
          </a:p>
        </p:txBody>
      </p:sp>
      <p:pic>
        <p:nvPicPr>
          <p:cNvPr id="10" name="図 9">
            <a:extLst>
              <a:ext uri="{FF2B5EF4-FFF2-40B4-BE49-F238E27FC236}">
                <a16:creationId xmlns:a16="http://schemas.microsoft.com/office/drawing/2014/main" id="{985319B0-D466-2901-0932-668DBF864384}"/>
              </a:ext>
            </a:extLst>
          </p:cNvPr>
          <p:cNvPicPr>
            <a:picLocks noChangeAspect="1"/>
          </p:cNvPicPr>
          <p:nvPr userDrawn="1"/>
        </p:nvPicPr>
        <p:blipFill>
          <a:blip r:embed="rId2"/>
          <a:stretch>
            <a:fillRect/>
          </a:stretch>
        </p:blipFill>
        <p:spPr>
          <a:xfrm>
            <a:off x="312000" y="3196800"/>
            <a:ext cx="11880000" cy="228461"/>
          </a:xfrm>
          <a:prstGeom prst="rect">
            <a:avLst/>
          </a:prstGeom>
        </p:spPr>
      </p:pic>
      <p:pic>
        <p:nvPicPr>
          <p:cNvPr id="3" name="図 2">
            <a:extLst>
              <a:ext uri="{FF2B5EF4-FFF2-40B4-BE49-F238E27FC236}">
                <a16:creationId xmlns:a16="http://schemas.microsoft.com/office/drawing/2014/main" id="{763BAFE0-FE45-2BEE-316B-04D6CC778C0D}"/>
              </a:ext>
            </a:extLst>
          </p:cNvPr>
          <p:cNvPicPr>
            <a:picLocks noChangeAspect="1"/>
          </p:cNvPicPr>
          <p:nvPr userDrawn="1"/>
        </p:nvPicPr>
        <p:blipFill>
          <a:blip r:embed="rId3"/>
          <a:stretch>
            <a:fillRect/>
          </a:stretch>
        </p:blipFill>
        <p:spPr>
          <a:xfrm>
            <a:off x="9505348" y="366104"/>
            <a:ext cx="2422338" cy="696591"/>
          </a:xfrm>
          <a:prstGeom prst="rect">
            <a:avLst/>
          </a:prstGeom>
        </p:spPr>
      </p:pic>
    </p:spTree>
    <p:extLst>
      <p:ext uri="{BB962C8B-B14F-4D97-AF65-F5344CB8AC3E}">
        <p14:creationId xmlns:p14="http://schemas.microsoft.com/office/powerpoint/2010/main" val="19102397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タイトルとコンテンツ">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80418727-DD41-9F8B-F420-B6ABDD024584}"/>
              </a:ext>
            </a:extLst>
          </p:cNvPr>
          <p:cNvPicPr>
            <a:picLocks noChangeAspect="1"/>
          </p:cNvPicPr>
          <p:nvPr userDrawn="1"/>
        </p:nvPicPr>
        <p:blipFill>
          <a:blip r:embed="rId2"/>
          <a:stretch>
            <a:fillRect/>
          </a:stretch>
        </p:blipFill>
        <p:spPr>
          <a:xfrm>
            <a:off x="11346587" y="113241"/>
            <a:ext cx="714025" cy="660345"/>
          </a:xfrm>
          <a:prstGeom prst="rect">
            <a:avLst/>
          </a:prstGeom>
        </p:spPr>
      </p:pic>
      <p:sp>
        <p:nvSpPr>
          <p:cNvPr id="5" name="正方形/長方形 4"/>
          <p:cNvSpPr/>
          <p:nvPr userDrawn="1"/>
        </p:nvSpPr>
        <p:spPr>
          <a:xfrm>
            <a:off x="0" y="0"/>
            <a:ext cx="12192000" cy="3915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ja-JP" altLang="en-US" sz="2358"/>
          </a:p>
        </p:txBody>
      </p:sp>
      <p:sp>
        <p:nvSpPr>
          <p:cNvPr id="2" name="タイトル 1"/>
          <p:cNvSpPr>
            <a:spLocks noGrp="1"/>
          </p:cNvSpPr>
          <p:nvPr>
            <p:ph type="title"/>
          </p:nvPr>
        </p:nvSpPr>
        <p:spPr>
          <a:xfrm>
            <a:off x="698400" y="260648"/>
            <a:ext cx="8211900" cy="342612"/>
          </a:xfrm>
          <a:prstGeom prst="rect">
            <a:avLst/>
          </a:prstGeom>
        </p:spPr>
        <p:txBody>
          <a:bodyPr/>
          <a:lstStyle>
            <a:lvl1pPr>
              <a:defRPr sz="2000" b="1">
                <a:solidFill>
                  <a:schemeClr val="tx1"/>
                </a:solidFill>
              </a:defRPr>
            </a:lvl1pPr>
          </a:lstStyle>
          <a:p>
            <a:r>
              <a:rPr lang="ja-JP" altLang="en-US" dirty="0"/>
              <a:t>マスタ タイトルの書式設定</a:t>
            </a:r>
          </a:p>
        </p:txBody>
      </p:sp>
      <p:sp>
        <p:nvSpPr>
          <p:cNvPr id="8" name="テキスト ボックス 6"/>
          <p:cNvSpPr txBox="1">
            <a:spLocks noChangeArrowheads="1"/>
          </p:cNvSpPr>
          <p:nvPr userDrawn="1"/>
        </p:nvSpPr>
        <p:spPr bwMode="auto">
          <a:xfrm>
            <a:off x="698400" y="6562894"/>
            <a:ext cx="6728869" cy="178510"/>
          </a:xfrm>
          <a:prstGeom prst="rect">
            <a:avLst/>
          </a:prstGeom>
          <a:noFill/>
          <a:ln>
            <a:noFill/>
          </a:ln>
        </p:spPr>
        <p:txBody>
          <a:bodyPr>
            <a:spAutoFit/>
          </a:bodyPr>
          <a:lstStyle>
            <a:lvl1pPr>
              <a:defRPr kumimoji="1" sz="2600">
                <a:solidFill>
                  <a:schemeClr val="tx1"/>
                </a:solidFill>
                <a:latin typeface="Microsoft Sans Serif" charset="0"/>
                <a:ea typeface="ＭＳ Ｐゴシック" charset="-128"/>
              </a:defRPr>
            </a:lvl1pPr>
            <a:lvl2pPr marL="742950" indent="-285750">
              <a:defRPr kumimoji="1" sz="2600">
                <a:solidFill>
                  <a:schemeClr val="tx1"/>
                </a:solidFill>
                <a:latin typeface="Microsoft Sans Serif" charset="0"/>
                <a:ea typeface="ＭＳ Ｐゴシック" charset="-128"/>
              </a:defRPr>
            </a:lvl2pPr>
            <a:lvl3pPr marL="1143000" indent="-228600">
              <a:defRPr kumimoji="1" sz="2600">
                <a:solidFill>
                  <a:schemeClr val="tx1"/>
                </a:solidFill>
                <a:latin typeface="Microsoft Sans Serif" charset="0"/>
                <a:ea typeface="ＭＳ Ｐゴシック" charset="-128"/>
              </a:defRPr>
            </a:lvl3pPr>
            <a:lvl4pPr marL="1600200" indent="-228600">
              <a:defRPr kumimoji="1" sz="2600">
                <a:solidFill>
                  <a:schemeClr val="tx1"/>
                </a:solidFill>
                <a:latin typeface="Microsoft Sans Serif" charset="0"/>
                <a:ea typeface="ＭＳ Ｐゴシック" charset="-128"/>
              </a:defRPr>
            </a:lvl4pPr>
            <a:lvl5pPr marL="2057400" indent="-228600">
              <a:defRPr kumimoji="1" sz="2600">
                <a:solidFill>
                  <a:schemeClr val="tx1"/>
                </a:solidFill>
                <a:latin typeface="Microsoft Sans Serif" charset="0"/>
                <a:ea typeface="ＭＳ Ｐゴシック" charset="-128"/>
              </a:defRPr>
            </a:lvl5pPr>
            <a:lvl6pPr marL="2514600" indent="-228600" eaLnBrk="0" fontAlgn="base" hangingPunct="0">
              <a:spcBef>
                <a:spcPct val="0"/>
              </a:spcBef>
              <a:spcAft>
                <a:spcPct val="0"/>
              </a:spcAft>
              <a:defRPr kumimoji="1" sz="2600">
                <a:solidFill>
                  <a:schemeClr val="tx1"/>
                </a:solidFill>
                <a:latin typeface="Microsoft Sans Serif" charset="0"/>
                <a:ea typeface="ＭＳ Ｐゴシック" charset="-128"/>
              </a:defRPr>
            </a:lvl6pPr>
            <a:lvl7pPr marL="2971800" indent="-228600" eaLnBrk="0" fontAlgn="base" hangingPunct="0">
              <a:spcBef>
                <a:spcPct val="0"/>
              </a:spcBef>
              <a:spcAft>
                <a:spcPct val="0"/>
              </a:spcAft>
              <a:defRPr kumimoji="1" sz="2600">
                <a:solidFill>
                  <a:schemeClr val="tx1"/>
                </a:solidFill>
                <a:latin typeface="Microsoft Sans Serif" charset="0"/>
                <a:ea typeface="ＭＳ Ｐゴシック" charset="-128"/>
              </a:defRPr>
            </a:lvl7pPr>
            <a:lvl8pPr marL="3429000" indent="-228600" eaLnBrk="0" fontAlgn="base" hangingPunct="0">
              <a:spcBef>
                <a:spcPct val="0"/>
              </a:spcBef>
              <a:spcAft>
                <a:spcPct val="0"/>
              </a:spcAft>
              <a:defRPr kumimoji="1" sz="2600">
                <a:solidFill>
                  <a:schemeClr val="tx1"/>
                </a:solidFill>
                <a:latin typeface="Microsoft Sans Serif" charset="0"/>
                <a:ea typeface="ＭＳ Ｐゴシック" charset="-128"/>
              </a:defRPr>
            </a:lvl8pPr>
            <a:lvl9pPr marL="3886200" indent="-228600" eaLnBrk="0" fontAlgn="base" hangingPunct="0">
              <a:spcBef>
                <a:spcPct val="0"/>
              </a:spcBef>
              <a:spcAft>
                <a:spcPct val="0"/>
              </a:spcAft>
              <a:defRPr kumimoji="1" sz="2600">
                <a:solidFill>
                  <a:schemeClr val="tx1"/>
                </a:solidFill>
                <a:latin typeface="Microsoft Sans Serif" charset="0"/>
                <a:ea typeface="ＭＳ Ｐゴシック" charset="-128"/>
              </a:defRPr>
            </a:lvl9pPr>
          </a:lstStyle>
          <a:p>
            <a:pPr algn="l" eaLnBrk="1" hangingPunct="1">
              <a:lnSpc>
                <a:spcPct val="70000"/>
              </a:lnSpc>
              <a:defRPr/>
            </a:pPr>
            <a:r>
              <a:rPr lang="en-US" altLang="ja-JP" sz="800" dirty="0">
                <a:solidFill>
                  <a:srgbClr val="757983"/>
                </a:solidFill>
                <a:latin typeface="+mj-lt"/>
              </a:rPr>
              <a:t>© 2023 Sompo Care, Inc. All Rights Reserved.</a:t>
            </a:r>
            <a:endParaRPr lang="ja-JP" altLang="en-US" sz="800" dirty="0">
              <a:solidFill>
                <a:srgbClr val="757983"/>
              </a:solidFill>
              <a:latin typeface="+mj-lt"/>
            </a:endParaRPr>
          </a:p>
        </p:txBody>
      </p:sp>
      <p:sp>
        <p:nvSpPr>
          <p:cNvPr id="13" name="コンテンツ プレースホルダ 2"/>
          <p:cNvSpPr>
            <a:spLocks noGrp="1"/>
          </p:cNvSpPr>
          <p:nvPr>
            <p:ph idx="1" hasCustomPrompt="1"/>
          </p:nvPr>
        </p:nvSpPr>
        <p:spPr>
          <a:xfrm>
            <a:off x="698400" y="1267200"/>
            <a:ext cx="10846800" cy="5043600"/>
          </a:xfrm>
          <a:prstGeom prst="rect">
            <a:avLst/>
          </a:prstGeom>
        </p:spPr>
        <p:txBody>
          <a:bodyPr/>
          <a:lstStyle>
            <a:lvl1pPr marL="0" indent="0">
              <a:spcBef>
                <a:spcPts val="0"/>
              </a:spcBef>
              <a:defRPr/>
            </a:lvl1pPr>
          </a:lstStyle>
          <a:p>
            <a:pPr lvl="0"/>
            <a:r>
              <a:rPr lang="ja-JP" altLang="en-US" dirty="0"/>
              <a:t>マスタ テキストの書式設定</a:t>
            </a:r>
          </a:p>
        </p:txBody>
      </p:sp>
      <p:sp>
        <p:nvSpPr>
          <p:cNvPr id="12" name="正方形/長方形 11">
            <a:extLst>
              <a:ext uri="{FF2B5EF4-FFF2-40B4-BE49-F238E27FC236}">
                <a16:creationId xmlns:a16="http://schemas.microsoft.com/office/drawing/2014/main" id="{3A5297C1-E0F1-5C3E-5B62-16DB20BC72F4}"/>
              </a:ext>
            </a:extLst>
          </p:cNvPr>
          <p:cNvSpPr/>
          <p:nvPr userDrawn="1"/>
        </p:nvSpPr>
        <p:spPr bwMode="auto">
          <a:xfrm flipV="1">
            <a:off x="-1" y="755925"/>
            <a:ext cx="11196000" cy="72000"/>
          </a:xfrm>
          <a:prstGeom prst="rect">
            <a:avLst/>
          </a:prstGeom>
          <a:gradFill flip="none" rotWithShape="1">
            <a:gsLst>
              <a:gs pos="0">
                <a:srgbClr val="FFFFFF">
                  <a:alpha val="0"/>
                </a:srgbClr>
              </a:gs>
              <a:gs pos="0">
                <a:srgbClr val="FFFFFF">
                  <a:alpha val="0"/>
                </a:srgbClr>
              </a:gs>
              <a:gs pos="90000">
                <a:srgbClr val="CC0022"/>
              </a:gs>
            </a:gsLst>
            <a:lin ang="10800000" scaled="0"/>
            <a:tileRect/>
          </a:gradFill>
          <a:ln>
            <a:noFill/>
            <a:headEnd type="none" w="med" len="med"/>
            <a:tailEnd type="none" w="med" len="med"/>
          </a:ln>
          <a:effectLst/>
          <a:scene3d>
            <a:camera prst="orthographicFront">
              <a:rot lat="0" lon="0" rev="0"/>
            </a:camera>
            <a:lightRig rig="threePt" dir="t">
              <a:rot lat="0" lon="0" rev="1200000"/>
            </a:lightRig>
          </a:scene3d>
          <a:sp3d/>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prstClr val="black"/>
              </a:solidFill>
              <a:effectLst/>
              <a:uLnTx/>
              <a:uFillTx/>
              <a:latin typeface="Calibri"/>
              <a:ea typeface="MS UI Gothic"/>
              <a:cs typeface="+mn-cs"/>
            </a:endParaRPr>
          </a:p>
        </p:txBody>
      </p:sp>
      <p:sp>
        <p:nvSpPr>
          <p:cNvPr id="9" name="Text Box 46"/>
          <p:cNvSpPr txBox="1">
            <a:spLocks noChangeArrowheads="1"/>
          </p:cNvSpPr>
          <p:nvPr userDrawn="1"/>
        </p:nvSpPr>
        <p:spPr bwMode="auto">
          <a:xfrm>
            <a:off x="11494800" y="6447599"/>
            <a:ext cx="417600" cy="212400"/>
          </a:xfrm>
          <a:prstGeom prst="rect">
            <a:avLst/>
          </a:prstGeom>
          <a:noFill/>
          <a:ln w="12700">
            <a:noFill/>
            <a:miter lim="800000"/>
            <a:headEnd/>
            <a:tailEnd/>
          </a:ln>
          <a:effectLst/>
        </p:spPr>
        <p:txBody>
          <a:bodyPr wrap="square" lIns="0" tIns="0" rIns="0" bIns="0">
            <a:spAutoFit/>
          </a:bodyPr>
          <a:lstStyle>
            <a:lvl1pPr>
              <a:defRPr kumimoji="1" sz="2600">
                <a:solidFill>
                  <a:schemeClr val="tx1"/>
                </a:solidFill>
                <a:latin typeface="Microsoft Sans Serif" charset="0"/>
                <a:ea typeface="ＭＳ Ｐゴシック" charset="-128"/>
              </a:defRPr>
            </a:lvl1pPr>
            <a:lvl2pPr marL="742950" indent="-285750">
              <a:defRPr kumimoji="1" sz="2600">
                <a:solidFill>
                  <a:schemeClr val="tx1"/>
                </a:solidFill>
                <a:latin typeface="Microsoft Sans Serif" charset="0"/>
                <a:ea typeface="ＭＳ Ｐゴシック" charset="-128"/>
              </a:defRPr>
            </a:lvl2pPr>
            <a:lvl3pPr marL="1143000" indent="-228600">
              <a:defRPr kumimoji="1" sz="2600">
                <a:solidFill>
                  <a:schemeClr val="tx1"/>
                </a:solidFill>
                <a:latin typeface="Microsoft Sans Serif" charset="0"/>
                <a:ea typeface="ＭＳ Ｐゴシック" charset="-128"/>
              </a:defRPr>
            </a:lvl3pPr>
            <a:lvl4pPr marL="1600200" indent="-228600">
              <a:defRPr kumimoji="1" sz="2600">
                <a:solidFill>
                  <a:schemeClr val="tx1"/>
                </a:solidFill>
                <a:latin typeface="Microsoft Sans Serif" charset="0"/>
                <a:ea typeface="ＭＳ Ｐゴシック" charset="-128"/>
              </a:defRPr>
            </a:lvl4pPr>
            <a:lvl5pPr marL="2057400" indent="-228600">
              <a:defRPr kumimoji="1" sz="2600">
                <a:solidFill>
                  <a:schemeClr val="tx1"/>
                </a:solidFill>
                <a:latin typeface="Microsoft Sans Serif" charset="0"/>
                <a:ea typeface="ＭＳ Ｐゴシック" charset="-128"/>
              </a:defRPr>
            </a:lvl5pPr>
            <a:lvl6pPr marL="2514600" indent="-228600" eaLnBrk="0" fontAlgn="base" hangingPunct="0">
              <a:spcBef>
                <a:spcPct val="0"/>
              </a:spcBef>
              <a:spcAft>
                <a:spcPct val="0"/>
              </a:spcAft>
              <a:defRPr kumimoji="1" sz="2600">
                <a:solidFill>
                  <a:schemeClr val="tx1"/>
                </a:solidFill>
                <a:latin typeface="Microsoft Sans Serif" charset="0"/>
                <a:ea typeface="ＭＳ Ｐゴシック" charset="-128"/>
              </a:defRPr>
            </a:lvl6pPr>
            <a:lvl7pPr marL="2971800" indent="-228600" eaLnBrk="0" fontAlgn="base" hangingPunct="0">
              <a:spcBef>
                <a:spcPct val="0"/>
              </a:spcBef>
              <a:spcAft>
                <a:spcPct val="0"/>
              </a:spcAft>
              <a:defRPr kumimoji="1" sz="2600">
                <a:solidFill>
                  <a:schemeClr val="tx1"/>
                </a:solidFill>
                <a:latin typeface="Microsoft Sans Serif" charset="0"/>
                <a:ea typeface="ＭＳ Ｐゴシック" charset="-128"/>
              </a:defRPr>
            </a:lvl7pPr>
            <a:lvl8pPr marL="3429000" indent="-228600" eaLnBrk="0" fontAlgn="base" hangingPunct="0">
              <a:spcBef>
                <a:spcPct val="0"/>
              </a:spcBef>
              <a:spcAft>
                <a:spcPct val="0"/>
              </a:spcAft>
              <a:defRPr kumimoji="1" sz="2600">
                <a:solidFill>
                  <a:schemeClr val="tx1"/>
                </a:solidFill>
                <a:latin typeface="Microsoft Sans Serif" charset="0"/>
                <a:ea typeface="ＭＳ Ｐゴシック" charset="-128"/>
              </a:defRPr>
            </a:lvl8pPr>
            <a:lvl9pPr marL="3886200" indent="-228600" eaLnBrk="0" fontAlgn="base" hangingPunct="0">
              <a:spcBef>
                <a:spcPct val="0"/>
              </a:spcBef>
              <a:spcAft>
                <a:spcPct val="0"/>
              </a:spcAft>
              <a:defRPr kumimoji="1" sz="2600">
                <a:solidFill>
                  <a:schemeClr val="tx1"/>
                </a:solidFill>
                <a:latin typeface="Microsoft Sans Serif" charset="0"/>
                <a:ea typeface="ＭＳ Ｐゴシック" charset="-128"/>
              </a:defRPr>
            </a:lvl9pPr>
          </a:lstStyle>
          <a:p>
            <a:pPr algn="r" eaLnBrk="1" hangingPunct="1">
              <a:spcBef>
                <a:spcPct val="50000"/>
              </a:spcBef>
              <a:defRPr/>
            </a:pPr>
            <a:fld id="{14B35C8A-AD62-4D4E-8001-2FA1166A8C79}" type="slidenum">
              <a:rPr lang="en-US" altLang="ja-JP" sz="1100" smtClean="0">
                <a:latin typeface="+mj-lt"/>
              </a:rPr>
              <a:pPr algn="r" eaLnBrk="1" hangingPunct="1">
                <a:spcBef>
                  <a:spcPct val="50000"/>
                </a:spcBef>
                <a:defRPr/>
              </a:pPr>
              <a:t>‹#›</a:t>
            </a:fld>
            <a:endParaRPr lang="en-US" altLang="ja-JP" sz="1100" dirty="0">
              <a:latin typeface="+mj-lt"/>
            </a:endParaRPr>
          </a:p>
        </p:txBody>
      </p:sp>
    </p:spTree>
    <p:extLst>
      <p:ext uri="{BB962C8B-B14F-4D97-AF65-F5344CB8AC3E}">
        <p14:creationId xmlns:p14="http://schemas.microsoft.com/office/powerpoint/2010/main" val="12090137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 つのコンテンツ">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262FCE47-B896-F615-0F76-9130DA7B130D}"/>
              </a:ext>
            </a:extLst>
          </p:cNvPr>
          <p:cNvPicPr>
            <a:picLocks noChangeAspect="1"/>
          </p:cNvPicPr>
          <p:nvPr userDrawn="1"/>
        </p:nvPicPr>
        <p:blipFill>
          <a:blip r:embed="rId2"/>
          <a:stretch>
            <a:fillRect/>
          </a:stretch>
        </p:blipFill>
        <p:spPr>
          <a:xfrm>
            <a:off x="11346587" y="113241"/>
            <a:ext cx="714025" cy="660345"/>
          </a:xfrm>
          <a:prstGeom prst="rect">
            <a:avLst/>
          </a:prstGeom>
        </p:spPr>
      </p:pic>
      <p:sp>
        <p:nvSpPr>
          <p:cNvPr id="7" name="正方形/長方形 6"/>
          <p:cNvSpPr/>
          <p:nvPr userDrawn="1"/>
        </p:nvSpPr>
        <p:spPr>
          <a:xfrm>
            <a:off x="0" y="0"/>
            <a:ext cx="12192000" cy="3915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ja-JP" altLang="en-US" sz="2358"/>
          </a:p>
        </p:txBody>
      </p:sp>
      <p:sp>
        <p:nvSpPr>
          <p:cNvPr id="3" name="コンテンツ プレースホルダ 2"/>
          <p:cNvSpPr>
            <a:spLocks noGrp="1"/>
          </p:cNvSpPr>
          <p:nvPr>
            <p:ph sz="half" idx="1" hasCustomPrompt="1"/>
          </p:nvPr>
        </p:nvSpPr>
        <p:spPr>
          <a:xfrm>
            <a:off x="698400" y="1267201"/>
            <a:ext cx="5216400" cy="5043600"/>
          </a:xfrm>
          <a:prstGeom prst="rect">
            <a:avLst/>
          </a:prstGeom>
        </p:spPr>
        <p:txBody>
          <a:bodyPr/>
          <a:lstStyle>
            <a:lvl1pPr marL="0" indent="0">
              <a:spcBef>
                <a:spcPts val="0"/>
              </a:spcBef>
              <a:defRPr sz="1995"/>
            </a:lvl1pPr>
            <a:lvl2pPr>
              <a:defRPr sz="1542"/>
            </a:lvl2pPr>
            <a:lvl3pPr>
              <a:defRPr sz="1542"/>
            </a:lvl3pPr>
            <a:lvl4pPr>
              <a:defRPr sz="1542"/>
            </a:lvl4pPr>
            <a:lvl5pPr>
              <a:defRPr sz="1542"/>
            </a:lvl5pPr>
            <a:lvl6pPr>
              <a:defRPr sz="1814"/>
            </a:lvl6pPr>
            <a:lvl7pPr>
              <a:defRPr sz="1814"/>
            </a:lvl7pPr>
            <a:lvl8pPr>
              <a:defRPr sz="1814"/>
            </a:lvl8pPr>
            <a:lvl9pPr>
              <a:defRPr sz="1814"/>
            </a:lvl9pPr>
          </a:lstStyle>
          <a:p>
            <a:pPr lvl="0"/>
            <a:r>
              <a:rPr lang="ja-JP" altLang="en-US" dirty="0"/>
              <a:t>マスタ テキストの書式設定</a:t>
            </a:r>
          </a:p>
        </p:txBody>
      </p:sp>
      <p:sp>
        <p:nvSpPr>
          <p:cNvPr id="5" name="コンテンツ プレースホルダ 2"/>
          <p:cNvSpPr>
            <a:spLocks noGrp="1"/>
          </p:cNvSpPr>
          <p:nvPr>
            <p:ph sz="half" idx="10" hasCustomPrompt="1"/>
          </p:nvPr>
        </p:nvSpPr>
        <p:spPr>
          <a:xfrm>
            <a:off x="6318000" y="1267201"/>
            <a:ext cx="5216400" cy="5043600"/>
          </a:xfrm>
          <a:prstGeom prst="rect">
            <a:avLst/>
          </a:prstGeom>
        </p:spPr>
        <p:txBody>
          <a:bodyPr/>
          <a:lstStyle>
            <a:lvl1pPr marL="0" indent="0">
              <a:spcBef>
                <a:spcPts val="0"/>
              </a:spcBef>
              <a:defRPr sz="1995"/>
            </a:lvl1pPr>
            <a:lvl2pPr>
              <a:defRPr sz="1542"/>
            </a:lvl2pPr>
            <a:lvl3pPr>
              <a:defRPr sz="1542"/>
            </a:lvl3pPr>
            <a:lvl4pPr>
              <a:defRPr sz="1542"/>
            </a:lvl4pPr>
            <a:lvl5pPr>
              <a:defRPr sz="1542"/>
            </a:lvl5pPr>
            <a:lvl6pPr>
              <a:defRPr sz="1814"/>
            </a:lvl6pPr>
            <a:lvl7pPr>
              <a:defRPr sz="1814"/>
            </a:lvl7pPr>
            <a:lvl8pPr>
              <a:defRPr sz="1814"/>
            </a:lvl8pPr>
            <a:lvl9pPr>
              <a:defRPr sz="1814"/>
            </a:lvl9pPr>
          </a:lstStyle>
          <a:p>
            <a:pPr lvl="0"/>
            <a:r>
              <a:rPr lang="ja-JP" altLang="en-US" dirty="0"/>
              <a:t>マスタ テキストの書式設定</a:t>
            </a:r>
          </a:p>
        </p:txBody>
      </p:sp>
      <p:sp>
        <p:nvSpPr>
          <p:cNvPr id="11" name="テキスト ボックス 6"/>
          <p:cNvSpPr txBox="1">
            <a:spLocks noChangeArrowheads="1"/>
          </p:cNvSpPr>
          <p:nvPr userDrawn="1"/>
        </p:nvSpPr>
        <p:spPr bwMode="auto">
          <a:xfrm>
            <a:off x="698400" y="6562894"/>
            <a:ext cx="6728869" cy="178510"/>
          </a:xfrm>
          <a:prstGeom prst="rect">
            <a:avLst/>
          </a:prstGeom>
          <a:noFill/>
          <a:ln>
            <a:noFill/>
          </a:ln>
        </p:spPr>
        <p:txBody>
          <a:bodyPr>
            <a:spAutoFit/>
          </a:bodyPr>
          <a:lstStyle>
            <a:lvl1pPr>
              <a:defRPr kumimoji="1" sz="2600">
                <a:solidFill>
                  <a:schemeClr val="tx1"/>
                </a:solidFill>
                <a:latin typeface="Microsoft Sans Serif" charset="0"/>
                <a:ea typeface="ＭＳ Ｐゴシック" charset="-128"/>
              </a:defRPr>
            </a:lvl1pPr>
            <a:lvl2pPr marL="742950" indent="-285750">
              <a:defRPr kumimoji="1" sz="2600">
                <a:solidFill>
                  <a:schemeClr val="tx1"/>
                </a:solidFill>
                <a:latin typeface="Microsoft Sans Serif" charset="0"/>
                <a:ea typeface="ＭＳ Ｐゴシック" charset="-128"/>
              </a:defRPr>
            </a:lvl2pPr>
            <a:lvl3pPr marL="1143000" indent="-228600">
              <a:defRPr kumimoji="1" sz="2600">
                <a:solidFill>
                  <a:schemeClr val="tx1"/>
                </a:solidFill>
                <a:latin typeface="Microsoft Sans Serif" charset="0"/>
                <a:ea typeface="ＭＳ Ｐゴシック" charset="-128"/>
              </a:defRPr>
            </a:lvl3pPr>
            <a:lvl4pPr marL="1600200" indent="-228600">
              <a:defRPr kumimoji="1" sz="2600">
                <a:solidFill>
                  <a:schemeClr val="tx1"/>
                </a:solidFill>
                <a:latin typeface="Microsoft Sans Serif" charset="0"/>
                <a:ea typeface="ＭＳ Ｐゴシック" charset="-128"/>
              </a:defRPr>
            </a:lvl4pPr>
            <a:lvl5pPr marL="2057400" indent="-228600">
              <a:defRPr kumimoji="1" sz="2600">
                <a:solidFill>
                  <a:schemeClr val="tx1"/>
                </a:solidFill>
                <a:latin typeface="Microsoft Sans Serif" charset="0"/>
                <a:ea typeface="ＭＳ Ｐゴシック" charset="-128"/>
              </a:defRPr>
            </a:lvl5pPr>
            <a:lvl6pPr marL="2514600" indent="-228600" eaLnBrk="0" fontAlgn="base" hangingPunct="0">
              <a:spcBef>
                <a:spcPct val="0"/>
              </a:spcBef>
              <a:spcAft>
                <a:spcPct val="0"/>
              </a:spcAft>
              <a:defRPr kumimoji="1" sz="2600">
                <a:solidFill>
                  <a:schemeClr val="tx1"/>
                </a:solidFill>
                <a:latin typeface="Microsoft Sans Serif" charset="0"/>
                <a:ea typeface="ＭＳ Ｐゴシック" charset="-128"/>
              </a:defRPr>
            </a:lvl6pPr>
            <a:lvl7pPr marL="2971800" indent="-228600" eaLnBrk="0" fontAlgn="base" hangingPunct="0">
              <a:spcBef>
                <a:spcPct val="0"/>
              </a:spcBef>
              <a:spcAft>
                <a:spcPct val="0"/>
              </a:spcAft>
              <a:defRPr kumimoji="1" sz="2600">
                <a:solidFill>
                  <a:schemeClr val="tx1"/>
                </a:solidFill>
                <a:latin typeface="Microsoft Sans Serif" charset="0"/>
                <a:ea typeface="ＭＳ Ｐゴシック" charset="-128"/>
              </a:defRPr>
            </a:lvl7pPr>
            <a:lvl8pPr marL="3429000" indent="-228600" eaLnBrk="0" fontAlgn="base" hangingPunct="0">
              <a:spcBef>
                <a:spcPct val="0"/>
              </a:spcBef>
              <a:spcAft>
                <a:spcPct val="0"/>
              </a:spcAft>
              <a:defRPr kumimoji="1" sz="2600">
                <a:solidFill>
                  <a:schemeClr val="tx1"/>
                </a:solidFill>
                <a:latin typeface="Microsoft Sans Serif" charset="0"/>
                <a:ea typeface="ＭＳ Ｐゴシック" charset="-128"/>
              </a:defRPr>
            </a:lvl8pPr>
            <a:lvl9pPr marL="3886200" indent="-228600" eaLnBrk="0" fontAlgn="base" hangingPunct="0">
              <a:spcBef>
                <a:spcPct val="0"/>
              </a:spcBef>
              <a:spcAft>
                <a:spcPct val="0"/>
              </a:spcAft>
              <a:defRPr kumimoji="1" sz="2600">
                <a:solidFill>
                  <a:schemeClr val="tx1"/>
                </a:solidFill>
                <a:latin typeface="Microsoft Sans Serif" charset="0"/>
                <a:ea typeface="ＭＳ Ｐゴシック" charset="-128"/>
              </a:defRPr>
            </a:lvl9pPr>
          </a:lstStyle>
          <a:p>
            <a:pPr algn="l" eaLnBrk="1" hangingPunct="1">
              <a:lnSpc>
                <a:spcPct val="70000"/>
              </a:lnSpc>
              <a:defRPr/>
            </a:pPr>
            <a:r>
              <a:rPr lang="en-US" altLang="ja-JP" sz="800" dirty="0">
                <a:solidFill>
                  <a:srgbClr val="757983"/>
                </a:solidFill>
                <a:latin typeface="+mj-lt"/>
              </a:rPr>
              <a:t>© 2023 Sompo Care, Inc. All Rights Reserved.</a:t>
            </a:r>
            <a:endParaRPr lang="ja-JP" altLang="en-US" sz="800" dirty="0">
              <a:solidFill>
                <a:srgbClr val="757983"/>
              </a:solidFill>
              <a:latin typeface="+mj-lt"/>
            </a:endParaRPr>
          </a:p>
        </p:txBody>
      </p:sp>
      <p:sp>
        <p:nvSpPr>
          <p:cNvPr id="13" name="タイトル 1"/>
          <p:cNvSpPr>
            <a:spLocks noGrp="1"/>
          </p:cNvSpPr>
          <p:nvPr>
            <p:ph type="title"/>
          </p:nvPr>
        </p:nvSpPr>
        <p:spPr>
          <a:xfrm>
            <a:off x="698400" y="260648"/>
            <a:ext cx="8211900" cy="342612"/>
          </a:xfrm>
          <a:prstGeom prst="rect">
            <a:avLst/>
          </a:prstGeom>
        </p:spPr>
        <p:txBody>
          <a:bodyPr/>
          <a:lstStyle>
            <a:lvl1pPr>
              <a:defRPr sz="2000" b="1">
                <a:solidFill>
                  <a:schemeClr val="tx1"/>
                </a:solidFill>
              </a:defRPr>
            </a:lvl1pPr>
          </a:lstStyle>
          <a:p>
            <a:r>
              <a:rPr lang="ja-JP" altLang="en-US" dirty="0"/>
              <a:t>マスタ タイトルの書式設定</a:t>
            </a:r>
          </a:p>
        </p:txBody>
      </p:sp>
      <p:sp>
        <p:nvSpPr>
          <p:cNvPr id="10" name="正方形/長方形 9">
            <a:extLst>
              <a:ext uri="{FF2B5EF4-FFF2-40B4-BE49-F238E27FC236}">
                <a16:creationId xmlns:a16="http://schemas.microsoft.com/office/drawing/2014/main" id="{3A5297C1-E0F1-5C3E-5B62-16DB20BC72F4}"/>
              </a:ext>
            </a:extLst>
          </p:cNvPr>
          <p:cNvSpPr/>
          <p:nvPr userDrawn="1"/>
        </p:nvSpPr>
        <p:spPr bwMode="auto">
          <a:xfrm flipV="1">
            <a:off x="-1" y="755925"/>
            <a:ext cx="11196000" cy="72000"/>
          </a:xfrm>
          <a:prstGeom prst="rect">
            <a:avLst/>
          </a:prstGeom>
          <a:gradFill flip="none" rotWithShape="1">
            <a:gsLst>
              <a:gs pos="0">
                <a:srgbClr val="FFFFFF">
                  <a:alpha val="0"/>
                </a:srgbClr>
              </a:gs>
              <a:gs pos="0">
                <a:srgbClr val="FFFFFF">
                  <a:alpha val="0"/>
                </a:srgbClr>
              </a:gs>
              <a:gs pos="90000">
                <a:srgbClr val="CC0022"/>
              </a:gs>
            </a:gsLst>
            <a:lin ang="10800000" scaled="0"/>
            <a:tileRect/>
          </a:gradFill>
          <a:ln>
            <a:noFill/>
            <a:headEnd type="none" w="med" len="med"/>
            <a:tailEnd type="none" w="med" len="med"/>
          </a:ln>
          <a:effectLst/>
          <a:scene3d>
            <a:camera prst="orthographicFront">
              <a:rot lat="0" lon="0" rev="0"/>
            </a:camera>
            <a:lightRig rig="threePt" dir="t">
              <a:rot lat="0" lon="0" rev="1200000"/>
            </a:lightRig>
          </a:scene3d>
          <a:sp3d/>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prstClr val="black"/>
              </a:solidFill>
              <a:effectLst/>
              <a:uLnTx/>
              <a:uFillTx/>
              <a:latin typeface="Calibri"/>
              <a:ea typeface="MS UI Gothic"/>
              <a:cs typeface="+mn-cs"/>
            </a:endParaRPr>
          </a:p>
        </p:txBody>
      </p:sp>
      <p:sp>
        <p:nvSpPr>
          <p:cNvPr id="9" name="Text Box 46"/>
          <p:cNvSpPr txBox="1">
            <a:spLocks noChangeArrowheads="1"/>
          </p:cNvSpPr>
          <p:nvPr userDrawn="1"/>
        </p:nvSpPr>
        <p:spPr bwMode="auto">
          <a:xfrm>
            <a:off x="11494800" y="6447599"/>
            <a:ext cx="417600" cy="212400"/>
          </a:xfrm>
          <a:prstGeom prst="rect">
            <a:avLst/>
          </a:prstGeom>
          <a:noFill/>
          <a:ln w="12700">
            <a:noFill/>
            <a:miter lim="800000"/>
            <a:headEnd/>
            <a:tailEnd/>
          </a:ln>
          <a:effectLst/>
        </p:spPr>
        <p:txBody>
          <a:bodyPr wrap="square" lIns="0" tIns="0" rIns="0" bIns="0">
            <a:spAutoFit/>
          </a:bodyPr>
          <a:lstStyle>
            <a:lvl1pPr>
              <a:defRPr kumimoji="1" sz="2600">
                <a:solidFill>
                  <a:schemeClr val="tx1"/>
                </a:solidFill>
                <a:latin typeface="Microsoft Sans Serif" charset="0"/>
                <a:ea typeface="ＭＳ Ｐゴシック" charset="-128"/>
              </a:defRPr>
            </a:lvl1pPr>
            <a:lvl2pPr marL="742950" indent="-285750">
              <a:defRPr kumimoji="1" sz="2600">
                <a:solidFill>
                  <a:schemeClr val="tx1"/>
                </a:solidFill>
                <a:latin typeface="Microsoft Sans Serif" charset="0"/>
                <a:ea typeface="ＭＳ Ｐゴシック" charset="-128"/>
              </a:defRPr>
            </a:lvl2pPr>
            <a:lvl3pPr marL="1143000" indent="-228600">
              <a:defRPr kumimoji="1" sz="2600">
                <a:solidFill>
                  <a:schemeClr val="tx1"/>
                </a:solidFill>
                <a:latin typeface="Microsoft Sans Serif" charset="0"/>
                <a:ea typeface="ＭＳ Ｐゴシック" charset="-128"/>
              </a:defRPr>
            </a:lvl3pPr>
            <a:lvl4pPr marL="1600200" indent="-228600">
              <a:defRPr kumimoji="1" sz="2600">
                <a:solidFill>
                  <a:schemeClr val="tx1"/>
                </a:solidFill>
                <a:latin typeface="Microsoft Sans Serif" charset="0"/>
                <a:ea typeface="ＭＳ Ｐゴシック" charset="-128"/>
              </a:defRPr>
            </a:lvl4pPr>
            <a:lvl5pPr marL="2057400" indent="-228600">
              <a:defRPr kumimoji="1" sz="2600">
                <a:solidFill>
                  <a:schemeClr val="tx1"/>
                </a:solidFill>
                <a:latin typeface="Microsoft Sans Serif" charset="0"/>
                <a:ea typeface="ＭＳ Ｐゴシック" charset="-128"/>
              </a:defRPr>
            </a:lvl5pPr>
            <a:lvl6pPr marL="2514600" indent="-228600" eaLnBrk="0" fontAlgn="base" hangingPunct="0">
              <a:spcBef>
                <a:spcPct val="0"/>
              </a:spcBef>
              <a:spcAft>
                <a:spcPct val="0"/>
              </a:spcAft>
              <a:defRPr kumimoji="1" sz="2600">
                <a:solidFill>
                  <a:schemeClr val="tx1"/>
                </a:solidFill>
                <a:latin typeface="Microsoft Sans Serif" charset="0"/>
                <a:ea typeface="ＭＳ Ｐゴシック" charset="-128"/>
              </a:defRPr>
            </a:lvl6pPr>
            <a:lvl7pPr marL="2971800" indent="-228600" eaLnBrk="0" fontAlgn="base" hangingPunct="0">
              <a:spcBef>
                <a:spcPct val="0"/>
              </a:spcBef>
              <a:spcAft>
                <a:spcPct val="0"/>
              </a:spcAft>
              <a:defRPr kumimoji="1" sz="2600">
                <a:solidFill>
                  <a:schemeClr val="tx1"/>
                </a:solidFill>
                <a:latin typeface="Microsoft Sans Serif" charset="0"/>
                <a:ea typeface="ＭＳ Ｐゴシック" charset="-128"/>
              </a:defRPr>
            </a:lvl7pPr>
            <a:lvl8pPr marL="3429000" indent="-228600" eaLnBrk="0" fontAlgn="base" hangingPunct="0">
              <a:spcBef>
                <a:spcPct val="0"/>
              </a:spcBef>
              <a:spcAft>
                <a:spcPct val="0"/>
              </a:spcAft>
              <a:defRPr kumimoji="1" sz="2600">
                <a:solidFill>
                  <a:schemeClr val="tx1"/>
                </a:solidFill>
                <a:latin typeface="Microsoft Sans Serif" charset="0"/>
                <a:ea typeface="ＭＳ Ｐゴシック" charset="-128"/>
              </a:defRPr>
            </a:lvl8pPr>
            <a:lvl9pPr marL="3886200" indent="-228600" eaLnBrk="0" fontAlgn="base" hangingPunct="0">
              <a:spcBef>
                <a:spcPct val="0"/>
              </a:spcBef>
              <a:spcAft>
                <a:spcPct val="0"/>
              </a:spcAft>
              <a:defRPr kumimoji="1" sz="2600">
                <a:solidFill>
                  <a:schemeClr val="tx1"/>
                </a:solidFill>
                <a:latin typeface="Microsoft Sans Serif" charset="0"/>
                <a:ea typeface="ＭＳ Ｐゴシック" charset="-128"/>
              </a:defRPr>
            </a:lvl9pPr>
          </a:lstStyle>
          <a:p>
            <a:pPr algn="r" eaLnBrk="1" hangingPunct="1">
              <a:spcBef>
                <a:spcPct val="50000"/>
              </a:spcBef>
              <a:defRPr/>
            </a:pPr>
            <a:fld id="{14B35C8A-AD62-4D4E-8001-2FA1166A8C79}" type="slidenum">
              <a:rPr lang="en-US" altLang="ja-JP" sz="1100" smtClean="0">
                <a:latin typeface="+mj-lt"/>
              </a:rPr>
              <a:pPr algn="r" eaLnBrk="1" hangingPunct="1">
                <a:spcBef>
                  <a:spcPct val="50000"/>
                </a:spcBef>
                <a:defRPr/>
              </a:pPr>
              <a:t>‹#›</a:t>
            </a:fld>
            <a:endParaRPr lang="en-US" altLang="ja-JP" sz="1100" dirty="0">
              <a:latin typeface="+mj-lt"/>
            </a:endParaRPr>
          </a:p>
        </p:txBody>
      </p:sp>
    </p:spTree>
    <p:extLst>
      <p:ext uri="{BB962C8B-B14F-4D97-AF65-F5344CB8AC3E}">
        <p14:creationId xmlns:p14="http://schemas.microsoft.com/office/powerpoint/2010/main" val="19135935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比較">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B3035A24-B3B3-E5B2-B559-232E1137DD74}"/>
              </a:ext>
            </a:extLst>
          </p:cNvPr>
          <p:cNvPicPr>
            <a:picLocks noChangeAspect="1"/>
          </p:cNvPicPr>
          <p:nvPr userDrawn="1"/>
        </p:nvPicPr>
        <p:blipFill>
          <a:blip r:embed="rId2"/>
          <a:stretch>
            <a:fillRect/>
          </a:stretch>
        </p:blipFill>
        <p:spPr>
          <a:xfrm>
            <a:off x="11346587" y="113241"/>
            <a:ext cx="714025" cy="660345"/>
          </a:xfrm>
          <a:prstGeom prst="rect">
            <a:avLst/>
          </a:prstGeom>
        </p:spPr>
      </p:pic>
      <p:sp>
        <p:nvSpPr>
          <p:cNvPr id="10" name="正方形/長方形 9"/>
          <p:cNvSpPr/>
          <p:nvPr userDrawn="1"/>
        </p:nvSpPr>
        <p:spPr>
          <a:xfrm>
            <a:off x="0" y="0"/>
            <a:ext cx="12192000" cy="3915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ja-JP" altLang="en-US" sz="2358"/>
          </a:p>
        </p:txBody>
      </p:sp>
      <p:sp>
        <p:nvSpPr>
          <p:cNvPr id="4" name="コンテンツ プレースホルダ 3"/>
          <p:cNvSpPr>
            <a:spLocks noGrp="1"/>
          </p:cNvSpPr>
          <p:nvPr>
            <p:ph sz="half" idx="2" hasCustomPrompt="1"/>
          </p:nvPr>
        </p:nvSpPr>
        <p:spPr>
          <a:xfrm>
            <a:off x="698400" y="1772816"/>
            <a:ext cx="5216400" cy="4536504"/>
          </a:xfrm>
          <a:prstGeom prst="rect">
            <a:avLst/>
          </a:prstGeom>
        </p:spPr>
        <p:txBody>
          <a:bodyPr/>
          <a:lstStyle>
            <a:lvl1pPr marL="0" indent="0">
              <a:spcBef>
                <a:spcPts val="0"/>
              </a:spcBef>
              <a:defRPr sz="1542">
                <a:latin typeface="+mn-ea"/>
                <a:ea typeface="+mn-ea"/>
              </a:defRPr>
            </a:lvl1pPr>
            <a:lvl2pPr>
              <a:defRPr sz="1542"/>
            </a:lvl2pPr>
            <a:lvl3pPr>
              <a:defRPr sz="1542"/>
            </a:lvl3pPr>
            <a:lvl4pPr>
              <a:defRPr sz="1542"/>
            </a:lvl4pPr>
            <a:lvl5pPr>
              <a:defRPr sz="1542"/>
            </a:lvl5pPr>
            <a:lvl6pPr>
              <a:defRPr sz="1542"/>
            </a:lvl6pPr>
            <a:lvl7pPr>
              <a:defRPr sz="1542"/>
            </a:lvl7pPr>
            <a:lvl8pPr>
              <a:defRPr sz="1542"/>
            </a:lvl8pPr>
            <a:lvl9pPr>
              <a:defRPr sz="1542"/>
            </a:lvl9pPr>
          </a:lstStyle>
          <a:p>
            <a:pPr lvl="0"/>
            <a:r>
              <a:rPr lang="ja-JP" altLang="en-US" dirty="0"/>
              <a:t>マスタ テキストの書式設定</a:t>
            </a:r>
          </a:p>
        </p:txBody>
      </p:sp>
      <p:sp>
        <p:nvSpPr>
          <p:cNvPr id="6" name="コンテンツ プレースホルダ 5"/>
          <p:cNvSpPr>
            <a:spLocks noGrp="1"/>
          </p:cNvSpPr>
          <p:nvPr>
            <p:ph sz="quarter" idx="4" hasCustomPrompt="1"/>
          </p:nvPr>
        </p:nvSpPr>
        <p:spPr>
          <a:xfrm>
            <a:off x="6318000" y="1772816"/>
            <a:ext cx="5216400" cy="4536504"/>
          </a:xfrm>
          <a:prstGeom prst="rect">
            <a:avLst/>
          </a:prstGeom>
        </p:spPr>
        <p:txBody>
          <a:bodyPr/>
          <a:lstStyle>
            <a:lvl1pPr marL="0" indent="0">
              <a:spcBef>
                <a:spcPts val="0"/>
              </a:spcBef>
              <a:defRPr sz="1542">
                <a:latin typeface="+mn-ea"/>
                <a:ea typeface="+mn-ea"/>
              </a:defRPr>
            </a:lvl1pPr>
            <a:lvl2pPr>
              <a:defRPr sz="1542"/>
            </a:lvl2pPr>
            <a:lvl3pPr>
              <a:defRPr sz="1542"/>
            </a:lvl3pPr>
            <a:lvl4pPr>
              <a:defRPr sz="1542"/>
            </a:lvl4pPr>
            <a:lvl5pPr>
              <a:defRPr sz="1542"/>
            </a:lvl5pPr>
            <a:lvl6pPr>
              <a:defRPr sz="1542"/>
            </a:lvl6pPr>
            <a:lvl7pPr>
              <a:defRPr sz="1542"/>
            </a:lvl7pPr>
            <a:lvl8pPr>
              <a:defRPr sz="1542"/>
            </a:lvl8pPr>
            <a:lvl9pPr>
              <a:defRPr sz="1542"/>
            </a:lvl9pPr>
          </a:lstStyle>
          <a:p>
            <a:pPr lvl="0"/>
            <a:r>
              <a:rPr lang="ja-JP" altLang="en-US" dirty="0"/>
              <a:t>マスタ テキストの書式設定</a:t>
            </a:r>
          </a:p>
        </p:txBody>
      </p:sp>
      <p:sp>
        <p:nvSpPr>
          <p:cNvPr id="8" name="テキスト プレースホルダ 2"/>
          <p:cNvSpPr>
            <a:spLocks noGrp="1"/>
          </p:cNvSpPr>
          <p:nvPr>
            <p:ph type="body" idx="10"/>
          </p:nvPr>
        </p:nvSpPr>
        <p:spPr>
          <a:xfrm>
            <a:off x="698400" y="1267200"/>
            <a:ext cx="5216400" cy="391738"/>
          </a:xfrm>
          <a:prstGeom prst="rect">
            <a:avLst/>
          </a:prstGeom>
        </p:spPr>
        <p:txBody>
          <a:bodyPr/>
          <a:lstStyle>
            <a:lvl1pPr marL="0" indent="0">
              <a:buNone/>
              <a:defRPr sz="1995" b="0">
                <a:solidFill>
                  <a:schemeClr val="tx1"/>
                </a:solidFill>
              </a:defRPr>
            </a:lvl1pPr>
            <a:lvl2pPr marL="451363" indent="0">
              <a:buNone/>
              <a:defRPr sz="1995" b="1"/>
            </a:lvl2pPr>
            <a:lvl3pPr marL="902726" indent="0">
              <a:buNone/>
              <a:defRPr sz="1814" b="1"/>
            </a:lvl3pPr>
            <a:lvl4pPr marL="1354089" indent="0">
              <a:buNone/>
              <a:defRPr sz="1542" b="1"/>
            </a:lvl4pPr>
            <a:lvl5pPr marL="1805452" indent="0">
              <a:buNone/>
              <a:defRPr sz="1542" b="1"/>
            </a:lvl5pPr>
            <a:lvl6pPr marL="2256815" indent="0">
              <a:buNone/>
              <a:defRPr sz="1542" b="1"/>
            </a:lvl6pPr>
            <a:lvl7pPr marL="2708178" indent="0">
              <a:buNone/>
              <a:defRPr sz="1542" b="1"/>
            </a:lvl7pPr>
            <a:lvl8pPr marL="3159541" indent="0">
              <a:buNone/>
              <a:defRPr sz="1542" b="1"/>
            </a:lvl8pPr>
            <a:lvl9pPr marL="3610904" indent="0">
              <a:buNone/>
              <a:defRPr sz="1542" b="1"/>
            </a:lvl9pPr>
          </a:lstStyle>
          <a:p>
            <a:pPr lvl="0"/>
            <a:r>
              <a:rPr lang="ja-JP" altLang="en-US" dirty="0"/>
              <a:t>マスタ テキストの書式設定</a:t>
            </a:r>
          </a:p>
        </p:txBody>
      </p:sp>
      <p:sp>
        <p:nvSpPr>
          <p:cNvPr id="9" name="テキスト プレースホルダ 2"/>
          <p:cNvSpPr>
            <a:spLocks noGrp="1"/>
          </p:cNvSpPr>
          <p:nvPr>
            <p:ph type="body" idx="11"/>
          </p:nvPr>
        </p:nvSpPr>
        <p:spPr>
          <a:xfrm>
            <a:off x="6318000" y="1267200"/>
            <a:ext cx="5216400" cy="391738"/>
          </a:xfrm>
          <a:prstGeom prst="rect">
            <a:avLst/>
          </a:prstGeom>
        </p:spPr>
        <p:txBody>
          <a:bodyPr/>
          <a:lstStyle>
            <a:lvl1pPr marL="0" indent="0">
              <a:buNone/>
              <a:defRPr sz="1995" b="0">
                <a:solidFill>
                  <a:schemeClr val="tx1"/>
                </a:solidFill>
              </a:defRPr>
            </a:lvl1pPr>
            <a:lvl2pPr marL="451363" indent="0">
              <a:buNone/>
              <a:defRPr sz="1995" b="1"/>
            </a:lvl2pPr>
            <a:lvl3pPr marL="902726" indent="0">
              <a:buNone/>
              <a:defRPr sz="1814" b="1"/>
            </a:lvl3pPr>
            <a:lvl4pPr marL="1354089" indent="0">
              <a:buNone/>
              <a:defRPr sz="1542" b="1"/>
            </a:lvl4pPr>
            <a:lvl5pPr marL="1805452" indent="0">
              <a:buNone/>
              <a:defRPr sz="1542" b="1"/>
            </a:lvl5pPr>
            <a:lvl6pPr marL="2256815" indent="0">
              <a:buNone/>
              <a:defRPr sz="1542" b="1"/>
            </a:lvl6pPr>
            <a:lvl7pPr marL="2708178" indent="0">
              <a:buNone/>
              <a:defRPr sz="1542" b="1"/>
            </a:lvl7pPr>
            <a:lvl8pPr marL="3159541" indent="0">
              <a:buNone/>
              <a:defRPr sz="1542" b="1"/>
            </a:lvl8pPr>
            <a:lvl9pPr marL="3610904" indent="0">
              <a:buNone/>
              <a:defRPr sz="1542" b="1"/>
            </a:lvl9pPr>
          </a:lstStyle>
          <a:p>
            <a:pPr lvl="0"/>
            <a:r>
              <a:rPr lang="ja-JP" altLang="en-US" dirty="0"/>
              <a:t>マスタ テキストの書式設定</a:t>
            </a:r>
          </a:p>
        </p:txBody>
      </p:sp>
      <p:sp>
        <p:nvSpPr>
          <p:cNvPr id="11" name="テキスト ボックス 6"/>
          <p:cNvSpPr txBox="1">
            <a:spLocks noChangeArrowheads="1"/>
          </p:cNvSpPr>
          <p:nvPr userDrawn="1"/>
        </p:nvSpPr>
        <p:spPr bwMode="auto">
          <a:xfrm>
            <a:off x="698400" y="6562894"/>
            <a:ext cx="6728869" cy="178510"/>
          </a:xfrm>
          <a:prstGeom prst="rect">
            <a:avLst/>
          </a:prstGeom>
          <a:noFill/>
          <a:ln>
            <a:noFill/>
          </a:ln>
        </p:spPr>
        <p:txBody>
          <a:bodyPr>
            <a:spAutoFit/>
          </a:bodyPr>
          <a:lstStyle>
            <a:lvl1pPr>
              <a:defRPr kumimoji="1" sz="2600">
                <a:solidFill>
                  <a:schemeClr val="tx1"/>
                </a:solidFill>
                <a:latin typeface="Microsoft Sans Serif" charset="0"/>
                <a:ea typeface="ＭＳ Ｐゴシック" charset="-128"/>
              </a:defRPr>
            </a:lvl1pPr>
            <a:lvl2pPr marL="742950" indent="-285750">
              <a:defRPr kumimoji="1" sz="2600">
                <a:solidFill>
                  <a:schemeClr val="tx1"/>
                </a:solidFill>
                <a:latin typeface="Microsoft Sans Serif" charset="0"/>
                <a:ea typeface="ＭＳ Ｐゴシック" charset="-128"/>
              </a:defRPr>
            </a:lvl2pPr>
            <a:lvl3pPr marL="1143000" indent="-228600">
              <a:defRPr kumimoji="1" sz="2600">
                <a:solidFill>
                  <a:schemeClr val="tx1"/>
                </a:solidFill>
                <a:latin typeface="Microsoft Sans Serif" charset="0"/>
                <a:ea typeface="ＭＳ Ｐゴシック" charset="-128"/>
              </a:defRPr>
            </a:lvl3pPr>
            <a:lvl4pPr marL="1600200" indent="-228600">
              <a:defRPr kumimoji="1" sz="2600">
                <a:solidFill>
                  <a:schemeClr val="tx1"/>
                </a:solidFill>
                <a:latin typeface="Microsoft Sans Serif" charset="0"/>
                <a:ea typeface="ＭＳ Ｐゴシック" charset="-128"/>
              </a:defRPr>
            </a:lvl4pPr>
            <a:lvl5pPr marL="2057400" indent="-228600">
              <a:defRPr kumimoji="1" sz="2600">
                <a:solidFill>
                  <a:schemeClr val="tx1"/>
                </a:solidFill>
                <a:latin typeface="Microsoft Sans Serif" charset="0"/>
                <a:ea typeface="ＭＳ Ｐゴシック" charset="-128"/>
              </a:defRPr>
            </a:lvl5pPr>
            <a:lvl6pPr marL="2514600" indent="-228600" eaLnBrk="0" fontAlgn="base" hangingPunct="0">
              <a:spcBef>
                <a:spcPct val="0"/>
              </a:spcBef>
              <a:spcAft>
                <a:spcPct val="0"/>
              </a:spcAft>
              <a:defRPr kumimoji="1" sz="2600">
                <a:solidFill>
                  <a:schemeClr val="tx1"/>
                </a:solidFill>
                <a:latin typeface="Microsoft Sans Serif" charset="0"/>
                <a:ea typeface="ＭＳ Ｐゴシック" charset="-128"/>
              </a:defRPr>
            </a:lvl6pPr>
            <a:lvl7pPr marL="2971800" indent="-228600" eaLnBrk="0" fontAlgn="base" hangingPunct="0">
              <a:spcBef>
                <a:spcPct val="0"/>
              </a:spcBef>
              <a:spcAft>
                <a:spcPct val="0"/>
              </a:spcAft>
              <a:defRPr kumimoji="1" sz="2600">
                <a:solidFill>
                  <a:schemeClr val="tx1"/>
                </a:solidFill>
                <a:latin typeface="Microsoft Sans Serif" charset="0"/>
                <a:ea typeface="ＭＳ Ｐゴシック" charset="-128"/>
              </a:defRPr>
            </a:lvl7pPr>
            <a:lvl8pPr marL="3429000" indent="-228600" eaLnBrk="0" fontAlgn="base" hangingPunct="0">
              <a:spcBef>
                <a:spcPct val="0"/>
              </a:spcBef>
              <a:spcAft>
                <a:spcPct val="0"/>
              </a:spcAft>
              <a:defRPr kumimoji="1" sz="2600">
                <a:solidFill>
                  <a:schemeClr val="tx1"/>
                </a:solidFill>
                <a:latin typeface="Microsoft Sans Serif" charset="0"/>
                <a:ea typeface="ＭＳ Ｐゴシック" charset="-128"/>
              </a:defRPr>
            </a:lvl8pPr>
            <a:lvl9pPr marL="3886200" indent="-228600" eaLnBrk="0" fontAlgn="base" hangingPunct="0">
              <a:spcBef>
                <a:spcPct val="0"/>
              </a:spcBef>
              <a:spcAft>
                <a:spcPct val="0"/>
              </a:spcAft>
              <a:defRPr kumimoji="1" sz="2600">
                <a:solidFill>
                  <a:schemeClr val="tx1"/>
                </a:solidFill>
                <a:latin typeface="Microsoft Sans Serif" charset="0"/>
                <a:ea typeface="ＭＳ Ｐゴシック" charset="-128"/>
              </a:defRPr>
            </a:lvl9pPr>
          </a:lstStyle>
          <a:p>
            <a:pPr algn="l" eaLnBrk="1" hangingPunct="1">
              <a:lnSpc>
                <a:spcPct val="70000"/>
              </a:lnSpc>
              <a:defRPr/>
            </a:pPr>
            <a:r>
              <a:rPr lang="en-US" altLang="ja-JP" sz="800" dirty="0">
                <a:solidFill>
                  <a:srgbClr val="757983"/>
                </a:solidFill>
                <a:latin typeface="+mj-lt"/>
              </a:rPr>
              <a:t>© 2023 Sompo Care, Inc. All Rights Reserved.</a:t>
            </a:r>
            <a:endParaRPr lang="ja-JP" altLang="en-US" sz="800" dirty="0">
              <a:solidFill>
                <a:srgbClr val="757983"/>
              </a:solidFill>
              <a:latin typeface="+mj-lt"/>
            </a:endParaRPr>
          </a:p>
        </p:txBody>
      </p:sp>
      <p:sp>
        <p:nvSpPr>
          <p:cNvPr id="13" name="タイトル 1"/>
          <p:cNvSpPr>
            <a:spLocks noGrp="1"/>
          </p:cNvSpPr>
          <p:nvPr>
            <p:ph type="title"/>
          </p:nvPr>
        </p:nvSpPr>
        <p:spPr>
          <a:xfrm>
            <a:off x="698400" y="260648"/>
            <a:ext cx="8211900" cy="342612"/>
          </a:xfrm>
          <a:prstGeom prst="rect">
            <a:avLst/>
          </a:prstGeom>
        </p:spPr>
        <p:txBody>
          <a:bodyPr/>
          <a:lstStyle>
            <a:lvl1pPr>
              <a:defRPr sz="2000" b="1">
                <a:solidFill>
                  <a:schemeClr val="tx1"/>
                </a:solidFill>
              </a:defRPr>
            </a:lvl1pPr>
          </a:lstStyle>
          <a:p>
            <a:r>
              <a:rPr lang="ja-JP" altLang="en-US" dirty="0"/>
              <a:t>マスタ タイトルの書式設定</a:t>
            </a:r>
          </a:p>
        </p:txBody>
      </p:sp>
      <p:sp>
        <p:nvSpPr>
          <p:cNvPr id="12" name="正方形/長方形 11">
            <a:extLst>
              <a:ext uri="{FF2B5EF4-FFF2-40B4-BE49-F238E27FC236}">
                <a16:creationId xmlns:a16="http://schemas.microsoft.com/office/drawing/2014/main" id="{3A5297C1-E0F1-5C3E-5B62-16DB20BC72F4}"/>
              </a:ext>
            </a:extLst>
          </p:cNvPr>
          <p:cNvSpPr/>
          <p:nvPr userDrawn="1"/>
        </p:nvSpPr>
        <p:spPr bwMode="auto">
          <a:xfrm flipV="1">
            <a:off x="-1" y="755925"/>
            <a:ext cx="11196000" cy="72000"/>
          </a:xfrm>
          <a:prstGeom prst="rect">
            <a:avLst/>
          </a:prstGeom>
          <a:gradFill flip="none" rotWithShape="1">
            <a:gsLst>
              <a:gs pos="0">
                <a:srgbClr val="FFFFFF">
                  <a:alpha val="0"/>
                </a:srgbClr>
              </a:gs>
              <a:gs pos="0">
                <a:srgbClr val="FFFFFF">
                  <a:alpha val="0"/>
                </a:srgbClr>
              </a:gs>
              <a:gs pos="90000">
                <a:schemeClr val="accent1"/>
              </a:gs>
            </a:gsLst>
            <a:lin ang="10800000" scaled="0"/>
            <a:tileRect/>
          </a:gradFill>
          <a:ln>
            <a:headEnd type="none" w="med" len="med"/>
            <a:tailEnd type="none" w="med" len="med"/>
          </a:ln>
          <a:effectLst/>
          <a:scene3d>
            <a:camera prst="orthographicFront">
              <a:rot lat="0" lon="0" rev="0"/>
            </a:camera>
            <a:lightRig rig="threePt" dir="t">
              <a:rot lat="0" lon="0" rev="1200000"/>
            </a:lightRig>
          </a:scene3d>
          <a:sp3d/>
        </p:spPr>
        <p:style>
          <a:lnRef idx="0">
            <a:schemeClr val="accent2"/>
          </a:lnRef>
          <a:fillRef idx="3">
            <a:schemeClr val="accent2"/>
          </a:fillRef>
          <a:effectRef idx="3">
            <a:schemeClr val="accent2"/>
          </a:effectRef>
          <a:fontRef idx="minor">
            <a:schemeClr val="lt1"/>
          </a:fontRef>
        </p:style>
        <p:txBody>
          <a:bodyPr/>
          <a:lstStyle/>
          <a:p>
            <a:pPr fontAlgn="auto">
              <a:spcBef>
                <a:spcPts val="0"/>
              </a:spcBef>
              <a:spcAft>
                <a:spcPts val="0"/>
              </a:spcAft>
              <a:defRPr/>
            </a:pPr>
            <a:endParaRPr lang="ja-JP" altLang="en-US" sz="1800" dirty="0">
              <a:solidFill>
                <a:schemeClr val="tx1"/>
              </a:solidFill>
              <a:ea typeface="Meiryo UI" panose="020B0604030504040204" pitchFamily="50" charset="-128"/>
            </a:endParaRPr>
          </a:p>
        </p:txBody>
      </p:sp>
      <p:sp>
        <p:nvSpPr>
          <p:cNvPr id="14" name="Text Box 46"/>
          <p:cNvSpPr txBox="1">
            <a:spLocks noChangeArrowheads="1"/>
          </p:cNvSpPr>
          <p:nvPr userDrawn="1"/>
        </p:nvSpPr>
        <p:spPr bwMode="auto">
          <a:xfrm>
            <a:off x="11494800" y="6447599"/>
            <a:ext cx="417600" cy="212400"/>
          </a:xfrm>
          <a:prstGeom prst="rect">
            <a:avLst/>
          </a:prstGeom>
          <a:noFill/>
          <a:ln w="12700">
            <a:noFill/>
            <a:miter lim="800000"/>
            <a:headEnd/>
            <a:tailEnd/>
          </a:ln>
          <a:effectLst/>
        </p:spPr>
        <p:txBody>
          <a:bodyPr wrap="square" lIns="0" tIns="0" rIns="0" bIns="0">
            <a:spAutoFit/>
          </a:bodyPr>
          <a:lstStyle>
            <a:lvl1pPr>
              <a:defRPr kumimoji="1" sz="2600">
                <a:solidFill>
                  <a:schemeClr val="tx1"/>
                </a:solidFill>
                <a:latin typeface="Microsoft Sans Serif" charset="0"/>
                <a:ea typeface="ＭＳ Ｐゴシック" charset="-128"/>
              </a:defRPr>
            </a:lvl1pPr>
            <a:lvl2pPr marL="742950" indent="-285750">
              <a:defRPr kumimoji="1" sz="2600">
                <a:solidFill>
                  <a:schemeClr val="tx1"/>
                </a:solidFill>
                <a:latin typeface="Microsoft Sans Serif" charset="0"/>
                <a:ea typeface="ＭＳ Ｐゴシック" charset="-128"/>
              </a:defRPr>
            </a:lvl2pPr>
            <a:lvl3pPr marL="1143000" indent="-228600">
              <a:defRPr kumimoji="1" sz="2600">
                <a:solidFill>
                  <a:schemeClr val="tx1"/>
                </a:solidFill>
                <a:latin typeface="Microsoft Sans Serif" charset="0"/>
                <a:ea typeface="ＭＳ Ｐゴシック" charset="-128"/>
              </a:defRPr>
            </a:lvl3pPr>
            <a:lvl4pPr marL="1600200" indent="-228600">
              <a:defRPr kumimoji="1" sz="2600">
                <a:solidFill>
                  <a:schemeClr val="tx1"/>
                </a:solidFill>
                <a:latin typeface="Microsoft Sans Serif" charset="0"/>
                <a:ea typeface="ＭＳ Ｐゴシック" charset="-128"/>
              </a:defRPr>
            </a:lvl4pPr>
            <a:lvl5pPr marL="2057400" indent="-228600">
              <a:defRPr kumimoji="1" sz="2600">
                <a:solidFill>
                  <a:schemeClr val="tx1"/>
                </a:solidFill>
                <a:latin typeface="Microsoft Sans Serif" charset="0"/>
                <a:ea typeface="ＭＳ Ｐゴシック" charset="-128"/>
              </a:defRPr>
            </a:lvl5pPr>
            <a:lvl6pPr marL="2514600" indent="-228600" eaLnBrk="0" fontAlgn="base" hangingPunct="0">
              <a:spcBef>
                <a:spcPct val="0"/>
              </a:spcBef>
              <a:spcAft>
                <a:spcPct val="0"/>
              </a:spcAft>
              <a:defRPr kumimoji="1" sz="2600">
                <a:solidFill>
                  <a:schemeClr val="tx1"/>
                </a:solidFill>
                <a:latin typeface="Microsoft Sans Serif" charset="0"/>
                <a:ea typeface="ＭＳ Ｐゴシック" charset="-128"/>
              </a:defRPr>
            </a:lvl6pPr>
            <a:lvl7pPr marL="2971800" indent="-228600" eaLnBrk="0" fontAlgn="base" hangingPunct="0">
              <a:spcBef>
                <a:spcPct val="0"/>
              </a:spcBef>
              <a:spcAft>
                <a:spcPct val="0"/>
              </a:spcAft>
              <a:defRPr kumimoji="1" sz="2600">
                <a:solidFill>
                  <a:schemeClr val="tx1"/>
                </a:solidFill>
                <a:latin typeface="Microsoft Sans Serif" charset="0"/>
                <a:ea typeface="ＭＳ Ｐゴシック" charset="-128"/>
              </a:defRPr>
            </a:lvl7pPr>
            <a:lvl8pPr marL="3429000" indent="-228600" eaLnBrk="0" fontAlgn="base" hangingPunct="0">
              <a:spcBef>
                <a:spcPct val="0"/>
              </a:spcBef>
              <a:spcAft>
                <a:spcPct val="0"/>
              </a:spcAft>
              <a:defRPr kumimoji="1" sz="2600">
                <a:solidFill>
                  <a:schemeClr val="tx1"/>
                </a:solidFill>
                <a:latin typeface="Microsoft Sans Serif" charset="0"/>
                <a:ea typeface="ＭＳ Ｐゴシック" charset="-128"/>
              </a:defRPr>
            </a:lvl8pPr>
            <a:lvl9pPr marL="3886200" indent="-228600" eaLnBrk="0" fontAlgn="base" hangingPunct="0">
              <a:spcBef>
                <a:spcPct val="0"/>
              </a:spcBef>
              <a:spcAft>
                <a:spcPct val="0"/>
              </a:spcAft>
              <a:defRPr kumimoji="1" sz="2600">
                <a:solidFill>
                  <a:schemeClr val="tx1"/>
                </a:solidFill>
                <a:latin typeface="Microsoft Sans Serif" charset="0"/>
                <a:ea typeface="ＭＳ Ｐゴシック" charset="-128"/>
              </a:defRPr>
            </a:lvl9pPr>
          </a:lstStyle>
          <a:p>
            <a:pPr algn="r" eaLnBrk="1" hangingPunct="1">
              <a:spcBef>
                <a:spcPct val="50000"/>
              </a:spcBef>
              <a:defRPr/>
            </a:pPr>
            <a:fld id="{14B35C8A-AD62-4D4E-8001-2FA1166A8C79}" type="slidenum">
              <a:rPr lang="en-US" altLang="ja-JP" sz="1100" smtClean="0">
                <a:latin typeface="+mj-lt"/>
              </a:rPr>
              <a:pPr algn="r" eaLnBrk="1" hangingPunct="1">
                <a:spcBef>
                  <a:spcPct val="50000"/>
                </a:spcBef>
                <a:defRPr/>
              </a:pPr>
              <a:t>‹#›</a:t>
            </a:fld>
            <a:endParaRPr lang="en-US" altLang="ja-JP" sz="1100" dirty="0">
              <a:latin typeface="+mj-lt"/>
            </a:endParaRPr>
          </a:p>
        </p:txBody>
      </p:sp>
    </p:spTree>
    <p:extLst>
      <p:ext uri="{BB962C8B-B14F-4D97-AF65-F5344CB8AC3E}">
        <p14:creationId xmlns:p14="http://schemas.microsoft.com/office/powerpoint/2010/main" val="4250928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image" Target="../media/image5.emf"/><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image" Target="../media/image4.gif"/><Relationship Id="rId5" Type="http://schemas.openxmlformats.org/officeDocument/2006/relationships/theme" Target="../theme/theme3.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invGray">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119336" y="136524"/>
            <a:ext cx="8932800" cy="619200"/>
          </a:xfrm>
          <a:prstGeom prst="rect">
            <a:avLst/>
          </a:prstGeom>
        </p:spPr>
        <p:txBody>
          <a:bodyPr vert="horz" lIns="91440" tIns="45720" rIns="91440" bIns="45720" rtlCol="0" anchor="ctr">
            <a:norm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ea typeface="Meiryo UI" panose="020B0604030504040204" pitchFamily="50" charset="-128"/>
              </a:defRPr>
            </a:lvl1pPr>
          </a:lstStyle>
          <a:p>
            <a:endParaRPr lang="ja-JP" altLang="en-US" dirty="0"/>
          </a:p>
        </p:txBody>
      </p:sp>
      <p:sp>
        <p:nvSpPr>
          <p:cNvPr id="7" name="Text Box 2"/>
          <p:cNvSpPr txBox="1">
            <a:spLocks noChangeArrowheads="1"/>
          </p:cNvSpPr>
          <p:nvPr/>
        </p:nvSpPr>
        <p:spPr bwMode="auto">
          <a:xfrm>
            <a:off x="839416" y="-710583"/>
            <a:ext cx="8932333" cy="620713"/>
          </a:xfrm>
          <a:prstGeom prst="rect">
            <a:avLst/>
          </a:prstGeom>
          <a:noFill/>
          <a:ln w="9525">
            <a:noFill/>
            <a:miter lim="800000"/>
            <a:headEnd/>
            <a:tailEnd/>
          </a:ln>
        </p:spPr>
        <p:txBody>
          <a:bodyPr wrap="none" anchor="ctr"/>
          <a:lstStyle/>
          <a:p>
            <a:pPr>
              <a:defRPr/>
            </a:pPr>
            <a:endParaRPr lang="ja-JP" altLang="en-US" sz="1800" b="1" dirty="0">
              <a:latin typeface="Meiryo UI" panose="020B0604030504040204" pitchFamily="50" charset="-128"/>
              <a:ea typeface="Meiryo UI" panose="020B0604030504040204" pitchFamily="50" charset="-128"/>
            </a:endParaRPr>
          </a:p>
        </p:txBody>
      </p:sp>
      <p:sp>
        <p:nvSpPr>
          <p:cNvPr id="13" name="スライド番号プレースホルダ 5"/>
          <p:cNvSpPr txBox="1">
            <a:spLocks/>
          </p:cNvSpPr>
          <p:nvPr userDrawn="1"/>
        </p:nvSpPr>
        <p:spPr>
          <a:xfrm>
            <a:off x="0" y="6492876"/>
            <a:ext cx="12192000" cy="365125"/>
          </a:xfrm>
          <a:prstGeom prst="rect">
            <a:avLst/>
          </a:prstGeom>
        </p:spPr>
        <p:txBody>
          <a:bodyPr vert="horz" lIns="91440" tIns="45720" rIns="91440" bIns="0" rtlCol="0" anchor="b" anchorCtr="0"/>
          <a:lstStyle>
            <a:lvl1pPr algn="r">
              <a:defRPr sz="1200">
                <a:solidFill>
                  <a:schemeClr val="tx1"/>
                </a:solidFill>
                <a:latin typeface="+mn-ea"/>
                <a:ea typeface="+mn-ea"/>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B44E9BD-5A13-46C1-BD94-882DBF89E0AB}" type="slidenum">
              <a:rPr kumimoji="1" lang="ja-JP" altLang="en-US" sz="1400" b="0" i="0" u="none" strike="noStrike" kern="1200" cap="none" spc="0" normalizeH="0" baseline="0" noProof="0" smtClean="0">
                <a:ln>
                  <a:noFill/>
                </a:ln>
                <a:solidFill>
                  <a:schemeClr val="tx1"/>
                </a:solidFill>
                <a:effectLst/>
                <a:uLnTx/>
                <a:uFillTx/>
                <a:latin typeface="Meiryo UI" panose="020B0604030504040204" pitchFamily="50" charset="-128"/>
                <a:ea typeface="Meiryo UI" panose="020B0604030504040204" pitchFamily="50"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1" lang="ja-JP" altLang="en-US" sz="14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p:txBody>
      </p:sp>
      <p:pic>
        <p:nvPicPr>
          <p:cNvPr id="6" name="図 5">
            <a:extLst>
              <a:ext uri="{FF2B5EF4-FFF2-40B4-BE49-F238E27FC236}">
                <a16:creationId xmlns:a16="http://schemas.microsoft.com/office/drawing/2014/main" id="{46E34921-8AE6-47B3-9CC1-8F21ABB81482}"/>
              </a:ext>
            </a:extLst>
          </p:cNvPr>
          <p:cNvPicPr>
            <a:picLocks noChangeAspect="1"/>
          </p:cNvPicPr>
          <p:nvPr userDrawn="1"/>
        </p:nvPicPr>
        <p:blipFill>
          <a:blip r:embed="rId8"/>
          <a:stretch>
            <a:fillRect/>
          </a:stretch>
        </p:blipFill>
        <p:spPr>
          <a:xfrm>
            <a:off x="9588019" y="178204"/>
            <a:ext cx="2347163" cy="676715"/>
          </a:xfrm>
          <a:prstGeom prst="rect">
            <a:avLst/>
          </a:prstGeom>
        </p:spPr>
      </p:pic>
      <p:cxnSp>
        <p:nvCxnSpPr>
          <p:cNvPr id="10" name="直線コネクタ 9">
            <a:extLst>
              <a:ext uri="{FF2B5EF4-FFF2-40B4-BE49-F238E27FC236}">
                <a16:creationId xmlns:a16="http://schemas.microsoft.com/office/drawing/2014/main" id="{8ABA4093-367A-4A8F-87E8-7E9193B49C24}"/>
              </a:ext>
            </a:extLst>
          </p:cNvPr>
          <p:cNvCxnSpPr>
            <a:cxnSpLocks/>
          </p:cNvCxnSpPr>
          <p:nvPr userDrawn="1"/>
        </p:nvCxnSpPr>
        <p:spPr>
          <a:xfrm>
            <a:off x="119336" y="841337"/>
            <a:ext cx="11815846" cy="13582"/>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575110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80" r:id="rId6"/>
  </p:sldLayoutIdLst>
  <p:hf sldNum="0" hdr="0" ftr="0" dt="0"/>
  <p:txStyles>
    <p:titleStyle>
      <a:lvl1pPr algn="l" defTabSz="914400" rtl="0" eaLnBrk="1" latinLnBrk="0" hangingPunct="1">
        <a:spcBef>
          <a:spcPct val="0"/>
        </a:spcBef>
        <a:buNone/>
        <a:defRPr kumimoji="1" sz="2400" b="1" kern="1200">
          <a:solidFill>
            <a:schemeClr val="tx1"/>
          </a:solidFill>
          <a:latin typeface="Meiryo UI" panose="020B0604030504040204" pitchFamily="50" charset="-128"/>
          <a:ea typeface="Meiryo UI" panose="020B0604030504040204" pitchFamily="50" charset="-128"/>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eiryo UI" panose="020B0604030504040204" pitchFamily="50" charset="-128"/>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eiryo UI" panose="020B0604030504040204" pitchFamily="50" charset="-128"/>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eiryo UI" panose="020B0604030504040204" pitchFamily="50" charset="-128"/>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eiryo UI" panose="020B0604030504040204" pitchFamily="50" charset="-128"/>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eiryo UI" panose="020B060403050404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A305BD8-C429-4472-831F-203F2607E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D7E4EC9-9A22-46A5-9DB0-B94EE70932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EB29012-F33E-44F2-A169-EBCABB8F5B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4378DF-48AF-468F-A3C4-4E8149E60F78}" type="datetimeFigureOut">
              <a:rPr kumimoji="1" lang="ja-JP" altLang="en-US" smtClean="0"/>
              <a:t>2024/5/14</a:t>
            </a:fld>
            <a:endParaRPr kumimoji="1" lang="ja-JP" altLang="en-US" dirty="0"/>
          </a:p>
        </p:txBody>
      </p:sp>
      <p:sp>
        <p:nvSpPr>
          <p:cNvPr id="5" name="フッター プレースホルダー 4">
            <a:extLst>
              <a:ext uri="{FF2B5EF4-FFF2-40B4-BE49-F238E27FC236}">
                <a16:creationId xmlns:a16="http://schemas.microsoft.com/office/drawing/2014/main" id="{5808238C-3F1F-415F-9EE1-5A8BDED927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dirty="0"/>
          </a:p>
        </p:txBody>
      </p:sp>
      <p:sp>
        <p:nvSpPr>
          <p:cNvPr id="6" name="スライド番号プレースホルダー 5">
            <a:extLst>
              <a:ext uri="{FF2B5EF4-FFF2-40B4-BE49-F238E27FC236}">
                <a16:creationId xmlns:a16="http://schemas.microsoft.com/office/drawing/2014/main" id="{C483145F-D323-4F47-99D5-3D8A4C5C5F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AD1B29-9D2B-4480-A84B-A6611EF0F7B6}" type="slidenum">
              <a:rPr kumimoji="1" lang="ja-JP" altLang="en-US" smtClean="0"/>
              <a:t>‹#›</a:t>
            </a:fld>
            <a:endParaRPr kumimoji="1" lang="ja-JP" altLang="en-US" dirty="0"/>
          </a:p>
        </p:txBody>
      </p:sp>
    </p:spTree>
    <p:extLst>
      <p:ext uri="{BB962C8B-B14F-4D97-AF65-F5344CB8AC3E}">
        <p14:creationId xmlns:p14="http://schemas.microsoft.com/office/powerpoint/2010/main" val="1130025424"/>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テキスト ボックス 6"/>
          <p:cNvSpPr txBox="1">
            <a:spLocks noChangeArrowheads="1"/>
          </p:cNvSpPr>
          <p:nvPr userDrawn="1"/>
        </p:nvSpPr>
        <p:spPr bwMode="auto">
          <a:xfrm>
            <a:off x="698400" y="6562894"/>
            <a:ext cx="6728869" cy="178510"/>
          </a:xfrm>
          <a:prstGeom prst="rect">
            <a:avLst/>
          </a:prstGeom>
          <a:noFill/>
          <a:ln>
            <a:noFill/>
          </a:ln>
        </p:spPr>
        <p:txBody>
          <a:bodyPr>
            <a:spAutoFit/>
          </a:bodyPr>
          <a:lstStyle>
            <a:lvl1pPr>
              <a:defRPr kumimoji="1" sz="2600">
                <a:solidFill>
                  <a:schemeClr val="tx1"/>
                </a:solidFill>
                <a:latin typeface="Microsoft Sans Serif" charset="0"/>
                <a:ea typeface="ＭＳ Ｐゴシック" charset="-128"/>
              </a:defRPr>
            </a:lvl1pPr>
            <a:lvl2pPr marL="742950" indent="-285750">
              <a:defRPr kumimoji="1" sz="2600">
                <a:solidFill>
                  <a:schemeClr val="tx1"/>
                </a:solidFill>
                <a:latin typeface="Microsoft Sans Serif" charset="0"/>
                <a:ea typeface="ＭＳ Ｐゴシック" charset="-128"/>
              </a:defRPr>
            </a:lvl2pPr>
            <a:lvl3pPr marL="1143000" indent="-228600">
              <a:defRPr kumimoji="1" sz="2600">
                <a:solidFill>
                  <a:schemeClr val="tx1"/>
                </a:solidFill>
                <a:latin typeface="Microsoft Sans Serif" charset="0"/>
                <a:ea typeface="ＭＳ Ｐゴシック" charset="-128"/>
              </a:defRPr>
            </a:lvl3pPr>
            <a:lvl4pPr marL="1600200" indent="-228600">
              <a:defRPr kumimoji="1" sz="2600">
                <a:solidFill>
                  <a:schemeClr val="tx1"/>
                </a:solidFill>
                <a:latin typeface="Microsoft Sans Serif" charset="0"/>
                <a:ea typeface="ＭＳ Ｐゴシック" charset="-128"/>
              </a:defRPr>
            </a:lvl4pPr>
            <a:lvl5pPr marL="2057400" indent="-228600">
              <a:defRPr kumimoji="1" sz="2600">
                <a:solidFill>
                  <a:schemeClr val="tx1"/>
                </a:solidFill>
                <a:latin typeface="Microsoft Sans Serif" charset="0"/>
                <a:ea typeface="ＭＳ Ｐゴシック" charset="-128"/>
              </a:defRPr>
            </a:lvl5pPr>
            <a:lvl6pPr marL="2514600" indent="-228600" eaLnBrk="0" fontAlgn="base" hangingPunct="0">
              <a:spcBef>
                <a:spcPct val="0"/>
              </a:spcBef>
              <a:spcAft>
                <a:spcPct val="0"/>
              </a:spcAft>
              <a:defRPr kumimoji="1" sz="2600">
                <a:solidFill>
                  <a:schemeClr val="tx1"/>
                </a:solidFill>
                <a:latin typeface="Microsoft Sans Serif" charset="0"/>
                <a:ea typeface="ＭＳ Ｐゴシック" charset="-128"/>
              </a:defRPr>
            </a:lvl6pPr>
            <a:lvl7pPr marL="2971800" indent="-228600" eaLnBrk="0" fontAlgn="base" hangingPunct="0">
              <a:spcBef>
                <a:spcPct val="0"/>
              </a:spcBef>
              <a:spcAft>
                <a:spcPct val="0"/>
              </a:spcAft>
              <a:defRPr kumimoji="1" sz="2600">
                <a:solidFill>
                  <a:schemeClr val="tx1"/>
                </a:solidFill>
                <a:latin typeface="Microsoft Sans Serif" charset="0"/>
                <a:ea typeface="ＭＳ Ｐゴシック" charset="-128"/>
              </a:defRPr>
            </a:lvl7pPr>
            <a:lvl8pPr marL="3429000" indent="-228600" eaLnBrk="0" fontAlgn="base" hangingPunct="0">
              <a:spcBef>
                <a:spcPct val="0"/>
              </a:spcBef>
              <a:spcAft>
                <a:spcPct val="0"/>
              </a:spcAft>
              <a:defRPr kumimoji="1" sz="2600">
                <a:solidFill>
                  <a:schemeClr val="tx1"/>
                </a:solidFill>
                <a:latin typeface="Microsoft Sans Serif" charset="0"/>
                <a:ea typeface="ＭＳ Ｐゴシック" charset="-128"/>
              </a:defRPr>
            </a:lvl8pPr>
            <a:lvl9pPr marL="3886200" indent="-228600" eaLnBrk="0" fontAlgn="base" hangingPunct="0">
              <a:spcBef>
                <a:spcPct val="0"/>
              </a:spcBef>
              <a:spcAft>
                <a:spcPct val="0"/>
              </a:spcAft>
              <a:defRPr kumimoji="1" sz="2600">
                <a:solidFill>
                  <a:schemeClr val="tx1"/>
                </a:solidFill>
                <a:latin typeface="Microsoft Sans Serif" charset="0"/>
                <a:ea typeface="ＭＳ Ｐゴシック" charset="-128"/>
              </a:defRPr>
            </a:lvl9pPr>
          </a:lstStyle>
          <a:p>
            <a:pPr algn="l" eaLnBrk="1" hangingPunct="1">
              <a:lnSpc>
                <a:spcPct val="70000"/>
              </a:lnSpc>
              <a:defRPr/>
            </a:pPr>
            <a:r>
              <a:rPr lang="en-US" altLang="ja-JP" sz="800" dirty="0">
                <a:solidFill>
                  <a:srgbClr val="757983"/>
                </a:solidFill>
                <a:latin typeface="+mj-lt"/>
              </a:rPr>
              <a:t>© 2023 Sompo Holdings, Inc. All Rights Reserved.</a:t>
            </a:r>
            <a:endParaRPr lang="ja-JP" altLang="en-US" sz="800" dirty="0">
              <a:solidFill>
                <a:srgbClr val="757983"/>
              </a:solidFill>
              <a:latin typeface="+mj-lt"/>
            </a:endParaRPr>
          </a:p>
        </p:txBody>
      </p:sp>
      <p:sp>
        <p:nvSpPr>
          <p:cNvPr id="12" name="タイトル 1"/>
          <p:cNvSpPr txBox="1">
            <a:spLocks/>
          </p:cNvSpPr>
          <p:nvPr userDrawn="1"/>
        </p:nvSpPr>
        <p:spPr>
          <a:xfrm>
            <a:off x="698400" y="260648"/>
            <a:ext cx="8211900" cy="342612"/>
          </a:xfrm>
          <a:prstGeom prst="rect">
            <a:avLst/>
          </a:prstGeom>
        </p:spPr>
        <p:txBody>
          <a:bodyPr/>
          <a:lstStyle>
            <a:lvl1pPr algn="l" rtl="0" eaLnBrk="0" fontAlgn="base" hangingPunct="0">
              <a:spcBef>
                <a:spcPct val="0"/>
              </a:spcBef>
              <a:spcAft>
                <a:spcPct val="0"/>
              </a:spcAft>
              <a:defRPr kumimoji="1" sz="1904">
                <a:solidFill>
                  <a:schemeClr val="tx2"/>
                </a:solidFill>
                <a:latin typeface="+mj-lt"/>
                <a:ea typeface="+mj-ea"/>
                <a:cs typeface="+mj-cs"/>
              </a:defRPr>
            </a:lvl1pPr>
            <a:lvl2pPr algn="l" rtl="0" eaLnBrk="0" fontAlgn="base" hangingPunct="0">
              <a:spcBef>
                <a:spcPct val="0"/>
              </a:spcBef>
              <a:spcAft>
                <a:spcPct val="0"/>
              </a:spcAft>
              <a:defRPr kumimoji="1" sz="1904">
                <a:solidFill>
                  <a:schemeClr val="tx2"/>
                </a:solidFill>
                <a:latin typeface="ＭＳ Ｐゴシック" charset="-128"/>
                <a:ea typeface="ＭＳ Ｐゴシック" charset="-128"/>
                <a:cs typeface="ＭＳ Ｐゴシック" charset="-128"/>
              </a:defRPr>
            </a:lvl2pPr>
            <a:lvl3pPr algn="l" rtl="0" eaLnBrk="0" fontAlgn="base" hangingPunct="0">
              <a:spcBef>
                <a:spcPct val="0"/>
              </a:spcBef>
              <a:spcAft>
                <a:spcPct val="0"/>
              </a:spcAft>
              <a:defRPr kumimoji="1" sz="1904">
                <a:solidFill>
                  <a:schemeClr val="tx2"/>
                </a:solidFill>
                <a:latin typeface="ＭＳ Ｐゴシック" charset="-128"/>
                <a:ea typeface="ＭＳ Ｐゴシック" charset="-128"/>
                <a:cs typeface="ＭＳ Ｐゴシック" charset="-128"/>
              </a:defRPr>
            </a:lvl3pPr>
            <a:lvl4pPr algn="l" rtl="0" eaLnBrk="0" fontAlgn="base" hangingPunct="0">
              <a:spcBef>
                <a:spcPct val="0"/>
              </a:spcBef>
              <a:spcAft>
                <a:spcPct val="0"/>
              </a:spcAft>
              <a:defRPr kumimoji="1" sz="1904">
                <a:solidFill>
                  <a:schemeClr val="tx2"/>
                </a:solidFill>
                <a:latin typeface="ＭＳ Ｐゴシック" charset="-128"/>
                <a:ea typeface="ＭＳ Ｐゴシック" charset="-128"/>
                <a:cs typeface="ＭＳ Ｐゴシック" charset="-128"/>
              </a:defRPr>
            </a:lvl4pPr>
            <a:lvl5pPr algn="l" rtl="0" eaLnBrk="0" fontAlgn="base" hangingPunct="0">
              <a:spcBef>
                <a:spcPct val="0"/>
              </a:spcBef>
              <a:spcAft>
                <a:spcPct val="0"/>
              </a:spcAft>
              <a:defRPr kumimoji="1" sz="1904">
                <a:solidFill>
                  <a:schemeClr val="tx2"/>
                </a:solidFill>
                <a:latin typeface="ＭＳ Ｐゴシック" charset="-128"/>
                <a:ea typeface="ＭＳ Ｐゴシック" charset="-128"/>
                <a:cs typeface="ＭＳ Ｐゴシック" charset="-128"/>
              </a:defRPr>
            </a:lvl5pPr>
            <a:lvl6pPr marL="451363" algn="l" rtl="0" fontAlgn="base">
              <a:spcBef>
                <a:spcPct val="0"/>
              </a:spcBef>
              <a:spcAft>
                <a:spcPct val="0"/>
              </a:spcAft>
              <a:defRPr kumimoji="1" b="1">
                <a:solidFill>
                  <a:schemeClr val="tx2"/>
                </a:solidFill>
                <a:latin typeface="ＭＳ Ｐゴシック" charset="-128"/>
                <a:ea typeface="ＭＳ Ｐゴシック" charset="-128"/>
                <a:cs typeface="ＭＳ Ｐゴシック" charset="-128"/>
              </a:defRPr>
            </a:lvl6pPr>
            <a:lvl7pPr marL="902726" algn="l" rtl="0" fontAlgn="base">
              <a:spcBef>
                <a:spcPct val="0"/>
              </a:spcBef>
              <a:spcAft>
                <a:spcPct val="0"/>
              </a:spcAft>
              <a:defRPr kumimoji="1" b="1">
                <a:solidFill>
                  <a:schemeClr val="tx2"/>
                </a:solidFill>
                <a:latin typeface="ＭＳ Ｐゴシック" charset="-128"/>
                <a:ea typeface="ＭＳ Ｐゴシック" charset="-128"/>
                <a:cs typeface="ＭＳ Ｐゴシック" charset="-128"/>
              </a:defRPr>
            </a:lvl7pPr>
            <a:lvl8pPr marL="1354089" algn="l" rtl="0" fontAlgn="base">
              <a:spcBef>
                <a:spcPct val="0"/>
              </a:spcBef>
              <a:spcAft>
                <a:spcPct val="0"/>
              </a:spcAft>
              <a:defRPr kumimoji="1" b="1">
                <a:solidFill>
                  <a:schemeClr val="tx2"/>
                </a:solidFill>
                <a:latin typeface="ＭＳ Ｐゴシック" charset="-128"/>
                <a:ea typeface="ＭＳ Ｐゴシック" charset="-128"/>
                <a:cs typeface="ＭＳ Ｐゴシック" charset="-128"/>
              </a:defRPr>
            </a:lvl8pPr>
            <a:lvl9pPr marL="1805452" algn="l" rtl="0" fontAlgn="base">
              <a:spcBef>
                <a:spcPct val="0"/>
              </a:spcBef>
              <a:spcAft>
                <a:spcPct val="0"/>
              </a:spcAft>
              <a:defRPr kumimoji="1" b="1">
                <a:solidFill>
                  <a:schemeClr val="tx2"/>
                </a:solidFill>
                <a:latin typeface="ＭＳ Ｐゴシック" charset="-128"/>
                <a:ea typeface="ＭＳ Ｐゴシック" charset="-128"/>
                <a:cs typeface="ＭＳ Ｐゴシック" charset="-128"/>
              </a:defRPr>
            </a:lvl9pPr>
          </a:lstStyle>
          <a:p>
            <a:r>
              <a:rPr lang="ja-JP" altLang="en-US" sz="2000" b="1" kern="0" dirty="0">
                <a:solidFill>
                  <a:schemeClr val="tx1"/>
                </a:solidFill>
              </a:rPr>
              <a:t>マスタ タイトルの書式設定</a:t>
            </a:r>
          </a:p>
        </p:txBody>
      </p:sp>
      <p:sp>
        <p:nvSpPr>
          <p:cNvPr id="7" name="コンテンツ プレースホルダ 2"/>
          <p:cNvSpPr txBox="1">
            <a:spLocks/>
          </p:cNvSpPr>
          <p:nvPr userDrawn="1"/>
        </p:nvSpPr>
        <p:spPr>
          <a:xfrm>
            <a:off x="698400" y="1267200"/>
            <a:ext cx="10846800" cy="5043600"/>
          </a:xfrm>
          <a:prstGeom prst="rect">
            <a:avLst/>
          </a:prstGeom>
        </p:spPr>
        <p:txBody>
          <a:bodyPr/>
          <a:lstStyle>
            <a:lvl1pPr marL="338294" indent="-338294" algn="l" rtl="0" eaLnBrk="0" fontAlgn="base" hangingPunct="0">
              <a:spcBef>
                <a:spcPct val="20000"/>
              </a:spcBef>
              <a:spcAft>
                <a:spcPct val="0"/>
              </a:spcAft>
              <a:defRPr kumimoji="1" sz="1995">
                <a:solidFill>
                  <a:schemeClr val="tx1"/>
                </a:solidFill>
                <a:latin typeface="+mj-ea"/>
                <a:ea typeface="+mj-ea"/>
                <a:cs typeface="+mn-cs"/>
              </a:defRPr>
            </a:lvl1pPr>
            <a:lvl2pPr marL="732729" indent="-280712" algn="l" rtl="0" eaLnBrk="0" fontAlgn="base" hangingPunct="0">
              <a:spcBef>
                <a:spcPct val="20000"/>
              </a:spcBef>
              <a:spcAft>
                <a:spcPct val="0"/>
              </a:spcAft>
              <a:defRPr kumimoji="1" sz="1542">
                <a:solidFill>
                  <a:schemeClr val="tx1"/>
                </a:solidFill>
                <a:latin typeface="+mn-ea"/>
                <a:ea typeface="+mn-ea"/>
              </a:defRPr>
            </a:lvl2pPr>
            <a:lvl3pPr marL="1127164" indent="-224569" algn="l" rtl="0" eaLnBrk="0" fontAlgn="base" hangingPunct="0">
              <a:spcBef>
                <a:spcPct val="20000"/>
              </a:spcBef>
              <a:spcAft>
                <a:spcPct val="0"/>
              </a:spcAft>
              <a:defRPr kumimoji="1" sz="1542">
                <a:solidFill>
                  <a:schemeClr val="tx1"/>
                </a:solidFill>
                <a:latin typeface="+mn-ea"/>
                <a:ea typeface="+mn-ea"/>
              </a:defRPr>
            </a:lvl3pPr>
            <a:lvl4pPr marL="1579181" indent="-224569" algn="l" rtl="0" eaLnBrk="0" fontAlgn="base" hangingPunct="0">
              <a:spcBef>
                <a:spcPct val="20000"/>
              </a:spcBef>
              <a:spcAft>
                <a:spcPct val="0"/>
              </a:spcAft>
              <a:defRPr kumimoji="1" sz="1542">
                <a:solidFill>
                  <a:schemeClr val="tx1"/>
                </a:solidFill>
                <a:latin typeface="+mn-ea"/>
                <a:ea typeface="+mn-ea"/>
              </a:defRPr>
            </a:lvl4pPr>
            <a:lvl5pPr marL="2029758" indent="-224569" algn="l" rtl="0" eaLnBrk="0" fontAlgn="base" hangingPunct="0">
              <a:spcBef>
                <a:spcPct val="20000"/>
              </a:spcBef>
              <a:spcAft>
                <a:spcPct val="0"/>
              </a:spcAft>
              <a:defRPr kumimoji="1" sz="1542">
                <a:solidFill>
                  <a:schemeClr val="tx1"/>
                </a:solidFill>
                <a:latin typeface="+mn-ea"/>
                <a:ea typeface="+mn-ea"/>
              </a:defRPr>
            </a:lvl5pPr>
            <a:lvl6pPr marL="2482496" indent="-225682" algn="l" rtl="0" fontAlgn="base">
              <a:spcBef>
                <a:spcPct val="20000"/>
              </a:spcBef>
              <a:spcAft>
                <a:spcPct val="0"/>
              </a:spcAft>
              <a:defRPr kumimoji="1" sz="1270">
                <a:solidFill>
                  <a:schemeClr val="tx1"/>
                </a:solidFill>
                <a:latin typeface="+mn-lt"/>
                <a:ea typeface="+mn-ea"/>
              </a:defRPr>
            </a:lvl6pPr>
            <a:lvl7pPr marL="2933860" indent="-225682" algn="l" rtl="0" fontAlgn="base">
              <a:spcBef>
                <a:spcPct val="20000"/>
              </a:spcBef>
              <a:spcAft>
                <a:spcPct val="0"/>
              </a:spcAft>
              <a:defRPr kumimoji="1" sz="1270">
                <a:solidFill>
                  <a:schemeClr val="tx1"/>
                </a:solidFill>
                <a:latin typeface="+mn-lt"/>
                <a:ea typeface="+mn-ea"/>
              </a:defRPr>
            </a:lvl7pPr>
            <a:lvl8pPr marL="3385222" indent="-225682" algn="l" rtl="0" fontAlgn="base">
              <a:spcBef>
                <a:spcPct val="20000"/>
              </a:spcBef>
              <a:spcAft>
                <a:spcPct val="0"/>
              </a:spcAft>
              <a:defRPr kumimoji="1" sz="1270">
                <a:solidFill>
                  <a:schemeClr val="tx1"/>
                </a:solidFill>
                <a:latin typeface="+mn-lt"/>
                <a:ea typeface="+mn-ea"/>
              </a:defRPr>
            </a:lvl8pPr>
            <a:lvl9pPr marL="3836586" indent="-225682" algn="l" rtl="0" fontAlgn="base">
              <a:spcBef>
                <a:spcPct val="20000"/>
              </a:spcBef>
              <a:spcAft>
                <a:spcPct val="0"/>
              </a:spcAft>
              <a:defRPr kumimoji="1" sz="1270">
                <a:solidFill>
                  <a:schemeClr val="tx1"/>
                </a:solidFill>
                <a:latin typeface="+mn-lt"/>
                <a:ea typeface="+mn-ea"/>
              </a:defRPr>
            </a:lvl9pPr>
          </a:lstStyle>
          <a:p>
            <a:pPr marL="0" indent="0">
              <a:spcBef>
                <a:spcPts val="0"/>
              </a:spcBef>
            </a:pPr>
            <a:r>
              <a:rPr lang="ja-JP" altLang="en-US" kern="0" dirty="0"/>
              <a:t>マスタ テキストの書式設定</a:t>
            </a:r>
          </a:p>
        </p:txBody>
      </p:sp>
      <p:sp>
        <p:nvSpPr>
          <p:cNvPr id="10" name="正方形/長方形 9">
            <a:extLst>
              <a:ext uri="{FF2B5EF4-FFF2-40B4-BE49-F238E27FC236}">
                <a16:creationId xmlns:a16="http://schemas.microsoft.com/office/drawing/2014/main" id="{3A5297C1-E0F1-5C3E-5B62-16DB20BC72F4}"/>
              </a:ext>
            </a:extLst>
          </p:cNvPr>
          <p:cNvSpPr/>
          <p:nvPr userDrawn="1"/>
        </p:nvSpPr>
        <p:spPr bwMode="auto">
          <a:xfrm flipV="1">
            <a:off x="-1" y="755925"/>
            <a:ext cx="11196000" cy="72000"/>
          </a:xfrm>
          <a:prstGeom prst="rect">
            <a:avLst/>
          </a:prstGeom>
          <a:gradFill flip="none" rotWithShape="1">
            <a:gsLst>
              <a:gs pos="0">
                <a:srgbClr val="FFFFFF">
                  <a:alpha val="0"/>
                </a:srgbClr>
              </a:gs>
              <a:gs pos="0">
                <a:srgbClr val="FFFFFF">
                  <a:alpha val="0"/>
                </a:srgbClr>
              </a:gs>
              <a:gs pos="90000">
                <a:srgbClr val="CC0022"/>
              </a:gs>
            </a:gsLst>
            <a:lin ang="10800000" scaled="0"/>
            <a:tileRect/>
          </a:gradFill>
          <a:ln>
            <a:noFill/>
            <a:headEnd type="none" w="med" len="med"/>
            <a:tailEnd type="none" w="med" len="med"/>
          </a:ln>
          <a:effectLst/>
          <a:scene3d>
            <a:camera prst="orthographicFront">
              <a:rot lat="0" lon="0" rev="0"/>
            </a:camera>
            <a:lightRig rig="threePt" dir="t">
              <a:rot lat="0" lon="0" rev="1200000"/>
            </a:lightRig>
          </a:scene3d>
          <a:sp3d/>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prstClr val="black"/>
              </a:solidFill>
              <a:effectLst/>
              <a:uLnTx/>
              <a:uFillTx/>
              <a:latin typeface="Calibri"/>
              <a:ea typeface="MS UI Gothic"/>
              <a:cs typeface="+mn-cs"/>
            </a:endParaRPr>
          </a:p>
        </p:txBody>
      </p:sp>
      <p:pic>
        <p:nvPicPr>
          <p:cNvPr id="8" name="図 7"/>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11401200" y="90000"/>
            <a:ext cx="586684" cy="706829"/>
          </a:xfrm>
          <a:prstGeom prst="rect">
            <a:avLst/>
          </a:prstGeom>
        </p:spPr>
      </p:pic>
      <p:sp>
        <p:nvSpPr>
          <p:cNvPr id="13" name="Text Box 46"/>
          <p:cNvSpPr txBox="1">
            <a:spLocks noChangeArrowheads="1"/>
          </p:cNvSpPr>
          <p:nvPr userDrawn="1"/>
        </p:nvSpPr>
        <p:spPr bwMode="auto">
          <a:xfrm>
            <a:off x="11494800" y="6447599"/>
            <a:ext cx="417600" cy="212400"/>
          </a:xfrm>
          <a:prstGeom prst="rect">
            <a:avLst/>
          </a:prstGeom>
          <a:noFill/>
          <a:ln w="12700">
            <a:noFill/>
            <a:miter lim="800000"/>
            <a:headEnd/>
            <a:tailEnd/>
          </a:ln>
          <a:effectLst/>
        </p:spPr>
        <p:txBody>
          <a:bodyPr wrap="square" lIns="0" tIns="0" rIns="0" bIns="0">
            <a:spAutoFit/>
          </a:bodyPr>
          <a:lstStyle>
            <a:lvl1pPr>
              <a:defRPr kumimoji="1" sz="2600">
                <a:solidFill>
                  <a:schemeClr val="tx1"/>
                </a:solidFill>
                <a:latin typeface="Microsoft Sans Serif" charset="0"/>
                <a:ea typeface="ＭＳ Ｐゴシック" charset="-128"/>
              </a:defRPr>
            </a:lvl1pPr>
            <a:lvl2pPr marL="742950" indent="-285750">
              <a:defRPr kumimoji="1" sz="2600">
                <a:solidFill>
                  <a:schemeClr val="tx1"/>
                </a:solidFill>
                <a:latin typeface="Microsoft Sans Serif" charset="0"/>
                <a:ea typeface="ＭＳ Ｐゴシック" charset="-128"/>
              </a:defRPr>
            </a:lvl2pPr>
            <a:lvl3pPr marL="1143000" indent="-228600">
              <a:defRPr kumimoji="1" sz="2600">
                <a:solidFill>
                  <a:schemeClr val="tx1"/>
                </a:solidFill>
                <a:latin typeface="Microsoft Sans Serif" charset="0"/>
                <a:ea typeface="ＭＳ Ｐゴシック" charset="-128"/>
              </a:defRPr>
            </a:lvl3pPr>
            <a:lvl4pPr marL="1600200" indent="-228600">
              <a:defRPr kumimoji="1" sz="2600">
                <a:solidFill>
                  <a:schemeClr val="tx1"/>
                </a:solidFill>
                <a:latin typeface="Microsoft Sans Serif" charset="0"/>
                <a:ea typeface="ＭＳ Ｐゴシック" charset="-128"/>
              </a:defRPr>
            </a:lvl4pPr>
            <a:lvl5pPr marL="2057400" indent="-228600">
              <a:defRPr kumimoji="1" sz="2600">
                <a:solidFill>
                  <a:schemeClr val="tx1"/>
                </a:solidFill>
                <a:latin typeface="Microsoft Sans Serif" charset="0"/>
                <a:ea typeface="ＭＳ Ｐゴシック" charset="-128"/>
              </a:defRPr>
            </a:lvl5pPr>
            <a:lvl6pPr marL="2514600" indent="-228600" eaLnBrk="0" fontAlgn="base" hangingPunct="0">
              <a:spcBef>
                <a:spcPct val="0"/>
              </a:spcBef>
              <a:spcAft>
                <a:spcPct val="0"/>
              </a:spcAft>
              <a:defRPr kumimoji="1" sz="2600">
                <a:solidFill>
                  <a:schemeClr val="tx1"/>
                </a:solidFill>
                <a:latin typeface="Microsoft Sans Serif" charset="0"/>
                <a:ea typeface="ＭＳ Ｐゴシック" charset="-128"/>
              </a:defRPr>
            </a:lvl6pPr>
            <a:lvl7pPr marL="2971800" indent="-228600" eaLnBrk="0" fontAlgn="base" hangingPunct="0">
              <a:spcBef>
                <a:spcPct val="0"/>
              </a:spcBef>
              <a:spcAft>
                <a:spcPct val="0"/>
              </a:spcAft>
              <a:defRPr kumimoji="1" sz="2600">
                <a:solidFill>
                  <a:schemeClr val="tx1"/>
                </a:solidFill>
                <a:latin typeface="Microsoft Sans Serif" charset="0"/>
                <a:ea typeface="ＭＳ Ｐゴシック" charset="-128"/>
              </a:defRPr>
            </a:lvl7pPr>
            <a:lvl8pPr marL="3429000" indent="-228600" eaLnBrk="0" fontAlgn="base" hangingPunct="0">
              <a:spcBef>
                <a:spcPct val="0"/>
              </a:spcBef>
              <a:spcAft>
                <a:spcPct val="0"/>
              </a:spcAft>
              <a:defRPr kumimoji="1" sz="2600">
                <a:solidFill>
                  <a:schemeClr val="tx1"/>
                </a:solidFill>
                <a:latin typeface="Microsoft Sans Serif" charset="0"/>
                <a:ea typeface="ＭＳ Ｐゴシック" charset="-128"/>
              </a:defRPr>
            </a:lvl8pPr>
            <a:lvl9pPr marL="3886200" indent="-228600" eaLnBrk="0" fontAlgn="base" hangingPunct="0">
              <a:spcBef>
                <a:spcPct val="0"/>
              </a:spcBef>
              <a:spcAft>
                <a:spcPct val="0"/>
              </a:spcAft>
              <a:defRPr kumimoji="1" sz="2600">
                <a:solidFill>
                  <a:schemeClr val="tx1"/>
                </a:solidFill>
                <a:latin typeface="Microsoft Sans Serif" charset="0"/>
                <a:ea typeface="ＭＳ Ｐゴシック" charset="-128"/>
              </a:defRPr>
            </a:lvl9pPr>
          </a:lstStyle>
          <a:p>
            <a:pPr algn="r" eaLnBrk="1" hangingPunct="1">
              <a:spcBef>
                <a:spcPct val="50000"/>
              </a:spcBef>
              <a:defRPr/>
            </a:pPr>
            <a:fld id="{14B35C8A-AD62-4D4E-8001-2FA1166A8C79}" type="slidenum">
              <a:rPr lang="en-US" altLang="ja-JP" sz="1100" smtClean="0">
                <a:latin typeface="+mj-lt"/>
              </a:rPr>
              <a:pPr algn="r" eaLnBrk="1" hangingPunct="1">
                <a:spcBef>
                  <a:spcPct val="50000"/>
                </a:spcBef>
                <a:defRPr/>
              </a:pPr>
              <a:t>‹#›</a:t>
            </a:fld>
            <a:endParaRPr lang="en-US" altLang="ja-JP" sz="1100" dirty="0">
              <a:latin typeface="+mj-lt"/>
            </a:endParaRPr>
          </a:p>
        </p:txBody>
      </p:sp>
      <p:pic>
        <p:nvPicPr>
          <p:cNvPr id="3" name="図 2">
            <a:extLst>
              <a:ext uri="{FF2B5EF4-FFF2-40B4-BE49-F238E27FC236}">
                <a16:creationId xmlns:a16="http://schemas.microsoft.com/office/drawing/2014/main" id="{785992B8-B071-1CC1-6F3E-564C04438786}"/>
              </a:ext>
            </a:extLst>
          </p:cNvPr>
          <p:cNvPicPr>
            <a:picLocks noChangeAspect="1"/>
          </p:cNvPicPr>
          <p:nvPr userDrawn="1"/>
        </p:nvPicPr>
        <p:blipFill>
          <a:blip r:embed="rId7"/>
          <a:stretch>
            <a:fillRect/>
          </a:stretch>
        </p:blipFill>
        <p:spPr>
          <a:xfrm>
            <a:off x="11346587" y="113241"/>
            <a:ext cx="714025" cy="660345"/>
          </a:xfrm>
          <a:prstGeom prst="rect">
            <a:avLst/>
          </a:prstGeom>
        </p:spPr>
      </p:pic>
    </p:spTree>
    <p:extLst>
      <p:ext uri="{BB962C8B-B14F-4D97-AF65-F5344CB8AC3E}">
        <p14:creationId xmlns:p14="http://schemas.microsoft.com/office/powerpoint/2010/main" val="386882593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Lst>
  <p:txStyles>
    <p:titleStyle>
      <a:lvl1pPr algn="l" rtl="0" eaLnBrk="0" fontAlgn="base" hangingPunct="0">
        <a:spcBef>
          <a:spcPct val="0"/>
        </a:spcBef>
        <a:spcAft>
          <a:spcPct val="0"/>
        </a:spcAft>
        <a:defRPr kumimoji="1" sz="1904">
          <a:solidFill>
            <a:schemeClr val="tx2"/>
          </a:solidFill>
          <a:latin typeface="+mj-lt"/>
          <a:ea typeface="+mj-ea"/>
          <a:cs typeface="+mj-cs"/>
        </a:defRPr>
      </a:lvl1pPr>
      <a:lvl2pPr algn="l" rtl="0" eaLnBrk="0" fontAlgn="base" hangingPunct="0">
        <a:spcBef>
          <a:spcPct val="0"/>
        </a:spcBef>
        <a:spcAft>
          <a:spcPct val="0"/>
        </a:spcAft>
        <a:defRPr kumimoji="1" sz="1904">
          <a:solidFill>
            <a:schemeClr val="tx2"/>
          </a:solidFill>
          <a:latin typeface="ＭＳ Ｐゴシック" charset="-128"/>
          <a:ea typeface="ＭＳ Ｐゴシック" charset="-128"/>
          <a:cs typeface="ＭＳ Ｐゴシック" charset="-128"/>
        </a:defRPr>
      </a:lvl2pPr>
      <a:lvl3pPr algn="l" rtl="0" eaLnBrk="0" fontAlgn="base" hangingPunct="0">
        <a:spcBef>
          <a:spcPct val="0"/>
        </a:spcBef>
        <a:spcAft>
          <a:spcPct val="0"/>
        </a:spcAft>
        <a:defRPr kumimoji="1" sz="1904">
          <a:solidFill>
            <a:schemeClr val="tx2"/>
          </a:solidFill>
          <a:latin typeface="ＭＳ Ｐゴシック" charset="-128"/>
          <a:ea typeface="ＭＳ Ｐゴシック" charset="-128"/>
          <a:cs typeface="ＭＳ Ｐゴシック" charset="-128"/>
        </a:defRPr>
      </a:lvl3pPr>
      <a:lvl4pPr algn="l" rtl="0" eaLnBrk="0" fontAlgn="base" hangingPunct="0">
        <a:spcBef>
          <a:spcPct val="0"/>
        </a:spcBef>
        <a:spcAft>
          <a:spcPct val="0"/>
        </a:spcAft>
        <a:defRPr kumimoji="1" sz="1904">
          <a:solidFill>
            <a:schemeClr val="tx2"/>
          </a:solidFill>
          <a:latin typeface="ＭＳ Ｐゴシック" charset="-128"/>
          <a:ea typeface="ＭＳ Ｐゴシック" charset="-128"/>
          <a:cs typeface="ＭＳ Ｐゴシック" charset="-128"/>
        </a:defRPr>
      </a:lvl4pPr>
      <a:lvl5pPr algn="l" rtl="0" eaLnBrk="0" fontAlgn="base" hangingPunct="0">
        <a:spcBef>
          <a:spcPct val="0"/>
        </a:spcBef>
        <a:spcAft>
          <a:spcPct val="0"/>
        </a:spcAft>
        <a:defRPr kumimoji="1" sz="1904">
          <a:solidFill>
            <a:schemeClr val="tx2"/>
          </a:solidFill>
          <a:latin typeface="ＭＳ Ｐゴシック" charset="-128"/>
          <a:ea typeface="ＭＳ Ｐゴシック" charset="-128"/>
          <a:cs typeface="ＭＳ Ｐゴシック" charset="-128"/>
        </a:defRPr>
      </a:lvl5pPr>
      <a:lvl6pPr marL="451363" algn="l" rtl="0" fontAlgn="base">
        <a:spcBef>
          <a:spcPct val="0"/>
        </a:spcBef>
        <a:spcAft>
          <a:spcPct val="0"/>
        </a:spcAft>
        <a:defRPr kumimoji="1" b="1">
          <a:solidFill>
            <a:schemeClr val="tx2"/>
          </a:solidFill>
          <a:latin typeface="ＭＳ Ｐゴシック" charset="-128"/>
          <a:ea typeface="ＭＳ Ｐゴシック" charset="-128"/>
          <a:cs typeface="ＭＳ Ｐゴシック" charset="-128"/>
        </a:defRPr>
      </a:lvl6pPr>
      <a:lvl7pPr marL="902726" algn="l" rtl="0" fontAlgn="base">
        <a:spcBef>
          <a:spcPct val="0"/>
        </a:spcBef>
        <a:spcAft>
          <a:spcPct val="0"/>
        </a:spcAft>
        <a:defRPr kumimoji="1" b="1">
          <a:solidFill>
            <a:schemeClr val="tx2"/>
          </a:solidFill>
          <a:latin typeface="ＭＳ Ｐゴシック" charset="-128"/>
          <a:ea typeface="ＭＳ Ｐゴシック" charset="-128"/>
          <a:cs typeface="ＭＳ Ｐゴシック" charset="-128"/>
        </a:defRPr>
      </a:lvl7pPr>
      <a:lvl8pPr marL="1354089" algn="l" rtl="0" fontAlgn="base">
        <a:spcBef>
          <a:spcPct val="0"/>
        </a:spcBef>
        <a:spcAft>
          <a:spcPct val="0"/>
        </a:spcAft>
        <a:defRPr kumimoji="1" b="1">
          <a:solidFill>
            <a:schemeClr val="tx2"/>
          </a:solidFill>
          <a:latin typeface="ＭＳ Ｐゴシック" charset="-128"/>
          <a:ea typeface="ＭＳ Ｐゴシック" charset="-128"/>
          <a:cs typeface="ＭＳ Ｐゴシック" charset="-128"/>
        </a:defRPr>
      </a:lvl8pPr>
      <a:lvl9pPr marL="1805452" algn="l" rtl="0" fontAlgn="base">
        <a:spcBef>
          <a:spcPct val="0"/>
        </a:spcBef>
        <a:spcAft>
          <a:spcPct val="0"/>
        </a:spcAft>
        <a:defRPr kumimoji="1" b="1">
          <a:solidFill>
            <a:schemeClr val="tx2"/>
          </a:solidFill>
          <a:latin typeface="ＭＳ Ｐゴシック" charset="-128"/>
          <a:ea typeface="ＭＳ Ｐゴシック" charset="-128"/>
          <a:cs typeface="ＭＳ Ｐゴシック" charset="-128"/>
        </a:defRPr>
      </a:lvl9pPr>
    </p:titleStyle>
    <p:bodyStyle>
      <a:lvl1pPr marL="338294" indent="-338294" algn="l" rtl="0" eaLnBrk="0" fontAlgn="base" hangingPunct="0">
        <a:spcBef>
          <a:spcPct val="20000"/>
        </a:spcBef>
        <a:spcAft>
          <a:spcPct val="0"/>
        </a:spcAft>
        <a:defRPr kumimoji="1" sz="1995">
          <a:solidFill>
            <a:schemeClr val="tx1"/>
          </a:solidFill>
          <a:latin typeface="+mj-ea"/>
          <a:ea typeface="+mj-ea"/>
          <a:cs typeface="+mn-cs"/>
        </a:defRPr>
      </a:lvl1pPr>
      <a:lvl2pPr marL="732729" indent="-280712" algn="l" rtl="0" eaLnBrk="0" fontAlgn="base" hangingPunct="0">
        <a:spcBef>
          <a:spcPct val="20000"/>
        </a:spcBef>
        <a:spcAft>
          <a:spcPct val="0"/>
        </a:spcAft>
        <a:defRPr kumimoji="1" sz="1542">
          <a:solidFill>
            <a:schemeClr val="tx1"/>
          </a:solidFill>
          <a:latin typeface="+mn-ea"/>
          <a:ea typeface="+mn-ea"/>
        </a:defRPr>
      </a:lvl2pPr>
      <a:lvl3pPr marL="1127164" indent="-224569" algn="l" rtl="0" eaLnBrk="0" fontAlgn="base" hangingPunct="0">
        <a:spcBef>
          <a:spcPct val="20000"/>
        </a:spcBef>
        <a:spcAft>
          <a:spcPct val="0"/>
        </a:spcAft>
        <a:defRPr kumimoji="1" sz="1542">
          <a:solidFill>
            <a:schemeClr val="tx1"/>
          </a:solidFill>
          <a:latin typeface="+mn-ea"/>
          <a:ea typeface="+mn-ea"/>
        </a:defRPr>
      </a:lvl3pPr>
      <a:lvl4pPr marL="1579181" indent="-224569" algn="l" rtl="0" eaLnBrk="0" fontAlgn="base" hangingPunct="0">
        <a:spcBef>
          <a:spcPct val="20000"/>
        </a:spcBef>
        <a:spcAft>
          <a:spcPct val="0"/>
        </a:spcAft>
        <a:defRPr kumimoji="1" sz="1542">
          <a:solidFill>
            <a:schemeClr val="tx1"/>
          </a:solidFill>
          <a:latin typeface="+mn-ea"/>
          <a:ea typeface="+mn-ea"/>
        </a:defRPr>
      </a:lvl4pPr>
      <a:lvl5pPr marL="2029758" indent="-224569" algn="l" rtl="0" eaLnBrk="0" fontAlgn="base" hangingPunct="0">
        <a:spcBef>
          <a:spcPct val="20000"/>
        </a:spcBef>
        <a:spcAft>
          <a:spcPct val="0"/>
        </a:spcAft>
        <a:defRPr kumimoji="1" sz="1542">
          <a:solidFill>
            <a:schemeClr val="tx1"/>
          </a:solidFill>
          <a:latin typeface="+mn-ea"/>
          <a:ea typeface="+mn-ea"/>
        </a:defRPr>
      </a:lvl5pPr>
      <a:lvl6pPr marL="2482496" indent="-225682" algn="l" rtl="0" fontAlgn="base">
        <a:spcBef>
          <a:spcPct val="20000"/>
        </a:spcBef>
        <a:spcAft>
          <a:spcPct val="0"/>
        </a:spcAft>
        <a:defRPr kumimoji="1" sz="1270">
          <a:solidFill>
            <a:schemeClr val="tx1"/>
          </a:solidFill>
          <a:latin typeface="+mn-lt"/>
          <a:ea typeface="+mn-ea"/>
        </a:defRPr>
      </a:lvl6pPr>
      <a:lvl7pPr marL="2933860" indent="-225682" algn="l" rtl="0" fontAlgn="base">
        <a:spcBef>
          <a:spcPct val="20000"/>
        </a:spcBef>
        <a:spcAft>
          <a:spcPct val="0"/>
        </a:spcAft>
        <a:defRPr kumimoji="1" sz="1270">
          <a:solidFill>
            <a:schemeClr val="tx1"/>
          </a:solidFill>
          <a:latin typeface="+mn-lt"/>
          <a:ea typeface="+mn-ea"/>
        </a:defRPr>
      </a:lvl7pPr>
      <a:lvl8pPr marL="3385222" indent="-225682" algn="l" rtl="0" fontAlgn="base">
        <a:spcBef>
          <a:spcPct val="20000"/>
        </a:spcBef>
        <a:spcAft>
          <a:spcPct val="0"/>
        </a:spcAft>
        <a:defRPr kumimoji="1" sz="1270">
          <a:solidFill>
            <a:schemeClr val="tx1"/>
          </a:solidFill>
          <a:latin typeface="+mn-lt"/>
          <a:ea typeface="+mn-ea"/>
        </a:defRPr>
      </a:lvl8pPr>
      <a:lvl9pPr marL="3836586" indent="-225682" algn="l" rtl="0" fontAlgn="base">
        <a:spcBef>
          <a:spcPct val="20000"/>
        </a:spcBef>
        <a:spcAft>
          <a:spcPct val="0"/>
        </a:spcAft>
        <a:defRPr kumimoji="1" sz="1270">
          <a:solidFill>
            <a:schemeClr val="tx1"/>
          </a:solidFill>
          <a:latin typeface="+mn-lt"/>
          <a:ea typeface="+mn-ea"/>
        </a:defRPr>
      </a:lvl9pPr>
    </p:bodyStyle>
    <p:otherStyle>
      <a:defPPr>
        <a:defRPr lang="ja-JP"/>
      </a:defPPr>
      <a:lvl1pPr marL="0" algn="l" defTabSz="451363" rtl="0" eaLnBrk="1" latinLnBrk="0" hangingPunct="1">
        <a:defRPr kumimoji="1" sz="1814" kern="1200">
          <a:solidFill>
            <a:schemeClr val="tx1"/>
          </a:solidFill>
          <a:latin typeface="+mn-lt"/>
          <a:ea typeface="+mn-ea"/>
          <a:cs typeface="+mn-cs"/>
        </a:defRPr>
      </a:lvl1pPr>
      <a:lvl2pPr marL="451363" algn="l" defTabSz="451363" rtl="0" eaLnBrk="1" latinLnBrk="0" hangingPunct="1">
        <a:defRPr kumimoji="1" sz="1814" kern="1200">
          <a:solidFill>
            <a:schemeClr val="tx1"/>
          </a:solidFill>
          <a:latin typeface="+mn-lt"/>
          <a:ea typeface="+mn-ea"/>
          <a:cs typeface="+mn-cs"/>
        </a:defRPr>
      </a:lvl2pPr>
      <a:lvl3pPr marL="902726" algn="l" defTabSz="451363" rtl="0" eaLnBrk="1" latinLnBrk="0" hangingPunct="1">
        <a:defRPr kumimoji="1" sz="1814" kern="1200">
          <a:solidFill>
            <a:schemeClr val="tx1"/>
          </a:solidFill>
          <a:latin typeface="+mn-lt"/>
          <a:ea typeface="+mn-ea"/>
          <a:cs typeface="+mn-cs"/>
        </a:defRPr>
      </a:lvl3pPr>
      <a:lvl4pPr marL="1354089" algn="l" defTabSz="451363" rtl="0" eaLnBrk="1" latinLnBrk="0" hangingPunct="1">
        <a:defRPr kumimoji="1" sz="1814" kern="1200">
          <a:solidFill>
            <a:schemeClr val="tx1"/>
          </a:solidFill>
          <a:latin typeface="+mn-lt"/>
          <a:ea typeface="+mn-ea"/>
          <a:cs typeface="+mn-cs"/>
        </a:defRPr>
      </a:lvl4pPr>
      <a:lvl5pPr marL="1805452" algn="l" defTabSz="451363" rtl="0" eaLnBrk="1" latinLnBrk="0" hangingPunct="1">
        <a:defRPr kumimoji="1" sz="1814" kern="1200">
          <a:solidFill>
            <a:schemeClr val="tx1"/>
          </a:solidFill>
          <a:latin typeface="+mn-lt"/>
          <a:ea typeface="+mn-ea"/>
          <a:cs typeface="+mn-cs"/>
        </a:defRPr>
      </a:lvl5pPr>
      <a:lvl6pPr marL="2256815" algn="l" defTabSz="451363" rtl="0" eaLnBrk="1" latinLnBrk="0" hangingPunct="1">
        <a:defRPr kumimoji="1" sz="1814" kern="1200">
          <a:solidFill>
            <a:schemeClr val="tx1"/>
          </a:solidFill>
          <a:latin typeface="+mn-lt"/>
          <a:ea typeface="+mn-ea"/>
          <a:cs typeface="+mn-cs"/>
        </a:defRPr>
      </a:lvl6pPr>
      <a:lvl7pPr marL="2708178" algn="l" defTabSz="451363" rtl="0" eaLnBrk="1" latinLnBrk="0" hangingPunct="1">
        <a:defRPr kumimoji="1" sz="1814" kern="1200">
          <a:solidFill>
            <a:schemeClr val="tx1"/>
          </a:solidFill>
          <a:latin typeface="+mn-lt"/>
          <a:ea typeface="+mn-ea"/>
          <a:cs typeface="+mn-cs"/>
        </a:defRPr>
      </a:lvl7pPr>
      <a:lvl8pPr marL="3159541" algn="l" defTabSz="451363" rtl="0" eaLnBrk="1" latinLnBrk="0" hangingPunct="1">
        <a:defRPr kumimoji="1" sz="1814" kern="1200">
          <a:solidFill>
            <a:schemeClr val="tx1"/>
          </a:solidFill>
          <a:latin typeface="+mn-lt"/>
          <a:ea typeface="+mn-ea"/>
          <a:cs typeface="+mn-cs"/>
        </a:defRPr>
      </a:lvl8pPr>
      <a:lvl9pPr marL="3610904" algn="l" defTabSz="451363" rtl="0" eaLnBrk="1" latinLnBrk="0" hangingPunct="1">
        <a:defRPr kumimoji="1" sz="181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567608" y="2032000"/>
            <a:ext cx="7200000" cy="571776"/>
          </a:xfrm>
        </p:spPr>
        <p:txBody>
          <a:bodyPr/>
          <a:lstStyle/>
          <a:p>
            <a:r>
              <a:rPr lang="ja-JP" altLang="en-US" sz="3200" dirty="0">
                <a:solidFill>
                  <a:schemeClr val="tx1"/>
                </a:solidFill>
                <a:latin typeface="Meiryo UI" panose="020B0604030504040204" pitchFamily="50" charset="-128"/>
              </a:rPr>
              <a:t>ナースコールモニター</a:t>
            </a:r>
            <a:r>
              <a:rPr kumimoji="1" lang="ja-JP" altLang="en-US" dirty="0"/>
              <a:t>要件定義</a:t>
            </a:r>
          </a:p>
        </p:txBody>
      </p:sp>
      <p:sp>
        <p:nvSpPr>
          <p:cNvPr id="4" name="テキスト プレースホルダー 3"/>
          <p:cNvSpPr>
            <a:spLocks noGrp="1"/>
          </p:cNvSpPr>
          <p:nvPr>
            <p:ph type="body" sz="quarter" idx="12"/>
          </p:nvPr>
        </p:nvSpPr>
        <p:spPr/>
        <p:txBody>
          <a:bodyPr/>
          <a:lstStyle/>
          <a:p>
            <a:r>
              <a:rPr kumimoji="1" lang="en-US" altLang="ja-JP" dirty="0"/>
              <a:t>2024</a:t>
            </a:r>
            <a:r>
              <a:rPr kumimoji="1" lang="ja-JP" altLang="en-US" dirty="0"/>
              <a:t>年</a:t>
            </a:r>
            <a:r>
              <a:rPr kumimoji="1" lang="en-US" altLang="ja-JP" dirty="0"/>
              <a:t>5</a:t>
            </a:r>
            <a:r>
              <a:rPr lang="ja-JP" altLang="en-US" dirty="0"/>
              <a:t>月</a:t>
            </a:r>
            <a:r>
              <a:rPr lang="en-US" altLang="ja-JP" dirty="0"/>
              <a:t>14</a:t>
            </a:r>
            <a:r>
              <a:rPr lang="ja-JP" altLang="en-US" dirty="0"/>
              <a:t>日 </a:t>
            </a:r>
            <a:r>
              <a:rPr lang="en-US" altLang="ja-JP" dirty="0"/>
              <a:t>v.3</a:t>
            </a:r>
            <a:endParaRPr kumimoji="1" lang="ja-JP" altLang="en-US" dirty="0"/>
          </a:p>
        </p:txBody>
      </p:sp>
      <p:sp>
        <p:nvSpPr>
          <p:cNvPr id="5" name="テキスト プレースホルダー 4"/>
          <p:cNvSpPr>
            <a:spLocks noGrp="1"/>
          </p:cNvSpPr>
          <p:nvPr>
            <p:ph type="body" sz="quarter" idx="10"/>
          </p:nvPr>
        </p:nvSpPr>
        <p:spPr>
          <a:xfrm>
            <a:off x="1602171" y="5157192"/>
            <a:ext cx="9020353" cy="244800"/>
          </a:xfrm>
        </p:spPr>
        <p:txBody>
          <a:bodyPr/>
          <a:lstStyle/>
          <a:p>
            <a:r>
              <a:rPr lang="ja-JP" altLang="en-US" dirty="0"/>
              <a:t>カスタマーサクセス部</a:t>
            </a:r>
            <a:endParaRPr kumimoji="1"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4">
            <a:extLst>
              <a:ext uri="{FF2B5EF4-FFF2-40B4-BE49-F238E27FC236}">
                <a16:creationId xmlns:a16="http://schemas.microsoft.com/office/drawing/2014/main" id="{976916F5-C991-B0E7-2274-737FBEABA793}"/>
              </a:ext>
            </a:extLst>
          </p:cNvPr>
          <p:cNvGraphicFramePr>
            <a:graphicFrameLocks noGrp="1"/>
          </p:cNvGraphicFramePr>
          <p:nvPr>
            <p:extLst>
              <p:ext uri="{D42A27DB-BD31-4B8C-83A1-F6EECF244321}">
                <p14:modId xmlns:p14="http://schemas.microsoft.com/office/powerpoint/2010/main" val="571937354"/>
              </p:ext>
            </p:extLst>
          </p:nvPr>
        </p:nvGraphicFramePr>
        <p:xfrm>
          <a:off x="563325" y="1227942"/>
          <a:ext cx="11042520" cy="4754880"/>
        </p:xfrm>
        <a:graphic>
          <a:graphicData uri="http://schemas.openxmlformats.org/drawingml/2006/table">
            <a:tbl>
              <a:tblPr firstRow="1" bandRow="1">
                <a:tableStyleId>{E8B1032C-EA38-4F05-BA0D-38AFFFC7BED3}</a:tableStyleId>
              </a:tblPr>
              <a:tblGrid>
                <a:gridCol w="1294050">
                  <a:extLst>
                    <a:ext uri="{9D8B030D-6E8A-4147-A177-3AD203B41FA5}">
                      <a16:colId xmlns:a16="http://schemas.microsoft.com/office/drawing/2014/main" val="1553418270"/>
                    </a:ext>
                  </a:extLst>
                </a:gridCol>
                <a:gridCol w="1118436">
                  <a:extLst>
                    <a:ext uri="{9D8B030D-6E8A-4147-A177-3AD203B41FA5}">
                      <a16:colId xmlns:a16="http://schemas.microsoft.com/office/drawing/2014/main" val="1116111579"/>
                    </a:ext>
                  </a:extLst>
                </a:gridCol>
                <a:gridCol w="1043739">
                  <a:extLst>
                    <a:ext uri="{9D8B030D-6E8A-4147-A177-3AD203B41FA5}">
                      <a16:colId xmlns:a16="http://schemas.microsoft.com/office/drawing/2014/main" val="1912801139"/>
                    </a:ext>
                  </a:extLst>
                </a:gridCol>
                <a:gridCol w="5534025">
                  <a:extLst>
                    <a:ext uri="{9D8B030D-6E8A-4147-A177-3AD203B41FA5}">
                      <a16:colId xmlns:a16="http://schemas.microsoft.com/office/drawing/2014/main" val="1942798781"/>
                    </a:ext>
                  </a:extLst>
                </a:gridCol>
                <a:gridCol w="2052270">
                  <a:extLst>
                    <a:ext uri="{9D8B030D-6E8A-4147-A177-3AD203B41FA5}">
                      <a16:colId xmlns:a16="http://schemas.microsoft.com/office/drawing/2014/main" val="1571902242"/>
                    </a:ext>
                  </a:extLst>
                </a:gridCol>
              </a:tblGrid>
              <a:tr h="0">
                <a:tc>
                  <a:txBody>
                    <a:bodyPr/>
                    <a:lstStyle/>
                    <a:p>
                      <a:r>
                        <a:rPr kumimoji="1" lang="ja-JP" altLang="en-US" sz="1200" dirty="0">
                          <a:latin typeface="Meiryo UI" panose="020B0604030504040204" pitchFamily="50" charset="-128"/>
                          <a:ea typeface="Meiryo UI" panose="020B0604030504040204" pitchFamily="50" charset="-128"/>
                        </a:rPr>
                        <a:t>日付</a:t>
                      </a:r>
                    </a:p>
                  </a:txBody>
                  <a:tcPr/>
                </a:tc>
                <a:tc>
                  <a:txBody>
                    <a:bodyPr/>
                    <a:lstStyle/>
                    <a:p>
                      <a:r>
                        <a:rPr kumimoji="1" lang="ja-JP" altLang="en-US" sz="1200" dirty="0">
                          <a:latin typeface="Meiryo UI" panose="020B0604030504040204" pitchFamily="50" charset="-128"/>
                          <a:ea typeface="Meiryo UI" panose="020B0604030504040204" pitchFamily="50" charset="-128"/>
                        </a:rPr>
                        <a:t>バージョン</a:t>
                      </a:r>
                      <a:r>
                        <a:rPr kumimoji="1" lang="en-US" altLang="ja-JP" sz="1200" dirty="0">
                          <a:latin typeface="Meiryo UI" panose="020B0604030504040204" pitchFamily="50" charset="-128"/>
                          <a:ea typeface="Meiryo UI" panose="020B0604030504040204" pitchFamily="50" charset="-128"/>
                        </a:rPr>
                        <a:t>No.</a:t>
                      </a:r>
                    </a:p>
                  </a:txBody>
                  <a:tcPr/>
                </a:tc>
                <a:tc>
                  <a:txBody>
                    <a:bodyPr/>
                    <a:lstStyle/>
                    <a:p>
                      <a:r>
                        <a:rPr kumimoji="1" lang="ja-JP" altLang="en-US" sz="1200" dirty="0">
                          <a:latin typeface="Meiryo UI" panose="020B0604030504040204" pitchFamily="50" charset="-128"/>
                          <a:ea typeface="Meiryo UI" panose="020B0604030504040204" pitchFamily="50" charset="-128"/>
                        </a:rPr>
                        <a:t>更新ページ</a:t>
                      </a:r>
                    </a:p>
                  </a:txBody>
                  <a:tcPr/>
                </a:tc>
                <a:tc>
                  <a:txBody>
                    <a:bodyPr/>
                    <a:lstStyle/>
                    <a:p>
                      <a:r>
                        <a:rPr kumimoji="1" lang="ja-JP" altLang="en-US" sz="1200" dirty="0">
                          <a:latin typeface="Meiryo UI" panose="020B0604030504040204" pitchFamily="50" charset="-128"/>
                          <a:ea typeface="Meiryo UI" panose="020B0604030504040204" pitchFamily="50" charset="-128"/>
                        </a:rPr>
                        <a:t>更新内容</a:t>
                      </a:r>
                    </a:p>
                  </a:txBody>
                  <a:tcPr/>
                </a:tc>
                <a:tc>
                  <a:txBody>
                    <a:bodyPr/>
                    <a:lstStyle/>
                    <a:p>
                      <a:r>
                        <a:rPr kumimoji="1" lang="ja-JP" altLang="en-US" sz="1200" dirty="0">
                          <a:latin typeface="Meiryo UI" panose="020B0604030504040204" pitchFamily="50" charset="-128"/>
                          <a:ea typeface="Meiryo UI" panose="020B0604030504040204" pitchFamily="50" charset="-128"/>
                        </a:rPr>
                        <a:t>更新者</a:t>
                      </a:r>
                    </a:p>
                  </a:txBody>
                  <a:tcPr/>
                </a:tc>
                <a:extLst>
                  <a:ext uri="{0D108BD9-81ED-4DB2-BD59-A6C34878D82A}">
                    <a16:rowId xmlns:a16="http://schemas.microsoft.com/office/drawing/2014/main" val="2053346786"/>
                  </a:ext>
                </a:extLst>
              </a:tr>
              <a:tr h="0">
                <a:tc>
                  <a:txBody>
                    <a:bodyPr/>
                    <a:lstStyle/>
                    <a:p>
                      <a:r>
                        <a:rPr kumimoji="1" lang="en-US" altLang="ja-JP" sz="1200" dirty="0">
                          <a:latin typeface="Meiryo UI" panose="020B0604030504040204" pitchFamily="50" charset="-128"/>
                          <a:ea typeface="Meiryo UI" panose="020B0604030504040204" pitchFamily="50" charset="-128"/>
                        </a:rPr>
                        <a:t>2024</a:t>
                      </a:r>
                      <a:r>
                        <a:rPr kumimoji="1" lang="ja-JP" altLang="en-US" sz="1200" dirty="0">
                          <a:latin typeface="Meiryo UI" panose="020B0604030504040204" pitchFamily="50" charset="-128"/>
                          <a:ea typeface="Meiryo UI" panose="020B0604030504040204" pitchFamily="50" charset="-128"/>
                        </a:rPr>
                        <a:t>年</a:t>
                      </a:r>
                      <a:r>
                        <a:rPr kumimoji="1" lang="en-US" altLang="ja-JP" sz="1200" dirty="0">
                          <a:latin typeface="Meiryo UI" panose="020B0604030504040204" pitchFamily="50" charset="-128"/>
                          <a:ea typeface="Meiryo UI" panose="020B0604030504040204" pitchFamily="50" charset="-128"/>
                        </a:rPr>
                        <a:t>2</a:t>
                      </a:r>
                      <a:r>
                        <a:rPr kumimoji="1" lang="ja-JP" altLang="en-US" sz="1200" dirty="0">
                          <a:latin typeface="Meiryo UI" panose="020B0604030504040204" pitchFamily="50" charset="-128"/>
                          <a:ea typeface="Meiryo UI" panose="020B0604030504040204" pitchFamily="50" charset="-128"/>
                        </a:rPr>
                        <a:t>月</a:t>
                      </a:r>
                      <a:r>
                        <a:rPr kumimoji="1" lang="en-US" altLang="ja-JP" sz="1200" dirty="0">
                          <a:latin typeface="Meiryo UI" panose="020B0604030504040204" pitchFamily="50" charset="-128"/>
                          <a:ea typeface="Meiryo UI" panose="020B0604030504040204" pitchFamily="50" charset="-128"/>
                        </a:rPr>
                        <a:t>8</a:t>
                      </a:r>
                      <a:r>
                        <a:rPr kumimoji="1" lang="ja-JP" altLang="en-US" sz="1200" dirty="0">
                          <a:latin typeface="Meiryo UI" panose="020B0604030504040204" pitchFamily="50" charset="-128"/>
                          <a:ea typeface="Meiryo UI" panose="020B0604030504040204" pitchFamily="50" charset="-128"/>
                        </a:rPr>
                        <a:t>日</a:t>
                      </a:r>
                    </a:p>
                  </a:txBody>
                  <a:tcPr/>
                </a:tc>
                <a:tc>
                  <a:txBody>
                    <a:bodyPr/>
                    <a:lstStyle/>
                    <a:p>
                      <a:r>
                        <a:rPr kumimoji="1" lang="en-US" altLang="ja-JP" sz="1200" dirty="0">
                          <a:latin typeface="Meiryo UI" panose="020B0604030504040204" pitchFamily="50" charset="-128"/>
                          <a:ea typeface="Meiryo UI" panose="020B0604030504040204" pitchFamily="50" charset="-128"/>
                        </a:rPr>
                        <a:t>v.1</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ja-JP" altLang="en-US" sz="1200" dirty="0">
                          <a:latin typeface="Meiryo UI" panose="020B0604030504040204" pitchFamily="50" charset="-128"/>
                          <a:ea typeface="Meiryo UI" panose="020B0604030504040204" pitchFamily="50" charset="-128"/>
                        </a:rPr>
                        <a:t>初版</a:t>
                      </a:r>
                    </a:p>
                  </a:txBody>
                  <a:tcPr/>
                </a:tc>
                <a:tc>
                  <a:txBody>
                    <a:bodyPr/>
                    <a:lstStyle/>
                    <a:p>
                      <a:r>
                        <a:rPr kumimoji="1" lang="ja-JP" altLang="en-US" sz="1200" dirty="0">
                          <a:latin typeface="Meiryo UI" panose="020B0604030504040204" pitchFamily="50" charset="-128"/>
                          <a:ea typeface="Meiryo UI" panose="020B0604030504040204" pitchFamily="50" charset="-128"/>
                        </a:rPr>
                        <a:t>初版</a:t>
                      </a:r>
                    </a:p>
                  </a:txBody>
                  <a:tcPr/>
                </a:tc>
                <a:tc>
                  <a:txBody>
                    <a:bodyPr/>
                    <a:lstStyle/>
                    <a:p>
                      <a:r>
                        <a:rPr kumimoji="1" lang="ja-JP" altLang="en-US" sz="1200" dirty="0">
                          <a:latin typeface="Meiryo UI" panose="020B0604030504040204" pitchFamily="50" charset="-128"/>
                          <a:ea typeface="Meiryo UI" panose="020B0604030504040204" pitchFamily="50" charset="-128"/>
                        </a:rPr>
                        <a:t>カスタマーサクセス部　井上</a:t>
                      </a:r>
                    </a:p>
                  </a:txBody>
                  <a:tcPr/>
                </a:tc>
                <a:extLst>
                  <a:ext uri="{0D108BD9-81ED-4DB2-BD59-A6C34878D82A}">
                    <a16:rowId xmlns:a16="http://schemas.microsoft.com/office/drawing/2014/main" val="3162113902"/>
                  </a:ext>
                </a:extLst>
              </a:tr>
              <a:tr h="164445">
                <a:tc>
                  <a:txBody>
                    <a:bodyPr/>
                    <a:lstStyle/>
                    <a:p>
                      <a:r>
                        <a:rPr kumimoji="1" lang="en-US" altLang="ja-JP" sz="1200" dirty="0">
                          <a:latin typeface="Meiryo UI" panose="020B0604030504040204" pitchFamily="50" charset="-128"/>
                          <a:ea typeface="Meiryo UI" panose="020B0604030504040204" pitchFamily="50" charset="-128"/>
                        </a:rPr>
                        <a:t>2024</a:t>
                      </a:r>
                      <a:r>
                        <a:rPr kumimoji="1" lang="ja-JP" altLang="en-US" sz="1200" dirty="0">
                          <a:latin typeface="Meiryo UI" panose="020B0604030504040204" pitchFamily="50" charset="-128"/>
                          <a:ea typeface="Meiryo UI" panose="020B0604030504040204" pitchFamily="50" charset="-128"/>
                        </a:rPr>
                        <a:t>年</a:t>
                      </a:r>
                      <a:r>
                        <a:rPr kumimoji="1" lang="en-US" altLang="ja-JP" sz="1200" dirty="0">
                          <a:latin typeface="Meiryo UI" panose="020B0604030504040204" pitchFamily="50" charset="-128"/>
                          <a:ea typeface="Meiryo UI" panose="020B0604030504040204" pitchFamily="50" charset="-128"/>
                        </a:rPr>
                        <a:t>3</a:t>
                      </a:r>
                      <a:r>
                        <a:rPr kumimoji="1" lang="ja-JP" altLang="en-US" sz="1200" dirty="0">
                          <a:latin typeface="Meiryo UI" panose="020B0604030504040204" pitchFamily="50" charset="-128"/>
                          <a:ea typeface="Meiryo UI" panose="020B0604030504040204" pitchFamily="50" charset="-128"/>
                        </a:rPr>
                        <a:t>月</a:t>
                      </a:r>
                      <a:r>
                        <a:rPr kumimoji="1" lang="en-US" altLang="ja-JP" sz="1200" dirty="0">
                          <a:latin typeface="Meiryo UI" panose="020B0604030504040204" pitchFamily="50" charset="-128"/>
                          <a:ea typeface="Meiryo UI" panose="020B0604030504040204" pitchFamily="50" charset="-128"/>
                        </a:rPr>
                        <a:t>8</a:t>
                      </a:r>
                      <a:r>
                        <a:rPr kumimoji="1" lang="ja-JP" altLang="en-US" sz="1200" dirty="0">
                          <a:latin typeface="Meiryo UI" panose="020B0604030504040204" pitchFamily="50" charset="-128"/>
                          <a:ea typeface="Meiryo UI" panose="020B0604030504040204" pitchFamily="50" charset="-128"/>
                        </a:rPr>
                        <a:t>日</a:t>
                      </a:r>
                    </a:p>
                  </a:txBody>
                  <a:tcPr/>
                </a:tc>
                <a:tc>
                  <a:txBody>
                    <a:bodyPr/>
                    <a:lstStyle/>
                    <a:p>
                      <a:r>
                        <a:rPr kumimoji="1" lang="en-US" altLang="ja-JP" sz="1200" dirty="0">
                          <a:latin typeface="Meiryo UI" panose="020B0604030504040204" pitchFamily="50" charset="-128"/>
                          <a:ea typeface="Meiryo UI" panose="020B0604030504040204" pitchFamily="50" charset="-128"/>
                        </a:rPr>
                        <a:t>v.2</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en-US" altLang="ja-JP" sz="1200" dirty="0">
                          <a:latin typeface="Meiryo UI" panose="020B0604030504040204" pitchFamily="50" charset="-128"/>
                          <a:ea typeface="Meiryo UI" panose="020B0604030504040204" pitchFamily="50" charset="-128"/>
                        </a:rPr>
                        <a:t>p.4</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en-US" altLang="ja-JP" sz="1200" dirty="0">
                          <a:latin typeface="Meiryo UI" panose="020B0604030504040204" pitchFamily="50" charset="-128"/>
                          <a:ea typeface="Meiryo UI" panose="020B0604030504040204" pitchFamily="50" charset="-128"/>
                        </a:rPr>
                        <a:t>Ⅰ-3</a:t>
                      </a:r>
                      <a:r>
                        <a:rPr kumimoji="1" lang="ja-JP" altLang="en-US" sz="1200" dirty="0">
                          <a:latin typeface="Meiryo UI" panose="020B0604030504040204" pitchFamily="50" charset="-128"/>
                          <a:ea typeface="Meiryo UI" panose="020B0604030504040204" pitchFamily="50" charset="-128"/>
                        </a:rPr>
                        <a:t>を下記の通り表記変更</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旧：～利用マニュアル～</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改：～運用マニュアル～</a:t>
                      </a:r>
                    </a:p>
                  </a:txBody>
                  <a:tcPr/>
                </a:tc>
                <a:tc>
                  <a:txBody>
                    <a:bodyPr/>
                    <a:lstStyle/>
                    <a:p>
                      <a:r>
                        <a:rPr kumimoji="1" lang="ja-JP" altLang="en-US" sz="1200" dirty="0">
                          <a:latin typeface="Meiryo UI" panose="020B0604030504040204" pitchFamily="50" charset="-128"/>
                          <a:ea typeface="Meiryo UI" panose="020B0604030504040204" pitchFamily="50" charset="-128"/>
                        </a:rPr>
                        <a:t>カスタマーサクセス部　井上</a:t>
                      </a:r>
                    </a:p>
                  </a:txBody>
                  <a:tcPr/>
                </a:tc>
                <a:extLst>
                  <a:ext uri="{0D108BD9-81ED-4DB2-BD59-A6C34878D82A}">
                    <a16:rowId xmlns:a16="http://schemas.microsoft.com/office/drawing/2014/main" val="190275135"/>
                  </a:ext>
                </a:extLst>
              </a:tr>
              <a:tr h="164445">
                <a:tc>
                  <a:txBody>
                    <a:bodyPr/>
                    <a:lstStyle/>
                    <a:p>
                      <a:r>
                        <a:rPr kumimoji="1" lang="ja-JP" altLang="en-US" sz="1200" dirty="0">
                          <a:latin typeface="Meiryo UI" panose="020B0604030504040204" pitchFamily="50" charset="-128"/>
                          <a:ea typeface="Meiryo UI" panose="020B0604030504040204" pitchFamily="50" charset="-128"/>
                        </a:rPr>
                        <a:t>同上</a:t>
                      </a:r>
                    </a:p>
                  </a:txBody>
                  <a:tcPr/>
                </a:tc>
                <a:tc>
                  <a:txBody>
                    <a:bodyPr/>
                    <a:lstStyle/>
                    <a:p>
                      <a:r>
                        <a:rPr kumimoji="1" lang="ja-JP" altLang="en-US" sz="1200" dirty="0">
                          <a:latin typeface="Meiryo UI" panose="020B0604030504040204" pitchFamily="50" charset="-128"/>
                          <a:ea typeface="Meiryo UI" panose="020B0604030504040204" pitchFamily="50" charset="-128"/>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p.4</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en-US" altLang="ja-JP" sz="1200" dirty="0">
                          <a:latin typeface="Meiryo UI" panose="020B0604030504040204" pitchFamily="50" charset="-128"/>
                          <a:ea typeface="Meiryo UI" panose="020B0604030504040204" pitchFamily="50" charset="-128"/>
                        </a:rPr>
                        <a:t>Ⅱ-1</a:t>
                      </a:r>
                      <a:r>
                        <a:rPr kumimoji="1" lang="ja-JP" altLang="en-US" sz="1200" dirty="0">
                          <a:latin typeface="Meiryo UI" panose="020B0604030504040204" pitchFamily="50" charset="-128"/>
                          <a:ea typeface="Meiryo UI" panose="020B0604030504040204" pitchFamily="50" charset="-128"/>
                        </a:rPr>
                        <a:t>を下記の通り表記変更</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旧：～販売を計画しない。</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改：～販売を現時点では計画しない</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3420500459"/>
                  </a:ext>
                </a:extLst>
              </a:tr>
              <a:tr h="0">
                <a:tc>
                  <a:txBody>
                    <a:bodyPr/>
                    <a:lstStyle/>
                    <a:p>
                      <a:r>
                        <a:rPr kumimoji="1" lang="ja-JP" altLang="en-US" sz="1200" dirty="0">
                          <a:latin typeface="Meiryo UI" panose="020B0604030504040204" pitchFamily="50" charset="-128"/>
                          <a:ea typeface="Meiryo UI" panose="020B0604030504040204" pitchFamily="50" charset="-128"/>
                        </a:rPr>
                        <a:t>同上</a:t>
                      </a:r>
                    </a:p>
                  </a:txBody>
                  <a:tcPr/>
                </a:tc>
                <a:tc>
                  <a:txBody>
                    <a:bodyPr/>
                    <a:lstStyle/>
                    <a:p>
                      <a:r>
                        <a:rPr kumimoji="1" lang="ja-JP" altLang="en-US" sz="1200" dirty="0">
                          <a:latin typeface="Meiryo UI" panose="020B0604030504040204" pitchFamily="50" charset="-128"/>
                          <a:ea typeface="Meiryo UI" panose="020B0604030504040204" pitchFamily="50" charset="-128"/>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p.10-13</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ja-JP" altLang="en-US" sz="1200" dirty="0">
                          <a:latin typeface="Meiryo UI" panose="020B0604030504040204" pitchFamily="50" charset="-128"/>
                          <a:ea typeface="Meiryo UI" panose="020B0604030504040204" pitchFamily="50" charset="-128"/>
                        </a:rPr>
                        <a:t>新たに作成、ページ挿入</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2178711899"/>
                  </a:ext>
                </a:extLst>
              </a:tr>
              <a:tr h="164445">
                <a:tc>
                  <a:txBody>
                    <a:bodyPr/>
                    <a:lstStyle/>
                    <a:p>
                      <a:r>
                        <a:rPr kumimoji="1" lang="ja-JP" altLang="en-US" sz="1200" dirty="0">
                          <a:latin typeface="Meiryo UI" panose="020B0604030504040204" pitchFamily="50" charset="-128"/>
                          <a:ea typeface="Meiryo UI" panose="020B0604030504040204" pitchFamily="50" charset="-128"/>
                        </a:rPr>
                        <a:t>同上</a:t>
                      </a:r>
                    </a:p>
                  </a:txBody>
                  <a:tcPr/>
                </a:tc>
                <a:tc>
                  <a:txBody>
                    <a:bodyPr/>
                    <a:lstStyle/>
                    <a:p>
                      <a:r>
                        <a:rPr kumimoji="1" lang="ja-JP" altLang="en-US" sz="1200" dirty="0">
                          <a:latin typeface="Meiryo UI" panose="020B0604030504040204" pitchFamily="50" charset="-128"/>
                          <a:ea typeface="Meiryo UI" panose="020B0604030504040204" pitchFamily="50" charset="-128"/>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p.7</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ja-JP" altLang="en-US" sz="1200" dirty="0">
                          <a:latin typeface="Meiryo UI" panose="020B0604030504040204" pitchFamily="50" charset="-128"/>
                          <a:ea typeface="Meiryo UI" panose="020B0604030504040204" pitchFamily="50" charset="-128"/>
                        </a:rPr>
                        <a:t>ページタイトル、</a:t>
                      </a:r>
                      <a:r>
                        <a:rPr kumimoji="1" lang="en-US" altLang="ja-JP" sz="1200" dirty="0">
                          <a:latin typeface="Meiryo UI" panose="020B0604030504040204" pitchFamily="50" charset="-128"/>
                          <a:ea typeface="Meiryo UI" panose="020B0604030504040204" pitchFamily="50" charset="-128"/>
                        </a:rPr>
                        <a:t>Ⅱ</a:t>
                      </a:r>
                      <a:r>
                        <a:rPr kumimoji="1" lang="ja-JP" altLang="en-US" sz="1200" dirty="0">
                          <a:latin typeface="Meiryo UI" panose="020B0604030504040204" pitchFamily="50" charset="-128"/>
                          <a:ea typeface="Meiryo UI" panose="020B0604030504040204" pitchFamily="50" charset="-128"/>
                        </a:rPr>
                        <a:t>を下記の通り表記変更</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旧：期待すること</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改：ユーザー要求</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016615086"/>
                  </a:ext>
                </a:extLst>
              </a:tr>
              <a:tr h="0">
                <a:tc>
                  <a:txBody>
                    <a:bodyPr/>
                    <a:lstStyle/>
                    <a:p>
                      <a:r>
                        <a:rPr kumimoji="1" lang="ja-JP" altLang="en-US" sz="1200" dirty="0">
                          <a:latin typeface="Meiryo UI" panose="020B0604030504040204" pitchFamily="50" charset="-128"/>
                          <a:ea typeface="Meiryo UI" panose="020B0604030504040204" pitchFamily="50" charset="-128"/>
                        </a:rPr>
                        <a:t>同上</a:t>
                      </a:r>
                    </a:p>
                  </a:txBody>
                  <a:tcPr/>
                </a:tc>
                <a:tc>
                  <a:txBody>
                    <a:bodyPr/>
                    <a:lstStyle/>
                    <a:p>
                      <a:r>
                        <a:rPr kumimoji="1" lang="ja-JP" altLang="en-US" sz="1200" dirty="0">
                          <a:latin typeface="Meiryo UI" panose="020B0604030504040204" pitchFamily="50" charset="-128"/>
                          <a:ea typeface="Meiryo UI" panose="020B0604030504040204" pitchFamily="50" charset="-128"/>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p.14-20</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ja-JP" altLang="en-US" sz="1200" dirty="0">
                          <a:latin typeface="Meiryo UI" panose="020B0604030504040204" pitchFamily="50" charset="-128"/>
                          <a:ea typeface="Meiryo UI" panose="020B0604030504040204" pitchFamily="50" charset="-128"/>
                        </a:rPr>
                        <a:t>ページ右上に「</a:t>
                      </a:r>
                      <a:r>
                        <a:rPr kumimoji="1" lang="en-US" altLang="ja-JP" sz="1200" dirty="0">
                          <a:latin typeface="Meiryo UI" panose="020B0604030504040204" pitchFamily="50" charset="-128"/>
                          <a:ea typeface="Meiryo UI" panose="020B0604030504040204" pitchFamily="50" charset="-128"/>
                        </a:rPr>
                        <a:t>after 2024</a:t>
                      </a:r>
                      <a:r>
                        <a:rPr kumimoji="1" lang="ja-JP" altLang="en-US" sz="1200" dirty="0">
                          <a:latin typeface="Meiryo UI" panose="020B0604030504040204" pitchFamily="50" charset="-128"/>
                          <a:ea typeface="Meiryo UI" panose="020B0604030504040204" pitchFamily="50" charset="-128"/>
                        </a:rPr>
                        <a:t>年</a:t>
                      </a:r>
                      <a:r>
                        <a:rPr kumimoji="1" lang="en-US" altLang="ja-JP" sz="1200" dirty="0">
                          <a:latin typeface="Meiryo UI" panose="020B0604030504040204" pitchFamily="50" charset="-128"/>
                          <a:ea typeface="Meiryo UI" panose="020B0604030504040204" pitchFamily="50" charset="-128"/>
                        </a:rPr>
                        <a:t>2</a:t>
                      </a:r>
                      <a:r>
                        <a:rPr kumimoji="1" lang="ja-JP" altLang="en-US" sz="1200" dirty="0">
                          <a:latin typeface="Meiryo UI" panose="020B0604030504040204" pitchFamily="50" charset="-128"/>
                          <a:ea typeface="Meiryo UI" panose="020B0604030504040204" pitchFamily="50" charset="-128"/>
                        </a:rPr>
                        <a:t>月 要件定義」を追記</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1131129919"/>
                  </a:ext>
                </a:extLst>
              </a:tr>
              <a:tr h="1644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同上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同上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r>
                        <a:rPr kumimoji="1" lang="en-US" altLang="ja-JP" sz="1200" dirty="0">
                          <a:latin typeface="Meiryo UI" panose="020B0604030504040204" pitchFamily="50" charset="-128"/>
                          <a:ea typeface="Meiryo UI" panose="020B0604030504040204" pitchFamily="50" charset="-128"/>
                        </a:rPr>
                        <a:t>p.18-19</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r>
                        <a:rPr kumimoji="1" lang="ja-JP" altLang="en-US" sz="1200" dirty="0">
                          <a:latin typeface="Meiryo UI" panose="020B0604030504040204" pitchFamily="50" charset="-128"/>
                          <a:ea typeface="Meiryo UI" panose="020B0604030504040204" pitchFamily="50" charset="-128"/>
                        </a:rPr>
                        <a:t>下記の通り表記変更</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旧：～黄色</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ごとで色付けし表示</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改：～黄色</a:t>
                      </a:r>
                      <a:r>
                        <a:rPr kumimoji="1"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、レベル</a:t>
                      </a:r>
                      <a:r>
                        <a:rPr lang="en-US" altLang="ja-JP" sz="1200" dirty="0">
                          <a:latin typeface="Meiryo UI" panose="020B0604030504040204" pitchFamily="50" charset="-128"/>
                          <a:ea typeface="Meiryo UI" panose="020B0604030504040204" pitchFamily="50" charset="-128"/>
                        </a:rPr>
                        <a:t>0(45</a:t>
                      </a:r>
                      <a:r>
                        <a:rPr lang="ja-JP" altLang="en-US" sz="1200" dirty="0">
                          <a:latin typeface="Meiryo UI" panose="020B0604030504040204" pitchFamily="50" charset="-128"/>
                          <a:ea typeface="Meiryo UI" panose="020B0604030504040204" pitchFamily="50" charset="-128"/>
                        </a:rPr>
                        <a:t>回未満、灰色</a:t>
                      </a:r>
                      <a:r>
                        <a:rPr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ごとに文字を色付けし表示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extLst>
                  <a:ext uri="{0D108BD9-81ED-4DB2-BD59-A6C34878D82A}">
                    <a16:rowId xmlns:a16="http://schemas.microsoft.com/office/drawing/2014/main" val="408758505"/>
                  </a:ext>
                </a:extLst>
              </a:tr>
              <a:tr h="2108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同上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同上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Meiryo UI" panose="020B0604030504040204" pitchFamily="50" charset="-128"/>
                          <a:ea typeface="Meiryo UI" panose="020B0604030504040204" pitchFamily="50" charset="-128"/>
                        </a:rPr>
                        <a:t>p.18-19</a:t>
                      </a:r>
                      <a:endParaRPr kumimoji="1" lang="ja-JP" altLang="en-US" sz="1200" dirty="0">
                        <a:latin typeface="Meiryo UI" panose="020B0604030504040204" pitchFamily="50" charset="-128"/>
                        <a:ea typeface="Meiryo UI" panose="020B0604030504040204" pitchFamily="50" charset="-128"/>
                      </a:endParaRPr>
                    </a:p>
                    <a:p>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下記の通り表記変更</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旧：～有意差がある場合</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時間帯別</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、曜日別で有意差がある場合～</a:t>
                      </a:r>
                      <a:endParaRPr kumimoji="1" lang="en-US" altLang="ja-JP" sz="1200" dirty="0">
                        <a:latin typeface="Meiryo UI" panose="020B0604030504040204" pitchFamily="50" charset="-128"/>
                        <a:ea typeface="Meiryo UI" panose="020B0604030504040204" pitchFamily="50" charset="-128"/>
                      </a:endParaRPr>
                    </a:p>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改：～有意差</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カイ二乗検定、有意水準：</a:t>
                      </a:r>
                      <a:r>
                        <a:rPr kumimoji="1" lang="en-US" altLang="ja-JP" sz="1200" dirty="0">
                          <a:latin typeface="Meiryo UI" panose="020B0604030504040204" pitchFamily="50" charset="-128"/>
                          <a:ea typeface="Meiryo UI" panose="020B0604030504040204" pitchFamily="50" charset="-128"/>
                        </a:rPr>
                        <a:t>p&lt;0.05)</a:t>
                      </a:r>
                      <a:r>
                        <a:rPr kumimoji="1" lang="ja-JP" altLang="en-US" sz="1200" dirty="0">
                          <a:latin typeface="Meiryo UI" panose="020B0604030504040204" pitchFamily="50" charset="-128"/>
                          <a:ea typeface="Meiryo UI" panose="020B0604030504040204" pitchFamily="50" charset="-128"/>
                        </a:rPr>
                        <a:t>がある場合</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時間帯別</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、曜日別で有意差</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カイ二乗検定、有意水準：</a:t>
                      </a:r>
                      <a:r>
                        <a:rPr kumimoji="1" lang="en-US" altLang="ja-JP" sz="1200" dirty="0">
                          <a:latin typeface="Meiryo UI" panose="020B0604030504040204" pitchFamily="50" charset="-128"/>
                          <a:ea typeface="Meiryo UI" panose="020B0604030504040204" pitchFamily="50" charset="-128"/>
                        </a:rPr>
                        <a:t>p&lt;0.05)</a:t>
                      </a:r>
                      <a:r>
                        <a:rPr kumimoji="1" lang="ja-JP" altLang="en-US" sz="1200" dirty="0">
                          <a:latin typeface="Meiryo UI" panose="020B0604030504040204" pitchFamily="50" charset="-128"/>
                          <a:ea typeface="Meiryo UI" panose="020B0604030504040204" pitchFamily="50" charset="-128"/>
                        </a:rPr>
                        <a:t>がある場合～</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262936185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同上</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p.21-24</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新たに作成、ページ挿入</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1108282098"/>
                  </a:ext>
                </a:extLst>
              </a:tr>
            </a:tbl>
          </a:graphicData>
        </a:graphic>
      </p:graphicFrame>
      <p:sp>
        <p:nvSpPr>
          <p:cNvPr id="2" name="テキスト ボックス 1">
            <a:extLst>
              <a:ext uri="{FF2B5EF4-FFF2-40B4-BE49-F238E27FC236}">
                <a16:creationId xmlns:a16="http://schemas.microsoft.com/office/drawing/2014/main" id="{E273999F-0F05-16E4-68B3-142F07107AD4}"/>
              </a:ext>
            </a:extLst>
          </p:cNvPr>
          <p:cNvSpPr txBox="1"/>
          <p:nvPr/>
        </p:nvSpPr>
        <p:spPr>
          <a:xfrm>
            <a:off x="487125" y="895546"/>
            <a:ext cx="3399075" cy="307777"/>
          </a:xfrm>
          <a:prstGeom prst="rect">
            <a:avLst/>
          </a:prstGeom>
          <a:noFill/>
          <a:ln>
            <a:noFill/>
          </a:ln>
        </p:spPr>
        <p:txBody>
          <a:bodyPr wrap="square" rtlCol="0">
            <a:spAutoFit/>
          </a:bodyPr>
          <a:lstStyle/>
          <a:p>
            <a:r>
              <a:rPr lang="ja-JP" altLang="en-US" sz="1400" dirty="0">
                <a:latin typeface="Meiryo UI" panose="020B0604030504040204" pitchFamily="50" charset="-128"/>
                <a:ea typeface="Meiryo UI" panose="020B0604030504040204" pitchFamily="50" charset="-128"/>
              </a:rPr>
              <a:t>更新ページは日付時点のページ数を示す。</a:t>
            </a:r>
            <a:endParaRPr lang="en-US" altLang="ja-JP" sz="14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811BFD6B-6ABC-9083-7A8E-BFC2E480E12C}"/>
              </a:ext>
            </a:extLst>
          </p:cNvPr>
          <p:cNvSpPr>
            <a:spLocks noGrp="1"/>
          </p:cNvSpPr>
          <p:nvPr>
            <p:ph type="title"/>
          </p:nvPr>
        </p:nvSpPr>
        <p:spPr/>
        <p:txBody>
          <a:bodyPr>
            <a:normAutofit/>
          </a:bodyPr>
          <a:lstStyle/>
          <a:p>
            <a:r>
              <a:rPr kumimoji="1" lang="ja-JP" altLang="en-US" sz="2000" b="0" dirty="0"/>
              <a:t>更新履歴①</a:t>
            </a:r>
          </a:p>
        </p:txBody>
      </p:sp>
    </p:spTree>
    <p:extLst>
      <p:ext uri="{BB962C8B-B14F-4D97-AF65-F5344CB8AC3E}">
        <p14:creationId xmlns:p14="http://schemas.microsoft.com/office/powerpoint/2010/main" val="3950173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4">
            <a:extLst>
              <a:ext uri="{FF2B5EF4-FFF2-40B4-BE49-F238E27FC236}">
                <a16:creationId xmlns:a16="http://schemas.microsoft.com/office/drawing/2014/main" id="{976916F5-C991-B0E7-2274-737FBEABA793}"/>
              </a:ext>
            </a:extLst>
          </p:cNvPr>
          <p:cNvGraphicFramePr>
            <a:graphicFrameLocks noGrp="1"/>
          </p:cNvGraphicFramePr>
          <p:nvPr>
            <p:extLst>
              <p:ext uri="{D42A27DB-BD31-4B8C-83A1-F6EECF244321}">
                <p14:modId xmlns:p14="http://schemas.microsoft.com/office/powerpoint/2010/main" val="3017158084"/>
              </p:ext>
            </p:extLst>
          </p:nvPr>
        </p:nvGraphicFramePr>
        <p:xfrm>
          <a:off x="563325" y="1227942"/>
          <a:ext cx="11042520" cy="3931920"/>
        </p:xfrm>
        <a:graphic>
          <a:graphicData uri="http://schemas.openxmlformats.org/drawingml/2006/table">
            <a:tbl>
              <a:tblPr firstRow="1" bandRow="1">
                <a:tableStyleId>{E8B1032C-EA38-4F05-BA0D-38AFFFC7BED3}</a:tableStyleId>
              </a:tblPr>
              <a:tblGrid>
                <a:gridCol w="1337664">
                  <a:extLst>
                    <a:ext uri="{9D8B030D-6E8A-4147-A177-3AD203B41FA5}">
                      <a16:colId xmlns:a16="http://schemas.microsoft.com/office/drawing/2014/main" val="1553418270"/>
                    </a:ext>
                  </a:extLst>
                </a:gridCol>
                <a:gridCol w="1090864">
                  <a:extLst>
                    <a:ext uri="{9D8B030D-6E8A-4147-A177-3AD203B41FA5}">
                      <a16:colId xmlns:a16="http://schemas.microsoft.com/office/drawing/2014/main" val="1116111579"/>
                    </a:ext>
                  </a:extLst>
                </a:gridCol>
                <a:gridCol w="1027697">
                  <a:extLst>
                    <a:ext uri="{9D8B030D-6E8A-4147-A177-3AD203B41FA5}">
                      <a16:colId xmlns:a16="http://schemas.microsoft.com/office/drawing/2014/main" val="1912801139"/>
                    </a:ext>
                  </a:extLst>
                </a:gridCol>
                <a:gridCol w="5534025">
                  <a:extLst>
                    <a:ext uri="{9D8B030D-6E8A-4147-A177-3AD203B41FA5}">
                      <a16:colId xmlns:a16="http://schemas.microsoft.com/office/drawing/2014/main" val="1942798781"/>
                    </a:ext>
                  </a:extLst>
                </a:gridCol>
                <a:gridCol w="2052270">
                  <a:extLst>
                    <a:ext uri="{9D8B030D-6E8A-4147-A177-3AD203B41FA5}">
                      <a16:colId xmlns:a16="http://schemas.microsoft.com/office/drawing/2014/main" val="1571902242"/>
                    </a:ext>
                  </a:extLst>
                </a:gridCol>
              </a:tblGrid>
              <a:tr h="0">
                <a:tc>
                  <a:txBody>
                    <a:bodyPr/>
                    <a:lstStyle/>
                    <a:p>
                      <a:r>
                        <a:rPr kumimoji="1" lang="ja-JP" altLang="en-US" sz="1200" dirty="0">
                          <a:latin typeface="Meiryo UI" panose="020B0604030504040204" pitchFamily="50" charset="-128"/>
                          <a:ea typeface="Meiryo UI" panose="020B0604030504040204" pitchFamily="50" charset="-128"/>
                        </a:rPr>
                        <a:t>日付</a:t>
                      </a:r>
                    </a:p>
                  </a:txBody>
                  <a:tcPr/>
                </a:tc>
                <a:tc>
                  <a:txBody>
                    <a:bodyPr/>
                    <a:lstStyle/>
                    <a:p>
                      <a:r>
                        <a:rPr kumimoji="1" lang="ja-JP" altLang="en-US" sz="1200" dirty="0">
                          <a:latin typeface="Meiryo UI" panose="020B0604030504040204" pitchFamily="50" charset="-128"/>
                          <a:ea typeface="Meiryo UI" panose="020B0604030504040204" pitchFamily="50" charset="-128"/>
                        </a:rPr>
                        <a:t>バージョン</a:t>
                      </a:r>
                      <a:r>
                        <a:rPr kumimoji="1" lang="en-US" altLang="ja-JP" sz="1200" dirty="0">
                          <a:latin typeface="Meiryo UI" panose="020B0604030504040204" pitchFamily="50" charset="-128"/>
                          <a:ea typeface="Meiryo UI" panose="020B0604030504040204" pitchFamily="50" charset="-128"/>
                        </a:rPr>
                        <a:t>No.</a:t>
                      </a:r>
                    </a:p>
                  </a:txBody>
                  <a:tcPr/>
                </a:tc>
                <a:tc>
                  <a:txBody>
                    <a:bodyPr/>
                    <a:lstStyle/>
                    <a:p>
                      <a:r>
                        <a:rPr kumimoji="1" lang="ja-JP" altLang="en-US" sz="1200" dirty="0">
                          <a:latin typeface="Meiryo UI" panose="020B0604030504040204" pitchFamily="50" charset="-128"/>
                          <a:ea typeface="Meiryo UI" panose="020B0604030504040204" pitchFamily="50" charset="-128"/>
                        </a:rPr>
                        <a:t>更新ページ</a:t>
                      </a:r>
                    </a:p>
                  </a:txBody>
                  <a:tcPr/>
                </a:tc>
                <a:tc>
                  <a:txBody>
                    <a:bodyPr/>
                    <a:lstStyle/>
                    <a:p>
                      <a:r>
                        <a:rPr kumimoji="1" lang="ja-JP" altLang="en-US" sz="1200" dirty="0">
                          <a:latin typeface="Meiryo UI" panose="020B0604030504040204" pitchFamily="50" charset="-128"/>
                          <a:ea typeface="Meiryo UI" panose="020B0604030504040204" pitchFamily="50" charset="-128"/>
                        </a:rPr>
                        <a:t>更新内容</a:t>
                      </a:r>
                    </a:p>
                  </a:txBody>
                  <a:tcPr/>
                </a:tc>
                <a:tc>
                  <a:txBody>
                    <a:bodyPr/>
                    <a:lstStyle/>
                    <a:p>
                      <a:r>
                        <a:rPr kumimoji="1" lang="ja-JP" altLang="en-US" sz="1200" dirty="0">
                          <a:latin typeface="Meiryo UI" panose="020B0604030504040204" pitchFamily="50" charset="-128"/>
                          <a:ea typeface="Meiryo UI" panose="020B0604030504040204" pitchFamily="50" charset="-128"/>
                        </a:rPr>
                        <a:t>更新者</a:t>
                      </a:r>
                    </a:p>
                  </a:txBody>
                  <a:tcPr/>
                </a:tc>
                <a:extLst>
                  <a:ext uri="{0D108BD9-81ED-4DB2-BD59-A6C34878D82A}">
                    <a16:rowId xmlns:a16="http://schemas.microsoft.com/office/drawing/2014/main" val="205334678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2024</a:t>
                      </a: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年</a:t>
                      </a: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5</a:t>
                      </a: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月</a:t>
                      </a: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7</a:t>
                      </a: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日</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v.2.1</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r>
                        <a:rPr kumimoji="1" lang="en-US" altLang="ja-JP" sz="1200" dirty="0">
                          <a:latin typeface="Meiryo UI" panose="020B0604030504040204" pitchFamily="50" charset="-128"/>
                          <a:ea typeface="Meiryo UI" panose="020B0604030504040204" pitchFamily="50" charset="-128"/>
                        </a:rPr>
                        <a:t>p.3</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更新履歴②を新たに作成、ページ挿入</a:t>
                      </a:r>
                      <a:endParaRPr kumimoji="1" lang="en-US" altLang="ja-JP" sz="1200" dirty="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22641956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p.17</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「（注意：数字をクリックしないで下さい。適切でない値が出てきます）」を削除</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1660883629"/>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p.19</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a:t>
                      </a:r>
                      <a:r>
                        <a:rPr lang="ja-JP" altLang="en-US" sz="1200" dirty="0">
                          <a:solidFill>
                            <a:prstClr val="black"/>
                          </a:solidFill>
                          <a:latin typeface="Meiryo UI" panose="020B0604030504040204" pitchFamily="50" charset="-128"/>
                          <a:ea typeface="Meiryo UI" panose="020B0604030504040204" pitchFamily="50" charset="-128"/>
                        </a:rPr>
                        <a:t>合計カウントが多い利用者から降順に表示</a:t>
                      </a:r>
                      <a:r>
                        <a:rPr kumimoji="1" lang="ja-JP" altLang="en-US" sz="1200" dirty="0">
                          <a:latin typeface="Meiryo UI" panose="020B0604030504040204" pitchFamily="50" charset="-128"/>
                          <a:ea typeface="Meiryo UI" panose="020B0604030504040204" pitchFamily="50" charset="-128"/>
                        </a:rPr>
                        <a:t>」を追記</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19879963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p.21</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下記の通り表記変更</a:t>
                      </a:r>
                      <a:endParaRPr lang="en-US" altLang="ja-JP" sz="1200" dirty="0">
                        <a:solidFill>
                          <a:schemeClr val="tx1"/>
                        </a:solidFill>
                        <a:latin typeface="Meiryo UI" panose="020B0604030504040204" pitchFamily="50" charset="-128"/>
                        <a:ea typeface="Meiryo UI" panose="020B0604030504040204" pitchFamily="50" charset="-128"/>
                      </a:endParaRPr>
                    </a:p>
                    <a:p>
                      <a:pPr marL="361950" marR="0" lvl="0" indent="-361950" algn="l"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旧　時間帯別：時間帯によってコール頻度に統計的な有意差がある</a:t>
                      </a:r>
                      <a:endParaRPr lang="en-US" altLang="ja-JP" sz="1200" dirty="0">
                        <a:solidFill>
                          <a:schemeClr val="tx1"/>
                        </a:solidFill>
                        <a:latin typeface="Meiryo UI" panose="020B0604030504040204" pitchFamily="50" charset="-128"/>
                        <a:ea typeface="Meiryo UI" panose="020B0604030504040204" pitchFamily="50" charset="-128"/>
                      </a:endParaRPr>
                    </a:p>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改　時間帯別：時間帯によってコール頻度に明らかな偏りがある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379861730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p.21</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下記の通り表記変更</a:t>
                      </a:r>
                      <a:endParaRPr lang="en-US" altLang="ja-JP" sz="1200" dirty="0">
                        <a:solidFill>
                          <a:schemeClr val="tx1"/>
                        </a:solidFill>
                        <a:latin typeface="Meiryo UI" panose="020B0604030504040204" pitchFamily="50" charset="-128"/>
                        <a:ea typeface="Meiryo UI" panose="020B0604030504040204" pitchFamily="50" charset="-128"/>
                      </a:endParaRPr>
                    </a:p>
                    <a:p>
                      <a:pPr marL="361950" marR="0" lvl="0" indent="-361950" algn="l"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旧　曜日別：曜日によってコール頻度に統計的な有意差がある</a:t>
                      </a:r>
                      <a:endParaRPr lang="en-US" altLang="ja-JP" sz="1200" dirty="0">
                        <a:solidFill>
                          <a:schemeClr val="tx1"/>
                        </a:solidFill>
                        <a:latin typeface="Meiryo UI" panose="020B0604030504040204" pitchFamily="50" charset="-128"/>
                        <a:ea typeface="Meiryo UI" panose="020B0604030504040204" pitchFamily="50" charset="-128"/>
                      </a:endParaRPr>
                    </a:p>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改　曜日別：曜日によってコール頻度に明らかな偏りがある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24538762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p.21,24,25</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下記の通り表記変更</a:t>
                      </a:r>
                      <a:endParaRPr lang="en-US" altLang="ja-JP" sz="1200" dirty="0">
                        <a:solidFill>
                          <a:schemeClr val="tx1"/>
                        </a:solidFill>
                        <a:latin typeface="Meiryo UI" panose="020B0604030504040204" pitchFamily="50" charset="-128"/>
                        <a:ea typeface="Meiryo UI" panose="020B0604030504040204" pitchFamily="50" charset="-128"/>
                      </a:endParaRPr>
                    </a:p>
                    <a:p>
                      <a:pPr marL="361950" marR="0" lvl="0" indent="-361950" algn="l"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Meiryo UI" panose="020B0604030504040204" pitchFamily="50" charset="-128"/>
                          <a:ea typeface="Meiryo UI" panose="020B0604030504040204" pitchFamily="50" charset="-128"/>
                        </a:rPr>
                        <a:t>旧　未実施：援助未実施率が</a:t>
                      </a:r>
                      <a:r>
                        <a:rPr lang="en-US" altLang="ja-JP" sz="1200" dirty="0">
                          <a:solidFill>
                            <a:schemeClr val="tx1"/>
                          </a:solidFill>
                          <a:latin typeface="Meiryo UI" panose="020B0604030504040204" pitchFamily="50" charset="-128"/>
                          <a:ea typeface="Meiryo UI" panose="020B0604030504040204" pitchFamily="50" charset="-128"/>
                        </a:rPr>
                        <a:t>10%</a:t>
                      </a:r>
                      <a:r>
                        <a:rPr lang="ja-JP" altLang="en-US" sz="1200" dirty="0">
                          <a:solidFill>
                            <a:schemeClr val="tx1"/>
                          </a:solidFill>
                          <a:latin typeface="Meiryo UI" panose="020B0604030504040204" pitchFamily="50" charset="-128"/>
                          <a:ea typeface="Meiryo UI" panose="020B0604030504040204" pitchFamily="50" charset="-128"/>
                        </a:rPr>
                        <a:t>以上</a:t>
                      </a:r>
                      <a:endParaRPr lang="en-US" altLang="ja-JP" sz="1200" dirty="0">
                        <a:solidFill>
                          <a:schemeClr val="tx1"/>
                        </a:solidFill>
                        <a:latin typeface="Meiryo UI" panose="020B0604030504040204" pitchFamily="50" charset="-128"/>
                        <a:ea typeface="Meiryo UI" panose="020B0604030504040204" pitchFamily="50" charset="-128"/>
                      </a:endParaRPr>
                    </a:p>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改　未実施：直接援助のうち中止記録が</a:t>
                      </a:r>
                      <a:r>
                        <a:rPr kumimoji="1" lang="en-US" altLang="ja-JP" sz="1200" dirty="0">
                          <a:latin typeface="Meiryo UI" panose="020B0604030504040204" pitchFamily="50" charset="-128"/>
                          <a:ea typeface="Meiryo UI" panose="020B0604030504040204" pitchFamily="50" charset="-128"/>
                        </a:rPr>
                        <a:t>10%</a:t>
                      </a:r>
                      <a:r>
                        <a:rPr kumimoji="1" lang="ja-JP" altLang="en-US" sz="1200" dirty="0">
                          <a:latin typeface="Meiryo UI" panose="020B0604030504040204" pitchFamily="50" charset="-128"/>
                          <a:ea typeface="Meiryo UI" panose="020B0604030504040204" pitchFamily="50" charset="-128"/>
                        </a:rPr>
                        <a:t>以上</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未タップは含まない</a:t>
                      </a:r>
                      <a:r>
                        <a:rPr kumimoji="1" lang="en-US" altLang="ja-JP" sz="1200" dirty="0">
                          <a:latin typeface="Meiryo UI" panose="020B0604030504040204" pitchFamily="50" charset="-128"/>
                          <a:ea typeface="Meiryo UI" panose="020B0604030504040204" pitchFamily="50" charset="-128"/>
                        </a:rPr>
                        <a:t>)</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238320316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同上</a:t>
                      </a:r>
                    </a:p>
                  </a:txBody>
                  <a:tcPr/>
                </a:tc>
                <a:tc>
                  <a:txBody>
                    <a:bodyPr/>
                    <a:lstStyle/>
                    <a:p>
                      <a:r>
                        <a:rPr kumimoji="1" lang="en-US" altLang="ja-JP" sz="1200" dirty="0">
                          <a:latin typeface="Meiryo UI" panose="020B0604030504040204" pitchFamily="50" charset="-128"/>
                          <a:ea typeface="Meiryo UI" panose="020B0604030504040204" pitchFamily="50" charset="-128"/>
                        </a:rPr>
                        <a:t>p.17,19</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a:t>
                      </a:r>
                      <a:r>
                        <a:rPr kumimoji="1" lang="ja-JP" altLang="en-US" sz="1200" dirty="0">
                          <a:solidFill>
                            <a:prstClr val="black"/>
                          </a:solidFill>
                          <a:latin typeface="Meiryo UI" panose="020B0604030504040204" pitchFamily="50" charset="-128"/>
                          <a:ea typeface="Meiryo UI" panose="020B0604030504040204" pitchFamily="50" charset="-128"/>
                        </a:rPr>
                        <a:t>オープン状態をデフォルトとする</a:t>
                      </a:r>
                      <a:r>
                        <a:rPr kumimoji="1" lang="ja-JP" altLang="en-US" sz="1200" dirty="0">
                          <a:latin typeface="Meiryo UI" panose="020B0604030504040204" pitchFamily="50" charset="-128"/>
                          <a:ea typeface="Meiryo UI" panose="020B0604030504040204" pitchFamily="50" charset="-128"/>
                        </a:rPr>
                        <a:t>」を追記</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401174199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2024</a:t>
                      </a: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年</a:t>
                      </a: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5</a:t>
                      </a: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月</a:t>
                      </a: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14</a:t>
                      </a: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日</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v.3</a:t>
                      </a:r>
                      <a:endPar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txBody>
                  <a:tcPr/>
                </a:tc>
                <a:tc>
                  <a:txBody>
                    <a:bodyPr/>
                    <a:lstStyle/>
                    <a:p>
                      <a:r>
                        <a:rPr kumimoji="1" lang="en-US" altLang="ja-JP" sz="1200" dirty="0">
                          <a:latin typeface="Meiryo UI" panose="020B0604030504040204" pitchFamily="50" charset="-128"/>
                          <a:ea typeface="Meiryo UI" panose="020B0604030504040204" pitchFamily="50" charset="-128"/>
                        </a:rPr>
                        <a:t>p.18,22</a:t>
                      </a:r>
                      <a:endParaRPr kumimoji="1" lang="ja-JP" altLang="en-US" sz="1200" dirty="0">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下記の通り表記変更</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旧：～</a:t>
                      </a:r>
                      <a:r>
                        <a:rPr lang="ja-JP" altLang="en-US" sz="1200" dirty="0">
                          <a:latin typeface="Meiryo UI" panose="020B0604030504040204" pitchFamily="50" charset="-128"/>
                          <a:ea typeface="Meiryo UI" panose="020B0604030504040204" pitchFamily="50" charset="-128"/>
                        </a:rPr>
                        <a:t>日数、週数、月数、無制限の</a:t>
                      </a:r>
                      <a:r>
                        <a:rPr kumimoji="1" lang="ja-JP" altLang="en-US" sz="1200" dirty="0">
                          <a:latin typeface="Meiryo UI" panose="020B0604030504040204" pitchFamily="50" charset="-128"/>
                          <a:ea typeface="Meiryo UI" panose="020B0604030504040204" pitchFamily="50" charset="-128"/>
                        </a:rPr>
                        <a:t>～</a:t>
                      </a:r>
                      <a:endParaRPr kumimoji="1" lang="en-US" altLang="ja-JP" sz="1200" dirty="0">
                        <a:latin typeface="Meiryo UI" panose="020B0604030504040204" pitchFamily="50" charset="-128"/>
                        <a:ea typeface="Meiryo UI" panose="020B0604030504040204" pitchFamily="50" charset="-128"/>
                      </a:endParaRPr>
                    </a:p>
                    <a:p>
                      <a:pPr marL="361950" marR="0" lvl="0" indent="-36195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改：～</a:t>
                      </a:r>
                      <a:r>
                        <a:rPr lang="ja-JP" altLang="en-US" sz="1200" dirty="0">
                          <a:latin typeface="Meiryo UI" panose="020B0604030504040204" pitchFamily="50" charset="-128"/>
                          <a:ea typeface="Meiryo UI" panose="020B0604030504040204" pitchFamily="50" charset="-128"/>
                        </a:rPr>
                        <a:t>日数、週数、月数、年数、無制限の</a:t>
                      </a:r>
                      <a:r>
                        <a:rPr kumimoji="1" lang="ja-JP" altLang="en-US" sz="1200" dirty="0">
                          <a:latin typeface="Meiryo UI" panose="020B0604030504040204" pitchFamily="50" charset="-128"/>
                          <a:ea typeface="Meiryo UI" panose="020B0604030504040204" pitchFamily="50" charset="-128"/>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カスタマーサクセス部　井上</a:t>
                      </a:r>
                    </a:p>
                  </a:txBody>
                  <a:tcPr/>
                </a:tc>
                <a:extLst>
                  <a:ext uri="{0D108BD9-81ED-4DB2-BD59-A6C34878D82A}">
                    <a16:rowId xmlns:a16="http://schemas.microsoft.com/office/drawing/2014/main" val="2857634114"/>
                  </a:ext>
                </a:extLst>
              </a:tr>
            </a:tbl>
          </a:graphicData>
        </a:graphic>
      </p:graphicFrame>
      <p:sp>
        <p:nvSpPr>
          <p:cNvPr id="2" name="テキスト ボックス 1">
            <a:extLst>
              <a:ext uri="{FF2B5EF4-FFF2-40B4-BE49-F238E27FC236}">
                <a16:creationId xmlns:a16="http://schemas.microsoft.com/office/drawing/2014/main" id="{E273999F-0F05-16E4-68B3-142F07107AD4}"/>
              </a:ext>
            </a:extLst>
          </p:cNvPr>
          <p:cNvSpPr txBox="1"/>
          <p:nvPr/>
        </p:nvSpPr>
        <p:spPr>
          <a:xfrm>
            <a:off x="487125" y="895546"/>
            <a:ext cx="3399075" cy="307777"/>
          </a:xfrm>
          <a:prstGeom prst="rect">
            <a:avLst/>
          </a:prstGeom>
          <a:noFill/>
          <a:ln>
            <a:noFill/>
          </a:ln>
        </p:spPr>
        <p:txBody>
          <a:bodyPr wrap="square" rtlCol="0">
            <a:spAutoFit/>
          </a:bodyPr>
          <a:lstStyle/>
          <a:p>
            <a:r>
              <a:rPr lang="ja-JP" altLang="en-US" sz="1400" dirty="0">
                <a:latin typeface="Meiryo UI" panose="020B0604030504040204" pitchFamily="50" charset="-128"/>
                <a:ea typeface="Meiryo UI" panose="020B0604030504040204" pitchFamily="50" charset="-128"/>
              </a:rPr>
              <a:t>更新ページは日付時点のページ数を示す。</a:t>
            </a:r>
            <a:endParaRPr lang="en-US" altLang="ja-JP" sz="14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811BFD6B-6ABC-9083-7A8E-BFC2E480E12C}"/>
              </a:ext>
            </a:extLst>
          </p:cNvPr>
          <p:cNvSpPr>
            <a:spLocks noGrp="1"/>
          </p:cNvSpPr>
          <p:nvPr>
            <p:ph type="title"/>
          </p:nvPr>
        </p:nvSpPr>
        <p:spPr/>
        <p:txBody>
          <a:bodyPr>
            <a:normAutofit/>
          </a:bodyPr>
          <a:lstStyle/>
          <a:p>
            <a:r>
              <a:rPr kumimoji="1" lang="ja-JP" altLang="en-US" sz="2000" b="0" dirty="0"/>
              <a:t>更新履歴②</a:t>
            </a:r>
          </a:p>
        </p:txBody>
      </p:sp>
    </p:spTree>
    <p:extLst>
      <p:ext uri="{BB962C8B-B14F-4D97-AF65-F5344CB8AC3E}">
        <p14:creationId xmlns:p14="http://schemas.microsoft.com/office/powerpoint/2010/main" val="160716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0CBC11A-ABA8-9ABF-3392-8AF3F32833A4}"/>
              </a:ext>
            </a:extLst>
          </p:cNvPr>
          <p:cNvSpPr txBox="1"/>
          <p:nvPr/>
        </p:nvSpPr>
        <p:spPr>
          <a:xfrm>
            <a:off x="651953" y="1082041"/>
            <a:ext cx="9999416" cy="2246769"/>
          </a:xfrm>
          <a:prstGeom prst="rect">
            <a:avLst/>
          </a:prstGeom>
          <a:noFill/>
          <a:ln>
            <a:noFill/>
          </a:ln>
        </p:spPr>
        <p:txBody>
          <a:bodyPr wrap="square" rtlCol="0">
            <a:spAutoFit/>
          </a:bodyPr>
          <a:lstStyle/>
          <a:p>
            <a:pPr marL="400050" indent="-400050">
              <a:buFont typeface="+mj-lt"/>
              <a:buAutoNum type="romanUcPeriod"/>
            </a:pPr>
            <a:r>
              <a:rPr kumimoji="1" lang="ja-JP" altLang="en-US" sz="1400" dirty="0">
                <a:latin typeface="Meiryo UI" panose="020B0604030504040204" pitchFamily="50" charset="-128"/>
                <a:ea typeface="Meiryo UI" panose="020B0604030504040204" pitchFamily="50" charset="-128"/>
              </a:rPr>
              <a:t>本定義書の位置づけ</a:t>
            </a:r>
            <a:endParaRPr kumimoji="1"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本定義書は、</a:t>
            </a:r>
            <a:r>
              <a:rPr lang="en-US" altLang="ja-JP" sz="1400" dirty="0">
                <a:latin typeface="Meiryo UI" panose="020B0604030504040204" pitchFamily="50" charset="-128"/>
                <a:ea typeface="Meiryo UI" panose="020B0604030504040204" pitchFamily="50" charset="-128"/>
              </a:rPr>
              <a:t>2023</a:t>
            </a:r>
            <a:r>
              <a:rPr lang="ja-JP" altLang="en-US" sz="1400" dirty="0">
                <a:latin typeface="Meiryo UI" panose="020B0604030504040204" pitchFamily="50" charset="-128"/>
                <a:ea typeface="Meiryo UI" panose="020B0604030504040204" pitchFamily="50" charset="-128"/>
              </a:rPr>
              <a:t>年度に</a:t>
            </a:r>
            <a:r>
              <a:rPr lang="en-US" altLang="ja-JP" sz="1400" dirty="0" err="1">
                <a:latin typeface="Meiryo UI" panose="020B0604030504040204" pitchFamily="50" charset="-128"/>
                <a:ea typeface="Meiryo UI" panose="020B0604030504040204" pitchFamily="50" charset="-128"/>
              </a:rPr>
              <a:t>egaku</a:t>
            </a:r>
            <a:r>
              <a:rPr lang="ja-JP" altLang="en-US" sz="1400" dirty="0">
                <a:latin typeface="Meiryo UI" panose="020B0604030504040204" pitchFamily="50" charset="-128"/>
                <a:ea typeface="Meiryo UI" panose="020B0604030504040204" pitchFamily="50" charset="-128"/>
              </a:rPr>
              <a:t>プロダクト開発部が改修する「ナースコールモニター」モジュール（以下、ナースコールモニターと記載）について、開発作業計画、要求定義、機能要件定義、非機能要件定義を示すものである。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本定義書を持って、プロダクトオーナー部門と開発部門が上記</a:t>
            </a: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の内容を共有するためのものである。</a:t>
            </a:r>
            <a:endParaRPr lang="en-US" altLang="ja-JP" sz="1400" dirty="0">
              <a:latin typeface="Meiryo UI" panose="020B0604030504040204" pitchFamily="50" charset="-128"/>
              <a:ea typeface="Meiryo UI" panose="020B0604030504040204" pitchFamily="50" charset="-128"/>
            </a:endParaRPr>
          </a:p>
          <a:p>
            <a:pPr lvl="1"/>
            <a:endParaRPr lang="en-US" altLang="ja-JP" sz="1400" dirty="0">
              <a:latin typeface="Meiryo UI" panose="020B0604030504040204" pitchFamily="50" charset="-128"/>
              <a:ea typeface="Meiryo UI" panose="020B0604030504040204" pitchFamily="50" charset="-128"/>
            </a:endParaRPr>
          </a:p>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本定義書の特記事項</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本定義書で記載する要件など、モジュール開発の実際の場面で変更される場合がある。その際、画面要件のみの軽微変更であれば本定義書は変更しない。画面要件以外の変更がある時は本定義書を適宜修正す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本定義書の内容に沿って開発スケジュールを作成する。開発に関する詳細タスクおよびスケジュールは開発チームリーダーが主導し決定、別途資料またはタスク管理システム等にまとめる。</a:t>
            </a:r>
            <a:endParaRPr lang="en-US" altLang="ja-JP" sz="14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3286C71B-7211-D5ED-2CAC-C6B44E569066}"/>
              </a:ext>
            </a:extLst>
          </p:cNvPr>
          <p:cNvSpPr>
            <a:spLocks noGrp="1"/>
          </p:cNvSpPr>
          <p:nvPr>
            <p:ph type="title"/>
          </p:nvPr>
        </p:nvSpPr>
        <p:spPr/>
        <p:txBody>
          <a:bodyPr/>
          <a:lstStyle/>
          <a:p>
            <a:pPr rtl="0" eaLnBrk="1" latinLnBrk="0" hangingPunct="1"/>
            <a:r>
              <a:rPr kumimoji="1" lang="ja-JP" altLang="ja-JP" sz="2000" b="0" kern="1200" dirty="0">
                <a:solidFill>
                  <a:srgbClr val="000000"/>
                </a:solidFill>
                <a:effectLst/>
                <a:cs typeface="+mn-cs"/>
              </a:rPr>
              <a:t>本要件定義書の位置づけ</a:t>
            </a:r>
            <a:r>
              <a:rPr kumimoji="1" lang="ja-JP" altLang="en-US" sz="2000" b="0" kern="1200" dirty="0">
                <a:solidFill>
                  <a:srgbClr val="000000"/>
                </a:solidFill>
                <a:effectLst/>
                <a:cs typeface="+mn-cs"/>
              </a:rPr>
              <a:t>、特記事項</a:t>
            </a:r>
            <a:endParaRPr lang="ja-JP" altLang="ja-JP" b="0" dirty="0">
              <a:effectLst/>
            </a:endParaRPr>
          </a:p>
        </p:txBody>
      </p:sp>
    </p:spTree>
    <p:extLst>
      <p:ext uri="{BB962C8B-B14F-4D97-AF65-F5344CB8AC3E}">
        <p14:creationId xmlns:p14="http://schemas.microsoft.com/office/powerpoint/2010/main" val="4169269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57BC77B-6C7B-DD94-EA1D-DA722015E0C0}"/>
              </a:ext>
            </a:extLst>
          </p:cNvPr>
          <p:cNvSpPr txBox="1"/>
          <p:nvPr/>
        </p:nvSpPr>
        <p:spPr>
          <a:xfrm>
            <a:off x="651952" y="1073574"/>
            <a:ext cx="10216573" cy="2462213"/>
          </a:xfrm>
          <a:prstGeom prst="rect">
            <a:avLst/>
          </a:prstGeom>
          <a:noFill/>
          <a:ln>
            <a:noFill/>
          </a:ln>
        </p:spPr>
        <p:txBody>
          <a:bodyPr wrap="square" rtlCol="0">
            <a:spAutoFit/>
          </a:bodyPr>
          <a:lstStyle/>
          <a:p>
            <a:pPr marL="400050" indent="-400050">
              <a:buFont typeface="+mj-lt"/>
              <a:buAutoNum type="romanUcPeriod"/>
            </a:pPr>
            <a:r>
              <a:rPr kumimoji="1" lang="ja-JP" altLang="en-US" sz="1400" dirty="0">
                <a:latin typeface="Meiryo UI" panose="020B0604030504040204" pitchFamily="50" charset="-128"/>
                <a:ea typeface="Meiryo UI" panose="020B0604030504040204" pitchFamily="50" charset="-128"/>
              </a:rPr>
              <a:t>社内展開</a:t>
            </a:r>
            <a:endParaRPr kumimoji="1"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lang="ja-JP" altLang="en-US" sz="1400" dirty="0">
                <a:latin typeface="Meiryo UI" panose="020B0604030504040204" pitchFamily="50" charset="-128"/>
                <a:ea typeface="Meiryo UI" panose="020B0604030504040204" pitchFamily="50" charset="-128"/>
              </a:rPr>
              <a:t>ナースコールモニターは</a:t>
            </a:r>
            <a:r>
              <a:rPr lang="en-US" altLang="ja-JP" sz="1400" dirty="0">
                <a:latin typeface="Meiryo UI" panose="020B0604030504040204" pitchFamily="50" charset="-128"/>
                <a:ea typeface="Meiryo UI" panose="020B0604030504040204" pitchFamily="50" charset="-128"/>
              </a:rPr>
              <a:t>SOMPO</a:t>
            </a:r>
            <a:r>
              <a:rPr lang="ja-JP" altLang="en-US" sz="1400" dirty="0">
                <a:latin typeface="Meiryo UI" panose="020B0604030504040204" pitchFamily="50" charset="-128"/>
                <a:ea typeface="Meiryo UI" panose="020B0604030504040204" pitchFamily="50" charset="-128"/>
              </a:rPr>
              <a:t>ケア社内ユーザーが使用することを大前提とし、当社内ユーザーが使用できる状態を整えることを優先とする。</a:t>
            </a:r>
            <a:endParaRPr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lang="ja-JP" altLang="en-US" sz="1400" dirty="0">
                <a:latin typeface="Meiryo UI" panose="020B0604030504040204" pitchFamily="50" charset="-128"/>
                <a:ea typeface="Meiryo UI" panose="020B0604030504040204" pitchFamily="50" charset="-128"/>
              </a:rPr>
              <a:t>開発作業終了後、リリース前に社内業務システムのガルーンを使って通達を発信し、本定義書に記載する追加機能を周知する。</a:t>
            </a:r>
            <a:endParaRPr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lang="ja-JP" altLang="en-US" sz="1400" dirty="0">
                <a:latin typeface="Meiryo UI" panose="020B0604030504040204" pitchFamily="50" charset="-128"/>
                <a:ea typeface="Meiryo UI" panose="020B0604030504040204" pitchFamily="50" charset="-128"/>
              </a:rPr>
              <a:t>ユーザーが独立して活用することを目的として、運用マニュアル</a:t>
            </a:r>
            <a:r>
              <a:rPr lang="en-US" altLang="ja-JP" sz="1400" dirty="0">
                <a:latin typeface="Meiryo UI" panose="020B0604030504040204" pitchFamily="50" charset="-128"/>
                <a:ea typeface="Meiryo UI" panose="020B0604030504040204" pitchFamily="50" charset="-128"/>
              </a:rPr>
              <a:t>(PDF)</a:t>
            </a:r>
            <a:r>
              <a:rPr lang="ja-JP" altLang="en-US" sz="1400" dirty="0">
                <a:latin typeface="Meiryo UI" panose="020B0604030504040204" pitchFamily="50" charset="-128"/>
                <a:ea typeface="Meiryo UI" panose="020B0604030504040204" pitchFamily="50" charset="-128"/>
              </a:rPr>
              <a:t>と合わせ展開する。</a:t>
            </a:r>
            <a:endParaRPr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lang="ja-JP" altLang="en-US" sz="1400" dirty="0">
                <a:latin typeface="Meiryo UI" panose="020B0604030504040204" pitchFamily="50" charset="-128"/>
                <a:ea typeface="Meiryo UI" panose="020B0604030504040204" pitchFamily="50" charset="-128"/>
              </a:rPr>
              <a:t>ナースコールモニターは、ナースコールに関する情報を可視化するモジュールであるが、ナースコールにより課題の原因特定や課題解決を保証するものではない。</a:t>
            </a:r>
            <a:endParaRPr lang="en-US" altLang="ja-JP" sz="1400" dirty="0">
              <a:latin typeface="Meiryo UI" panose="020B0604030504040204" pitchFamily="50" charset="-128"/>
              <a:ea typeface="Meiryo UI" panose="020B0604030504040204" pitchFamily="50" charset="-128"/>
            </a:endParaRPr>
          </a:p>
          <a:p>
            <a:pPr lvl="1"/>
            <a:endParaRPr lang="en-US" altLang="ja-JP" sz="1400" dirty="0">
              <a:latin typeface="Meiryo UI" panose="020B0604030504040204" pitchFamily="50" charset="-128"/>
              <a:ea typeface="Meiryo UI" panose="020B0604030504040204" pitchFamily="50" charset="-128"/>
            </a:endParaRPr>
          </a:p>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社外展開</a:t>
            </a: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ナースコールモニターは</a:t>
            </a:r>
            <a:r>
              <a:rPr lang="en-US" altLang="ja-JP" sz="1400" dirty="0">
                <a:latin typeface="Meiryo UI" panose="020B0604030504040204" pitchFamily="50" charset="-128"/>
                <a:ea typeface="Meiryo UI" panose="020B0604030504040204" pitchFamily="50" charset="-128"/>
              </a:rPr>
              <a:t>SOMPO</a:t>
            </a:r>
            <a:r>
              <a:rPr lang="ja-JP" altLang="en-US" sz="1400" dirty="0">
                <a:latin typeface="Meiryo UI" panose="020B0604030504040204" pitchFamily="50" charset="-128"/>
                <a:ea typeface="Meiryo UI" panose="020B0604030504040204" pitchFamily="50" charset="-128"/>
              </a:rPr>
              <a:t>ケア社外ニーズの調査と社外ユーザーを想定した開発は行わない。よって、ナースコールモニターの社外展開および販売を現時点では計画しない。</a:t>
            </a:r>
            <a:endParaRPr lang="en-US" altLang="ja-JP" sz="14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45466747-D6E9-1B40-9C45-32B8BA73A777}"/>
              </a:ext>
            </a:extLst>
          </p:cNvPr>
          <p:cNvSpPr>
            <a:spLocks noGrp="1"/>
          </p:cNvSpPr>
          <p:nvPr>
            <p:ph type="title"/>
          </p:nvPr>
        </p:nvSpPr>
        <p:spPr/>
        <p:txBody>
          <a:bodyPr>
            <a:normAutofit/>
          </a:bodyPr>
          <a:lstStyle/>
          <a:p>
            <a:r>
              <a:rPr kumimoji="1" lang="ja-JP" altLang="en-US" sz="2000" b="0" dirty="0"/>
              <a:t>マーケティング概要</a:t>
            </a:r>
          </a:p>
        </p:txBody>
      </p:sp>
    </p:spTree>
    <p:extLst>
      <p:ext uri="{BB962C8B-B14F-4D97-AF65-F5344CB8AC3E}">
        <p14:creationId xmlns:p14="http://schemas.microsoft.com/office/powerpoint/2010/main" val="3274088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78F3B310-E6BD-21E0-1BA0-F70F000D9ECA}"/>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216478" y="2545504"/>
            <a:ext cx="5207295" cy="2424647"/>
          </a:xfrm>
          <a:prstGeom prst="rect">
            <a:avLst/>
          </a:prstGeom>
        </p:spPr>
      </p:pic>
      <p:pic>
        <p:nvPicPr>
          <p:cNvPr id="4" name="図 3">
            <a:extLst>
              <a:ext uri="{FF2B5EF4-FFF2-40B4-BE49-F238E27FC236}">
                <a16:creationId xmlns:a16="http://schemas.microsoft.com/office/drawing/2014/main" id="{64914449-8F46-95B2-E716-84D3F92C8EE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60117" y="2545505"/>
            <a:ext cx="5207298" cy="2424648"/>
          </a:xfrm>
          <a:prstGeom prst="rect">
            <a:avLst/>
          </a:prstGeom>
        </p:spPr>
      </p:pic>
      <p:sp>
        <p:nvSpPr>
          <p:cNvPr id="2" name="テキスト ボックス 1">
            <a:extLst>
              <a:ext uri="{FF2B5EF4-FFF2-40B4-BE49-F238E27FC236}">
                <a16:creationId xmlns:a16="http://schemas.microsoft.com/office/drawing/2014/main" id="{53EA2099-12CC-91BC-D566-3C1825107637}"/>
              </a:ext>
            </a:extLst>
          </p:cNvPr>
          <p:cNvSpPr txBox="1"/>
          <p:nvPr/>
        </p:nvSpPr>
        <p:spPr>
          <a:xfrm>
            <a:off x="660116" y="1180064"/>
            <a:ext cx="10763657" cy="584775"/>
          </a:xfrm>
          <a:prstGeom prst="rect">
            <a:avLst/>
          </a:prstGeom>
          <a:noFill/>
          <a:ln>
            <a:solidFill>
              <a:schemeClr val="tx1"/>
            </a:solidFill>
          </a:ln>
        </p:spPr>
        <p:txBody>
          <a:bodyPr wrap="square" rtlCol="0">
            <a:spAutoFit/>
          </a:bodyPr>
          <a:lstStyle/>
          <a:p>
            <a:r>
              <a:rPr kumimoji="1" lang="en-US" altLang="ja-JP" sz="1600" dirty="0">
                <a:latin typeface="Meiryo UI" panose="020B0604030504040204" pitchFamily="50" charset="-128"/>
                <a:ea typeface="Meiryo UI" panose="020B0604030504040204" pitchFamily="50" charset="-128"/>
              </a:rPr>
              <a:t>2023</a:t>
            </a:r>
            <a:r>
              <a:rPr kumimoji="1" lang="ja-JP" altLang="en-US" sz="1600" dirty="0">
                <a:latin typeface="Meiryo UI" panose="020B0604030504040204" pitchFamily="50" charset="-128"/>
                <a:ea typeface="Meiryo UI" panose="020B0604030504040204" pitchFamily="50" charset="-128"/>
              </a:rPr>
              <a:t>年</a:t>
            </a:r>
            <a:r>
              <a:rPr kumimoji="1" lang="en-US" altLang="ja-JP" sz="1600" dirty="0">
                <a:latin typeface="Meiryo UI" panose="020B0604030504040204" pitchFamily="50" charset="-128"/>
                <a:ea typeface="Meiryo UI" panose="020B0604030504040204" pitchFamily="50" charset="-128"/>
              </a:rPr>
              <a:t>10</a:t>
            </a:r>
            <a:r>
              <a:rPr lang="ja-JP" altLang="en-US" sz="1600" dirty="0">
                <a:latin typeface="Meiryo UI" panose="020B0604030504040204" pitchFamily="50" charset="-128"/>
                <a:ea typeface="Meiryo UI" panose="020B0604030504040204" pitchFamily="50" charset="-128"/>
              </a:rPr>
              <a:t>月現在の</a:t>
            </a:r>
            <a:r>
              <a:rPr lang="en-US" altLang="ja-JP" sz="1600" dirty="0" err="1">
                <a:latin typeface="Meiryo UI" panose="020B0604030504040204" pitchFamily="50" charset="-128"/>
                <a:ea typeface="Meiryo UI" panose="020B0604030504040204" pitchFamily="50" charset="-128"/>
              </a:rPr>
              <a:t>egaku</a:t>
            </a:r>
            <a:r>
              <a:rPr lang="ja-JP" altLang="en-US" sz="1600" dirty="0">
                <a:latin typeface="Meiryo UI" panose="020B0604030504040204" pitchFamily="50" charset="-128"/>
                <a:ea typeface="Meiryo UI" panose="020B0604030504040204" pitchFamily="50" charset="-128"/>
              </a:rPr>
              <a:t>内「</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ツール</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ナースコールモニター」モジュールの既存機能を一部参考するが、基本的には改めてプロダクトオーナーおよびユーザーの要求を確認し機能要件を定義する。</a:t>
            </a:r>
            <a:endParaRPr kumimoji="1" lang="ja-JP" altLang="en-US" sz="1600" dirty="0">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68220104-08E8-3D55-06D7-B18D3AB7CE0A}"/>
              </a:ext>
            </a:extLst>
          </p:cNvPr>
          <p:cNvSpPr/>
          <p:nvPr/>
        </p:nvSpPr>
        <p:spPr>
          <a:xfrm>
            <a:off x="1150886" y="4472847"/>
            <a:ext cx="981233" cy="179234"/>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テキスト ボックス 9">
            <a:extLst>
              <a:ext uri="{FF2B5EF4-FFF2-40B4-BE49-F238E27FC236}">
                <a16:creationId xmlns:a16="http://schemas.microsoft.com/office/drawing/2014/main" id="{FC504C51-D6A2-64F1-99D2-EEC5518D5F87}"/>
              </a:ext>
            </a:extLst>
          </p:cNvPr>
          <p:cNvSpPr txBox="1"/>
          <p:nvPr/>
        </p:nvSpPr>
        <p:spPr>
          <a:xfrm>
            <a:off x="692773" y="2168438"/>
            <a:ext cx="4932419" cy="307777"/>
          </a:xfrm>
          <a:prstGeom prst="rect">
            <a:avLst/>
          </a:prstGeom>
          <a:noFill/>
        </p:spPr>
        <p:txBody>
          <a:bodyPr wrap="square" rtlCol="0">
            <a:spAutoFit/>
          </a:bodyPr>
          <a:lstStyle/>
          <a:p>
            <a:r>
              <a:rPr kumimoji="1" lang="en-US" altLang="ja-JP" sz="1400" dirty="0" err="1">
                <a:latin typeface="Meiryo UI" panose="020B0604030504040204" pitchFamily="50" charset="-128"/>
                <a:ea typeface="Meiryo UI" panose="020B0604030504040204" pitchFamily="50" charset="-128"/>
              </a:rPr>
              <a:t>egaku</a:t>
            </a:r>
            <a:r>
              <a:rPr lang="ja-JP" altLang="en-US" sz="1400" dirty="0">
                <a:latin typeface="Meiryo UI" panose="020B0604030504040204" pitchFamily="50" charset="-128"/>
                <a:ea typeface="Meiryo UI" panose="020B0604030504040204" pitchFamily="50" charset="-128"/>
              </a:rPr>
              <a:t> </a:t>
            </a:r>
            <a:r>
              <a:rPr lang="en-US" altLang="ja-JP" sz="1400" dirty="0">
                <a:latin typeface="Meiryo UI" panose="020B0604030504040204" pitchFamily="50" charset="-128"/>
                <a:ea typeface="Meiryo UI" panose="020B0604030504040204" pitchFamily="50" charset="-128"/>
              </a:rPr>
              <a:t>TOP</a:t>
            </a:r>
            <a:r>
              <a:rPr lang="ja-JP" altLang="en-US" sz="1400" dirty="0">
                <a:latin typeface="Meiryo UI" panose="020B0604030504040204" pitchFamily="50" charset="-128"/>
                <a:ea typeface="Meiryo UI" panose="020B0604030504040204" pitchFamily="50" charset="-128"/>
              </a:rPr>
              <a:t>ページ　赤枠内「ナースコールモニター」モジュール</a:t>
            </a:r>
            <a:endParaRPr kumimoji="1" lang="ja-JP" altLang="en-US" sz="1400" dirty="0">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E58A73E1-8437-4C00-258E-2E965AACECB1}"/>
              </a:ext>
            </a:extLst>
          </p:cNvPr>
          <p:cNvSpPr txBox="1"/>
          <p:nvPr/>
        </p:nvSpPr>
        <p:spPr>
          <a:xfrm>
            <a:off x="6216479" y="2168438"/>
            <a:ext cx="3980713"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「ナースコールモニター」モジュール　</a:t>
            </a:r>
            <a:r>
              <a:rPr lang="en-US" altLang="ja-JP" sz="1400" dirty="0">
                <a:latin typeface="Meiryo UI" panose="020B0604030504040204" pitchFamily="50" charset="-128"/>
                <a:ea typeface="Meiryo UI" panose="020B0604030504040204" pitchFamily="50" charset="-128"/>
              </a:rPr>
              <a:t>2023</a:t>
            </a:r>
            <a:r>
              <a:rPr lang="ja-JP" altLang="en-US" sz="1400" dirty="0">
                <a:latin typeface="Meiryo UI" panose="020B0604030504040204" pitchFamily="50" charset="-128"/>
                <a:ea typeface="Meiryo UI" panose="020B0604030504040204" pitchFamily="50" charset="-128"/>
              </a:rPr>
              <a:t>年</a:t>
            </a:r>
            <a:r>
              <a:rPr lang="en-US" altLang="ja-JP" sz="1400" dirty="0">
                <a:latin typeface="Meiryo UI" panose="020B0604030504040204" pitchFamily="50" charset="-128"/>
                <a:ea typeface="Meiryo UI" panose="020B0604030504040204" pitchFamily="50" charset="-128"/>
              </a:rPr>
              <a:t>10</a:t>
            </a:r>
            <a:r>
              <a:rPr lang="ja-JP" altLang="en-US" sz="1400" dirty="0">
                <a:latin typeface="Meiryo UI" panose="020B0604030504040204" pitchFamily="50" charset="-128"/>
                <a:ea typeface="Meiryo UI" panose="020B0604030504040204" pitchFamily="50" charset="-128"/>
              </a:rPr>
              <a:t>月現在</a:t>
            </a:r>
            <a:endParaRPr kumimoji="1" lang="ja-JP" altLang="en-US" sz="14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956ED5FD-7449-5554-9949-D01CA393AA53}"/>
              </a:ext>
            </a:extLst>
          </p:cNvPr>
          <p:cNvSpPr>
            <a:spLocks noGrp="1"/>
          </p:cNvSpPr>
          <p:nvPr>
            <p:ph type="title"/>
          </p:nvPr>
        </p:nvSpPr>
        <p:spPr/>
        <p:txBody>
          <a:bodyPr/>
          <a:lstStyle/>
          <a:p>
            <a:pPr rtl="0" eaLnBrk="1" latinLnBrk="0" hangingPunct="1"/>
            <a:r>
              <a:rPr kumimoji="1" lang="ja-JP" altLang="ja-JP" sz="2000" b="0" kern="1200" dirty="0">
                <a:solidFill>
                  <a:srgbClr val="000000"/>
                </a:solidFill>
                <a:effectLst/>
                <a:cs typeface="+mn-cs"/>
              </a:rPr>
              <a:t>前提条件</a:t>
            </a:r>
            <a:endParaRPr lang="ja-JP" altLang="ja-JP" b="0" dirty="0">
              <a:effectLst/>
            </a:endParaRPr>
          </a:p>
        </p:txBody>
      </p:sp>
    </p:spTree>
    <p:extLst>
      <p:ext uri="{BB962C8B-B14F-4D97-AF65-F5344CB8AC3E}">
        <p14:creationId xmlns:p14="http://schemas.microsoft.com/office/powerpoint/2010/main" val="1957852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A9CFFBB-D2E5-B9F5-4C0C-FDDF56694D1F}"/>
              </a:ext>
            </a:extLst>
          </p:cNvPr>
          <p:cNvSpPr txBox="1"/>
          <p:nvPr/>
        </p:nvSpPr>
        <p:spPr>
          <a:xfrm>
            <a:off x="651953" y="1103809"/>
            <a:ext cx="9658695" cy="5047536"/>
          </a:xfrm>
          <a:prstGeom prst="rect">
            <a:avLst/>
          </a:prstGeom>
          <a:noFill/>
          <a:ln>
            <a:noFill/>
          </a:ln>
        </p:spPr>
        <p:txBody>
          <a:bodyPr wrap="square" rtlCol="0">
            <a:spAutoFit/>
          </a:bodyPr>
          <a:lstStyle/>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ユーザーおよびユースケース</a:t>
            </a:r>
            <a:br>
              <a:rPr kumimoji="1" lang="en-US" altLang="ja-JP" sz="1400" dirty="0">
                <a:latin typeface="Meiryo UI" panose="020B0604030504040204" pitchFamily="50" charset="-128"/>
                <a:ea typeface="Meiryo UI" panose="020B0604030504040204" pitchFamily="50" charset="-128"/>
              </a:rPr>
            </a:br>
            <a:r>
              <a:rPr kumimoji="1" lang="ja-JP" altLang="en-US" sz="1400" dirty="0">
                <a:latin typeface="Meiryo UI" panose="020B0604030504040204" pitchFamily="50" charset="-128"/>
                <a:ea typeface="Meiryo UI" panose="020B0604030504040204" pitchFamily="50" charset="-128"/>
              </a:rPr>
              <a:t>下記のユーザーおよびユースケース</a:t>
            </a:r>
            <a:r>
              <a:rPr lang="ja-JP" altLang="en-US" sz="1400" dirty="0">
                <a:latin typeface="Meiryo UI" panose="020B0604030504040204" pitchFamily="50" charset="-128"/>
                <a:ea typeface="Meiryo UI" panose="020B0604030504040204" pitchFamily="50" charset="-128"/>
              </a:rPr>
              <a:t>のときに</a:t>
            </a:r>
            <a:r>
              <a:rPr kumimoji="1" lang="ja-JP" altLang="en-US" sz="1400" dirty="0">
                <a:latin typeface="Meiryo UI" panose="020B0604030504040204" pitchFamily="50" charset="-128"/>
                <a:ea typeface="Meiryo UI" panose="020B0604030504040204" pitchFamily="50" charset="-128"/>
              </a:rPr>
              <a:t>本プロダクトが利用されることを想定する。</a:t>
            </a:r>
            <a:endParaRPr kumimoji="1"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kumimoji="1" lang="ja-JP" altLang="en-US" sz="1400" dirty="0">
                <a:latin typeface="Meiryo UI" panose="020B0604030504040204" pitchFamily="50" charset="-128"/>
                <a:ea typeface="Meiryo UI" panose="020B0604030504040204" pitchFamily="50" charset="-128"/>
              </a:rPr>
              <a:t>ホーム管理者・職員</a:t>
            </a:r>
            <a:r>
              <a:rPr lang="ja-JP" altLang="en-US" sz="1400" dirty="0">
                <a:latin typeface="Meiryo UI" panose="020B0604030504040204" pitchFamily="50" charset="-128"/>
                <a:ea typeface="Meiryo UI" panose="020B0604030504040204" pitchFamily="50" charset="-128"/>
              </a:rPr>
              <a:t>（メインユーザー）</a:t>
            </a:r>
            <a:endParaRPr kumimoji="1" lang="en-US" altLang="ja-JP" sz="1400" dirty="0">
              <a:latin typeface="Meiryo UI" panose="020B0604030504040204" pitchFamily="50" charset="-128"/>
              <a:ea typeface="Meiryo UI" panose="020B0604030504040204" pitchFamily="50" charset="-128"/>
            </a:endParaRPr>
          </a:p>
          <a:p>
            <a:pPr marL="1257300" lvl="2" indent="-342900">
              <a:buFont typeface="+mj-ea"/>
              <a:buAutoNum type="circleNumDbPlain"/>
            </a:pPr>
            <a:r>
              <a:rPr lang="ja-JP" altLang="en-US" sz="1400" dirty="0">
                <a:latin typeface="Meiryo UI" panose="020B0604030504040204" pitchFamily="50" charset="-128"/>
                <a:ea typeface="Meiryo UI" panose="020B0604030504040204" pitchFamily="50" charset="-128"/>
              </a:rPr>
              <a:t>所属</a:t>
            </a:r>
            <a:r>
              <a:rPr kumimoji="1" lang="ja-JP" altLang="en-US" sz="1400" dirty="0">
                <a:latin typeface="Meiryo UI" panose="020B0604030504040204" pitchFamily="50" charset="-128"/>
                <a:ea typeface="Meiryo UI" panose="020B0604030504040204" pitchFamily="50" charset="-128"/>
              </a:rPr>
              <a:t>ホームの</a:t>
            </a:r>
            <a:r>
              <a:rPr lang="ja-JP" altLang="en-US" sz="1400" dirty="0">
                <a:latin typeface="Meiryo UI" panose="020B0604030504040204" pitchFamily="50" charset="-128"/>
                <a:ea typeface="Meiryo UI" panose="020B0604030504040204" pitchFamily="50" charset="-128"/>
              </a:rPr>
              <a:t>ナースコール呼出の日次</a:t>
            </a:r>
            <a:r>
              <a:rPr kumimoji="1" lang="ja-JP" altLang="en-US" sz="1400" dirty="0">
                <a:latin typeface="Meiryo UI" panose="020B0604030504040204" pitchFamily="50" charset="-128"/>
                <a:ea typeface="Meiryo UI" panose="020B0604030504040204" pitchFamily="50" charset="-128"/>
              </a:rPr>
              <a:t>数値およびこれまでの経過を確認したい。</a:t>
            </a:r>
            <a:endParaRPr lang="en-US" altLang="ja-JP" sz="1400" dirty="0">
              <a:latin typeface="Meiryo UI" panose="020B0604030504040204" pitchFamily="50" charset="-128"/>
              <a:ea typeface="Meiryo UI" panose="020B0604030504040204" pitchFamily="50" charset="-128"/>
            </a:endParaRPr>
          </a:p>
          <a:p>
            <a:pPr marL="1257300" lvl="2" indent="-342900">
              <a:buFont typeface="+mj-lt"/>
              <a:buAutoNum type="circleNumDbPlain"/>
            </a:pPr>
            <a:r>
              <a:rPr lang="ja-JP" altLang="en-US" sz="1400" dirty="0">
                <a:latin typeface="Meiryo UI" panose="020B0604030504040204" pitchFamily="50" charset="-128"/>
                <a:ea typeface="Meiryo UI" panose="020B0604030504040204" pitchFamily="50" charset="-128"/>
              </a:rPr>
              <a:t>所属</a:t>
            </a:r>
            <a:r>
              <a:rPr kumimoji="1" lang="ja-JP" altLang="en-US" sz="1400" dirty="0">
                <a:latin typeface="Meiryo UI" panose="020B0604030504040204" pitchFamily="50" charset="-128"/>
                <a:ea typeface="Meiryo UI" panose="020B0604030504040204" pitchFamily="50" charset="-128"/>
              </a:rPr>
              <a:t>ホームのナースコール</a:t>
            </a:r>
            <a:r>
              <a:rPr lang="ja-JP" altLang="en-US" sz="1400" dirty="0">
                <a:latin typeface="Meiryo UI" panose="020B0604030504040204" pitchFamily="50" charset="-128"/>
                <a:ea typeface="Meiryo UI" panose="020B0604030504040204" pitchFamily="50" charset="-128"/>
              </a:rPr>
              <a:t>呼出</a:t>
            </a:r>
            <a:r>
              <a:rPr kumimoji="1" lang="ja-JP" altLang="en-US" sz="1400" dirty="0">
                <a:latin typeface="Meiryo UI" panose="020B0604030504040204" pitchFamily="50" charset="-128"/>
                <a:ea typeface="Meiryo UI" panose="020B0604030504040204" pitchFamily="50" charset="-128"/>
              </a:rPr>
              <a:t>状況</a:t>
            </a:r>
            <a:r>
              <a:rPr lang="ja-JP" altLang="en-US" sz="1400" dirty="0">
                <a:latin typeface="Meiryo UI" panose="020B0604030504040204" pitchFamily="50" charset="-128"/>
                <a:ea typeface="Meiryo UI" panose="020B0604030504040204" pitchFamily="50" charset="-128"/>
              </a:rPr>
              <a:t>に</a:t>
            </a:r>
            <a:r>
              <a:rPr kumimoji="1" lang="ja-JP" altLang="en-US" sz="1400" dirty="0">
                <a:latin typeface="Meiryo UI" panose="020B0604030504040204" pitchFamily="50" charset="-128"/>
                <a:ea typeface="Meiryo UI" panose="020B0604030504040204" pitchFamily="50" charset="-128"/>
              </a:rPr>
              <a:t>基づく運営上の課題を把握したい。</a:t>
            </a:r>
            <a:endParaRPr kumimoji="1" lang="en-US" altLang="ja-JP" sz="1400" dirty="0">
              <a:latin typeface="Meiryo UI" panose="020B0604030504040204" pitchFamily="50" charset="-128"/>
              <a:ea typeface="Meiryo UI" panose="020B0604030504040204" pitchFamily="50" charset="-128"/>
            </a:endParaRPr>
          </a:p>
          <a:p>
            <a:pPr marL="1257300" lvl="2" indent="-342900">
              <a:buFont typeface="+mj-lt"/>
              <a:buAutoNum type="circleNumDbPlain"/>
            </a:pPr>
            <a:r>
              <a:rPr lang="ja-JP" altLang="en-US" sz="1400" dirty="0">
                <a:latin typeface="Meiryo UI" panose="020B0604030504040204" pitchFamily="50" charset="-128"/>
                <a:ea typeface="Meiryo UI" panose="020B0604030504040204" pitchFamily="50" charset="-128"/>
              </a:rPr>
              <a:t>所属</a:t>
            </a:r>
            <a:r>
              <a:rPr kumimoji="1" lang="ja-JP" altLang="en-US" sz="1400" dirty="0">
                <a:latin typeface="Meiryo UI" panose="020B0604030504040204" pitchFamily="50" charset="-128"/>
                <a:ea typeface="Meiryo UI" panose="020B0604030504040204" pitchFamily="50" charset="-128"/>
              </a:rPr>
              <a:t>ホームの</a:t>
            </a:r>
            <a:r>
              <a:rPr lang="ja-JP" altLang="en-US" sz="1400" dirty="0">
                <a:latin typeface="Meiryo UI" panose="020B0604030504040204" pitchFamily="50" charset="-128"/>
                <a:ea typeface="Meiryo UI" panose="020B0604030504040204" pitchFamily="50" charset="-128"/>
              </a:rPr>
              <a:t>各入居者においてナースコール呼出状況から発せられる</a:t>
            </a:r>
            <a:r>
              <a:rPr kumimoji="1" lang="ja-JP" altLang="en-US" sz="1400" dirty="0">
                <a:latin typeface="Meiryo UI" panose="020B0604030504040204" pitchFamily="50" charset="-128"/>
                <a:ea typeface="Meiryo UI" panose="020B0604030504040204" pitchFamily="50" charset="-128"/>
              </a:rPr>
              <a:t>課題への解決策を考えたい。</a:t>
            </a:r>
            <a:endParaRPr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kumimoji="1" lang="ja-JP" altLang="en-US" sz="1400" dirty="0">
                <a:latin typeface="Meiryo UI" panose="020B0604030504040204" pitchFamily="50" charset="-128"/>
                <a:ea typeface="Meiryo UI" panose="020B0604030504040204" pitchFamily="50" charset="-128"/>
              </a:rPr>
              <a:t>事業部長・サービス品質課・未来の介護推進部（サブユーザー）</a:t>
            </a:r>
            <a:endParaRPr kumimoji="1" lang="en-US" altLang="ja-JP" sz="1400" dirty="0">
              <a:latin typeface="Meiryo UI" panose="020B0604030504040204" pitchFamily="50" charset="-128"/>
              <a:ea typeface="Meiryo UI" panose="020B0604030504040204" pitchFamily="50" charset="-128"/>
            </a:endParaRPr>
          </a:p>
          <a:p>
            <a:pPr marL="1257300" lvl="2" indent="-342900">
              <a:buFont typeface="+mj-ea"/>
              <a:buAutoNum type="circleNumDbPlain"/>
            </a:pPr>
            <a:r>
              <a:rPr kumimoji="1" lang="ja-JP" altLang="en-US" sz="1400" dirty="0">
                <a:latin typeface="Meiryo UI" panose="020B0604030504040204" pitchFamily="50" charset="-128"/>
                <a:ea typeface="Meiryo UI" panose="020B0604030504040204" pitchFamily="50" charset="-128"/>
              </a:rPr>
              <a:t>担当ホームの</a:t>
            </a:r>
            <a:r>
              <a:rPr lang="ja-JP" altLang="en-US" sz="1400" dirty="0">
                <a:latin typeface="Meiryo UI" panose="020B0604030504040204" pitchFamily="50" charset="-128"/>
                <a:ea typeface="Meiryo UI" panose="020B0604030504040204" pitchFamily="50" charset="-128"/>
              </a:rPr>
              <a:t>ナースコール呼出の日次</a:t>
            </a:r>
            <a:r>
              <a:rPr kumimoji="1" lang="ja-JP" altLang="en-US" sz="1400" dirty="0">
                <a:latin typeface="Meiryo UI" panose="020B0604030504040204" pitchFamily="50" charset="-128"/>
                <a:ea typeface="Meiryo UI" panose="020B0604030504040204" pitchFamily="50" charset="-128"/>
              </a:rPr>
              <a:t>数値およびこれまでの経過を確認したい。</a:t>
            </a:r>
            <a:endParaRPr lang="en-US" altLang="ja-JP" sz="1400" dirty="0">
              <a:latin typeface="Meiryo UI" panose="020B0604030504040204" pitchFamily="50" charset="-128"/>
              <a:ea typeface="Meiryo UI" panose="020B0604030504040204" pitchFamily="50" charset="-128"/>
            </a:endParaRPr>
          </a:p>
          <a:p>
            <a:pPr marL="1257300" lvl="2" indent="-342900">
              <a:buFont typeface="+mj-lt"/>
              <a:buAutoNum type="circleNumDbPlain"/>
            </a:pPr>
            <a:r>
              <a:rPr kumimoji="1" lang="ja-JP" altLang="en-US" sz="1400" dirty="0">
                <a:latin typeface="Meiryo UI" panose="020B0604030504040204" pitchFamily="50" charset="-128"/>
                <a:ea typeface="Meiryo UI" panose="020B0604030504040204" pitchFamily="50" charset="-128"/>
              </a:rPr>
              <a:t>担当ホームのナースコール</a:t>
            </a:r>
            <a:r>
              <a:rPr lang="ja-JP" altLang="en-US" sz="1400" dirty="0">
                <a:latin typeface="Meiryo UI" panose="020B0604030504040204" pitchFamily="50" charset="-128"/>
                <a:ea typeface="Meiryo UI" panose="020B0604030504040204" pitchFamily="50" charset="-128"/>
              </a:rPr>
              <a:t>呼出</a:t>
            </a:r>
            <a:r>
              <a:rPr kumimoji="1" lang="ja-JP" altLang="en-US" sz="1400" dirty="0">
                <a:latin typeface="Meiryo UI" panose="020B0604030504040204" pitchFamily="50" charset="-128"/>
                <a:ea typeface="Meiryo UI" panose="020B0604030504040204" pitchFamily="50" charset="-128"/>
              </a:rPr>
              <a:t>状況</a:t>
            </a:r>
            <a:r>
              <a:rPr lang="ja-JP" altLang="en-US" sz="1400" dirty="0">
                <a:latin typeface="Meiryo UI" panose="020B0604030504040204" pitchFamily="50" charset="-128"/>
                <a:ea typeface="Meiryo UI" panose="020B0604030504040204" pitchFamily="50" charset="-128"/>
              </a:rPr>
              <a:t>に</a:t>
            </a:r>
            <a:r>
              <a:rPr kumimoji="1" lang="ja-JP" altLang="en-US" sz="1400" dirty="0">
                <a:latin typeface="Meiryo UI" panose="020B0604030504040204" pitchFamily="50" charset="-128"/>
                <a:ea typeface="Meiryo UI" panose="020B0604030504040204" pitchFamily="50" charset="-128"/>
              </a:rPr>
              <a:t>基づく運営上の課題を把握したい。</a:t>
            </a:r>
            <a:endParaRPr kumimoji="1" lang="en-US" altLang="ja-JP" sz="1400" dirty="0">
              <a:latin typeface="Meiryo UI" panose="020B0604030504040204" pitchFamily="50" charset="-128"/>
              <a:ea typeface="Meiryo UI" panose="020B0604030504040204" pitchFamily="50" charset="-128"/>
            </a:endParaRPr>
          </a:p>
          <a:p>
            <a:pPr lvl="2"/>
            <a:endParaRPr lang="en-US" altLang="ja-JP" sz="1400" dirty="0">
              <a:latin typeface="Meiryo UI" panose="020B0604030504040204" pitchFamily="50" charset="-128"/>
              <a:ea typeface="Meiryo UI" panose="020B0604030504040204" pitchFamily="50" charset="-128"/>
            </a:endParaRPr>
          </a:p>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想定アクセス頻度</a:t>
            </a:r>
            <a:br>
              <a:rPr kumimoji="1" lang="en-US" altLang="ja-JP" sz="1400" dirty="0">
                <a:latin typeface="Meiryo UI" panose="020B0604030504040204" pitchFamily="50" charset="-128"/>
                <a:ea typeface="Meiryo UI" panose="020B0604030504040204" pitchFamily="50" charset="-128"/>
              </a:rPr>
            </a:br>
            <a:r>
              <a:rPr kumimoji="1" lang="ja-JP" altLang="en-US" sz="1400" dirty="0">
                <a:latin typeface="Meiryo UI" panose="020B0604030504040204" pitchFamily="50" charset="-128"/>
                <a:ea typeface="Meiryo UI" panose="020B0604030504040204" pitchFamily="50" charset="-128"/>
              </a:rPr>
              <a:t>モジュールの画面によって異なる。画面の詳細は機能要件を参考。</a:t>
            </a:r>
            <a:endParaRPr kumimoji="1"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kumimoji="1" lang="ja-JP" altLang="en-US" sz="1400" dirty="0">
                <a:latin typeface="Meiryo UI" panose="020B0604030504040204" pitchFamily="50" charset="-128"/>
                <a:ea typeface="Meiryo UI" panose="020B0604030504040204" pitchFamily="50" charset="-128"/>
              </a:rPr>
              <a:t>月々の推移（入居者個別推移</a:t>
            </a:r>
            <a:r>
              <a:rPr kumimoji="1" lang="en-US" altLang="ja-JP" sz="1400" dirty="0">
                <a:latin typeface="Meiryo UI" panose="020B0604030504040204" pitchFamily="50" charset="-128"/>
                <a:ea typeface="Meiryo UI" panose="020B0604030504040204" pitchFamily="50" charset="-128"/>
              </a:rPr>
              <a:t>drawer</a:t>
            </a:r>
            <a:r>
              <a:rPr kumimoji="1" lang="ja-JP" altLang="en-US" sz="1400" dirty="0">
                <a:latin typeface="Meiryo UI" panose="020B0604030504040204" pitchFamily="50" charset="-128"/>
                <a:ea typeface="Meiryo UI" panose="020B0604030504040204" pitchFamily="50" charset="-128"/>
              </a:rPr>
              <a:t>含む）</a:t>
            </a:r>
            <a:endParaRPr kumimoji="1" lang="en-US" altLang="ja-JP" sz="1400" dirty="0">
              <a:latin typeface="Meiryo UI" panose="020B0604030504040204" pitchFamily="50" charset="-128"/>
              <a:ea typeface="Meiryo UI" panose="020B0604030504040204" pitchFamily="50" charset="-128"/>
            </a:endParaRPr>
          </a:p>
          <a:p>
            <a:pPr marL="1257300" lvl="2" indent="-342900">
              <a:buFont typeface="+mj-ea"/>
              <a:buAutoNum type="circleNumDbPlain"/>
            </a:pPr>
            <a:r>
              <a:rPr lang="ja-JP" altLang="en-US" sz="1400" dirty="0">
                <a:latin typeface="Meiryo UI" panose="020B0604030504040204" pitchFamily="50" charset="-128"/>
                <a:ea typeface="Meiryo UI" panose="020B0604030504040204" pitchFamily="50" charset="-128"/>
              </a:rPr>
              <a:t>週</a:t>
            </a: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回以上</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理由：データは毎日更新される。非定時援助への取り組み状況によりユーザーごとで有効なアクセス頻度は異なるが、日々のナースコール呼出状況把握のため最低週</a:t>
            </a: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度は参考されたい。</a:t>
            </a:r>
            <a:endParaRPr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kumimoji="1" lang="ja-JP" altLang="en-US" sz="1400" dirty="0">
                <a:latin typeface="Meiryo UI" panose="020B0604030504040204" pitchFamily="50" charset="-128"/>
                <a:ea typeface="Meiryo UI" panose="020B0604030504040204" pitchFamily="50" charset="-128"/>
              </a:rPr>
              <a:t>原因分析（入居者個別詳細</a:t>
            </a:r>
            <a:r>
              <a:rPr kumimoji="1" lang="en-US" altLang="ja-JP" sz="1400" dirty="0">
                <a:latin typeface="Meiryo UI" panose="020B0604030504040204" pitchFamily="50" charset="-128"/>
                <a:ea typeface="Meiryo UI" panose="020B0604030504040204" pitchFamily="50" charset="-128"/>
              </a:rPr>
              <a:t>drawer</a:t>
            </a:r>
            <a:r>
              <a:rPr kumimoji="1" lang="ja-JP" altLang="en-US" sz="1400" dirty="0">
                <a:latin typeface="Meiryo UI" panose="020B0604030504040204" pitchFamily="50" charset="-128"/>
                <a:ea typeface="Meiryo UI" panose="020B0604030504040204" pitchFamily="50" charset="-128"/>
              </a:rPr>
              <a:t>含む）</a:t>
            </a:r>
            <a:endParaRPr lang="en-US" altLang="ja-JP" sz="1400" dirty="0">
              <a:latin typeface="Meiryo UI" panose="020B0604030504040204" pitchFamily="50" charset="-128"/>
              <a:ea typeface="Meiryo UI" panose="020B0604030504040204" pitchFamily="50" charset="-128"/>
            </a:endParaRPr>
          </a:p>
          <a:p>
            <a:pPr marL="1257300" lvl="2" indent="-342900">
              <a:buFont typeface="+mj-lt"/>
              <a:buAutoNum type="circleNumDbPlain"/>
            </a:pPr>
            <a:r>
              <a:rPr lang="ja-JP" altLang="en-US" sz="1400" dirty="0">
                <a:latin typeface="Meiryo UI" panose="020B0604030504040204" pitchFamily="50" charset="-128"/>
                <a:ea typeface="Meiryo UI" panose="020B0604030504040204" pitchFamily="50" charset="-128"/>
              </a:rPr>
              <a:t>月</a:t>
            </a: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回以上</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理由：更新が月</a:t>
            </a:r>
            <a:r>
              <a:rPr lang="en-US" altLang="ja-JP" sz="1400" dirty="0">
                <a:latin typeface="Meiryo UI" panose="020B0604030504040204" pitchFamily="50" charset="-128"/>
                <a:ea typeface="Meiryo UI" panose="020B0604030504040204" pitchFamily="50" charset="-128"/>
              </a:rPr>
              <a:t>1</a:t>
            </a:r>
            <a:r>
              <a:rPr lang="ja-JP" altLang="en-US" sz="1400" dirty="0">
                <a:latin typeface="Meiryo UI" panose="020B0604030504040204" pitchFamily="50" charset="-128"/>
                <a:ea typeface="Meiryo UI" panose="020B0604030504040204" pitchFamily="50" charset="-128"/>
              </a:rPr>
              <a:t>度のため。</a:t>
            </a:r>
            <a:endParaRPr lang="en-US" altLang="ja-JP" sz="1400" dirty="0">
              <a:latin typeface="Meiryo UI" panose="020B0604030504040204" pitchFamily="50" charset="-128"/>
              <a:ea typeface="Meiryo UI" panose="020B0604030504040204" pitchFamily="50" charset="-128"/>
            </a:endParaRPr>
          </a:p>
          <a:p>
            <a:pPr marL="1257300" lvl="2" indent="-342900">
              <a:buFont typeface="+mj-lt"/>
              <a:buAutoNum type="circleNumDbPlain"/>
            </a:pPr>
            <a:endParaRPr lang="en-US" altLang="ja-JP" sz="1400" dirty="0">
              <a:latin typeface="Meiryo UI" panose="020B0604030504040204" pitchFamily="50" charset="-128"/>
              <a:ea typeface="Meiryo UI" panose="020B0604030504040204" pitchFamily="50" charset="-128"/>
            </a:endParaRPr>
          </a:p>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使用環境</a:t>
            </a:r>
            <a:br>
              <a:rPr kumimoji="1" lang="en-US" altLang="ja-JP" sz="1400" dirty="0">
                <a:latin typeface="Meiryo UI" panose="020B0604030504040204" pitchFamily="50" charset="-128"/>
                <a:ea typeface="Meiryo UI" panose="020B0604030504040204" pitchFamily="50" charset="-128"/>
              </a:rPr>
            </a:br>
            <a:r>
              <a:rPr kumimoji="1" lang="ja-JP" altLang="en-US" sz="1400" dirty="0">
                <a:latin typeface="Meiryo UI" panose="020B0604030504040204" pitchFamily="50" charset="-128"/>
                <a:ea typeface="Meiryo UI" panose="020B0604030504040204" pitchFamily="50" charset="-128"/>
              </a:rPr>
              <a:t>ホーム事務所などユーザーの業務場所、使用デバイスはデスクトップ</a:t>
            </a:r>
            <a:r>
              <a:rPr kumimoji="1" lang="en-US" altLang="ja-JP" sz="1400" dirty="0">
                <a:latin typeface="Meiryo UI" panose="020B0604030504040204" pitchFamily="50" charset="-128"/>
                <a:ea typeface="Meiryo UI" panose="020B0604030504040204" pitchFamily="50" charset="-128"/>
              </a:rPr>
              <a:t>PC</a:t>
            </a:r>
            <a:r>
              <a:rPr kumimoji="1" lang="ja-JP" altLang="en-US" sz="1400" dirty="0">
                <a:latin typeface="Meiryo UI" panose="020B0604030504040204" pitchFamily="50" charset="-128"/>
                <a:ea typeface="Meiryo UI" panose="020B0604030504040204" pitchFamily="50" charset="-128"/>
              </a:rPr>
              <a:t>もしくはノート</a:t>
            </a:r>
            <a:r>
              <a:rPr kumimoji="1" lang="en-US" altLang="ja-JP" sz="1400" dirty="0">
                <a:latin typeface="Meiryo UI" panose="020B0604030504040204" pitchFamily="50" charset="-128"/>
                <a:ea typeface="Meiryo UI" panose="020B0604030504040204" pitchFamily="50" charset="-128"/>
              </a:rPr>
              <a:t>PC</a:t>
            </a:r>
            <a:r>
              <a:rPr kumimoji="1" lang="ja-JP" altLang="en-US" sz="1400" dirty="0">
                <a:latin typeface="Meiryo UI" panose="020B0604030504040204" pitchFamily="50" charset="-128"/>
                <a:ea typeface="Meiryo UI" panose="020B0604030504040204" pitchFamily="50" charset="-128"/>
              </a:rPr>
              <a:t>。</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推奨環境は</a:t>
            </a:r>
            <a:r>
              <a:rPr lang="en-US" altLang="ja-JP" sz="1400" dirty="0">
                <a:latin typeface="Meiryo UI" panose="020B0604030504040204" pitchFamily="50" charset="-128"/>
                <a:ea typeface="Meiryo UI" panose="020B0604030504040204" pitchFamily="50" charset="-128"/>
              </a:rPr>
              <a:t>Palantir</a:t>
            </a:r>
            <a:r>
              <a:rPr lang="ja-JP" altLang="en-US" sz="1400" dirty="0">
                <a:latin typeface="Meiryo UI" panose="020B0604030504040204" pitchFamily="50" charset="-128"/>
                <a:ea typeface="Meiryo UI" panose="020B0604030504040204" pitchFamily="50" charset="-128"/>
              </a:rPr>
              <a:t>社</a:t>
            </a:r>
            <a:r>
              <a:rPr lang="en-US" altLang="ja-JP" sz="1400" dirty="0">
                <a:latin typeface="Meiryo UI" panose="020B0604030504040204" pitchFamily="50" charset="-128"/>
                <a:ea typeface="Meiryo UI" panose="020B0604030504040204" pitchFamily="50" charset="-128"/>
              </a:rPr>
              <a:t>Foundry(</a:t>
            </a:r>
            <a:r>
              <a:rPr lang="en-US" altLang="ja-JP" sz="1400" dirty="0" err="1">
                <a:latin typeface="Meiryo UI" panose="020B0604030504040204" pitchFamily="50" charset="-128"/>
                <a:ea typeface="Meiryo UI" panose="020B0604030504040204" pitchFamily="50" charset="-128"/>
              </a:rPr>
              <a:t>egaku</a:t>
            </a:r>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の定義と同じ。</a:t>
            </a:r>
            <a:endParaRPr kumimoji="1" lang="en-US" altLang="ja-JP" sz="1400" dirty="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E70C6A69-951F-410C-51D6-672A0E034D39}"/>
              </a:ext>
            </a:extLst>
          </p:cNvPr>
          <p:cNvSpPr>
            <a:spLocks noGrp="1"/>
          </p:cNvSpPr>
          <p:nvPr>
            <p:ph type="title"/>
          </p:nvPr>
        </p:nvSpPr>
        <p:spPr/>
        <p:txBody>
          <a:bodyPr/>
          <a:lstStyle/>
          <a:p>
            <a:pPr rtl="0" eaLnBrk="1" latinLnBrk="0" hangingPunct="1"/>
            <a:r>
              <a:rPr kumimoji="1" lang="ja-JP" altLang="en-US" sz="2000" b="0" kern="1200" dirty="0">
                <a:solidFill>
                  <a:srgbClr val="000000"/>
                </a:solidFill>
                <a:effectLst/>
                <a:cs typeface="+mn-cs"/>
              </a:rPr>
              <a:t>ユーザーおよびユースケース、想定アクセス頻度、使用環境</a:t>
            </a:r>
            <a:endParaRPr lang="ja-JP" altLang="ja-JP" b="0" dirty="0">
              <a:effectLst/>
            </a:endParaRPr>
          </a:p>
        </p:txBody>
      </p:sp>
    </p:spTree>
    <p:extLst>
      <p:ext uri="{BB962C8B-B14F-4D97-AF65-F5344CB8AC3E}">
        <p14:creationId xmlns:p14="http://schemas.microsoft.com/office/powerpoint/2010/main" val="426960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A7E43BB-295D-262A-7AEF-04F90970BA31}"/>
              </a:ext>
            </a:extLst>
          </p:cNvPr>
          <p:cNvSpPr txBox="1"/>
          <p:nvPr/>
        </p:nvSpPr>
        <p:spPr>
          <a:xfrm>
            <a:off x="651953" y="1019139"/>
            <a:ext cx="10176914" cy="5262979"/>
          </a:xfrm>
          <a:prstGeom prst="rect">
            <a:avLst/>
          </a:prstGeom>
          <a:noFill/>
          <a:ln>
            <a:noFill/>
          </a:ln>
        </p:spPr>
        <p:txBody>
          <a:bodyPr wrap="square" rtlCol="0">
            <a:spAutoFit/>
          </a:bodyPr>
          <a:lstStyle/>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本モジュールが解決する課題</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ホーム全体でナースコール呼出の推移やホームごとの特徴が分かりづらい。</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ナースコール呼出の状況に基づいた非定時援助のアセスメントが難しい。</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endParaRPr lang="en-US" altLang="ja-JP" sz="1400" dirty="0">
              <a:latin typeface="Meiryo UI" panose="020B0604030504040204" pitchFamily="50" charset="-128"/>
              <a:ea typeface="Meiryo UI" panose="020B0604030504040204" pitchFamily="50" charset="-128"/>
            </a:endParaRPr>
          </a:p>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本モジュールの目的</a:t>
            </a:r>
            <a:endParaRPr kumimoji="1"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kumimoji="1" lang="ja-JP" altLang="en-US" sz="1400" dirty="0">
                <a:latin typeface="Meiryo UI" panose="020B0604030504040204" pitchFamily="50" charset="-128"/>
                <a:ea typeface="Meiryo UI" panose="020B0604030504040204" pitchFamily="50" charset="-128"/>
              </a:rPr>
              <a:t>ナースコール</a:t>
            </a:r>
            <a:r>
              <a:rPr lang="ja-JP" altLang="en-US" sz="1400" dirty="0">
                <a:latin typeface="Meiryo UI" panose="020B0604030504040204" pitchFamily="50" charset="-128"/>
                <a:ea typeface="Meiryo UI" panose="020B0604030504040204" pitchFamily="50" charset="-128"/>
              </a:rPr>
              <a:t>呼出</a:t>
            </a:r>
            <a:r>
              <a:rPr kumimoji="1" lang="ja-JP" altLang="en-US" sz="1400" dirty="0">
                <a:latin typeface="Meiryo UI" panose="020B0604030504040204" pitchFamily="50" charset="-128"/>
                <a:ea typeface="Meiryo UI" panose="020B0604030504040204" pitchFamily="50" charset="-128"/>
              </a:rPr>
              <a:t>が常態化している入居者</a:t>
            </a:r>
            <a:r>
              <a:rPr lang="ja-JP" altLang="en-US" sz="1400" dirty="0">
                <a:latin typeface="Meiryo UI" panose="020B0604030504040204" pitchFamily="50" charset="-128"/>
                <a:ea typeface="Meiryo UI" panose="020B0604030504040204" pitchFamily="50" charset="-128"/>
              </a:rPr>
              <a:t>のアセスメント</a:t>
            </a:r>
            <a:r>
              <a:rPr kumimoji="1" lang="ja-JP" altLang="en-US" sz="1400" dirty="0">
                <a:latin typeface="Meiryo UI" panose="020B0604030504040204" pitchFamily="50" charset="-128"/>
                <a:ea typeface="Meiryo UI" panose="020B0604030504040204" pitchFamily="50" charset="-128"/>
              </a:rPr>
              <a:t>に資する情報</a:t>
            </a:r>
            <a:r>
              <a:rPr lang="ja-JP" altLang="en-US" sz="1400" dirty="0">
                <a:latin typeface="Meiryo UI" panose="020B0604030504040204" pitchFamily="50" charset="-128"/>
                <a:ea typeface="Meiryo UI" panose="020B0604030504040204" pitchFamily="50" charset="-128"/>
              </a:rPr>
              <a:t>が</a:t>
            </a:r>
            <a:r>
              <a:rPr kumimoji="1" lang="ja-JP" altLang="en-US" sz="1400" dirty="0">
                <a:latin typeface="Meiryo UI" panose="020B0604030504040204" pitchFamily="50" charset="-128"/>
                <a:ea typeface="Meiryo UI" panose="020B0604030504040204" pitchFamily="50" charset="-128"/>
              </a:rPr>
              <a:t>確認できる。</a:t>
            </a:r>
            <a:endParaRPr lang="en-US" altLang="ja-JP" sz="1400" dirty="0">
              <a:latin typeface="Meiryo UI" panose="020B0604030504040204" pitchFamily="50" charset="-128"/>
              <a:ea typeface="Meiryo UI" panose="020B0604030504040204" pitchFamily="50" charset="-128"/>
            </a:endParaRPr>
          </a:p>
          <a:p>
            <a:pPr lvl="1"/>
            <a:endParaRPr lang="en-US" altLang="ja-JP" sz="1400" dirty="0">
              <a:latin typeface="Meiryo UI" panose="020B0604030504040204" pitchFamily="50" charset="-128"/>
              <a:ea typeface="Meiryo UI" panose="020B0604030504040204" pitchFamily="50" charset="-128"/>
            </a:endParaRPr>
          </a:p>
          <a:p>
            <a:pPr marL="400050" indent="-400050">
              <a:buFont typeface="+mj-lt"/>
              <a:buAutoNum type="romanUcPeriod" startAt="2"/>
            </a:pPr>
            <a:r>
              <a:rPr lang="ja-JP" altLang="en-US" sz="1400" dirty="0">
                <a:latin typeface="Meiryo UI" panose="020B0604030504040204" pitchFamily="50" charset="-128"/>
                <a:ea typeface="Meiryo UI" panose="020B0604030504040204" pitchFamily="50" charset="-128"/>
              </a:rPr>
              <a:t>本モジュール開発へのユーザー要求</a:t>
            </a:r>
            <a:endParaRPr kumimoji="1"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kumimoji="1" lang="ja-JP" altLang="en-US" sz="1400" dirty="0">
                <a:latin typeface="Meiryo UI" panose="020B0604030504040204" pitchFamily="50" charset="-128"/>
                <a:ea typeface="Meiryo UI" panose="020B0604030504040204" pitchFamily="50" charset="-128"/>
              </a:rPr>
              <a:t>ユーザーが自立して、ユーザーの好きなタイミングで</a:t>
            </a:r>
            <a:r>
              <a:rPr lang="ja-JP" altLang="en-US" sz="1400" dirty="0">
                <a:latin typeface="Meiryo UI" panose="020B0604030504040204" pitchFamily="50" charset="-128"/>
                <a:ea typeface="Meiryo UI" panose="020B0604030504040204" pitchFamily="50" charset="-128"/>
              </a:rPr>
              <a:t>ナースコール</a:t>
            </a:r>
            <a:r>
              <a:rPr kumimoji="1" lang="ja-JP" altLang="en-US" sz="1400" dirty="0">
                <a:latin typeface="Meiryo UI" panose="020B0604030504040204" pitchFamily="50" charset="-128"/>
                <a:ea typeface="Meiryo UI" panose="020B0604030504040204" pitchFamily="50" charset="-128"/>
              </a:rPr>
              <a:t>に関わる数値を分かりやすく確認したい</a:t>
            </a:r>
            <a:r>
              <a:rPr lang="ja-JP" altLang="en-US" sz="1400" dirty="0">
                <a:latin typeface="Meiryo UI" panose="020B0604030504040204" pitchFamily="50" charset="-128"/>
                <a:ea typeface="Meiryo UI" panose="020B0604030504040204" pitchFamily="50" charset="-128"/>
              </a:rPr>
              <a:t>。</a:t>
            </a:r>
            <a:endParaRPr lang="en-US" altLang="ja-JP" sz="1400" dirty="0">
              <a:latin typeface="Meiryo UI" panose="020B0604030504040204" pitchFamily="50" charset="-128"/>
              <a:ea typeface="Meiryo UI" panose="020B0604030504040204" pitchFamily="50" charset="-128"/>
            </a:endParaRPr>
          </a:p>
          <a:p>
            <a:pPr marL="1257300" lvl="2" indent="-342900">
              <a:buFont typeface="+mj-ea"/>
              <a:buAutoNum type="circleNumDbPlain"/>
            </a:pPr>
            <a:r>
              <a:rPr lang="ja-JP" altLang="en-US" sz="1400" dirty="0">
                <a:latin typeface="Meiryo UI" panose="020B0604030504040204" pitchFamily="50" charset="-128"/>
                <a:ea typeface="Meiryo UI" panose="020B0604030504040204" pitchFamily="50" charset="-128"/>
              </a:rPr>
              <a:t>月々の推移</a:t>
            </a:r>
            <a:endParaRPr lang="en-US" altLang="ja-JP" sz="1400" dirty="0">
              <a:latin typeface="Meiryo UI" panose="020B0604030504040204" pitchFamily="50" charset="-128"/>
              <a:ea typeface="Meiryo UI" panose="020B0604030504040204" pitchFamily="50" charset="-128"/>
            </a:endParaRPr>
          </a:p>
          <a:p>
            <a:pPr marL="1714500" lvl="3" indent="-342900">
              <a:buFont typeface="+mj-lt"/>
              <a:buAutoNum type="alphaLcPeriod"/>
            </a:pPr>
            <a:r>
              <a:rPr lang="ja-JP" altLang="en-US" sz="1400" dirty="0">
                <a:latin typeface="Meiryo UI" panose="020B0604030504040204" pitchFamily="50" charset="-128"/>
                <a:ea typeface="Meiryo UI" panose="020B0604030504040204" pitchFamily="50" charset="-128"/>
              </a:rPr>
              <a:t>およそ半年間の期間でナースコール回数が多い入居者を確認したい。</a:t>
            </a:r>
            <a:endParaRPr lang="en-US" altLang="ja-JP" sz="1400" dirty="0">
              <a:latin typeface="Meiryo UI" panose="020B0604030504040204" pitchFamily="50" charset="-128"/>
              <a:ea typeface="Meiryo UI" panose="020B0604030504040204" pitchFamily="50" charset="-128"/>
            </a:endParaRPr>
          </a:p>
          <a:p>
            <a:pPr marL="1714500" lvl="3" indent="-342900">
              <a:buFont typeface="+mj-lt"/>
              <a:buAutoNum type="alphaLcPeriod"/>
            </a:pPr>
            <a:r>
              <a:rPr lang="ja-JP" altLang="en-US" sz="1400" dirty="0">
                <a:latin typeface="Meiryo UI" panose="020B0604030504040204" pitchFamily="50" charset="-128"/>
                <a:ea typeface="Meiryo UI" panose="020B0604030504040204" pitchFamily="50" charset="-128"/>
              </a:rPr>
              <a:t>ホームごとに合計された各月ナースコール回数をおよそ半年間の期間で確認したい。</a:t>
            </a:r>
            <a:endParaRPr lang="en-US" altLang="ja-JP" sz="1400" dirty="0">
              <a:latin typeface="Meiryo UI" panose="020B0604030504040204" pitchFamily="50" charset="-128"/>
              <a:ea typeface="Meiryo UI" panose="020B0604030504040204" pitchFamily="50" charset="-128"/>
            </a:endParaRPr>
          </a:p>
          <a:p>
            <a:pPr marL="1714500" lvl="3" indent="-342900">
              <a:buFont typeface="+mj-lt"/>
              <a:buAutoNum type="alphaLcPeriod"/>
            </a:pPr>
            <a:r>
              <a:rPr lang="ja-JP" altLang="en-US" sz="1400" dirty="0">
                <a:latin typeface="Meiryo UI" panose="020B0604030504040204" pitchFamily="50" charset="-128"/>
                <a:ea typeface="Meiryo UI" panose="020B0604030504040204" pitchFamily="50" charset="-128"/>
              </a:rPr>
              <a:t>各入居者のナースコール回数が多い日、曜日、時間帯を確認したい。</a:t>
            </a:r>
            <a:endParaRPr lang="en-US" altLang="ja-JP" sz="1400" dirty="0">
              <a:latin typeface="Meiryo UI" panose="020B0604030504040204" pitchFamily="50" charset="-128"/>
              <a:ea typeface="Meiryo UI" panose="020B0604030504040204" pitchFamily="50" charset="-128"/>
            </a:endParaRPr>
          </a:p>
          <a:p>
            <a:pPr marL="1257300" lvl="2" indent="-342900">
              <a:buFont typeface="+mj-ea"/>
              <a:buAutoNum type="circleNumDbPlain"/>
            </a:pPr>
            <a:r>
              <a:rPr kumimoji="1" lang="ja-JP" altLang="en-US" sz="1400" dirty="0">
                <a:latin typeface="Meiryo UI" panose="020B0604030504040204" pitchFamily="50" charset="-128"/>
                <a:ea typeface="Meiryo UI" panose="020B0604030504040204" pitchFamily="50" charset="-128"/>
              </a:rPr>
              <a:t>原因分析</a:t>
            </a:r>
            <a:br>
              <a:rPr kumimoji="1"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任意年月で</a:t>
            </a:r>
            <a:r>
              <a:rPr kumimoji="1" lang="ja-JP" altLang="en-US" sz="1400" dirty="0">
                <a:latin typeface="Meiryo UI" panose="020B0604030504040204" pitchFamily="50" charset="-128"/>
                <a:ea typeface="Meiryo UI" panose="020B0604030504040204" pitchFamily="50" charset="-128"/>
              </a:rPr>
              <a:t>まとまられた数値を確認</a:t>
            </a:r>
            <a:r>
              <a:rPr lang="ja-JP" altLang="en-US" sz="1400" dirty="0">
                <a:latin typeface="Meiryo UI" panose="020B0604030504040204" pitchFamily="50" charset="-128"/>
                <a:ea typeface="Meiryo UI" panose="020B0604030504040204" pitchFamily="50" charset="-128"/>
              </a:rPr>
              <a:t>したい</a:t>
            </a:r>
            <a:r>
              <a:rPr kumimoji="1" lang="ja-JP" altLang="en-US" sz="1400" dirty="0">
                <a:latin typeface="Meiryo UI" panose="020B0604030504040204" pitchFamily="50" charset="-128"/>
                <a:ea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endParaRPr>
          </a:p>
          <a:p>
            <a:pPr marL="1714500" lvl="3" indent="-342900">
              <a:buFont typeface="+mj-lt"/>
              <a:buAutoNum type="alphaLcPeriod"/>
            </a:pPr>
            <a:r>
              <a:rPr kumimoji="1" lang="ja-JP" altLang="en-US" sz="1400" dirty="0">
                <a:latin typeface="Meiryo UI" panose="020B0604030504040204" pitchFamily="50" charset="-128"/>
                <a:ea typeface="Meiryo UI" panose="020B0604030504040204" pitchFamily="50" charset="-128"/>
              </a:rPr>
              <a:t>ナースコールが鳴っている頻度によってレベル</a:t>
            </a:r>
            <a:r>
              <a:rPr kumimoji="1" lang="en-US" altLang="ja-JP" sz="1400" dirty="0">
                <a:latin typeface="Meiryo UI" panose="020B0604030504040204" pitchFamily="50" charset="-128"/>
                <a:ea typeface="Meiryo UI" panose="020B0604030504040204" pitchFamily="50" charset="-128"/>
              </a:rPr>
              <a:t>3(300</a:t>
            </a:r>
            <a:r>
              <a:rPr kumimoji="1" lang="ja-JP" altLang="en-US" sz="1400" dirty="0">
                <a:latin typeface="Meiryo UI" panose="020B0604030504040204" pitchFamily="50" charset="-128"/>
                <a:ea typeface="Meiryo UI" panose="020B0604030504040204" pitchFamily="50" charset="-128"/>
              </a:rPr>
              <a:t>回以上</a:t>
            </a:r>
            <a:r>
              <a:rPr kumimoji="1"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、レベル</a:t>
            </a:r>
            <a:r>
              <a:rPr lang="en-US" altLang="ja-JP" sz="1400" dirty="0">
                <a:latin typeface="Meiryo UI" panose="020B0604030504040204" pitchFamily="50" charset="-128"/>
                <a:ea typeface="Meiryo UI" panose="020B0604030504040204" pitchFamily="50" charset="-128"/>
              </a:rPr>
              <a:t>2(</a:t>
            </a:r>
            <a:r>
              <a:rPr kumimoji="1" lang="en-US" altLang="ja-JP" sz="1400" dirty="0">
                <a:latin typeface="Meiryo UI" panose="020B0604030504040204" pitchFamily="50" charset="-128"/>
                <a:ea typeface="Meiryo UI" panose="020B0604030504040204" pitchFamily="50" charset="-128"/>
              </a:rPr>
              <a:t>100~299</a:t>
            </a:r>
            <a:r>
              <a:rPr kumimoji="1" lang="ja-JP" altLang="en-US" sz="1400" dirty="0">
                <a:latin typeface="Meiryo UI" panose="020B0604030504040204" pitchFamily="50" charset="-128"/>
                <a:ea typeface="Meiryo UI" panose="020B0604030504040204" pitchFamily="50" charset="-128"/>
              </a:rPr>
              <a:t>回</a:t>
            </a:r>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、レベル</a:t>
            </a:r>
            <a:r>
              <a:rPr kumimoji="1" lang="en-US" altLang="ja-JP" sz="1400" dirty="0">
                <a:latin typeface="Meiryo UI" panose="020B0604030504040204" pitchFamily="50" charset="-128"/>
                <a:ea typeface="Meiryo UI" panose="020B0604030504040204" pitchFamily="50" charset="-128"/>
              </a:rPr>
              <a:t>1(45~99</a:t>
            </a:r>
            <a:r>
              <a:rPr kumimoji="1" lang="ja-JP" altLang="en-US" sz="1400" dirty="0">
                <a:latin typeface="Meiryo UI" panose="020B0604030504040204" pitchFamily="50" charset="-128"/>
                <a:ea typeface="Meiryo UI" panose="020B0604030504040204" pitchFamily="50" charset="-128"/>
              </a:rPr>
              <a:t>回</a:t>
            </a:r>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、レベル</a:t>
            </a:r>
            <a:r>
              <a:rPr kumimoji="1" lang="en-US" altLang="ja-JP" sz="1400" dirty="0">
                <a:latin typeface="Meiryo UI" panose="020B0604030504040204" pitchFamily="50" charset="-128"/>
                <a:ea typeface="Meiryo UI" panose="020B0604030504040204" pitchFamily="50" charset="-128"/>
              </a:rPr>
              <a:t>0(45</a:t>
            </a:r>
            <a:r>
              <a:rPr lang="ja-JP" altLang="en-US" sz="1400" dirty="0">
                <a:latin typeface="Meiryo UI" panose="020B0604030504040204" pitchFamily="50" charset="-128"/>
                <a:ea typeface="Meiryo UI" panose="020B0604030504040204" pitchFamily="50" charset="-128"/>
              </a:rPr>
              <a:t>回未満</a:t>
            </a:r>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に区分けされて各入居者のナースコール頻度を確認したい。</a:t>
            </a:r>
            <a:endParaRPr kumimoji="1" lang="en-US" altLang="ja-JP" sz="1400" dirty="0">
              <a:latin typeface="Meiryo UI" panose="020B0604030504040204" pitchFamily="50" charset="-128"/>
              <a:ea typeface="Meiryo UI" panose="020B0604030504040204" pitchFamily="50" charset="-128"/>
            </a:endParaRPr>
          </a:p>
          <a:p>
            <a:pPr marL="1714500" lvl="3" indent="-342900">
              <a:buFont typeface="+mj-lt"/>
              <a:buAutoNum type="alphaLcPeriod"/>
            </a:pPr>
            <a:r>
              <a:rPr lang="ja-JP" altLang="en-US" sz="1400" dirty="0">
                <a:latin typeface="Meiryo UI" panose="020B0604030504040204" pitchFamily="50" charset="-128"/>
                <a:ea typeface="Meiryo UI" panose="020B0604030504040204" pitchFamily="50" charset="-128"/>
              </a:rPr>
              <a:t>各レベルの入居者人数を確認したい。</a:t>
            </a:r>
            <a:endParaRPr lang="en-US" altLang="ja-JP" sz="1400" dirty="0">
              <a:latin typeface="Meiryo UI" panose="020B0604030504040204" pitchFamily="50" charset="-128"/>
              <a:ea typeface="Meiryo UI" panose="020B0604030504040204" pitchFamily="50" charset="-128"/>
            </a:endParaRPr>
          </a:p>
          <a:p>
            <a:pPr marL="1714500" lvl="3" indent="-342900">
              <a:buFont typeface="+mj-lt"/>
              <a:buAutoNum type="alphaLcPeriod"/>
            </a:pPr>
            <a:r>
              <a:rPr lang="ja-JP" altLang="en-US" sz="1400" dirty="0">
                <a:latin typeface="Meiryo UI" panose="020B0604030504040204" pitchFamily="50" charset="-128"/>
                <a:ea typeface="Meiryo UI" panose="020B0604030504040204" pitchFamily="50" charset="-128"/>
              </a:rPr>
              <a:t>ナースコールと関連している可能性がある</a:t>
            </a:r>
            <a:r>
              <a:rPr kumimoji="1" lang="ja-JP" altLang="en-US" sz="1400" dirty="0">
                <a:latin typeface="Meiryo UI" panose="020B0604030504040204" pitchFamily="50" charset="-128"/>
                <a:ea typeface="Meiryo UI" panose="020B0604030504040204" pitchFamily="50" charset="-128"/>
              </a:rPr>
              <a:t>体調変化がないか確認</a:t>
            </a:r>
            <a:r>
              <a:rPr lang="ja-JP" altLang="en-US" sz="1400" dirty="0">
                <a:latin typeface="Meiryo UI" panose="020B0604030504040204" pitchFamily="50" charset="-128"/>
                <a:ea typeface="Meiryo UI" panose="020B0604030504040204" pitchFamily="50" charset="-128"/>
              </a:rPr>
              <a:t>したい</a:t>
            </a:r>
            <a:r>
              <a:rPr kumimoji="1" lang="ja-JP" altLang="en-US" sz="1400" dirty="0">
                <a:latin typeface="Meiryo UI" panose="020B0604030504040204" pitchFamily="50" charset="-128"/>
                <a:ea typeface="Meiryo UI" panose="020B0604030504040204" pitchFamily="50" charset="-128"/>
              </a:rPr>
              <a:t>。体調変化のアラート種は、「援助過剰」「援助過少」「援助未実施」「多剤</a:t>
            </a:r>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体重減」「食事量」「夜間不眠」</a:t>
            </a:r>
            <a:r>
              <a:rPr lang="ja-JP" altLang="en-US" sz="1400" dirty="0">
                <a:latin typeface="Meiryo UI" panose="020B0604030504040204" pitchFamily="50" charset="-128"/>
                <a:ea typeface="Meiryo UI" panose="020B0604030504040204" pitchFamily="50" charset="-128"/>
              </a:rPr>
              <a:t>としたい</a:t>
            </a:r>
            <a:r>
              <a:rPr kumimoji="1" lang="ja-JP" altLang="en-US" sz="1400" dirty="0">
                <a:latin typeface="Meiryo UI" panose="020B0604030504040204" pitchFamily="50" charset="-128"/>
                <a:ea typeface="Meiryo UI" panose="020B0604030504040204" pitchFamily="50" charset="-128"/>
              </a:rPr>
              <a:t>。各アラートの詳細は機能要件に記載する。</a:t>
            </a:r>
            <a:endParaRPr lang="en-US" altLang="ja-JP" sz="1400" dirty="0">
              <a:latin typeface="Meiryo UI" panose="020B0604030504040204" pitchFamily="50" charset="-128"/>
              <a:ea typeface="Meiryo UI" panose="020B0604030504040204" pitchFamily="50" charset="-128"/>
            </a:endParaRPr>
          </a:p>
          <a:p>
            <a:pPr lvl="3"/>
            <a:r>
              <a:rPr kumimoji="1" lang="ja-JP" altLang="en-US" sz="1400" dirty="0">
                <a:latin typeface="Meiryo UI" panose="020B0604030504040204" pitchFamily="50" charset="-128"/>
                <a:ea typeface="Meiryo UI" panose="020B0604030504040204" pitchFamily="50" charset="-128"/>
              </a:rPr>
              <a:t>以下、入居者個別のページとして定義する事項</a:t>
            </a:r>
            <a:endParaRPr kumimoji="1" lang="en-US" altLang="ja-JP" sz="1400" dirty="0">
              <a:latin typeface="Meiryo UI" panose="020B0604030504040204" pitchFamily="50" charset="-128"/>
              <a:ea typeface="Meiryo UI" panose="020B0604030504040204" pitchFamily="50" charset="-128"/>
            </a:endParaRPr>
          </a:p>
          <a:p>
            <a:pPr marL="1714500" lvl="3" indent="-342900">
              <a:buFont typeface="+mj-lt"/>
              <a:buAutoNum type="alphaLcPeriod"/>
            </a:pPr>
            <a:r>
              <a:rPr kumimoji="1" lang="ja-JP" altLang="en-US" sz="1400" dirty="0">
                <a:latin typeface="Meiryo UI" panose="020B0604030504040204" pitchFamily="50" charset="-128"/>
                <a:ea typeface="Meiryo UI" panose="020B0604030504040204" pitchFamily="50" charset="-128"/>
              </a:rPr>
              <a:t>入居者個別に特別ナースコール回数が多い時間帯がないか確認</a:t>
            </a:r>
            <a:r>
              <a:rPr lang="ja-JP" altLang="en-US" sz="1400" dirty="0">
                <a:latin typeface="Meiryo UI" panose="020B0604030504040204" pitchFamily="50" charset="-128"/>
                <a:ea typeface="Meiryo UI" panose="020B0604030504040204" pitchFamily="50" charset="-128"/>
              </a:rPr>
              <a:t>したい</a:t>
            </a:r>
            <a:r>
              <a:rPr kumimoji="1" lang="ja-JP" altLang="en-US" sz="1400" dirty="0">
                <a:latin typeface="Meiryo UI" panose="020B0604030504040204" pitchFamily="50" charset="-128"/>
                <a:ea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endParaRPr>
          </a:p>
          <a:p>
            <a:pPr marL="1714500" lvl="3" indent="-342900">
              <a:buFont typeface="+mj-lt"/>
              <a:buAutoNum type="alphaLcPeriod"/>
            </a:pPr>
            <a:r>
              <a:rPr kumimoji="1" lang="ja-JP" altLang="en-US" sz="1400" dirty="0">
                <a:latin typeface="Meiryo UI" panose="020B0604030504040204" pitchFamily="50" charset="-128"/>
                <a:ea typeface="Meiryo UI" panose="020B0604030504040204" pitchFamily="50" charset="-128"/>
              </a:rPr>
              <a:t>入居者個別に特別ナースコール回数が多い曜日がないか確認</a:t>
            </a:r>
            <a:r>
              <a:rPr lang="ja-JP" altLang="en-US" sz="1400" dirty="0">
                <a:latin typeface="Meiryo UI" panose="020B0604030504040204" pitchFamily="50" charset="-128"/>
                <a:ea typeface="Meiryo UI" panose="020B0604030504040204" pitchFamily="50" charset="-128"/>
              </a:rPr>
              <a:t>したい</a:t>
            </a:r>
            <a:r>
              <a:rPr kumimoji="1" lang="ja-JP" altLang="en-US" sz="1400" dirty="0">
                <a:latin typeface="Meiryo UI" panose="020B0604030504040204" pitchFamily="50" charset="-128"/>
                <a:ea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endParaRPr>
          </a:p>
          <a:p>
            <a:pPr marL="1714500" lvl="3" indent="-342900">
              <a:buFont typeface="+mj-lt"/>
              <a:buAutoNum type="alphaLcPeriod"/>
            </a:pPr>
            <a:r>
              <a:rPr lang="ja-JP" altLang="en-US" sz="1400" dirty="0">
                <a:latin typeface="Meiryo UI" panose="020B0604030504040204" pitchFamily="50" charset="-128"/>
                <a:ea typeface="Meiryo UI" panose="020B0604030504040204" pitchFamily="50" charset="-128"/>
              </a:rPr>
              <a:t>援助過剰過小、援助未実施率、処方薬剤種類数、体重変化、食事量、睡眠時間の数値を確認したい。</a:t>
            </a:r>
            <a:endParaRPr lang="en-US" altLang="ja-JP" sz="1400" dirty="0">
              <a:latin typeface="Meiryo UI" panose="020B0604030504040204" pitchFamily="50" charset="-128"/>
              <a:ea typeface="Meiryo UI" panose="020B0604030504040204" pitchFamily="50" charset="-128"/>
            </a:endParaRPr>
          </a:p>
        </p:txBody>
      </p:sp>
      <p:sp>
        <p:nvSpPr>
          <p:cNvPr id="2" name="タイトル 1">
            <a:extLst>
              <a:ext uri="{FF2B5EF4-FFF2-40B4-BE49-F238E27FC236}">
                <a16:creationId xmlns:a16="http://schemas.microsoft.com/office/drawing/2014/main" id="{9F8605C1-73CD-7734-A7FB-6BBB02EFB3D4}"/>
              </a:ext>
            </a:extLst>
          </p:cNvPr>
          <p:cNvSpPr>
            <a:spLocks noGrp="1"/>
          </p:cNvSpPr>
          <p:nvPr>
            <p:ph type="title"/>
          </p:nvPr>
        </p:nvSpPr>
        <p:spPr/>
        <p:txBody>
          <a:bodyPr/>
          <a:lstStyle/>
          <a:p>
            <a:r>
              <a:rPr kumimoji="1" lang="ja-JP" altLang="en-US" sz="2000" b="0" kern="1200" dirty="0">
                <a:solidFill>
                  <a:srgbClr val="000000"/>
                </a:solidFill>
                <a:effectLst/>
                <a:cs typeface="+mn-cs"/>
              </a:rPr>
              <a:t>モジュールで解決する</a:t>
            </a:r>
            <a:r>
              <a:rPr kumimoji="1" lang="ja-JP" altLang="ja-JP" sz="2000" b="0" kern="1200" dirty="0">
                <a:solidFill>
                  <a:srgbClr val="000000"/>
                </a:solidFill>
                <a:effectLst/>
                <a:cs typeface="+mn-cs"/>
              </a:rPr>
              <a:t>課題・</a:t>
            </a:r>
            <a:r>
              <a:rPr lang="ja-JP" altLang="en-US" sz="2000" b="0" dirty="0">
                <a:solidFill>
                  <a:srgbClr val="000000"/>
                </a:solidFill>
                <a:cs typeface="+mn-cs"/>
              </a:rPr>
              <a:t>目的・ユーザー要求</a:t>
            </a:r>
            <a:endParaRPr kumimoji="1" lang="ja-JP" altLang="en-US" b="0" dirty="0"/>
          </a:p>
        </p:txBody>
      </p:sp>
    </p:spTree>
    <p:extLst>
      <p:ext uri="{BB962C8B-B14F-4D97-AF65-F5344CB8AC3E}">
        <p14:creationId xmlns:p14="http://schemas.microsoft.com/office/powerpoint/2010/main" val="392457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57BC77B-6C7B-DD94-EA1D-DA722015E0C0}"/>
              </a:ext>
            </a:extLst>
          </p:cNvPr>
          <p:cNvSpPr txBox="1"/>
          <p:nvPr/>
        </p:nvSpPr>
        <p:spPr>
          <a:xfrm>
            <a:off x="651953" y="1022772"/>
            <a:ext cx="9999416" cy="4616648"/>
          </a:xfrm>
          <a:prstGeom prst="rect">
            <a:avLst/>
          </a:prstGeom>
          <a:noFill/>
          <a:ln>
            <a:noFill/>
          </a:ln>
        </p:spPr>
        <p:txBody>
          <a:bodyPr wrap="square" rtlCol="0">
            <a:spAutoFit/>
          </a:bodyPr>
          <a:lstStyle/>
          <a:p>
            <a:pPr marL="400050" indent="-400050">
              <a:buFont typeface="+mj-lt"/>
              <a:buAutoNum type="romanUcPeriod"/>
            </a:pPr>
            <a:r>
              <a:rPr kumimoji="1" lang="en-US" altLang="ja-JP" sz="1400" dirty="0" err="1">
                <a:latin typeface="Meiryo UI" panose="020B0604030504040204" pitchFamily="50" charset="-128"/>
                <a:ea typeface="Meiryo UI" panose="020B0604030504040204" pitchFamily="50" charset="-128"/>
              </a:rPr>
              <a:t>egaku</a:t>
            </a:r>
            <a:r>
              <a:rPr lang="ja-JP" altLang="en-US" sz="1400" dirty="0">
                <a:latin typeface="Meiryo UI" panose="020B0604030504040204" pitchFamily="50" charset="-128"/>
                <a:ea typeface="Meiryo UI" panose="020B0604030504040204" pitchFamily="50" charset="-128"/>
              </a:rPr>
              <a:t> </a:t>
            </a:r>
            <a:r>
              <a:rPr kumimoji="1" lang="en-US" altLang="ja-JP" sz="1400" dirty="0">
                <a:latin typeface="Meiryo UI" panose="020B0604030504040204" pitchFamily="50" charset="-128"/>
                <a:ea typeface="Meiryo UI" panose="020B0604030504040204" pitchFamily="50" charset="-128"/>
              </a:rPr>
              <a:t>TOP</a:t>
            </a:r>
            <a:r>
              <a:rPr kumimoji="1" lang="ja-JP" altLang="en-US" sz="1400" dirty="0">
                <a:latin typeface="Meiryo UI" panose="020B0604030504040204" pitchFamily="50" charset="-128"/>
                <a:ea typeface="Meiryo UI" panose="020B0604030504040204" pitchFamily="50" charset="-128"/>
              </a:rPr>
              <a:t>ページ</a:t>
            </a:r>
            <a:endParaRPr kumimoji="1"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r>
              <a:rPr lang="ja-JP" altLang="en-US" sz="1400" dirty="0">
                <a:latin typeface="Meiryo UI" panose="020B0604030504040204" pitchFamily="50" charset="-128"/>
                <a:ea typeface="Meiryo UI" panose="020B0604030504040204" pitchFamily="50" charset="-128"/>
              </a:rPr>
              <a:t>前述アクセス制限に基づき、「ナースコールモニター」と表示されるボタンを設定する。</a:t>
            </a:r>
            <a:endParaRPr kumimoji="1" lang="en-US" altLang="ja-JP" sz="1400" dirty="0">
              <a:latin typeface="Meiryo UI" panose="020B0604030504040204" pitchFamily="50" charset="-128"/>
              <a:ea typeface="Meiryo UI" panose="020B0604030504040204" pitchFamily="50" charset="-128"/>
            </a:endParaRPr>
          </a:p>
          <a:p>
            <a:pPr marL="800100" lvl="1" indent="-342900">
              <a:buFont typeface="+mj-lt"/>
              <a:buAutoNum type="arabicPeriod"/>
            </a:pPr>
            <a:endParaRPr lang="en-US" altLang="ja-JP" sz="1400" dirty="0">
              <a:latin typeface="Meiryo UI" panose="020B0604030504040204" pitchFamily="50" charset="-128"/>
              <a:ea typeface="Meiryo UI" panose="020B0604030504040204" pitchFamily="50" charset="-128"/>
            </a:endParaRPr>
          </a:p>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前日までの各入居者とホーム毎におけるナースコール傾向を確認できるページ</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月単位で各入居者がナースコール呼出回数が確認できる。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ホームごとに全入居者を合計した月々のナースコール呼出回数と推移が確認できる。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ホーム合計と各入居者のナースコール日別推移が確認できる。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ホーム合計と各入居者の時間帯別ナースコール回数が確認できる。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ホーム合計と各入居者の曜日別ナースコール回数が確認できる。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endParaRPr lang="en-US" altLang="ja-JP" sz="1400" dirty="0">
              <a:latin typeface="Meiryo UI" panose="020B0604030504040204" pitchFamily="50" charset="-128"/>
              <a:ea typeface="Meiryo UI" panose="020B0604030504040204" pitchFamily="50" charset="-128"/>
            </a:endParaRPr>
          </a:p>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毎月見出される各入居者のナースコール回数と注目すべきポイントが確認できるページ</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毎月のナースコールレベルと回数が確認できる。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ナースコールが曜日別または時間帯別で有意差があるか確認できる。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援助量や援助実施率、処方薬剤の種類、体重変化や食事量、睡眠時間のアラートの有無を確認できる</a:t>
            </a:r>
            <a:r>
              <a:rPr kumimoji="1" lang="ja-JP" altLang="en-US" sz="1400" dirty="0">
                <a:latin typeface="Meiryo UI" panose="020B0604030504040204" pitchFamily="50" charset="-128"/>
                <a:ea typeface="Meiryo UI" panose="020B0604030504040204" pitchFamily="50" charset="-128"/>
              </a:rPr>
              <a:t>。</a:t>
            </a:r>
            <a:br>
              <a:rPr kumimoji="1" lang="en-US" altLang="ja-JP" sz="1400" dirty="0">
                <a:latin typeface="Meiryo UI" panose="020B0604030504040204" pitchFamily="50" charset="-128"/>
                <a:ea typeface="Meiryo UI" panose="020B0604030504040204" pitchFamily="50" charset="-128"/>
              </a:rPr>
            </a:br>
            <a:endParaRPr lang="en-US" altLang="ja-JP" sz="1400" dirty="0">
              <a:latin typeface="Meiryo UI" panose="020B0604030504040204" pitchFamily="50" charset="-128"/>
              <a:ea typeface="Meiryo UI" panose="020B0604030504040204" pitchFamily="50" charset="-128"/>
            </a:endParaRPr>
          </a:p>
          <a:p>
            <a:pPr marL="400050" indent="-400050">
              <a:buFont typeface="+mj-lt"/>
              <a:buAutoNum type="romanUcPeriod"/>
            </a:pPr>
            <a:r>
              <a:rPr lang="ja-JP" altLang="en-US" sz="1400" dirty="0">
                <a:latin typeface="Meiryo UI" panose="020B0604030504040204" pitchFamily="50" charset="-128"/>
                <a:ea typeface="Meiryo UI" panose="020B0604030504040204" pitchFamily="50" charset="-128"/>
              </a:rPr>
              <a:t>各入居者のナースコール詳細が確認できるページ</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氏名や介護度の基本情報が確認できる。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確認したい月のナースコール回数と前月との差が確認できる。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確認したい月の</a:t>
            </a:r>
            <a:r>
              <a:rPr kumimoji="1" lang="ja-JP" altLang="en-US" sz="1400" dirty="0">
                <a:latin typeface="Meiryo UI" panose="020B0604030504040204" pitchFamily="50" charset="-128"/>
                <a:ea typeface="Meiryo UI" panose="020B0604030504040204" pitchFamily="50" charset="-128"/>
              </a:rPr>
              <a:t>曜日別のナースコール数を確認できる。</a:t>
            </a:r>
            <a:endParaRPr kumimoji="1"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確認したい月の時間帯別のナースコール数を確認できる。</a:t>
            </a:r>
            <a:endParaRPr lang="en-US" altLang="ja-JP" sz="1400" dirty="0">
              <a:latin typeface="Meiryo UI" panose="020B0604030504040204" pitchFamily="50" charset="-128"/>
              <a:ea typeface="Meiryo UI" panose="020B0604030504040204" pitchFamily="50" charset="-128"/>
            </a:endParaRPr>
          </a:p>
          <a:p>
            <a:pPr marL="857250" lvl="1" indent="-400050">
              <a:buFont typeface="+mj-lt"/>
              <a:buAutoNum type="arabicPeriod"/>
            </a:pPr>
            <a:r>
              <a:rPr lang="ja-JP" altLang="en-US" sz="1400" dirty="0">
                <a:latin typeface="Meiryo UI" panose="020B0604030504040204" pitchFamily="50" charset="-128"/>
                <a:ea typeface="Meiryo UI" panose="020B0604030504040204" pitchFamily="50" charset="-128"/>
              </a:rPr>
              <a:t>確認したい月の援助量や援助実施率、処方薬剤の種類、体重変化や食事量、睡眠時間のアラートと具体の数値を確認できる。</a:t>
            </a:r>
            <a:endParaRPr lang="en-US" altLang="ja-JP" sz="1400" dirty="0">
              <a:latin typeface="Meiryo UI" panose="020B0604030504040204" pitchFamily="50" charset="-128"/>
              <a:ea typeface="Meiryo UI" panose="020B0604030504040204" pitchFamily="50" charset="-128"/>
            </a:endParaRPr>
          </a:p>
        </p:txBody>
      </p:sp>
      <p:sp>
        <p:nvSpPr>
          <p:cNvPr id="3" name="タイトル 2">
            <a:extLst>
              <a:ext uri="{FF2B5EF4-FFF2-40B4-BE49-F238E27FC236}">
                <a16:creationId xmlns:a16="http://schemas.microsoft.com/office/drawing/2014/main" id="{66459FD9-7EA9-A49A-A580-2F50F6BBEC56}"/>
              </a:ext>
            </a:extLst>
          </p:cNvPr>
          <p:cNvSpPr>
            <a:spLocks noGrp="1"/>
          </p:cNvSpPr>
          <p:nvPr>
            <p:ph type="title"/>
          </p:nvPr>
        </p:nvSpPr>
        <p:spPr/>
        <p:txBody>
          <a:bodyPr/>
          <a:lstStyle/>
          <a:p>
            <a:pPr rtl="0" eaLnBrk="1" latinLnBrk="0" hangingPunct="1"/>
            <a:r>
              <a:rPr kumimoji="1" lang="ja-JP" altLang="ja-JP" sz="2000" b="0" kern="1200" dirty="0">
                <a:solidFill>
                  <a:srgbClr val="000000"/>
                </a:solidFill>
                <a:effectLst/>
                <a:cs typeface="+mn-cs"/>
              </a:rPr>
              <a:t>機能要件　概要</a:t>
            </a:r>
            <a:endParaRPr lang="ja-JP" altLang="ja-JP" b="0" dirty="0">
              <a:effectLst/>
            </a:endParaRPr>
          </a:p>
        </p:txBody>
      </p:sp>
    </p:spTree>
    <p:extLst>
      <p:ext uri="{BB962C8B-B14F-4D97-AF65-F5344CB8AC3E}">
        <p14:creationId xmlns:p14="http://schemas.microsoft.com/office/powerpoint/2010/main" val="71090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8DBB3-6BA7-AE5C-E9F4-4E385BB2904C}"/>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65B32628-9A9A-82FF-CEBF-01A41D8C21AA}"/>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a:t>
            </a:r>
            <a:r>
              <a:rPr lang="ja-JP" altLang="en-US" sz="2000" b="0" dirty="0">
                <a:solidFill>
                  <a:srgbClr val="000000"/>
                </a:solidFill>
                <a:cs typeface="+mn-cs"/>
              </a:rPr>
              <a:t>画面要件①</a:t>
            </a:r>
            <a:endParaRPr lang="ja-JP" altLang="ja-JP" dirty="0">
              <a:effectLst/>
            </a:endParaRPr>
          </a:p>
        </p:txBody>
      </p:sp>
      <p:sp>
        <p:nvSpPr>
          <p:cNvPr id="2" name="Google Shape;670;p37">
            <a:extLst>
              <a:ext uri="{FF2B5EF4-FFF2-40B4-BE49-F238E27FC236}">
                <a16:creationId xmlns:a16="http://schemas.microsoft.com/office/drawing/2014/main" id="{8A84F543-DAF9-F86E-38FA-FE952D76D6FA}"/>
              </a:ext>
            </a:extLst>
          </p:cNvPr>
          <p:cNvSpPr txBox="1"/>
          <p:nvPr/>
        </p:nvSpPr>
        <p:spPr>
          <a:xfrm>
            <a:off x="191344" y="908720"/>
            <a:ext cx="6103221" cy="36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ja-JP" sz="1800" u="none" strike="noStrike" cap="none" dirty="0">
                <a:solidFill>
                  <a:schemeClr val="dk1"/>
                </a:solidFill>
                <a:latin typeface="Meiryo UI" panose="020B0604030504040204" pitchFamily="34" charset="-128"/>
                <a:ea typeface="Meiryo UI" panose="020B0604030504040204" pitchFamily="34" charset="-128"/>
                <a:sym typeface="Arial"/>
              </a:rPr>
              <a:t>画面レイアウト</a:t>
            </a:r>
            <a:r>
              <a:rPr lang="ja-JP" altLang="en-US" sz="1800" u="none" strike="noStrike" cap="none" dirty="0">
                <a:solidFill>
                  <a:schemeClr val="dk1"/>
                </a:solidFill>
                <a:latin typeface="Meiryo UI" panose="020B0604030504040204" pitchFamily="34" charset="-128"/>
                <a:ea typeface="Meiryo UI" panose="020B0604030504040204" pitchFamily="34" charset="-128"/>
                <a:sym typeface="Arial"/>
              </a:rPr>
              <a:t>　</a:t>
            </a:r>
            <a:r>
              <a:rPr lang="en-US" altLang="ja-JP" sz="1800" u="none" strike="noStrike" cap="none" dirty="0">
                <a:solidFill>
                  <a:schemeClr val="dk1"/>
                </a:solidFill>
                <a:latin typeface="Meiryo UI" panose="020B0604030504040204" pitchFamily="34" charset="-128"/>
                <a:ea typeface="Meiryo UI" panose="020B0604030504040204" pitchFamily="34" charset="-128"/>
                <a:sym typeface="Arial"/>
              </a:rPr>
              <a:t>1. TOP</a:t>
            </a:r>
            <a:r>
              <a:rPr lang="ja-JP" altLang="en-US" sz="1800" u="none" strike="noStrike" cap="none" dirty="0">
                <a:solidFill>
                  <a:schemeClr val="dk1"/>
                </a:solidFill>
                <a:latin typeface="Meiryo UI" panose="020B0604030504040204" pitchFamily="34" charset="-128"/>
                <a:ea typeface="Meiryo UI" panose="020B0604030504040204" pitchFamily="34" charset="-128"/>
                <a:sym typeface="Arial"/>
              </a:rPr>
              <a:t>ページ</a:t>
            </a:r>
            <a:endParaRPr lang="en-US" altLang="ja-JP" sz="1800" u="none" strike="noStrike" cap="none" dirty="0">
              <a:solidFill>
                <a:schemeClr val="dk1"/>
              </a:solidFill>
              <a:latin typeface="Meiryo UI" panose="020B0604030504040204" pitchFamily="34" charset="-128"/>
              <a:ea typeface="Meiryo UI" panose="020B0604030504040204" pitchFamily="34" charset="-128"/>
              <a:sym typeface="Arial"/>
            </a:endParaRPr>
          </a:p>
        </p:txBody>
      </p:sp>
      <p:pic>
        <p:nvPicPr>
          <p:cNvPr id="3" name="図 2">
            <a:extLst>
              <a:ext uri="{FF2B5EF4-FFF2-40B4-BE49-F238E27FC236}">
                <a16:creationId xmlns:a16="http://schemas.microsoft.com/office/drawing/2014/main" id="{3E2910BD-AA95-02DD-F604-79D2DF46B74B}"/>
              </a:ext>
            </a:extLst>
          </p:cNvPr>
          <p:cNvPicPr>
            <a:picLocks noChangeAspect="1"/>
          </p:cNvPicPr>
          <p:nvPr/>
        </p:nvPicPr>
        <p:blipFill>
          <a:blip r:embed="rId3"/>
          <a:stretch>
            <a:fillRect/>
          </a:stretch>
        </p:blipFill>
        <p:spPr>
          <a:xfrm>
            <a:off x="191344" y="1340768"/>
            <a:ext cx="10585175" cy="4846025"/>
          </a:xfrm>
          <a:prstGeom prst="rect">
            <a:avLst/>
          </a:prstGeom>
        </p:spPr>
      </p:pic>
      <p:sp>
        <p:nvSpPr>
          <p:cNvPr id="4" name="テキスト ボックス 3">
            <a:extLst>
              <a:ext uri="{FF2B5EF4-FFF2-40B4-BE49-F238E27FC236}">
                <a16:creationId xmlns:a16="http://schemas.microsoft.com/office/drawing/2014/main" id="{FCA3DE23-CD80-A9AF-59E8-5DF89D7299CA}"/>
              </a:ext>
            </a:extLst>
          </p:cNvPr>
          <p:cNvSpPr txBox="1"/>
          <p:nvPr/>
        </p:nvSpPr>
        <p:spPr>
          <a:xfrm>
            <a:off x="9048328" y="1628800"/>
            <a:ext cx="389850" cy="338554"/>
          </a:xfrm>
          <a:prstGeom prst="rect">
            <a:avLst/>
          </a:prstGeom>
          <a:noFill/>
        </p:spPr>
        <p:txBody>
          <a:bodyPr wrap="none" rtlCol="0">
            <a:spAutoFit/>
          </a:bodyPr>
          <a:lstStyle/>
          <a:p>
            <a:r>
              <a:rPr kumimoji="1" lang="ja-JP" altLang="en-US" sz="1600" dirty="0">
                <a:solidFill>
                  <a:srgbClr val="FF0000"/>
                </a:solidFill>
                <a:latin typeface="Meiryo UI" panose="020B0604030504040204" pitchFamily="50" charset="-128"/>
                <a:ea typeface="Meiryo UI" panose="020B0604030504040204" pitchFamily="50" charset="-128"/>
              </a:rPr>
              <a:t>①</a:t>
            </a:r>
          </a:p>
        </p:txBody>
      </p:sp>
      <p:sp>
        <p:nvSpPr>
          <p:cNvPr id="6" name="正方形/長方形 5">
            <a:extLst>
              <a:ext uri="{FF2B5EF4-FFF2-40B4-BE49-F238E27FC236}">
                <a16:creationId xmlns:a16="http://schemas.microsoft.com/office/drawing/2014/main" id="{CB1B621B-8296-9E17-E45C-17640AC5485B}"/>
              </a:ext>
            </a:extLst>
          </p:cNvPr>
          <p:cNvSpPr/>
          <p:nvPr/>
        </p:nvSpPr>
        <p:spPr bwMode="auto">
          <a:xfrm>
            <a:off x="188616" y="1895343"/>
            <a:ext cx="1802928" cy="4291450"/>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endParaRPr>
          </a:p>
        </p:txBody>
      </p:sp>
      <p:sp>
        <p:nvSpPr>
          <p:cNvPr id="7" name="テキスト ボックス 6">
            <a:extLst>
              <a:ext uri="{FF2B5EF4-FFF2-40B4-BE49-F238E27FC236}">
                <a16:creationId xmlns:a16="http://schemas.microsoft.com/office/drawing/2014/main" id="{3562062D-2128-80C2-062B-A542910F63E7}"/>
              </a:ext>
            </a:extLst>
          </p:cNvPr>
          <p:cNvSpPr txBox="1"/>
          <p:nvPr/>
        </p:nvSpPr>
        <p:spPr>
          <a:xfrm>
            <a:off x="89526" y="1556792"/>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②</a:t>
            </a:r>
            <a:endParaRPr kumimoji="1" lang="ja-JP" altLang="en-US" sz="1600" dirty="0">
              <a:solidFill>
                <a:srgbClr val="FF0000"/>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B9988F7D-CE9A-196E-D6DE-92A13F3BAED1}"/>
              </a:ext>
            </a:extLst>
          </p:cNvPr>
          <p:cNvSpPr/>
          <p:nvPr/>
        </p:nvSpPr>
        <p:spPr bwMode="auto">
          <a:xfrm>
            <a:off x="2088070" y="2192024"/>
            <a:ext cx="5376081" cy="3994769"/>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endParaRPr>
          </a:p>
        </p:txBody>
      </p:sp>
      <p:sp>
        <p:nvSpPr>
          <p:cNvPr id="9" name="テキスト ボックス 8">
            <a:extLst>
              <a:ext uri="{FF2B5EF4-FFF2-40B4-BE49-F238E27FC236}">
                <a16:creationId xmlns:a16="http://schemas.microsoft.com/office/drawing/2014/main" id="{BAAB3699-C6DA-C597-FA2F-CDD5EC18A74B}"/>
              </a:ext>
            </a:extLst>
          </p:cNvPr>
          <p:cNvSpPr txBox="1"/>
          <p:nvPr/>
        </p:nvSpPr>
        <p:spPr>
          <a:xfrm>
            <a:off x="7146310" y="1844824"/>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③</a:t>
            </a:r>
            <a:endParaRPr lang="en-US" altLang="ja-JP" sz="1600" dirty="0">
              <a:solidFill>
                <a:srgbClr val="FF0000"/>
              </a:solidFill>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5C5695DA-D602-FF96-71EE-6D78FA8762A8}"/>
              </a:ext>
            </a:extLst>
          </p:cNvPr>
          <p:cNvSpPr txBox="1"/>
          <p:nvPr/>
        </p:nvSpPr>
        <p:spPr>
          <a:xfrm>
            <a:off x="9815015" y="1878692"/>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④</a:t>
            </a:r>
            <a:endParaRPr lang="en-US" altLang="ja-JP" sz="1600" dirty="0">
              <a:solidFill>
                <a:srgbClr val="FF0000"/>
              </a:solidFill>
              <a:latin typeface="Meiryo UI" panose="020B0604030504040204" pitchFamily="50" charset="-128"/>
              <a:ea typeface="Meiryo UI" panose="020B0604030504040204" pitchFamily="50" charset="-128"/>
            </a:endParaRPr>
          </a:p>
        </p:txBody>
      </p:sp>
      <p:sp>
        <p:nvSpPr>
          <p:cNvPr id="12" name="四角形: 角を丸くする 11">
            <a:extLst>
              <a:ext uri="{FF2B5EF4-FFF2-40B4-BE49-F238E27FC236}">
                <a16:creationId xmlns:a16="http://schemas.microsoft.com/office/drawing/2014/main" id="{EE855D6A-1B80-6731-1177-7E8F4898E57B}"/>
              </a:ext>
            </a:extLst>
          </p:cNvPr>
          <p:cNvSpPr/>
          <p:nvPr/>
        </p:nvSpPr>
        <p:spPr>
          <a:xfrm>
            <a:off x="8280912" y="287867"/>
            <a:ext cx="1430866" cy="38334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C000"/>
                </a:solidFill>
                <a:latin typeface="Meiryo UI" panose="020B0604030504040204" pitchFamily="50" charset="-128"/>
                <a:ea typeface="Meiryo UI" panose="020B0604030504040204" pitchFamily="50" charset="-128"/>
              </a:rPr>
              <a:t>before</a:t>
            </a:r>
            <a:endParaRPr kumimoji="1" lang="ja-JP" altLang="en-US" dirty="0">
              <a:solidFill>
                <a:srgbClr val="FFC000"/>
              </a:solidFill>
              <a:latin typeface="Meiryo UI" panose="020B0604030504040204" pitchFamily="50" charset="-128"/>
              <a:ea typeface="Meiryo UI" panose="020B0604030504040204" pitchFamily="50" charset="-128"/>
            </a:endParaRPr>
          </a:p>
        </p:txBody>
      </p:sp>
      <p:sp>
        <p:nvSpPr>
          <p:cNvPr id="14" name="テキスト ボックス 13">
            <a:extLst>
              <a:ext uri="{FF2B5EF4-FFF2-40B4-BE49-F238E27FC236}">
                <a16:creationId xmlns:a16="http://schemas.microsoft.com/office/drawing/2014/main" id="{1A4419DF-FD3C-5AD1-45E9-6583858D8B8D}"/>
              </a:ext>
            </a:extLst>
          </p:cNvPr>
          <p:cNvSpPr txBox="1"/>
          <p:nvPr/>
        </p:nvSpPr>
        <p:spPr bwMode="auto">
          <a:xfrm>
            <a:off x="9711778" y="263454"/>
            <a:ext cx="1526230" cy="430887"/>
          </a:xfrm>
          <a:prstGeom prst="rect">
            <a:avLst/>
          </a:prstGeom>
          <a:noFill/>
          <a:ln w="25400">
            <a:noFill/>
            <a:miter lim="800000"/>
            <a:headEnd/>
            <a:tailEnd/>
          </a:ln>
        </p:spPr>
        <p:txBody>
          <a:bodyPr wrap="square" lIns="180000" rIns="180000" rtlCol="0" anchor="ctr">
            <a:spAutoFit/>
          </a:bodyPr>
          <a:lstStyle/>
          <a:p>
            <a:pPr algn="l">
              <a:spcBef>
                <a:spcPts val="600"/>
              </a:spcBef>
            </a:pPr>
            <a:r>
              <a:rPr kumimoji="1" lang="en-US" altLang="ja-JP" sz="1100" b="1" dirty="0">
                <a:latin typeface="Meiryo UI" panose="020B0604030504040204" pitchFamily="50" charset="-128"/>
                <a:ea typeface="Meiryo UI" panose="020B0604030504040204" pitchFamily="50" charset="-128"/>
              </a:rPr>
              <a:t>2023</a:t>
            </a:r>
            <a:r>
              <a:rPr kumimoji="1" lang="ja-JP" altLang="en-US" sz="1100" b="1" dirty="0">
                <a:latin typeface="Meiryo UI" panose="020B0604030504040204" pitchFamily="50" charset="-128"/>
                <a:ea typeface="Meiryo UI" panose="020B0604030504040204" pitchFamily="50" charset="-128"/>
              </a:rPr>
              <a:t>年</a:t>
            </a:r>
            <a:r>
              <a:rPr kumimoji="1" lang="en-US" altLang="ja-JP" sz="1100" b="1" dirty="0">
                <a:latin typeface="Meiryo UI" panose="020B0604030504040204" pitchFamily="50" charset="-128"/>
                <a:ea typeface="Meiryo UI" panose="020B0604030504040204" pitchFamily="50" charset="-128"/>
              </a:rPr>
              <a:t>10</a:t>
            </a:r>
            <a:r>
              <a:rPr kumimoji="1" lang="ja-JP" altLang="en-US" sz="1100" b="1" dirty="0">
                <a:latin typeface="Meiryo UI" panose="020B0604030504040204" pitchFamily="50" charset="-128"/>
                <a:ea typeface="Meiryo UI" panose="020B0604030504040204" pitchFamily="50" charset="-128"/>
              </a:rPr>
              <a:t>月</a:t>
            </a:r>
            <a:r>
              <a:rPr lang="ja-JP" altLang="en-US" sz="1100" b="1" dirty="0">
                <a:latin typeface="Meiryo UI" panose="020B0604030504040204" pitchFamily="50" charset="-128"/>
                <a:ea typeface="Meiryo UI" panose="020B0604030504040204" pitchFamily="50" charset="-128"/>
              </a:rPr>
              <a:t>時点ナースコールモニター</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39016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310D6-F106-AC21-7793-7AD0C76B1BA1}"/>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BDBCD9D-8251-D4E2-C687-938590806359}"/>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a:t>
            </a:r>
            <a:r>
              <a:rPr lang="ja-JP" altLang="en-US" sz="2000" b="0" dirty="0">
                <a:solidFill>
                  <a:srgbClr val="000000"/>
                </a:solidFill>
                <a:cs typeface="+mn-cs"/>
              </a:rPr>
              <a:t>画面要件②</a:t>
            </a:r>
            <a:endParaRPr lang="ja-JP" altLang="ja-JP" dirty="0">
              <a:effectLst/>
            </a:endParaRPr>
          </a:p>
        </p:txBody>
      </p:sp>
      <p:sp>
        <p:nvSpPr>
          <p:cNvPr id="11" name="Google Shape;670;p37">
            <a:extLst>
              <a:ext uri="{FF2B5EF4-FFF2-40B4-BE49-F238E27FC236}">
                <a16:creationId xmlns:a16="http://schemas.microsoft.com/office/drawing/2014/main" id="{C722718C-0C01-F262-4BF2-1F15A152F72C}"/>
              </a:ext>
            </a:extLst>
          </p:cNvPr>
          <p:cNvSpPr txBox="1"/>
          <p:nvPr/>
        </p:nvSpPr>
        <p:spPr>
          <a:xfrm>
            <a:off x="191344" y="908720"/>
            <a:ext cx="6103221" cy="36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ja-JP" sz="1800" u="none" strike="noStrike" cap="none" dirty="0">
                <a:solidFill>
                  <a:schemeClr val="dk1"/>
                </a:solidFill>
                <a:latin typeface="Meiryo UI" panose="020B0604030504040204" pitchFamily="34" charset="-128"/>
                <a:ea typeface="Meiryo UI" panose="020B0604030504040204" pitchFamily="34" charset="-128"/>
                <a:sym typeface="Arial"/>
              </a:rPr>
              <a:t>画面レイアウト</a:t>
            </a:r>
            <a:r>
              <a:rPr lang="ja-JP" altLang="en-US" sz="1800" u="none" strike="noStrike" cap="none" dirty="0">
                <a:solidFill>
                  <a:schemeClr val="dk1"/>
                </a:solidFill>
                <a:latin typeface="Meiryo UI" panose="020B0604030504040204" pitchFamily="34" charset="-128"/>
                <a:ea typeface="Meiryo UI" panose="020B0604030504040204" pitchFamily="34" charset="-128"/>
                <a:sym typeface="Arial"/>
              </a:rPr>
              <a:t>　</a:t>
            </a:r>
            <a:r>
              <a:rPr lang="en-US" altLang="ja-JP" sz="1800" u="none" strike="noStrike" cap="none" dirty="0">
                <a:solidFill>
                  <a:schemeClr val="dk1"/>
                </a:solidFill>
                <a:latin typeface="Meiryo UI" panose="020B0604030504040204" pitchFamily="34" charset="-128"/>
                <a:ea typeface="Meiryo UI" panose="020B0604030504040204" pitchFamily="34" charset="-128"/>
                <a:sym typeface="Arial"/>
              </a:rPr>
              <a:t>1. </a:t>
            </a:r>
            <a:r>
              <a:rPr lang="ja-JP" altLang="en-US" sz="1800" u="none" strike="noStrike" cap="none" dirty="0">
                <a:solidFill>
                  <a:schemeClr val="dk1"/>
                </a:solidFill>
                <a:latin typeface="Meiryo UI" panose="020B0604030504040204" pitchFamily="34" charset="-128"/>
                <a:ea typeface="Meiryo UI" panose="020B0604030504040204" pitchFamily="34" charset="-128"/>
                <a:sym typeface="Arial"/>
              </a:rPr>
              <a:t>日別推移</a:t>
            </a:r>
            <a:endParaRPr lang="en-US" altLang="ja-JP" sz="1800" u="none" strike="noStrike" cap="none" dirty="0">
              <a:solidFill>
                <a:schemeClr val="dk1"/>
              </a:solidFill>
              <a:latin typeface="Meiryo UI" panose="020B0604030504040204" pitchFamily="34" charset="-128"/>
              <a:ea typeface="Meiryo UI" panose="020B0604030504040204" pitchFamily="34" charset="-128"/>
              <a:sym typeface="Arial"/>
            </a:endParaRPr>
          </a:p>
        </p:txBody>
      </p:sp>
      <p:pic>
        <p:nvPicPr>
          <p:cNvPr id="12" name="図 11">
            <a:extLst>
              <a:ext uri="{FF2B5EF4-FFF2-40B4-BE49-F238E27FC236}">
                <a16:creationId xmlns:a16="http://schemas.microsoft.com/office/drawing/2014/main" id="{675A891D-072A-F31A-E85C-06A60E0ED8A0}"/>
              </a:ext>
            </a:extLst>
          </p:cNvPr>
          <p:cNvPicPr>
            <a:picLocks noChangeAspect="1"/>
          </p:cNvPicPr>
          <p:nvPr/>
        </p:nvPicPr>
        <p:blipFill>
          <a:blip r:embed="rId3"/>
          <a:stretch>
            <a:fillRect/>
          </a:stretch>
        </p:blipFill>
        <p:spPr>
          <a:xfrm>
            <a:off x="263352" y="1335393"/>
            <a:ext cx="10538234" cy="4824536"/>
          </a:xfrm>
          <a:prstGeom prst="rect">
            <a:avLst/>
          </a:prstGeom>
        </p:spPr>
      </p:pic>
      <p:sp>
        <p:nvSpPr>
          <p:cNvPr id="13" name="正方形/長方形 12">
            <a:extLst>
              <a:ext uri="{FF2B5EF4-FFF2-40B4-BE49-F238E27FC236}">
                <a16:creationId xmlns:a16="http://schemas.microsoft.com/office/drawing/2014/main" id="{0062285C-E698-0327-2462-BDFB6919A534}"/>
              </a:ext>
            </a:extLst>
          </p:cNvPr>
          <p:cNvSpPr/>
          <p:nvPr/>
        </p:nvSpPr>
        <p:spPr bwMode="auto">
          <a:xfrm>
            <a:off x="1305332" y="1580447"/>
            <a:ext cx="1802928" cy="1555146"/>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endParaRPr>
          </a:p>
        </p:txBody>
      </p:sp>
      <p:sp>
        <p:nvSpPr>
          <p:cNvPr id="14" name="テキスト ボックス 13">
            <a:extLst>
              <a:ext uri="{FF2B5EF4-FFF2-40B4-BE49-F238E27FC236}">
                <a16:creationId xmlns:a16="http://schemas.microsoft.com/office/drawing/2014/main" id="{43FF16D3-3FA5-5833-608A-C55E3C8E72C6}"/>
              </a:ext>
            </a:extLst>
          </p:cNvPr>
          <p:cNvSpPr txBox="1"/>
          <p:nvPr/>
        </p:nvSpPr>
        <p:spPr>
          <a:xfrm>
            <a:off x="1199456" y="1241896"/>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⑤</a:t>
            </a:r>
            <a:endParaRPr kumimoji="1" lang="ja-JP" altLang="en-US" sz="1600" dirty="0">
              <a:solidFill>
                <a:srgbClr val="FF0000"/>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3F32C273-E44D-374C-9670-1255063D6D6D}"/>
              </a:ext>
            </a:extLst>
          </p:cNvPr>
          <p:cNvSpPr/>
          <p:nvPr/>
        </p:nvSpPr>
        <p:spPr bwMode="auto">
          <a:xfrm>
            <a:off x="3198000" y="1877128"/>
            <a:ext cx="7506512" cy="1402481"/>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endParaRPr>
          </a:p>
        </p:txBody>
      </p:sp>
      <p:sp>
        <p:nvSpPr>
          <p:cNvPr id="16" name="テキスト ボックス 15">
            <a:extLst>
              <a:ext uri="{FF2B5EF4-FFF2-40B4-BE49-F238E27FC236}">
                <a16:creationId xmlns:a16="http://schemas.microsoft.com/office/drawing/2014/main" id="{16D765D7-24E2-DD27-44F3-697780FAA27F}"/>
              </a:ext>
            </a:extLst>
          </p:cNvPr>
          <p:cNvSpPr txBox="1"/>
          <p:nvPr/>
        </p:nvSpPr>
        <p:spPr>
          <a:xfrm>
            <a:off x="3108260" y="1538574"/>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⑥</a:t>
            </a:r>
            <a:endParaRPr lang="en-US" altLang="ja-JP" sz="1600" dirty="0">
              <a:solidFill>
                <a:srgbClr val="FF0000"/>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B41DAF54-57C0-44D4-402F-9D93BA261A30}"/>
              </a:ext>
            </a:extLst>
          </p:cNvPr>
          <p:cNvSpPr/>
          <p:nvPr/>
        </p:nvSpPr>
        <p:spPr bwMode="auto">
          <a:xfrm>
            <a:off x="3198000" y="3351618"/>
            <a:ext cx="7506512" cy="1008112"/>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endParaRPr>
          </a:p>
        </p:txBody>
      </p:sp>
      <p:sp>
        <p:nvSpPr>
          <p:cNvPr id="18" name="テキスト ボックス 17">
            <a:extLst>
              <a:ext uri="{FF2B5EF4-FFF2-40B4-BE49-F238E27FC236}">
                <a16:creationId xmlns:a16="http://schemas.microsoft.com/office/drawing/2014/main" id="{D0F6F728-F3A2-6BF7-AFE2-692FDABB30D8}"/>
              </a:ext>
            </a:extLst>
          </p:cNvPr>
          <p:cNvSpPr txBox="1"/>
          <p:nvPr/>
        </p:nvSpPr>
        <p:spPr>
          <a:xfrm>
            <a:off x="2853104" y="3279609"/>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⑦</a:t>
            </a:r>
            <a:endParaRPr lang="en-US" altLang="ja-JP" sz="1600" dirty="0">
              <a:solidFill>
                <a:srgbClr val="FF0000"/>
              </a:solidFill>
              <a:latin typeface="Meiryo UI" panose="020B0604030504040204" pitchFamily="50" charset="-128"/>
              <a:ea typeface="Meiryo UI" panose="020B0604030504040204" pitchFamily="50" charset="-128"/>
            </a:endParaRPr>
          </a:p>
        </p:txBody>
      </p:sp>
      <p:sp>
        <p:nvSpPr>
          <p:cNvPr id="2" name="四角形: 角を丸くする 1">
            <a:extLst>
              <a:ext uri="{FF2B5EF4-FFF2-40B4-BE49-F238E27FC236}">
                <a16:creationId xmlns:a16="http://schemas.microsoft.com/office/drawing/2014/main" id="{49AE863D-F3C3-C755-48CA-22588A5B2984}"/>
              </a:ext>
            </a:extLst>
          </p:cNvPr>
          <p:cNvSpPr/>
          <p:nvPr/>
        </p:nvSpPr>
        <p:spPr>
          <a:xfrm>
            <a:off x="8280912" y="287867"/>
            <a:ext cx="1430866" cy="38334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C000"/>
                </a:solidFill>
                <a:latin typeface="Meiryo UI" panose="020B0604030504040204" pitchFamily="50" charset="-128"/>
                <a:ea typeface="Meiryo UI" panose="020B0604030504040204" pitchFamily="50" charset="-128"/>
              </a:rPr>
              <a:t>before</a:t>
            </a:r>
            <a:endParaRPr kumimoji="1" lang="ja-JP" altLang="en-US" dirty="0">
              <a:solidFill>
                <a:srgbClr val="FFC000"/>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5CD27C4F-EA3A-EF40-7AFF-AB0140154752}"/>
              </a:ext>
            </a:extLst>
          </p:cNvPr>
          <p:cNvSpPr txBox="1"/>
          <p:nvPr/>
        </p:nvSpPr>
        <p:spPr bwMode="auto">
          <a:xfrm>
            <a:off x="9711778" y="263454"/>
            <a:ext cx="1526230" cy="430887"/>
          </a:xfrm>
          <a:prstGeom prst="rect">
            <a:avLst/>
          </a:prstGeom>
          <a:noFill/>
          <a:ln w="25400">
            <a:noFill/>
            <a:miter lim="800000"/>
            <a:headEnd/>
            <a:tailEnd/>
          </a:ln>
        </p:spPr>
        <p:txBody>
          <a:bodyPr wrap="square" lIns="180000" rIns="180000" rtlCol="0" anchor="ctr">
            <a:spAutoFit/>
          </a:bodyPr>
          <a:lstStyle/>
          <a:p>
            <a:pPr algn="l">
              <a:spcBef>
                <a:spcPts val="600"/>
              </a:spcBef>
            </a:pPr>
            <a:r>
              <a:rPr kumimoji="1" lang="en-US" altLang="ja-JP" sz="1100" b="1" dirty="0">
                <a:latin typeface="Meiryo UI" panose="020B0604030504040204" pitchFamily="50" charset="-128"/>
                <a:ea typeface="Meiryo UI" panose="020B0604030504040204" pitchFamily="50" charset="-128"/>
              </a:rPr>
              <a:t>2023</a:t>
            </a:r>
            <a:r>
              <a:rPr kumimoji="1" lang="ja-JP" altLang="en-US" sz="1100" b="1" dirty="0">
                <a:latin typeface="Meiryo UI" panose="020B0604030504040204" pitchFamily="50" charset="-128"/>
                <a:ea typeface="Meiryo UI" panose="020B0604030504040204" pitchFamily="50" charset="-128"/>
              </a:rPr>
              <a:t>年</a:t>
            </a:r>
            <a:r>
              <a:rPr kumimoji="1" lang="en-US" altLang="ja-JP" sz="1100" b="1" dirty="0">
                <a:latin typeface="Meiryo UI" panose="020B0604030504040204" pitchFamily="50" charset="-128"/>
                <a:ea typeface="Meiryo UI" panose="020B0604030504040204" pitchFamily="50" charset="-128"/>
              </a:rPr>
              <a:t>10</a:t>
            </a:r>
            <a:r>
              <a:rPr kumimoji="1" lang="ja-JP" altLang="en-US" sz="1100" b="1" dirty="0">
                <a:latin typeface="Meiryo UI" panose="020B0604030504040204" pitchFamily="50" charset="-128"/>
                <a:ea typeface="Meiryo UI" panose="020B0604030504040204" pitchFamily="50" charset="-128"/>
              </a:rPr>
              <a:t>月</a:t>
            </a:r>
            <a:r>
              <a:rPr lang="ja-JP" altLang="en-US" sz="1100" b="1" dirty="0">
                <a:latin typeface="Meiryo UI" panose="020B0604030504040204" pitchFamily="50" charset="-128"/>
                <a:ea typeface="Meiryo UI" panose="020B0604030504040204" pitchFamily="50" charset="-128"/>
              </a:rPr>
              <a:t>時点ナースコールモニター</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89967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86A2F-0AF2-647E-3BA7-093DE430F5FE}"/>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41DF481E-1F34-AB25-C0DF-32C72A283FBB}"/>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a:t>
            </a:r>
            <a:r>
              <a:rPr lang="ja-JP" altLang="en-US" sz="2000" b="0" dirty="0">
                <a:solidFill>
                  <a:srgbClr val="000000"/>
                </a:solidFill>
                <a:cs typeface="+mn-cs"/>
              </a:rPr>
              <a:t>画面要件③</a:t>
            </a:r>
            <a:endParaRPr lang="ja-JP" altLang="ja-JP" dirty="0">
              <a:effectLst/>
            </a:endParaRPr>
          </a:p>
        </p:txBody>
      </p:sp>
      <p:sp>
        <p:nvSpPr>
          <p:cNvPr id="2" name="Google Shape;670;p37">
            <a:extLst>
              <a:ext uri="{FF2B5EF4-FFF2-40B4-BE49-F238E27FC236}">
                <a16:creationId xmlns:a16="http://schemas.microsoft.com/office/drawing/2014/main" id="{A313679B-9221-24E2-8BF6-81F8B800C5F6}"/>
              </a:ext>
            </a:extLst>
          </p:cNvPr>
          <p:cNvSpPr txBox="1"/>
          <p:nvPr/>
        </p:nvSpPr>
        <p:spPr>
          <a:xfrm>
            <a:off x="191344" y="908720"/>
            <a:ext cx="6103221" cy="36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ja-JP" sz="1800" u="none" strike="noStrike" cap="none" dirty="0">
                <a:solidFill>
                  <a:schemeClr val="dk1"/>
                </a:solidFill>
                <a:latin typeface="Meiryo UI" panose="020B0604030504040204" pitchFamily="34" charset="-128"/>
                <a:ea typeface="Meiryo UI" panose="020B0604030504040204" pitchFamily="34" charset="-128"/>
                <a:sym typeface="Arial"/>
              </a:rPr>
              <a:t>画面レイアウト</a:t>
            </a:r>
            <a:r>
              <a:rPr lang="ja-JP" altLang="en-US" sz="1800" u="none" strike="noStrike" cap="none" dirty="0">
                <a:solidFill>
                  <a:schemeClr val="dk1"/>
                </a:solidFill>
                <a:latin typeface="Meiryo UI" panose="020B0604030504040204" pitchFamily="34" charset="-128"/>
                <a:ea typeface="Meiryo UI" panose="020B0604030504040204" pitchFamily="34" charset="-128"/>
                <a:sym typeface="Arial"/>
              </a:rPr>
              <a:t>　</a:t>
            </a:r>
            <a:r>
              <a:rPr lang="en-US" altLang="ja-JP" sz="1800" u="none" strike="noStrike" cap="none" dirty="0">
                <a:solidFill>
                  <a:schemeClr val="dk1"/>
                </a:solidFill>
                <a:latin typeface="Meiryo UI" panose="020B0604030504040204" pitchFamily="34" charset="-128"/>
                <a:ea typeface="Meiryo UI" panose="020B0604030504040204" pitchFamily="34" charset="-128"/>
                <a:sym typeface="Arial"/>
              </a:rPr>
              <a:t>1. </a:t>
            </a:r>
            <a:r>
              <a:rPr lang="ja-JP" altLang="en-US" sz="1800" dirty="0">
                <a:solidFill>
                  <a:schemeClr val="dk1"/>
                </a:solidFill>
                <a:latin typeface="Meiryo UI" panose="020B0604030504040204" pitchFamily="34" charset="-128"/>
                <a:ea typeface="Meiryo UI" panose="020B0604030504040204" pitchFamily="34" charset="-128"/>
                <a:sym typeface="Arial"/>
              </a:rPr>
              <a:t>曜日別推移</a:t>
            </a:r>
            <a:endParaRPr lang="en-US" altLang="ja-JP" sz="1800" u="none" strike="noStrike" cap="none" dirty="0">
              <a:solidFill>
                <a:schemeClr val="dk1"/>
              </a:solidFill>
              <a:latin typeface="Meiryo UI" panose="020B0604030504040204" pitchFamily="34" charset="-128"/>
              <a:ea typeface="Meiryo UI" panose="020B0604030504040204" pitchFamily="34" charset="-128"/>
              <a:sym typeface="Arial"/>
            </a:endParaRPr>
          </a:p>
        </p:txBody>
      </p:sp>
      <p:pic>
        <p:nvPicPr>
          <p:cNvPr id="3" name="図 2">
            <a:extLst>
              <a:ext uri="{FF2B5EF4-FFF2-40B4-BE49-F238E27FC236}">
                <a16:creationId xmlns:a16="http://schemas.microsoft.com/office/drawing/2014/main" id="{07D38430-53F7-E039-A60E-34540CCBB0D6}"/>
              </a:ext>
            </a:extLst>
          </p:cNvPr>
          <p:cNvPicPr>
            <a:picLocks noChangeAspect="1"/>
          </p:cNvPicPr>
          <p:nvPr/>
        </p:nvPicPr>
        <p:blipFill>
          <a:blip r:embed="rId3"/>
          <a:stretch>
            <a:fillRect/>
          </a:stretch>
        </p:blipFill>
        <p:spPr>
          <a:xfrm>
            <a:off x="311613" y="1377478"/>
            <a:ext cx="10497392" cy="4805838"/>
          </a:xfrm>
          <a:prstGeom prst="rect">
            <a:avLst/>
          </a:prstGeom>
        </p:spPr>
      </p:pic>
      <p:sp>
        <p:nvSpPr>
          <p:cNvPr id="4" name="正方形/長方形 3">
            <a:extLst>
              <a:ext uri="{FF2B5EF4-FFF2-40B4-BE49-F238E27FC236}">
                <a16:creationId xmlns:a16="http://schemas.microsoft.com/office/drawing/2014/main" id="{B020EF74-FE58-046E-D543-619D1D4712F2}"/>
              </a:ext>
            </a:extLst>
          </p:cNvPr>
          <p:cNvSpPr/>
          <p:nvPr/>
        </p:nvSpPr>
        <p:spPr bwMode="auto">
          <a:xfrm>
            <a:off x="3198000" y="2039362"/>
            <a:ext cx="7506512" cy="1402481"/>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endParaRPr>
          </a:p>
        </p:txBody>
      </p:sp>
      <p:sp>
        <p:nvSpPr>
          <p:cNvPr id="6" name="テキスト ボックス 5">
            <a:extLst>
              <a:ext uri="{FF2B5EF4-FFF2-40B4-BE49-F238E27FC236}">
                <a16:creationId xmlns:a16="http://schemas.microsoft.com/office/drawing/2014/main" id="{A9EDBB77-CA09-A11E-857A-CC2CC3486EF5}"/>
              </a:ext>
            </a:extLst>
          </p:cNvPr>
          <p:cNvSpPr txBox="1"/>
          <p:nvPr/>
        </p:nvSpPr>
        <p:spPr>
          <a:xfrm>
            <a:off x="3108260" y="1700808"/>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⑧</a:t>
            </a:r>
            <a:endParaRPr lang="en-US" altLang="ja-JP" sz="1600" dirty="0">
              <a:solidFill>
                <a:srgbClr val="FF0000"/>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EA1580F2-99A4-6C83-F311-F76158A01E94}"/>
              </a:ext>
            </a:extLst>
          </p:cNvPr>
          <p:cNvSpPr/>
          <p:nvPr/>
        </p:nvSpPr>
        <p:spPr bwMode="auto">
          <a:xfrm>
            <a:off x="3198000" y="3501008"/>
            <a:ext cx="7506512" cy="2308456"/>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endParaRPr>
          </a:p>
        </p:txBody>
      </p:sp>
      <p:sp>
        <p:nvSpPr>
          <p:cNvPr id="8" name="テキスト ボックス 7">
            <a:extLst>
              <a:ext uri="{FF2B5EF4-FFF2-40B4-BE49-F238E27FC236}">
                <a16:creationId xmlns:a16="http://schemas.microsoft.com/office/drawing/2014/main" id="{E9007512-38AB-B768-A529-BE6FE4741F32}"/>
              </a:ext>
            </a:extLst>
          </p:cNvPr>
          <p:cNvSpPr txBox="1"/>
          <p:nvPr/>
        </p:nvSpPr>
        <p:spPr>
          <a:xfrm>
            <a:off x="2853104" y="3441843"/>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⑨</a:t>
            </a:r>
            <a:endParaRPr lang="en-US" altLang="ja-JP" sz="1600" dirty="0">
              <a:solidFill>
                <a:srgbClr val="FF0000"/>
              </a:solidFill>
              <a:latin typeface="Meiryo UI" panose="020B0604030504040204" pitchFamily="50" charset="-128"/>
              <a:ea typeface="Meiryo UI" panose="020B0604030504040204" pitchFamily="50" charset="-128"/>
            </a:endParaRPr>
          </a:p>
        </p:txBody>
      </p:sp>
      <p:sp>
        <p:nvSpPr>
          <p:cNvPr id="10" name="四角形: 角を丸くする 9">
            <a:extLst>
              <a:ext uri="{FF2B5EF4-FFF2-40B4-BE49-F238E27FC236}">
                <a16:creationId xmlns:a16="http://schemas.microsoft.com/office/drawing/2014/main" id="{A1E80F91-F024-C4EA-CA75-5797D459D33A}"/>
              </a:ext>
            </a:extLst>
          </p:cNvPr>
          <p:cNvSpPr/>
          <p:nvPr/>
        </p:nvSpPr>
        <p:spPr>
          <a:xfrm>
            <a:off x="8280912" y="287867"/>
            <a:ext cx="1430866" cy="38334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C000"/>
                </a:solidFill>
                <a:latin typeface="Meiryo UI" panose="020B0604030504040204" pitchFamily="50" charset="-128"/>
                <a:ea typeface="Meiryo UI" panose="020B0604030504040204" pitchFamily="50" charset="-128"/>
              </a:rPr>
              <a:t>before</a:t>
            </a:r>
            <a:endParaRPr kumimoji="1" lang="ja-JP" altLang="en-US" dirty="0">
              <a:solidFill>
                <a:srgbClr val="FFC000"/>
              </a:solidFill>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7FE3178D-7393-0B88-F34E-ADE128DF3A6C}"/>
              </a:ext>
            </a:extLst>
          </p:cNvPr>
          <p:cNvSpPr txBox="1"/>
          <p:nvPr/>
        </p:nvSpPr>
        <p:spPr bwMode="auto">
          <a:xfrm>
            <a:off x="9711778" y="263454"/>
            <a:ext cx="1526230" cy="430887"/>
          </a:xfrm>
          <a:prstGeom prst="rect">
            <a:avLst/>
          </a:prstGeom>
          <a:noFill/>
          <a:ln w="25400">
            <a:noFill/>
            <a:miter lim="800000"/>
            <a:headEnd/>
            <a:tailEnd/>
          </a:ln>
        </p:spPr>
        <p:txBody>
          <a:bodyPr wrap="square" lIns="180000" rIns="180000" rtlCol="0" anchor="ctr">
            <a:spAutoFit/>
          </a:bodyPr>
          <a:lstStyle/>
          <a:p>
            <a:pPr algn="l">
              <a:spcBef>
                <a:spcPts val="600"/>
              </a:spcBef>
            </a:pPr>
            <a:r>
              <a:rPr kumimoji="1" lang="en-US" altLang="ja-JP" sz="1100" b="1" dirty="0">
                <a:latin typeface="Meiryo UI" panose="020B0604030504040204" pitchFamily="50" charset="-128"/>
                <a:ea typeface="Meiryo UI" panose="020B0604030504040204" pitchFamily="50" charset="-128"/>
              </a:rPr>
              <a:t>2023</a:t>
            </a:r>
            <a:r>
              <a:rPr kumimoji="1" lang="ja-JP" altLang="en-US" sz="1100" b="1" dirty="0">
                <a:latin typeface="Meiryo UI" panose="020B0604030504040204" pitchFamily="50" charset="-128"/>
                <a:ea typeface="Meiryo UI" panose="020B0604030504040204" pitchFamily="50" charset="-128"/>
              </a:rPr>
              <a:t>年</a:t>
            </a:r>
            <a:r>
              <a:rPr kumimoji="1" lang="en-US" altLang="ja-JP" sz="1100" b="1" dirty="0">
                <a:latin typeface="Meiryo UI" panose="020B0604030504040204" pitchFamily="50" charset="-128"/>
                <a:ea typeface="Meiryo UI" panose="020B0604030504040204" pitchFamily="50" charset="-128"/>
              </a:rPr>
              <a:t>10</a:t>
            </a:r>
            <a:r>
              <a:rPr kumimoji="1" lang="ja-JP" altLang="en-US" sz="1100" b="1" dirty="0">
                <a:latin typeface="Meiryo UI" panose="020B0604030504040204" pitchFamily="50" charset="-128"/>
                <a:ea typeface="Meiryo UI" panose="020B0604030504040204" pitchFamily="50" charset="-128"/>
              </a:rPr>
              <a:t>月時点</a:t>
            </a:r>
            <a:r>
              <a:rPr lang="ja-JP" altLang="en-US" sz="1100" b="1" dirty="0">
                <a:latin typeface="Meiryo UI" panose="020B0604030504040204" pitchFamily="50" charset="-128"/>
                <a:ea typeface="Meiryo UI" panose="020B0604030504040204" pitchFamily="50" charset="-128"/>
              </a:rPr>
              <a:t>ナースコールモニター</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89418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8D527-1614-167B-0F57-4EE6C5A75CC4}"/>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97C0AFC4-2DFA-BA2D-69D8-6F2B7FB39CEF}"/>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a:t>
            </a:r>
            <a:r>
              <a:rPr lang="ja-JP" altLang="en-US" sz="2000" b="0" dirty="0">
                <a:solidFill>
                  <a:srgbClr val="000000"/>
                </a:solidFill>
                <a:cs typeface="+mn-cs"/>
              </a:rPr>
              <a:t>画面要件④</a:t>
            </a:r>
            <a:endParaRPr lang="ja-JP" altLang="ja-JP" dirty="0">
              <a:effectLst/>
            </a:endParaRPr>
          </a:p>
        </p:txBody>
      </p:sp>
      <p:sp>
        <p:nvSpPr>
          <p:cNvPr id="9" name="Google Shape;670;p37">
            <a:extLst>
              <a:ext uri="{FF2B5EF4-FFF2-40B4-BE49-F238E27FC236}">
                <a16:creationId xmlns:a16="http://schemas.microsoft.com/office/drawing/2014/main" id="{970728FC-2A44-B336-B48C-5BFD940E6544}"/>
              </a:ext>
            </a:extLst>
          </p:cNvPr>
          <p:cNvSpPr txBox="1"/>
          <p:nvPr/>
        </p:nvSpPr>
        <p:spPr>
          <a:xfrm>
            <a:off x="191344" y="908720"/>
            <a:ext cx="6103221" cy="36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ja-JP" sz="1800" u="none" strike="noStrike" cap="none" dirty="0">
                <a:solidFill>
                  <a:schemeClr val="dk1"/>
                </a:solidFill>
                <a:latin typeface="Meiryo UI" panose="020B0604030504040204" pitchFamily="34" charset="-128"/>
                <a:ea typeface="Meiryo UI" panose="020B0604030504040204" pitchFamily="34" charset="-128"/>
                <a:sym typeface="Arial"/>
              </a:rPr>
              <a:t>画面レイアウト</a:t>
            </a:r>
            <a:r>
              <a:rPr lang="ja-JP" altLang="en-US" sz="1800" u="none" strike="noStrike" cap="none" dirty="0">
                <a:solidFill>
                  <a:schemeClr val="dk1"/>
                </a:solidFill>
                <a:latin typeface="Meiryo UI" panose="020B0604030504040204" pitchFamily="34" charset="-128"/>
                <a:ea typeface="Meiryo UI" panose="020B0604030504040204" pitchFamily="34" charset="-128"/>
                <a:sym typeface="Arial"/>
              </a:rPr>
              <a:t>　</a:t>
            </a:r>
            <a:r>
              <a:rPr lang="en-US" altLang="ja-JP" sz="1800" u="none" strike="noStrike" cap="none" dirty="0">
                <a:solidFill>
                  <a:schemeClr val="dk1"/>
                </a:solidFill>
                <a:latin typeface="Meiryo UI" panose="020B0604030504040204" pitchFamily="34" charset="-128"/>
                <a:ea typeface="Meiryo UI" panose="020B0604030504040204" pitchFamily="34" charset="-128"/>
                <a:sym typeface="Arial"/>
              </a:rPr>
              <a:t>1. TOP</a:t>
            </a:r>
            <a:r>
              <a:rPr lang="ja-JP" altLang="en-US" sz="1800" u="none" strike="noStrike" cap="none" dirty="0">
                <a:solidFill>
                  <a:schemeClr val="dk1"/>
                </a:solidFill>
                <a:latin typeface="Meiryo UI" panose="020B0604030504040204" pitchFamily="34" charset="-128"/>
                <a:ea typeface="Meiryo UI" panose="020B0604030504040204" pitchFamily="34" charset="-128"/>
                <a:sym typeface="Arial"/>
              </a:rPr>
              <a:t>ページ</a:t>
            </a:r>
            <a:endParaRPr lang="en-US" altLang="ja-JP" sz="1800" u="none" strike="noStrike" cap="none" dirty="0">
              <a:solidFill>
                <a:schemeClr val="dk1"/>
              </a:solidFill>
              <a:latin typeface="Meiryo UI" panose="020B0604030504040204" pitchFamily="34" charset="-128"/>
              <a:ea typeface="Meiryo UI" panose="020B0604030504040204" pitchFamily="34" charset="-128"/>
              <a:sym typeface="Arial"/>
            </a:endParaRPr>
          </a:p>
        </p:txBody>
      </p:sp>
      <p:pic>
        <p:nvPicPr>
          <p:cNvPr id="10" name="図 9">
            <a:extLst>
              <a:ext uri="{FF2B5EF4-FFF2-40B4-BE49-F238E27FC236}">
                <a16:creationId xmlns:a16="http://schemas.microsoft.com/office/drawing/2014/main" id="{CB59BF9E-265B-0536-585A-575F47B93F8C}"/>
              </a:ext>
            </a:extLst>
          </p:cNvPr>
          <p:cNvPicPr>
            <a:picLocks noChangeAspect="1"/>
          </p:cNvPicPr>
          <p:nvPr/>
        </p:nvPicPr>
        <p:blipFill>
          <a:blip r:embed="rId3"/>
          <a:stretch>
            <a:fillRect/>
          </a:stretch>
        </p:blipFill>
        <p:spPr>
          <a:xfrm>
            <a:off x="263352" y="1412776"/>
            <a:ext cx="10441160" cy="4780093"/>
          </a:xfrm>
          <a:prstGeom prst="rect">
            <a:avLst/>
          </a:prstGeom>
        </p:spPr>
      </p:pic>
      <p:sp>
        <p:nvSpPr>
          <p:cNvPr id="11" name="正方形/長方形 10">
            <a:extLst>
              <a:ext uri="{FF2B5EF4-FFF2-40B4-BE49-F238E27FC236}">
                <a16:creationId xmlns:a16="http://schemas.microsoft.com/office/drawing/2014/main" id="{087CBA30-39B6-801E-3A9B-A7172926ED88}"/>
              </a:ext>
            </a:extLst>
          </p:cNvPr>
          <p:cNvSpPr/>
          <p:nvPr/>
        </p:nvSpPr>
        <p:spPr bwMode="auto">
          <a:xfrm>
            <a:off x="3114327" y="1679322"/>
            <a:ext cx="7506512" cy="1605662"/>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endParaRPr>
          </a:p>
        </p:txBody>
      </p:sp>
      <p:sp>
        <p:nvSpPr>
          <p:cNvPr id="12" name="テキスト ボックス 11">
            <a:extLst>
              <a:ext uri="{FF2B5EF4-FFF2-40B4-BE49-F238E27FC236}">
                <a16:creationId xmlns:a16="http://schemas.microsoft.com/office/drawing/2014/main" id="{214A2D9B-9C8C-D7E7-A059-AEA1BCB86F65}"/>
              </a:ext>
            </a:extLst>
          </p:cNvPr>
          <p:cNvSpPr txBox="1"/>
          <p:nvPr/>
        </p:nvSpPr>
        <p:spPr>
          <a:xfrm>
            <a:off x="3024587" y="1340768"/>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⑩</a:t>
            </a:r>
            <a:endParaRPr lang="en-US" altLang="ja-JP" sz="1600" dirty="0">
              <a:solidFill>
                <a:srgbClr val="FF0000"/>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4C4842CF-9C0A-E2AB-95A7-6F9883395C3C}"/>
              </a:ext>
            </a:extLst>
          </p:cNvPr>
          <p:cNvSpPr/>
          <p:nvPr/>
        </p:nvSpPr>
        <p:spPr bwMode="auto">
          <a:xfrm>
            <a:off x="3114327" y="3344149"/>
            <a:ext cx="7506512" cy="2848720"/>
          </a:xfrm>
          <a:prstGeom prst="rect">
            <a:avLst/>
          </a:prstGeom>
          <a:noFill/>
          <a:ln w="349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endParaRPr>
          </a:p>
        </p:txBody>
      </p:sp>
      <p:sp>
        <p:nvSpPr>
          <p:cNvPr id="14" name="テキスト ボックス 13">
            <a:extLst>
              <a:ext uri="{FF2B5EF4-FFF2-40B4-BE49-F238E27FC236}">
                <a16:creationId xmlns:a16="http://schemas.microsoft.com/office/drawing/2014/main" id="{E8A04E89-4A5B-0DAD-0714-459AB0DBB1E8}"/>
              </a:ext>
            </a:extLst>
          </p:cNvPr>
          <p:cNvSpPr txBox="1"/>
          <p:nvPr/>
        </p:nvSpPr>
        <p:spPr>
          <a:xfrm>
            <a:off x="2769431" y="3284984"/>
            <a:ext cx="389850" cy="338554"/>
          </a:xfrm>
          <a:prstGeom prst="rect">
            <a:avLst/>
          </a:prstGeom>
          <a:noFill/>
        </p:spPr>
        <p:txBody>
          <a:bodyPr wrap="none" rtlCol="0">
            <a:spAutoFit/>
          </a:bodyPr>
          <a:lstStyle/>
          <a:p>
            <a:r>
              <a:rPr lang="ja-JP" altLang="en-US" sz="1600" dirty="0">
                <a:solidFill>
                  <a:srgbClr val="FF0000"/>
                </a:solidFill>
                <a:latin typeface="Meiryo UI" panose="020B0604030504040204" pitchFamily="50" charset="-128"/>
                <a:ea typeface="Meiryo UI" panose="020B0604030504040204" pitchFamily="50" charset="-128"/>
              </a:rPr>
              <a:t>⑪</a:t>
            </a:r>
            <a:endParaRPr lang="en-US" altLang="ja-JP" sz="1600" dirty="0">
              <a:solidFill>
                <a:srgbClr val="FF0000"/>
              </a:solidFill>
              <a:latin typeface="Meiryo UI" panose="020B0604030504040204" pitchFamily="50" charset="-128"/>
              <a:ea typeface="Meiryo UI" panose="020B0604030504040204" pitchFamily="50" charset="-128"/>
            </a:endParaRPr>
          </a:p>
        </p:txBody>
      </p:sp>
      <p:sp>
        <p:nvSpPr>
          <p:cNvPr id="2" name="四角形: 角を丸くする 1">
            <a:extLst>
              <a:ext uri="{FF2B5EF4-FFF2-40B4-BE49-F238E27FC236}">
                <a16:creationId xmlns:a16="http://schemas.microsoft.com/office/drawing/2014/main" id="{C723E0FE-86EA-D782-16F5-1DC81767CFEE}"/>
              </a:ext>
            </a:extLst>
          </p:cNvPr>
          <p:cNvSpPr/>
          <p:nvPr/>
        </p:nvSpPr>
        <p:spPr>
          <a:xfrm>
            <a:off x="8280912" y="287867"/>
            <a:ext cx="1430866" cy="38334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C000"/>
                </a:solidFill>
                <a:latin typeface="Meiryo UI" panose="020B0604030504040204" pitchFamily="50" charset="-128"/>
                <a:ea typeface="Meiryo UI" panose="020B0604030504040204" pitchFamily="50" charset="-128"/>
              </a:rPr>
              <a:t>before</a:t>
            </a:r>
            <a:endParaRPr kumimoji="1" lang="ja-JP" altLang="en-US" dirty="0">
              <a:solidFill>
                <a:srgbClr val="FFC000"/>
              </a:solidFill>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4391D47F-1824-0E05-8F3D-D423528E8F47}"/>
              </a:ext>
            </a:extLst>
          </p:cNvPr>
          <p:cNvSpPr txBox="1"/>
          <p:nvPr/>
        </p:nvSpPr>
        <p:spPr bwMode="auto">
          <a:xfrm>
            <a:off x="9711778" y="263454"/>
            <a:ext cx="1526230" cy="430887"/>
          </a:xfrm>
          <a:prstGeom prst="rect">
            <a:avLst/>
          </a:prstGeom>
          <a:noFill/>
          <a:ln w="25400">
            <a:noFill/>
            <a:miter lim="800000"/>
            <a:headEnd/>
            <a:tailEnd/>
          </a:ln>
        </p:spPr>
        <p:txBody>
          <a:bodyPr wrap="square" lIns="180000" rIns="180000" rtlCol="0" anchor="ctr">
            <a:spAutoFit/>
          </a:bodyPr>
          <a:lstStyle/>
          <a:p>
            <a:pPr algn="l">
              <a:spcBef>
                <a:spcPts val="600"/>
              </a:spcBef>
            </a:pPr>
            <a:r>
              <a:rPr kumimoji="1" lang="en-US" altLang="ja-JP" sz="1100" b="1" dirty="0">
                <a:latin typeface="Meiryo UI" panose="020B0604030504040204" pitchFamily="50" charset="-128"/>
                <a:ea typeface="Meiryo UI" panose="020B0604030504040204" pitchFamily="50" charset="-128"/>
              </a:rPr>
              <a:t>2023</a:t>
            </a:r>
            <a:r>
              <a:rPr kumimoji="1" lang="ja-JP" altLang="en-US" sz="1100" b="1" dirty="0">
                <a:latin typeface="Meiryo UI" panose="020B0604030504040204" pitchFamily="50" charset="-128"/>
                <a:ea typeface="Meiryo UI" panose="020B0604030504040204" pitchFamily="50" charset="-128"/>
              </a:rPr>
              <a:t>年</a:t>
            </a:r>
            <a:r>
              <a:rPr kumimoji="1" lang="en-US" altLang="ja-JP" sz="1100" b="1" dirty="0">
                <a:latin typeface="Meiryo UI" panose="020B0604030504040204" pitchFamily="50" charset="-128"/>
                <a:ea typeface="Meiryo UI" panose="020B0604030504040204" pitchFamily="50" charset="-128"/>
              </a:rPr>
              <a:t>10</a:t>
            </a:r>
            <a:r>
              <a:rPr kumimoji="1" lang="ja-JP" altLang="en-US" sz="1100" b="1" dirty="0">
                <a:latin typeface="Meiryo UI" panose="020B0604030504040204" pitchFamily="50" charset="-128"/>
                <a:ea typeface="Meiryo UI" panose="020B0604030504040204" pitchFamily="50" charset="-128"/>
              </a:rPr>
              <a:t>月時点</a:t>
            </a:r>
            <a:r>
              <a:rPr lang="ja-JP" altLang="en-US" sz="1100" b="1" dirty="0">
                <a:latin typeface="Meiryo UI" panose="020B0604030504040204" pitchFamily="50" charset="-128"/>
                <a:ea typeface="Meiryo UI" panose="020B0604030504040204" pitchFamily="50" charset="-128"/>
              </a:rPr>
              <a:t>ナースコールモニター</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5572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9800-64AD-0E58-140C-0B75A8C5736C}"/>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40A59E1-901B-FEB0-205E-BACEB256750D}"/>
              </a:ext>
            </a:extLst>
          </p:cNvPr>
          <p:cNvSpPr>
            <a:spLocks noGrp="1"/>
          </p:cNvSpPr>
          <p:nvPr>
            <p:ph type="title"/>
          </p:nvPr>
        </p:nvSpPr>
        <p:spPr/>
        <p:txBody>
          <a:bodyPr/>
          <a:lstStyle/>
          <a:p>
            <a:pPr rtl="0" eaLnBrk="1" fontAlgn="auto" latinLnBrk="0" hangingPunct="1"/>
            <a:r>
              <a:rPr kumimoji="1" lang="ja-JP" altLang="en-US" sz="2000" b="0" dirty="0"/>
              <a:t>機能要件　明細</a:t>
            </a:r>
            <a:endParaRPr lang="ja-JP" altLang="ja-JP" dirty="0">
              <a:effectLst/>
            </a:endParaRPr>
          </a:p>
        </p:txBody>
      </p:sp>
      <p:graphicFrame>
        <p:nvGraphicFramePr>
          <p:cNvPr id="2" name="Google Shape;689;p38">
            <a:extLst>
              <a:ext uri="{FF2B5EF4-FFF2-40B4-BE49-F238E27FC236}">
                <a16:creationId xmlns:a16="http://schemas.microsoft.com/office/drawing/2014/main" id="{B6AF73E4-EC17-FCE3-0FAB-43F81062BBA5}"/>
              </a:ext>
            </a:extLst>
          </p:cNvPr>
          <p:cNvGraphicFramePr/>
          <p:nvPr>
            <p:extLst>
              <p:ext uri="{D42A27DB-BD31-4B8C-83A1-F6EECF244321}">
                <p14:modId xmlns:p14="http://schemas.microsoft.com/office/powerpoint/2010/main" val="1521536194"/>
              </p:ext>
            </p:extLst>
          </p:nvPr>
        </p:nvGraphicFramePr>
        <p:xfrm>
          <a:off x="316670" y="1264290"/>
          <a:ext cx="11449250" cy="4755000"/>
        </p:xfrm>
        <a:graphic>
          <a:graphicData uri="http://schemas.openxmlformats.org/drawingml/2006/table">
            <a:tbl>
              <a:tblPr firstRow="1" bandRow="1">
                <a:tableStyleId>{B301B821-A1FF-4177-AEE7-76D212191A09}</a:tableStyleId>
              </a:tblPr>
              <a:tblGrid>
                <a:gridCol w="612057">
                  <a:extLst>
                    <a:ext uri="{9D8B030D-6E8A-4147-A177-3AD203B41FA5}">
                      <a16:colId xmlns:a16="http://schemas.microsoft.com/office/drawing/2014/main" val="20000"/>
                    </a:ext>
                  </a:extLst>
                </a:gridCol>
                <a:gridCol w="2196243">
                  <a:extLst>
                    <a:ext uri="{9D8B030D-6E8A-4147-A177-3AD203B41FA5}">
                      <a16:colId xmlns:a16="http://schemas.microsoft.com/office/drawing/2014/main" val="20001"/>
                    </a:ext>
                  </a:extLst>
                </a:gridCol>
                <a:gridCol w="6228693">
                  <a:extLst>
                    <a:ext uri="{9D8B030D-6E8A-4147-A177-3AD203B41FA5}">
                      <a16:colId xmlns:a16="http://schemas.microsoft.com/office/drawing/2014/main" val="20002"/>
                    </a:ext>
                  </a:extLst>
                </a:gridCol>
                <a:gridCol w="2412257">
                  <a:extLst>
                    <a:ext uri="{9D8B030D-6E8A-4147-A177-3AD203B41FA5}">
                      <a16:colId xmlns:a16="http://schemas.microsoft.com/office/drawing/2014/main" val="20003"/>
                    </a:ext>
                  </a:extLst>
                </a:gridCol>
              </a:tblGrid>
              <a:tr h="245399">
                <a:tc>
                  <a:txBody>
                    <a:bodyPr/>
                    <a:lstStyle/>
                    <a:p>
                      <a:pPr marL="0" marR="0" lvl="0" indent="0" algn="l" rtl="0">
                        <a:lnSpc>
                          <a:spcPct val="100000"/>
                        </a:lnSpc>
                        <a:spcBef>
                          <a:spcPts val="0"/>
                        </a:spcBef>
                        <a:spcAft>
                          <a:spcPts val="0"/>
                        </a:spcAft>
                        <a:buClr>
                          <a:srgbClr val="000000"/>
                        </a:buClr>
                        <a:buSzPts val="1400"/>
                        <a:buFont typeface="Arial"/>
                        <a:buNone/>
                      </a:pPr>
                      <a:r>
                        <a:rPr lang="ja-JP" sz="1200" b="0" u="none" strike="noStrike" cap="none" dirty="0">
                          <a:latin typeface="Meiryo UI" panose="020B0604030504040204" pitchFamily="50" charset="-128"/>
                          <a:ea typeface="Meiryo UI" panose="020B0604030504040204" pitchFamily="50" charset="-128"/>
                          <a:sym typeface="Arial"/>
                        </a:rPr>
                        <a:t>No.</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200" b="0" u="none" strike="noStrike" cap="none" dirty="0">
                          <a:latin typeface="Meiryo UI" panose="020B0604030504040204" pitchFamily="50" charset="-128"/>
                          <a:ea typeface="Meiryo UI" panose="020B0604030504040204" pitchFamily="50" charset="-128"/>
                          <a:sym typeface="Arial"/>
                        </a:rPr>
                        <a:t>PBI（表示・アクション）</a:t>
                      </a:r>
                      <a:endParaRPr sz="12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200" b="0" u="none" strike="noStrike" cap="none" dirty="0">
                          <a:latin typeface="Meiryo UI" panose="020B0604030504040204" pitchFamily="50" charset="-128"/>
                          <a:ea typeface="Meiryo UI" panose="020B0604030504040204" pitchFamily="50" charset="-128"/>
                          <a:sym typeface="Arial"/>
                        </a:rPr>
                        <a:t>AC（詳細）</a:t>
                      </a:r>
                      <a:endParaRPr sz="12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200" b="0" u="none" strike="noStrike" cap="none" dirty="0">
                          <a:latin typeface="Meiryo UI" panose="020B0604030504040204" pitchFamily="50" charset="-128"/>
                          <a:ea typeface="Meiryo UI" panose="020B0604030504040204" pitchFamily="50" charset="-128"/>
                          <a:sym typeface="Arial"/>
                        </a:rPr>
                        <a:t>備考</a:t>
                      </a:r>
                      <a:endParaRPr sz="12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81529">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u="none" strike="noStrike" cap="none" dirty="0">
                          <a:latin typeface="Meiryo UI" panose="020B0604030504040204" pitchFamily="50" charset="-128"/>
                          <a:ea typeface="Meiryo UI" panose="020B0604030504040204" pitchFamily="50" charset="-128"/>
                          <a:sym typeface="Arial"/>
                        </a:rPr>
                        <a:t>①</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アクション</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ホーム選択機能</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任意のホームを選択できる。　</a:t>
                      </a:r>
                      <a:endParaRPr lang="ja-JP" altLang="en-US" sz="1200" b="0" u="none" strike="noStrike" cap="none" dirty="0">
                        <a:solidFill>
                          <a:srgbClr val="FF0000"/>
                        </a:solidFill>
                        <a:latin typeface="Meiryo UI" panose="020B0604030504040204" pitchFamily="50" charset="-128"/>
                        <a:ea typeface="Meiryo UI" panose="020B0604030504040204" pitchFamily="50" charset="-128"/>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u="none" strike="noStrike" cap="none" dirty="0">
                          <a:latin typeface="Meiryo UI" panose="020B0604030504040204" pitchFamily="50" charset="-128"/>
                          <a:ea typeface="Meiryo UI" panose="020B0604030504040204" pitchFamily="50" charset="-128"/>
                          <a:sym typeface="Arial"/>
                        </a:rPr>
                        <a:t>全施設権限ユーザーのみ機能</a:t>
                      </a:r>
                      <a:endParaRPr lang="ja-JP" altLang="en-US" sz="1200" b="0" i="0" u="none" strike="noStrike" cap="none" noProof="0"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2356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u="none" strike="noStrike" cap="none" dirty="0">
                          <a:latin typeface="Meiryo UI" panose="020B0604030504040204" pitchFamily="50" charset="-128"/>
                          <a:ea typeface="Meiryo UI" panose="020B0604030504040204" pitchFamily="50" charset="-128"/>
                          <a:sym typeface="Arial"/>
                        </a:rPr>
                        <a:t>②</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アクション</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期間フィルター</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③表示テーブルを任意期間の表示に変更できる。</a:t>
                      </a:r>
                    </a:p>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発信者番号で入居者を検索できる。</a:t>
                      </a:r>
                    </a:p>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入居者名で検索できる。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chemeClr val="dk1"/>
                        </a:buClr>
                        <a:buSzPts val="1200"/>
                        <a:buFont typeface="Twentieth Century"/>
                        <a:buNone/>
                      </a:pPr>
                      <a:endParaRPr sz="12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2356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u="none" strike="noStrike" cap="none" dirty="0">
                          <a:latin typeface="Meiryo UI" panose="020B0604030504040204" pitchFamily="50" charset="-128"/>
                          <a:ea typeface="Meiryo UI" panose="020B0604030504040204" pitchFamily="50" charset="-128"/>
                          <a:sym typeface="Arial"/>
                        </a:rPr>
                        <a:t>③</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表示</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ナースコール回数表示テーブル</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Row</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＝居室番号</a:t>
                      </a: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_</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入居者名、</a:t>
                      </a: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Column=</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月別ナースコール回数でテーブルを構成する。　</a:t>
                      </a:r>
                    </a:p>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毎日</a:t>
                      </a: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9</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時までに前月までのデータを更新する。</a:t>
                      </a:r>
                    </a:p>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各入居者押下で詳細を表示。</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lang="ja-JP" altLang="en-US" sz="1200" b="0" i="0" u="none" strike="noStrike" cap="none" noProof="0" dirty="0">
                        <a:solidFill>
                          <a:srgbClr val="FF0000"/>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45399">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u="none" strike="noStrike" cap="none" dirty="0">
                          <a:latin typeface="Meiryo UI" panose="020B0604030504040204" pitchFamily="50" charset="-128"/>
                          <a:ea typeface="Meiryo UI" panose="020B0604030504040204" pitchFamily="50" charset="-128"/>
                          <a:sym typeface="Arial"/>
                        </a:rPr>
                        <a:t>④</a:t>
                      </a:r>
                      <a:endParaRPr sz="12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アクション</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施設</a:t>
                      </a:r>
                      <a:r>
                        <a:rPr lang="en-US" altLang="ja-JP" sz="1200" b="0" u="none" strike="noStrike" cap="none" dirty="0">
                          <a:latin typeface="Meiryo UI" panose="020B0604030504040204" pitchFamily="50" charset="-128"/>
                          <a:ea typeface="Meiryo UI" panose="020B0604030504040204" pitchFamily="50" charset="-128"/>
                          <a:sym typeface="Arial"/>
                        </a:rPr>
                        <a:t>360</a:t>
                      </a:r>
                      <a:r>
                        <a:rPr lang="ja-JP" altLang="en-US" sz="1200" b="0" u="none" strike="noStrike" cap="none" dirty="0">
                          <a:latin typeface="Meiryo UI" panose="020B0604030504040204" pitchFamily="50" charset="-128"/>
                          <a:ea typeface="Meiryo UI" panose="020B0604030504040204" pitchFamily="50" charset="-128"/>
                          <a:sym typeface="Arial"/>
                        </a:rPr>
                        <a:t>リンク</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施設</a:t>
                      </a: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360</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にワンクリックで画面遷移。</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72155">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u="none" strike="noStrike" cap="none" dirty="0">
                          <a:latin typeface="Meiryo UI" panose="020B0604030504040204" pitchFamily="50" charset="-128"/>
                          <a:ea typeface="Meiryo UI" panose="020B0604030504040204" pitchFamily="50" charset="-128"/>
                          <a:sym typeface="Arial"/>
                        </a:rPr>
                        <a:t>⑤</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アクション</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期間フィルター</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rgbClr val="FF0000"/>
                          </a:solidFill>
                          <a:latin typeface="Meiryo UI" panose="020B0604030504040204" pitchFamily="50" charset="-128"/>
                          <a:ea typeface="Meiryo UI" panose="020B0604030504040204" pitchFamily="50" charset="-128"/>
                          <a:sym typeface="Arial"/>
                        </a:rPr>
                        <a:t>⑥</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チャートと</a:t>
                      </a:r>
                      <a:r>
                        <a:rPr lang="ja-JP" altLang="en-US" sz="1200" b="0" u="none" strike="noStrike" cap="none" dirty="0">
                          <a:solidFill>
                            <a:srgbClr val="FF0000"/>
                          </a:solidFill>
                          <a:latin typeface="Meiryo UI" panose="020B0604030504040204" pitchFamily="50" charset="-128"/>
                          <a:ea typeface="Meiryo UI" panose="020B0604030504040204" pitchFamily="50" charset="-128"/>
                          <a:sym typeface="Arial"/>
                        </a:rPr>
                        <a:t>⑦</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リストを任意期間の表示に変更できる。</a:t>
                      </a:r>
                      <a:endPar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81529">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u="none" strike="noStrike" cap="none" dirty="0">
                          <a:latin typeface="Meiryo UI" panose="020B0604030504040204" pitchFamily="50" charset="-128"/>
                          <a:ea typeface="Meiryo UI" panose="020B0604030504040204" pitchFamily="50" charset="-128"/>
                          <a:sym typeface="Arial"/>
                        </a:rPr>
                        <a:t>⑥</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表示</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日別推移</a:t>
                      </a:r>
                      <a:r>
                        <a:rPr lang="en-US" altLang="ja-JP" sz="1200" b="0" u="none" strike="noStrike" cap="none" dirty="0">
                          <a:latin typeface="Meiryo UI" panose="020B0604030504040204" pitchFamily="50" charset="-128"/>
                          <a:ea typeface="Meiryo UI" panose="020B0604030504040204" pitchFamily="50" charset="-128"/>
                          <a:sym typeface="Arial"/>
                        </a:rPr>
                        <a:t>_</a:t>
                      </a:r>
                      <a:r>
                        <a:rPr lang="ja-JP" altLang="en-US" sz="1200" b="0" u="none" strike="noStrike" cap="none" dirty="0">
                          <a:latin typeface="Meiryo UI" panose="020B0604030504040204" pitchFamily="50" charset="-128"/>
                          <a:ea typeface="Meiryo UI" panose="020B0604030504040204" pitchFamily="50" charset="-128"/>
                          <a:sym typeface="Arial"/>
                        </a:rPr>
                        <a:t>チャート</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日別ナースコール回数を折れ線グラフで表示する。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81529">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i="0" u="none" strike="noStrike" cap="none" dirty="0">
                          <a:latin typeface="Meiryo UI" panose="020B0604030504040204" pitchFamily="50" charset="-128"/>
                          <a:ea typeface="Meiryo UI" panose="020B0604030504040204" pitchFamily="50" charset="-128"/>
                          <a:cs typeface="Arial"/>
                          <a:sym typeface="Arial"/>
                        </a:rPr>
                        <a:t>⑦</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1363" rtl="0" eaLnBrk="1" fontAlgn="auto" latinLnBrk="0" hangingPunct="1">
                        <a:lnSpc>
                          <a:spcPct val="100000"/>
                        </a:lnSpc>
                        <a:spcBef>
                          <a:spcPts val="0"/>
                        </a:spcBef>
                        <a:spcAft>
                          <a:spcPts val="0"/>
                        </a:spcAft>
                        <a:buClr>
                          <a:srgbClr val="000000"/>
                        </a:buClr>
                        <a:buSzPts val="1400"/>
                        <a:buFont typeface="Arial"/>
                        <a:buNone/>
                        <a:tabLst/>
                        <a:defRPr/>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表示</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dirty="0">
                          <a:latin typeface="Meiryo UI" panose="020B0604030504040204" pitchFamily="50" charset="-128"/>
                          <a:ea typeface="Meiryo UI" panose="020B0604030504040204" pitchFamily="50" charset="-128"/>
                          <a:cs typeface="ＭＳ Ｐゴシック" charset="-128"/>
                        </a:rPr>
                        <a:t>日別推移</a:t>
                      </a:r>
                      <a:r>
                        <a:rPr lang="en-US" altLang="ja-JP" sz="1200" dirty="0">
                          <a:latin typeface="Meiryo UI" panose="020B0604030504040204" pitchFamily="50" charset="-128"/>
                          <a:ea typeface="Meiryo UI" panose="020B0604030504040204" pitchFamily="50" charset="-128"/>
                          <a:cs typeface="ＭＳ Ｐゴシック" charset="-128"/>
                        </a:rPr>
                        <a:t>_</a:t>
                      </a:r>
                      <a:r>
                        <a:rPr lang="ja-JP" altLang="en-US" sz="1200" dirty="0">
                          <a:latin typeface="Meiryo UI" panose="020B0604030504040204" pitchFamily="50" charset="-128"/>
                          <a:ea typeface="Meiryo UI" panose="020B0604030504040204" pitchFamily="50" charset="-128"/>
                          <a:cs typeface="ＭＳ Ｐゴシック" charset="-128"/>
                        </a:rPr>
                        <a:t>リスト</a:t>
                      </a:r>
                      <a:endParaRPr kumimoji="1" lang="en-US" altLang="ja-JP" sz="1200" b="0" i="0" u="none" strike="noStrike" cap="none" normalizeH="0" baseline="0" dirty="0">
                        <a:ln>
                          <a:noFill/>
                        </a:ln>
                        <a:effectLst/>
                        <a:latin typeface="Meiryo UI" panose="020B0604030504040204" pitchFamily="50" charset="-128"/>
                        <a:ea typeface="Meiryo UI" panose="020B0604030504040204" pitchFamily="50" charset="-128"/>
                        <a:cs typeface="ＭＳ Ｐゴシック"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451363" rtl="0" eaLnBrk="1" fontAlgn="auto" latinLnBrk="0" hangingPunct="1">
                        <a:lnSpc>
                          <a:spcPct val="100000"/>
                        </a:lnSpc>
                        <a:spcBef>
                          <a:spcPts val="0"/>
                        </a:spcBef>
                        <a:spcAft>
                          <a:spcPts val="0"/>
                        </a:spcAft>
                        <a:buClr>
                          <a:schemeClr val="dk1"/>
                        </a:buClr>
                        <a:buSzPts val="1400"/>
                        <a:buFont typeface="Arial"/>
                        <a:buChar char="•"/>
                        <a:tabLst/>
                        <a:defRPr/>
                      </a:pPr>
                      <a:r>
                        <a:rPr lang="en-US" altLang="ja-JP" sz="1200" dirty="0">
                          <a:latin typeface="Meiryo UI" panose="020B0604030504040204" pitchFamily="50" charset="-128"/>
                          <a:ea typeface="Meiryo UI" panose="020B0604030504040204" pitchFamily="50" charset="-128"/>
                          <a:cs typeface="ＭＳ Ｐゴシック" charset="-128"/>
                        </a:rPr>
                        <a:t>Row</a:t>
                      </a:r>
                      <a:r>
                        <a:rPr lang="ja-JP" altLang="en-US" sz="1200" dirty="0">
                          <a:latin typeface="Meiryo UI" panose="020B0604030504040204" pitchFamily="50" charset="-128"/>
                          <a:ea typeface="Meiryo UI" panose="020B0604030504040204" pitchFamily="50" charset="-128"/>
                          <a:cs typeface="ＭＳ Ｐゴシック" charset="-128"/>
                        </a:rPr>
                        <a:t>＝居室番号</a:t>
                      </a:r>
                      <a:r>
                        <a:rPr lang="en-US" altLang="ja-JP" sz="1200" dirty="0">
                          <a:latin typeface="Meiryo UI" panose="020B0604030504040204" pitchFamily="50" charset="-128"/>
                          <a:ea typeface="Meiryo UI" panose="020B0604030504040204" pitchFamily="50" charset="-128"/>
                          <a:cs typeface="ＭＳ Ｐゴシック" charset="-128"/>
                        </a:rPr>
                        <a:t>_</a:t>
                      </a:r>
                      <a:r>
                        <a:rPr lang="ja-JP" altLang="en-US" sz="1200" dirty="0">
                          <a:latin typeface="Meiryo UI" panose="020B0604030504040204" pitchFamily="50" charset="-128"/>
                          <a:ea typeface="Meiryo UI" panose="020B0604030504040204" pitchFamily="50" charset="-128"/>
                          <a:cs typeface="ＭＳ Ｐゴシック" charset="-128"/>
                        </a:rPr>
                        <a:t>入居者名</a:t>
                      </a:r>
                      <a:r>
                        <a:rPr kumimoji="1" lang="ja-JP" altLang="en-US" sz="1200" b="0" i="0" u="none" strike="noStrike" cap="none" normalizeH="0" baseline="0" dirty="0">
                          <a:ln>
                            <a:noFill/>
                          </a:ln>
                          <a:effectLst/>
                          <a:latin typeface="Meiryo UI" panose="020B0604030504040204" pitchFamily="50" charset="-128"/>
                          <a:ea typeface="Meiryo UI" panose="020B0604030504040204" pitchFamily="50" charset="-128"/>
                          <a:cs typeface="ＭＳ Ｐゴシック" charset="-128"/>
                        </a:rPr>
                        <a:t>、</a:t>
                      </a:r>
                      <a:r>
                        <a:rPr kumimoji="1" lang="en-US" altLang="ja-JP" sz="1200" b="0" i="0" u="none" strike="noStrike" cap="none" normalizeH="0" baseline="0" dirty="0">
                          <a:ln>
                            <a:noFill/>
                          </a:ln>
                          <a:effectLst/>
                          <a:latin typeface="Meiryo UI" panose="020B0604030504040204" pitchFamily="50" charset="-128"/>
                          <a:ea typeface="Meiryo UI" panose="020B0604030504040204" pitchFamily="50" charset="-128"/>
                          <a:cs typeface="ＭＳ Ｐゴシック" charset="-128"/>
                        </a:rPr>
                        <a:t>Column=</a:t>
                      </a:r>
                      <a:r>
                        <a:rPr kumimoji="1" lang="ja-JP" altLang="en-US" sz="1200" b="0" i="0" u="none" strike="noStrike" cap="none" normalizeH="0" baseline="0" dirty="0">
                          <a:ln>
                            <a:noFill/>
                          </a:ln>
                          <a:effectLst/>
                          <a:latin typeface="Meiryo UI" panose="020B0604030504040204" pitchFamily="50" charset="-128"/>
                          <a:ea typeface="Meiryo UI" panose="020B0604030504040204" pitchFamily="50" charset="-128"/>
                          <a:cs typeface="ＭＳ Ｐゴシック" charset="-128"/>
                        </a:rPr>
                        <a:t>日別ナースコール回数でテーブルを構成する。</a:t>
                      </a:r>
                      <a:endParaRPr kumimoji="1" lang="en-US" altLang="ja-JP" sz="1200" b="0" i="0" u="none" strike="noStrike" cap="none" normalizeH="0" baseline="0" dirty="0">
                        <a:ln>
                          <a:noFill/>
                        </a:ln>
                        <a:effectLst/>
                        <a:latin typeface="Meiryo UI" panose="020B0604030504040204" pitchFamily="50" charset="-128"/>
                        <a:ea typeface="Meiryo UI" panose="020B0604030504040204" pitchFamily="50" charset="-128"/>
                        <a:cs typeface="ＭＳ Ｐゴシック"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3092037"/>
                  </a:ext>
                </a:extLst>
              </a:tr>
              <a:tr h="181529">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i="0" u="none" strike="noStrike" cap="none" dirty="0">
                          <a:latin typeface="Meiryo UI" panose="020B0604030504040204" pitchFamily="50" charset="-128"/>
                          <a:ea typeface="Meiryo UI" panose="020B0604030504040204" pitchFamily="50" charset="-128"/>
                          <a:cs typeface="Arial"/>
                          <a:sym typeface="Arial"/>
                        </a:rPr>
                        <a:t>⑧</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表示</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dirty="0">
                          <a:latin typeface="Meiryo UI" panose="020B0604030504040204" pitchFamily="50" charset="-128"/>
                          <a:ea typeface="Meiryo UI" panose="020B0604030504040204" pitchFamily="50" charset="-128"/>
                          <a:cs typeface="ＭＳ Ｐゴシック" charset="-128"/>
                        </a:rPr>
                        <a:t>曜日別</a:t>
                      </a:r>
                      <a:r>
                        <a:rPr kumimoji="1" lang="ja-JP" altLang="en-US" sz="1200" b="0" i="0" u="none" strike="noStrike" cap="none" normalizeH="0" baseline="0" dirty="0">
                          <a:ln>
                            <a:noFill/>
                          </a:ln>
                          <a:effectLst/>
                          <a:latin typeface="Meiryo UI" panose="020B0604030504040204" pitchFamily="50" charset="-128"/>
                          <a:ea typeface="Meiryo UI" panose="020B0604030504040204" pitchFamily="50" charset="-128"/>
                          <a:cs typeface="ＭＳ Ｐゴシック" charset="-128"/>
                        </a:rPr>
                        <a:t>推移</a:t>
                      </a:r>
                      <a:r>
                        <a:rPr kumimoji="1" lang="en-US" altLang="ja-JP" sz="1200" b="0" i="0" u="none" strike="noStrike" cap="none" normalizeH="0" baseline="0" dirty="0">
                          <a:ln>
                            <a:noFill/>
                          </a:ln>
                          <a:effectLst/>
                          <a:latin typeface="Meiryo UI" panose="020B0604030504040204" pitchFamily="50" charset="-128"/>
                          <a:ea typeface="Meiryo UI" panose="020B0604030504040204" pitchFamily="50" charset="-128"/>
                          <a:cs typeface="ＭＳ Ｐゴシック" charset="-128"/>
                        </a:rPr>
                        <a:t>_</a:t>
                      </a:r>
                      <a:r>
                        <a:rPr kumimoji="1" lang="ja-JP" altLang="en-US" sz="1200" b="0" i="0" u="none" strike="noStrike" cap="none" normalizeH="0" baseline="0" dirty="0">
                          <a:ln>
                            <a:noFill/>
                          </a:ln>
                          <a:effectLst/>
                          <a:latin typeface="Meiryo UI" panose="020B0604030504040204" pitchFamily="50" charset="-128"/>
                          <a:ea typeface="Meiryo UI" panose="020B0604030504040204" pitchFamily="50" charset="-128"/>
                          <a:cs typeface="ＭＳ Ｐゴシック" charset="-128"/>
                        </a:rPr>
                        <a:t>チャート</a:t>
                      </a:r>
                      <a:endParaRPr lang="ja-JP" altLang="en-US" sz="1200" b="0" u="none" strike="noStrike" cap="none" dirty="0">
                        <a:latin typeface="Meiryo UI" panose="020B0604030504040204" pitchFamily="50" charset="-128"/>
                        <a:ea typeface="Meiryo UI" panose="020B0604030504040204" pitchFamily="50" charset="-128"/>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週毎に集計し棒グラフで表示。</a:t>
                      </a:r>
                    </a:p>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週別で色分けをして表示。</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8216509"/>
                  </a:ext>
                </a:extLst>
              </a:tr>
              <a:tr h="181529">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i="0" u="none" strike="noStrike" cap="none" dirty="0">
                          <a:latin typeface="Meiryo UI" panose="020B0604030504040204" pitchFamily="50" charset="-128"/>
                          <a:ea typeface="Meiryo UI" panose="020B0604030504040204" pitchFamily="50" charset="-128"/>
                          <a:cs typeface="Arial"/>
                          <a:sym typeface="Arial"/>
                        </a:rPr>
                        <a:t>⑨</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1363" rtl="0" eaLnBrk="1" fontAlgn="auto" latinLnBrk="0" hangingPunct="1">
                        <a:lnSpc>
                          <a:spcPct val="100000"/>
                        </a:lnSpc>
                        <a:spcBef>
                          <a:spcPts val="0"/>
                        </a:spcBef>
                        <a:spcAft>
                          <a:spcPts val="0"/>
                        </a:spcAft>
                        <a:buClr>
                          <a:srgbClr val="000000"/>
                        </a:buClr>
                        <a:buSzPts val="1400"/>
                        <a:buFont typeface="Arial"/>
                        <a:buNone/>
                        <a:tabLst/>
                        <a:defRPr/>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表示</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dirty="0">
                          <a:latin typeface="Meiryo UI" panose="020B0604030504040204" pitchFamily="50" charset="-128"/>
                          <a:ea typeface="Meiryo UI" panose="020B0604030504040204" pitchFamily="50" charset="-128"/>
                          <a:cs typeface="ＭＳ Ｐゴシック" charset="-128"/>
                        </a:rPr>
                        <a:t>曜日別推移</a:t>
                      </a:r>
                      <a:r>
                        <a:rPr lang="en-US" altLang="ja-JP" sz="1200" dirty="0">
                          <a:latin typeface="Meiryo UI" panose="020B0604030504040204" pitchFamily="50" charset="-128"/>
                          <a:ea typeface="Meiryo UI" panose="020B0604030504040204" pitchFamily="50" charset="-128"/>
                          <a:cs typeface="ＭＳ Ｐゴシック" charset="-128"/>
                        </a:rPr>
                        <a:t>_</a:t>
                      </a:r>
                      <a:r>
                        <a:rPr lang="ja-JP" altLang="en-US" sz="1200" dirty="0">
                          <a:latin typeface="Meiryo UI" panose="020B0604030504040204" pitchFamily="50" charset="-128"/>
                          <a:ea typeface="Meiryo UI" panose="020B0604030504040204" pitchFamily="50" charset="-128"/>
                          <a:cs typeface="ＭＳ Ｐゴシック" charset="-128"/>
                        </a:rPr>
                        <a:t>リスト</a:t>
                      </a:r>
                      <a:endParaRPr kumimoji="1" lang="en-US" altLang="ja-JP" sz="1200" b="0" i="0" u="none" strike="noStrike" cap="none" normalizeH="0" baseline="0" dirty="0">
                        <a:ln>
                          <a:noFill/>
                        </a:ln>
                        <a:effectLst/>
                        <a:latin typeface="Meiryo UI" panose="020B0604030504040204" pitchFamily="50" charset="-128"/>
                        <a:ea typeface="Meiryo UI" panose="020B0604030504040204" pitchFamily="50" charset="-128"/>
                        <a:cs typeface="ＭＳ Ｐゴシック"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週毎に集計し棒グラフで表示。</a:t>
                      </a:r>
                    </a:p>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週別で色分けをして表示。</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0219778"/>
                  </a:ext>
                </a:extLst>
              </a:tr>
              <a:tr h="181529">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i="0" u="none" strike="noStrike" cap="none" dirty="0">
                          <a:latin typeface="Meiryo UI" panose="020B0604030504040204" pitchFamily="50" charset="-128"/>
                          <a:ea typeface="Meiryo UI" panose="020B0604030504040204" pitchFamily="50" charset="-128"/>
                          <a:cs typeface="Arial"/>
                          <a:sym typeface="Arial"/>
                        </a:rPr>
                        <a:t>⑩</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表示</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時間別推移</a:t>
                      </a:r>
                      <a:r>
                        <a:rPr lang="en-US" altLang="ja-JP" sz="1200" b="0" u="none" strike="noStrike" cap="none" dirty="0">
                          <a:latin typeface="Meiryo UI" panose="020B0604030504040204" pitchFamily="50" charset="-128"/>
                          <a:ea typeface="Meiryo UI" panose="020B0604030504040204" pitchFamily="50" charset="-128"/>
                          <a:sym typeface="Arial"/>
                        </a:rPr>
                        <a:t>_</a:t>
                      </a:r>
                      <a:r>
                        <a:rPr lang="ja-JP" altLang="en-US" sz="1200" b="0" u="none" strike="noStrike" cap="none" dirty="0">
                          <a:latin typeface="Meiryo UI" panose="020B0604030504040204" pitchFamily="50" charset="-128"/>
                          <a:ea typeface="Meiryo UI" panose="020B0604030504040204" pitchFamily="50" charset="-128"/>
                          <a:sym typeface="Arial"/>
                        </a:rPr>
                        <a:t>チャート</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週毎に集計し積み上げ棒グラフで表示。</a:t>
                      </a:r>
                    </a:p>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週別で色分けをして表示。</a:t>
                      </a:r>
                    </a:p>
                    <a:p>
                      <a:pPr marL="285750" marR="0" lvl="0" indent="-285750" algn="l" rtl="0">
                        <a:lnSpc>
                          <a:spcPct val="100000"/>
                        </a:lnSpc>
                        <a:spcBef>
                          <a:spcPts val="0"/>
                        </a:spcBef>
                        <a:spcAft>
                          <a:spcPts val="0"/>
                        </a:spcAft>
                        <a:buClr>
                          <a:schemeClr val="dk1"/>
                        </a:buClr>
                        <a:buSzPts val="1400"/>
                        <a:buFont typeface="Arial"/>
                        <a:buChar char="•"/>
                      </a:pP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通話開始時間台で</a:t>
                      </a: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1</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時間ごとで集計。　例：</a:t>
                      </a: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0=0:00</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a:t>
                      </a: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0:59</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7733389"/>
                  </a:ext>
                </a:extLst>
              </a:tr>
              <a:tr h="181529">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200" b="0" i="0" u="none" strike="noStrike" cap="none" dirty="0">
                          <a:latin typeface="Meiryo UI" panose="020B0604030504040204" pitchFamily="50" charset="-128"/>
                          <a:ea typeface="Meiryo UI" panose="020B0604030504040204" pitchFamily="50" charset="-128"/>
                          <a:cs typeface="Arial"/>
                          <a:sym typeface="Arial"/>
                        </a:rPr>
                        <a:t>⑪</a:t>
                      </a:r>
                      <a:endParaRPr sz="12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表示</a:t>
                      </a:r>
                      <a:r>
                        <a:rPr lang="en-US" altLang="ja-JP" sz="1200" b="0" u="none" strike="noStrike" cap="none" dirty="0">
                          <a:latin typeface="Meiryo UI" panose="020B0604030504040204" pitchFamily="50" charset="-128"/>
                          <a:ea typeface="Meiryo UI" panose="020B0604030504040204" pitchFamily="50" charset="-128"/>
                          <a:sym typeface="Arial"/>
                        </a:rPr>
                        <a:t>)</a:t>
                      </a:r>
                      <a:r>
                        <a:rPr lang="ja-JP" altLang="en-US" sz="1200" b="0" u="none" strike="noStrike" cap="none" dirty="0">
                          <a:latin typeface="Meiryo UI" panose="020B0604030504040204" pitchFamily="50" charset="-128"/>
                          <a:ea typeface="Meiryo UI" panose="020B0604030504040204" pitchFamily="50" charset="-128"/>
                          <a:sym typeface="Arial"/>
                        </a:rPr>
                        <a:t>曜日別推移</a:t>
                      </a:r>
                      <a:r>
                        <a:rPr lang="en-US" altLang="ja-JP" sz="1200" b="0" u="none" strike="noStrike" cap="none" dirty="0">
                          <a:latin typeface="Meiryo UI" panose="020B0604030504040204" pitchFamily="50" charset="-128"/>
                          <a:ea typeface="Meiryo UI" panose="020B0604030504040204" pitchFamily="50" charset="-128"/>
                          <a:sym typeface="Arial"/>
                        </a:rPr>
                        <a:t>_</a:t>
                      </a:r>
                      <a:r>
                        <a:rPr lang="ja-JP" altLang="en-US" sz="1200" b="0" u="none" strike="noStrike" cap="none" dirty="0">
                          <a:latin typeface="Meiryo UI" panose="020B0604030504040204" pitchFamily="50" charset="-128"/>
                          <a:ea typeface="Meiryo UI" panose="020B0604030504040204" pitchFamily="50" charset="-128"/>
                          <a:sym typeface="Arial"/>
                        </a:rPr>
                        <a:t>リスト</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ts val="1400"/>
                        <a:buFont typeface="Arial"/>
                        <a:buChar char="•"/>
                      </a:pP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Row</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＝通話開始時間台、</a:t>
                      </a:r>
                      <a:r>
                        <a:rPr lang="en-US" altLang="ja-JP" sz="1200" b="0" u="none" strike="noStrike" cap="none" dirty="0">
                          <a:solidFill>
                            <a:schemeClr val="tx1"/>
                          </a:solidFill>
                          <a:latin typeface="Meiryo UI" panose="020B0604030504040204" pitchFamily="50" charset="-128"/>
                          <a:ea typeface="Meiryo UI" panose="020B0604030504040204" pitchFamily="50" charset="-128"/>
                          <a:sym typeface="Arial"/>
                        </a:rPr>
                        <a:t>Column=</a:t>
                      </a:r>
                      <a:r>
                        <a:rPr lang="ja-JP" altLang="en-US" sz="1200" b="0" u="none" strike="noStrike" cap="none" dirty="0">
                          <a:solidFill>
                            <a:schemeClr val="tx1"/>
                          </a:solidFill>
                          <a:latin typeface="Meiryo UI" panose="020B0604030504040204" pitchFamily="50" charset="-128"/>
                          <a:ea typeface="Meiryo UI" panose="020B0604030504040204" pitchFamily="50" charset="-128"/>
                          <a:sym typeface="Arial"/>
                        </a:rPr>
                        <a:t>日別ナースコール回数でテーブルを構成する。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87575974"/>
                  </a:ext>
                </a:extLst>
              </a:tr>
            </a:tbl>
          </a:graphicData>
        </a:graphic>
      </p:graphicFrame>
      <p:sp>
        <p:nvSpPr>
          <p:cNvPr id="3" name="Google Shape;688;p38">
            <a:extLst>
              <a:ext uri="{FF2B5EF4-FFF2-40B4-BE49-F238E27FC236}">
                <a16:creationId xmlns:a16="http://schemas.microsoft.com/office/drawing/2014/main" id="{4384FEEE-37E9-95BB-8E1F-3E06AB72A2EF}"/>
              </a:ext>
            </a:extLst>
          </p:cNvPr>
          <p:cNvSpPr txBox="1"/>
          <p:nvPr/>
        </p:nvSpPr>
        <p:spPr>
          <a:xfrm>
            <a:off x="191344" y="908720"/>
            <a:ext cx="7399365" cy="36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ja-JP" sz="1800" u="none" strike="noStrike" cap="none" dirty="0">
                <a:solidFill>
                  <a:schemeClr val="dk1"/>
                </a:solidFill>
                <a:latin typeface="Meiryo UI" panose="020B0604030504040204" pitchFamily="34" charset="-128"/>
                <a:ea typeface="Meiryo UI" panose="020B0604030504040204" pitchFamily="34" charset="-128"/>
                <a:sym typeface="Arial"/>
              </a:rPr>
              <a:t>画面表示・アクション明細</a:t>
            </a:r>
            <a:endParaRPr sz="1400" u="none" strike="noStrike" cap="none" dirty="0">
              <a:solidFill>
                <a:srgbClr val="000000"/>
              </a:solidFill>
              <a:latin typeface="Meiryo UI" panose="020B0604030504040204" pitchFamily="34" charset="-128"/>
              <a:ea typeface="Meiryo UI" panose="020B0604030504040204" pitchFamily="34" charset="-128"/>
              <a:sym typeface="Arial"/>
            </a:endParaRPr>
          </a:p>
        </p:txBody>
      </p:sp>
      <p:sp>
        <p:nvSpPr>
          <p:cNvPr id="6" name="四角形: 角を丸くする 5">
            <a:extLst>
              <a:ext uri="{FF2B5EF4-FFF2-40B4-BE49-F238E27FC236}">
                <a16:creationId xmlns:a16="http://schemas.microsoft.com/office/drawing/2014/main" id="{1FA0FC2F-B131-9077-5DA0-A4C8BECBC70B}"/>
              </a:ext>
            </a:extLst>
          </p:cNvPr>
          <p:cNvSpPr/>
          <p:nvPr/>
        </p:nvSpPr>
        <p:spPr>
          <a:xfrm>
            <a:off x="8280912" y="287867"/>
            <a:ext cx="1430866" cy="38334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rgbClr val="FFC000"/>
                </a:solidFill>
                <a:latin typeface="Meiryo UI" panose="020B0604030504040204" pitchFamily="50" charset="-128"/>
                <a:ea typeface="Meiryo UI" panose="020B0604030504040204" pitchFamily="50" charset="-128"/>
              </a:rPr>
              <a:t>before</a:t>
            </a:r>
            <a:endParaRPr kumimoji="1" lang="ja-JP" altLang="en-US" dirty="0">
              <a:solidFill>
                <a:srgbClr val="FFC000"/>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DE71A89B-DF50-EFDF-1FEA-1015366FA2F6}"/>
              </a:ext>
            </a:extLst>
          </p:cNvPr>
          <p:cNvSpPr txBox="1"/>
          <p:nvPr/>
        </p:nvSpPr>
        <p:spPr bwMode="auto">
          <a:xfrm>
            <a:off x="9711778" y="263454"/>
            <a:ext cx="1526230" cy="430887"/>
          </a:xfrm>
          <a:prstGeom prst="rect">
            <a:avLst/>
          </a:prstGeom>
          <a:noFill/>
          <a:ln w="25400">
            <a:noFill/>
            <a:miter lim="800000"/>
            <a:headEnd/>
            <a:tailEnd/>
          </a:ln>
        </p:spPr>
        <p:txBody>
          <a:bodyPr wrap="square" lIns="180000" rIns="180000" rtlCol="0" anchor="ctr">
            <a:spAutoFit/>
          </a:bodyPr>
          <a:lstStyle/>
          <a:p>
            <a:pPr algn="l">
              <a:spcBef>
                <a:spcPts val="600"/>
              </a:spcBef>
            </a:pPr>
            <a:r>
              <a:rPr kumimoji="1" lang="en-US" altLang="ja-JP" sz="1100" b="1" dirty="0">
                <a:latin typeface="Meiryo UI" panose="020B0604030504040204" pitchFamily="50" charset="-128"/>
                <a:ea typeface="Meiryo UI" panose="020B0604030504040204" pitchFamily="50" charset="-128"/>
              </a:rPr>
              <a:t>2023</a:t>
            </a:r>
            <a:r>
              <a:rPr kumimoji="1" lang="ja-JP" altLang="en-US" sz="1100" b="1" dirty="0">
                <a:latin typeface="Meiryo UI" panose="020B0604030504040204" pitchFamily="50" charset="-128"/>
                <a:ea typeface="Meiryo UI" panose="020B0604030504040204" pitchFamily="50" charset="-128"/>
              </a:rPr>
              <a:t>年</a:t>
            </a:r>
            <a:r>
              <a:rPr kumimoji="1" lang="en-US" altLang="ja-JP" sz="1100" b="1" dirty="0">
                <a:latin typeface="Meiryo UI" panose="020B0604030504040204" pitchFamily="50" charset="-128"/>
                <a:ea typeface="Meiryo UI" panose="020B0604030504040204" pitchFamily="50" charset="-128"/>
              </a:rPr>
              <a:t>10</a:t>
            </a:r>
            <a:r>
              <a:rPr kumimoji="1" lang="ja-JP" altLang="en-US" sz="1100" b="1" dirty="0">
                <a:latin typeface="Meiryo UI" panose="020B0604030504040204" pitchFamily="50" charset="-128"/>
                <a:ea typeface="Meiryo UI" panose="020B0604030504040204" pitchFamily="50" charset="-128"/>
              </a:rPr>
              <a:t>月時点</a:t>
            </a:r>
            <a:r>
              <a:rPr lang="ja-JP" altLang="en-US" sz="1100" b="1" dirty="0">
                <a:latin typeface="Meiryo UI" panose="020B0604030504040204" pitchFamily="50" charset="-128"/>
                <a:ea typeface="Meiryo UI" panose="020B0604030504040204" pitchFamily="50" charset="-128"/>
              </a:rPr>
              <a:t>ナースコールモニター</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42955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DE7E2EB-4141-5142-329B-47FEE45421CB}"/>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画面遷移</a:t>
            </a:r>
            <a:r>
              <a:rPr lang="ja-JP" altLang="en-US" sz="2000" b="0" dirty="0">
                <a:solidFill>
                  <a:srgbClr val="000000"/>
                </a:solidFill>
                <a:cs typeface="+mn-cs"/>
              </a:rPr>
              <a:t>図</a:t>
            </a:r>
            <a:endParaRPr lang="ja-JP" altLang="ja-JP" dirty="0">
              <a:effectLst/>
            </a:endParaRPr>
          </a:p>
        </p:txBody>
      </p:sp>
      <p:sp>
        <p:nvSpPr>
          <p:cNvPr id="2" name="四角形: 角を丸くする 1">
            <a:extLst>
              <a:ext uri="{FF2B5EF4-FFF2-40B4-BE49-F238E27FC236}">
                <a16:creationId xmlns:a16="http://schemas.microsoft.com/office/drawing/2014/main" id="{F8F8792F-BC74-46E1-8B6F-E483AD833D43}"/>
              </a:ext>
            </a:extLst>
          </p:cNvPr>
          <p:cNvSpPr/>
          <p:nvPr/>
        </p:nvSpPr>
        <p:spPr>
          <a:xfrm>
            <a:off x="962528" y="1459826"/>
            <a:ext cx="1668374" cy="4572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latin typeface="Meiryo UI" panose="020B0604030504040204" pitchFamily="50" charset="-128"/>
                <a:ea typeface="Meiryo UI" panose="020B0604030504040204" pitchFamily="50" charset="-128"/>
              </a:rPr>
              <a:t>Carbon</a:t>
            </a:r>
            <a:endParaRPr kumimoji="1" lang="ja-JP" altLang="en-US" sz="1400" dirty="0">
              <a:solidFill>
                <a:schemeClr val="tx1"/>
              </a:solidFill>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a16="http://schemas.microsoft.com/office/drawing/2014/main" id="{95639166-075A-AA3D-1203-73E3AB2F231C}"/>
              </a:ext>
            </a:extLst>
          </p:cNvPr>
          <p:cNvSpPr/>
          <p:nvPr/>
        </p:nvSpPr>
        <p:spPr>
          <a:xfrm>
            <a:off x="3593429" y="2550689"/>
            <a:ext cx="1668374" cy="4572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latin typeface="Meiryo UI" panose="020B0604030504040204" pitchFamily="50" charset="-128"/>
                <a:ea typeface="Meiryo UI" panose="020B0604030504040204" pitchFamily="50" charset="-128"/>
              </a:rPr>
              <a:t>月々の推移</a:t>
            </a:r>
            <a:endParaRPr kumimoji="1" lang="ja-JP" altLang="en-US" sz="1400" dirty="0">
              <a:solidFill>
                <a:schemeClr val="tx1"/>
              </a:solidFill>
              <a:latin typeface="Meiryo UI" panose="020B0604030504040204" pitchFamily="50" charset="-128"/>
              <a:ea typeface="Meiryo UI" panose="020B0604030504040204" pitchFamily="50" charset="-128"/>
            </a:endParaRPr>
          </a:p>
        </p:txBody>
      </p:sp>
      <p:sp>
        <p:nvSpPr>
          <p:cNvPr id="8" name="四角形: 角を丸くする 7">
            <a:extLst>
              <a:ext uri="{FF2B5EF4-FFF2-40B4-BE49-F238E27FC236}">
                <a16:creationId xmlns:a16="http://schemas.microsoft.com/office/drawing/2014/main" id="{C0ABD502-9E32-A693-F731-82753AA73718}"/>
              </a:ext>
            </a:extLst>
          </p:cNvPr>
          <p:cNvSpPr/>
          <p:nvPr/>
        </p:nvSpPr>
        <p:spPr>
          <a:xfrm>
            <a:off x="3593429" y="3545301"/>
            <a:ext cx="1668374" cy="4572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原因分析</a:t>
            </a:r>
          </a:p>
        </p:txBody>
      </p:sp>
      <p:cxnSp>
        <p:nvCxnSpPr>
          <p:cNvPr id="6" name="直線矢印コネクタ 5">
            <a:extLst>
              <a:ext uri="{FF2B5EF4-FFF2-40B4-BE49-F238E27FC236}">
                <a16:creationId xmlns:a16="http://schemas.microsoft.com/office/drawing/2014/main" id="{53455E73-C235-CA23-94F9-0FA6A19F2CDA}"/>
              </a:ext>
            </a:extLst>
          </p:cNvPr>
          <p:cNvCxnSpPr>
            <a:cxnSpLocks/>
            <a:stCxn id="2" idx="2"/>
            <a:endCxn id="7" idx="1"/>
          </p:cNvCxnSpPr>
          <p:nvPr/>
        </p:nvCxnSpPr>
        <p:spPr>
          <a:xfrm rot="16200000" flipH="1">
            <a:off x="2263941" y="1449802"/>
            <a:ext cx="862262" cy="179671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2DA3A6FC-04CB-0BC3-C3F6-7D8560CE0FD6}"/>
              </a:ext>
            </a:extLst>
          </p:cNvPr>
          <p:cNvCxnSpPr>
            <a:cxnSpLocks/>
            <a:stCxn id="7" idx="2"/>
            <a:endCxn id="8" idx="0"/>
          </p:cNvCxnSpPr>
          <p:nvPr/>
        </p:nvCxnSpPr>
        <p:spPr>
          <a:xfrm>
            <a:off x="4427616" y="3007891"/>
            <a:ext cx="0" cy="53741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四角形: 角を丸くする 20">
            <a:extLst>
              <a:ext uri="{FF2B5EF4-FFF2-40B4-BE49-F238E27FC236}">
                <a16:creationId xmlns:a16="http://schemas.microsoft.com/office/drawing/2014/main" id="{DCA00327-97A6-C680-7F26-8C4FC2823E35}"/>
              </a:ext>
            </a:extLst>
          </p:cNvPr>
          <p:cNvSpPr/>
          <p:nvPr/>
        </p:nvSpPr>
        <p:spPr>
          <a:xfrm>
            <a:off x="6320587" y="2550689"/>
            <a:ext cx="1668374" cy="4572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入居者個別推移</a:t>
            </a:r>
            <a:r>
              <a:rPr kumimoji="1" lang="en-US" altLang="ja-JP" sz="1200" dirty="0">
                <a:solidFill>
                  <a:schemeClr val="tx1"/>
                </a:solidFill>
                <a:latin typeface="Meiryo UI" panose="020B0604030504040204" pitchFamily="50" charset="-128"/>
                <a:ea typeface="Meiryo UI" panose="020B0604030504040204" pitchFamily="50" charset="-128"/>
              </a:rPr>
              <a:t>drawer</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4" name="四角形: 角を丸くする 23">
            <a:extLst>
              <a:ext uri="{FF2B5EF4-FFF2-40B4-BE49-F238E27FC236}">
                <a16:creationId xmlns:a16="http://schemas.microsoft.com/office/drawing/2014/main" id="{BDDA26AE-16F1-817C-C6C2-D04E1F222DB5}"/>
              </a:ext>
            </a:extLst>
          </p:cNvPr>
          <p:cNvSpPr/>
          <p:nvPr/>
        </p:nvSpPr>
        <p:spPr>
          <a:xfrm>
            <a:off x="6320587" y="3481133"/>
            <a:ext cx="1668374" cy="4572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入居者個別推移</a:t>
            </a:r>
            <a:r>
              <a:rPr kumimoji="1" lang="en-US" altLang="ja-JP" sz="1200" dirty="0">
                <a:solidFill>
                  <a:schemeClr val="tx1"/>
                </a:solidFill>
                <a:latin typeface="Meiryo UI" panose="020B0604030504040204" pitchFamily="50" charset="-128"/>
                <a:ea typeface="Meiryo UI" panose="020B0604030504040204" pitchFamily="50" charset="-128"/>
              </a:rPr>
              <a:t>drawer</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5" name="四角形: 角を丸くする 24">
            <a:extLst>
              <a:ext uri="{FF2B5EF4-FFF2-40B4-BE49-F238E27FC236}">
                <a16:creationId xmlns:a16="http://schemas.microsoft.com/office/drawing/2014/main" id="{D62D5AC5-F14B-1AEB-850D-013A5056FA55}"/>
              </a:ext>
            </a:extLst>
          </p:cNvPr>
          <p:cNvSpPr/>
          <p:nvPr/>
        </p:nvSpPr>
        <p:spPr>
          <a:xfrm>
            <a:off x="6320587" y="4018543"/>
            <a:ext cx="1668374" cy="45720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各種定義</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26" name="直線矢印コネクタ 25">
            <a:extLst>
              <a:ext uri="{FF2B5EF4-FFF2-40B4-BE49-F238E27FC236}">
                <a16:creationId xmlns:a16="http://schemas.microsoft.com/office/drawing/2014/main" id="{D32DAD99-2526-7973-5EFE-0DE12E6C1752}"/>
              </a:ext>
            </a:extLst>
          </p:cNvPr>
          <p:cNvCxnSpPr>
            <a:cxnSpLocks/>
            <a:stCxn id="7" idx="3"/>
            <a:endCxn id="21" idx="1"/>
          </p:cNvCxnSpPr>
          <p:nvPr/>
        </p:nvCxnSpPr>
        <p:spPr>
          <a:xfrm>
            <a:off x="5261803" y="2779290"/>
            <a:ext cx="105878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AF7B12A3-2AE6-BD84-1A5F-E781AD2E0906}"/>
              </a:ext>
            </a:extLst>
          </p:cNvPr>
          <p:cNvCxnSpPr>
            <a:cxnSpLocks/>
          </p:cNvCxnSpPr>
          <p:nvPr/>
        </p:nvCxnSpPr>
        <p:spPr>
          <a:xfrm>
            <a:off x="5261803" y="3701713"/>
            <a:ext cx="105878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D9E0C3DA-2CC7-A223-B062-0C7C56A4211B}"/>
              </a:ext>
            </a:extLst>
          </p:cNvPr>
          <p:cNvCxnSpPr>
            <a:cxnSpLocks/>
          </p:cNvCxnSpPr>
          <p:nvPr/>
        </p:nvCxnSpPr>
        <p:spPr>
          <a:xfrm>
            <a:off x="5261803" y="3816013"/>
            <a:ext cx="1058784" cy="423110"/>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四角形: 角を丸くする 38">
            <a:extLst>
              <a:ext uri="{FF2B5EF4-FFF2-40B4-BE49-F238E27FC236}">
                <a16:creationId xmlns:a16="http://schemas.microsoft.com/office/drawing/2014/main" id="{F342E141-AA8E-110E-24E3-42A0CAFB9DA1}"/>
              </a:ext>
            </a:extLst>
          </p:cNvPr>
          <p:cNvSpPr/>
          <p:nvPr/>
        </p:nvSpPr>
        <p:spPr>
          <a:xfrm>
            <a:off x="2895600" y="1788693"/>
            <a:ext cx="5847347" cy="3216444"/>
          </a:xfrm>
          <a:prstGeom prst="roundRect">
            <a:avLst>
              <a:gd name="adj" fmla="val 1302"/>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0" name="テキスト ボックス 39">
            <a:extLst>
              <a:ext uri="{FF2B5EF4-FFF2-40B4-BE49-F238E27FC236}">
                <a16:creationId xmlns:a16="http://schemas.microsoft.com/office/drawing/2014/main" id="{9A506CE0-B083-AFD2-9308-BBB3B1539314}"/>
              </a:ext>
            </a:extLst>
          </p:cNvPr>
          <p:cNvSpPr txBox="1"/>
          <p:nvPr/>
        </p:nvSpPr>
        <p:spPr bwMode="auto">
          <a:xfrm>
            <a:off x="3067639" y="1924592"/>
            <a:ext cx="1998062" cy="338554"/>
          </a:xfrm>
          <a:prstGeom prst="rect">
            <a:avLst/>
          </a:prstGeom>
          <a:solidFill>
            <a:schemeClr val="bg1"/>
          </a:solidFill>
          <a:ln w="6350">
            <a:noFill/>
            <a:miter lim="800000"/>
            <a:headEnd/>
            <a:tailEnd/>
          </a:ln>
        </p:spPr>
        <p:txBody>
          <a:bodyPr wrap="square" lIns="180000" rIns="180000" rtlCol="0" anchor="t">
            <a:spAutoFit/>
          </a:bodyPr>
          <a:lstStyle/>
          <a:p>
            <a:pPr marR="0" lvl="0" algn="l" defTabSz="914400" rtl="0" eaLnBrk="1" fontAlgn="auto" latinLnBrk="0" hangingPunct="1">
              <a:lnSpc>
                <a:spcPct val="100000"/>
              </a:lnSpc>
              <a:spcBef>
                <a:spcPts val="600"/>
              </a:spcBef>
              <a:spcAft>
                <a:spcPts val="0"/>
              </a:spcAft>
              <a:buClrTx/>
              <a:buSzTx/>
              <a:tabLst/>
              <a:defRPr/>
            </a:pPr>
            <a:r>
              <a:rPr lang="ja-JP" altLang="en-US" sz="1600" dirty="0">
                <a:latin typeface="Meiryo UI" panose="020B0604030504040204" pitchFamily="50" charset="-128"/>
                <a:ea typeface="Meiryo UI" panose="020B0604030504040204" pitchFamily="50" charset="-128"/>
              </a:rPr>
              <a:t>ナースコールモニター</a:t>
            </a:r>
            <a:endParaRPr lang="en-US" altLang="ja-JP" sz="1600" dirty="0">
              <a:latin typeface="Meiryo UI" panose="020B0604030504040204" pitchFamily="50" charset="-128"/>
              <a:ea typeface="Meiryo UI" panose="020B0604030504040204" pitchFamily="50" charset="-128"/>
            </a:endParaRPr>
          </a:p>
        </p:txBody>
      </p:sp>
      <p:sp>
        <p:nvSpPr>
          <p:cNvPr id="4" name="四角形: 角を丸くする 3">
            <a:extLst>
              <a:ext uri="{FF2B5EF4-FFF2-40B4-BE49-F238E27FC236}">
                <a16:creationId xmlns:a16="http://schemas.microsoft.com/office/drawing/2014/main" id="{904E954A-98C0-639F-2463-9A287D0B046C}"/>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A9695E83-E5F6-C487-86DA-5CF6E969AC94}"/>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19559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DE7E2EB-4141-5142-329B-47FEE45421CB}"/>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データ表示方法</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a:t>
            </a:r>
            <a:endParaRPr lang="ja-JP" altLang="ja-JP" dirty="0">
              <a:effectLst/>
            </a:endParaRPr>
          </a:p>
        </p:txBody>
      </p:sp>
      <p:sp>
        <p:nvSpPr>
          <p:cNvPr id="10" name="正方形/長方形 9">
            <a:extLst>
              <a:ext uri="{FF2B5EF4-FFF2-40B4-BE49-F238E27FC236}">
                <a16:creationId xmlns:a16="http://schemas.microsoft.com/office/drawing/2014/main" id="{8DD081BD-C8B7-4D35-61B6-B32ED67375EA}"/>
              </a:ext>
            </a:extLst>
          </p:cNvPr>
          <p:cNvSpPr/>
          <p:nvPr/>
        </p:nvSpPr>
        <p:spPr>
          <a:xfrm>
            <a:off x="550332" y="1017074"/>
            <a:ext cx="10922001" cy="254846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600" dirty="0">
                <a:solidFill>
                  <a:schemeClr val="tx1"/>
                </a:solidFill>
                <a:latin typeface="Meiryo UI" panose="020B0604030504040204" pitchFamily="50" charset="-128"/>
                <a:ea typeface="Meiryo UI" panose="020B0604030504040204" pitchFamily="50" charset="-128"/>
              </a:rPr>
              <a:t>月々の推移　</a:t>
            </a:r>
          </a:p>
        </p:txBody>
      </p:sp>
      <p:sp>
        <p:nvSpPr>
          <p:cNvPr id="11" name="正方形/長方形 10">
            <a:extLst>
              <a:ext uri="{FF2B5EF4-FFF2-40B4-BE49-F238E27FC236}">
                <a16:creationId xmlns:a16="http://schemas.microsoft.com/office/drawing/2014/main" id="{1686C6EB-EEC8-30C0-CEBF-129AE8B1929A}"/>
              </a:ext>
            </a:extLst>
          </p:cNvPr>
          <p:cNvSpPr/>
          <p:nvPr/>
        </p:nvSpPr>
        <p:spPr>
          <a:xfrm>
            <a:off x="838200" y="1444640"/>
            <a:ext cx="4529667" cy="1904999"/>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buFont typeface="+mj-lt"/>
              <a:buAutoNum type="arabicPeriod"/>
            </a:pP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ホーム全体：月単位ナースコール総数</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折れ線グラフ</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テーブル</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342900" indent="-342900">
              <a:buFont typeface="+mj-lt"/>
              <a:buAutoNum type="arabicPeriod"/>
            </a:pP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ホーム全体：月単位ナースコール最多時間帯</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kumimoji="1"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テーブル</a:t>
            </a:r>
            <a:endParaRPr kumimoji="1"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342900" indent="-342900">
              <a:buFont typeface="+mj-lt"/>
              <a:buAutoNum type="arabicPeriod"/>
            </a:pP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入居者別：月単位ナースコール総数</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kumimoji="1"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テーブル</a:t>
            </a:r>
          </a:p>
        </p:txBody>
      </p:sp>
      <p:sp>
        <p:nvSpPr>
          <p:cNvPr id="28" name="テキスト ボックス 27">
            <a:extLst>
              <a:ext uri="{FF2B5EF4-FFF2-40B4-BE49-F238E27FC236}">
                <a16:creationId xmlns:a16="http://schemas.microsoft.com/office/drawing/2014/main" id="{8CCA5096-93EB-7FBC-7DAF-420F8FFC6989}"/>
              </a:ext>
            </a:extLst>
          </p:cNvPr>
          <p:cNvSpPr txBox="1"/>
          <p:nvPr/>
        </p:nvSpPr>
        <p:spPr bwMode="auto">
          <a:xfrm>
            <a:off x="6449093" y="1456424"/>
            <a:ext cx="4428068" cy="1323439"/>
          </a:xfrm>
          <a:prstGeom prst="rect">
            <a:avLst/>
          </a:prstGeom>
          <a:noFill/>
          <a:ln w="25400">
            <a:noFill/>
            <a:miter lim="800000"/>
            <a:headEnd/>
            <a:tailEnd/>
          </a:ln>
        </p:spPr>
        <p:txBody>
          <a:bodyPr wrap="square" lIns="180000" rIns="180000" rtlCol="0" anchor="ctr">
            <a:spAutoFit/>
          </a:bodyPr>
          <a:lstStyle/>
          <a:p>
            <a:pPr algn="l">
              <a:spcBef>
                <a:spcPts val="600"/>
              </a:spcBef>
            </a:pPr>
            <a:r>
              <a:rPr kumimoji="1" lang="ja-JP" altLang="en-US" sz="1600" dirty="0">
                <a:latin typeface="Meiryo UI" panose="020B0604030504040204" pitchFamily="50" charset="-128"/>
                <a:ea typeface="Meiryo UI" panose="020B0604030504040204" pitchFamily="50" charset="-128"/>
              </a:rPr>
              <a:t>入居者個別推移</a:t>
            </a:r>
            <a:r>
              <a:rPr kumimoji="1" lang="en-US" altLang="ja-JP" sz="1600" dirty="0">
                <a:latin typeface="Meiryo UI" panose="020B0604030504040204" pitchFamily="50" charset="-128"/>
                <a:ea typeface="Meiryo UI" panose="020B0604030504040204" pitchFamily="50" charset="-128"/>
              </a:rPr>
              <a:t>drawer</a:t>
            </a:r>
            <a:r>
              <a:rPr kumimoji="1" lang="ja-JP" altLang="en-US" sz="1600" dirty="0">
                <a:latin typeface="Meiryo UI" panose="020B0604030504040204" pitchFamily="50" charset="-128"/>
                <a:ea typeface="Meiryo UI" panose="020B0604030504040204" pitchFamily="50" charset="-128"/>
              </a:rPr>
              <a:t>　</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期間フィルター機能あり</a:t>
            </a:r>
            <a:endParaRPr kumimoji="1" lang="en-US" altLang="ja-JP" sz="1100" dirty="0">
              <a:latin typeface="Meiryo UI" panose="020B0604030504040204" pitchFamily="50" charset="-128"/>
              <a:ea typeface="Meiryo UI" panose="020B0604030504040204" pitchFamily="50" charset="-128"/>
            </a:endParaRPr>
          </a:p>
          <a:p>
            <a:pPr marL="342900" indent="-342900">
              <a:buFont typeface="+mj-lt"/>
              <a:buAutoNum type="arabicPeriod"/>
            </a:pPr>
            <a:r>
              <a:rPr lang="ja-JP" altLang="en-US" sz="1600" dirty="0">
                <a:latin typeface="Meiryo UI" panose="020B0604030504040204" pitchFamily="50" charset="-128"/>
                <a:ea typeface="Meiryo UI" panose="020B0604030504040204" pitchFamily="50" charset="-128"/>
                <a:cs typeface="Microsoft Himalaya" panose="01010100010101010101" pitchFamily="2" charset="0"/>
              </a:rPr>
              <a:t>日別ナースコール回数</a:t>
            </a:r>
            <a:endParaRPr lang="en-US" altLang="ja-JP" sz="1600" dirty="0">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lang="ja-JP" altLang="en-US" sz="1600" dirty="0">
                <a:latin typeface="Meiryo UI" panose="020B0604030504040204" pitchFamily="50" charset="-128"/>
                <a:ea typeface="Meiryo UI" panose="020B0604030504040204" pitchFamily="50" charset="-128"/>
                <a:cs typeface="Microsoft Himalaya" panose="01010100010101010101" pitchFamily="2" charset="0"/>
              </a:rPr>
              <a:t>折れ線グラフ</a:t>
            </a:r>
            <a:endParaRPr kumimoji="1" lang="en-US" altLang="ja-JP" sz="1600" dirty="0">
              <a:latin typeface="Meiryo UI" panose="020B0604030504040204" pitchFamily="50" charset="-128"/>
              <a:ea typeface="Meiryo UI" panose="020B0604030504040204" pitchFamily="50" charset="-128"/>
              <a:cs typeface="Microsoft Himalaya" panose="01010100010101010101" pitchFamily="2" charset="0"/>
            </a:endParaRPr>
          </a:p>
          <a:p>
            <a:pPr marL="342900" indent="-342900">
              <a:buFont typeface="+mj-lt"/>
              <a:buAutoNum type="arabicPeriod"/>
            </a:pPr>
            <a:r>
              <a:rPr lang="ja-JP" altLang="en-US" sz="1600" dirty="0">
                <a:latin typeface="Meiryo UI" panose="020B0604030504040204" pitchFamily="50" charset="-128"/>
                <a:ea typeface="Meiryo UI" panose="020B0604030504040204" pitchFamily="50" charset="-128"/>
                <a:cs typeface="Microsoft Himalaya" panose="01010100010101010101" pitchFamily="2" charset="0"/>
              </a:rPr>
              <a:t>時間別ナースコール回数</a:t>
            </a:r>
            <a:endParaRPr lang="en-US" altLang="ja-JP" sz="1600" dirty="0">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kumimoji="1" lang="ja-JP" altLang="en-US" sz="1600" dirty="0">
                <a:latin typeface="Meiryo UI" panose="020B0604030504040204" pitchFamily="50" charset="-128"/>
                <a:ea typeface="Meiryo UI" panose="020B0604030504040204" pitchFamily="50" charset="-128"/>
                <a:cs typeface="Microsoft Himalaya" panose="01010100010101010101" pitchFamily="2" charset="0"/>
              </a:rPr>
              <a:t>積み上げ棒グラフ</a:t>
            </a:r>
            <a:endParaRPr kumimoji="1" lang="en-US" altLang="ja-JP" sz="1600" dirty="0">
              <a:latin typeface="Meiryo UI" panose="020B0604030504040204" pitchFamily="50" charset="-128"/>
              <a:ea typeface="Meiryo UI" panose="020B0604030504040204" pitchFamily="50" charset="-128"/>
              <a:cs typeface="Microsoft Himalaya" panose="01010100010101010101" pitchFamily="2" charset="0"/>
            </a:endParaRPr>
          </a:p>
        </p:txBody>
      </p:sp>
      <p:cxnSp>
        <p:nvCxnSpPr>
          <p:cNvPr id="31" name="直線矢印コネクタ 30">
            <a:extLst>
              <a:ext uri="{FF2B5EF4-FFF2-40B4-BE49-F238E27FC236}">
                <a16:creationId xmlns:a16="http://schemas.microsoft.com/office/drawing/2014/main" id="{43B0A7E1-2072-4931-69D0-F5444C465DFF}"/>
              </a:ext>
            </a:extLst>
          </p:cNvPr>
          <p:cNvCxnSpPr>
            <a:cxnSpLocks/>
          </p:cNvCxnSpPr>
          <p:nvPr/>
        </p:nvCxnSpPr>
        <p:spPr>
          <a:xfrm flipV="1">
            <a:off x="2599267" y="1626675"/>
            <a:ext cx="3849825" cy="1479548"/>
          </a:xfrm>
          <a:prstGeom prst="bentConnector3">
            <a:avLst>
              <a:gd name="adj1" fmla="val 84088"/>
            </a:avLst>
          </a:prstGeom>
          <a:ln>
            <a:tailEnd type="triangle"/>
          </a:ln>
        </p:spPr>
        <p:style>
          <a:lnRef idx="1">
            <a:schemeClr val="accent1"/>
          </a:lnRef>
          <a:fillRef idx="0">
            <a:schemeClr val="accent1"/>
          </a:fillRef>
          <a:effectRef idx="0">
            <a:schemeClr val="accent1"/>
          </a:effectRef>
          <a:fontRef idx="minor">
            <a:schemeClr val="tx1"/>
          </a:fontRef>
        </p:style>
      </p:cxnSp>
      <p:sp>
        <p:nvSpPr>
          <p:cNvPr id="230" name="正方形/長方形 229">
            <a:extLst>
              <a:ext uri="{FF2B5EF4-FFF2-40B4-BE49-F238E27FC236}">
                <a16:creationId xmlns:a16="http://schemas.microsoft.com/office/drawing/2014/main" id="{99DA7392-8045-7C8B-CB5D-669A13332BE0}"/>
              </a:ext>
            </a:extLst>
          </p:cNvPr>
          <p:cNvSpPr/>
          <p:nvPr/>
        </p:nvSpPr>
        <p:spPr>
          <a:xfrm>
            <a:off x="550332" y="3704646"/>
            <a:ext cx="10922001" cy="302577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600" dirty="0">
                <a:solidFill>
                  <a:schemeClr val="tx1"/>
                </a:solidFill>
                <a:latin typeface="Meiryo UI" panose="020B0604030504040204" pitchFamily="50" charset="-128"/>
                <a:ea typeface="Meiryo UI" panose="020B0604030504040204" pitchFamily="50" charset="-128"/>
              </a:rPr>
              <a:t>各月の詳細</a:t>
            </a:r>
            <a:endParaRPr kumimoji="1" lang="ja-JP" altLang="en-US" sz="1600" dirty="0">
              <a:solidFill>
                <a:schemeClr val="tx1"/>
              </a:solidFill>
              <a:latin typeface="Meiryo UI" panose="020B0604030504040204" pitchFamily="50" charset="-128"/>
              <a:ea typeface="Meiryo UI" panose="020B0604030504040204" pitchFamily="50" charset="-128"/>
            </a:endParaRPr>
          </a:p>
        </p:txBody>
      </p:sp>
      <p:sp>
        <p:nvSpPr>
          <p:cNvPr id="232" name="正方形/長方形 231">
            <a:extLst>
              <a:ext uri="{FF2B5EF4-FFF2-40B4-BE49-F238E27FC236}">
                <a16:creationId xmlns:a16="http://schemas.microsoft.com/office/drawing/2014/main" id="{D7023DBE-7C4C-ED9B-1220-9208C3E38834}"/>
              </a:ext>
            </a:extLst>
          </p:cNvPr>
          <p:cNvSpPr/>
          <p:nvPr/>
        </p:nvSpPr>
        <p:spPr>
          <a:xfrm>
            <a:off x="838200" y="4132212"/>
            <a:ext cx="4529667" cy="2382888"/>
          </a:xfrm>
          <a:prstGeom prst="rect">
            <a:avLst/>
          </a:prstGeom>
          <a:no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buFont typeface="+mj-lt"/>
              <a:buAutoNum type="arabicPeriod"/>
            </a:pP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ホーム全体：「ナースコール総数」「</a:t>
            </a:r>
            <a:r>
              <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300</a:t>
            </a: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回以上人数」「</a:t>
            </a:r>
            <a:r>
              <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100-299</a:t>
            </a: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回人数」「</a:t>
            </a:r>
            <a:r>
              <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45-99</a:t>
            </a: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回人数」</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テキスト</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342900" indent="-342900">
              <a:buFont typeface="+mj-lt"/>
              <a:buAutoNum type="arabicPeriod"/>
            </a:pP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入居者別：「部屋番号」「入居者名」「要介護度」「ナースコールレベル」「合計カウント」「非定時記録入力率」「ナースコール傾向」「ケアアラート」</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lang="ja-JP" altLang="en-US"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rPr>
              <a:t>テーブル</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a:p>
            <a:pPr marL="88900" lvl="1"/>
            <a:endParaRPr kumimoji="1" lang="en-US" altLang="ja-JP" sz="11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p>
            <a:pPr marL="88900" lvl="1"/>
            <a:r>
              <a:rPr kumimoji="1" lang="en-US" altLang="ja-JP" sz="11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r>
              <a:rPr lang="ja-JP" altLang="en-US" sz="1100" dirty="0">
                <a:solidFill>
                  <a:schemeClr val="tx1"/>
                </a:solidFill>
                <a:latin typeface="Meiryo UI" panose="020B0604030504040204" pitchFamily="50" charset="-128"/>
                <a:ea typeface="Meiryo UI" panose="020B0604030504040204" pitchFamily="50" charset="-128"/>
              </a:rPr>
              <a:t>絞り込み検索機能あり</a:t>
            </a:r>
            <a:endParaRPr lang="en-US" altLang="ja-JP" sz="1100" dirty="0">
              <a:solidFill>
                <a:schemeClr val="tx1"/>
              </a:solidFill>
              <a:latin typeface="Meiryo UI" panose="020B0604030504040204" pitchFamily="50" charset="-128"/>
              <a:ea typeface="Meiryo UI" panose="020B0604030504040204" pitchFamily="50" charset="-128"/>
            </a:endParaRPr>
          </a:p>
          <a:p>
            <a:pPr marL="88900" lvl="1"/>
            <a:r>
              <a:rPr lang="ja-JP" altLang="en-US" sz="1100" dirty="0">
                <a:solidFill>
                  <a:schemeClr val="tx1"/>
                </a:solidFill>
                <a:latin typeface="Meiryo UI" panose="020B0604030504040204" pitchFamily="50" charset="-128"/>
                <a:ea typeface="Meiryo UI" panose="020B0604030504040204" pitchFamily="50" charset="-128"/>
              </a:rPr>
              <a:t>検索項目「年月」「部屋番号」「入居者名」「ナースコールレベル」「要介護度」</a:t>
            </a:r>
            <a:endParaRPr lang="en-US" altLang="ja-JP" sz="1600" dirty="0">
              <a:solidFill>
                <a:schemeClr val="tx1"/>
              </a:solidFill>
              <a:latin typeface="Meiryo UI" panose="020B0604030504040204" pitchFamily="50" charset="-128"/>
              <a:ea typeface="Meiryo UI" panose="020B0604030504040204" pitchFamily="50" charset="-128"/>
              <a:cs typeface="Microsoft Himalaya" panose="01010100010101010101" pitchFamily="2" charset="0"/>
            </a:endParaRPr>
          </a:p>
        </p:txBody>
      </p:sp>
      <p:sp>
        <p:nvSpPr>
          <p:cNvPr id="233" name="テキスト ボックス 232">
            <a:extLst>
              <a:ext uri="{FF2B5EF4-FFF2-40B4-BE49-F238E27FC236}">
                <a16:creationId xmlns:a16="http://schemas.microsoft.com/office/drawing/2014/main" id="{C0561BE8-C320-920B-39DF-35104AAB8F81}"/>
              </a:ext>
            </a:extLst>
          </p:cNvPr>
          <p:cNvSpPr txBox="1"/>
          <p:nvPr/>
        </p:nvSpPr>
        <p:spPr bwMode="auto">
          <a:xfrm>
            <a:off x="6449092" y="4132212"/>
            <a:ext cx="2705503" cy="1815882"/>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zh-TW" altLang="en-US" sz="1600" dirty="0">
                <a:latin typeface="Meiryo UI" panose="020B0604030504040204" pitchFamily="50" charset="-128"/>
                <a:ea typeface="Meiryo UI" panose="020B0604030504040204" pitchFamily="50" charset="-128"/>
              </a:rPr>
              <a:t>入居者個別詳細</a:t>
            </a:r>
            <a:r>
              <a:rPr kumimoji="1" lang="en-US" altLang="zh-TW" sz="1600" dirty="0">
                <a:latin typeface="Meiryo UI" panose="020B0604030504040204" pitchFamily="50" charset="-128"/>
                <a:ea typeface="Meiryo UI" panose="020B0604030504040204" pitchFamily="50" charset="-128"/>
              </a:rPr>
              <a:t>drawer</a:t>
            </a: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r>
              <a:rPr lang="ja-JP" altLang="en-US" sz="1600" dirty="0">
                <a:latin typeface="Meiryo UI" panose="020B0604030504040204" pitchFamily="50" charset="-128"/>
                <a:ea typeface="Meiryo UI" panose="020B0604030504040204" pitchFamily="50" charset="-128"/>
                <a:cs typeface="Microsoft Himalaya" panose="01010100010101010101" pitchFamily="2" charset="0"/>
              </a:rPr>
              <a:t>日別ナースコール回数</a:t>
            </a:r>
            <a:endParaRPr lang="en-US" altLang="ja-JP" sz="1600" dirty="0">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lang="ja-JP" altLang="en-US" sz="1600" dirty="0">
                <a:latin typeface="Meiryo UI" panose="020B0604030504040204" pitchFamily="50" charset="-128"/>
                <a:ea typeface="Meiryo UI" panose="020B0604030504040204" pitchFamily="50" charset="-128"/>
                <a:cs typeface="Microsoft Himalaya" panose="01010100010101010101" pitchFamily="2" charset="0"/>
              </a:rPr>
              <a:t>折れ線グラフ</a:t>
            </a:r>
            <a:endParaRPr kumimoji="1" lang="en-US" altLang="ja-JP" sz="1600" dirty="0">
              <a:latin typeface="Meiryo UI" panose="020B0604030504040204" pitchFamily="50" charset="-128"/>
              <a:ea typeface="Meiryo UI" panose="020B0604030504040204" pitchFamily="50" charset="-128"/>
              <a:cs typeface="Microsoft Himalaya" panose="01010100010101010101" pitchFamily="2" charset="0"/>
            </a:endParaRPr>
          </a:p>
          <a:p>
            <a:pPr marL="342900" indent="-342900">
              <a:buFont typeface="+mj-lt"/>
              <a:buAutoNum type="arabicPeriod"/>
            </a:pPr>
            <a:r>
              <a:rPr lang="ja-JP" altLang="en-US" sz="1600" dirty="0">
                <a:latin typeface="Meiryo UI" panose="020B0604030504040204" pitchFamily="50" charset="-128"/>
                <a:ea typeface="Meiryo UI" panose="020B0604030504040204" pitchFamily="50" charset="-128"/>
                <a:cs typeface="Microsoft Himalaya" panose="01010100010101010101" pitchFamily="2" charset="0"/>
              </a:rPr>
              <a:t>曜日別ナースコール回数</a:t>
            </a:r>
            <a:endParaRPr lang="en-US" altLang="ja-JP" sz="1600" dirty="0">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kumimoji="1" lang="ja-JP" altLang="en-US" sz="1600" dirty="0">
                <a:latin typeface="Meiryo UI" panose="020B0604030504040204" pitchFamily="50" charset="-128"/>
                <a:ea typeface="Meiryo UI" panose="020B0604030504040204" pitchFamily="50" charset="-128"/>
                <a:cs typeface="Microsoft Himalaya" panose="01010100010101010101" pitchFamily="2" charset="0"/>
              </a:rPr>
              <a:t>積み上げ棒グラフ</a:t>
            </a:r>
          </a:p>
          <a:p>
            <a:pPr marL="342900" indent="-342900">
              <a:buFont typeface="+mj-lt"/>
              <a:buAutoNum type="arabicPeriod"/>
            </a:pPr>
            <a:r>
              <a:rPr lang="ja-JP" altLang="en-US" sz="1600" dirty="0">
                <a:latin typeface="Meiryo UI" panose="020B0604030504040204" pitchFamily="50" charset="-128"/>
                <a:ea typeface="Meiryo UI" panose="020B0604030504040204" pitchFamily="50" charset="-128"/>
                <a:cs typeface="Microsoft Himalaya" panose="01010100010101010101" pitchFamily="2" charset="0"/>
              </a:rPr>
              <a:t>時間別ナースコール回数</a:t>
            </a:r>
            <a:endParaRPr lang="en-US" altLang="ja-JP" sz="1600" dirty="0">
              <a:latin typeface="Meiryo UI" panose="020B0604030504040204" pitchFamily="50" charset="-128"/>
              <a:ea typeface="Meiryo UI" panose="020B0604030504040204" pitchFamily="50" charset="-128"/>
              <a:cs typeface="Microsoft Himalaya" panose="01010100010101010101" pitchFamily="2" charset="0"/>
            </a:endParaRPr>
          </a:p>
          <a:p>
            <a:pPr marL="800100" lvl="1" indent="-342900">
              <a:buFont typeface="+mj-lt"/>
              <a:buAutoNum type="alphaLcPeriod"/>
            </a:pPr>
            <a:r>
              <a:rPr kumimoji="1" lang="ja-JP" altLang="en-US" sz="1600" dirty="0">
                <a:latin typeface="Meiryo UI" panose="020B0604030504040204" pitchFamily="50" charset="-128"/>
                <a:ea typeface="Meiryo UI" panose="020B0604030504040204" pitchFamily="50" charset="-128"/>
                <a:cs typeface="Microsoft Himalaya" panose="01010100010101010101" pitchFamily="2" charset="0"/>
              </a:rPr>
              <a:t>積み上げ棒グラフ</a:t>
            </a:r>
            <a:endParaRPr kumimoji="1" lang="en-US" altLang="ja-JP" sz="1600" dirty="0">
              <a:latin typeface="Meiryo UI" panose="020B0604030504040204" pitchFamily="50" charset="-128"/>
              <a:ea typeface="Meiryo UI" panose="020B0604030504040204" pitchFamily="50" charset="-128"/>
              <a:cs typeface="Microsoft Himalaya" panose="01010100010101010101" pitchFamily="2" charset="0"/>
            </a:endParaRPr>
          </a:p>
        </p:txBody>
      </p:sp>
      <p:cxnSp>
        <p:nvCxnSpPr>
          <p:cNvPr id="234" name="直線矢印コネクタ 30">
            <a:extLst>
              <a:ext uri="{FF2B5EF4-FFF2-40B4-BE49-F238E27FC236}">
                <a16:creationId xmlns:a16="http://schemas.microsoft.com/office/drawing/2014/main" id="{0DD80709-ABFD-17E2-AA11-5F153ADD8271}"/>
              </a:ext>
            </a:extLst>
          </p:cNvPr>
          <p:cNvCxnSpPr>
            <a:cxnSpLocks/>
          </p:cNvCxnSpPr>
          <p:nvPr/>
        </p:nvCxnSpPr>
        <p:spPr>
          <a:xfrm flipV="1">
            <a:off x="2599267" y="4314247"/>
            <a:ext cx="3849825" cy="1479548"/>
          </a:xfrm>
          <a:prstGeom prst="bentConnector3">
            <a:avLst>
              <a:gd name="adj1" fmla="val 84088"/>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四角形: 角を丸くする 2">
            <a:extLst>
              <a:ext uri="{FF2B5EF4-FFF2-40B4-BE49-F238E27FC236}">
                <a16:creationId xmlns:a16="http://schemas.microsoft.com/office/drawing/2014/main" id="{47B5CCF4-A4CD-4EA7-2294-D39936B97478}"/>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348D8A45-A559-F526-5045-152D86F262CD}"/>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8707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DE7E2EB-4141-5142-329B-47FEE45421CB}"/>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画面要件</a:t>
            </a:r>
            <a:r>
              <a:rPr kumimoji="1" lang="ja-JP" altLang="ja-JP" sz="2000" kern="1200" dirty="0">
                <a:solidFill>
                  <a:srgbClr val="000000"/>
                </a:solidFill>
                <a:effectLst/>
                <a:latin typeface="Meiryo UI" panose="020B0604030504040204" pitchFamily="50" charset="-128"/>
                <a:ea typeface="Meiryo UI" panose="020B0604030504040204" pitchFamily="50" charset="-128"/>
                <a:cs typeface="+mn-cs"/>
              </a:rPr>
              <a:t>①</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a:t>
            </a:r>
            <a:r>
              <a:rPr lang="ja-JP" altLang="en-US" sz="2000" b="0" dirty="0">
                <a:solidFill>
                  <a:srgbClr val="000000"/>
                </a:solidFill>
                <a:cs typeface="+mn-cs"/>
              </a:rPr>
              <a:t>月々の推移</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」ページ</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ホーム全体</a:t>
            </a:r>
            <a:endParaRPr lang="ja-JP" altLang="ja-JP" dirty="0">
              <a:effectLst/>
            </a:endParaRPr>
          </a:p>
        </p:txBody>
      </p:sp>
      <p:cxnSp>
        <p:nvCxnSpPr>
          <p:cNvPr id="229" name="直線矢印コネクタ 228">
            <a:extLst>
              <a:ext uri="{FF2B5EF4-FFF2-40B4-BE49-F238E27FC236}">
                <a16:creationId xmlns:a16="http://schemas.microsoft.com/office/drawing/2014/main" id="{7042B410-17AC-65AB-F9AB-C249B39CDF90}"/>
              </a:ext>
            </a:extLst>
          </p:cNvPr>
          <p:cNvCxnSpPr>
            <a:cxnSpLocks/>
            <a:stCxn id="226" idx="2"/>
            <a:endCxn id="233" idx="1"/>
          </p:cNvCxnSpPr>
          <p:nvPr/>
        </p:nvCxnSpPr>
        <p:spPr>
          <a:xfrm rot="5400000" flipH="1" flipV="1">
            <a:off x="4152962" y="3323487"/>
            <a:ext cx="177425" cy="6209271"/>
          </a:xfrm>
          <a:prstGeom prst="bentConnector4">
            <a:avLst>
              <a:gd name="adj1" fmla="val -87430"/>
              <a:gd name="adj2" fmla="val 90004"/>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233" name="テキスト ボックス 232">
            <a:extLst>
              <a:ext uri="{FF2B5EF4-FFF2-40B4-BE49-F238E27FC236}">
                <a16:creationId xmlns:a16="http://schemas.microsoft.com/office/drawing/2014/main" id="{50907975-06F3-D1E0-569D-5CC33D55A221}"/>
              </a:ext>
            </a:extLst>
          </p:cNvPr>
          <p:cNvSpPr txBox="1"/>
          <p:nvPr/>
        </p:nvSpPr>
        <p:spPr bwMode="auto">
          <a:xfrm>
            <a:off x="7346311" y="5916217"/>
            <a:ext cx="4508958" cy="846386"/>
          </a:xfrm>
          <a:prstGeom prst="rect">
            <a:avLst/>
          </a:prstGeom>
          <a:solidFill>
            <a:schemeClr val="bg1"/>
          </a:solidFill>
          <a:ln w="6350">
            <a:solidFill>
              <a:schemeClr val="tx1"/>
            </a:solidFill>
            <a:miter lim="800000"/>
            <a:headEnd/>
            <a:tailEnd/>
          </a:ln>
        </p:spPr>
        <p:txBody>
          <a:bodyPr wrap="square" lIns="180000" rIns="180000" rtlCol="0" anchor="t">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solidFill>
                  <a:prstClr val="black"/>
                </a:solidFill>
                <a:latin typeface="Meiryo UI" panose="020B0604030504040204" pitchFamily="50" charset="-128"/>
                <a:ea typeface="Meiryo UI" panose="020B0604030504040204" pitchFamily="50" charset="-128"/>
              </a:rPr>
              <a:t>ナースコール数テーブルを、下記項目で絞り込みできる。</a:t>
            </a:r>
            <a:br>
              <a:rPr lang="en-US" altLang="ja-JP" sz="1100" dirty="0">
                <a:solidFill>
                  <a:prstClr val="black"/>
                </a:solidFill>
                <a:latin typeface="Meiryo UI" panose="020B0604030504040204" pitchFamily="50" charset="-128"/>
                <a:ea typeface="Meiryo UI" panose="020B0604030504040204" pitchFamily="50" charset="-128"/>
              </a:rPr>
            </a:br>
            <a:r>
              <a:rPr lang="ja-JP" altLang="en-US" sz="1100" dirty="0">
                <a:solidFill>
                  <a:prstClr val="black"/>
                </a:solidFill>
                <a:latin typeface="Meiryo UI" panose="020B0604030504040204" pitchFamily="50" charset="-128"/>
                <a:ea typeface="Meiryo UI" panose="020B0604030504040204" pitchFamily="50" charset="-128"/>
              </a:rPr>
              <a:t>「部屋番号</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複数選択不可</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」、「入居者名</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複数選択不可</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」、「レベル</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複数選択可</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」、「介護度</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複数選択可</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a:t>
            </a:r>
            <a:endParaRPr lang="en-US" altLang="ja-JP" sz="1100" dirty="0">
              <a:solidFill>
                <a:prstClr val="black"/>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solidFill>
                  <a:prstClr val="black"/>
                </a:solidFill>
                <a:latin typeface="Meiryo UI" panose="020B0604030504040204" pitchFamily="50" charset="-128"/>
                <a:ea typeface="Meiryo UI" panose="020B0604030504040204" pitchFamily="50" charset="-128"/>
              </a:rPr>
              <a:t>オープン状態をデフォルトとする。</a:t>
            </a:r>
            <a:endParaRPr lang="en-US" altLang="ja-JP" sz="1100" dirty="0">
              <a:solidFill>
                <a:prstClr val="black"/>
              </a:solidFill>
              <a:latin typeface="Meiryo UI" panose="020B0604030504040204" pitchFamily="50" charset="-128"/>
              <a:ea typeface="Meiryo UI" panose="020B0604030504040204" pitchFamily="50" charset="-128"/>
            </a:endParaRPr>
          </a:p>
        </p:txBody>
      </p:sp>
      <p:sp>
        <p:nvSpPr>
          <p:cNvPr id="239" name="テキスト ボックス 238">
            <a:extLst>
              <a:ext uri="{FF2B5EF4-FFF2-40B4-BE49-F238E27FC236}">
                <a16:creationId xmlns:a16="http://schemas.microsoft.com/office/drawing/2014/main" id="{5935D0D9-C913-40FB-DB82-E8EEB5AF32E6}"/>
              </a:ext>
            </a:extLst>
          </p:cNvPr>
          <p:cNvSpPr txBox="1"/>
          <p:nvPr/>
        </p:nvSpPr>
        <p:spPr bwMode="auto">
          <a:xfrm>
            <a:off x="9113936" y="1552415"/>
            <a:ext cx="2741333" cy="507831"/>
          </a:xfrm>
          <a:prstGeom prst="rect">
            <a:avLst/>
          </a:prstGeom>
          <a:solidFill>
            <a:schemeClr val="bg1"/>
          </a:solidFill>
          <a:ln w="6350">
            <a:solidFill>
              <a:schemeClr val="tx1"/>
            </a:solidFill>
            <a:miter lim="800000"/>
            <a:headEnd/>
            <a:tailEnd/>
          </a:ln>
        </p:spPr>
        <p:txBody>
          <a:bodyPr wrap="square" lIns="180000" rIns="180000" rtlCol="0" anchor="t">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任意のホームを選択できる。</a:t>
            </a:r>
            <a:endParaRPr lang="en-US" altLang="ja-JP" sz="1100" dirty="0">
              <a:latin typeface="Meiryo UI" panose="020B0604030504040204" pitchFamily="50" charset="-128"/>
              <a:ea typeface="Meiryo UI" panose="020B0604030504040204" pitchFamily="50" charset="-128"/>
            </a:endParaRPr>
          </a:p>
          <a:p>
            <a:pPr marR="0" lvl="0" algn="l" defTabSz="914400" rtl="0" eaLnBrk="1" fontAlgn="auto" latinLnBrk="0" hangingPunct="1">
              <a:lnSpc>
                <a:spcPct val="100000"/>
              </a:lnSpc>
              <a:spcBef>
                <a:spcPts val="600"/>
              </a:spcBef>
              <a:spcAft>
                <a:spcPts val="0"/>
              </a:spcAft>
              <a:buClrTx/>
              <a:buSzTx/>
              <a:tabLst/>
              <a:defRPr/>
            </a:pPr>
            <a:r>
              <a:rPr lang="ja-JP" altLang="en-US" sz="1100" dirty="0">
                <a:latin typeface="Meiryo UI" panose="020B0604030504040204" pitchFamily="50" charset="-128"/>
                <a:ea typeface="Meiryo UI" panose="020B0604030504040204" pitchFamily="50" charset="-128"/>
              </a:rPr>
              <a:t>補足：他モジュールと同様の仕様</a:t>
            </a:r>
            <a:endParaRPr lang="en-US" altLang="ja-JP" sz="1100" dirty="0">
              <a:latin typeface="Meiryo UI" panose="020B0604030504040204" pitchFamily="50" charset="-128"/>
              <a:ea typeface="Meiryo UI" panose="020B0604030504040204" pitchFamily="50" charset="-128"/>
            </a:endParaRPr>
          </a:p>
        </p:txBody>
      </p:sp>
      <p:sp>
        <p:nvSpPr>
          <p:cNvPr id="248" name="テキスト ボックス 247">
            <a:extLst>
              <a:ext uri="{FF2B5EF4-FFF2-40B4-BE49-F238E27FC236}">
                <a16:creationId xmlns:a16="http://schemas.microsoft.com/office/drawing/2014/main" id="{6A5DD665-1A73-524E-96F9-E685AE3A205C}"/>
              </a:ext>
            </a:extLst>
          </p:cNvPr>
          <p:cNvSpPr txBox="1"/>
          <p:nvPr/>
        </p:nvSpPr>
        <p:spPr bwMode="auto">
          <a:xfrm>
            <a:off x="330728" y="969397"/>
            <a:ext cx="5067440" cy="600164"/>
          </a:xfrm>
          <a:prstGeom prst="rect">
            <a:avLst/>
          </a:prstGeom>
          <a:noFill/>
          <a:ln w="2540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altLang="ja-JP" sz="1400" dirty="0">
                <a:solidFill>
                  <a:prstClr val="black"/>
                </a:solidFill>
                <a:latin typeface="Meiryo UI" panose="020B0604030504040204" pitchFamily="50" charset="-128"/>
                <a:ea typeface="Meiryo UI" panose="020B0604030504040204" pitchFamily="50" charset="-128"/>
              </a:rPr>
              <a:t>5</a:t>
            </a:r>
            <a:r>
              <a:rPr lang="ja-JP" altLang="en-US" sz="1400" dirty="0">
                <a:solidFill>
                  <a:prstClr val="black"/>
                </a:solidFill>
                <a:latin typeface="Meiryo UI" panose="020B0604030504040204" pitchFamily="50" charset="-128"/>
                <a:ea typeface="Meiryo UI" panose="020B0604030504040204" pitchFamily="50" charset="-128"/>
              </a:rPr>
              <a:t>ヶ月前初日～前日の各月のデータを集計し表示。</a:t>
            </a:r>
            <a:endParaRPr lang="en-US" altLang="ja-JP" sz="1400" dirty="0">
              <a:solidFill>
                <a:prstClr val="black"/>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400" dirty="0">
                <a:latin typeface="Meiryo UI" panose="020B0604030504040204" pitchFamily="50" charset="-128"/>
                <a:ea typeface="Meiryo UI" panose="020B0604030504040204" pitchFamily="50" charset="-128"/>
              </a:rPr>
              <a:t>前日</a:t>
            </a:r>
            <a:r>
              <a:rPr lang="en-US" altLang="ja-JP" sz="1400" dirty="0">
                <a:latin typeface="Meiryo UI" panose="020B0604030504040204" pitchFamily="50" charset="-128"/>
                <a:ea typeface="Meiryo UI" panose="020B0604030504040204" pitchFamily="50" charset="-128"/>
              </a:rPr>
              <a:t>23:59</a:t>
            </a:r>
            <a:r>
              <a:rPr lang="ja-JP" altLang="en-US" sz="1400" dirty="0">
                <a:latin typeface="Meiryo UI" panose="020B0604030504040204" pitchFamily="50" charset="-128"/>
                <a:ea typeface="Meiryo UI" panose="020B0604030504040204" pitchFamily="50" charset="-128"/>
              </a:rPr>
              <a:t>までのデータを当日</a:t>
            </a:r>
            <a:r>
              <a:rPr lang="en-US" altLang="ja-JP" sz="1400" dirty="0">
                <a:latin typeface="Meiryo UI" panose="020B0604030504040204" pitchFamily="50" charset="-128"/>
                <a:ea typeface="Meiryo UI" panose="020B0604030504040204" pitchFamily="50" charset="-128"/>
              </a:rPr>
              <a:t>9:00</a:t>
            </a:r>
            <a:r>
              <a:rPr lang="ja-JP" altLang="en-US" sz="1400" dirty="0">
                <a:latin typeface="Meiryo UI" panose="020B0604030504040204" pitchFamily="50" charset="-128"/>
                <a:ea typeface="Meiryo UI" panose="020B0604030504040204" pitchFamily="50" charset="-128"/>
              </a:rPr>
              <a:t>までに更新。</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endParaRPr>
          </a:p>
        </p:txBody>
      </p:sp>
      <p:grpSp>
        <p:nvGrpSpPr>
          <p:cNvPr id="26" name="グループ化 25">
            <a:extLst>
              <a:ext uri="{FF2B5EF4-FFF2-40B4-BE49-F238E27FC236}">
                <a16:creationId xmlns:a16="http://schemas.microsoft.com/office/drawing/2014/main" id="{C1B7DFEC-CD7B-5717-99F4-6BED7B5176C0}"/>
              </a:ext>
            </a:extLst>
          </p:cNvPr>
          <p:cNvGrpSpPr/>
          <p:nvPr/>
        </p:nvGrpSpPr>
        <p:grpSpPr>
          <a:xfrm>
            <a:off x="381925" y="1689686"/>
            <a:ext cx="8439847" cy="4827149"/>
            <a:chOff x="345978" y="1798504"/>
            <a:chExt cx="9032684" cy="5166219"/>
          </a:xfrm>
        </p:grpSpPr>
        <p:pic>
          <p:nvPicPr>
            <p:cNvPr id="28" name="図 27">
              <a:extLst>
                <a:ext uri="{FF2B5EF4-FFF2-40B4-BE49-F238E27FC236}">
                  <a16:creationId xmlns:a16="http://schemas.microsoft.com/office/drawing/2014/main" id="{4BCDC695-E1C0-D508-0FDB-06E89D1E8D8E}"/>
                </a:ext>
              </a:extLst>
            </p:cNvPr>
            <p:cNvPicPr>
              <a:picLocks noChangeAspect="1"/>
            </p:cNvPicPr>
            <p:nvPr/>
          </p:nvPicPr>
          <p:blipFill rotWithShape="1">
            <a:blip r:embed="rId3"/>
            <a:srcRect b="1324"/>
            <a:stretch/>
          </p:blipFill>
          <p:spPr>
            <a:xfrm>
              <a:off x="345978" y="1798504"/>
              <a:ext cx="9032684" cy="4193571"/>
            </a:xfrm>
            <a:prstGeom prst="rect">
              <a:avLst/>
            </a:prstGeom>
          </p:spPr>
        </p:pic>
        <p:sp>
          <p:nvSpPr>
            <p:cNvPr id="236" name="テキスト ボックス 235">
              <a:extLst>
                <a:ext uri="{FF2B5EF4-FFF2-40B4-BE49-F238E27FC236}">
                  <a16:creationId xmlns:a16="http://schemas.microsoft.com/office/drawing/2014/main" id="{67E497DF-CE46-8F4D-C0F0-82BFC7643FC6}"/>
                </a:ext>
              </a:extLst>
            </p:cNvPr>
            <p:cNvSpPr txBox="1"/>
            <p:nvPr/>
          </p:nvSpPr>
          <p:spPr bwMode="auto">
            <a:xfrm>
              <a:off x="2585655" y="2542978"/>
              <a:ext cx="2445773" cy="461154"/>
            </a:xfrm>
            <a:prstGeom prst="rect">
              <a:avLst/>
            </a:prstGeom>
            <a:solidFill>
              <a:schemeClr val="bg1"/>
            </a:solidFill>
            <a:ln w="6350">
              <a:solidFill>
                <a:schemeClr val="tx1"/>
              </a:solidFill>
              <a:prstDash val="dash"/>
              <a:miter lim="800000"/>
              <a:headEnd/>
              <a:tailEnd/>
            </a:ln>
          </p:spPr>
          <p:txBody>
            <a:bodyPr wrap="square" lIns="180000" rIns="180000" rtlCol="0" anchor="t">
              <a:spAutoFit/>
            </a:bodyPr>
            <a:lstStyle/>
            <a:p>
              <a:pPr>
                <a:spcBef>
                  <a:spcPts val="600"/>
                </a:spcBef>
                <a:defRPr/>
              </a:pPr>
              <a:r>
                <a:rPr lang="ja-JP" altLang="en-US" sz="1100" dirty="0">
                  <a:solidFill>
                    <a:prstClr val="black"/>
                  </a:solidFill>
                  <a:latin typeface="Meiryo UI" panose="020B0604030504040204" pitchFamily="50" charset="-128"/>
                  <a:ea typeface="Meiryo UI" panose="020B0604030504040204" pitchFamily="50" charset="-128"/>
                </a:rPr>
                <a:t>行別に押下可能</a:t>
              </a:r>
              <a:br>
                <a:rPr lang="en-US" altLang="ja-JP" sz="1100" dirty="0">
                  <a:solidFill>
                    <a:prstClr val="black"/>
                  </a:solidFill>
                  <a:latin typeface="Meiryo UI" panose="020B0604030504040204" pitchFamily="50" charset="-128"/>
                  <a:ea typeface="Meiryo UI" panose="020B0604030504040204" pitchFamily="50" charset="-128"/>
                </a:rPr>
              </a:br>
              <a:r>
                <a:rPr kumimoji="1" lang="ja-JP" altLang="en-US" sz="1100" dirty="0">
                  <a:latin typeface="Meiryo UI" panose="020B0604030504040204" pitchFamily="50" charset="-128"/>
                  <a:ea typeface="Meiryo UI" panose="020B0604030504040204" pitchFamily="50" charset="-128"/>
                </a:rPr>
                <a:t>入居者個別推移</a:t>
              </a:r>
              <a:r>
                <a:rPr kumimoji="1" lang="en-US" altLang="ja-JP" sz="1100" dirty="0">
                  <a:latin typeface="Meiryo UI" panose="020B0604030504040204" pitchFamily="50" charset="-128"/>
                  <a:ea typeface="Meiryo UI" panose="020B0604030504040204" pitchFamily="50" charset="-128"/>
                </a:rPr>
                <a:t>drawer</a:t>
              </a:r>
              <a:r>
                <a:rPr lang="ja-JP" altLang="en-US" sz="1100" dirty="0">
                  <a:latin typeface="Meiryo UI" panose="020B0604030504040204" pitchFamily="50" charset="-128"/>
                  <a:ea typeface="Meiryo UI" panose="020B0604030504040204" pitchFamily="50" charset="-128"/>
                </a:rPr>
                <a:t>へ遷移</a:t>
              </a:r>
              <a:endParaRPr kumimoji="1" lang="en-US" altLang="ja-JP" sz="1100" dirty="0">
                <a:latin typeface="Meiryo UI" panose="020B0604030504040204" pitchFamily="50" charset="-128"/>
                <a:ea typeface="Meiryo UI" panose="020B0604030504040204" pitchFamily="50" charset="-128"/>
              </a:endParaRPr>
            </a:p>
          </p:txBody>
        </p:sp>
        <p:sp>
          <p:nvSpPr>
            <p:cNvPr id="226" name="正方形/長方形 225">
              <a:extLst>
                <a:ext uri="{FF2B5EF4-FFF2-40B4-BE49-F238E27FC236}">
                  <a16:creationId xmlns:a16="http://schemas.microsoft.com/office/drawing/2014/main" id="{4DD8BC69-C3D5-8CE2-12AF-0E60B06E3F9D}"/>
                </a:ext>
              </a:extLst>
            </p:cNvPr>
            <p:cNvSpPr/>
            <p:nvPr/>
          </p:nvSpPr>
          <p:spPr>
            <a:xfrm>
              <a:off x="345979" y="2040309"/>
              <a:ext cx="1616310" cy="4924414"/>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38" name="正方形/長方形 237">
              <a:extLst>
                <a:ext uri="{FF2B5EF4-FFF2-40B4-BE49-F238E27FC236}">
                  <a16:creationId xmlns:a16="http://schemas.microsoft.com/office/drawing/2014/main" id="{FA2CACD2-15D0-5252-73E4-E18D4328D9CC}"/>
                </a:ext>
              </a:extLst>
            </p:cNvPr>
            <p:cNvSpPr/>
            <p:nvPr/>
          </p:nvSpPr>
          <p:spPr>
            <a:xfrm>
              <a:off x="8148154" y="1798504"/>
              <a:ext cx="1159469" cy="252000"/>
            </a:xfrm>
            <a:prstGeom prst="rect">
              <a:avLst/>
            </a:prstGeom>
            <a:no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pic>
          <p:nvPicPr>
            <p:cNvPr id="2" name="図 1">
              <a:extLst>
                <a:ext uri="{FF2B5EF4-FFF2-40B4-BE49-F238E27FC236}">
                  <a16:creationId xmlns:a16="http://schemas.microsoft.com/office/drawing/2014/main" id="{CE4FD94F-BBBA-664A-9827-C6D33F3349A7}"/>
                </a:ext>
              </a:extLst>
            </p:cNvPr>
            <p:cNvPicPr>
              <a:picLocks noChangeAspect="1"/>
            </p:cNvPicPr>
            <p:nvPr/>
          </p:nvPicPr>
          <p:blipFill rotWithShape="1">
            <a:blip r:embed="rId3"/>
            <a:srcRect l="18187" t="6122" r="29762" b="28271"/>
            <a:stretch/>
          </p:blipFill>
          <p:spPr>
            <a:xfrm>
              <a:off x="1988282" y="4171466"/>
              <a:ext cx="4701628" cy="2788171"/>
            </a:xfrm>
            <a:prstGeom prst="rect">
              <a:avLst/>
            </a:prstGeom>
          </p:spPr>
        </p:pic>
        <p:pic>
          <p:nvPicPr>
            <p:cNvPr id="8" name="図 7">
              <a:extLst>
                <a:ext uri="{FF2B5EF4-FFF2-40B4-BE49-F238E27FC236}">
                  <a16:creationId xmlns:a16="http://schemas.microsoft.com/office/drawing/2014/main" id="{2CAC46FB-9850-9970-E577-2360DEEB9B87}"/>
                </a:ext>
              </a:extLst>
            </p:cNvPr>
            <p:cNvPicPr>
              <a:picLocks noChangeAspect="1"/>
            </p:cNvPicPr>
            <p:nvPr/>
          </p:nvPicPr>
          <p:blipFill rotWithShape="1">
            <a:blip r:embed="rId4">
              <a:extLst>
                <a:ext uri="{28A0092B-C50C-407E-A947-70E740481C1C}">
                  <a14:useLocalDpi xmlns:a14="http://schemas.microsoft.com/office/drawing/2010/main" val="0"/>
                </a:ext>
              </a:extLst>
            </a:blip>
            <a:srcRect b="20989"/>
            <a:stretch/>
          </p:blipFill>
          <p:spPr>
            <a:xfrm>
              <a:off x="1978736" y="2076924"/>
              <a:ext cx="4679600" cy="927720"/>
            </a:xfrm>
            <a:prstGeom prst="rect">
              <a:avLst/>
            </a:prstGeom>
          </p:spPr>
        </p:pic>
        <p:sp>
          <p:nvSpPr>
            <p:cNvPr id="3" name="正方形/長方形 2">
              <a:extLst>
                <a:ext uri="{FF2B5EF4-FFF2-40B4-BE49-F238E27FC236}">
                  <a16:creationId xmlns:a16="http://schemas.microsoft.com/office/drawing/2014/main" id="{9E182E60-1A51-05AD-9C8E-CC8F0BE73987}"/>
                </a:ext>
              </a:extLst>
            </p:cNvPr>
            <p:cNvSpPr/>
            <p:nvPr/>
          </p:nvSpPr>
          <p:spPr>
            <a:xfrm>
              <a:off x="1992747" y="6774509"/>
              <a:ext cx="1396816" cy="171075"/>
            </a:xfrm>
            <a:prstGeom prst="rect">
              <a:avLst/>
            </a:prstGeom>
            <a:solidFill>
              <a:srgbClr val="F6F7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500" dirty="0">
                  <a:solidFill>
                    <a:srgbClr val="5C697A"/>
                  </a:solidFill>
                  <a:latin typeface="Meiryo UI" panose="020B0604030504040204" pitchFamily="50" charset="-128"/>
                  <a:ea typeface="Meiryo UI" panose="020B0604030504040204" pitchFamily="50" charset="-128"/>
                </a:rPr>
                <a:t>合計</a:t>
              </a:r>
              <a:endParaRPr kumimoji="1" lang="ja-JP" altLang="en-US" sz="500" dirty="0">
                <a:solidFill>
                  <a:srgbClr val="5C697A"/>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B438189D-7AB4-54D7-8AAD-3F9249021093}"/>
                </a:ext>
              </a:extLst>
            </p:cNvPr>
            <p:cNvSpPr/>
            <p:nvPr/>
          </p:nvSpPr>
          <p:spPr>
            <a:xfrm>
              <a:off x="3528179" y="6805697"/>
              <a:ext cx="412617" cy="11372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ja-JP" sz="600" dirty="0">
                  <a:solidFill>
                    <a:srgbClr val="5C697A"/>
                  </a:solidFill>
                  <a:latin typeface="Meiryo UI" panose="020B0604030504040204" pitchFamily="50" charset="-128"/>
                  <a:ea typeface="Meiryo UI" panose="020B0604030504040204" pitchFamily="50" charset="-128"/>
                </a:rPr>
                <a:t>1000</a:t>
              </a:r>
              <a:endParaRPr kumimoji="1" lang="ja-JP" altLang="en-US" sz="600" dirty="0">
                <a:solidFill>
                  <a:srgbClr val="5C697A"/>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1089DAB3-89C0-7F69-6638-8853793D4560}"/>
                </a:ext>
              </a:extLst>
            </p:cNvPr>
            <p:cNvSpPr/>
            <p:nvPr/>
          </p:nvSpPr>
          <p:spPr>
            <a:xfrm>
              <a:off x="4069710" y="6805697"/>
              <a:ext cx="419387" cy="11372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ja-JP" sz="600" dirty="0">
                  <a:solidFill>
                    <a:srgbClr val="5C697A"/>
                  </a:solidFill>
                  <a:latin typeface="Meiryo UI" panose="020B0604030504040204" pitchFamily="50" charset="-128"/>
                  <a:ea typeface="Meiryo UI" panose="020B0604030504040204" pitchFamily="50" charset="-128"/>
                </a:rPr>
                <a:t>1000</a:t>
              </a:r>
              <a:endParaRPr kumimoji="1" lang="ja-JP" altLang="en-US" sz="600" dirty="0">
                <a:solidFill>
                  <a:srgbClr val="5C697A"/>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A91BADA5-1AB5-B263-8499-97B3B1486943}"/>
                </a:ext>
              </a:extLst>
            </p:cNvPr>
            <p:cNvSpPr/>
            <p:nvPr/>
          </p:nvSpPr>
          <p:spPr>
            <a:xfrm>
              <a:off x="4612041" y="6805201"/>
              <a:ext cx="419387" cy="11372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ja-JP" sz="600" dirty="0">
                  <a:solidFill>
                    <a:srgbClr val="5C697A"/>
                  </a:solidFill>
                  <a:latin typeface="Meiryo UI" panose="020B0604030504040204" pitchFamily="50" charset="-128"/>
                  <a:ea typeface="Meiryo UI" panose="020B0604030504040204" pitchFamily="50" charset="-128"/>
                </a:rPr>
                <a:t>1000</a:t>
              </a:r>
              <a:endParaRPr kumimoji="1" lang="ja-JP" altLang="en-US" sz="600" dirty="0">
                <a:solidFill>
                  <a:srgbClr val="5C697A"/>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AD75F02E-3D67-28CD-E950-7EAACD92AFFA}"/>
                </a:ext>
              </a:extLst>
            </p:cNvPr>
            <p:cNvSpPr/>
            <p:nvPr/>
          </p:nvSpPr>
          <p:spPr>
            <a:xfrm>
              <a:off x="5158250" y="6805696"/>
              <a:ext cx="419387" cy="11372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ja-JP" sz="600" dirty="0">
                  <a:solidFill>
                    <a:srgbClr val="5C697A"/>
                  </a:solidFill>
                  <a:latin typeface="Meiryo UI" panose="020B0604030504040204" pitchFamily="50" charset="-128"/>
                  <a:ea typeface="Meiryo UI" panose="020B0604030504040204" pitchFamily="50" charset="-128"/>
                </a:rPr>
                <a:t>1000</a:t>
              </a:r>
              <a:endParaRPr kumimoji="1" lang="ja-JP" altLang="en-US" sz="600" dirty="0">
                <a:solidFill>
                  <a:srgbClr val="5C697A"/>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99C074F6-72E8-54C5-DD54-F51E63356F05}"/>
                </a:ext>
              </a:extLst>
            </p:cNvPr>
            <p:cNvSpPr/>
            <p:nvPr/>
          </p:nvSpPr>
          <p:spPr>
            <a:xfrm>
              <a:off x="5703093" y="6804307"/>
              <a:ext cx="419387" cy="11372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ja-JP" sz="600" dirty="0">
                  <a:solidFill>
                    <a:srgbClr val="5C697A"/>
                  </a:solidFill>
                  <a:latin typeface="Meiryo UI" panose="020B0604030504040204" pitchFamily="50" charset="-128"/>
                  <a:ea typeface="Meiryo UI" panose="020B0604030504040204" pitchFamily="50" charset="-128"/>
                </a:rPr>
                <a:t>1000</a:t>
              </a:r>
              <a:endParaRPr kumimoji="1" lang="ja-JP" altLang="en-US" sz="600" dirty="0">
                <a:solidFill>
                  <a:srgbClr val="5C697A"/>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89B0A261-8303-B738-B4CC-71696BF8A99F}"/>
                </a:ext>
              </a:extLst>
            </p:cNvPr>
            <p:cNvSpPr/>
            <p:nvPr/>
          </p:nvSpPr>
          <p:spPr>
            <a:xfrm>
              <a:off x="6252960" y="6805697"/>
              <a:ext cx="419387" cy="11372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ja-JP" sz="600" dirty="0">
                  <a:solidFill>
                    <a:srgbClr val="5C697A"/>
                  </a:solidFill>
                  <a:latin typeface="Meiryo UI" panose="020B0604030504040204" pitchFamily="50" charset="-128"/>
                  <a:ea typeface="Meiryo UI" panose="020B0604030504040204" pitchFamily="50" charset="-128"/>
                </a:rPr>
                <a:t>1000</a:t>
              </a:r>
              <a:endParaRPr kumimoji="1" lang="ja-JP" altLang="en-US" sz="600" dirty="0">
                <a:solidFill>
                  <a:srgbClr val="5C697A"/>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675F25B4-453C-0684-12D9-0E41D6051D44}"/>
                </a:ext>
              </a:extLst>
            </p:cNvPr>
            <p:cNvSpPr/>
            <p:nvPr/>
          </p:nvSpPr>
          <p:spPr>
            <a:xfrm>
              <a:off x="1991113" y="2042615"/>
              <a:ext cx="4679600" cy="926177"/>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ED399AB3-2528-2E11-996F-1B7EF548DAA3}"/>
                </a:ext>
              </a:extLst>
            </p:cNvPr>
            <p:cNvSpPr/>
            <p:nvPr/>
          </p:nvSpPr>
          <p:spPr>
            <a:xfrm>
              <a:off x="2111220" y="2140190"/>
              <a:ext cx="666208" cy="732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600" dirty="0">
                  <a:solidFill>
                    <a:schemeClr val="tx1"/>
                  </a:solidFill>
                  <a:latin typeface="Meiryo UI" panose="020B0604030504040204" pitchFamily="50" charset="-128"/>
                  <a:ea typeface="Meiryo UI" panose="020B0604030504040204" pitchFamily="50" charset="-128"/>
                </a:rPr>
                <a:t>月々の推移</a:t>
              </a:r>
            </a:p>
          </p:txBody>
        </p:sp>
        <p:sp>
          <p:nvSpPr>
            <p:cNvPr id="14" name="正方形/長方形 13">
              <a:extLst>
                <a:ext uri="{FF2B5EF4-FFF2-40B4-BE49-F238E27FC236}">
                  <a16:creationId xmlns:a16="http://schemas.microsoft.com/office/drawing/2014/main" id="{ACE7D735-C6CE-D467-6529-9EBF80332649}"/>
                </a:ext>
              </a:extLst>
            </p:cNvPr>
            <p:cNvSpPr/>
            <p:nvPr/>
          </p:nvSpPr>
          <p:spPr>
            <a:xfrm>
              <a:off x="2277377" y="2767448"/>
              <a:ext cx="588534" cy="732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sz="400" dirty="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0AE41328-93C3-15E1-F038-D836AFABA1AB}"/>
                </a:ext>
              </a:extLst>
            </p:cNvPr>
            <p:cNvSpPr/>
            <p:nvPr/>
          </p:nvSpPr>
          <p:spPr>
            <a:xfrm>
              <a:off x="2279962" y="2706864"/>
              <a:ext cx="484110" cy="732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2023</a:t>
              </a:r>
              <a:r>
                <a:rPr lang="ja-JP" altLang="en-US" sz="400" dirty="0">
                  <a:solidFill>
                    <a:schemeClr val="tx1"/>
                  </a:solidFill>
                  <a:latin typeface="Meiryo UI" panose="020B0604030504040204" pitchFamily="50" charset="-128"/>
                  <a:ea typeface="Meiryo UI" panose="020B0604030504040204" pitchFamily="50" charset="-128"/>
                </a:rPr>
                <a:t>年</a:t>
              </a:r>
              <a:r>
                <a:rPr lang="en-US" altLang="ja-JP" sz="400" dirty="0">
                  <a:solidFill>
                    <a:schemeClr val="tx1"/>
                  </a:solidFill>
                  <a:latin typeface="Meiryo UI" panose="020B0604030504040204" pitchFamily="50" charset="-128"/>
                  <a:ea typeface="Meiryo UI" panose="020B0604030504040204" pitchFamily="50" charset="-128"/>
                </a:rPr>
                <a:t>8</a:t>
              </a:r>
              <a:r>
                <a:rPr lang="ja-JP" altLang="en-US" sz="400" dirty="0">
                  <a:solidFill>
                    <a:schemeClr val="tx1"/>
                  </a:solidFill>
                  <a:latin typeface="Meiryo UI" panose="020B0604030504040204" pitchFamily="50" charset="-128"/>
                  <a:ea typeface="Meiryo UI" panose="020B0604030504040204" pitchFamily="50" charset="-128"/>
                </a:rPr>
                <a:t>月</a:t>
              </a:r>
              <a:endParaRPr lang="en-US" altLang="ja-JP" sz="400" dirty="0">
                <a:solidFill>
                  <a:schemeClr val="tx1"/>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BE36F757-4572-E9AB-14BC-E54296D1AD5B}"/>
                </a:ext>
              </a:extLst>
            </p:cNvPr>
            <p:cNvSpPr/>
            <p:nvPr/>
          </p:nvSpPr>
          <p:spPr>
            <a:xfrm>
              <a:off x="2785897" y="2708739"/>
              <a:ext cx="484109" cy="732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2023</a:t>
              </a:r>
              <a:r>
                <a:rPr lang="ja-JP" altLang="en-US" sz="400" dirty="0">
                  <a:solidFill>
                    <a:schemeClr val="tx1"/>
                  </a:solidFill>
                  <a:latin typeface="Meiryo UI" panose="020B0604030504040204" pitchFamily="50" charset="-128"/>
                  <a:ea typeface="Meiryo UI" panose="020B0604030504040204" pitchFamily="50" charset="-128"/>
                </a:rPr>
                <a:t>年</a:t>
              </a:r>
              <a:r>
                <a:rPr lang="en-US" altLang="ja-JP" sz="400" dirty="0">
                  <a:solidFill>
                    <a:schemeClr val="tx1"/>
                  </a:solidFill>
                  <a:latin typeface="Meiryo UI" panose="020B0604030504040204" pitchFamily="50" charset="-128"/>
                  <a:ea typeface="Meiryo UI" panose="020B0604030504040204" pitchFamily="50" charset="-128"/>
                </a:rPr>
                <a:t>9</a:t>
              </a:r>
              <a:r>
                <a:rPr lang="ja-JP" altLang="en-US" sz="400" dirty="0">
                  <a:solidFill>
                    <a:schemeClr val="tx1"/>
                  </a:solidFill>
                  <a:latin typeface="Meiryo UI" panose="020B0604030504040204" pitchFamily="50" charset="-128"/>
                  <a:ea typeface="Meiryo UI" panose="020B0604030504040204" pitchFamily="50" charset="-128"/>
                </a:rPr>
                <a:t>月</a:t>
              </a:r>
              <a:endParaRPr lang="en-US" altLang="ja-JP" sz="400" dirty="0">
                <a:solidFill>
                  <a:schemeClr val="tx1"/>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32A066EB-581E-EF33-2EEA-C19FA0229D29}"/>
                </a:ext>
              </a:extLst>
            </p:cNvPr>
            <p:cNvSpPr/>
            <p:nvPr/>
          </p:nvSpPr>
          <p:spPr>
            <a:xfrm>
              <a:off x="3596930" y="2708739"/>
              <a:ext cx="508896" cy="732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2023</a:t>
              </a:r>
              <a:r>
                <a:rPr lang="ja-JP" altLang="en-US" sz="400" dirty="0">
                  <a:solidFill>
                    <a:schemeClr val="tx1"/>
                  </a:solidFill>
                  <a:latin typeface="Meiryo UI" panose="020B0604030504040204" pitchFamily="50" charset="-128"/>
                  <a:ea typeface="Meiryo UI" panose="020B0604030504040204" pitchFamily="50" charset="-128"/>
                </a:rPr>
                <a:t>年</a:t>
              </a:r>
              <a:r>
                <a:rPr lang="en-US" altLang="ja-JP" sz="400" dirty="0">
                  <a:solidFill>
                    <a:schemeClr val="tx1"/>
                  </a:solidFill>
                  <a:latin typeface="Meiryo UI" panose="020B0604030504040204" pitchFamily="50" charset="-128"/>
                  <a:ea typeface="Meiryo UI" panose="020B0604030504040204" pitchFamily="50" charset="-128"/>
                </a:rPr>
                <a:t>10</a:t>
              </a:r>
              <a:r>
                <a:rPr lang="ja-JP" altLang="en-US" sz="400" dirty="0">
                  <a:solidFill>
                    <a:schemeClr val="tx1"/>
                  </a:solidFill>
                  <a:latin typeface="Meiryo UI" panose="020B0604030504040204" pitchFamily="50" charset="-128"/>
                  <a:ea typeface="Meiryo UI" panose="020B0604030504040204" pitchFamily="50" charset="-128"/>
                </a:rPr>
                <a:t>月</a:t>
              </a:r>
              <a:endParaRPr lang="en-US" altLang="ja-JP" sz="400" dirty="0">
                <a:solidFill>
                  <a:schemeClr val="tx1"/>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CB8871E8-70F5-2B6F-F27D-4615F91B5A25}"/>
                </a:ext>
              </a:extLst>
            </p:cNvPr>
            <p:cNvSpPr/>
            <p:nvPr/>
          </p:nvSpPr>
          <p:spPr>
            <a:xfrm>
              <a:off x="4411255" y="2708739"/>
              <a:ext cx="508896" cy="732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2023</a:t>
              </a:r>
              <a:r>
                <a:rPr lang="ja-JP" altLang="en-US" sz="400" dirty="0">
                  <a:solidFill>
                    <a:schemeClr val="tx1"/>
                  </a:solidFill>
                  <a:latin typeface="Meiryo UI" panose="020B0604030504040204" pitchFamily="50" charset="-128"/>
                  <a:ea typeface="Meiryo UI" panose="020B0604030504040204" pitchFamily="50" charset="-128"/>
                </a:rPr>
                <a:t>年</a:t>
              </a:r>
              <a:r>
                <a:rPr lang="en-US" altLang="ja-JP" sz="400" dirty="0">
                  <a:solidFill>
                    <a:schemeClr val="tx1"/>
                  </a:solidFill>
                  <a:latin typeface="Meiryo UI" panose="020B0604030504040204" pitchFamily="50" charset="-128"/>
                  <a:ea typeface="Meiryo UI" panose="020B0604030504040204" pitchFamily="50" charset="-128"/>
                </a:rPr>
                <a:t>11</a:t>
              </a:r>
              <a:r>
                <a:rPr lang="ja-JP" altLang="en-US" sz="400" dirty="0">
                  <a:solidFill>
                    <a:schemeClr val="tx1"/>
                  </a:solidFill>
                  <a:latin typeface="Meiryo UI" panose="020B0604030504040204" pitchFamily="50" charset="-128"/>
                  <a:ea typeface="Meiryo UI" panose="020B0604030504040204" pitchFamily="50" charset="-128"/>
                </a:rPr>
                <a:t>月</a:t>
              </a:r>
              <a:endParaRPr lang="en-US" altLang="ja-JP" sz="400" dirty="0">
                <a:solidFill>
                  <a:schemeClr val="tx1"/>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F017A1B0-0B06-F083-515B-529DB3088B43}"/>
                </a:ext>
              </a:extLst>
            </p:cNvPr>
            <p:cNvSpPr/>
            <p:nvPr/>
          </p:nvSpPr>
          <p:spPr>
            <a:xfrm>
              <a:off x="5221579" y="2708739"/>
              <a:ext cx="508896" cy="732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2023</a:t>
              </a:r>
              <a:r>
                <a:rPr lang="ja-JP" altLang="en-US" sz="400" dirty="0">
                  <a:solidFill>
                    <a:schemeClr val="tx1"/>
                  </a:solidFill>
                  <a:latin typeface="Meiryo UI" panose="020B0604030504040204" pitchFamily="50" charset="-128"/>
                  <a:ea typeface="Meiryo UI" panose="020B0604030504040204" pitchFamily="50" charset="-128"/>
                </a:rPr>
                <a:t>年</a:t>
              </a:r>
              <a:r>
                <a:rPr lang="en-US" altLang="ja-JP" sz="400" dirty="0">
                  <a:solidFill>
                    <a:schemeClr val="tx1"/>
                  </a:solidFill>
                  <a:latin typeface="Meiryo UI" panose="020B0604030504040204" pitchFamily="50" charset="-128"/>
                  <a:ea typeface="Meiryo UI" panose="020B0604030504040204" pitchFamily="50" charset="-128"/>
                </a:rPr>
                <a:t>12</a:t>
              </a:r>
              <a:r>
                <a:rPr lang="ja-JP" altLang="en-US" sz="400" dirty="0">
                  <a:solidFill>
                    <a:schemeClr val="tx1"/>
                  </a:solidFill>
                  <a:latin typeface="Meiryo UI" panose="020B0604030504040204" pitchFamily="50" charset="-128"/>
                  <a:ea typeface="Meiryo UI" panose="020B0604030504040204" pitchFamily="50" charset="-128"/>
                </a:rPr>
                <a:t>月</a:t>
              </a:r>
              <a:endParaRPr lang="en-US" altLang="ja-JP" sz="400" dirty="0">
                <a:solidFill>
                  <a:schemeClr val="tx1"/>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1705F219-4729-E8FE-1FA7-BCD0590CC79E}"/>
                </a:ext>
              </a:extLst>
            </p:cNvPr>
            <p:cNvSpPr/>
            <p:nvPr/>
          </p:nvSpPr>
          <p:spPr>
            <a:xfrm>
              <a:off x="6033348" y="2708739"/>
              <a:ext cx="508896" cy="7322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2024</a:t>
              </a:r>
              <a:r>
                <a:rPr lang="ja-JP" altLang="en-US" sz="400" dirty="0">
                  <a:solidFill>
                    <a:schemeClr val="tx1"/>
                  </a:solidFill>
                  <a:latin typeface="Meiryo UI" panose="020B0604030504040204" pitchFamily="50" charset="-128"/>
                  <a:ea typeface="Meiryo UI" panose="020B0604030504040204" pitchFamily="50" charset="-128"/>
                </a:rPr>
                <a:t>年</a:t>
              </a:r>
              <a:r>
                <a:rPr lang="en-US" altLang="ja-JP" sz="400" dirty="0">
                  <a:solidFill>
                    <a:schemeClr val="tx1"/>
                  </a:solidFill>
                  <a:latin typeface="Meiryo UI" panose="020B0604030504040204" pitchFamily="50" charset="-128"/>
                  <a:ea typeface="Meiryo UI" panose="020B0604030504040204" pitchFamily="50" charset="-128"/>
                </a:rPr>
                <a:t>1</a:t>
              </a:r>
              <a:r>
                <a:rPr lang="ja-JP" altLang="en-US" sz="400" dirty="0">
                  <a:solidFill>
                    <a:schemeClr val="tx1"/>
                  </a:solidFill>
                  <a:latin typeface="Meiryo UI" panose="020B0604030504040204" pitchFamily="50" charset="-128"/>
                  <a:ea typeface="Meiryo UI" panose="020B0604030504040204" pitchFamily="50" charset="-128"/>
                </a:rPr>
                <a:t>月</a:t>
              </a:r>
              <a:endParaRPr lang="en-US" altLang="ja-JP" sz="400" dirty="0">
                <a:solidFill>
                  <a:schemeClr val="tx1"/>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CDC53171-FCF6-548A-9352-2BB9D053026F}"/>
                </a:ext>
              </a:extLst>
            </p:cNvPr>
            <p:cNvSpPr/>
            <p:nvPr/>
          </p:nvSpPr>
          <p:spPr>
            <a:xfrm>
              <a:off x="1992747" y="3999673"/>
              <a:ext cx="4679599" cy="2957958"/>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grpSp>
      <p:cxnSp>
        <p:nvCxnSpPr>
          <p:cNvPr id="22" name="直線矢印コネクタ 21">
            <a:extLst>
              <a:ext uri="{FF2B5EF4-FFF2-40B4-BE49-F238E27FC236}">
                <a16:creationId xmlns:a16="http://schemas.microsoft.com/office/drawing/2014/main" id="{FAF38732-6C42-8CD2-75F0-64FC836380BB}"/>
              </a:ext>
            </a:extLst>
          </p:cNvPr>
          <p:cNvCxnSpPr>
            <a:cxnSpLocks/>
            <a:stCxn id="2" idx="3"/>
            <a:endCxn id="24" idx="1"/>
          </p:cNvCxnSpPr>
          <p:nvPr/>
        </p:nvCxnSpPr>
        <p:spPr>
          <a:xfrm flipV="1">
            <a:off x="6309490" y="4892981"/>
            <a:ext cx="1036821" cy="316513"/>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直線矢印コネクタ 240">
            <a:extLst>
              <a:ext uri="{FF2B5EF4-FFF2-40B4-BE49-F238E27FC236}">
                <a16:creationId xmlns:a16="http://schemas.microsoft.com/office/drawing/2014/main" id="{C9B9CDA4-0218-2831-0772-5E6EAB1BE311}"/>
              </a:ext>
            </a:extLst>
          </p:cNvPr>
          <p:cNvCxnSpPr>
            <a:cxnSpLocks/>
            <a:stCxn id="238" idx="3"/>
            <a:endCxn id="239" idx="1"/>
          </p:cNvCxnSpPr>
          <p:nvPr/>
        </p:nvCxnSpPr>
        <p:spPr>
          <a:xfrm flipV="1">
            <a:off x="8755395" y="1806331"/>
            <a:ext cx="358541" cy="1086"/>
          </a:xfrm>
          <a:prstGeom prst="straightConnector1">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F15C9284-9B38-EA09-A4D2-6170B303A5FD}"/>
              </a:ext>
            </a:extLst>
          </p:cNvPr>
          <p:cNvSpPr txBox="1"/>
          <p:nvPr/>
        </p:nvSpPr>
        <p:spPr bwMode="auto">
          <a:xfrm>
            <a:off x="7346311" y="3938873"/>
            <a:ext cx="4508958" cy="1908215"/>
          </a:xfrm>
          <a:prstGeom prst="rect">
            <a:avLst/>
          </a:prstGeom>
          <a:solidFill>
            <a:schemeClr val="bg1"/>
          </a:solidFill>
          <a:ln w="6350">
            <a:solidFill>
              <a:schemeClr val="tx1"/>
            </a:solidFill>
            <a:miter lim="800000"/>
            <a:headEnd/>
            <a:tailEnd/>
          </a:ln>
        </p:spPr>
        <p:txBody>
          <a:bodyPr wrap="square" lIns="180000" rIns="180000" rtlCol="0" anchor="t">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各入居者の月間ナースコール数を表示。</a:t>
            </a:r>
            <a:endParaRPr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当月含め</a:t>
            </a:r>
            <a:r>
              <a:rPr kumimoji="1" lang="en-US" altLang="ja-JP" sz="1100" dirty="0">
                <a:latin typeface="Meiryo UI" panose="020B0604030504040204" pitchFamily="50" charset="-128"/>
                <a:ea typeface="Meiryo UI" panose="020B0604030504040204" pitchFamily="50" charset="-128"/>
              </a:rPr>
              <a:t>6</a:t>
            </a:r>
            <a:r>
              <a:rPr kumimoji="1" lang="ja-JP" altLang="en-US" sz="1100" dirty="0">
                <a:latin typeface="Meiryo UI" panose="020B0604030504040204" pitchFamily="50" charset="-128"/>
                <a:ea typeface="Meiryo UI" panose="020B0604030504040204" pitchFamily="50" charset="-128"/>
              </a:rPr>
              <a:t>か月間の数値を表示。</a:t>
            </a:r>
            <a:endParaRPr kumimoji="1"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3(300</a:t>
            </a:r>
            <a:r>
              <a:rPr kumimoji="1" lang="ja-JP" altLang="en-US" sz="1100" dirty="0">
                <a:latin typeface="Meiryo UI" panose="020B0604030504040204" pitchFamily="50" charset="-128"/>
                <a:ea typeface="Meiryo UI" panose="020B0604030504040204" pitchFamily="50" charset="-128"/>
              </a:rPr>
              <a:t>回以上、濃赤色</a:t>
            </a:r>
            <a:r>
              <a:rPr kumimoji="1"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、レベル</a:t>
            </a:r>
            <a:r>
              <a:rPr lang="en-US" altLang="ja-JP" sz="1100" dirty="0">
                <a:latin typeface="Meiryo UI" panose="020B0604030504040204" pitchFamily="50" charset="-128"/>
                <a:ea typeface="Meiryo UI" panose="020B0604030504040204" pitchFamily="50" charset="-128"/>
              </a:rPr>
              <a:t>2(</a:t>
            </a:r>
            <a:r>
              <a:rPr kumimoji="1" lang="en-US" altLang="ja-JP" sz="1100" dirty="0">
                <a:latin typeface="Meiryo UI" panose="020B0604030504040204" pitchFamily="50" charset="-128"/>
                <a:ea typeface="Meiryo UI" panose="020B0604030504040204" pitchFamily="50" charset="-128"/>
              </a:rPr>
              <a:t>100~299</a:t>
            </a:r>
            <a:r>
              <a:rPr kumimoji="1" lang="ja-JP" altLang="en-US" sz="1100" dirty="0">
                <a:latin typeface="Meiryo UI" panose="020B0604030504040204" pitchFamily="50" charset="-128"/>
                <a:ea typeface="Meiryo UI" panose="020B0604030504040204" pitchFamily="50" charset="-128"/>
              </a:rPr>
              <a:t>回、</a:t>
            </a:r>
            <a:r>
              <a:rPr lang="ja-JP" altLang="en-US" sz="1100" dirty="0">
                <a:latin typeface="Meiryo UI" panose="020B0604030504040204" pitchFamily="50" charset="-128"/>
                <a:ea typeface="Meiryo UI" panose="020B0604030504040204" pitchFamily="50" charset="-128"/>
              </a:rPr>
              <a:t>赤</a:t>
            </a:r>
            <a:r>
              <a:rPr kumimoji="1" lang="ja-JP" altLang="en-US" sz="1100" dirty="0">
                <a:latin typeface="Meiryo UI" panose="020B0604030504040204" pitchFamily="50" charset="-128"/>
                <a:ea typeface="Meiryo UI" panose="020B0604030504040204" pitchFamily="50" charset="-128"/>
              </a:rPr>
              <a:t>色</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1(45~99</a:t>
            </a:r>
            <a:r>
              <a:rPr kumimoji="1" lang="ja-JP" altLang="en-US" sz="1100" dirty="0">
                <a:latin typeface="Meiryo UI" panose="020B0604030504040204" pitchFamily="50" charset="-128"/>
                <a:ea typeface="Meiryo UI" panose="020B0604030504040204" pitchFamily="50" charset="-128"/>
              </a:rPr>
              <a:t>回、黄色</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ごとに文字を色付け。</a:t>
            </a:r>
            <a:endParaRPr kumimoji="1"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rPr>
              <a:t>部屋番号の昇順をデフォルトとする。</a:t>
            </a:r>
            <a:endParaRPr kumimoji="1" lang="en-US" altLang="ja-JP" sz="11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ナースコール鳴っていない入居者は表示されない。</a:t>
            </a:r>
            <a:endParaRPr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最新月のみ毎日数値変動。</a:t>
            </a:r>
            <a:endParaRPr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各行押下で各入居者およびホーム全体</a:t>
            </a:r>
            <a:r>
              <a:rPr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合計</a:t>
            </a:r>
            <a:r>
              <a:rPr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の詳細を表示できる。</a:t>
            </a:r>
            <a:endParaRPr lang="en-US" altLang="ja-JP" sz="1100" dirty="0">
              <a:latin typeface="Meiryo UI" panose="020B0604030504040204" pitchFamily="50" charset="-128"/>
              <a:ea typeface="Meiryo UI" panose="020B0604030504040204" pitchFamily="50" charset="-128"/>
            </a:endParaRPr>
          </a:p>
        </p:txBody>
      </p:sp>
      <p:sp>
        <p:nvSpPr>
          <p:cNvPr id="232" name="テキスト ボックス 231">
            <a:extLst>
              <a:ext uri="{FF2B5EF4-FFF2-40B4-BE49-F238E27FC236}">
                <a16:creationId xmlns:a16="http://schemas.microsoft.com/office/drawing/2014/main" id="{5EE2612D-5D04-D732-F9B7-B0D5612AE9B8}"/>
              </a:ext>
            </a:extLst>
          </p:cNvPr>
          <p:cNvSpPr txBox="1"/>
          <p:nvPr/>
        </p:nvSpPr>
        <p:spPr bwMode="auto">
          <a:xfrm>
            <a:off x="7349958" y="2304004"/>
            <a:ext cx="4505311" cy="507831"/>
          </a:xfrm>
          <a:prstGeom prst="rect">
            <a:avLst/>
          </a:prstGeom>
          <a:solidFill>
            <a:schemeClr val="bg1"/>
          </a:solidFill>
          <a:ln w="6350">
            <a:solidFill>
              <a:schemeClr val="tx1"/>
            </a:solidFill>
            <a:miter lim="800000"/>
            <a:headEnd/>
            <a:tailEnd/>
          </a:ln>
        </p:spPr>
        <p:txBody>
          <a:bodyPr wrap="square" lIns="180000" rIns="180000" rtlCol="0" anchor="t">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該当ホームの月間ナースコール合計を表示。</a:t>
            </a:r>
            <a:endParaRPr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当月含め</a:t>
            </a:r>
            <a:r>
              <a:rPr kumimoji="1" lang="en-US" altLang="ja-JP" sz="1100" dirty="0">
                <a:latin typeface="Meiryo UI" panose="020B0604030504040204" pitchFamily="50" charset="-128"/>
                <a:ea typeface="Meiryo UI" panose="020B0604030504040204" pitchFamily="50" charset="-128"/>
              </a:rPr>
              <a:t>6</a:t>
            </a:r>
            <a:r>
              <a:rPr kumimoji="1" lang="ja-JP" altLang="en-US" sz="1100" dirty="0">
                <a:latin typeface="Meiryo UI" panose="020B0604030504040204" pitchFamily="50" charset="-128"/>
                <a:ea typeface="Meiryo UI" panose="020B0604030504040204" pitchFamily="50" charset="-128"/>
              </a:rPr>
              <a:t>か月間の数値を折れ線グラフで表示。</a:t>
            </a:r>
            <a:endParaRPr kumimoji="1" lang="en-US" altLang="ja-JP" sz="1100" dirty="0">
              <a:latin typeface="Meiryo UI" panose="020B0604030504040204" pitchFamily="50" charset="-128"/>
              <a:ea typeface="Meiryo UI" panose="020B0604030504040204" pitchFamily="50" charset="-128"/>
            </a:endParaRPr>
          </a:p>
        </p:txBody>
      </p:sp>
      <p:cxnSp>
        <p:nvCxnSpPr>
          <p:cNvPr id="234" name="直線矢印コネクタ 233">
            <a:extLst>
              <a:ext uri="{FF2B5EF4-FFF2-40B4-BE49-F238E27FC236}">
                <a16:creationId xmlns:a16="http://schemas.microsoft.com/office/drawing/2014/main" id="{9AFA74A0-BCA2-5D04-0893-B4A294E2BACA}"/>
              </a:ext>
            </a:extLst>
          </p:cNvPr>
          <p:cNvCxnSpPr>
            <a:cxnSpLocks/>
            <a:stCxn id="12" idx="3"/>
            <a:endCxn id="232" idx="1"/>
          </p:cNvCxnSpPr>
          <p:nvPr/>
        </p:nvCxnSpPr>
        <p:spPr>
          <a:xfrm>
            <a:off x="6291552" y="2350470"/>
            <a:ext cx="1058406" cy="207450"/>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244" name="正方形/長方形 243">
            <a:extLst>
              <a:ext uri="{FF2B5EF4-FFF2-40B4-BE49-F238E27FC236}">
                <a16:creationId xmlns:a16="http://schemas.microsoft.com/office/drawing/2014/main" id="{08A83D43-44B7-D40E-0B7C-94D93E42D15F}"/>
              </a:ext>
            </a:extLst>
          </p:cNvPr>
          <p:cNvSpPr/>
          <p:nvPr/>
        </p:nvSpPr>
        <p:spPr>
          <a:xfrm>
            <a:off x="1861584" y="1747723"/>
            <a:ext cx="492022" cy="9953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600" dirty="0">
                <a:solidFill>
                  <a:schemeClr val="tx1"/>
                </a:solidFill>
                <a:latin typeface="Meiryo UI" panose="020B0604030504040204" pitchFamily="50" charset="-128"/>
                <a:ea typeface="Meiryo UI" panose="020B0604030504040204" pitchFamily="50" charset="-128"/>
              </a:rPr>
              <a:t>原因分析</a:t>
            </a:r>
            <a:endParaRPr lang="en-US" altLang="ja-JP" sz="600" dirty="0">
              <a:solidFill>
                <a:schemeClr val="tx1"/>
              </a:solidFill>
              <a:latin typeface="Meiryo UI" panose="020B0604030504040204" pitchFamily="50" charset="-128"/>
              <a:ea typeface="Meiryo UI" panose="020B0604030504040204" pitchFamily="50" charset="-128"/>
            </a:endParaRPr>
          </a:p>
        </p:txBody>
      </p:sp>
      <p:pic>
        <p:nvPicPr>
          <p:cNvPr id="6" name="図 5">
            <a:extLst>
              <a:ext uri="{FF2B5EF4-FFF2-40B4-BE49-F238E27FC236}">
                <a16:creationId xmlns:a16="http://schemas.microsoft.com/office/drawing/2014/main" id="{56CA3045-0D07-0ACD-CEE7-833F0910BC58}"/>
              </a:ext>
            </a:extLst>
          </p:cNvPr>
          <p:cNvPicPr>
            <a:picLocks noChangeAspect="1"/>
          </p:cNvPicPr>
          <p:nvPr/>
        </p:nvPicPr>
        <p:blipFill rotWithShape="1">
          <a:blip r:embed="rId5">
            <a:extLst>
              <a:ext uri="{28A0092B-C50C-407E-A947-70E740481C1C}">
                <a14:useLocalDpi xmlns:a14="http://schemas.microsoft.com/office/drawing/2010/main" val="0"/>
              </a:ext>
            </a:extLst>
          </a:blip>
          <a:srcRect r="1561"/>
          <a:stretch/>
        </p:blipFill>
        <p:spPr>
          <a:xfrm>
            <a:off x="1916441" y="2821991"/>
            <a:ext cx="4376022" cy="905069"/>
          </a:xfrm>
          <a:prstGeom prst="rect">
            <a:avLst/>
          </a:prstGeom>
        </p:spPr>
      </p:pic>
      <p:sp>
        <p:nvSpPr>
          <p:cNvPr id="30" name="正方形/長方形 29">
            <a:extLst>
              <a:ext uri="{FF2B5EF4-FFF2-40B4-BE49-F238E27FC236}">
                <a16:creationId xmlns:a16="http://schemas.microsoft.com/office/drawing/2014/main" id="{0EB642B6-B06A-D3AE-3D36-7C3890B34104}"/>
              </a:ext>
            </a:extLst>
          </p:cNvPr>
          <p:cNvSpPr/>
          <p:nvPr/>
        </p:nvSpPr>
        <p:spPr>
          <a:xfrm>
            <a:off x="1920228" y="2823010"/>
            <a:ext cx="4372466" cy="890561"/>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6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70AC6424-E320-55B3-AD8F-A6EF31628867}"/>
              </a:ext>
            </a:extLst>
          </p:cNvPr>
          <p:cNvSpPr txBox="1"/>
          <p:nvPr/>
        </p:nvSpPr>
        <p:spPr bwMode="auto">
          <a:xfrm>
            <a:off x="7333835" y="2873710"/>
            <a:ext cx="4508958" cy="1000274"/>
          </a:xfrm>
          <a:prstGeom prst="rect">
            <a:avLst/>
          </a:prstGeom>
          <a:solidFill>
            <a:schemeClr val="bg1"/>
          </a:solidFill>
          <a:ln w="6350">
            <a:solidFill>
              <a:schemeClr val="tx1"/>
            </a:solidFill>
            <a:miter lim="800000"/>
            <a:headEnd/>
            <a:tailEnd/>
          </a:ln>
        </p:spPr>
        <p:txBody>
          <a:bodyPr wrap="square" lIns="180000" rIns="180000" rtlCol="0" anchor="t">
            <a:spAutoFit/>
          </a:bodyPr>
          <a:lstStyle/>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該当ホームの時間帯別のナースコールの回数を棒グラフで表示する。</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ナースコールが押下されていない時間帯は表示されない。</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グラフの横軸は一番左を</a:t>
            </a:r>
            <a:r>
              <a:rPr lang="en-US" altLang="ja-JP" sz="1100" dirty="0">
                <a:latin typeface="Meiryo UI" panose="020B0604030504040204" pitchFamily="50" charset="-128"/>
                <a:ea typeface="Meiryo UI" panose="020B0604030504040204" pitchFamily="50" charset="-128"/>
              </a:rPr>
              <a:t>0</a:t>
            </a:r>
            <a:r>
              <a:rPr lang="ja-JP" altLang="en-US" sz="1100" dirty="0">
                <a:latin typeface="Meiryo UI" panose="020B0604030504040204" pitchFamily="50" charset="-128"/>
                <a:ea typeface="Meiryo UI" panose="020B0604030504040204" pitchFamily="50" charset="-128"/>
              </a:rPr>
              <a:t>時台として、昇順に</a:t>
            </a:r>
            <a:r>
              <a:rPr lang="en-US" altLang="ja-JP" sz="1100" dirty="0">
                <a:latin typeface="Meiryo UI" panose="020B0604030504040204" pitchFamily="50" charset="-128"/>
                <a:ea typeface="Meiryo UI" panose="020B0604030504040204" pitchFamily="50" charset="-128"/>
              </a:rPr>
              <a:t>23</a:t>
            </a:r>
            <a:r>
              <a:rPr lang="ja-JP" altLang="en-US" sz="1100" dirty="0">
                <a:latin typeface="Meiryo UI" panose="020B0604030504040204" pitchFamily="50" charset="-128"/>
                <a:ea typeface="Meiryo UI" panose="020B0604030504040204" pitchFamily="50" charset="-128"/>
              </a:rPr>
              <a:t>時台まで表示する。</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データの集計期間は</a:t>
            </a:r>
            <a:r>
              <a:rPr lang="en-US" altLang="ja-JP" sz="1100" dirty="0">
                <a:solidFill>
                  <a:prstClr val="black"/>
                </a:solidFill>
                <a:latin typeface="Meiryo UI" panose="020B0604030504040204" pitchFamily="50" charset="-128"/>
                <a:ea typeface="Meiryo UI" panose="020B0604030504040204" pitchFamily="50" charset="-128"/>
              </a:rPr>
              <a:t>5</a:t>
            </a:r>
            <a:r>
              <a:rPr lang="ja-JP" altLang="en-US" sz="1100" dirty="0">
                <a:solidFill>
                  <a:prstClr val="black"/>
                </a:solidFill>
                <a:latin typeface="Meiryo UI" panose="020B0604030504040204" pitchFamily="50" charset="-128"/>
                <a:ea typeface="Meiryo UI" panose="020B0604030504040204" pitchFamily="50" charset="-128"/>
              </a:rPr>
              <a:t>ヶ月前初日～前日とする。</a:t>
            </a:r>
            <a:endParaRPr lang="en-US" altLang="ja-JP" sz="1100" dirty="0">
              <a:latin typeface="Meiryo UI" panose="020B0604030504040204" pitchFamily="50" charset="-128"/>
              <a:ea typeface="Meiryo UI" panose="020B0604030504040204" pitchFamily="50" charset="-128"/>
            </a:endParaRPr>
          </a:p>
        </p:txBody>
      </p:sp>
      <p:cxnSp>
        <p:nvCxnSpPr>
          <p:cNvPr id="224" name="直線矢印コネクタ 233">
            <a:extLst>
              <a:ext uri="{FF2B5EF4-FFF2-40B4-BE49-F238E27FC236}">
                <a16:creationId xmlns:a16="http://schemas.microsoft.com/office/drawing/2014/main" id="{0F53E88C-7612-D359-46F0-75A84F9E7AF7}"/>
              </a:ext>
            </a:extLst>
          </p:cNvPr>
          <p:cNvCxnSpPr>
            <a:cxnSpLocks/>
            <a:stCxn id="6" idx="3"/>
            <a:endCxn id="31" idx="1"/>
          </p:cNvCxnSpPr>
          <p:nvPr/>
        </p:nvCxnSpPr>
        <p:spPr>
          <a:xfrm>
            <a:off x="6292463" y="3274526"/>
            <a:ext cx="1041372" cy="99321"/>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235" name="正方形/長方形 234">
            <a:extLst>
              <a:ext uri="{FF2B5EF4-FFF2-40B4-BE49-F238E27FC236}">
                <a16:creationId xmlns:a16="http://schemas.microsoft.com/office/drawing/2014/main" id="{D6134F64-5515-2B77-E7DC-3A005CD02806}"/>
              </a:ext>
            </a:extLst>
          </p:cNvPr>
          <p:cNvSpPr/>
          <p:nvPr/>
        </p:nvSpPr>
        <p:spPr>
          <a:xfrm>
            <a:off x="2224796" y="3446394"/>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0</a:t>
            </a:r>
          </a:p>
        </p:txBody>
      </p:sp>
      <p:sp>
        <p:nvSpPr>
          <p:cNvPr id="237" name="正方形/長方形 236">
            <a:extLst>
              <a:ext uri="{FF2B5EF4-FFF2-40B4-BE49-F238E27FC236}">
                <a16:creationId xmlns:a16="http://schemas.microsoft.com/office/drawing/2014/main" id="{F87087BF-FF51-B791-014E-B0E516737B6E}"/>
              </a:ext>
            </a:extLst>
          </p:cNvPr>
          <p:cNvSpPr/>
          <p:nvPr/>
        </p:nvSpPr>
        <p:spPr>
          <a:xfrm>
            <a:off x="2396263" y="3448884"/>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a:t>
            </a:r>
          </a:p>
        </p:txBody>
      </p:sp>
      <p:sp>
        <p:nvSpPr>
          <p:cNvPr id="240" name="正方形/長方形 239">
            <a:extLst>
              <a:ext uri="{FF2B5EF4-FFF2-40B4-BE49-F238E27FC236}">
                <a16:creationId xmlns:a16="http://schemas.microsoft.com/office/drawing/2014/main" id="{EE7B0E92-AD8C-690C-835B-6CE2E23189F9}"/>
              </a:ext>
            </a:extLst>
          </p:cNvPr>
          <p:cNvSpPr/>
          <p:nvPr/>
        </p:nvSpPr>
        <p:spPr>
          <a:xfrm>
            <a:off x="2547500" y="3448884"/>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a:t>
            </a:r>
          </a:p>
        </p:txBody>
      </p:sp>
      <p:sp>
        <p:nvSpPr>
          <p:cNvPr id="242" name="正方形/長方形 241">
            <a:extLst>
              <a:ext uri="{FF2B5EF4-FFF2-40B4-BE49-F238E27FC236}">
                <a16:creationId xmlns:a16="http://schemas.microsoft.com/office/drawing/2014/main" id="{A8479BAB-4B4D-2067-B064-523EBDC7757F}"/>
              </a:ext>
            </a:extLst>
          </p:cNvPr>
          <p:cNvSpPr/>
          <p:nvPr/>
        </p:nvSpPr>
        <p:spPr>
          <a:xfrm>
            <a:off x="2721595" y="3451881"/>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3</a:t>
            </a:r>
          </a:p>
        </p:txBody>
      </p:sp>
      <p:sp>
        <p:nvSpPr>
          <p:cNvPr id="243" name="正方形/長方形 242">
            <a:extLst>
              <a:ext uri="{FF2B5EF4-FFF2-40B4-BE49-F238E27FC236}">
                <a16:creationId xmlns:a16="http://schemas.microsoft.com/office/drawing/2014/main" id="{81E4A1B4-08DA-DCB4-0216-B3FD9ABE7B6B}"/>
              </a:ext>
            </a:extLst>
          </p:cNvPr>
          <p:cNvSpPr/>
          <p:nvPr/>
        </p:nvSpPr>
        <p:spPr>
          <a:xfrm>
            <a:off x="2882091" y="3454743"/>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4</a:t>
            </a:r>
          </a:p>
        </p:txBody>
      </p:sp>
      <p:sp>
        <p:nvSpPr>
          <p:cNvPr id="245" name="正方形/長方形 244">
            <a:extLst>
              <a:ext uri="{FF2B5EF4-FFF2-40B4-BE49-F238E27FC236}">
                <a16:creationId xmlns:a16="http://schemas.microsoft.com/office/drawing/2014/main" id="{D47E84FF-71FE-596F-81C3-AB2FEA2AF9D6}"/>
              </a:ext>
            </a:extLst>
          </p:cNvPr>
          <p:cNvSpPr/>
          <p:nvPr/>
        </p:nvSpPr>
        <p:spPr>
          <a:xfrm>
            <a:off x="3045020" y="3454743"/>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5</a:t>
            </a:r>
          </a:p>
        </p:txBody>
      </p:sp>
      <p:sp>
        <p:nvSpPr>
          <p:cNvPr id="246" name="正方形/長方形 245">
            <a:extLst>
              <a:ext uri="{FF2B5EF4-FFF2-40B4-BE49-F238E27FC236}">
                <a16:creationId xmlns:a16="http://schemas.microsoft.com/office/drawing/2014/main" id="{D37432C3-1477-FB7A-0677-056FAF073C78}"/>
              </a:ext>
            </a:extLst>
          </p:cNvPr>
          <p:cNvSpPr/>
          <p:nvPr/>
        </p:nvSpPr>
        <p:spPr>
          <a:xfrm>
            <a:off x="3210586" y="3454743"/>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6</a:t>
            </a:r>
          </a:p>
        </p:txBody>
      </p:sp>
      <p:sp>
        <p:nvSpPr>
          <p:cNvPr id="247" name="正方形/長方形 246">
            <a:extLst>
              <a:ext uri="{FF2B5EF4-FFF2-40B4-BE49-F238E27FC236}">
                <a16:creationId xmlns:a16="http://schemas.microsoft.com/office/drawing/2014/main" id="{96B56AEF-0F63-6B83-1539-AC4B4DCB0DAD}"/>
              </a:ext>
            </a:extLst>
          </p:cNvPr>
          <p:cNvSpPr/>
          <p:nvPr/>
        </p:nvSpPr>
        <p:spPr>
          <a:xfrm>
            <a:off x="3372934" y="3454743"/>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7</a:t>
            </a:r>
          </a:p>
        </p:txBody>
      </p:sp>
      <p:sp>
        <p:nvSpPr>
          <p:cNvPr id="249" name="正方形/長方形 248">
            <a:extLst>
              <a:ext uri="{FF2B5EF4-FFF2-40B4-BE49-F238E27FC236}">
                <a16:creationId xmlns:a16="http://schemas.microsoft.com/office/drawing/2014/main" id="{32573043-DD88-909A-CF96-FDB4E4ABB4EC}"/>
              </a:ext>
            </a:extLst>
          </p:cNvPr>
          <p:cNvSpPr/>
          <p:nvPr/>
        </p:nvSpPr>
        <p:spPr>
          <a:xfrm>
            <a:off x="3538796" y="3454743"/>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8</a:t>
            </a:r>
          </a:p>
        </p:txBody>
      </p:sp>
      <p:sp>
        <p:nvSpPr>
          <p:cNvPr id="250" name="正方形/長方形 249">
            <a:extLst>
              <a:ext uri="{FF2B5EF4-FFF2-40B4-BE49-F238E27FC236}">
                <a16:creationId xmlns:a16="http://schemas.microsoft.com/office/drawing/2014/main" id="{7D055CB9-5328-D327-1146-34BFC245C50D}"/>
              </a:ext>
            </a:extLst>
          </p:cNvPr>
          <p:cNvSpPr/>
          <p:nvPr/>
        </p:nvSpPr>
        <p:spPr>
          <a:xfrm>
            <a:off x="3705710" y="3454743"/>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9</a:t>
            </a:r>
          </a:p>
        </p:txBody>
      </p:sp>
      <p:sp>
        <p:nvSpPr>
          <p:cNvPr id="251" name="正方形/長方形 250">
            <a:extLst>
              <a:ext uri="{FF2B5EF4-FFF2-40B4-BE49-F238E27FC236}">
                <a16:creationId xmlns:a16="http://schemas.microsoft.com/office/drawing/2014/main" id="{0B861A29-B461-AA0E-6701-BA419C949479}"/>
              </a:ext>
            </a:extLst>
          </p:cNvPr>
          <p:cNvSpPr/>
          <p:nvPr/>
        </p:nvSpPr>
        <p:spPr>
          <a:xfrm>
            <a:off x="3839170" y="3455218"/>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10</a:t>
            </a:r>
          </a:p>
        </p:txBody>
      </p:sp>
      <p:sp>
        <p:nvSpPr>
          <p:cNvPr id="252" name="正方形/長方形 251">
            <a:extLst>
              <a:ext uri="{FF2B5EF4-FFF2-40B4-BE49-F238E27FC236}">
                <a16:creationId xmlns:a16="http://schemas.microsoft.com/office/drawing/2014/main" id="{B247B348-18ED-B2CC-0F20-A05D902D5D7E}"/>
              </a:ext>
            </a:extLst>
          </p:cNvPr>
          <p:cNvSpPr/>
          <p:nvPr/>
        </p:nvSpPr>
        <p:spPr>
          <a:xfrm>
            <a:off x="4004049" y="3455590"/>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11</a:t>
            </a:r>
          </a:p>
        </p:txBody>
      </p:sp>
      <p:sp>
        <p:nvSpPr>
          <p:cNvPr id="253" name="正方形/長方形 252">
            <a:extLst>
              <a:ext uri="{FF2B5EF4-FFF2-40B4-BE49-F238E27FC236}">
                <a16:creationId xmlns:a16="http://schemas.microsoft.com/office/drawing/2014/main" id="{DD8377DE-B8BD-30DF-5531-8CCCD30A3692}"/>
              </a:ext>
            </a:extLst>
          </p:cNvPr>
          <p:cNvSpPr/>
          <p:nvPr/>
        </p:nvSpPr>
        <p:spPr>
          <a:xfrm>
            <a:off x="4171002" y="345474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12</a:t>
            </a:r>
          </a:p>
        </p:txBody>
      </p:sp>
      <p:sp>
        <p:nvSpPr>
          <p:cNvPr id="254" name="正方形/長方形 253">
            <a:extLst>
              <a:ext uri="{FF2B5EF4-FFF2-40B4-BE49-F238E27FC236}">
                <a16:creationId xmlns:a16="http://schemas.microsoft.com/office/drawing/2014/main" id="{46F4D44F-C923-A889-575E-4BBC1C141EE2}"/>
              </a:ext>
            </a:extLst>
          </p:cNvPr>
          <p:cNvSpPr/>
          <p:nvPr/>
        </p:nvSpPr>
        <p:spPr>
          <a:xfrm>
            <a:off x="4333025" y="3455189"/>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13</a:t>
            </a:r>
          </a:p>
        </p:txBody>
      </p:sp>
      <p:sp>
        <p:nvSpPr>
          <p:cNvPr id="255" name="正方形/長方形 254">
            <a:extLst>
              <a:ext uri="{FF2B5EF4-FFF2-40B4-BE49-F238E27FC236}">
                <a16:creationId xmlns:a16="http://schemas.microsoft.com/office/drawing/2014/main" id="{69B108B2-6B69-8BC5-3685-D3B9131D68A3}"/>
              </a:ext>
            </a:extLst>
          </p:cNvPr>
          <p:cNvSpPr/>
          <p:nvPr/>
        </p:nvSpPr>
        <p:spPr>
          <a:xfrm>
            <a:off x="4498191" y="345474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14</a:t>
            </a:r>
          </a:p>
        </p:txBody>
      </p:sp>
      <p:sp>
        <p:nvSpPr>
          <p:cNvPr id="256" name="正方形/長方形 255">
            <a:extLst>
              <a:ext uri="{FF2B5EF4-FFF2-40B4-BE49-F238E27FC236}">
                <a16:creationId xmlns:a16="http://schemas.microsoft.com/office/drawing/2014/main" id="{751E2E8C-BCC9-5B59-268D-6580DBBD77CF}"/>
              </a:ext>
            </a:extLst>
          </p:cNvPr>
          <p:cNvSpPr/>
          <p:nvPr/>
        </p:nvSpPr>
        <p:spPr>
          <a:xfrm>
            <a:off x="4662729" y="3456380"/>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15</a:t>
            </a:r>
          </a:p>
        </p:txBody>
      </p:sp>
      <p:sp>
        <p:nvSpPr>
          <p:cNvPr id="257" name="正方形/長方形 256">
            <a:extLst>
              <a:ext uri="{FF2B5EF4-FFF2-40B4-BE49-F238E27FC236}">
                <a16:creationId xmlns:a16="http://schemas.microsoft.com/office/drawing/2014/main" id="{2239055E-A805-CFE4-585E-9CDDC5E7F76B}"/>
              </a:ext>
            </a:extLst>
          </p:cNvPr>
          <p:cNvSpPr/>
          <p:nvPr/>
        </p:nvSpPr>
        <p:spPr>
          <a:xfrm>
            <a:off x="4825017" y="345767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16</a:t>
            </a:r>
          </a:p>
        </p:txBody>
      </p:sp>
      <p:sp>
        <p:nvSpPr>
          <p:cNvPr id="258" name="正方形/長方形 257">
            <a:extLst>
              <a:ext uri="{FF2B5EF4-FFF2-40B4-BE49-F238E27FC236}">
                <a16:creationId xmlns:a16="http://schemas.microsoft.com/office/drawing/2014/main" id="{81A0E31B-65AC-B770-933E-320861E2C34D}"/>
              </a:ext>
            </a:extLst>
          </p:cNvPr>
          <p:cNvSpPr/>
          <p:nvPr/>
        </p:nvSpPr>
        <p:spPr>
          <a:xfrm>
            <a:off x="4990200" y="3455590"/>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17</a:t>
            </a:r>
          </a:p>
        </p:txBody>
      </p:sp>
      <p:sp>
        <p:nvSpPr>
          <p:cNvPr id="259" name="正方形/長方形 258">
            <a:extLst>
              <a:ext uri="{FF2B5EF4-FFF2-40B4-BE49-F238E27FC236}">
                <a16:creationId xmlns:a16="http://schemas.microsoft.com/office/drawing/2014/main" id="{99129C29-8D1B-7BF9-F693-AF78A60F65FB}"/>
              </a:ext>
            </a:extLst>
          </p:cNvPr>
          <p:cNvSpPr/>
          <p:nvPr/>
        </p:nvSpPr>
        <p:spPr>
          <a:xfrm>
            <a:off x="5151461" y="3454726"/>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18</a:t>
            </a:r>
          </a:p>
        </p:txBody>
      </p:sp>
      <p:sp>
        <p:nvSpPr>
          <p:cNvPr id="260" name="正方形/長方形 259">
            <a:extLst>
              <a:ext uri="{FF2B5EF4-FFF2-40B4-BE49-F238E27FC236}">
                <a16:creationId xmlns:a16="http://schemas.microsoft.com/office/drawing/2014/main" id="{16D5CB57-FD13-36F1-5440-1998110F97F4}"/>
              </a:ext>
            </a:extLst>
          </p:cNvPr>
          <p:cNvSpPr/>
          <p:nvPr/>
        </p:nvSpPr>
        <p:spPr>
          <a:xfrm>
            <a:off x="5317178" y="3455180"/>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19</a:t>
            </a:r>
          </a:p>
        </p:txBody>
      </p:sp>
      <p:sp>
        <p:nvSpPr>
          <p:cNvPr id="261" name="正方形/長方形 260">
            <a:extLst>
              <a:ext uri="{FF2B5EF4-FFF2-40B4-BE49-F238E27FC236}">
                <a16:creationId xmlns:a16="http://schemas.microsoft.com/office/drawing/2014/main" id="{55EEE118-2D39-6D96-48DA-A5705E289662}"/>
              </a:ext>
            </a:extLst>
          </p:cNvPr>
          <p:cNvSpPr/>
          <p:nvPr/>
        </p:nvSpPr>
        <p:spPr>
          <a:xfrm>
            <a:off x="5482059" y="3457490"/>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20</a:t>
            </a:r>
          </a:p>
        </p:txBody>
      </p:sp>
      <p:sp>
        <p:nvSpPr>
          <p:cNvPr id="262" name="正方形/長方形 261">
            <a:extLst>
              <a:ext uri="{FF2B5EF4-FFF2-40B4-BE49-F238E27FC236}">
                <a16:creationId xmlns:a16="http://schemas.microsoft.com/office/drawing/2014/main" id="{B7EF1980-E64E-A7D7-19B3-1DB2462A21CF}"/>
              </a:ext>
            </a:extLst>
          </p:cNvPr>
          <p:cNvSpPr/>
          <p:nvPr/>
        </p:nvSpPr>
        <p:spPr>
          <a:xfrm>
            <a:off x="5645820" y="345767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21</a:t>
            </a:r>
          </a:p>
        </p:txBody>
      </p:sp>
      <p:sp>
        <p:nvSpPr>
          <p:cNvPr id="263" name="正方形/長方形 262">
            <a:extLst>
              <a:ext uri="{FF2B5EF4-FFF2-40B4-BE49-F238E27FC236}">
                <a16:creationId xmlns:a16="http://schemas.microsoft.com/office/drawing/2014/main" id="{78487BD1-D1CC-F4EC-48C7-0AAD340D2C5D}"/>
              </a:ext>
            </a:extLst>
          </p:cNvPr>
          <p:cNvSpPr/>
          <p:nvPr/>
        </p:nvSpPr>
        <p:spPr>
          <a:xfrm>
            <a:off x="5808405" y="3456809"/>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22</a:t>
            </a:r>
          </a:p>
        </p:txBody>
      </p:sp>
      <p:sp>
        <p:nvSpPr>
          <p:cNvPr id="264" name="正方形/長方形 263">
            <a:extLst>
              <a:ext uri="{FF2B5EF4-FFF2-40B4-BE49-F238E27FC236}">
                <a16:creationId xmlns:a16="http://schemas.microsoft.com/office/drawing/2014/main" id="{5427DF3E-2701-EFA6-B978-1D89D0147A9D}"/>
              </a:ext>
            </a:extLst>
          </p:cNvPr>
          <p:cNvSpPr/>
          <p:nvPr/>
        </p:nvSpPr>
        <p:spPr>
          <a:xfrm>
            <a:off x="5973065" y="345767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23</a:t>
            </a:r>
          </a:p>
        </p:txBody>
      </p:sp>
      <p:sp>
        <p:nvSpPr>
          <p:cNvPr id="265" name="正方形/長方形 264">
            <a:extLst>
              <a:ext uri="{FF2B5EF4-FFF2-40B4-BE49-F238E27FC236}">
                <a16:creationId xmlns:a16="http://schemas.microsoft.com/office/drawing/2014/main" id="{ACAED364-1A9C-C0C5-31C4-92A99A632793}"/>
              </a:ext>
            </a:extLst>
          </p:cNvPr>
          <p:cNvSpPr/>
          <p:nvPr/>
        </p:nvSpPr>
        <p:spPr>
          <a:xfrm>
            <a:off x="1958008" y="2875778"/>
            <a:ext cx="108701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600" dirty="0">
                <a:solidFill>
                  <a:schemeClr val="tx1"/>
                </a:solidFill>
                <a:latin typeface="Meiryo UI" panose="020B0604030504040204" pitchFamily="50" charset="-128"/>
                <a:ea typeface="Meiryo UI" panose="020B0604030504040204" pitchFamily="50" charset="-128"/>
              </a:rPr>
              <a:t>時間帯</a:t>
            </a:r>
            <a:r>
              <a:rPr kumimoji="1" lang="ja-JP" altLang="en-US" sz="600" dirty="0">
                <a:solidFill>
                  <a:schemeClr val="tx1"/>
                </a:solidFill>
                <a:latin typeface="Meiryo UI" panose="020B0604030504040204" pitchFamily="50" charset="-128"/>
                <a:ea typeface="Meiryo UI" panose="020B0604030504040204" pitchFamily="50" charset="-128"/>
              </a:rPr>
              <a:t>別</a:t>
            </a:r>
            <a:r>
              <a:rPr lang="ja-JP" altLang="en-US" sz="600" dirty="0">
                <a:solidFill>
                  <a:schemeClr val="tx1"/>
                </a:solidFill>
                <a:latin typeface="Meiryo UI" panose="020B0604030504040204" pitchFamily="50" charset="-128"/>
                <a:ea typeface="Meiryo UI" panose="020B0604030504040204" pitchFamily="50" charset="-128"/>
              </a:rPr>
              <a:t>ナース</a:t>
            </a:r>
            <a:r>
              <a:rPr kumimoji="1" lang="ja-JP" altLang="en-US" sz="600" dirty="0">
                <a:solidFill>
                  <a:schemeClr val="tx1"/>
                </a:solidFill>
                <a:latin typeface="Meiryo UI" panose="020B0604030504040204" pitchFamily="50" charset="-128"/>
                <a:ea typeface="Meiryo UI" panose="020B0604030504040204" pitchFamily="50" charset="-128"/>
              </a:rPr>
              <a:t>コール数</a:t>
            </a:r>
          </a:p>
        </p:txBody>
      </p:sp>
      <p:sp>
        <p:nvSpPr>
          <p:cNvPr id="23" name="テキスト ボックス 22">
            <a:extLst>
              <a:ext uri="{FF2B5EF4-FFF2-40B4-BE49-F238E27FC236}">
                <a16:creationId xmlns:a16="http://schemas.microsoft.com/office/drawing/2014/main" id="{37F2989B-A5B9-7855-C56B-013E7CB9A825}"/>
              </a:ext>
            </a:extLst>
          </p:cNvPr>
          <p:cNvSpPr txBox="1"/>
          <p:nvPr/>
        </p:nvSpPr>
        <p:spPr bwMode="auto">
          <a:xfrm>
            <a:off x="2132013" y="1624838"/>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①</a:t>
            </a:r>
          </a:p>
        </p:txBody>
      </p:sp>
      <p:sp>
        <p:nvSpPr>
          <p:cNvPr id="25" name="テキスト ボックス 24">
            <a:extLst>
              <a:ext uri="{FF2B5EF4-FFF2-40B4-BE49-F238E27FC236}">
                <a16:creationId xmlns:a16="http://schemas.microsoft.com/office/drawing/2014/main" id="{CE56DD22-9EF9-3565-2948-BB3B128B2C43}"/>
              </a:ext>
            </a:extLst>
          </p:cNvPr>
          <p:cNvSpPr txBox="1"/>
          <p:nvPr/>
        </p:nvSpPr>
        <p:spPr bwMode="auto">
          <a:xfrm>
            <a:off x="823670" y="1939331"/>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②</a:t>
            </a:r>
          </a:p>
        </p:txBody>
      </p:sp>
      <p:sp>
        <p:nvSpPr>
          <p:cNvPr id="29" name="テキスト ボックス 28">
            <a:extLst>
              <a:ext uri="{FF2B5EF4-FFF2-40B4-BE49-F238E27FC236}">
                <a16:creationId xmlns:a16="http://schemas.microsoft.com/office/drawing/2014/main" id="{9DE8F23E-6094-332F-82FB-3792798A5A43}"/>
              </a:ext>
            </a:extLst>
          </p:cNvPr>
          <p:cNvSpPr txBox="1"/>
          <p:nvPr/>
        </p:nvSpPr>
        <p:spPr bwMode="auto">
          <a:xfrm>
            <a:off x="2395092" y="1943542"/>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200" dirty="0">
                <a:solidFill>
                  <a:srgbClr val="FF0000"/>
                </a:solidFill>
                <a:latin typeface="Meiryo UI" panose="020B0604030504040204" pitchFamily="50" charset="-128"/>
                <a:ea typeface="Meiryo UI" panose="020B0604030504040204" pitchFamily="50" charset="-128"/>
              </a:rPr>
              <a:t>③</a:t>
            </a:r>
            <a:endParaRPr kumimoji="1" lang="ja-JP" altLang="en-US" sz="1200" dirty="0">
              <a:solidFill>
                <a:srgbClr val="FF0000"/>
              </a:solidFill>
              <a:latin typeface="Meiryo UI" panose="020B0604030504040204" pitchFamily="50" charset="-128"/>
              <a:ea typeface="Meiryo UI" panose="020B0604030504040204" pitchFamily="50" charset="-128"/>
            </a:endParaRPr>
          </a:p>
        </p:txBody>
      </p:sp>
      <p:sp>
        <p:nvSpPr>
          <p:cNvPr id="225" name="テキスト ボックス 224">
            <a:extLst>
              <a:ext uri="{FF2B5EF4-FFF2-40B4-BE49-F238E27FC236}">
                <a16:creationId xmlns:a16="http://schemas.microsoft.com/office/drawing/2014/main" id="{B8811C2A-D34F-97CC-000B-76713047C104}"/>
              </a:ext>
            </a:extLst>
          </p:cNvPr>
          <p:cNvSpPr txBox="1"/>
          <p:nvPr/>
        </p:nvSpPr>
        <p:spPr bwMode="auto">
          <a:xfrm>
            <a:off x="2653794" y="2829625"/>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④</a:t>
            </a:r>
          </a:p>
        </p:txBody>
      </p:sp>
      <p:sp>
        <p:nvSpPr>
          <p:cNvPr id="227" name="テキスト ボックス 226">
            <a:extLst>
              <a:ext uri="{FF2B5EF4-FFF2-40B4-BE49-F238E27FC236}">
                <a16:creationId xmlns:a16="http://schemas.microsoft.com/office/drawing/2014/main" id="{51AD4B33-3E68-A13C-2C63-09BDB00B76AD}"/>
              </a:ext>
            </a:extLst>
          </p:cNvPr>
          <p:cNvSpPr txBox="1"/>
          <p:nvPr/>
        </p:nvSpPr>
        <p:spPr bwMode="auto">
          <a:xfrm>
            <a:off x="1956889" y="3856699"/>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⑤</a:t>
            </a:r>
          </a:p>
        </p:txBody>
      </p:sp>
      <p:sp>
        <p:nvSpPr>
          <p:cNvPr id="228" name="テキスト ボックス 227">
            <a:extLst>
              <a:ext uri="{FF2B5EF4-FFF2-40B4-BE49-F238E27FC236}">
                <a16:creationId xmlns:a16="http://schemas.microsoft.com/office/drawing/2014/main" id="{60696FB1-D80F-8D59-37C8-6017FC464964}"/>
              </a:ext>
            </a:extLst>
          </p:cNvPr>
          <p:cNvSpPr txBox="1"/>
          <p:nvPr/>
        </p:nvSpPr>
        <p:spPr bwMode="auto">
          <a:xfrm>
            <a:off x="7266137" y="1639071"/>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⑥</a:t>
            </a:r>
            <a:endParaRPr kumimoji="1" lang="en-US" altLang="ja-JP" sz="1200" dirty="0">
              <a:solidFill>
                <a:srgbClr val="FF0000"/>
              </a:solidFill>
              <a:latin typeface="Meiryo UI" panose="020B0604030504040204" pitchFamily="50" charset="-128"/>
              <a:ea typeface="Meiryo UI" panose="020B0604030504040204" pitchFamily="50" charset="-128"/>
            </a:endParaRPr>
          </a:p>
        </p:txBody>
      </p:sp>
      <p:sp>
        <p:nvSpPr>
          <p:cNvPr id="266" name="正方形/長方形 265">
            <a:extLst>
              <a:ext uri="{FF2B5EF4-FFF2-40B4-BE49-F238E27FC236}">
                <a16:creationId xmlns:a16="http://schemas.microsoft.com/office/drawing/2014/main" id="{7EA6C236-B91D-8A8B-0D83-AE1DD235FA52}"/>
              </a:ext>
            </a:extLst>
          </p:cNvPr>
          <p:cNvSpPr/>
          <p:nvPr/>
        </p:nvSpPr>
        <p:spPr>
          <a:xfrm>
            <a:off x="2273159" y="3170332"/>
            <a:ext cx="116770" cy="265386"/>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7" name="正方形/長方形 266">
            <a:extLst>
              <a:ext uri="{FF2B5EF4-FFF2-40B4-BE49-F238E27FC236}">
                <a16:creationId xmlns:a16="http://schemas.microsoft.com/office/drawing/2014/main" id="{94711B43-D6B9-C4F5-334E-C38132BBF0D3}"/>
              </a:ext>
            </a:extLst>
          </p:cNvPr>
          <p:cNvSpPr/>
          <p:nvPr/>
        </p:nvSpPr>
        <p:spPr>
          <a:xfrm>
            <a:off x="2433696" y="3179566"/>
            <a:ext cx="116770" cy="255700"/>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8" name="正方形/長方形 267">
            <a:extLst>
              <a:ext uri="{FF2B5EF4-FFF2-40B4-BE49-F238E27FC236}">
                <a16:creationId xmlns:a16="http://schemas.microsoft.com/office/drawing/2014/main" id="{355F02F8-78DD-3C37-8DCF-2CFBC8827A6E}"/>
              </a:ext>
            </a:extLst>
          </p:cNvPr>
          <p:cNvSpPr/>
          <p:nvPr/>
        </p:nvSpPr>
        <p:spPr>
          <a:xfrm>
            <a:off x="2597605" y="3190728"/>
            <a:ext cx="116770" cy="244538"/>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9" name="正方形/長方形 268">
            <a:extLst>
              <a:ext uri="{FF2B5EF4-FFF2-40B4-BE49-F238E27FC236}">
                <a16:creationId xmlns:a16="http://schemas.microsoft.com/office/drawing/2014/main" id="{33A2C961-A6DE-6E8A-73CD-9E845011236B}"/>
              </a:ext>
            </a:extLst>
          </p:cNvPr>
          <p:cNvSpPr/>
          <p:nvPr/>
        </p:nvSpPr>
        <p:spPr>
          <a:xfrm>
            <a:off x="2758691" y="3197866"/>
            <a:ext cx="116770" cy="237852"/>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0" name="正方形/長方形 269">
            <a:extLst>
              <a:ext uri="{FF2B5EF4-FFF2-40B4-BE49-F238E27FC236}">
                <a16:creationId xmlns:a16="http://schemas.microsoft.com/office/drawing/2014/main" id="{185284BD-BA17-671D-FCC7-3953A303CB44}"/>
              </a:ext>
            </a:extLst>
          </p:cNvPr>
          <p:cNvSpPr/>
          <p:nvPr/>
        </p:nvSpPr>
        <p:spPr>
          <a:xfrm>
            <a:off x="2927528" y="3198885"/>
            <a:ext cx="116770" cy="236381"/>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1" name="正方形/長方形 270">
            <a:extLst>
              <a:ext uri="{FF2B5EF4-FFF2-40B4-BE49-F238E27FC236}">
                <a16:creationId xmlns:a16="http://schemas.microsoft.com/office/drawing/2014/main" id="{ECA6FBAB-CF8A-A267-C311-337E7D0695F1}"/>
              </a:ext>
            </a:extLst>
          </p:cNvPr>
          <p:cNvSpPr/>
          <p:nvPr/>
        </p:nvSpPr>
        <p:spPr>
          <a:xfrm>
            <a:off x="3090457" y="3203291"/>
            <a:ext cx="116770" cy="231976"/>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2" name="正方形/長方形 271">
            <a:extLst>
              <a:ext uri="{FF2B5EF4-FFF2-40B4-BE49-F238E27FC236}">
                <a16:creationId xmlns:a16="http://schemas.microsoft.com/office/drawing/2014/main" id="{378B0E02-BAEE-484C-4497-1A41150EFCC2}"/>
              </a:ext>
            </a:extLst>
          </p:cNvPr>
          <p:cNvSpPr/>
          <p:nvPr/>
        </p:nvSpPr>
        <p:spPr>
          <a:xfrm>
            <a:off x="3253386" y="3203290"/>
            <a:ext cx="116770" cy="231976"/>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3" name="正方形/長方形 272">
            <a:extLst>
              <a:ext uri="{FF2B5EF4-FFF2-40B4-BE49-F238E27FC236}">
                <a16:creationId xmlns:a16="http://schemas.microsoft.com/office/drawing/2014/main" id="{4AABA3E2-30C4-49B3-51BA-1D9C1768DD5F}"/>
              </a:ext>
            </a:extLst>
          </p:cNvPr>
          <p:cNvSpPr/>
          <p:nvPr/>
        </p:nvSpPr>
        <p:spPr>
          <a:xfrm>
            <a:off x="3418371" y="3205195"/>
            <a:ext cx="116770" cy="230071"/>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4" name="正方形/長方形 273">
            <a:extLst>
              <a:ext uri="{FF2B5EF4-FFF2-40B4-BE49-F238E27FC236}">
                <a16:creationId xmlns:a16="http://schemas.microsoft.com/office/drawing/2014/main" id="{CFA5EC2E-FCFB-A54E-A1F8-2ECAF00445EE}"/>
              </a:ext>
            </a:extLst>
          </p:cNvPr>
          <p:cNvSpPr/>
          <p:nvPr/>
        </p:nvSpPr>
        <p:spPr>
          <a:xfrm>
            <a:off x="3584214" y="3222009"/>
            <a:ext cx="116770" cy="213257"/>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5" name="正方形/長方形 274">
            <a:extLst>
              <a:ext uri="{FF2B5EF4-FFF2-40B4-BE49-F238E27FC236}">
                <a16:creationId xmlns:a16="http://schemas.microsoft.com/office/drawing/2014/main" id="{D46666A6-4C36-E987-EC0C-29C81391AEFD}"/>
              </a:ext>
            </a:extLst>
          </p:cNvPr>
          <p:cNvSpPr/>
          <p:nvPr/>
        </p:nvSpPr>
        <p:spPr>
          <a:xfrm>
            <a:off x="3748907" y="3229659"/>
            <a:ext cx="116770" cy="205607"/>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6" name="正方形/長方形 275">
            <a:extLst>
              <a:ext uri="{FF2B5EF4-FFF2-40B4-BE49-F238E27FC236}">
                <a16:creationId xmlns:a16="http://schemas.microsoft.com/office/drawing/2014/main" id="{0C176D5D-0485-D1AD-97ED-04E5EC546605}"/>
              </a:ext>
            </a:extLst>
          </p:cNvPr>
          <p:cNvSpPr/>
          <p:nvPr/>
        </p:nvSpPr>
        <p:spPr>
          <a:xfrm>
            <a:off x="3910153" y="3240445"/>
            <a:ext cx="116770" cy="194505"/>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7" name="正方形/長方形 276">
            <a:extLst>
              <a:ext uri="{FF2B5EF4-FFF2-40B4-BE49-F238E27FC236}">
                <a16:creationId xmlns:a16="http://schemas.microsoft.com/office/drawing/2014/main" id="{A8CBC1CA-D6CC-21B0-B1E1-B3C8A625C597}"/>
              </a:ext>
            </a:extLst>
          </p:cNvPr>
          <p:cNvSpPr/>
          <p:nvPr/>
        </p:nvSpPr>
        <p:spPr>
          <a:xfrm>
            <a:off x="4074760" y="3250315"/>
            <a:ext cx="116770" cy="187475"/>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8" name="正方形/長方形 277">
            <a:extLst>
              <a:ext uri="{FF2B5EF4-FFF2-40B4-BE49-F238E27FC236}">
                <a16:creationId xmlns:a16="http://schemas.microsoft.com/office/drawing/2014/main" id="{D49FCE8A-6A57-56B6-E5CA-5171686D4A74}"/>
              </a:ext>
            </a:extLst>
          </p:cNvPr>
          <p:cNvSpPr/>
          <p:nvPr/>
        </p:nvSpPr>
        <p:spPr>
          <a:xfrm>
            <a:off x="4238306" y="3258949"/>
            <a:ext cx="116770" cy="176002"/>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9" name="正方形/長方形 278">
            <a:extLst>
              <a:ext uri="{FF2B5EF4-FFF2-40B4-BE49-F238E27FC236}">
                <a16:creationId xmlns:a16="http://schemas.microsoft.com/office/drawing/2014/main" id="{3732833F-80FA-3B1E-42C9-96561466C6A9}"/>
              </a:ext>
            </a:extLst>
          </p:cNvPr>
          <p:cNvSpPr/>
          <p:nvPr/>
        </p:nvSpPr>
        <p:spPr>
          <a:xfrm>
            <a:off x="4401451" y="3265842"/>
            <a:ext cx="116770" cy="169108"/>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0" name="正方形/長方形 279">
            <a:extLst>
              <a:ext uri="{FF2B5EF4-FFF2-40B4-BE49-F238E27FC236}">
                <a16:creationId xmlns:a16="http://schemas.microsoft.com/office/drawing/2014/main" id="{EC5395FA-2859-FD24-858E-5F6706CDCC93}"/>
              </a:ext>
            </a:extLst>
          </p:cNvPr>
          <p:cNvSpPr/>
          <p:nvPr/>
        </p:nvSpPr>
        <p:spPr>
          <a:xfrm>
            <a:off x="4570519" y="3275712"/>
            <a:ext cx="116770" cy="163239"/>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1" name="正方形/長方形 280">
            <a:extLst>
              <a:ext uri="{FF2B5EF4-FFF2-40B4-BE49-F238E27FC236}">
                <a16:creationId xmlns:a16="http://schemas.microsoft.com/office/drawing/2014/main" id="{DF5C53EB-3944-1789-00FE-FB5CDC245158}"/>
              </a:ext>
            </a:extLst>
          </p:cNvPr>
          <p:cNvSpPr/>
          <p:nvPr/>
        </p:nvSpPr>
        <p:spPr>
          <a:xfrm>
            <a:off x="4730541" y="3278978"/>
            <a:ext cx="116770" cy="159973"/>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2" name="正方形/長方形 281">
            <a:extLst>
              <a:ext uri="{FF2B5EF4-FFF2-40B4-BE49-F238E27FC236}">
                <a16:creationId xmlns:a16="http://schemas.microsoft.com/office/drawing/2014/main" id="{428D517E-351E-2CA6-68DD-D3AA36AEDA4D}"/>
              </a:ext>
            </a:extLst>
          </p:cNvPr>
          <p:cNvSpPr/>
          <p:nvPr/>
        </p:nvSpPr>
        <p:spPr>
          <a:xfrm>
            <a:off x="4896372" y="3291908"/>
            <a:ext cx="116770" cy="147043"/>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4" name="正方形/長方形 283">
            <a:extLst>
              <a:ext uri="{FF2B5EF4-FFF2-40B4-BE49-F238E27FC236}">
                <a16:creationId xmlns:a16="http://schemas.microsoft.com/office/drawing/2014/main" id="{A21E6692-DE78-BD62-0DE1-F24FB4AC779A}"/>
              </a:ext>
            </a:extLst>
          </p:cNvPr>
          <p:cNvSpPr/>
          <p:nvPr/>
        </p:nvSpPr>
        <p:spPr>
          <a:xfrm>
            <a:off x="5060855" y="3303247"/>
            <a:ext cx="116770" cy="134544"/>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5" name="正方形/長方形 284">
            <a:extLst>
              <a:ext uri="{FF2B5EF4-FFF2-40B4-BE49-F238E27FC236}">
                <a16:creationId xmlns:a16="http://schemas.microsoft.com/office/drawing/2014/main" id="{B88EA60C-C91B-5B78-9CC2-E2E8324B8D20}"/>
              </a:ext>
            </a:extLst>
          </p:cNvPr>
          <p:cNvSpPr/>
          <p:nvPr/>
        </p:nvSpPr>
        <p:spPr>
          <a:xfrm>
            <a:off x="5223063" y="3307416"/>
            <a:ext cx="116770" cy="130336"/>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6" name="正方形/長方形 285">
            <a:extLst>
              <a:ext uri="{FF2B5EF4-FFF2-40B4-BE49-F238E27FC236}">
                <a16:creationId xmlns:a16="http://schemas.microsoft.com/office/drawing/2014/main" id="{04BA802A-C140-7A07-D4C8-FA8EF96BAD9C}"/>
              </a:ext>
            </a:extLst>
          </p:cNvPr>
          <p:cNvSpPr/>
          <p:nvPr/>
        </p:nvSpPr>
        <p:spPr>
          <a:xfrm>
            <a:off x="5388780" y="3311226"/>
            <a:ext cx="116770" cy="126025"/>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7" name="正方形/長方形 286">
            <a:extLst>
              <a:ext uri="{FF2B5EF4-FFF2-40B4-BE49-F238E27FC236}">
                <a16:creationId xmlns:a16="http://schemas.microsoft.com/office/drawing/2014/main" id="{A29C88E7-1CA6-63F0-20DA-4CA44C8F8EB6}"/>
              </a:ext>
            </a:extLst>
          </p:cNvPr>
          <p:cNvSpPr/>
          <p:nvPr/>
        </p:nvSpPr>
        <p:spPr>
          <a:xfrm>
            <a:off x="5552413" y="3320440"/>
            <a:ext cx="116770" cy="118511"/>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8" name="正方形/長方形 287">
            <a:extLst>
              <a:ext uri="{FF2B5EF4-FFF2-40B4-BE49-F238E27FC236}">
                <a16:creationId xmlns:a16="http://schemas.microsoft.com/office/drawing/2014/main" id="{AD41B605-EDDE-9C81-C636-CC7D6DB948C2}"/>
              </a:ext>
            </a:extLst>
          </p:cNvPr>
          <p:cNvSpPr/>
          <p:nvPr/>
        </p:nvSpPr>
        <p:spPr>
          <a:xfrm>
            <a:off x="5716531" y="3324809"/>
            <a:ext cx="116770" cy="110141"/>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9" name="正方形/長方形 288">
            <a:extLst>
              <a:ext uri="{FF2B5EF4-FFF2-40B4-BE49-F238E27FC236}">
                <a16:creationId xmlns:a16="http://schemas.microsoft.com/office/drawing/2014/main" id="{7E807D89-B128-34FA-4876-74EE5989798A}"/>
              </a:ext>
            </a:extLst>
          </p:cNvPr>
          <p:cNvSpPr/>
          <p:nvPr/>
        </p:nvSpPr>
        <p:spPr>
          <a:xfrm>
            <a:off x="5881009" y="3327517"/>
            <a:ext cx="116770" cy="107611"/>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0" name="正方形/長方形 289">
            <a:extLst>
              <a:ext uri="{FF2B5EF4-FFF2-40B4-BE49-F238E27FC236}">
                <a16:creationId xmlns:a16="http://schemas.microsoft.com/office/drawing/2014/main" id="{8215CF95-0887-42F1-4559-2D8B3855E097}"/>
              </a:ext>
            </a:extLst>
          </p:cNvPr>
          <p:cNvSpPr/>
          <p:nvPr/>
        </p:nvSpPr>
        <p:spPr>
          <a:xfrm>
            <a:off x="6043938" y="3330923"/>
            <a:ext cx="116770" cy="104205"/>
          </a:xfrm>
          <a:prstGeom prst="rect">
            <a:avLst/>
          </a:prstGeom>
          <a:solidFill>
            <a:srgbClr val="578E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1" name="四角形: 角を丸くする 230">
            <a:extLst>
              <a:ext uri="{FF2B5EF4-FFF2-40B4-BE49-F238E27FC236}">
                <a16:creationId xmlns:a16="http://schemas.microsoft.com/office/drawing/2014/main" id="{CF338E18-5816-18D2-1E04-E0F574771A29}"/>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291" name="テキスト ボックス 290">
            <a:extLst>
              <a:ext uri="{FF2B5EF4-FFF2-40B4-BE49-F238E27FC236}">
                <a16:creationId xmlns:a16="http://schemas.microsoft.com/office/drawing/2014/main" id="{E4CA90CE-F4A6-235F-4472-73067B326198}"/>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grpSp>
        <p:nvGrpSpPr>
          <p:cNvPr id="293" name="グループ化 292">
            <a:extLst>
              <a:ext uri="{FF2B5EF4-FFF2-40B4-BE49-F238E27FC236}">
                <a16:creationId xmlns:a16="http://schemas.microsoft.com/office/drawing/2014/main" id="{3B57F7E8-A091-782C-50BD-515C67F14512}"/>
              </a:ext>
            </a:extLst>
          </p:cNvPr>
          <p:cNvGrpSpPr/>
          <p:nvPr/>
        </p:nvGrpSpPr>
        <p:grpSpPr>
          <a:xfrm>
            <a:off x="1931964" y="3755490"/>
            <a:ext cx="4344710" cy="147786"/>
            <a:chOff x="1931964" y="3755490"/>
            <a:chExt cx="4344710" cy="147786"/>
          </a:xfrm>
        </p:grpSpPr>
        <p:pic>
          <p:nvPicPr>
            <p:cNvPr id="283" name="図 282">
              <a:extLst>
                <a:ext uri="{FF2B5EF4-FFF2-40B4-BE49-F238E27FC236}">
                  <a16:creationId xmlns:a16="http://schemas.microsoft.com/office/drawing/2014/main" id="{5533561E-9ADB-77AA-D300-ECB593CE4727}"/>
                </a:ext>
              </a:extLst>
            </p:cNvPr>
            <p:cNvPicPr>
              <a:picLocks noChangeAspect="1"/>
            </p:cNvPicPr>
            <p:nvPr/>
          </p:nvPicPr>
          <p:blipFill rotWithShape="1">
            <a:blip r:embed="rId6">
              <a:extLst>
                <a:ext uri="{28A0092B-C50C-407E-A947-70E740481C1C}">
                  <a14:useLocalDpi xmlns:a14="http://schemas.microsoft.com/office/drawing/2010/main" val="0"/>
                </a:ext>
              </a:extLst>
            </a:blip>
            <a:srcRect t="14885" b="25567"/>
            <a:stretch/>
          </p:blipFill>
          <p:spPr>
            <a:xfrm>
              <a:off x="1931964" y="3755490"/>
              <a:ext cx="4344710" cy="147786"/>
            </a:xfrm>
            <a:prstGeom prst="rect">
              <a:avLst/>
            </a:prstGeom>
          </p:spPr>
        </p:pic>
        <p:sp>
          <p:nvSpPr>
            <p:cNvPr id="292" name="正方形/長方形 291">
              <a:extLst>
                <a:ext uri="{FF2B5EF4-FFF2-40B4-BE49-F238E27FC236}">
                  <a16:creationId xmlns:a16="http://schemas.microsoft.com/office/drawing/2014/main" id="{390F1E82-2A4C-9F73-4B4C-17D1FDE4D291}"/>
                </a:ext>
              </a:extLst>
            </p:cNvPr>
            <p:cNvSpPr/>
            <p:nvPr/>
          </p:nvSpPr>
          <p:spPr>
            <a:xfrm>
              <a:off x="3626603" y="3787785"/>
              <a:ext cx="2181802" cy="978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Tree>
    <p:extLst>
      <p:ext uri="{BB962C8B-B14F-4D97-AF65-F5344CB8AC3E}">
        <p14:creationId xmlns:p14="http://schemas.microsoft.com/office/powerpoint/2010/main" val="4216671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4DE7E2EB-4141-5142-329B-47FEE45421CB}"/>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画面要件</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②</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a:t>
            </a:r>
            <a:r>
              <a:rPr lang="ja-JP" altLang="en-US" sz="2000" b="0" dirty="0">
                <a:solidFill>
                  <a:srgbClr val="000000"/>
                </a:solidFill>
                <a:cs typeface="+mn-cs"/>
              </a:rPr>
              <a:t>月々の推移</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」ページ</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a:t>
            </a:r>
            <a:r>
              <a:rPr lang="ja-JP" altLang="en-US" sz="2000" b="0" dirty="0">
                <a:solidFill>
                  <a:srgbClr val="000000"/>
                </a:solidFill>
                <a:cs typeface="+mn-cs"/>
              </a:rPr>
              <a:t>入居者個別推移</a:t>
            </a:r>
            <a:r>
              <a:rPr kumimoji="1" lang="en-US"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drawer</a:t>
            </a:r>
            <a:endParaRPr lang="ja-JP" altLang="ja-JP" dirty="0">
              <a:effectLst/>
            </a:endParaRPr>
          </a:p>
        </p:txBody>
      </p:sp>
      <p:sp>
        <p:nvSpPr>
          <p:cNvPr id="31" name="テキスト ボックス 30">
            <a:extLst>
              <a:ext uri="{FF2B5EF4-FFF2-40B4-BE49-F238E27FC236}">
                <a16:creationId xmlns:a16="http://schemas.microsoft.com/office/drawing/2014/main" id="{15E954A4-8AC0-8ECB-0D0F-3BBB6DACF683}"/>
              </a:ext>
            </a:extLst>
          </p:cNvPr>
          <p:cNvSpPr txBox="1"/>
          <p:nvPr/>
        </p:nvSpPr>
        <p:spPr bwMode="auto">
          <a:xfrm>
            <a:off x="7458453" y="1827563"/>
            <a:ext cx="4498411" cy="677108"/>
          </a:xfrm>
          <a:prstGeom prst="rect">
            <a:avLst/>
          </a:prstGeom>
          <a:noFill/>
          <a:ln w="6350">
            <a:solidFill>
              <a:schemeClr val="tx1"/>
            </a:solidFill>
            <a:miter lim="800000"/>
            <a:headEnd/>
            <a:tailEnd/>
          </a:ln>
        </p:spPr>
        <p:txBody>
          <a:bodyPr wrap="square" lIns="180000" rIns="180000" rtlCol="0" anchor="ctr">
            <a:spAutoFit/>
          </a:bodyPr>
          <a:lstStyle/>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期間フィルターで選択した期間のデータを日別ナースコールの回数を折れ線グラフで表示。</a:t>
            </a:r>
            <a:endParaRPr lang="en-US" altLang="ja-JP" sz="1100" dirty="0">
              <a:latin typeface="Meiryo UI" panose="020B0604030504040204" pitchFamily="50" charset="-128"/>
              <a:ea typeface="Meiryo UI" panose="020B0604030504040204" pitchFamily="50" charset="-128"/>
            </a:endParaRPr>
          </a:p>
          <a:p>
            <a:pPr>
              <a:spcBef>
                <a:spcPts val="600"/>
              </a:spcBef>
              <a:defRPr/>
            </a:pPr>
            <a:r>
              <a:rPr lang="ja-JP" altLang="en-US" sz="1100" dirty="0">
                <a:latin typeface="Meiryo UI" panose="020B0604030504040204" pitchFamily="50" charset="-128"/>
                <a:ea typeface="Meiryo UI" panose="020B0604030504040204" pitchFamily="50" charset="-128"/>
              </a:rPr>
              <a:t>補足：</a:t>
            </a:r>
            <a:r>
              <a:rPr lang="en-US" altLang="ja-JP" sz="1100" dirty="0">
                <a:latin typeface="Meiryo UI" panose="020B0604030504040204" pitchFamily="50" charset="-128"/>
                <a:ea typeface="Meiryo UI" panose="020B0604030504040204" pitchFamily="50" charset="-128"/>
              </a:rPr>
              <a:t>2023</a:t>
            </a:r>
            <a:r>
              <a:rPr lang="ja-JP" altLang="en-US" sz="1100" dirty="0">
                <a:latin typeface="Meiryo UI" panose="020B0604030504040204" pitchFamily="50" charset="-128"/>
                <a:ea typeface="Meiryo UI" panose="020B0604030504040204" pitchFamily="50" charset="-128"/>
              </a:rPr>
              <a:t>年</a:t>
            </a:r>
            <a:r>
              <a:rPr lang="en-US" altLang="ja-JP" sz="1100" dirty="0">
                <a:latin typeface="Meiryo UI" panose="020B0604030504040204" pitchFamily="50" charset="-128"/>
                <a:ea typeface="Meiryo UI" panose="020B0604030504040204" pitchFamily="50" charset="-128"/>
              </a:rPr>
              <a:t>10</a:t>
            </a:r>
            <a:r>
              <a:rPr lang="ja-JP" altLang="en-US" sz="1100" dirty="0">
                <a:latin typeface="Meiryo UI" panose="020B0604030504040204" pitchFamily="50" charset="-128"/>
                <a:ea typeface="Meiryo UI" panose="020B0604030504040204" pitchFamily="50" charset="-128"/>
              </a:rPr>
              <a:t>月現在のナースコールモニターの仕様を再現する。</a:t>
            </a:r>
            <a:endParaRPr lang="en-US" altLang="ja-JP" sz="1100" dirty="0">
              <a:latin typeface="Meiryo UI" panose="020B0604030504040204" pitchFamily="50" charset="-128"/>
              <a:ea typeface="Meiryo UI" panose="020B0604030504040204" pitchFamily="50" charset="-128"/>
            </a:endParaRPr>
          </a:p>
        </p:txBody>
      </p:sp>
      <p:sp>
        <p:nvSpPr>
          <p:cNvPr id="225" name="テキスト ボックス 224">
            <a:extLst>
              <a:ext uri="{FF2B5EF4-FFF2-40B4-BE49-F238E27FC236}">
                <a16:creationId xmlns:a16="http://schemas.microsoft.com/office/drawing/2014/main" id="{45E07398-DFBD-C129-2662-F0EDBAAB1DF5}"/>
              </a:ext>
            </a:extLst>
          </p:cNvPr>
          <p:cNvSpPr txBox="1"/>
          <p:nvPr/>
        </p:nvSpPr>
        <p:spPr bwMode="auto">
          <a:xfrm>
            <a:off x="7458453" y="3404261"/>
            <a:ext cx="4498410" cy="754053"/>
          </a:xfrm>
          <a:prstGeom prst="rect">
            <a:avLst/>
          </a:prstGeom>
          <a:noFill/>
          <a:ln w="6350">
            <a:solidFill>
              <a:schemeClr val="tx1"/>
            </a:solidFill>
            <a:miter lim="800000"/>
            <a:headEnd/>
            <a:tailEnd/>
          </a:ln>
        </p:spPr>
        <p:txBody>
          <a:bodyPr wrap="square" lIns="180000" rIns="180000" rtlCol="0" anchor="t">
            <a:spAutoFit/>
          </a:bodyPr>
          <a:lstStyle/>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曜日別のナースコールの回数を棒グラフで表示する。</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横軸に曜日別に集合で表示。各曜日の週単位集計を色分けし表示。</a:t>
            </a:r>
            <a:endParaRPr lang="en-US" altLang="ja-JP" sz="1100" dirty="0">
              <a:latin typeface="Meiryo UI" panose="020B0604030504040204" pitchFamily="50" charset="-128"/>
              <a:ea typeface="Meiryo UI" panose="020B0604030504040204" pitchFamily="50" charset="-128"/>
            </a:endParaRPr>
          </a:p>
          <a:p>
            <a:pPr>
              <a:spcBef>
                <a:spcPts val="600"/>
              </a:spcBef>
              <a:defRPr/>
            </a:pPr>
            <a:r>
              <a:rPr lang="ja-JP" altLang="en-US" sz="1100" dirty="0">
                <a:latin typeface="Meiryo UI" panose="020B0604030504040204" pitchFamily="50" charset="-128"/>
                <a:ea typeface="Meiryo UI" panose="020B0604030504040204" pitchFamily="50" charset="-128"/>
              </a:rPr>
              <a:t>補足：</a:t>
            </a:r>
            <a:r>
              <a:rPr lang="en-US" altLang="ja-JP" sz="1100" dirty="0">
                <a:latin typeface="Meiryo UI" panose="020B0604030504040204" pitchFamily="50" charset="-128"/>
                <a:ea typeface="Meiryo UI" panose="020B0604030504040204" pitchFamily="50" charset="-128"/>
              </a:rPr>
              <a:t>2023</a:t>
            </a:r>
            <a:r>
              <a:rPr lang="ja-JP" altLang="en-US" sz="1100" dirty="0">
                <a:latin typeface="Meiryo UI" panose="020B0604030504040204" pitchFamily="50" charset="-128"/>
                <a:ea typeface="Meiryo UI" panose="020B0604030504040204" pitchFamily="50" charset="-128"/>
              </a:rPr>
              <a:t>年</a:t>
            </a:r>
            <a:r>
              <a:rPr lang="en-US" altLang="ja-JP" sz="1100" dirty="0">
                <a:latin typeface="Meiryo UI" panose="020B0604030504040204" pitchFamily="50" charset="-128"/>
                <a:ea typeface="Meiryo UI" panose="020B0604030504040204" pitchFamily="50" charset="-128"/>
              </a:rPr>
              <a:t>10</a:t>
            </a:r>
            <a:r>
              <a:rPr lang="ja-JP" altLang="en-US" sz="1100" dirty="0">
                <a:latin typeface="Meiryo UI" panose="020B0604030504040204" pitchFamily="50" charset="-128"/>
                <a:ea typeface="Meiryo UI" panose="020B0604030504040204" pitchFamily="50" charset="-128"/>
              </a:rPr>
              <a:t>月現在のナースコールモニターの仕様を再現する。</a:t>
            </a:r>
            <a:endParaRPr lang="en-US" altLang="ja-JP" sz="1100" dirty="0">
              <a:latin typeface="Meiryo UI" panose="020B0604030504040204" pitchFamily="50" charset="-128"/>
              <a:ea typeface="Meiryo UI" panose="020B0604030504040204" pitchFamily="50" charset="-128"/>
            </a:endParaRPr>
          </a:p>
        </p:txBody>
      </p:sp>
      <p:cxnSp>
        <p:nvCxnSpPr>
          <p:cNvPr id="235" name="直線矢印コネクタ 234">
            <a:extLst>
              <a:ext uri="{FF2B5EF4-FFF2-40B4-BE49-F238E27FC236}">
                <a16:creationId xmlns:a16="http://schemas.microsoft.com/office/drawing/2014/main" id="{2D246B7E-1FEE-1B38-0930-8DC5B7FDBA42}"/>
              </a:ext>
            </a:extLst>
          </p:cNvPr>
          <p:cNvCxnSpPr>
            <a:cxnSpLocks/>
            <a:stCxn id="232" idx="2"/>
            <a:endCxn id="255" idx="1"/>
          </p:cNvCxnSpPr>
          <p:nvPr/>
        </p:nvCxnSpPr>
        <p:spPr>
          <a:xfrm rot="16200000" flipH="1">
            <a:off x="762290" y="5712401"/>
            <a:ext cx="625605" cy="373014"/>
          </a:xfrm>
          <a:prstGeom prst="bentConnector2">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grpSp>
        <p:nvGrpSpPr>
          <p:cNvPr id="21" name="グループ化 20">
            <a:extLst>
              <a:ext uri="{FF2B5EF4-FFF2-40B4-BE49-F238E27FC236}">
                <a16:creationId xmlns:a16="http://schemas.microsoft.com/office/drawing/2014/main" id="{4E993B39-4FEC-CC90-3C74-FF06C220FF52}"/>
              </a:ext>
            </a:extLst>
          </p:cNvPr>
          <p:cNvGrpSpPr/>
          <p:nvPr/>
        </p:nvGrpSpPr>
        <p:grpSpPr>
          <a:xfrm>
            <a:off x="1261599" y="5711574"/>
            <a:ext cx="7420848" cy="1000274"/>
            <a:chOff x="-9839780" y="6488822"/>
            <a:chExt cx="13279380" cy="1000274"/>
          </a:xfrm>
        </p:grpSpPr>
        <p:sp>
          <p:nvSpPr>
            <p:cNvPr id="255" name="テキスト ボックス 254">
              <a:extLst>
                <a:ext uri="{FF2B5EF4-FFF2-40B4-BE49-F238E27FC236}">
                  <a16:creationId xmlns:a16="http://schemas.microsoft.com/office/drawing/2014/main" id="{AEB7026D-EE26-2FFC-D081-DC83F32C71EF}"/>
                </a:ext>
              </a:extLst>
            </p:cNvPr>
            <p:cNvSpPr txBox="1"/>
            <p:nvPr/>
          </p:nvSpPr>
          <p:spPr bwMode="auto">
            <a:xfrm>
              <a:off x="-9839780" y="6488822"/>
              <a:ext cx="13279380" cy="1000274"/>
            </a:xfrm>
            <a:prstGeom prst="rect">
              <a:avLst/>
            </a:prstGeom>
            <a:noFill/>
            <a:ln w="6350">
              <a:solidFill>
                <a:schemeClr val="tx1"/>
              </a:solidFill>
              <a:miter lim="800000"/>
              <a:headEnd/>
              <a:tailEnd/>
            </a:ln>
          </p:spPr>
          <p:txBody>
            <a:bodyPr wrap="square" lIns="180000" rIns="180000" rtlCol="0" anchor="t">
              <a:spAutoFit/>
            </a:bodyPr>
            <a:lstStyle/>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期間フィルターの上部に入居者名</a:t>
              </a:r>
              <a:r>
                <a:rPr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前項テーブルの最下行を選択すれば合計</a:t>
              </a:r>
              <a:r>
                <a:rPr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を表示。</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表示任意の期間の開始、終了をそれぞれ今日、日数、週数、月数、年数、無制限の方法で選択できる。</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「無制限」を選択すれば、任意期間の開始と終了のそれぞれで存在する全てのデータを抽出する。</a:t>
              </a:r>
              <a:endParaRPr lang="en-US" altLang="ja-JP" sz="1100" dirty="0">
                <a:latin typeface="Meiryo UI" panose="020B0604030504040204" pitchFamily="50" charset="-128"/>
                <a:ea typeface="Meiryo UI" panose="020B0604030504040204" pitchFamily="50" charset="-128"/>
              </a:endParaRPr>
            </a:p>
            <a:p>
              <a:pPr>
                <a:spcBef>
                  <a:spcPts val="600"/>
                </a:spcBef>
                <a:defRPr/>
              </a:pPr>
              <a:r>
                <a:rPr lang="ja-JP" altLang="en-US" sz="1100" dirty="0">
                  <a:latin typeface="Meiryo UI" panose="020B0604030504040204" pitchFamily="50" charset="-128"/>
                  <a:ea typeface="Meiryo UI" panose="020B0604030504040204" pitchFamily="50" charset="-128"/>
                </a:rPr>
                <a:t>補足：</a:t>
              </a:r>
              <a:r>
                <a:rPr lang="en-US" altLang="ja-JP" sz="1100" dirty="0">
                  <a:latin typeface="Meiryo UI" panose="020B0604030504040204" pitchFamily="50" charset="-128"/>
                  <a:ea typeface="Meiryo UI" panose="020B0604030504040204" pitchFamily="50" charset="-128"/>
                </a:rPr>
                <a:t>2023</a:t>
              </a:r>
              <a:r>
                <a:rPr lang="ja-JP" altLang="en-US" sz="1100" dirty="0">
                  <a:latin typeface="Meiryo UI" panose="020B0604030504040204" pitchFamily="50" charset="-128"/>
                  <a:ea typeface="Meiryo UI" panose="020B0604030504040204" pitchFamily="50" charset="-128"/>
                </a:rPr>
                <a:t>年</a:t>
              </a:r>
              <a:r>
                <a:rPr lang="en-US" altLang="ja-JP" sz="1100" dirty="0">
                  <a:latin typeface="Meiryo UI" panose="020B0604030504040204" pitchFamily="50" charset="-128"/>
                  <a:ea typeface="Meiryo UI" panose="020B0604030504040204" pitchFamily="50" charset="-128"/>
                </a:rPr>
                <a:t>10</a:t>
              </a:r>
              <a:r>
                <a:rPr lang="ja-JP" altLang="en-US" sz="1100" dirty="0">
                  <a:latin typeface="Meiryo UI" panose="020B0604030504040204" pitchFamily="50" charset="-128"/>
                  <a:ea typeface="Meiryo UI" panose="020B0604030504040204" pitchFamily="50" charset="-128"/>
                </a:rPr>
                <a:t>月現在のナースコールモニターで搭載されている「期間」の仕様</a:t>
              </a:r>
              <a:r>
                <a:rPr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右図</a:t>
              </a:r>
              <a:r>
                <a:rPr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を再現する。</a:t>
              </a:r>
              <a:endParaRPr lang="en-US" altLang="ja-JP" sz="1100" dirty="0">
                <a:latin typeface="Meiryo UI" panose="020B0604030504040204" pitchFamily="50" charset="-128"/>
                <a:ea typeface="Meiryo UI" panose="020B0604030504040204" pitchFamily="50" charset="-128"/>
              </a:endParaRPr>
            </a:p>
          </p:txBody>
        </p:sp>
        <p:pic>
          <p:nvPicPr>
            <p:cNvPr id="15" name="図 14">
              <a:extLst>
                <a:ext uri="{FF2B5EF4-FFF2-40B4-BE49-F238E27FC236}">
                  <a16:creationId xmlns:a16="http://schemas.microsoft.com/office/drawing/2014/main" id="{735B832F-43CF-CE89-6FEF-60C4175EA62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57788" y="6922224"/>
              <a:ext cx="2300173" cy="455534"/>
            </a:xfrm>
            <a:prstGeom prst="rect">
              <a:avLst/>
            </a:prstGeom>
          </p:spPr>
        </p:pic>
      </p:grpSp>
      <p:grpSp>
        <p:nvGrpSpPr>
          <p:cNvPr id="20" name="グループ化 19">
            <a:extLst>
              <a:ext uri="{FF2B5EF4-FFF2-40B4-BE49-F238E27FC236}">
                <a16:creationId xmlns:a16="http://schemas.microsoft.com/office/drawing/2014/main" id="{3A983CB4-D3BD-CDB8-6952-F2489A43F863}"/>
              </a:ext>
            </a:extLst>
          </p:cNvPr>
          <p:cNvGrpSpPr/>
          <p:nvPr/>
        </p:nvGrpSpPr>
        <p:grpSpPr>
          <a:xfrm>
            <a:off x="235133" y="1070597"/>
            <a:ext cx="6915754" cy="4530453"/>
            <a:chOff x="397763" y="1575838"/>
            <a:chExt cx="6861291" cy="4494775"/>
          </a:xfrm>
        </p:grpSpPr>
        <p:grpSp>
          <p:nvGrpSpPr>
            <p:cNvPr id="29" name="グループ化 28">
              <a:extLst>
                <a:ext uri="{FF2B5EF4-FFF2-40B4-BE49-F238E27FC236}">
                  <a16:creationId xmlns:a16="http://schemas.microsoft.com/office/drawing/2014/main" id="{6059B6D9-47F9-4CD8-F37E-CC21FB24A88F}"/>
                </a:ext>
              </a:extLst>
            </p:cNvPr>
            <p:cNvGrpSpPr/>
            <p:nvPr/>
          </p:nvGrpSpPr>
          <p:grpSpPr>
            <a:xfrm>
              <a:off x="397766" y="1575838"/>
              <a:ext cx="6861288" cy="4494775"/>
              <a:chOff x="333516" y="1057520"/>
              <a:chExt cx="9672785" cy="6336565"/>
            </a:xfrm>
          </p:grpSpPr>
          <p:pic>
            <p:nvPicPr>
              <p:cNvPr id="10" name="図 9">
                <a:extLst>
                  <a:ext uri="{FF2B5EF4-FFF2-40B4-BE49-F238E27FC236}">
                    <a16:creationId xmlns:a16="http://schemas.microsoft.com/office/drawing/2014/main" id="{B2F4A5F8-A96D-4425-E29E-39726A40D3A0}"/>
                  </a:ext>
                </a:extLst>
              </p:cNvPr>
              <p:cNvPicPr>
                <a:picLocks noChangeAspect="1"/>
              </p:cNvPicPr>
              <p:nvPr/>
            </p:nvPicPr>
            <p:blipFill rotWithShape="1">
              <a:blip r:embed="rId4"/>
              <a:srcRect l="89" r="-1" b="25711"/>
              <a:stretch/>
            </p:blipFill>
            <p:spPr>
              <a:xfrm>
                <a:off x="333516" y="1057520"/>
                <a:ext cx="9672784" cy="3646003"/>
              </a:xfrm>
              <a:prstGeom prst="rect">
                <a:avLst/>
              </a:prstGeom>
            </p:spPr>
          </p:pic>
          <p:pic>
            <p:nvPicPr>
              <p:cNvPr id="28" name="図 27">
                <a:extLst>
                  <a:ext uri="{FF2B5EF4-FFF2-40B4-BE49-F238E27FC236}">
                    <a16:creationId xmlns:a16="http://schemas.microsoft.com/office/drawing/2014/main" id="{BF8D293C-9EBF-DEC7-C123-80DA390D6F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29634" y="5810778"/>
                <a:ext cx="7776667" cy="1583307"/>
              </a:xfrm>
              <a:prstGeom prst="rect">
                <a:avLst/>
              </a:prstGeom>
            </p:spPr>
          </p:pic>
        </p:grpSp>
        <p:sp>
          <p:nvSpPr>
            <p:cNvPr id="263" name="正方形/長方形 262">
              <a:extLst>
                <a:ext uri="{FF2B5EF4-FFF2-40B4-BE49-F238E27FC236}">
                  <a16:creationId xmlns:a16="http://schemas.microsoft.com/office/drawing/2014/main" id="{C86FD35C-BF99-D556-C65F-042209CAAF6D}"/>
                </a:ext>
              </a:extLst>
            </p:cNvPr>
            <p:cNvSpPr/>
            <p:nvPr/>
          </p:nvSpPr>
          <p:spPr>
            <a:xfrm>
              <a:off x="488680" y="1832189"/>
              <a:ext cx="1170803" cy="2909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dirty="0">
                  <a:solidFill>
                    <a:schemeClr val="tx1"/>
                  </a:solidFill>
                  <a:latin typeface="Meiryo UI" panose="020B0604030504040204" pitchFamily="50" charset="-128"/>
                  <a:ea typeface="Meiryo UI" panose="020B0604030504040204" pitchFamily="50" charset="-128"/>
                </a:rPr>
                <a:t>入居者名</a:t>
              </a:r>
              <a:endParaRPr kumimoji="1" lang="ja-JP" altLang="en-US" sz="800" dirty="0">
                <a:solidFill>
                  <a:schemeClr val="tx1"/>
                </a:solidFill>
                <a:latin typeface="Meiryo UI" panose="020B0604030504040204" pitchFamily="50" charset="-128"/>
                <a:ea typeface="Meiryo UI" panose="020B0604030504040204" pitchFamily="50" charset="-128"/>
              </a:endParaRPr>
            </a:p>
          </p:txBody>
        </p:sp>
        <p:pic>
          <p:nvPicPr>
            <p:cNvPr id="3" name="図 2">
              <a:extLst>
                <a:ext uri="{FF2B5EF4-FFF2-40B4-BE49-F238E27FC236}">
                  <a16:creationId xmlns:a16="http://schemas.microsoft.com/office/drawing/2014/main" id="{B409558F-25DB-A35B-6F4D-A7FA85C8B1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42758" y="3098852"/>
              <a:ext cx="5426587" cy="714024"/>
            </a:xfrm>
            <a:prstGeom prst="rect">
              <a:avLst/>
            </a:prstGeom>
          </p:spPr>
        </p:pic>
        <p:sp>
          <p:nvSpPr>
            <p:cNvPr id="232" name="正方形/長方形 231">
              <a:extLst>
                <a:ext uri="{FF2B5EF4-FFF2-40B4-BE49-F238E27FC236}">
                  <a16:creationId xmlns:a16="http://schemas.microsoft.com/office/drawing/2014/main" id="{293596AD-EA28-1ABB-1F8C-5CEFB4564E95}"/>
                </a:ext>
              </a:extLst>
            </p:cNvPr>
            <p:cNvSpPr/>
            <p:nvPr/>
          </p:nvSpPr>
          <p:spPr>
            <a:xfrm>
              <a:off x="397763" y="1746962"/>
              <a:ext cx="1296612" cy="4308825"/>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29" name="正方形/長方形 228">
              <a:extLst>
                <a:ext uri="{FF2B5EF4-FFF2-40B4-BE49-F238E27FC236}">
                  <a16:creationId xmlns:a16="http://schemas.microsoft.com/office/drawing/2014/main" id="{94A6D115-0EBB-4798-3102-51E871607080}"/>
                </a:ext>
              </a:extLst>
            </p:cNvPr>
            <p:cNvSpPr/>
            <p:nvPr/>
          </p:nvSpPr>
          <p:spPr>
            <a:xfrm>
              <a:off x="1733261" y="1750974"/>
              <a:ext cx="5426588" cy="1310834"/>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39EB4A7C-DF88-F579-873D-B228A3C9820E}"/>
                </a:ext>
              </a:extLst>
            </p:cNvPr>
            <p:cNvSpPr/>
            <p:nvPr/>
          </p:nvSpPr>
          <p:spPr>
            <a:xfrm>
              <a:off x="1733261" y="3104441"/>
              <a:ext cx="5426588" cy="678234"/>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pic>
          <p:nvPicPr>
            <p:cNvPr id="18" name="図 17">
              <a:extLst>
                <a:ext uri="{FF2B5EF4-FFF2-40B4-BE49-F238E27FC236}">
                  <a16:creationId xmlns:a16="http://schemas.microsoft.com/office/drawing/2014/main" id="{B5E09E81-4ADC-AEA4-AF31-7A3AC6B5AD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42756" y="3810089"/>
              <a:ext cx="5516297" cy="1142944"/>
            </a:xfrm>
            <a:prstGeom prst="rect">
              <a:avLst/>
            </a:prstGeom>
          </p:spPr>
        </p:pic>
        <p:sp>
          <p:nvSpPr>
            <p:cNvPr id="230" name="正方形/長方形 229">
              <a:extLst>
                <a:ext uri="{FF2B5EF4-FFF2-40B4-BE49-F238E27FC236}">
                  <a16:creationId xmlns:a16="http://schemas.microsoft.com/office/drawing/2014/main" id="{16A6C210-DF12-EDCB-9E58-0BECC096C7AF}"/>
                </a:ext>
              </a:extLst>
            </p:cNvPr>
            <p:cNvSpPr/>
            <p:nvPr/>
          </p:nvSpPr>
          <p:spPr>
            <a:xfrm>
              <a:off x="1737098" y="3818701"/>
              <a:ext cx="5426587" cy="1100285"/>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6119E428-1371-202D-7C2A-D311AAC8B539}"/>
                </a:ext>
              </a:extLst>
            </p:cNvPr>
            <p:cNvSpPr/>
            <p:nvPr/>
          </p:nvSpPr>
          <p:spPr>
            <a:xfrm>
              <a:off x="1733261" y="4955503"/>
              <a:ext cx="5426587" cy="1100285"/>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grpSp>
      <p:sp>
        <p:nvSpPr>
          <p:cNvPr id="227" name="テキスト ボックス 226">
            <a:extLst>
              <a:ext uri="{FF2B5EF4-FFF2-40B4-BE49-F238E27FC236}">
                <a16:creationId xmlns:a16="http://schemas.microsoft.com/office/drawing/2014/main" id="{12581906-7E19-76F0-9021-D1E9FACDBBA5}"/>
              </a:ext>
            </a:extLst>
          </p:cNvPr>
          <p:cNvSpPr txBox="1"/>
          <p:nvPr/>
        </p:nvSpPr>
        <p:spPr bwMode="auto">
          <a:xfrm>
            <a:off x="7326474" y="1070597"/>
            <a:ext cx="4412683" cy="600164"/>
          </a:xfrm>
          <a:prstGeom prst="rect">
            <a:avLst/>
          </a:prstGeom>
          <a:noFill/>
          <a:ln w="2540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altLang="ja-JP" sz="1400" dirty="0">
                <a:solidFill>
                  <a:prstClr val="black"/>
                </a:solidFill>
                <a:latin typeface="Meiryo UI" panose="020B0604030504040204" pitchFamily="50" charset="-128"/>
                <a:ea typeface="Meiryo UI" panose="020B0604030504040204" pitchFamily="50" charset="-128"/>
              </a:rPr>
              <a:t>5</a:t>
            </a:r>
            <a:r>
              <a:rPr lang="ja-JP" altLang="en-US" sz="1400" dirty="0">
                <a:solidFill>
                  <a:prstClr val="black"/>
                </a:solidFill>
                <a:latin typeface="Meiryo UI" panose="020B0604030504040204" pitchFamily="50" charset="-128"/>
                <a:ea typeface="Meiryo UI" panose="020B0604030504040204" pitchFamily="50" charset="-128"/>
              </a:rPr>
              <a:t>ヶ月前初日～前日の各月のデータを集計し表示。</a:t>
            </a:r>
            <a:endParaRPr lang="en-US" altLang="ja-JP" sz="1400" dirty="0">
              <a:solidFill>
                <a:prstClr val="black"/>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400" dirty="0">
                <a:latin typeface="Meiryo UI" panose="020B0604030504040204" pitchFamily="50" charset="-128"/>
                <a:ea typeface="Meiryo UI" panose="020B0604030504040204" pitchFamily="50" charset="-128"/>
              </a:rPr>
              <a:t>前日</a:t>
            </a:r>
            <a:r>
              <a:rPr lang="en-US" altLang="ja-JP" sz="1400" dirty="0">
                <a:latin typeface="Meiryo UI" panose="020B0604030504040204" pitchFamily="50" charset="-128"/>
                <a:ea typeface="Meiryo UI" panose="020B0604030504040204" pitchFamily="50" charset="-128"/>
              </a:rPr>
              <a:t>23:59</a:t>
            </a:r>
            <a:r>
              <a:rPr lang="ja-JP" altLang="en-US" sz="1400" dirty="0">
                <a:latin typeface="Meiryo UI" panose="020B0604030504040204" pitchFamily="50" charset="-128"/>
                <a:ea typeface="Meiryo UI" panose="020B0604030504040204" pitchFamily="50" charset="-128"/>
              </a:rPr>
              <a:t>までのデータを当日</a:t>
            </a:r>
            <a:r>
              <a:rPr lang="en-US" altLang="ja-JP" sz="1400" dirty="0">
                <a:latin typeface="Meiryo UI" panose="020B0604030504040204" pitchFamily="50" charset="-128"/>
                <a:ea typeface="Meiryo UI" panose="020B0604030504040204" pitchFamily="50" charset="-128"/>
              </a:rPr>
              <a:t>9:00</a:t>
            </a:r>
            <a:r>
              <a:rPr lang="ja-JP" altLang="en-US" sz="1400" dirty="0">
                <a:latin typeface="Meiryo UI" panose="020B0604030504040204" pitchFamily="50" charset="-128"/>
                <a:ea typeface="Meiryo UI" panose="020B0604030504040204" pitchFamily="50" charset="-128"/>
              </a:rPr>
              <a:t>までに更新。</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endParaRPr>
          </a:p>
        </p:txBody>
      </p:sp>
      <p:cxnSp>
        <p:nvCxnSpPr>
          <p:cNvPr id="30" name="直線矢印コネクタ 29">
            <a:extLst>
              <a:ext uri="{FF2B5EF4-FFF2-40B4-BE49-F238E27FC236}">
                <a16:creationId xmlns:a16="http://schemas.microsoft.com/office/drawing/2014/main" id="{4FAFE916-D25F-8548-4BE0-E402A3267292}"/>
              </a:ext>
            </a:extLst>
          </p:cNvPr>
          <p:cNvCxnSpPr>
            <a:cxnSpLocks/>
            <a:stCxn id="229" idx="3"/>
            <a:endCxn id="31" idx="1"/>
          </p:cNvCxnSpPr>
          <p:nvPr/>
        </p:nvCxnSpPr>
        <p:spPr>
          <a:xfrm>
            <a:off x="7050895" y="1907743"/>
            <a:ext cx="407558" cy="258374"/>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線矢印コネクタ 223">
            <a:extLst>
              <a:ext uri="{FF2B5EF4-FFF2-40B4-BE49-F238E27FC236}">
                <a16:creationId xmlns:a16="http://schemas.microsoft.com/office/drawing/2014/main" id="{D15E5B1A-6907-F29F-7178-53B9CFDC45CD}"/>
              </a:ext>
            </a:extLst>
          </p:cNvPr>
          <p:cNvCxnSpPr>
            <a:cxnSpLocks/>
            <a:stCxn id="230" idx="3"/>
            <a:endCxn id="225" idx="1"/>
          </p:cNvCxnSpPr>
          <p:nvPr/>
        </p:nvCxnSpPr>
        <p:spPr>
          <a:xfrm flipV="1">
            <a:off x="7054761" y="3781288"/>
            <a:ext cx="403692" cy="104485"/>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E1305B72-FB53-2C58-028C-A3AAE7346C5E}"/>
              </a:ext>
            </a:extLst>
          </p:cNvPr>
          <p:cNvCxnSpPr>
            <a:cxnSpLocks/>
            <a:stCxn id="11" idx="3"/>
            <a:endCxn id="244" idx="1"/>
          </p:cNvCxnSpPr>
          <p:nvPr/>
        </p:nvCxnSpPr>
        <p:spPr>
          <a:xfrm flipV="1">
            <a:off x="7050895" y="2952959"/>
            <a:ext cx="407558" cy="184"/>
          </a:xfrm>
          <a:prstGeom prst="straightConnector1">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線矢印コネクタ 238">
            <a:extLst>
              <a:ext uri="{FF2B5EF4-FFF2-40B4-BE49-F238E27FC236}">
                <a16:creationId xmlns:a16="http://schemas.microsoft.com/office/drawing/2014/main" id="{CB92046E-3184-C9F6-377C-70D5BBF171ED}"/>
              </a:ext>
            </a:extLst>
          </p:cNvPr>
          <p:cNvCxnSpPr>
            <a:cxnSpLocks/>
            <a:stCxn id="19" idx="3"/>
            <a:endCxn id="245" idx="1"/>
          </p:cNvCxnSpPr>
          <p:nvPr/>
        </p:nvCxnSpPr>
        <p:spPr>
          <a:xfrm flipV="1">
            <a:off x="7050894" y="4925302"/>
            <a:ext cx="421032" cy="106297"/>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244" name="テキスト ボックス 243">
            <a:extLst>
              <a:ext uri="{FF2B5EF4-FFF2-40B4-BE49-F238E27FC236}">
                <a16:creationId xmlns:a16="http://schemas.microsoft.com/office/drawing/2014/main" id="{4D7CBF72-51AD-4212-7A63-FC4FD7F82C10}"/>
              </a:ext>
            </a:extLst>
          </p:cNvPr>
          <p:cNvSpPr txBox="1"/>
          <p:nvPr/>
        </p:nvSpPr>
        <p:spPr bwMode="auto">
          <a:xfrm>
            <a:off x="7458453" y="2575932"/>
            <a:ext cx="4498411" cy="754053"/>
          </a:xfrm>
          <a:prstGeom prst="rect">
            <a:avLst/>
          </a:prstGeom>
          <a:noFill/>
          <a:ln w="6350">
            <a:solidFill>
              <a:schemeClr val="tx1"/>
            </a:solidFill>
            <a:miter lim="800000"/>
            <a:headEnd/>
            <a:tailEnd/>
          </a:ln>
        </p:spPr>
        <p:txBody>
          <a:bodyPr wrap="square" lIns="180000" rIns="180000" rtlCol="0" anchor="t">
            <a:spAutoFit/>
          </a:bodyPr>
          <a:lstStyle/>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日別のナースコールの回数をテーブルで表示する。</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スクロールバーで水平方向に表示領域を移動できる。</a:t>
            </a:r>
            <a:endParaRPr lang="en-US" altLang="ja-JP" sz="1100" dirty="0">
              <a:latin typeface="Meiryo UI" panose="020B0604030504040204" pitchFamily="50" charset="-128"/>
              <a:ea typeface="Meiryo UI" panose="020B0604030504040204" pitchFamily="50" charset="-128"/>
            </a:endParaRPr>
          </a:p>
          <a:p>
            <a:pPr>
              <a:spcBef>
                <a:spcPts val="600"/>
              </a:spcBef>
              <a:defRPr/>
            </a:pPr>
            <a:r>
              <a:rPr lang="ja-JP" altLang="en-US" sz="1100" dirty="0">
                <a:latin typeface="Meiryo UI" panose="020B0604030504040204" pitchFamily="50" charset="-128"/>
                <a:ea typeface="Meiryo UI" panose="020B0604030504040204" pitchFamily="50" charset="-128"/>
              </a:rPr>
              <a:t>補足：</a:t>
            </a:r>
            <a:r>
              <a:rPr lang="en-US" altLang="ja-JP" sz="1100" dirty="0">
                <a:latin typeface="Meiryo UI" panose="020B0604030504040204" pitchFamily="50" charset="-128"/>
                <a:ea typeface="Meiryo UI" panose="020B0604030504040204" pitchFamily="50" charset="-128"/>
              </a:rPr>
              <a:t>2023</a:t>
            </a:r>
            <a:r>
              <a:rPr lang="ja-JP" altLang="en-US" sz="1100" dirty="0">
                <a:latin typeface="Meiryo UI" panose="020B0604030504040204" pitchFamily="50" charset="-128"/>
                <a:ea typeface="Meiryo UI" panose="020B0604030504040204" pitchFamily="50" charset="-128"/>
              </a:rPr>
              <a:t>年</a:t>
            </a:r>
            <a:r>
              <a:rPr lang="en-US" altLang="ja-JP" sz="1100" dirty="0">
                <a:latin typeface="Meiryo UI" panose="020B0604030504040204" pitchFamily="50" charset="-128"/>
                <a:ea typeface="Meiryo UI" panose="020B0604030504040204" pitchFamily="50" charset="-128"/>
              </a:rPr>
              <a:t>10</a:t>
            </a:r>
            <a:r>
              <a:rPr lang="ja-JP" altLang="en-US" sz="1100" dirty="0">
                <a:latin typeface="Meiryo UI" panose="020B0604030504040204" pitchFamily="50" charset="-128"/>
                <a:ea typeface="Meiryo UI" panose="020B0604030504040204" pitchFamily="50" charset="-128"/>
              </a:rPr>
              <a:t>月現在のナースコールモニターの仕様を再現する。</a:t>
            </a:r>
            <a:endParaRPr lang="en-US" altLang="ja-JP" sz="1100" dirty="0">
              <a:latin typeface="Meiryo UI" panose="020B0604030504040204" pitchFamily="50" charset="-128"/>
              <a:ea typeface="Meiryo UI" panose="020B0604030504040204" pitchFamily="50" charset="-128"/>
            </a:endParaRPr>
          </a:p>
        </p:txBody>
      </p:sp>
      <p:sp>
        <p:nvSpPr>
          <p:cNvPr id="245" name="テキスト ボックス 244">
            <a:extLst>
              <a:ext uri="{FF2B5EF4-FFF2-40B4-BE49-F238E27FC236}">
                <a16:creationId xmlns:a16="http://schemas.microsoft.com/office/drawing/2014/main" id="{64501D55-769C-0ADD-E7C1-2007288E1876}"/>
              </a:ext>
            </a:extLst>
          </p:cNvPr>
          <p:cNvSpPr txBox="1"/>
          <p:nvPr/>
        </p:nvSpPr>
        <p:spPr bwMode="auto">
          <a:xfrm>
            <a:off x="7471926" y="4217416"/>
            <a:ext cx="4498410" cy="1415772"/>
          </a:xfrm>
          <a:prstGeom prst="rect">
            <a:avLst/>
          </a:prstGeom>
          <a:noFill/>
          <a:ln w="6350">
            <a:solidFill>
              <a:schemeClr val="tx1"/>
            </a:solidFill>
            <a:miter lim="800000"/>
            <a:headEnd/>
            <a:tailEnd/>
          </a:ln>
        </p:spPr>
        <p:txBody>
          <a:bodyPr wrap="square" lIns="180000" rIns="180000" rtlCol="0" anchor="t">
            <a:spAutoFit/>
          </a:bodyPr>
          <a:lstStyle/>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時間帯別のナースコールの回数を積み上げ棒グラフで表示する。</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各時間帯の週単位集計に色分けし、グラフに積み上げ表示。</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ナースコールが押下されていない時間帯は表示されない。</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グラフの横軸は一番左を</a:t>
            </a:r>
            <a:r>
              <a:rPr lang="en-US" altLang="ja-JP" sz="1100" dirty="0">
                <a:latin typeface="Meiryo UI" panose="020B0604030504040204" pitchFamily="50" charset="-128"/>
                <a:ea typeface="Meiryo UI" panose="020B0604030504040204" pitchFamily="50" charset="-128"/>
              </a:rPr>
              <a:t>0</a:t>
            </a:r>
            <a:r>
              <a:rPr lang="ja-JP" altLang="en-US" sz="1100" dirty="0">
                <a:latin typeface="Meiryo UI" panose="020B0604030504040204" pitchFamily="50" charset="-128"/>
                <a:ea typeface="Meiryo UI" panose="020B0604030504040204" pitchFamily="50" charset="-128"/>
              </a:rPr>
              <a:t>時台として、昇順に</a:t>
            </a:r>
            <a:r>
              <a:rPr lang="en-US" altLang="ja-JP" sz="1100" dirty="0">
                <a:latin typeface="Meiryo UI" panose="020B0604030504040204" pitchFamily="50" charset="-128"/>
                <a:ea typeface="Meiryo UI" panose="020B0604030504040204" pitchFamily="50" charset="-128"/>
              </a:rPr>
              <a:t>23</a:t>
            </a:r>
            <a:r>
              <a:rPr lang="ja-JP" altLang="en-US" sz="1100" dirty="0">
                <a:latin typeface="Meiryo UI" panose="020B0604030504040204" pitchFamily="50" charset="-128"/>
                <a:ea typeface="Meiryo UI" panose="020B0604030504040204" pitchFamily="50" charset="-128"/>
              </a:rPr>
              <a:t>時台まで表示する。</a:t>
            </a:r>
            <a:endParaRPr lang="en-US" altLang="ja-JP" sz="1100" dirty="0">
              <a:latin typeface="Meiryo UI" panose="020B0604030504040204" pitchFamily="50" charset="-128"/>
              <a:ea typeface="Meiryo UI" panose="020B0604030504040204" pitchFamily="50" charset="-128"/>
            </a:endParaRPr>
          </a:p>
          <a:p>
            <a:pPr>
              <a:spcBef>
                <a:spcPts val="600"/>
              </a:spcBef>
              <a:defRPr/>
            </a:pPr>
            <a:r>
              <a:rPr lang="ja-JP" altLang="en-US" sz="1100" dirty="0">
                <a:latin typeface="Meiryo UI" panose="020B0604030504040204" pitchFamily="50" charset="-128"/>
                <a:ea typeface="Meiryo UI" panose="020B0604030504040204" pitchFamily="50" charset="-128"/>
              </a:rPr>
              <a:t>補足：横軸の並び順以外は</a:t>
            </a:r>
            <a:r>
              <a:rPr lang="en-US" altLang="ja-JP" sz="1100" dirty="0">
                <a:latin typeface="Meiryo UI" panose="020B0604030504040204" pitchFamily="50" charset="-128"/>
                <a:ea typeface="Meiryo UI" panose="020B0604030504040204" pitchFamily="50" charset="-128"/>
              </a:rPr>
              <a:t>2023</a:t>
            </a:r>
            <a:r>
              <a:rPr lang="ja-JP" altLang="en-US" sz="1100" dirty="0">
                <a:latin typeface="Meiryo UI" panose="020B0604030504040204" pitchFamily="50" charset="-128"/>
                <a:ea typeface="Meiryo UI" panose="020B0604030504040204" pitchFamily="50" charset="-128"/>
              </a:rPr>
              <a:t>年</a:t>
            </a:r>
            <a:r>
              <a:rPr lang="en-US" altLang="ja-JP" sz="1100" dirty="0">
                <a:latin typeface="Meiryo UI" panose="020B0604030504040204" pitchFamily="50" charset="-128"/>
                <a:ea typeface="Meiryo UI" panose="020B0604030504040204" pitchFamily="50" charset="-128"/>
              </a:rPr>
              <a:t>10</a:t>
            </a:r>
            <a:r>
              <a:rPr lang="ja-JP" altLang="en-US" sz="1100" dirty="0">
                <a:latin typeface="Meiryo UI" panose="020B0604030504040204" pitchFamily="50" charset="-128"/>
                <a:ea typeface="Meiryo UI" panose="020B0604030504040204" pitchFamily="50" charset="-128"/>
              </a:rPr>
              <a:t>月現在のナースコールモニターの仕様を再現する。</a:t>
            </a:r>
            <a:endParaRPr lang="en-US" altLang="ja-JP" sz="1100" dirty="0">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F6152EB2-2DE9-522C-A1E6-CD4D61C0CF20}"/>
              </a:ext>
            </a:extLst>
          </p:cNvPr>
          <p:cNvSpPr/>
          <p:nvPr/>
        </p:nvSpPr>
        <p:spPr>
          <a:xfrm>
            <a:off x="2002155" y="5263837"/>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0</a:t>
            </a:r>
          </a:p>
        </p:txBody>
      </p:sp>
      <p:sp>
        <p:nvSpPr>
          <p:cNvPr id="13" name="正方形/長方形 12">
            <a:extLst>
              <a:ext uri="{FF2B5EF4-FFF2-40B4-BE49-F238E27FC236}">
                <a16:creationId xmlns:a16="http://schemas.microsoft.com/office/drawing/2014/main" id="{14145D4C-F9F7-9327-FA9F-90A920B7D1DB}"/>
              </a:ext>
            </a:extLst>
          </p:cNvPr>
          <p:cNvSpPr/>
          <p:nvPr/>
        </p:nvSpPr>
        <p:spPr>
          <a:xfrm>
            <a:off x="2205990" y="5266327"/>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a:t>
            </a:r>
          </a:p>
        </p:txBody>
      </p:sp>
      <p:sp>
        <p:nvSpPr>
          <p:cNvPr id="233" name="正方形/長方形 232">
            <a:extLst>
              <a:ext uri="{FF2B5EF4-FFF2-40B4-BE49-F238E27FC236}">
                <a16:creationId xmlns:a16="http://schemas.microsoft.com/office/drawing/2014/main" id="{696E1CAE-5337-4A38-A894-983B8DDEF684}"/>
              </a:ext>
            </a:extLst>
          </p:cNvPr>
          <p:cNvSpPr/>
          <p:nvPr/>
        </p:nvSpPr>
        <p:spPr>
          <a:xfrm>
            <a:off x="2409825" y="5266327"/>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a:t>
            </a:r>
          </a:p>
        </p:txBody>
      </p:sp>
      <p:sp>
        <p:nvSpPr>
          <p:cNvPr id="234" name="正方形/長方形 233">
            <a:extLst>
              <a:ext uri="{FF2B5EF4-FFF2-40B4-BE49-F238E27FC236}">
                <a16:creationId xmlns:a16="http://schemas.microsoft.com/office/drawing/2014/main" id="{C5B658A9-7C0C-2E6F-B0DF-130549F6BB6E}"/>
              </a:ext>
            </a:extLst>
          </p:cNvPr>
          <p:cNvSpPr/>
          <p:nvPr/>
        </p:nvSpPr>
        <p:spPr>
          <a:xfrm>
            <a:off x="2616288" y="5269324"/>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3</a:t>
            </a:r>
          </a:p>
        </p:txBody>
      </p:sp>
      <p:sp>
        <p:nvSpPr>
          <p:cNvPr id="236" name="正方形/長方形 235">
            <a:extLst>
              <a:ext uri="{FF2B5EF4-FFF2-40B4-BE49-F238E27FC236}">
                <a16:creationId xmlns:a16="http://schemas.microsoft.com/office/drawing/2014/main" id="{6ED05000-993F-FE88-3958-FE1B40852309}"/>
              </a:ext>
            </a:extLst>
          </p:cNvPr>
          <p:cNvSpPr/>
          <p:nvPr/>
        </p:nvSpPr>
        <p:spPr>
          <a:xfrm>
            <a:off x="2820123" y="5272186"/>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4</a:t>
            </a:r>
          </a:p>
        </p:txBody>
      </p:sp>
      <p:sp>
        <p:nvSpPr>
          <p:cNvPr id="237" name="正方形/長方形 236">
            <a:extLst>
              <a:ext uri="{FF2B5EF4-FFF2-40B4-BE49-F238E27FC236}">
                <a16:creationId xmlns:a16="http://schemas.microsoft.com/office/drawing/2014/main" id="{607AFFF2-B6F4-E7CF-7A7D-09C4726887BF}"/>
              </a:ext>
            </a:extLst>
          </p:cNvPr>
          <p:cNvSpPr/>
          <p:nvPr/>
        </p:nvSpPr>
        <p:spPr>
          <a:xfrm>
            <a:off x="3023958" y="5272186"/>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5</a:t>
            </a:r>
          </a:p>
        </p:txBody>
      </p:sp>
      <p:sp>
        <p:nvSpPr>
          <p:cNvPr id="238" name="正方形/長方形 237">
            <a:extLst>
              <a:ext uri="{FF2B5EF4-FFF2-40B4-BE49-F238E27FC236}">
                <a16:creationId xmlns:a16="http://schemas.microsoft.com/office/drawing/2014/main" id="{849B6B7F-E58B-ECB2-6234-323DF80A5E17}"/>
              </a:ext>
            </a:extLst>
          </p:cNvPr>
          <p:cNvSpPr/>
          <p:nvPr/>
        </p:nvSpPr>
        <p:spPr>
          <a:xfrm>
            <a:off x="3230421" y="5272186"/>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6</a:t>
            </a:r>
          </a:p>
        </p:txBody>
      </p:sp>
      <p:sp>
        <p:nvSpPr>
          <p:cNvPr id="240" name="正方形/長方形 239">
            <a:extLst>
              <a:ext uri="{FF2B5EF4-FFF2-40B4-BE49-F238E27FC236}">
                <a16:creationId xmlns:a16="http://schemas.microsoft.com/office/drawing/2014/main" id="{6503FFE9-B28F-42E1-C7CC-24A2D6F05FB9}"/>
              </a:ext>
            </a:extLst>
          </p:cNvPr>
          <p:cNvSpPr/>
          <p:nvPr/>
        </p:nvSpPr>
        <p:spPr>
          <a:xfrm>
            <a:off x="3439512" y="5272186"/>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7</a:t>
            </a:r>
          </a:p>
        </p:txBody>
      </p:sp>
      <p:sp>
        <p:nvSpPr>
          <p:cNvPr id="241" name="正方形/長方形 240">
            <a:extLst>
              <a:ext uri="{FF2B5EF4-FFF2-40B4-BE49-F238E27FC236}">
                <a16:creationId xmlns:a16="http://schemas.microsoft.com/office/drawing/2014/main" id="{EAC4E0FC-2FA4-9AB7-3852-08BD97329F88}"/>
              </a:ext>
            </a:extLst>
          </p:cNvPr>
          <p:cNvSpPr/>
          <p:nvPr/>
        </p:nvSpPr>
        <p:spPr>
          <a:xfrm>
            <a:off x="3643347" y="5272186"/>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8</a:t>
            </a:r>
          </a:p>
        </p:txBody>
      </p:sp>
      <p:sp>
        <p:nvSpPr>
          <p:cNvPr id="242" name="正方形/長方形 241">
            <a:extLst>
              <a:ext uri="{FF2B5EF4-FFF2-40B4-BE49-F238E27FC236}">
                <a16:creationId xmlns:a16="http://schemas.microsoft.com/office/drawing/2014/main" id="{2C0266E9-AD87-E952-768A-1E06A4E25F99}"/>
              </a:ext>
            </a:extLst>
          </p:cNvPr>
          <p:cNvSpPr/>
          <p:nvPr/>
        </p:nvSpPr>
        <p:spPr>
          <a:xfrm>
            <a:off x="3848236" y="5272186"/>
            <a:ext cx="203835"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9</a:t>
            </a:r>
          </a:p>
        </p:txBody>
      </p:sp>
      <p:sp>
        <p:nvSpPr>
          <p:cNvPr id="243" name="正方形/長方形 242">
            <a:extLst>
              <a:ext uri="{FF2B5EF4-FFF2-40B4-BE49-F238E27FC236}">
                <a16:creationId xmlns:a16="http://schemas.microsoft.com/office/drawing/2014/main" id="{E7931AA4-0577-EEC1-9654-287B016D41D1}"/>
              </a:ext>
            </a:extLst>
          </p:cNvPr>
          <p:cNvSpPr/>
          <p:nvPr/>
        </p:nvSpPr>
        <p:spPr>
          <a:xfrm>
            <a:off x="4028448" y="5272661"/>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10</a:t>
            </a:r>
          </a:p>
        </p:txBody>
      </p:sp>
      <p:sp>
        <p:nvSpPr>
          <p:cNvPr id="246" name="正方形/長方形 245">
            <a:extLst>
              <a:ext uri="{FF2B5EF4-FFF2-40B4-BE49-F238E27FC236}">
                <a16:creationId xmlns:a16="http://schemas.microsoft.com/office/drawing/2014/main" id="{F6D91FB4-39EF-8AB4-6625-5CD2B76FEC96}"/>
              </a:ext>
            </a:extLst>
          </p:cNvPr>
          <p:cNvSpPr/>
          <p:nvPr/>
        </p:nvSpPr>
        <p:spPr>
          <a:xfrm>
            <a:off x="4234226" y="527303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11</a:t>
            </a:r>
          </a:p>
        </p:txBody>
      </p:sp>
      <p:sp>
        <p:nvSpPr>
          <p:cNvPr id="247" name="正方形/長方形 246">
            <a:extLst>
              <a:ext uri="{FF2B5EF4-FFF2-40B4-BE49-F238E27FC236}">
                <a16:creationId xmlns:a16="http://schemas.microsoft.com/office/drawing/2014/main" id="{C153EBC2-A0E4-4AC1-E9A6-BD05481D3349}"/>
              </a:ext>
            </a:extLst>
          </p:cNvPr>
          <p:cNvSpPr/>
          <p:nvPr/>
        </p:nvSpPr>
        <p:spPr>
          <a:xfrm>
            <a:off x="4439151" y="5272186"/>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12</a:t>
            </a:r>
          </a:p>
        </p:txBody>
      </p:sp>
      <p:sp>
        <p:nvSpPr>
          <p:cNvPr id="248" name="正方形/長方形 247">
            <a:extLst>
              <a:ext uri="{FF2B5EF4-FFF2-40B4-BE49-F238E27FC236}">
                <a16:creationId xmlns:a16="http://schemas.microsoft.com/office/drawing/2014/main" id="{D754C72B-07BC-76E8-D5AA-CCA60125E200}"/>
              </a:ext>
            </a:extLst>
          </p:cNvPr>
          <p:cNvSpPr/>
          <p:nvPr/>
        </p:nvSpPr>
        <p:spPr>
          <a:xfrm>
            <a:off x="4645001" y="5272632"/>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13</a:t>
            </a:r>
          </a:p>
        </p:txBody>
      </p:sp>
      <p:sp>
        <p:nvSpPr>
          <p:cNvPr id="249" name="正方形/長方形 248">
            <a:extLst>
              <a:ext uri="{FF2B5EF4-FFF2-40B4-BE49-F238E27FC236}">
                <a16:creationId xmlns:a16="http://schemas.microsoft.com/office/drawing/2014/main" id="{EE7DAEAF-77AB-1F9A-3B5C-FC5E1AADDE4D}"/>
              </a:ext>
            </a:extLst>
          </p:cNvPr>
          <p:cNvSpPr/>
          <p:nvPr/>
        </p:nvSpPr>
        <p:spPr>
          <a:xfrm>
            <a:off x="4851065" y="5272186"/>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14</a:t>
            </a:r>
          </a:p>
        </p:txBody>
      </p:sp>
      <p:sp>
        <p:nvSpPr>
          <p:cNvPr id="250" name="正方形/長方形 249">
            <a:extLst>
              <a:ext uri="{FF2B5EF4-FFF2-40B4-BE49-F238E27FC236}">
                <a16:creationId xmlns:a16="http://schemas.microsoft.com/office/drawing/2014/main" id="{8BF48F2D-00DF-20FC-6818-D70E97316C7A}"/>
              </a:ext>
            </a:extLst>
          </p:cNvPr>
          <p:cNvSpPr/>
          <p:nvPr/>
        </p:nvSpPr>
        <p:spPr>
          <a:xfrm>
            <a:off x="5056500" y="527382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15</a:t>
            </a:r>
          </a:p>
        </p:txBody>
      </p:sp>
      <p:sp>
        <p:nvSpPr>
          <p:cNvPr id="251" name="正方形/長方形 250">
            <a:extLst>
              <a:ext uri="{FF2B5EF4-FFF2-40B4-BE49-F238E27FC236}">
                <a16:creationId xmlns:a16="http://schemas.microsoft.com/office/drawing/2014/main" id="{B3B8018F-51C9-8F93-9FAF-3F34203D65FB}"/>
              </a:ext>
            </a:extLst>
          </p:cNvPr>
          <p:cNvSpPr/>
          <p:nvPr/>
        </p:nvSpPr>
        <p:spPr>
          <a:xfrm>
            <a:off x="5259686" y="5275116"/>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16</a:t>
            </a:r>
          </a:p>
        </p:txBody>
      </p:sp>
      <p:sp>
        <p:nvSpPr>
          <p:cNvPr id="252" name="正方形/長方形 251">
            <a:extLst>
              <a:ext uri="{FF2B5EF4-FFF2-40B4-BE49-F238E27FC236}">
                <a16:creationId xmlns:a16="http://schemas.microsoft.com/office/drawing/2014/main" id="{E4C87DA0-0D36-9886-BB8E-DA4610C63DAF}"/>
              </a:ext>
            </a:extLst>
          </p:cNvPr>
          <p:cNvSpPr/>
          <p:nvPr/>
        </p:nvSpPr>
        <p:spPr>
          <a:xfrm>
            <a:off x="5465769" y="527303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17</a:t>
            </a:r>
          </a:p>
        </p:txBody>
      </p:sp>
      <p:sp>
        <p:nvSpPr>
          <p:cNvPr id="253" name="正方形/長方形 252">
            <a:extLst>
              <a:ext uri="{FF2B5EF4-FFF2-40B4-BE49-F238E27FC236}">
                <a16:creationId xmlns:a16="http://schemas.microsoft.com/office/drawing/2014/main" id="{772FB22A-3EB7-98C4-7B15-E972E4F6D801}"/>
              </a:ext>
            </a:extLst>
          </p:cNvPr>
          <p:cNvSpPr/>
          <p:nvPr/>
        </p:nvSpPr>
        <p:spPr>
          <a:xfrm>
            <a:off x="5673770" y="5272169"/>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18</a:t>
            </a:r>
          </a:p>
        </p:txBody>
      </p:sp>
      <p:sp>
        <p:nvSpPr>
          <p:cNvPr id="254" name="正方形/長方形 253">
            <a:extLst>
              <a:ext uri="{FF2B5EF4-FFF2-40B4-BE49-F238E27FC236}">
                <a16:creationId xmlns:a16="http://schemas.microsoft.com/office/drawing/2014/main" id="{72B99AC4-4891-CD9B-EEDB-D231A706269D}"/>
              </a:ext>
            </a:extLst>
          </p:cNvPr>
          <p:cNvSpPr/>
          <p:nvPr/>
        </p:nvSpPr>
        <p:spPr>
          <a:xfrm>
            <a:off x="5877465" y="527262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19</a:t>
            </a:r>
          </a:p>
        </p:txBody>
      </p:sp>
      <p:sp>
        <p:nvSpPr>
          <p:cNvPr id="256" name="正方形/長方形 255">
            <a:extLst>
              <a:ext uri="{FF2B5EF4-FFF2-40B4-BE49-F238E27FC236}">
                <a16:creationId xmlns:a16="http://schemas.microsoft.com/office/drawing/2014/main" id="{672F049D-4802-56C8-0261-673E7AE5F401}"/>
              </a:ext>
            </a:extLst>
          </p:cNvPr>
          <p:cNvSpPr/>
          <p:nvPr/>
        </p:nvSpPr>
        <p:spPr>
          <a:xfrm>
            <a:off x="6083243" y="5274933"/>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20</a:t>
            </a:r>
          </a:p>
        </p:txBody>
      </p:sp>
      <p:sp>
        <p:nvSpPr>
          <p:cNvPr id="257" name="正方形/長方形 256">
            <a:extLst>
              <a:ext uri="{FF2B5EF4-FFF2-40B4-BE49-F238E27FC236}">
                <a16:creationId xmlns:a16="http://schemas.microsoft.com/office/drawing/2014/main" id="{819C7152-0443-70D1-EBDA-D7F191A1A243}"/>
              </a:ext>
            </a:extLst>
          </p:cNvPr>
          <p:cNvSpPr/>
          <p:nvPr/>
        </p:nvSpPr>
        <p:spPr>
          <a:xfrm>
            <a:off x="6287903" y="5275116"/>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21</a:t>
            </a:r>
          </a:p>
        </p:txBody>
      </p:sp>
      <p:sp>
        <p:nvSpPr>
          <p:cNvPr id="258" name="正方形/長方形 257">
            <a:extLst>
              <a:ext uri="{FF2B5EF4-FFF2-40B4-BE49-F238E27FC236}">
                <a16:creationId xmlns:a16="http://schemas.microsoft.com/office/drawing/2014/main" id="{F48F0E30-8F45-DF06-8610-7CA4F96674FB}"/>
              </a:ext>
            </a:extLst>
          </p:cNvPr>
          <p:cNvSpPr/>
          <p:nvPr/>
        </p:nvSpPr>
        <p:spPr>
          <a:xfrm>
            <a:off x="6494305" y="5274252"/>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22</a:t>
            </a:r>
          </a:p>
        </p:txBody>
      </p:sp>
      <p:sp>
        <p:nvSpPr>
          <p:cNvPr id="259" name="正方形/長方形 258">
            <a:extLst>
              <a:ext uri="{FF2B5EF4-FFF2-40B4-BE49-F238E27FC236}">
                <a16:creationId xmlns:a16="http://schemas.microsoft.com/office/drawing/2014/main" id="{53EA1459-97C4-4C07-B388-1DE922A3F2A5}"/>
              </a:ext>
            </a:extLst>
          </p:cNvPr>
          <p:cNvSpPr/>
          <p:nvPr/>
        </p:nvSpPr>
        <p:spPr>
          <a:xfrm>
            <a:off x="6696938" y="5275116"/>
            <a:ext cx="258192"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400" dirty="0">
                <a:solidFill>
                  <a:schemeClr val="tx1"/>
                </a:solidFill>
                <a:latin typeface="Meiryo UI" panose="020B0604030504040204" pitchFamily="50" charset="-128"/>
                <a:ea typeface="Meiryo UI" panose="020B0604030504040204" pitchFamily="50" charset="-128"/>
              </a:rPr>
              <a:t>23</a:t>
            </a:r>
          </a:p>
        </p:txBody>
      </p:sp>
      <p:sp>
        <p:nvSpPr>
          <p:cNvPr id="2" name="テキスト ボックス 1">
            <a:extLst>
              <a:ext uri="{FF2B5EF4-FFF2-40B4-BE49-F238E27FC236}">
                <a16:creationId xmlns:a16="http://schemas.microsoft.com/office/drawing/2014/main" id="{43B19D76-9B29-8932-12B9-7814A563C536}"/>
              </a:ext>
            </a:extLst>
          </p:cNvPr>
          <p:cNvSpPr txBox="1"/>
          <p:nvPr/>
        </p:nvSpPr>
        <p:spPr bwMode="auto">
          <a:xfrm>
            <a:off x="133864" y="1216932"/>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200" dirty="0">
                <a:solidFill>
                  <a:srgbClr val="FF0000"/>
                </a:solidFill>
                <a:latin typeface="Meiryo UI" panose="020B0604030504040204" pitchFamily="50" charset="-128"/>
                <a:ea typeface="Meiryo UI" panose="020B0604030504040204" pitchFamily="50" charset="-128"/>
              </a:rPr>
              <a:t>⑦</a:t>
            </a:r>
            <a:endParaRPr kumimoji="1" lang="ja-JP" altLang="en-US" sz="1200" dirty="0">
              <a:solidFill>
                <a:srgbClr val="FF0000"/>
              </a:solidFill>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7A292D7A-3D5A-0B82-C429-4C69FFD0567B}"/>
              </a:ext>
            </a:extLst>
          </p:cNvPr>
          <p:cNvSpPr txBox="1"/>
          <p:nvPr/>
        </p:nvSpPr>
        <p:spPr bwMode="auto">
          <a:xfrm>
            <a:off x="1608141" y="1230375"/>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⑨</a:t>
            </a:r>
          </a:p>
        </p:txBody>
      </p:sp>
      <p:sp>
        <p:nvSpPr>
          <p:cNvPr id="6" name="テキスト ボックス 5">
            <a:extLst>
              <a:ext uri="{FF2B5EF4-FFF2-40B4-BE49-F238E27FC236}">
                <a16:creationId xmlns:a16="http://schemas.microsoft.com/office/drawing/2014/main" id="{6C9A6C14-0602-6D76-A450-A99B7A2C858E}"/>
              </a:ext>
            </a:extLst>
          </p:cNvPr>
          <p:cNvSpPr txBox="1"/>
          <p:nvPr/>
        </p:nvSpPr>
        <p:spPr bwMode="auto">
          <a:xfrm>
            <a:off x="2096256" y="2619048"/>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200" dirty="0">
                <a:solidFill>
                  <a:srgbClr val="FF0000"/>
                </a:solidFill>
                <a:latin typeface="Meiryo UI" panose="020B0604030504040204" pitchFamily="50" charset="-128"/>
                <a:ea typeface="Meiryo UI" panose="020B0604030504040204" pitchFamily="50" charset="-128"/>
              </a:rPr>
              <a:t>⑩</a:t>
            </a:r>
            <a:endParaRPr kumimoji="1" lang="ja-JP" altLang="en-US" sz="1200" dirty="0">
              <a:solidFill>
                <a:srgbClr val="FF0000"/>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3F21CC9F-9DC8-A0D7-BEB8-AC4ACA6BC122}"/>
              </a:ext>
            </a:extLst>
          </p:cNvPr>
          <p:cNvSpPr txBox="1"/>
          <p:nvPr/>
        </p:nvSpPr>
        <p:spPr bwMode="auto">
          <a:xfrm>
            <a:off x="3073636" y="3339645"/>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⑪</a:t>
            </a:r>
          </a:p>
        </p:txBody>
      </p:sp>
      <p:sp>
        <p:nvSpPr>
          <p:cNvPr id="8" name="テキスト ボックス 7">
            <a:extLst>
              <a:ext uri="{FF2B5EF4-FFF2-40B4-BE49-F238E27FC236}">
                <a16:creationId xmlns:a16="http://schemas.microsoft.com/office/drawing/2014/main" id="{0B693168-F061-5560-0FFA-24905FCFAE1F}"/>
              </a:ext>
            </a:extLst>
          </p:cNvPr>
          <p:cNvSpPr txBox="1"/>
          <p:nvPr/>
        </p:nvSpPr>
        <p:spPr bwMode="auto">
          <a:xfrm>
            <a:off x="2969091" y="4487978"/>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⑫</a:t>
            </a:r>
          </a:p>
        </p:txBody>
      </p:sp>
      <p:sp>
        <p:nvSpPr>
          <p:cNvPr id="14" name="テキスト ボックス 13">
            <a:extLst>
              <a:ext uri="{FF2B5EF4-FFF2-40B4-BE49-F238E27FC236}">
                <a16:creationId xmlns:a16="http://schemas.microsoft.com/office/drawing/2014/main" id="{8632A74E-E800-70AE-9FA8-4708920BD119}"/>
              </a:ext>
            </a:extLst>
          </p:cNvPr>
          <p:cNvSpPr txBox="1"/>
          <p:nvPr/>
        </p:nvSpPr>
        <p:spPr bwMode="auto">
          <a:xfrm>
            <a:off x="557688" y="1656219"/>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⑧</a:t>
            </a:r>
          </a:p>
        </p:txBody>
      </p:sp>
      <p:sp>
        <p:nvSpPr>
          <p:cNvPr id="16" name="正方形/長方形 15">
            <a:extLst>
              <a:ext uri="{FF2B5EF4-FFF2-40B4-BE49-F238E27FC236}">
                <a16:creationId xmlns:a16="http://schemas.microsoft.com/office/drawing/2014/main" id="{ADF66C7A-254E-E779-FABD-E3224E3523DA}"/>
              </a:ext>
            </a:extLst>
          </p:cNvPr>
          <p:cNvSpPr/>
          <p:nvPr/>
        </p:nvSpPr>
        <p:spPr>
          <a:xfrm>
            <a:off x="1788712" y="3402921"/>
            <a:ext cx="1337743"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600" dirty="0">
                <a:solidFill>
                  <a:schemeClr val="tx1"/>
                </a:solidFill>
                <a:latin typeface="Meiryo UI" panose="020B0604030504040204" pitchFamily="50" charset="-128"/>
                <a:ea typeface="Meiryo UI" panose="020B0604030504040204" pitchFamily="50" charset="-128"/>
              </a:rPr>
              <a:t>曜日別</a:t>
            </a:r>
            <a:r>
              <a:rPr lang="ja-JP" altLang="en-US" sz="600" dirty="0">
                <a:solidFill>
                  <a:schemeClr val="tx1"/>
                </a:solidFill>
                <a:latin typeface="Meiryo UI" panose="020B0604030504040204" pitchFamily="50" charset="-128"/>
                <a:ea typeface="Meiryo UI" panose="020B0604030504040204" pitchFamily="50" charset="-128"/>
              </a:rPr>
              <a:t>ナース</a:t>
            </a:r>
            <a:r>
              <a:rPr kumimoji="1" lang="ja-JP" altLang="en-US" sz="600" dirty="0">
                <a:solidFill>
                  <a:schemeClr val="tx1"/>
                </a:solidFill>
                <a:latin typeface="Meiryo UI" panose="020B0604030504040204" pitchFamily="50" charset="-128"/>
                <a:ea typeface="Meiryo UI" panose="020B0604030504040204" pitchFamily="50" charset="-128"/>
              </a:rPr>
              <a:t>コール数</a:t>
            </a:r>
          </a:p>
        </p:txBody>
      </p:sp>
      <p:sp>
        <p:nvSpPr>
          <p:cNvPr id="17" name="正方形/長方形 16">
            <a:extLst>
              <a:ext uri="{FF2B5EF4-FFF2-40B4-BE49-F238E27FC236}">
                <a16:creationId xmlns:a16="http://schemas.microsoft.com/office/drawing/2014/main" id="{8C2A51AF-02EC-EA15-BF03-70BFD54515BB}"/>
              </a:ext>
            </a:extLst>
          </p:cNvPr>
          <p:cNvSpPr/>
          <p:nvPr/>
        </p:nvSpPr>
        <p:spPr>
          <a:xfrm>
            <a:off x="1644482" y="4547338"/>
            <a:ext cx="1379476" cy="684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600" dirty="0">
                <a:solidFill>
                  <a:schemeClr val="tx1"/>
                </a:solidFill>
                <a:latin typeface="Meiryo UI" panose="020B0604030504040204" pitchFamily="50" charset="-128"/>
                <a:ea typeface="Meiryo UI" panose="020B0604030504040204" pitchFamily="50" charset="-128"/>
              </a:rPr>
              <a:t>時間帯</a:t>
            </a:r>
            <a:r>
              <a:rPr kumimoji="1" lang="ja-JP" altLang="en-US" sz="600" dirty="0">
                <a:solidFill>
                  <a:schemeClr val="tx1"/>
                </a:solidFill>
                <a:latin typeface="Meiryo UI" panose="020B0604030504040204" pitchFamily="50" charset="-128"/>
                <a:ea typeface="Meiryo UI" panose="020B0604030504040204" pitchFamily="50" charset="-128"/>
              </a:rPr>
              <a:t>別</a:t>
            </a:r>
            <a:r>
              <a:rPr lang="ja-JP" altLang="en-US" sz="600" dirty="0">
                <a:solidFill>
                  <a:schemeClr val="tx1"/>
                </a:solidFill>
                <a:latin typeface="Meiryo UI" panose="020B0604030504040204" pitchFamily="50" charset="-128"/>
                <a:ea typeface="Meiryo UI" panose="020B0604030504040204" pitchFamily="50" charset="-128"/>
              </a:rPr>
              <a:t>ナース</a:t>
            </a:r>
            <a:r>
              <a:rPr kumimoji="1" lang="ja-JP" altLang="en-US" sz="600" dirty="0">
                <a:solidFill>
                  <a:schemeClr val="tx1"/>
                </a:solidFill>
                <a:latin typeface="Meiryo UI" panose="020B0604030504040204" pitchFamily="50" charset="-128"/>
                <a:ea typeface="Meiryo UI" panose="020B0604030504040204" pitchFamily="50" charset="-128"/>
              </a:rPr>
              <a:t>コール数</a:t>
            </a:r>
          </a:p>
        </p:txBody>
      </p:sp>
      <p:sp>
        <p:nvSpPr>
          <p:cNvPr id="23" name="四角形: 角を丸くする 22">
            <a:extLst>
              <a:ext uri="{FF2B5EF4-FFF2-40B4-BE49-F238E27FC236}">
                <a16:creationId xmlns:a16="http://schemas.microsoft.com/office/drawing/2014/main" id="{9E5C0CA8-2B05-870C-579B-D1F55F3C5CA9}"/>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224EF94B-23C8-1002-280A-AF199772E0A4}"/>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31685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9E7238FA-2C61-C024-DE5E-D00D303281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585" y="1656063"/>
            <a:ext cx="8609880" cy="4067186"/>
          </a:xfrm>
          <a:prstGeom prst="rect">
            <a:avLst/>
          </a:prstGeom>
        </p:spPr>
      </p:pic>
      <p:sp>
        <p:nvSpPr>
          <p:cNvPr id="3" name="テキスト ボックス 2">
            <a:extLst>
              <a:ext uri="{FF2B5EF4-FFF2-40B4-BE49-F238E27FC236}">
                <a16:creationId xmlns:a16="http://schemas.microsoft.com/office/drawing/2014/main" id="{DA472CC1-7F6F-915D-5295-662168E6A475}"/>
              </a:ext>
            </a:extLst>
          </p:cNvPr>
          <p:cNvSpPr txBox="1"/>
          <p:nvPr/>
        </p:nvSpPr>
        <p:spPr bwMode="auto">
          <a:xfrm>
            <a:off x="330728" y="929292"/>
            <a:ext cx="4280266" cy="600164"/>
          </a:xfrm>
          <a:prstGeom prst="rect">
            <a:avLst/>
          </a:prstGeom>
          <a:noFill/>
          <a:ln w="2540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altLang="ja-JP" sz="1400" dirty="0">
                <a:solidFill>
                  <a:prstClr val="black"/>
                </a:solidFill>
                <a:latin typeface="Meiryo UI" panose="020B0604030504040204" pitchFamily="50" charset="-128"/>
                <a:ea typeface="Meiryo UI" panose="020B0604030504040204" pitchFamily="50" charset="-128"/>
              </a:rPr>
              <a:t>5</a:t>
            </a:r>
            <a:r>
              <a:rPr lang="ja-JP" altLang="en-US" sz="1400" dirty="0">
                <a:solidFill>
                  <a:prstClr val="black"/>
                </a:solidFill>
                <a:latin typeface="Meiryo UI" panose="020B0604030504040204" pitchFamily="50" charset="-128"/>
                <a:ea typeface="Meiryo UI" panose="020B0604030504040204" pitchFamily="50" charset="-128"/>
              </a:rPr>
              <a:t>ヶ月前～前月の各月データが表示可能。</a:t>
            </a:r>
            <a:endParaRPr lang="en-US" altLang="ja-JP" sz="1400" dirty="0">
              <a:solidFill>
                <a:prstClr val="black"/>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毎月</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1</a:t>
            </a:r>
            <a:r>
              <a:rPr lang="ja-JP" altLang="en-US" sz="1400" dirty="0">
                <a:latin typeface="Meiryo UI" panose="020B0604030504040204" pitchFamily="50" charset="-128"/>
                <a:ea typeface="Meiryo UI" panose="020B0604030504040204" pitchFamily="50" charset="-128"/>
              </a:rPr>
              <a:t>日に前月までのデータを</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更新する。</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endParaRPr>
          </a:p>
        </p:txBody>
      </p:sp>
      <p:sp>
        <p:nvSpPr>
          <p:cNvPr id="12" name="正方形/長方形 11">
            <a:extLst>
              <a:ext uri="{FF2B5EF4-FFF2-40B4-BE49-F238E27FC236}">
                <a16:creationId xmlns:a16="http://schemas.microsoft.com/office/drawing/2014/main" id="{BC8075AB-32FA-C6E2-29A6-DBF1AAF0CD58}"/>
              </a:ext>
            </a:extLst>
          </p:cNvPr>
          <p:cNvSpPr/>
          <p:nvPr/>
        </p:nvSpPr>
        <p:spPr>
          <a:xfrm>
            <a:off x="3423799" y="2439722"/>
            <a:ext cx="541873" cy="3269239"/>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14" name="テキスト ボックス 13">
            <a:extLst>
              <a:ext uri="{FF2B5EF4-FFF2-40B4-BE49-F238E27FC236}">
                <a16:creationId xmlns:a16="http://schemas.microsoft.com/office/drawing/2014/main" id="{E476ABBF-FE7F-4799-918A-824017AA3EC0}"/>
              </a:ext>
            </a:extLst>
          </p:cNvPr>
          <p:cNvSpPr txBox="1"/>
          <p:nvPr/>
        </p:nvSpPr>
        <p:spPr bwMode="auto">
          <a:xfrm>
            <a:off x="7160666" y="1301590"/>
            <a:ext cx="4430444" cy="600164"/>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3(300</a:t>
            </a:r>
            <a:r>
              <a:rPr kumimoji="1" lang="ja-JP" altLang="en-US" sz="1100" dirty="0">
                <a:latin typeface="Meiryo UI" panose="020B0604030504040204" pitchFamily="50" charset="-128"/>
                <a:ea typeface="Meiryo UI" panose="020B0604030504040204" pitchFamily="50" charset="-128"/>
              </a:rPr>
              <a:t>回以上、濃赤色</a:t>
            </a:r>
            <a:r>
              <a:rPr kumimoji="1"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、レベル</a:t>
            </a:r>
            <a:r>
              <a:rPr lang="en-US" altLang="ja-JP" sz="1100" dirty="0">
                <a:latin typeface="Meiryo UI" panose="020B0604030504040204" pitchFamily="50" charset="-128"/>
                <a:ea typeface="Meiryo UI" panose="020B0604030504040204" pitchFamily="50" charset="-128"/>
              </a:rPr>
              <a:t>2(</a:t>
            </a:r>
            <a:r>
              <a:rPr kumimoji="1" lang="en-US" altLang="ja-JP" sz="1100" dirty="0">
                <a:latin typeface="Meiryo UI" panose="020B0604030504040204" pitchFamily="50" charset="-128"/>
                <a:ea typeface="Meiryo UI" panose="020B0604030504040204" pitchFamily="50" charset="-128"/>
              </a:rPr>
              <a:t>100~299</a:t>
            </a:r>
            <a:r>
              <a:rPr kumimoji="1" lang="ja-JP" altLang="en-US" sz="1100" dirty="0">
                <a:latin typeface="Meiryo UI" panose="020B0604030504040204" pitchFamily="50" charset="-128"/>
                <a:ea typeface="Meiryo UI" panose="020B0604030504040204" pitchFamily="50" charset="-128"/>
              </a:rPr>
              <a:t>回、赤色</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1(45~99</a:t>
            </a:r>
            <a:r>
              <a:rPr kumimoji="1" lang="ja-JP" altLang="en-US" sz="1100" dirty="0">
                <a:latin typeface="Meiryo UI" panose="020B0604030504040204" pitchFamily="50" charset="-128"/>
                <a:ea typeface="Meiryo UI" panose="020B0604030504040204" pitchFamily="50" charset="-128"/>
              </a:rPr>
              <a:t>回、黄色</a:t>
            </a:r>
            <a:r>
              <a:rPr kumimoji="1"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、レベル</a:t>
            </a:r>
            <a:r>
              <a:rPr lang="en-US" altLang="ja-JP" sz="1100" dirty="0">
                <a:latin typeface="Meiryo UI" panose="020B0604030504040204" pitchFamily="50" charset="-128"/>
                <a:ea typeface="Meiryo UI" panose="020B0604030504040204" pitchFamily="50" charset="-128"/>
              </a:rPr>
              <a:t>0(45</a:t>
            </a:r>
            <a:r>
              <a:rPr lang="ja-JP" altLang="en-US" sz="1100" dirty="0">
                <a:latin typeface="Meiryo UI" panose="020B0604030504040204" pitchFamily="50" charset="-128"/>
                <a:ea typeface="Meiryo UI" panose="020B0604030504040204" pitchFamily="50" charset="-128"/>
              </a:rPr>
              <a:t>回未満、灰色</a:t>
            </a:r>
            <a:r>
              <a:rPr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ごとに文字を色付けし表示。（次項と共通）</a:t>
            </a:r>
            <a:endParaRPr kumimoji="1" lang="en-US" altLang="ja-JP" sz="1100" dirty="0">
              <a:solidFill>
                <a:srgbClr val="FF0000"/>
              </a:solidFill>
              <a:latin typeface="Meiryo UI" panose="020B0604030504040204" pitchFamily="50" charset="-128"/>
              <a:ea typeface="Meiryo UI" panose="020B0604030504040204" pitchFamily="50" charset="-128"/>
            </a:endParaRPr>
          </a:p>
        </p:txBody>
      </p:sp>
      <p:cxnSp>
        <p:nvCxnSpPr>
          <p:cNvPr id="18" name="直線矢印コネクタ 14">
            <a:extLst>
              <a:ext uri="{FF2B5EF4-FFF2-40B4-BE49-F238E27FC236}">
                <a16:creationId xmlns:a16="http://schemas.microsoft.com/office/drawing/2014/main" id="{9109DFA3-A0E6-F340-28BB-4C524E7EAC49}"/>
              </a:ext>
            </a:extLst>
          </p:cNvPr>
          <p:cNvCxnSpPr>
            <a:cxnSpLocks/>
            <a:stCxn id="11" idx="0"/>
            <a:endCxn id="20" idx="1"/>
          </p:cNvCxnSpPr>
          <p:nvPr/>
        </p:nvCxnSpPr>
        <p:spPr>
          <a:xfrm rot="5400000" flipH="1" flipV="1">
            <a:off x="5552581" y="829778"/>
            <a:ext cx="361311" cy="2854856"/>
          </a:xfrm>
          <a:prstGeom prst="bentConnector2">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9302F345-314F-4178-BB1C-651CADD41696}"/>
              </a:ext>
            </a:extLst>
          </p:cNvPr>
          <p:cNvSpPr txBox="1"/>
          <p:nvPr/>
        </p:nvSpPr>
        <p:spPr bwMode="auto">
          <a:xfrm>
            <a:off x="7160664" y="1945745"/>
            <a:ext cx="4430443" cy="261610"/>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絞り込んだ年月の各入居者ナース</a:t>
            </a:r>
            <a:r>
              <a:rPr lang="ja-JP" altLang="en-US" sz="1100" dirty="0">
                <a:latin typeface="Meiryo UI" panose="020B0604030504040204" pitchFamily="50" charset="-128"/>
                <a:ea typeface="Meiryo UI" panose="020B0604030504040204" pitchFamily="50" charset="-128"/>
              </a:rPr>
              <a:t>コール合計を表示。</a:t>
            </a:r>
            <a:endParaRPr kumimoji="1" lang="en-US" altLang="ja-JP" sz="1100" dirty="0">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2CFE12E6-85EA-CD06-E999-E29A5F949A4E}"/>
              </a:ext>
            </a:extLst>
          </p:cNvPr>
          <p:cNvSpPr txBox="1"/>
          <p:nvPr/>
        </p:nvSpPr>
        <p:spPr bwMode="auto">
          <a:xfrm>
            <a:off x="6299200" y="5980003"/>
            <a:ext cx="5291906" cy="600164"/>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ナースコールの回数が時間帯別で有意差</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カイ二乗検定、有意水準：</a:t>
            </a:r>
            <a:r>
              <a:rPr kumimoji="1" lang="en-US" altLang="ja-JP" sz="1100" dirty="0">
                <a:latin typeface="Meiryo UI" panose="020B0604030504040204" pitchFamily="50" charset="-128"/>
                <a:ea typeface="Meiryo UI" panose="020B0604030504040204" pitchFamily="50" charset="-128"/>
              </a:rPr>
              <a:t>p&lt;0.05)</a:t>
            </a:r>
            <a:r>
              <a:rPr kumimoji="1" lang="ja-JP" altLang="en-US" sz="1100" dirty="0">
                <a:latin typeface="Meiryo UI" panose="020B0604030504040204" pitchFamily="50" charset="-128"/>
                <a:ea typeface="Meiryo UI" panose="020B0604030504040204" pitchFamily="50" charset="-128"/>
              </a:rPr>
              <a:t>がある場合</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時間帯別</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、曜日別で有意差</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カイ二乗検定、有意水準：</a:t>
            </a:r>
            <a:r>
              <a:rPr kumimoji="1" lang="en-US" altLang="ja-JP" sz="1100" dirty="0">
                <a:latin typeface="Meiryo UI" panose="020B0604030504040204" pitchFamily="50" charset="-128"/>
                <a:ea typeface="Meiryo UI" panose="020B0604030504040204" pitchFamily="50" charset="-128"/>
              </a:rPr>
              <a:t>p&lt;0.05)</a:t>
            </a:r>
            <a:r>
              <a:rPr kumimoji="1" lang="ja-JP" altLang="en-US" sz="1100" dirty="0">
                <a:latin typeface="Meiryo UI" panose="020B0604030504040204" pitchFamily="50" charset="-128"/>
                <a:ea typeface="Meiryo UI" panose="020B0604030504040204" pitchFamily="50" charset="-128"/>
              </a:rPr>
              <a:t>がある場合</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曜日別</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と表示</a:t>
            </a:r>
            <a:endParaRPr kumimoji="1" lang="en-US" altLang="ja-JP" sz="1100" dirty="0">
              <a:solidFill>
                <a:srgbClr val="FF0000"/>
              </a:solidFill>
              <a:latin typeface="Meiryo UI" panose="020B0604030504040204" pitchFamily="50" charset="-128"/>
              <a:ea typeface="Meiryo UI" panose="020B0604030504040204" pitchFamily="50" charset="-128"/>
            </a:endParaRPr>
          </a:p>
        </p:txBody>
      </p:sp>
      <p:cxnSp>
        <p:nvCxnSpPr>
          <p:cNvPr id="23" name="直線矢印コネクタ 14">
            <a:extLst>
              <a:ext uri="{FF2B5EF4-FFF2-40B4-BE49-F238E27FC236}">
                <a16:creationId xmlns:a16="http://schemas.microsoft.com/office/drawing/2014/main" id="{9DDC11EE-D64F-404E-6D5B-76B3FD7B8A5D}"/>
              </a:ext>
            </a:extLst>
          </p:cNvPr>
          <p:cNvCxnSpPr>
            <a:cxnSpLocks/>
            <a:stCxn id="5" idx="2"/>
            <a:endCxn id="22" idx="1"/>
          </p:cNvCxnSpPr>
          <p:nvPr/>
        </p:nvCxnSpPr>
        <p:spPr>
          <a:xfrm rot="16200000" flipH="1">
            <a:off x="5406590" y="5387474"/>
            <a:ext cx="571361" cy="1213860"/>
          </a:xfrm>
          <a:prstGeom prst="bentConnector2">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9E10F750-616E-2900-7763-454668B49C6A}"/>
              </a:ext>
            </a:extLst>
          </p:cNvPr>
          <p:cNvSpPr txBox="1"/>
          <p:nvPr/>
        </p:nvSpPr>
        <p:spPr bwMode="auto">
          <a:xfrm>
            <a:off x="7909608" y="2846685"/>
            <a:ext cx="3681501" cy="3077766"/>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R="0" lvl="0" algn="l" defTabSz="914400" rtl="0" eaLnBrk="1" fontAlgn="auto" latinLnBrk="0" hangingPunct="1">
              <a:lnSpc>
                <a:spcPct val="100000"/>
              </a:lnSpc>
              <a:spcBef>
                <a:spcPts val="600"/>
              </a:spcBef>
              <a:spcAft>
                <a:spcPts val="0"/>
              </a:spcAft>
              <a:buClrTx/>
              <a:buSzTx/>
              <a:tabLst/>
              <a:defRPr/>
            </a:pPr>
            <a:r>
              <a:rPr kumimoji="1" lang="ja-JP" altLang="en-US" sz="1100" dirty="0">
                <a:latin typeface="Meiryo UI" panose="020B0604030504040204" pitchFamily="50" charset="-128"/>
                <a:ea typeface="Meiryo UI" panose="020B0604030504040204" pitchFamily="50" charset="-128"/>
              </a:rPr>
              <a:t>下記定義に基づき表示</a:t>
            </a:r>
            <a:endParaRPr kumimoji="1"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援助過剰：援助予定時間が</a:t>
            </a:r>
            <a:r>
              <a:rPr lang="ja-JP" altLang="en-US" sz="1100" dirty="0">
                <a:latin typeface="Meiryo UI" panose="020B0604030504040204" pitchFamily="50" charset="-128"/>
                <a:ea typeface="Meiryo UI" panose="020B0604030504040204" pitchFamily="50" charset="-128"/>
              </a:rPr>
              <a:t>一段階重度が高い</a:t>
            </a:r>
            <a:r>
              <a:rPr kumimoji="1" lang="ja-JP" altLang="en-US" sz="1100" dirty="0">
                <a:latin typeface="Meiryo UI" panose="020B0604030504040204" pitchFamily="50" charset="-128"/>
                <a:ea typeface="Meiryo UI" panose="020B0604030504040204" pitchFamily="50" charset="-128"/>
              </a:rPr>
              <a:t>介護度の基準時間超過</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黄緑色で表示</a:t>
            </a:r>
            <a:r>
              <a:rPr kumimoji="1" lang="en-US" altLang="ja-JP" sz="1100" dirty="0">
                <a:latin typeface="Meiryo UI" panose="020B0604030504040204" pitchFamily="50" charset="-128"/>
                <a:ea typeface="Meiryo UI" panose="020B0604030504040204" pitchFamily="50" charset="-128"/>
              </a:rPr>
              <a: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援助過少：援助予定時間が</a:t>
            </a:r>
            <a:r>
              <a:rPr lang="ja-JP" altLang="en-US" sz="1100" dirty="0">
                <a:latin typeface="Meiryo UI" panose="020B0604030504040204" pitchFamily="50" charset="-128"/>
                <a:ea typeface="Meiryo UI" panose="020B0604030504040204" pitchFamily="50" charset="-128"/>
              </a:rPr>
              <a:t>一段階重度が低い</a:t>
            </a:r>
            <a:r>
              <a:rPr kumimoji="1" lang="ja-JP" altLang="en-US" sz="1100" dirty="0">
                <a:latin typeface="Meiryo UI" panose="020B0604030504040204" pitchFamily="50" charset="-128"/>
                <a:ea typeface="Meiryo UI" panose="020B0604030504040204" pitchFamily="50" charset="-128"/>
              </a:rPr>
              <a:t>介護度の基準時間未満</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黄緑色で表示</a:t>
            </a:r>
            <a:r>
              <a:rPr kumimoji="1" lang="en-US" altLang="ja-JP" sz="1100" dirty="0">
                <a:latin typeface="Meiryo UI" panose="020B0604030504040204" pitchFamily="50" charset="-128"/>
                <a:ea typeface="Meiryo UI" panose="020B0604030504040204" pitchFamily="50" charset="-128"/>
              </a:rPr>
              <a: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未実施：援助未実施率が</a:t>
            </a:r>
            <a:r>
              <a:rPr kumimoji="1" lang="en-US" altLang="ja-JP" sz="1100" dirty="0">
                <a:latin typeface="Meiryo UI" panose="020B0604030504040204" pitchFamily="50" charset="-128"/>
                <a:ea typeface="Meiryo UI" panose="020B0604030504040204" pitchFamily="50" charset="-128"/>
              </a:rPr>
              <a:t>10%</a:t>
            </a:r>
            <a:r>
              <a:rPr kumimoji="1" lang="ja-JP" altLang="en-US" sz="1100" dirty="0">
                <a:latin typeface="Meiryo UI" panose="020B0604030504040204" pitchFamily="50" charset="-128"/>
                <a:ea typeface="Meiryo UI" panose="020B0604030504040204" pitchFamily="50" charset="-128"/>
              </a:rPr>
              <a:t>以上</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水色で表示</a:t>
            </a:r>
            <a:r>
              <a:rPr kumimoji="1" lang="en-US" altLang="ja-JP" sz="1100" dirty="0">
                <a:latin typeface="Meiryo UI" panose="020B0604030504040204" pitchFamily="50" charset="-128"/>
                <a:ea typeface="Meiryo UI" panose="020B0604030504040204" pitchFamily="50" charset="-128"/>
              </a:rPr>
              <a: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多剤</a:t>
            </a:r>
            <a:r>
              <a:rPr kumimoji="1" lang="en-US" altLang="ja-JP" sz="1100" dirty="0">
                <a:latin typeface="Meiryo UI" panose="020B0604030504040204" pitchFamily="50" charset="-128"/>
                <a:ea typeface="Meiryo UI" panose="020B0604030504040204" pitchFamily="50" charset="-128"/>
              </a:rPr>
              <a:t>1</a:t>
            </a:r>
            <a:r>
              <a:rPr kumimoji="1" lang="ja-JP" altLang="en-US" sz="1100" dirty="0">
                <a:latin typeface="Meiryo UI" panose="020B0604030504040204" pitchFamily="50" charset="-128"/>
                <a:ea typeface="Meiryo UI" panose="020B0604030504040204" pitchFamily="50" charset="-128"/>
              </a:rPr>
              <a:t>：処方薬が</a:t>
            </a:r>
            <a:r>
              <a:rPr kumimoji="1" lang="en-US" altLang="ja-JP" sz="1100" dirty="0">
                <a:latin typeface="Meiryo UI" panose="020B0604030504040204" pitchFamily="50" charset="-128"/>
                <a:ea typeface="Meiryo UI" panose="020B0604030504040204" pitchFamily="50" charset="-128"/>
              </a:rPr>
              <a:t>6~9</a:t>
            </a:r>
            <a:r>
              <a:rPr kumimoji="1" lang="ja-JP" altLang="en-US" sz="1100" dirty="0">
                <a:latin typeface="Meiryo UI" panose="020B0604030504040204" pitchFamily="50" charset="-128"/>
                <a:ea typeface="Meiryo UI" panose="020B0604030504040204" pitchFamily="50" charset="-128"/>
              </a:rPr>
              <a:t>種類</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茶色で表示</a:t>
            </a:r>
            <a:r>
              <a:rPr kumimoji="1" lang="en-US" altLang="ja-JP" sz="1100" dirty="0">
                <a:latin typeface="Meiryo UI" panose="020B0604030504040204" pitchFamily="50" charset="-128"/>
                <a:ea typeface="Meiryo UI" panose="020B0604030504040204" pitchFamily="50" charset="-128"/>
              </a:rPr>
              <a: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多剤</a:t>
            </a:r>
            <a:r>
              <a:rPr kumimoji="1" lang="en-US" altLang="ja-JP" sz="1100" dirty="0">
                <a:latin typeface="Meiryo UI" panose="020B0604030504040204" pitchFamily="50" charset="-128"/>
                <a:ea typeface="Meiryo UI" panose="020B0604030504040204" pitchFamily="50" charset="-128"/>
              </a:rPr>
              <a:t>2</a:t>
            </a:r>
            <a:r>
              <a:rPr kumimoji="1" lang="ja-JP" altLang="en-US" sz="1100" dirty="0">
                <a:latin typeface="Meiryo UI" panose="020B0604030504040204" pitchFamily="50" charset="-128"/>
                <a:ea typeface="Meiryo UI" panose="020B0604030504040204" pitchFamily="50" charset="-128"/>
              </a:rPr>
              <a:t>：処方薬が</a:t>
            </a:r>
            <a:r>
              <a:rPr kumimoji="1" lang="en-US" altLang="ja-JP" sz="1100" dirty="0">
                <a:latin typeface="Meiryo UI" panose="020B0604030504040204" pitchFamily="50" charset="-128"/>
                <a:ea typeface="Meiryo UI" panose="020B0604030504040204" pitchFamily="50" charset="-128"/>
              </a:rPr>
              <a:t>10</a:t>
            </a:r>
            <a:r>
              <a:rPr kumimoji="1" lang="ja-JP" altLang="en-US" sz="1100" dirty="0">
                <a:latin typeface="Meiryo UI" panose="020B0604030504040204" pitchFamily="50" charset="-128"/>
                <a:ea typeface="Meiryo UI" panose="020B0604030504040204" pitchFamily="50" charset="-128"/>
              </a:rPr>
              <a:t>種類以上</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濃茶色で表示</a:t>
            </a:r>
            <a:r>
              <a:rPr kumimoji="1" lang="en-US" altLang="ja-JP" sz="1100" dirty="0">
                <a:latin typeface="Meiryo UI" panose="020B0604030504040204" pitchFamily="50" charset="-128"/>
                <a:ea typeface="Meiryo UI" panose="020B0604030504040204" pitchFamily="50" charset="-128"/>
              </a:rPr>
              <a: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体重減：平均体重が前月から</a:t>
            </a:r>
            <a:r>
              <a:rPr kumimoji="1" lang="en-US" altLang="ja-JP" sz="1100" dirty="0">
                <a:latin typeface="Meiryo UI" panose="020B0604030504040204" pitchFamily="50" charset="-128"/>
                <a:ea typeface="Meiryo UI" panose="020B0604030504040204" pitchFamily="50" charset="-128"/>
              </a:rPr>
              <a:t>3%</a:t>
            </a:r>
            <a:r>
              <a:rPr kumimoji="1" lang="ja-JP" altLang="en-US" sz="1100" dirty="0">
                <a:latin typeface="Meiryo UI" panose="020B0604030504040204" pitchFamily="50" charset="-128"/>
                <a:ea typeface="Meiryo UI" panose="020B0604030504040204" pitchFamily="50" charset="-128"/>
              </a:rPr>
              <a:t>以上減少</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紫色で表示</a:t>
            </a:r>
            <a:r>
              <a:rPr kumimoji="1" lang="en-US" altLang="ja-JP" sz="1100" dirty="0">
                <a:latin typeface="Meiryo UI" panose="020B0604030504040204" pitchFamily="50" charset="-128"/>
                <a:ea typeface="Meiryo UI" panose="020B0604030504040204" pitchFamily="50" charset="-128"/>
              </a:rPr>
              <a: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食事量：平均摂取量 </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主食副食合計</a:t>
            </a:r>
            <a:r>
              <a:rPr kumimoji="1" lang="en-US" altLang="ja-JP" sz="1100" dirty="0">
                <a:latin typeface="Meiryo UI" panose="020B0604030504040204" pitchFamily="50" charset="-128"/>
                <a:ea typeface="Meiryo UI" panose="020B0604030504040204" pitchFamily="50" charset="-128"/>
              </a:rPr>
              <a:t>) </a:t>
            </a:r>
            <a:r>
              <a:rPr kumimoji="1" lang="ja-JP" altLang="en-US" sz="1100" dirty="0">
                <a:latin typeface="Meiryo UI" panose="020B0604030504040204" pitchFamily="50" charset="-128"/>
                <a:ea typeface="Meiryo UI" panose="020B0604030504040204" pitchFamily="50" charset="-128"/>
              </a:rPr>
              <a:t>が</a:t>
            </a:r>
            <a:r>
              <a:rPr kumimoji="1" lang="en-US" altLang="ja-JP" sz="1100" dirty="0">
                <a:latin typeface="Meiryo UI" panose="020B0604030504040204" pitchFamily="50" charset="-128"/>
                <a:ea typeface="Meiryo UI" panose="020B0604030504040204" pitchFamily="50" charset="-128"/>
              </a:rPr>
              <a:t>75%</a:t>
            </a:r>
            <a:r>
              <a:rPr kumimoji="1" lang="ja-JP" altLang="en-US" sz="1100" dirty="0">
                <a:latin typeface="Meiryo UI" panose="020B0604030504040204" pitchFamily="50" charset="-128"/>
                <a:ea typeface="Meiryo UI" panose="020B0604030504040204" pitchFamily="50" charset="-128"/>
              </a:rPr>
              <a:t>未満</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緑色で表示</a:t>
            </a:r>
            <a:r>
              <a:rPr kumimoji="1" lang="en-US" altLang="ja-JP" sz="1100" dirty="0">
                <a:latin typeface="Meiryo UI" panose="020B0604030504040204" pitchFamily="50" charset="-128"/>
                <a:ea typeface="Meiryo UI" panose="020B0604030504040204" pitchFamily="50" charset="-128"/>
              </a:rPr>
              <a: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夜間不眠：夜間の平均睡眠時間が</a:t>
            </a:r>
            <a:r>
              <a:rPr kumimoji="1" lang="en-US" altLang="ja-JP" sz="1100" dirty="0">
                <a:latin typeface="Meiryo UI" panose="020B0604030504040204" pitchFamily="50" charset="-128"/>
                <a:ea typeface="Meiryo UI" panose="020B0604030504040204" pitchFamily="50" charset="-128"/>
              </a:rPr>
              <a:t>5</a:t>
            </a:r>
            <a:r>
              <a:rPr kumimoji="1" lang="ja-JP" altLang="en-US" sz="1100" dirty="0">
                <a:latin typeface="Meiryo UI" panose="020B0604030504040204" pitchFamily="50" charset="-128"/>
                <a:ea typeface="Meiryo UI" panose="020B0604030504040204" pitchFamily="50" charset="-128"/>
              </a:rPr>
              <a:t>時間未満</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青色で表示</a:t>
            </a:r>
            <a:r>
              <a:rPr kumimoji="1" lang="en-US" altLang="ja-JP" sz="1100" dirty="0">
                <a:latin typeface="Meiryo UI" panose="020B0604030504040204" pitchFamily="50" charset="-128"/>
                <a:ea typeface="Meiryo UI" panose="020B0604030504040204" pitchFamily="50" charset="-128"/>
              </a:rPr>
              <a:t>)</a:t>
            </a:r>
          </a:p>
        </p:txBody>
      </p:sp>
      <p:cxnSp>
        <p:nvCxnSpPr>
          <p:cNvPr id="28" name="直線矢印コネクタ 14">
            <a:extLst>
              <a:ext uri="{FF2B5EF4-FFF2-40B4-BE49-F238E27FC236}">
                <a16:creationId xmlns:a16="http://schemas.microsoft.com/office/drawing/2014/main" id="{A12C9E0E-3753-630A-8DB4-7B776C07281C}"/>
              </a:ext>
            </a:extLst>
          </p:cNvPr>
          <p:cNvCxnSpPr>
            <a:cxnSpLocks/>
            <a:stCxn id="34" idx="3"/>
            <a:endCxn id="27" idx="1"/>
          </p:cNvCxnSpPr>
          <p:nvPr/>
        </p:nvCxnSpPr>
        <p:spPr>
          <a:xfrm>
            <a:off x="7605588" y="4075541"/>
            <a:ext cx="304020" cy="310027"/>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922FF5A4-0CE4-4422-7EEA-6EA98E8416A5}"/>
              </a:ext>
            </a:extLst>
          </p:cNvPr>
          <p:cNvCxnSpPr>
            <a:cxnSpLocks/>
            <a:stCxn id="12" idx="0"/>
            <a:endCxn id="14" idx="1"/>
          </p:cNvCxnSpPr>
          <p:nvPr/>
        </p:nvCxnSpPr>
        <p:spPr>
          <a:xfrm rot="5400000" flipH="1" flipV="1">
            <a:off x="5008676" y="287732"/>
            <a:ext cx="838050" cy="3465930"/>
          </a:xfrm>
          <a:prstGeom prst="bentConnector2">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0304947B-A071-F894-43F6-E59FEC778284}"/>
              </a:ext>
            </a:extLst>
          </p:cNvPr>
          <p:cNvSpPr txBox="1"/>
          <p:nvPr/>
        </p:nvSpPr>
        <p:spPr bwMode="auto">
          <a:xfrm>
            <a:off x="4640479" y="2484625"/>
            <a:ext cx="864495" cy="169277"/>
          </a:xfrm>
          <a:prstGeom prst="rect">
            <a:avLst/>
          </a:prstGeom>
          <a:solidFill>
            <a:srgbClr val="F6F7F9"/>
          </a:solidFill>
          <a:ln w="25400">
            <a:noFill/>
            <a:miter lim="800000"/>
            <a:headEnd/>
            <a:tailEnd/>
          </a:ln>
        </p:spPr>
        <p:txBody>
          <a:bodyPr wrap="square" lIns="180000" rIns="180000" rtlCol="0" anchor="ctr">
            <a:spAutoFit/>
          </a:bodyPr>
          <a:lstStyle/>
          <a:p>
            <a:pPr algn="l">
              <a:spcBef>
                <a:spcPts val="600"/>
              </a:spcBef>
            </a:pPr>
            <a:r>
              <a:rPr kumimoji="1" lang="ja-JP" altLang="en-US" sz="500" dirty="0">
                <a:latin typeface="Meiryo UI" panose="020B0604030504040204" pitchFamily="50" charset="-128"/>
                <a:ea typeface="Meiryo UI" panose="020B0604030504040204" pitchFamily="50" charset="-128"/>
              </a:rPr>
              <a:t>ナースコール傾向</a:t>
            </a:r>
          </a:p>
        </p:txBody>
      </p:sp>
      <p:sp>
        <p:nvSpPr>
          <p:cNvPr id="2" name="タイトル 1">
            <a:extLst>
              <a:ext uri="{FF2B5EF4-FFF2-40B4-BE49-F238E27FC236}">
                <a16:creationId xmlns:a16="http://schemas.microsoft.com/office/drawing/2014/main" id="{B5373F26-FC03-FCFC-ED8B-156810DB7AB9}"/>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画面要件</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③</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原因分析</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」ページ</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ホーム別</a:t>
            </a:r>
            <a:endParaRPr lang="ja-JP" altLang="ja-JP" dirty="0">
              <a:effectLst/>
            </a:endParaRPr>
          </a:p>
        </p:txBody>
      </p:sp>
      <p:sp>
        <p:nvSpPr>
          <p:cNvPr id="5" name="正方形/長方形 4">
            <a:extLst>
              <a:ext uri="{FF2B5EF4-FFF2-40B4-BE49-F238E27FC236}">
                <a16:creationId xmlns:a16="http://schemas.microsoft.com/office/drawing/2014/main" id="{6BCAAE6F-B987-9B91-89CB-8B110B4C573B}"/>
              </a:ext>
            </a:extLst>
          </p:cNvPr>
          <p:cNvSpPr/>
          <p:nvPr/>
        </p:nvSpPr>
        <p:spPr>
          <a:xfrm>
            <a:off x="4649151" y="2439168"/>
            <a:ext cx="872378" cy="3269556"/>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11" name="正方形/長方形 10">
            <a:extLst>
              <a:ext uri="{FF2B5EF4-FFF2-40B4-BE49-F238E27FC236}">
                <a16:creationId xmlns:a16="http://schemas.microsoft.com/office/drawing/2014/main" id="{929C8FF0-AFA5-A544-E40E-86D3EB3A5FD8}"/>
              </a:ext>
            </a:extLst>
          </p:cNvPr>
          <p:cNvSpPr/>
          <p:nvPr/>
        </p:nvSpPr>
        <p:spPr>
          <a:xfrm>
            <a:off x="4000622" y="2437861"/>
            <a:ext cx="610372" cy="3269239"/>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34" name="正方形/長方形 33">
            <a:extLst>
              <a:ext uri="{FF2B5EF4-FFF2-40B4-BE49-F238E27FC236}">
                <a16:creationId xmlns:a16="http://schemas.microsoft.com/office/drawing/2014/main" id="{28B08D35-BE25-A4A4-502D-B8F7894EC468}"/>
              </a:ext>
            </a:extLst>
          </p:cNvPr>
          <p:cNvSpPr/>
          <p:nvPr/>
        </p:nvSpPr>
        <p:spPr>
          <a:xfrm>
            <a:off x="5550789" y="2440763"/>
            <a:ext cx="2054799" cy="3269556"/>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10" name="正方形/長方形 9">
            <a:extLst>
              <a:ext uri="{FF2B5EF4-FFF2-40B4-BE49-F238E27FC236}">
                <a16:creationId xmlns:a16="http://schemas.microsoft.com/office/drawing/2014/main" id="{4308A9F8-8432-FD88-D3B7-64D19F81538A}"/>
              </a:ext>
            </a:extLst>
          </p:cNvPr>
          <p:cNvSpPr/>
          <p:nvPr/>
        </p:nvSpPr>
        <p:spPr>
          <a:xfrm>
            <a:off x="322901" y="2227806"/>
            <a:ext cx="1523828" cy="3479294"/>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cxnSp>
        <p:nvCxnSpPr>
          <p:cNvPr id="17" name="直線矢印コネクタ 16">
            <a:extLst>
              <a:ext uri="{FF2B5EF4-FFF2-40B4-BE49-F238E27FC236}">
                <a16:creationId xmlns:a16="http://schemas.microsoft.com/office/drawing/2014/main" id="{A19492F1-A9E5-392B-572D-546197C47D17}"/>
              </a:ext>
            </a:extLst>
          </p:cNvPr>
          <p:cNvCxnSpPr>
            <a:cxnSpLocks/>
            <a:stCxn id="10" idx="2"/>
            <a:endCxn id="19" idx="0"/>
          </p:cNvCxnSpPr>
          <p:nvPr/>
        </p:nvCxnSpPr>
        <p:spPr>
          <a:xfrm rot="16200000" flipH="1">
            <a:off x="1756495" y="5035419"/>
            <a:ext cx="166773" cy="1510133"/>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C3E3BB08-EE67-96C1-195E-ED0CFA815D87}"/>
              </a:ext>
            </a:extLst>
          </p:cNvPr>
          <p:cNvSpPr txBox="1"/>
          <p:nvPr/>
        </p:nvSpPr>
        <p:spPr bwMode="auto">
          <a:xfrm>
            <a:off x="313951" y="5873873"/>
            <a:ext cx="4561994" cy="923330"/>
          </a:xfrm>
          <a:prstGeom prst="rect">
            <a:avLst/>
          </a:prstGeom>
          <a:solidFill>
            <a:schemeClr val="bg1"/>
          </a:solidFill>
          <a:ln w="6350">
            <a:solidFill>
              <a:schemeClr val="tx1"/>
            </a:solidFill>
            <a:miter lim="800000"/>
            <a:headEnd/>
            <a:tailEnd/>
          </a:ln>
        </p:spPr>
        <p:txBody>
          <a:bodyPr wrap="square" lIns="180000" rIns="180000" rtlCol="0" anchor="t">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solidFill>
                  <a:prstClr val="black"/>
                </a:solidFill>
                <a:latin typeface="Meiryo UI" panose="020B0604030504040204" pitchFamily="50" charset="-128"/>
                <a:ea typeface="Meiryo UI" panose="020B0604030504040204" pitchFamily="50" charset="-128"/>
              </a:rPr>
              <a:t>入居者別詳細テーブルを、下記項目で絞り込みできる。</a:t>
            </a:r>
            <a:endParaRPr lang="en-US" altLang="ja-JP" sz="1100" dirty="0">
              <a:solidFill>
                <a:prstClr val="black"/>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solidFill>
                  <a:prstClr val="black"/>
                </a:solidFill>
                <a:latin typeface="Meiryo UI" panose="020B0604030504040204" pitchFamily="50" charset="-128"/>
                <a:ea typeface="Meiryo UI" panose="020B0604030504040204" pitchFamily="50" charset="-128"/>
              </a:rPr>
              <a:t>オープン状態をデフォルトとする。</a:t>
            </a:r>
            <a:endParaRPr lang="en-US" altLang="ja-JP" sz="1100" dirty="0">
              <a:solidFill>
                <a:prstClr val="black"/>
              </a:solidFill>
              <a:latin typeface="Meiryo UI" panose="020B0604030504040204" pitchFamily="50" charset="-128"/>
              <a:ea typeface="Meiryo UI" panose="020B0604030504040204" pitchFamily="50" charset="-128"/>
            </a:endParaRPr>
          </a:p>
          <a:p>
            <a:pPr marR="0" lvl="0" algn="l" defTabSz="914400" rtl="0" eaLnBrk="1" fontAlgn="auto" latinLnBrk="0" hangingPunct="1">
              <a:lnSpc>
                <a:spcPct val="100000"/>
              </a:lnSpc>
              <a:spcBef>
                <a:spcPts val="600"/>
              </a:spcBef>
              <a:spcAft>
                <a:spcPts val="0"/>
              </a:spcAft>
              <a:buClrTx/>
              <a:buSzTx/>
              <a:tabLst/>
              <a:defRPr/>
            </a:pPr>
            <a:r>
              <a:rPr lang="ja-JP" altLang="en-US" sz="1100" dirty="0">
                <a:solidFill>
                  <a:prstClr val="black"/>
                </a:solidFill>
                <a:latin typeface="Meiryo UI" panose="020B0604030504040204" pitchFamily="50" charset="-128"/>
                <a:ea typeface="Meiryo UI" panose="020B0604030504040204" pitchFamily="50" charset="-128"/>
              </a:rPr>
              <a:t>「データ表示年月</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複数選択不可</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」「部屋番号</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複数選択不可</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」、「入居者名</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複数選択不可</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」、「レベル</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複数選択可</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」、「介護度</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複数選択可</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a:t>
            </a:r>
            <a:endParaRPr lang="en-US" altLang="ja-JP" sz="1100" dirty="0">
              <a:solidFill>
                <a:prstClr val="black"/>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9C6F7565-EEB5-6D10-6017-478B823648DA}"/>
              </a:ext>
            </a:extLst>
          </p:cNvPr>
          <p:cNvSpPr/>
          <p:nvPr/>
        </p:nvSpPr>
        <p:spPr>
          <a:xfrm>
            <a:off x="322901" y="1962406"/>
            <a:ext cx="3007152" cy="224371"/>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41" name="テキスト ボックス 40">
            <a:extLst>
              <a:ext uri="{FF2B5EF4-FFF2-40B4-BE49-F238E27FC236}">
                <a16:creationId xmlns:a16="http://schemas.microsoft.com/office/drawing/2014/main" id="{CE87374B-CD3A-E40D-A70E-4DD8DEBDE00F}"/>
              </a:ext>
            </a:extLst>
          </p:cNvPr>
          <p:cNvSpPr txBox="1"/>
          <p:nvPr/>
        </p:nvSpPr>
        <p:spPr bwMode="auto">
          <a:xfrm>
            <a:off x="7160664" y="998520"/>
            <a:ext cx="4430445" cy="261610"/>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絞り込んだ年月の「施設別ナースコール全数」「各レベル人数」を表示。</a:t>
            </a:r>
            <a:endParaRPr kumimoji="1" lang="en-US" altLang="ja-JP" sz="1100" dirty="0">
              <a:latin typeface="Meiryo UI" panose="020B0604030504040204" pitchFamily="50" charset="-128"/>
              <a:ea typeface="Meiryo UI" panose="020B0604030504040204" pitchFamily="50" charset="-128"/>
            </a:endParaRPr>
          </a:p>
        </p:txBody>
      </p:sp>
      <p:cxnSp>
        <p:nvCxnSpPr>
          <p:cNvPr id="46" name="直線矢印コネクタ 14">
            <a:extLst>
              <a:ext uri="{FF2B5EF4-FFF2-40B4-BE49-F238E27FC236}">
                <a16:creationId xmlns:a16="http://schemas.microsoft.com/office/drawing/2014/main" id="{E4CA22A4-8CE7-DB25-A1B2-E2F059DC9E5F}"/>
              </a:ext>
            </a:extLst>
          </p:cNvPr>
          <p:cNvCxnSpPr>
            <a:cxnSpLocks/>
            <a:stCxn id="40" idx="3"/>
            <a:endCxn id="41" idx="1"/>
          </p:cNvCxnSpPr>
          <p:nvPr/>
        </p:nvCxnSpPr>
        <p:spPr>
          <a:xfrm flipV="1">
            <a:off x="3330053" y="1129325"/>
            <a:ext cx="3830611" cy="945267"/>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7E445A66-8E7A-7658-BF47-B7E26930EF56}"/>
              </a:ext>
            </a:extLst>
          </p:cNvPr>
          <p:cNvSpPr/>
          <p:nvPr/>
        </p:nvSpPr>
        <p:spPr>
          <a:xfrm>
            <a:off x="7901270" y="2246988"/>
            <a:ext cx="472710" cy="178520"/>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9" name="正方形/長方形 8">
            <a:extLst>
              <a:ext uri="{FF2B5EF4-FFF2-40B4-BE49-F238E27FC236}">
                <a16:creationId xmlns:a16="http://schemas.microsoft.com/office/drawing/2014/main" id="{A7822396-65A8-7992-CCA2-E3F794A0B880}"/>
              </a:ext>
            </a:extLst>
          </p:cNvPr>
          <p:cNvSpPr/>
          <p:nvPr/>
        </p:nvSpPr>
        <p:spPr>
          <a:xfrm>
            <a:off x="8402245" y="2243317"/>
            <a:ext cx="472710" cy="178520"/>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13" name="テキスト ボックス 12">
            <a:extLst>
              <a:ext uri="{FF2B5EF4-FFF2-40B4-BE49-F238E27FC236}">
                <a16:creationId xmlns:a16="http://schemas.microsoft.com/office/drawing/2014/main" id="{8EC1C931-4541-40EF-EE1E-CACD0DC33445}"/>
              </a:ext>
            </a:extLst>
          </p:cNvPr>
          <p:cNvSpPr txBox="1"/>
          <p:nvPr/>
        </p:nvSpPr>
        <p:spPr bwMode="auto">
          <a:xfrm>
            <a:off x="7901271" y="2546623"/>
            <a:ext cx="3689836" cy="261610"/>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入居者個別詳細</a:t>
            </a:r>
            <a:r>
              <a:rPr kumimoji="1" lang="en-US" altLang="ja-JP" sz="1100" dirty="0">
                <a:latin typeface="Meiryo UI" panose="020B0604030504040204" pitchFamily="50" charset="-128"/>
                <a:ea typeface="Meiryo UI" panose="020B0604030504040204" pitchFamily="50" charset="-128"/>
              </a:rPr>
              <a:t>drawer</a:t>
            </a:r>
            <a:r>
              <a:rPr lang="ja-JP" altLang="en-US" sz="1100" dirty="0">
                <a:latin typeface="Meiryo UI" panose="020B0604030504040204" pitchFamily="50" charset="-128"/>
                <a:ea typeface="Meiryo UI" panose="020B0604030504040204" pitchFamily="50" charset="-128"/>
              </a:rPr>
              <a:t>へ遷移</a:t>
            </a:r>
            <a:endParaRPr kumimoji="1" lang="en-US" altLang="ja-JP" sz="1100" dirty="0">
              <a:latin typeface="Meiryo UI" panose="020B0604030504040204" pitchFamily="50" charset="-128"/>
              <a:ea typeface="Meiryo UI" panose="020B0604030504040204" pitchFamily="50" charset="-128"/>
            </a:endParaRPr>
          </a:p>
        </p:txBody>
      </p:sp>
      <p:cxnSp>
        <p:nvCxnSpPr>
          <p:cNvPr id="16" name="直線矢印コネクタ 14">
            <a:extLst>
              <a:ext uri="{FF2B5EF4-FFF2-40B4-BE49-F238E27FC236}">
                <a16:creationId xmlns:a16="http://schemas.microsoft.com/office/drawing/2014/main" id="{427AC10C-47A0-D3D3-54E6-BA2EB547BB42}"/>
              </a:ext>
            </a:extLst>
          </p:cNvPr>
          <p:cNvCxnSpPr>
            <a:cxnSpLocks/>
            <a:stCxn id="8" idx="1"/>
            <a:endCxn id="13" idx="1"/>
          </p:cNvCxnSpPr>
          <p:nvPr/>
        </p:nvCxnSpPr>
        <p:spPr>
          <a:xfrm rot="10800000" flipH="1" flipV="1">
            <a:off x="7901269" y="2336248"/>
            <a:ext cx="1" cy="341180"/>
          </a:xfrm>
          <a:prstGeom prst="bentConnector3">
            <a:avLst>
              <a:gd name="adj1" fmla="val -2286000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7AA2AB82-52EE-3843-D39D-BE4F83DFB0B2}"/>
              </a:ext>
            </a:extLst>
          </p:cNvPr>
          <p:cNvSpPr txBox="1"/>
          <p:nvPr/>
        </p:nvSpPr>
        <p:spPr bwMode="auto">
          <a:xfrm>
            <a:off x="9114583" y="2250784"/>
            <a:ext cx="2476524" cy="261610"/>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各種定義へ遷移</a:t>
            </a:r>
            <a:endParaRPr kumimoji="1" lang="en-US" altLang="ja-JP" sz="1100" dirty="0">
              <a:latin typeface="Meiryo UI" panose="020B0604030504040204" pitchFamily="50" charset="-128"/>
              <a:ea typeface="Meiryo UI" panose="020B0604030504040204" pitchFamily="50" charset="-128"/>
            </a:endParaRPr>
          </a:p>
        </p:txBody>
      </p:sp>
      <p:cxnSp>
        <p:nvCxnSpPr>
          <p:cNvPr id="30" name="直線矢印コネクタ 14">
            <a:extLst>
              <a:ext uri="{FF2B5EF4-FFF2-40B4-BE49-F238E27FC236}">
                <a16:creationId xmlns:a16="http://schemas.microsoft.com/office/drawing/2014/main" id="{5BE95E55-545D-1EE2-3EC2-19031E19726D}"/>
              </a:ext>
            </a:extLst>
          </p:cNvPr>
          <p:cNvCxnSpPr>
            <a:cxnSpLocks/>
            <a:stCxn id="9" idx="3"/>
            <a:endCxn id="26" idx="1"/>
          </p:cNvCxnSpPr>
          <p:nvPr/>
        </p:nvCxnSpPr>
        <p:spPr>
          <a:xfrm>
            <a:off x="8874955" y="2332577"/>
            <a:ext cx="239628" cy="49012"/>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33C98BCD-B0DC-CB22-BC06-D540B6A19A00}"/>
              </a:ext>
            </a:extLst>
          </p:cNvPr>
          <p:cNvSpPr txBox="1"/>
          <p:nvPr/>
        </p:nvSpPr>
        <p:spPr bwMode="auto">
          <a:xfrm>
            <a:off x="1914976" y="3763061"/>
            <a:ext cx="1440575" cy="646331"/>
          </a:xfrm>
          <a:prstGeom prst="rect">
            <a:avLst/>
          </a:prstGeom>
          <a:solidFill>
            <a:schemeClr val="bg1"/>
          </a:solidFill>
          <a:ln w="6350">
            <a:solidFill>
              <a:schemeClr val="tx1"/>
            </a:solidFill>
            <a:prstDash val="dash"/>
            <a:miter lim="800000"/>
            <a:headEnd/>
            <a:tailEnd/>
          </a:ln>
        </p:spPr>
        <p:txBody>
          <a:bodyPr wrap="square" lIns="180000" rIns="180000" rtlCol="0" anchor="t">
            <a:spAutoFit/>
          </a:bodyPr>
          <a:lstStyle/>
          <a:p>
            <a:pPr>
              <a:spcBef>
                <a:spcPts val="600"/>
              </a:spcBef>
              <a:defRPr/>
            </a:pPr>
            <a:r>
              <a:rPr lang="ja-JP" altLang="en-US" sz="1200" dirty="0">
                <a:solidFill>
                  <a:prstClr val="black"/>
                </a:solidFill>
                <a:latin typeface="Meiryo UI" panose="020B0604030504040204" pitchFamily="50" charset="-128"/>
                <a:ea typeface="Meiryo UI" panose="020B0604030504040204" pitchFamily="50" charset="-128"/>
              </a:rPr>
              <a:t>行別に押下可能</a:t>
            </a:r>
            <a:br>
              <a:rPr lang="en-US" altLang="ja-JP" sz="1200" dirty="0">
                <a:solidFill>
                  <a:prstClr val="black"/>
                </a:solidFill>
                <a:latin typeface="Meiryo UI" panose="020B0604030504040204" pitchFamily="50" charset="-128"/>
                <a:ea typeface="Meiryo UI" panose="020B0604030504040204" pitchFamily="50" charset="-128"/>
              </a:rPr>
            </a:br>
            <a:r>
              <a:rPr kumimoji="1" lang="ja-JP" altLang="en-US" sz="1200" dirty="0">
                <a:latin typeface="Meiryo UI" panose="020B0604030504040204" pitchFamily="50" charset="-128"/>
                <a:ea typeface="Meiryo UI" panose="020B0604030504040204" pitchFamily="50" charset="-128"/>
              </a:rPr>
              <a:t>入居者個別詳細</a:t>
            </a:r>
            <a:r>
              <a:rPr kumimoji="1" lang="en-US" altLang="ja-JP" sz="1200" dirty="0">
                <a:latin typeface="Meiryo UI" panose="020B0604030504040204" pitchFamily="50" charset="-128"/>
                <a:ea typeface="Meiryo UI" panose="020B0604030504040204" pitchFamily="50" charset="-128"/>
              </a:rPr>
              <a:t>drawer</a:t>
            </a:r>
            <a:r>
              <a:rPr lang="ja-JP" altLang="en-US" sz="1200" dirty="0">
                <a:latin typeface="Meiryo UI" panose="020B0604030504040204" pitchFamily="50" charset="-128"/>
                <a:ea typeface="Meiryo UI" panose="020B0604030504040204" pitchFamily="50" charset="-128"/>
              </a:rPr>
              <a:t>へ遷移</a:t>
            </a:r>
            <a:endParaRPr kumimoji="1" lang="en-US" altLang="ja-JP" sz="1200" dirty="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23A915B0-CCE0-FCAD-DE27-AD6BE3AAB7DC}"/>
              </a:ext>
            </a:extLst>
          </p:cNvPr>
          <p:cNvSpPr/>
          <p:nvPr/>
        </p:nvSpPr>
        <p:spPr>
          <a:xfrm>
            <a:off x="1829498" y="1727739"/>
            <a:ext cx="492022" cy="9953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600" dirty="0">
                <a:solidFill>
                  <a:srgbClr val="1D68CF"/>
                </a:solidFill>
                <a:latin typeface="Meiryo UI" panose="020B0604030504040204" pitchFamily="50" charset="-128"/>
                <a:ea typeface="Meiryo UI" panose="020B0604030504040204" pitchFamily="50" charset="-128"/>
              </a:rPr>
              <a:t>原因分析</a:t>
            </a:r>
            <a:endParaRPr lang="en-US" altLang="ja-JP" sz="600" dirty="0">
              <a:solidFill>
                <a:srgbClr val="1D68CF"/>
              </a:solidFill>
              <a:latin typeface="Meiryo UI" panose="020B0604030504040204" pitchFamily="50" charset="-128"/>
              <a:ea typeface="Meiryo UI" panose="020B0604030504040204" pitchFamily="50" charset="-128"/>
            </a:endParaRPr>
          </a:p>
        </p:txBody>
      </p:sp>
      <p:sp>
        <p:nvSpPr>
          <p:cNvPr id="21" name="テキスト ボックス 20">
            <a:extLst>
              <a:ext uri="{FF2B5EF4-FFF2-40B4-BE49-F238E27FC236}">
                <a16:creationId xmlns:a16="http://schemas.microsoft.com/office/drawing/2014/main" id="{88D16791-DE93-F2A5-A711-8FAA7929A74B}"/>
              </a:ext>
            </a:extLst>
          </p:cNvPr>
          <p:cNvSpPr txBox="1"/>
          <p:nvPr/>
        </p:nvSpPr>
        <p:spPr bwMode="auto">
          <a:xfrm>
            <a:off x="2355192" y="2430819"/>
            <a:ext cx="543052" cy="307777"/>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400" dirty="0">
                <a:solidFill>
                  <a:srgbClr val="FF0000"/>
                </a:solidFill>
                <a:latin typeface="Meiryo UI" panose="020B0604030504040204" pitchFamily="50" charset="-128"/>
                <a:ea typeface="Meiryo UI" panose="020B0604030504040204" pitchFamily="50" charset="-128"/>
              </a:rPr>
              <a:t>⑮</a:t>
            </a:r>
            <a:endParaRPr lang="en-US" altLang="ja-JP" sz="1400" dirty="0">
              <a:solidFill>
                <a:srgbClr val="FF0000"/>
              </a:solidFill>
              <a:latin typeface="Meiryo UI" panose="020B0604030504040204" pitchFamily="50" charset="-128"/>
              <a:ea typeface="Meiryo UI" panose="020B0604030504040204" pitchFamily="50" charset="-128"/>
            </a:endParaRPr>
          </a:p>
        </p:txBody>
      </p:sp>
      <p:sp>
        <p:nvSpPr>
          <p:cNvPr id="24" name="テキスト ボックス 23">
            <a:extLst>
              <a:ext uri="{FF2B5EF4-FFF2-40B4-BE49-F238E27FC236}">
                <a16:creationId xmlns:a16="http://schemas.microsoft.com/office/drawing/2014/main" id="{D248D50C-3260-7E1C-B242-57457000095D}"/>
              </a:ext>
            </a:extLst>
          </p:cNvPr>
          <p:cNvSpPr txBox="1"/>
          <p:nvPr/>
        </p:nvSpPr>
        <p:spPr bwMode="auto">
          <a:xfrm>
            <a:off x="3207013" y="1759968"/>
            <a:ext cx="543052" cy="307777"/>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400" dirty="0">
                <a:solidFill>
                  <a:srgbClr val="FF0000"/>
                </a:solidFill>
                <a:latin typeface="Meiryo UI" panose="020B0604030504040204" pitchFamily="50" charset="-128"/>
                <a:ea typeface="Meiryo UI" panose="020B0604030504040204" pitchFamily="50" charset="-128"/>
              </a:rPr>
              <a:t>⑬</a:t>
            </a:r>
          </a:p>
        </p:txBody>
      </p:sp>
      <p:sp>
        <p:nvSpPr>
          <p:cNvPr id="25" name="テキスト ボックス 24">
            <a:extLst>
              <a:ext uri="{FF2B5EF4-FFF2-40B4-BE49-F238E27FC236}">
                <a16:creationId xmlns:a16="http://schemas.microsoft.com/office/drawing/2014/main" id="{7B0361DA-124D-B5FA-6619-EB5DE84B89EB}"/>
              </a:ext>
            </a:extLst>
          </p:cNvPr>
          <p:cNvSpPr txBox="1"/>
          <p:nvPr/>
        </p:nvSpPr>
        <p:spPr bwMode="auto">
          <a:xfrm>
            <a:off x="777025" y="2203895"/>
            <a:ext cx="543052" cy="307777"/>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400" dirty="0">
                <a:solidFill>
                  <a:srgbClr val="FF0000"/>
                </a:solidFill>
                <a:latin typeface="Meiryo UI" panose="020B0604030504040204" pitchFamily="50" charset="-128"/>
                <a:ea typeface="Meiryo UI" panose="020B0604030504040204" pitchFamily="50" charset="-128"/>
              </a:rPr>
              <a:t>⑭</a:t>
            </a:r>
          </a:p>
        </p:txBody>
      </p:sp>
      <p:sp>
        <p:nvSpPr>
          <p:cNvPr id="29" name="テキスト ボックス 28">
            <a:extLst>
              <a:ext uri="{FF2B5EF4-FFF2-40B4-BE49-F238E27FC236}">
                <a16:creationId xmlns:a16="http://schemas.microsoft.com/office/drawing/2014/main" id="{9A328B41-EFCB-2DA9-157A-52736CAE08D3}"/>
              </a:ext>
            </a:extLst>
          </p:cNvPr>
          <p:cNvSpPr txBox="1"/>
          <p:nvPr/>
        </p:nvSpPr>
        <p:spPr bwMode="auto">
          <a:xfrm>
            <a:off x="3516478" y="2437550"/>
            <a:ext cx="543052" cy="307777"/>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400" dirty="0">
                <a:solidFill>
                  <a:srgbClr val="FF0000"/>
                </a:solidFill>
                <a:latin typeface="Meiryo UI" panose="020B0604030504040204" pitchFamily="50" charset="-128"/>
                <a:ea typeface="Meiryo UI" panose="020B0604030504040204" pitchFamily="50" charset="-128"/>
              </a:rPr>
              <a:t>⑯</a:t>
            </a:r>
            <a:endParaRPr lang="en-US" altLang="ja-JP" sz="1400" dirty="0">
              <a:solidFill>
                <a:srgbClr val="FF0000"/>
              </a:solidFill>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87D589CE-072D-8369-D989-9AEB93D54C55}"/>
              </a:ext>
            </a:extLst>
          </p:cNvPr>
          <p:cNvSpPr txBox="1"/>
          <p:nvPr/>
        </p:nvSpPr>
        <p:spPr bwMode="auto">
          <a:xfrm>
            <a:off x="4215697" y="2429733"/>
            <a:ext cx="543052" cy="307777"/>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400" dirty="0">
                <a:solidFill>
                  <a:srgbClr val="FF0000"/>
                </a:solidFill>
                <a:latin typeface="Meiryo UI" panose="020B0604030504040204" pitchFamily="50" charset="-128"/>
                <a:ea typeface="Meiryo UI" panose="020B0604030504040204" pitchFamily="50" charset="-128"/>
              </a:rPr>
              <a:t>⑰</a:t>
            </a:r>
            <a:endParaRPr lang="en-US" altLang="ja-JP" sz="1400" dirty="0">
              <a:solidFill>
                <a:srgbClr val="FF0000"/>
              </a:solidFill>
              <a:latin typeface="Meiryo UI" panose="020B0604030504040204" pitchFamily="50" charset="-128"/>
              <a:ea typeface="Meiryo UI" panose="020B0604030504040204" pitchFamily="50" charset="-128"/>
            </a:endParaRPr>
          </a:p>
        </p:txBody>
      </p:sp>
      <p:sp>
        <p:nvSpPr>
          <p:cNvPr id="32" name="テキスト ボックス 31">
            <a:extLst>
              <a:ext uri="{FF2B5EF4-FFF2-40B4-BE49-F238E27FC236}">
                <a16:creationId xmlns:a16="http://schemas.microsoft.com/office/drawing/2014/main" id="{CC9C2945-E4CC-F961-1735-D1CB68BFBC0C}"/>
              </a:ext>
            </a:extLst>
          </p:cNvPr>
          <p:cNvSpPr txBox="1"/>
          <p:nvPr/>
        </p:nvSpPr>
        <p:spPr bwMode="auto">
          <a:xfrm>
            <a:off x="5072730" y="2422799"/>
            <a:ext cx="543052" cy="307777"/>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400" dirty="0">
                <a:solidFill>
                  <a:srgbClr val="FF0000"/>
                </a:solidFill>
                <a:latin typeface="Meiryo UI" panose="020B0604030504040204" pitchFamily="50" charset="-128"/>
                <a:ea typeface="Meiryo UI" panose="020B0604030504040204" pitchFamily="50" charset="-128"/>
              </a:rPr>
              <a:t>⑱</a:t>
            </a:r>
            <a:endParaRPr lang="en-US" altLang="ja-JP" sz="1400" dirty="0">
              <a:solidFill>
                <a:srgbClr val="FF0000"/>
              </a:solidFill>
              <a:latin typeface="Meiryo UI" panose="020B0604030504040204" pitchFamily="50" charset="-128"/>
              <a:ea typeface="Meiryo UI" panose="020B0604030504040204" pitchFamily="50" charset="-128"/>
            </a:endParaRPr>
          </a:p>
        </p:txBody>
      </p:sp>
      <p:sp>
        <p:nvSpPr>
          <p:cNvPr id="35" name="テキスト ボックス 34">
            <a:extLst>
              <a:ext uri="{FF2B5EF4-FFF2-40B4-BE49-F238E27FC236}">
                <a16:creationId xmlns:a16="http://schemas.microsoft.com/office/drawing/2014/main" id="{63B0234C-DC51-2B63-DE24-4EAB21A9E3D9}"/>
              </a:ext>
            </a:extLst>
          </p:cNvPr>
          <p:cNvSpPr txBox="1"/>
          <p:nvPr/>
        </p:nvSpPr>
        <p:spPr bwMode="auto">
          <a:xfrm>
            <a:off x="5979633" y="2423113"/>
            <a:ext cx="543052" cy="307777"/>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400" dirty="0">
                <a:solidFill>
                  <a:srgbClr val="FF0000"/>
                </a:solidFill>
                <a:latin typeface="Meiryo UI" panose="020B0604030504040204" pitchFamily="50" charset="-128"/>
                <a:ea typeface="Meiryo UI" panose="020B0604030504040204" pitchFamily="50" charset="-128"/>
              </a:rPr>
              <a:t>⑲</a:t>
            </a:r>
            <a:endParaRPr lang="en-US" altLang="ja-JP" sz="1400" dirty="0">
              <a:solidFill>
                <a:srgbClr val="FF0000"/>
              </a:solidFill>
              <a:latin typeface="Meiryo UI" panose="020B0604030504040204" pitchFamily="50" charset="-128"/>
              <a:ea typeface="Meiryo UI" panose="020B0604030504040204" pitchFamily="50" charset="-128"/>
            </a:endParaRPr>
          </a:p>
        </p:txBody>
      </p:sp>
      <p:sp>
        <p:nvSpPr>
          <p:cNvPr id="37" name="テキスト ボックス 36">
            <a:extLst>
              <a:ext uri="{FF2B5EF4-FFF2-40B4-BE49-F238E27FC236}">
                <a16:creationId xmlns:a16="http://schemas.microsoft.com/office/drawing/2014/main" id="{23392944-93AE-56F3-1832-30C7E96F2533}"/>
              </a:ext>
            </a:extLst>
          </p:cNvPr>
          <p:cNvSpPr txBox="1"/>
          <p:nvPr/>
        </p:nvSpPr>
        <p:spPr bwMode="auto">
          <a:xfrm>
            <a:off x="7492738" y="2163846"/>
            <a:ext cx="543052" cy="307777"/>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400" dirty="0">
                <a:solidFill>
                  <a:srgbClr val="FF0000"/>
                </a:solidFill>
                <a:latin typeface="Meiryo UI" panose="020B0604030504040204" pitchFamily="50" charset="-128"/>
                <a:ea typeface="Meiryo UI" panose="020B0604030504040204" pitchFamily="50" charset="-128"/>
              </a:rPr>
              <a:t>⑳</a:t>
            </a:r>
            <a:endParaRPr lang="en-US" altLang="ja-JP" sz="1400" dirty="0">
              <a:solidFill>
                <a:srgbClr val="FF0000"/>
              </a:solidFill>
              <a:latin typeface="Meiryo UI" panose="020B0604030504040204" pitchFamily="50" charset="-128"/>
              <a:ea typeface="Meiryo UI" panose="020B0604030504040204" pitchFamily="50" charset="-128"/>
            </a:endParaRPr>
          </a:p>
        </p:txBody>
      </p:sp>
      <p:sp>
        <p:nvSpPr>
          <p:cNvPr id="38" name="テキスト ボックス 37">
            <a:extLst>
              <a:ext uri="{FF2B5EF4-FFF2-40B4-BE49-F238E27FC236}">
                <a16:creationId xmlns:a16="http://schemas.microsoft.com/office/drawing/2014/main" id="{930F673F-8D9A-6B7C-B690-45E60E585E7F}"/>
              </a:ext>
            </a:extLst>
          </p:cNvPr>
          <p:cNvSpPr txBox="1"/>
          <p:nvPr/>
        </p:nvSpPr>
        <p:spPr bwMode="auto">
          <a:xfrm>
            <a:off x="8650940" y="2128466"/>
            <a:ext cx="543052" cy="307777"/>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400" dirty="0">
                <a:solidFill>
                  <a:srgbClr val="FF0000"/>
                </a:solidFill>
                <a:latin typeface="Meiryo UI" panose="020B0604030504040204" pitchFamily="50" charset="-128"/>
                <a:ea typeface="Meiryo UI" panose="020B0604030504040204" pitchFamily="50" charset="-128"/>
              </a:rPr>
              <a:t>㉑</a:t>
            </a:r>
            <a:endParaRPr lang="en-US" altLang="ja-JP" sz="1400" dirty="0">
              <a:solidFill>
                <a:srgbClr val="FF0000"/>
              </a:solidFill>
              <a:latin typeface="Meiryo UI" panose="020B0604030504040204" pitchFamily="50" charset="-128"/>
              <a:ea typeface="Meiryo UI" panose="020B0604030504040204" pitchFamily="50" charset="-128"/>
            </a:endParaRPr>
          </a:p>
        </p:txBody>
      </p:sp>
      <p:sp>
        <p:nvSpPr>
          <p:cNvPr id="43" name="四角形: 角を丸くする 42">
            <a:extLst>
              <a:ext uri="{FF2B5EF4-FFF2-40B4-BE49-F238E27FC236}">
                <a16:creationId xmlns:a16="http://schemas.microsoft.com/office/drawing/2014/main" id="{D48AE1CC-44AB-7126-0B4C-160934D1F2C7}"/>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44" name="テキスト ボックス 43">
            <a:extLst>
              <a:ext uri="{FF2B5EF4-FFF2-40B4-BE49-F238E27FC236}">
                <a16:creationId xmlns:a16="http://schemas.microsoft.com/office/drawing/2014/main" id="{0F249C1D-4214-327A-C171-4EB922D3CFD0}"/>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296D53AE-41E5-234F-A370-145E23D7D0F9}"/>
              </a:ext>
            </a:extLst>
          </p:cNvPr>
          <p:cNvSpPr txBox="1"/>
          <p:nvPr/>
        </p:nvSpPr>
        <p:spPr bwMode="auto">
          <a:xfrm>
            <a:off x="1919472" y="2968156"/>
            <a:ext cx="1440575" cy="646331"/>
          </a:xfrm>
          <a:prstGeom prst="rect">
            <a:avLst/>
          </a:prstGeom>
          <a:solidFill>
            <a:schemeClr val="bg1"/>
          </a:solidFill>
          <a:ln w="6350">
            <a:solidFill>
              <a:schemeClr val="tx1"/>
            </a:solidFill>
            <a:prstDash val="dash"/>
            <a:miter lim="800000"/>
            <a:headEnd/>
            <a:tailEnd/>
          </a:ln>
        </p:spPr>
        <p:txBody>
          <a:bodyPr wrap="square" lIns="180000" rIns="180000" rtlCol="0" anchor="t">
            <a:spAutoFit/>
          </a:bodyPr>
          <a:lstStyle/>
          <a:p>
            <a:pPr>
              <a:spcBef>
                <a:spcPts val="600"/>
              </a:spcBef>
              <a:defRPr/>
            </a:pPr>
            <a:r>
              <a:rPr lang="ja-JP" altLang="en-US" sz="1200" dirty="0">
                <a:solidFill>
                  <a:prstClr val="black"/>
                </a:solidFill>
                <a:latin typeface="Meiryo UI" panose="020B0604030504040204" pitchFamily="50" charset="-128"/>
                <a:ea typeface="Meiryo UI" panose="020B0604030504040204" pitchFamily="50" charset="-128"/>
              </a:rPr>
              <a:t>合計カウントが多い利用者から降順に表示</a:t>
            </a:r>
            <a:endParaRPr kumimoji="1"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34219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テキスト ボックス 26">
            <a:extLst>
              <a:ext uri="{FF2B5EF4-FFF2-40B4-BE49-F238E27FC236}">
                <a16:creationId xmlns:a16="http://schemas.microsoft.com/office/drawing/2014/main" id="{0C458DE9-D37F-903E-8FB3-E0B0674CB233}"/>
              </a:ext>
            </a:extLst>
          </p:cNvPr>
          <p:cNvSpPr txBox="1"/>
          <p:nvPr/>
        </p:nvSpPr>
        <p:spPr bwMode="auto">
          <a:xfrm>
            <a:off x="4938401" y="2008870"/>
            <a:ext cx="5619392" cy="507831"/>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原因分析ページ絞り込み機能をで選択した年月の</a:t>
            </a:r>
            <a:r>
              <a:rPr kumimoji="1" lang="ja-JP" altLang="en-US" sz="1100" dirty="0">
                <a:latin typeface="Meiryo UI" panose="020B0604030504040204" pitchFamily="50" charset="-128"/>
                <a:ea typeface="Meiryo UI" panose="020B0604030504040204" pitchFamily="50" charset="-128"/>
              </a:rPr>
              <a:t>ナースコール数を表示</a:t>
            </a:r>
            <a:endParaRPr kumimoji="1"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選択した年月とその前月との差分を表示</a:t>
            </a:r>
            <a:endParaRPr kumimoji="1" lang="en-US" altLang="ja-JP" sz="1100" dirty="0">
              <a:latin typeface="Meiryo UI" panose="020B0604030504040204" pitchFamily="50" charset="-128"/>
              <a:ea typeface="Meiryo UI" panose="020B0604030504040204" pitchFamily="50" charset="-128"/>
            </a:endParaRPr>
          </a:p>
        </p:txBody>
      </p:sp>
      <p:sp>
        <p:nvSpPr>
          <p:cNvPr id="31" name="テキスト ボックス 30">
            <a:extLst>
              <a:ext uri="{FF2B5EF4-FFF2-40B4-BE49-F238E27FC236}">
                <a16:creationId xmlns:a16="http://schemas.microsoft.com/office/drawing/2014/main" id="{B169CFD0-346B-79DF-8BBB-B74E1D3719B3}"/>
              </a:ext>
            </a:extLst>
          </p:cNvPr>
          <p:cNvSpPr txBox="1"/>
          <p:nvPr/>
        </p:nvSpPr>
        <p:spPr bwMode="auto">
          <a:xfrm>
            <a:off x="4931110" y="2585870"/>
            <a:ext cx="5627011" cy="1015663"/>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3(300</a:t>
            </a:r>
            <a:r>
              <a:rPr kumimoji="1" lang="ja-JP" altLang="en-US" sz="1100" dirty="0">
                <a:latin typeface="Meiryo UI" panose="020B0604030504040204" pitchFamily="50" charset="-128"/>
                <a:ea typeface="Meiryo UI" panose="020B0604030504040204" pitchFamily="50" charset="-128"/>
              </a:rPr>
              <a:t>回以上、濃赤色</a:t>
            </a:r>
            <a:r>
              <a:rPr kumimoji="1"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、レベル</a:t>
            </a:r>
            <a:r>
              <a:rPr lang="en-US" altLang="ja-JP" sz="1100" dirty="0">
                <a:latin typeface="Meiryo UI" panose="020B0604030504040204" pitchFamily="50" charset="-128"/>
                <a:ea typeface="Meiryo UI" panose="020B0604030504040204" pitchFamily="50" charset="-128"/>
              </a:rPr>
              <a:t>2(</a:t>
            </a:r>
            <a:r>
              <a:rPr kumimoji="1" lang="en-US" altLang="ja-JP" sz="1100" dirty="0">
                <a:latin typeface="Meiryo UI" panose="020B0604030504040204" pitchFamily="50" charset="-128"/>
                <a:ea typeface="Meiryo UI" panose="020B0604030504040204" pitchFamily="50" charset="-128"/>
              </a:rPr>
              <a:t>100~299</a:t>
            </a:r>
            <a:r>
              <a:rPr kumimoji="1" lang="ja-JP" altLang="en-US" sz="1100" dirty="0">
                <a:latin typeface="Meiryo UI" panose="020B0604030504040204" pitchFamily="50" charset="-128"/>
                <a:ea typeface="Meiryo UI" panose="020B0604030504040204" pitchFamily="50" charset="-128"/>
              </a:rPr>
              <a:t>回、赤色</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1(45~99</a:t>
            </a:r>
            <a:r>
              <a:rPr kumimoji="1" lang="ja-JP" altLang="en-US" sz="1100" dirty="0">
                <a:latin typeface="Meiryo UI" panose="020B0604030504040204" pitchFamily="50" charset="-128"/>
                <a:ea typeface="Meiryo UI" panose="020B0604030504040204" pitchFamily="50" charset="-128"/>
              </a:rPr>
              <a:t>回、黄色</a:t>
            </a:r>
            <a:r>
              <a:rPr kumimoji="1"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、レベル</a:t>
            </a:r>
            <a:r>
              <a:rPr lang="en-US" altLang="ja-JP" sz="1100" dirty="0">
                <a:latin typeface="Meiryo UI" panose="020B0604030504040204" pitchFamily="50" charset="-128"/>
                <a:ea typeface="Meiryo UI" panose="020B0604030504040204" pitchFamily="50" charset="-128"/>
              </a:rPr>
              <a:t>0(45</a:t>
            </a:r>
            <a:r>
              <a:rPr lang="ja-JP" altLang="en-US" sz="1100" dirty="0">
                <a:latin typeface="Meiryo UI" panose="020B0604030504040204" pitchFamily="50" charset="-128"/>
                <a:ea typeface="Meiryo UI" panose="020B0604030504040204" pitchFamily="50" charset="-128"/>
              </a:rPr>
              <a:t>回未満、灰色</a:t>
            </a:r>
            <a:r>
              <a:rPr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ごとに文字を色付けし表示。 （前項と共通）</a:t>
            </a:r>
            <a:endParaRPr kumimoji="1" lang="en-US" altLang="ja-JP" sz="1100" dirty="0">
              <a:solidFill>
                <a:srgbClr val="FF0000"/>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ナースコールの回数が時間帯別で有意差</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カイ二乗検定、有意水準：</a:t>
            </a:r>
            <a:r>
              <a:rPr kumimoji="1" lang="en-US" altLang="ja-JP" sz="1100" dirty="0">
                <a:latin typeface="Meiryo UI" panose="020B0604030504040204" pitchFamily="50" charset="-128"/>
                <a:ea typeface="Meiryo UI" panose="020B0604030504040204" pitchFamily="50" charset="-128"/>
              </a:rPr>
              <a:t>p&lt;0.05)</a:t>
            </a:r>
            <a:r>
              <a:rPr kumimoji="1" lang="ja-JP" altLang="en-US" sz="1100" dirty="0">
                <a:latin typeface="Meiryo UI" panose="020B0604030504040204" pitchFamily="50" charset="-128"/>
                <a:ea typeface="Meiryo UI" panose="020B0604030504040204" pitchFamily="50" charset="-128"/>
              </a:rPr>
              <a:t>がある場合</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時間帯別</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、曜日別で有意差</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カイ二乗検定、有意水準：</a:t>
            </a:r>
            <a:r>
              <a:rPr kumimoji="1" lang="en-US" altLang="ja-JP" sz="1100" dirty="0">
                <a:latin typeface="Meiryo UI" panose="020B0604030504040204" pitchFamily="50" charset="-128"/>
                <a:ea typeface="Meiryo UI" panose="020B0604030504040204" pitchFamily="50" charset="-128"/>
              </a:rPr>
              <a:t>p&lt;0.05)</a:t>
            </a:r>
            <a:r>
              <a:rPr kumimoji="1" lang="ja-JP" altLang="en-US" sz="1100" dirty="0">
                <a:latin typeface="Meiryo UI" panose="020B0604030504040204" pitchFamily="50" charset="-128"/>
                <a:ea typeface="Meiryo UI" panose="020B0604030504040204" pitchFamily="50" charset="-128"/>
              </a:rPr>
              <a:t>がある場合</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曜日別</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と表示</a:t>
            </a:r>
            <a:r>
              <a:rPr lang="ja-JP" altLang="en-US" sz="1100" dirty="0">
                <a:latin typeface="Meiryo UI" panose="020B0604030504040204" pitchFamily="50" charset="-128"/>
                <a:ea typeface="Meiryo UI" panose="020B0604030504040204" pitchFamily="50" charset="-128"/>
              </a:rPr>
              <a:t>（前項と共通）</a:t>
            </a:r>
            <a:endParaRPr lang="en-US" altLang="ja-JP" sz="1100" dirty="0">
              <a:latin typeface="Meiryo UI" panose="020B0604030504040204" pitchFamily="50" charset="-128"/>
              <a:ea typeface="Meiryo UI" panose="020B0604030504040204" pitchFamily="50" charset="-128"/>
            </a:endParaRPr>
          </a:p>
        </p:txBody>
      </p:sp>
      <p:sp>
        <p:nvSpPr>
          <p:cNvPr id="36" name="テキスト ボックス 35">
            <a:extLst>
              <a:ext uri="{FF2B5EF4-FFF2-40B4-BE49-F238E27FC236}">
                <a16:creationId xmlns:a16="http://schemas.microsoft.com/office/drawing/2014/main" id="{4A3DF9D9-664F-90AF-D380-D436730C6C79}"/>
              </a:ext>
            </a:extLst>
          </p:cNvPr>
          <p:cNvSpPr txBox="1"/>
          <p:nvPr/>
        </p:nvSpPr>
        <p:spPr bwMode="auto">
          <a:xfrm>
            <a:off x="4931111" y="5767868"/>
            <a:ext cx="5623346" cy="923330"/>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前項詳細に基づく定義でアラートを表示</a:t>
            </a:r>
            <a:endParaRPr kumimoji="1"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en-US" altLang="ja-JP" sz="1100" dirty="0" err="1">
                <a:latin typeface="Meiryo UI" panose="020B0604030504040204" pitchFamily="50" charset="-128"/>
                <a:ea typeface="Meiryo UI" panose="020B0604030504040204" pitchFamily="50" charset="-128"/>
              </a:rPr>
              <a:t>Axist</a:t>
            </a:r>
            <a:r>
              <a:rPr kumimoji="1" lang="en-US" altLang="ja-JP" sz="1100" dirty="0">
                <a:latin typeface="Meiryo UI" panose="020B0604030504040204" pitchFamily="50" charset="-128"/>
                <a:ea typeface="Meiryo UI" panose="020B0604030504040204" pitchFamily="50" charset="-128"/>
              </a:rPr>
              <a:t> </a:t>
            </a:r>
            <a:r>
              <a:rPr kumimoji="1" lang="ja-JP" altLang="en-US" sz="1100" dirty="0">
                <a:latin typeface="Meiryo UI" panose="020B0604030504040204" pitchFamily="50" charset="-128"/>
                <a:ea typeface="Meiryo UI" panose="020B0604030504040204" pitchFamily="50" charset="-128"/>
              </a:rPr>
              <a:t>基準時間比、援助未実施率、処方薬剤、体重変化率 </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前月比</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、食事量、睡眠時間の実数を表示。</a:t>
            </a:r>
            <a:endParaRPr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データ参照元と、数値の計算定義は後項で明記する</a:t>
            </a:r>
            <a:endParaRPr kumimoji="1" lang="en-US" altLang="ja-JP" sz="1100" dirty="0">
              <a:latin typeface="Meiryo UI" panose="020B0604030504040204" pitchFamily="50" charset="-128"/>
              <a:ea typeface="Meiryo UI" panose="020B0604030504040204" pitchFamily="50" charset="-128"/>
            </a:endParaRPr>
          </a:p>
        </p:txBody>
      </p:sp>
      <p:sp>
        <p:nvSpPr>
          <p:cNvPr id="18" name="タイトル 17">
            <a:extLst>
              <a:ext uri="{FF2B5EF4-FFF2-40B4-BE49-F238E27FC236}">
                <a16:creationId xmlns:a16="http://schemas.microsoft.com/office/drawing/2014/main" id="{8F872F7E-588F-E5A2-4088-9CB05933B821}"/>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画面要件</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④</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原因分析</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」ページ</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入居者個別詳細</a:t>
            </a:r>
            <a:r>
              <a:rPr lang="en-US" altLang="ja-JP" sz="2000" b="0" dirty="0">
                <a:solidFill>
                  <a:srgbClr val="000000"/>
                </a:solidFill>
                <a:cs typeface="+mn-cs"/>
              </a:rPr>
              <a:t>drawer</a:t>
            </a:r>
            <a:endParaRPr lang="ja-JP" altLang="ja-JP" dirty="0">
              <a:effectLst/>
            </a:endParaRPr>
          </a:p>
        </p:txBody>
      </p:sp>
      <p:sp>
        <p:nvSpPr>
          <p:cNvPr id="10" name="テキスト ボックス 9">
            <a:extLst>
              <a:ext uri="{FF2B5EF4-FFF2-40B4-BE49-F238E27FC236}">
                <a16:creationId xmlns:a16="http://schemas.microsoft.com/office/drawing/2014/main" id="{E87FD4EE-C987-51E1-3DD5-BED8E8BCD335}"/>
              </a:ext>
            </a:extLst>
          </p:cNvPr>
          <p:cNvSpPr txBox="1"/>
          <p:nvPr/>
        </p:nvSpPr>
        <p:spPr bwMode="auto">
          <a:xfrm>
            <a:off x="4931107" y="4929983"/>
            <a:ext cx="5625635" cy="754053"/>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曜日別のナースコール数を集計し、縦軸をコール回数、横軸を曜日の棒グラフで表示。</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左から</a:t>
            </a:r>
            <a:r>
              <a:rPr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月火水木金土日</a:t>
            </a:r>
            <a:r>
              <a:rPr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の曜日順のグラフ構成とする。</a:t>
            </a:r>
            <a:endParaRPr kumimoji="1"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ナースコール数が</a:t>
            </a:r>
            <a:r>
              <a:rPr kumimoji="1" lang="en-US" altLang="ja-JP" sz="1100" dirty="0">
                <a:latin typeface="Meiryo UI" panose="020B0604030504040204" pitchFamily="50" charset="-128"/>
                <a:ea typeface="Meiryo UI" panose="020B0604030504040204" pitchFamily="50" charset="-128"/>
              </a:rPr>
              <a:t>0</a:t>
            </a:r>
            <a:r>
              <a:rPr kumimoji="1" lang="ja-JP" altLang="en-US" sz="1100" dirty="0">
                <a:latin typeface="Meiryo UI" panose="020B0604030504040204" pitchFamily="50" charset="-128"/>
                <a:ea typeface="Meiryo UI" panose="020B0604030504040204" pitchFamily="50" charset="-128"/>
              </a:rPr>
              <a:t>の曜日は表示されない。</a:t>
            </a:r>
            <a:endParaRPr kumimoji="1" lang="en-US" altLang="ja-JP" sz="1100" dirty="0">
              <a:latin typeface="Meiryo UI" panose="020B0604030504040204" pitchFamily="50" charset="-128"/>
              <a:ea typeface="Meiryo UI" panose="020B0604030504040204" pitchFamily="50" charset="-128"/>
            </a:endParaRPr>
          </a:p>
        </p:txBody>
      </p:sp>
      <p:grpSp>
        <p:nvGrpSpPr>
          <p:cNvPr id="33" name="グループ化 32">
            <a:extLst>
              <a:ext uri="{FF2B5EF4-FFF2-40B4-BE49-F238E27FC236}">
                <a16:creationId xmlns:a16="http://schemas.microsoft.com/office/drawing/2014/main" id="{FB1F14F6-3A81-3249-B6DB-69F71950ACA7}"/>
              </a:ext>
            </a:extLst>
          </p:cNvPr>
          <p:cNvGrpSpPr/>
          <p:nvPr/>
        </p:nvGrpSpPr>
        <p:grpSpPr>
          <a:xfrm>
            <a:off x="581115" y="1187790"/>
            <a:ext cx="3988770" cy="5512231"/>
            <a:chOff x="738624" y="1195375"/>
            <a:chExt cx="3691304" cy="5101152"/>
          </a:xfrm>
        </p:grpSpPr>
        <p:grpSp>
          <p:nvGrpSpPr>
            <p:cNvPr id="9" name="グループ化 8">
              <a:extLst>
                <a:ext uri="{FF2B5EF4-FFF2-40B4-BE49-F238E27FC236}">
                  <a16:creationId xmlns:a16="http://schemas.microsoft.com/office/drawing/2014/main" id="{3A713889-2103-E46D-F0D8-5E88B4A8A5A4}"/>
                </a:ext>
              </a:extLst>
            </p:cNvPr>
            <p:cNvGrpSpPr/>
            <p:nvPr/>
          </p:nvGrpSpPr>
          <p:grpSpPr>
            <a:xfrm>
              <a:off x="738624" y="1195375"/>
              <a:ext cx="3691304" cy="5101152"/>
              <a:chOff x="821599" y="1284752"/>
              <a:chExt cx="3096128" cy="4278656"/>
            </a:xfrm>
          </p:grpSpPr>
          <p:grpSp>
            <p:nvGrpSpPr>
              <p:cNvPr id="8" name="グループ化 7">
                <a:extLst>
                  <a:ext uri="{FF2B5EF4-FFF2-40B4-BE49-F238E27FC236}">
                    <a16:creationId xmlns:a16="http://schemas.microsoft.com/office/drawing/2014/main" id="{64BA897A-BCC0-6CFC-64E1-A563BFA3880F}"/>
                  </a:ext>
                </a:extLst>
              </p:cNvPr>
              <p:cNvGrpSpPr/>
              <p:nvPr/>
            </p:nvGrpSpPr>
            <p:grpSpPr>
              <a:xfrm>
                <a:off x="821599" y="1284752"/>
                <a:ext cx="3096128" cy="4278656"/>
                <a:chOff x="1344721" y="1094188"/>
                <a:chExt cx="3596643" cy="4970333"/>
              </a:xfrm>
            </p:grpSpPr>
            <p:pic>
              <p:nvPicPr>
                <p:cNvPr id="4" name="図 3">
                  <a:extLst>
                    <a:ext uri="{FF2B5EF4-FFF2-40B4-BE49-F238E27FC236}">
                      <a16:creationId xmlns:a16="http://schemas.microsoft.com/office/drawing/2014/main" id="{DBFA768E-6FF8-D15C-475A-C39374B2D7B9}"/>
                    </a:ext>
                  </a:extLst>
                </p:cNvPr>
                <p:cNvPicPr>
                  <a:picLocks noChangeAspect="1"/>
                </p:cNvPicPr>
                <p:nvPr/>
              </p:nvPicPr>
              <p:blipFill rotWithShape="1">
                <a:blip r:embed="rId3">
                  <a:extLst>
                    <a:ext uri="{28A0092B-C50C-407E-A947-70E740481C1C}">
                      <a14:useLocalDpi xmlns:a14="http://schemas.microsoft.com/office/drawing/2010/main" val="0"/>
                    </a:ext>
                  </a:extLst>
                </a:blip>
                <a:srcRect b="81591"/>
                <a:stretch/>
              </p:blipFill>
              <p:spPr>
                <a:xfrm>
                  <a:off x="1419727" y="1094188"/>
                  <a:ext cx="3516430" cy="620966"/>
                </a:xfrm>
                <a:prstGeom prst="rect">
                  <a:avLst/>
                </a:prstGeom>
              </p:spPr>
            </p:pic>
            <p:pic>
              <p:nvPicPr>
                <p:cNvPr id="6" name="図 5">
                  <a:extLst>
                    <a:ext uri="{FF2B5EF4-FFF2-40B4-BE49-F238E27FC236}">
                      <a16:creationId xmlns:a16="http://schemas.microsoft.com/office/drawing/2014/main" id="{40214A2C-CD94-0855-197A-55F3B85C7F92}"/>
                    </a:ext>
                  </a:extLst>
                </p:cNvPr>
                <p:cNvPicPr>
                  <a:picLocks noChangeAspect="1"/>
                </p:cNvPicPr>
                <p:nvPr/>
              </p:nvPicPr>
              <p:blipFill rotWithShape="1">
                <a:blip r:embed="rId4">
                  <a:extLst>
                    <a:ext uri="{28A0092B-C50C-407E-A947-70E740481C1C}">
                      <a14:useLocalDpi xmlns:a14="http://schemas.microsoft.com/office/drawing/2010/main" val="0"/>
                    </a:ext>
                  </a:extLst>
                </a:blip>
                <a:srcRect l="-2089" t="10805" r="2089" b="10221"/>
                <a:stretch/>
              </p:blipFill>
              <p:spPr>
                <a:xfrm>
                  <a:off x="1344721" y="3342836"/>
                  <a:ext cx="3596643" cy="2721685"/>
                </a:xfrm>
                <a:prstGeom prst="rect">
                  <a:avLst/>
                </a:prstGeom>
              </p:spPr>
            </p:pic>
          </p:grpSp>
          <p:pic>
            <p:nvPicPr>
              <p:cNvPr id="11" name="図 10">
                <a:extLst>
                  <a:ext uri="{FF2B5EF4-FFF2-40B4-BE49-F238E27FC236}">
                    <a16:creationId xmlns:a16="http://schemas.microsoft.com/office/drawing/2014/main" id="{6AAA7F65-A392-3126-B384-36C5B49048BE}"/>
                  </a:ext>
                </a:extLst>
              </p:cNvPr>
              <p:cNvPicPr>
                <a:picLocks noChangeAspect="1"/>
              </p:cNvPicPr>
              <p:nvPr/>
            </p:nvPicPr>
            <p:blipFill rotWithShape="1">
              <a:blip r:embed="rId3">
                <a:extLst>
                  <a:ext uri="{28A0092B-C50C-407E-A947-70E740481C1C}">
                    <a14:useLocalDpi xmlns:a14="http://schemas.microsoft.com/office/drawing/2010/main" val="0"/>
                  </a:ext>
                </a:extLst>
              </a:blip>
              <a:srcRect t="52068"/>
              <a:stretch/>
            </p:blipFill>
            <p:spPr>
              <a:xfrm>
                <a:off x="886167" y="1821638"/>
                <a:ext cx="3027078" cy="1391843"/>
              </a:xfrm>
              <a:prstGeom prst="rect">
                <a:avLst/>
              </a:prstGeom>
            </p:spPr>
          </p:pic>
          <p:sp>
            <p:nvSpPr>
              <p:cNvPr id="14" name="正方形/長方形 13">
                <a:extLst>
                  <a:ext uri="{FF2B5EF4-FFF2-40B4-BE49-F238E27FC236}">
                    <a16:creationId xmlns:a16="http://schemas.microsoft.com/office/drawing/2014/main" id="{92996C6F-7226-00DB-C56F-FAA747100397}"/>
                  </a:ext>
                </a:extLst>
              </p:cNvPr>
              <p:cNvSpPr/>
              <p:nvPr/>
            </p:nvSpPr>
            <p:spPr>
              <a:xfrm>
                <a:off x="999552" y="1644650"/>
                <a:ext cx="412598" cy="974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正方形/長方形 14">
                <a:extLst>
                  <a:ext uri="{FF2B5EF4-FFF2-40B4-BE49-F238E27FC236}">
                    <a16:creationId xmlns:a16="http://schemas.microsoft.com/office/drawing/2014/main" id="{08CBF474-72DA-6813-E0F2-5ED675675D80}"/>
                  </a:ext>
                </a:extLst>
              </p:cNvPr>
              <p:cNvSpPr/>
              <p:nvPr/>
            </p:nvSpPr>
            <p:spPr>
              <a:xfrm>
                <a:off x="1918756" y="1644650"/>
                <a:ext cx="412598" cy="974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正方形/長方形 15">
                <a:extLst>
                  <a:ext uri="{FF2B5EF4-FFF2-40B4-BE49-F238E27FC236}">
                    <a16:creationId xmlns:a16="http://schemas.microsoft.com/office/drawing/2014/main" id="{17DBA571-6FB8-D60C-F066-BDBB51A43CE3}"/>
                  </a:ext>
                </a:extLst>
              </p:cNvPr>
              <p:cNvSpPr/>
              <p:nvPr/>
            </p:nvSpPr>
            <p:spPr>
              <a:xfrm>
                <a:off x="2880359" y="1646100"/>
                <a:ext cx="412598" cy="9746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正方形/長方形 25">
                <a:extLst>
                  <a:ext uri="{FF2B5EF4-FFF2-40B4-BE49-F238E27FC236}">
                    <a16:creationId xmlns:a16="http://schemas.microsoft.com/office/drawing/2014/main" id="{92AE018F-C223-D751-7BE0-9575540AB48B}"/>
                  </a:ext>
                </a:extLst>
              </p:cNvPr>
              <p:cNvSpPr/>
              <p:nvPr/>
            </p:nvSpPr>
            <p:spPr>
              <a:xfrm>
                <a:off x="1745706" y="1853090"/>
                <a:ext cx="2081807" cy="326112"/>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30" name="正方形/長方形 29">
                <a:extLst>
                  <a:ext uri="{FF2B5EF4-FFF2-40B4-BE49-F238E27FC236}">
                    <a16:creationId xmlns:a16="http://schemas.microsoft.com/office/drawing/2014/main" id="{EEA18E63-D726-FCBB-126F-79DB6E262214}"/>
                  </a:ext>
                </a:extLst>
              </p:cNvPr>
              <p:cNvSpPr/>
              <p:nvPr/>
            </p:nvSpPr>
            <p:spPr>
              <a:xfrm>
                <a:off x="894504" y="2434528"/>
                <a:ext cx="2938536" cy="928219"/>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35" name="正方形/長方形 34">
                <a:extLst>
                  <a:ext uri="{FF2B5EF4-FFF2-40B4-BE49-F238E27FC236}">
                    <a16:creationId xmlns:a16="http://schemas.microsoft.com/office/drawing/2014/main" id="{A787CBF3-4FC5-5514-38BF-25CBC46EA63E}"/>
                  </a:ext>
                </a:extLst>
              </p:cNvPr>
              <p:cNvSpPr/>
              <p:nvPr/>
            </p:nvSpPr>
            <p:spPr>
              <a:xfrm>
                <a:off x="898987" y="4354345"/>
                <a:ext cx="2934054" cy="1107537"/>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5" name="正方形/長方形 4">
                <a:extLst>
                  <a:ext uri="{FF2B5EF4-FFF2-40B4-BE49-F238E27FC236}">
                    <a16:creationId xmlns:a16="http://schemas.microsoft.com/office/drawing/2014/main" id="{E547856C-E601-EE4A-C75A-61E755F5E3A8}"/>
                  </a:ext>
                </a:extLst>
              </p:cNvPr>
              <p:cNvSpPr/>
              <p:nvPr/>
            </p:nvSpPr>
            <p:spPr>
              <a:xfrm>
                <a:off x="942784" y="4892022"/>
                <a:ext cx="1453575" cy="229542"/>
              </a:xfrm>
              <a:prstGeom prst="rect">
                <a:avLst/>
              </a:prstGeom>
              <a:no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2" name="正方形/長方形 11">
              <a:extLst>
                <a:ext uri="{FF2B5EF4-FFF2-40B4-BE49-F238E27FC236}">
                  <a16:creationId xmlns:a16="http://schemas.microsoft.com/office/drawing/2014/main" id="{A9B6ED85-6C23-B659-EC92-7DF525E0B819}"/>
                </a:ext>
              </a:extLst>
            </p:cNvPr>
            <p:cNvSpPr/>
            <p:nvPr/>
          </p:nvSpPr>
          <p:spPr>
            <a:xfrm>
              <a:off x="828216" y="2293500"/>
              <a:ext cx="3498074" cy="242593"/>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sp>
          <p:nvSpPr>
            <p:cNvPr id="19" name="正方形/長方形 18">
              <a:extLst>
                <a:ext uri="{FF2B5EF4-FFF2-40B4-BE49-F238E27FC236}">
                  <a16:creationId xmlns:a16="http://schemas.microsoft.com/office/drawing/2014/main" id="{CB660B00-1C55-6D6E-48AC-4E39D22E854B}"/>
                </a:ext>
              </a:extLst>
            </p:cNvPr>
            <p:cNvSpPr/>
            <p:nvPr/>
          </p:nvSpPr>
          <p:spPr>
            <a:xfrm>
              <a:off x="826606" y="3714320"/>
              <a:ext cx="3503418" cy="1106654"/>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Tw Cen MT" panose="020B0602020104020603"/>
                <a:ea typeface="HGPｺﾞｼｯｸE" panose="020B0900000000000000" pitchFamily="50" charset="-128"/>
                <a:cs typeface="+mn-cs"/>
              </a:endParaRPr>
            </a:p>
          </p:txBody>
        </p:sp>
      </p:grpSp>
      <p:sp>
        <p:nvSpPr>
          <p:cNvPr id="25" name="テキスト ボックス 24">
            <a:extLst>
              <a:ext uri="{FF2B5EF4-FFF2-40B4-BE49-F238E27FC236}">
                <a16:creationId xmlns:a16="http://schemas.microsoft.com/office/drawing/2014/main" id="{99F80B0E-768F-F07C-1432-D4A1633F5A73}"/>
              </a:ext>
            </a:extLst>
          </p:cNvPr>
          <p:cNvSpPr txBox="1"/>
          <p:nvPr/>
        </p:nvSpPr>
        <p:spPr bwMode="auto">
          <a:xfrm>
            <a:off x="4931109" y="3677197"/>
            <a:ext cx="5627012" cy="1169551"/>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時間帯別のナースコール数を集計し、縦軸にコール回数、横軸が時間帯の棒グラフで表示。</a:t>
            </a:r>
            <a:endParaRPr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時間帯別は</a:t>
            </a:r>
            <a:r>
              <a:rPr kumimoji="1" lang="en-US" altLang="ja-JP" sz="1100" dirty="0">
                <a:latin typeface="Meiryo UI" panose="020B0604030504040204" pitchFamily="50" charset="-128"/>
                <a:ea typeface="Meiryo UI" panose="020B0604030504040204" pitchFamily="50" charset="-128"/>
              </a:rPr>
              <a:t>6</a:t>
            </a:r>
            <a:r>
              <a:rPr lang="ja-JP" altLang="en-US" sz="1100" dirty="0">
                <a:latin typeface="Meiryo UI" panose="020B0604030504040204" pitchFamily="50" charset="-128"/>
                <a:ea typeface="Meiryo UI" panose="020B0604030504040204" pitchFamily="50" charset="-128"/>
              </a:rPr>
              <a:t>時間</a:t>
            </a:r>
            <a:r>
              <a:rPr lang="en-US" altLang="ja-JP" sz="1100" dirty="0">
                <a:latin typeface="Meiryo UI" panose="020B0604030504040204" pitchFamily="50" charset="-128"/>
                <a:ea typeface="Meiryo UI" panose="020B0604030504040204" pitchFamily="50" charset="-128"/>
              </a:rPr>
              <a:t>(00:00</a:t>
            </a: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5:59</a:t>
            </a: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 6:00</a:t>
            </a: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11:59</a:t>
            </a: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12:00</a:t>
            </a: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17:59</a:t>
            </a: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18:00</a:t>
            </a: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23:59)</a:t>
            </a:r>
            <a:r>
              <a:rPr lang="ja-JP" altLang="en-US" sz="1100" dirty="0">
                <a:latin typeface="Meiryo UI" panose="020B0604030504040204" pitchFamily="50" charset="-128"/>
                <a:ea typeface="Meiryo UI" panose="020B0604030504040204" pitchFamily="50" charset="-128"/>
              </a:rPr>
              <a:t>ごと、</a:t>
            </a:r>
            <a:r>
              <a:rPr lang="en-US" altLang="ja-JP" sz="1100" dirty="0">
                <a:latin typeface="Meiryo UI" panose="020B0604030504040204" pitchFamily="50" charset="-128"/>
                <a:ea typeface="Meiryo UI" panose="020B0604030504040204" pitchFamily="50" charset="-128"/>
              </a:rPr>
              <a:t>24</a:t>
            </a:r>
            <a:r>
              <a:rPr lang="ja-JP" altLang="en-US" sz="1100" dirty="0">
                <a:latin typeface="Meiryo UI" panose="020B0604030504040204" pitchFamily="50" charset="-128"/>
                <a:ea typeface="Meiryo UI" panose="020B0604030504040204" pitchFamily="50" charset="-128"/>
              </a:rPr>
              <a:t>時間を</a:t>
            </a:r>
            <a:r>
              <a:rPr lang="en-US" altLang="ja-JP" sz="1100" dirty="0">
                <a:latin typeface="Meiryo UI" panose="020B0604030504040204" pitchFamily="50" charset="-128"/>
                <a:ea typeface="Meiryo UI" panose="020B0604030504040204" pitchFamily="50" charset="-128"/>
              </a:rPr>
              <a:t>4</a:t>
            </a:r>
            <a:r>
              <a:rPr lang="ja-JP" altLang="en-US" sz="1100" dirty="0">
                <a:latin typeface="Meiryo UI" panose="020B0604030504040204" pitchFamily="50" charset="-128"/>
                <a:ea typeface="Meiryo UI" panose="020B0604030504040204" pitchFamily="50" charset="-128"/>
              </a:rPr>
              <a:t>分割で集計しグラフ表示。</a:t>
            </a:r>
            <a:endParaRPr lang="en-US" altLang="ja-JP" sz="1100" dirty="0">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dirty="0">
                <a:latin typeface="Meiryo UI" panose="020B0604030504040204" pitchFamily="50" charset="-128"/>
                <a:ea typeface="Meiryo UI" panose="020B0604030504040204" pitchFamily="50" charset="-128"/>
              </a:rPr>
              <a:t>左から</a:t>
            </a:r>
            <a:r>
              <a:rPr lang="en-US" altLang="ja-JP" sz="1100" dirty="0">
                <a:latin typeface="Meiryo UI" panose="020B0604030504040204" pitchFamily="50" charset="-128"/>
                <a:ea typeface="Meiryo UI" panose="020B0604030504040204" pitchFamily="50" charset="-128"/>
              </a:rPr>
              <a:t>0</a:t>
            </a:r>
            <a:r>
              <a:rPr lang="ja-JP" altLang="en-US" sz="1100" dirty="0">
                <a:latin typeface="Meiryo UI" panose="020B0604030504040204" pitchFamily="50" charset="-128"/>
                <a:ea typeface="Meiryo UI" panose="020B0604030504040204" pitchFamily="50" charset="-128"/>
              </a:rPr>
              <a:t>時台は始めとして数値昇順で並び、一番右は</a:t>
            </a:r>
            <a:r>
              <a:rPr lang="en-US" altLang="ja-JP" sz="1100" dirty="0">
                <a:latin typeface="Meiryo UI" panose="020B0604030504040204" pitchFamily="50" charset="-128"/>
                <a:ea typeface="Meiryo UI" panose="020B0604030504040204" pitchFamily="50" charset="-128"/>
              </a:rPr>
              <a:t>23</a:t>
            </a:r>
            <a:r>
              <a:rPr lang="ja-JP" altLang="en-US" sz="1100" dirty="0">
                <a:latin typeface="Meiryo UI" panose="020B0604030504040204" pitchFamily="50" charset="-128"/>
                <a:ea typeface="Meiryo UI" panose="020B0604030504040204" pitchFamily="50" charset="-128"/>
              </a:rPr>
              <a:t>時台となるグラフ構成とする。</a:t>
            </a:r>
            <a:endParaRPr lang="en-US" altLang="ja-JP" sz="1100" dirty="0">
              <a:latin typeface="Meiryo UI" panose="020B0604030504040204" pitchFamily="50" charset="-128"/>
              <a:ea typeface="Meiryo UI" panose="020B0604030504040204" pitchFamily="50" charset="-128"/>
            </a:endParaRPr>
          </a:p>
          <a:p>
            <a:pPr marL="285750" indent="-285750">
              <a:spcBef>
                <a:spcPts val="600"/>
              </a:spcBef>
              <a:buFont typeface="Arial" panose="020B0604020202020204" pitchFamily="34" charset="0"/>
              <a:buChar char="•"/>
              <a:defRPr/>
            </a:pPr>
            <a:r>
              <a:rPr kumimoji="1" lang="ja-JP" altLang="en-US" sz="1100" dirty="0">
                <a:latin typeface="Meiryo UI" panose="020B0604030504040204" pitchFamily="50" charset="-128"/>
                <a:ea typeface="Meiryo UI" panose="020B0604030504040204" pitchFamily="50" charset="-128"/>
              </a:rPr>
              <a:t>ナースコール数が</a:t>
            </a:r>
            <a:r>
              <a:rPr kumimoji="1" lang="en-US" altLang="ja-JP" sz="1100" dirty="0">
                <a:latin typeface="Meiryo UI" panose="020B0604030504040204" pitchFamily="50" charset="-128"/>
                <a:ea typeface="Meiryo UI" panose="020B0604030504040204" pitchFamily="50" charset="-128"/>
              </a:rPr>
              <a:t>0</a:t>
            </a:r>
            <a:r>
              <a:rPr kumimoji="1" lang="ja-JP" altLang="en-US" sz="1100" dirty="0">
                <a:latin typeface="Meiryo UI" panose="020B0604030504040204" pitchFamily="50" charset="-128"/>
                <a:ea typeface="Meiryo UI" panose="020B0604030504040204" pitchFamily="50" charset="-128"/>
              </a:rPr>
              <a:t>の時間帯は表示されない。</a:t>
            </a:r>
            <a:endParaRPr kumimoji="1" lang="en-US" altLang="ja-JP" sz="1100" dirty="0">
              <a:latin typeface="Meiryo UI" panose="020B0604030504040204" pitchFamily="50" charset="-128"/>
              <a:ea typeface="Meiryo UI" panose="020B0604030504040204" pitchFamily="50" charset="-128"/>
            </a:endParaRPr>
          </a:p>
        </p:txBody>
      </p:sp>
      <p:cxnSp>
        <p:nvCxnSpPr>
          <p:cNvPr id="29" name="直線矢印コネクタ 14">
            <a:extLst>
              <a:ext uri="{FF2B5EF4-FFF2-40B4-BE49-F238E27FC236}">
                <a16:creationId xmlns:a16="http://schemas.microsoft.com/office/drawing/2014/main" id="{3B4BB6EF-C0FF-B5BA-E415-3883FDCED5C1}"/>
              </a:ext>
            </a:extLst>
          </p:cNvPr>
          <p:cNvCxnSpPr>
            <a:cxnSpLocks/>
            <a:stCxn id="30" idx="3"/>
            <a:endCxn id="25" idx="1"/>
          </p:cNvCxnSpPr>
          <p:nvPr/>
        </p:nvCxnSpPr>
        <p:spPr>
          <a:xfrm>
            <a:off x="4460782" y="3266974"/>
            <a:ext cx="470327" cy="994999"/>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14">
            <a:extLst>
              <a:ext uri="{FF2B5EF4-FFF2-40B4-BE49-F238E27FC236}">
                <a16:creationId xmlns:a16="http://schemas.microsoft.com/office/drawing/2014/main" id="{F12CE6CD-72C8-4B5A-FE50-589EA6102245}"/>
              </a:ext>
            </a:extLst>
          </p:cNvPr>
          <p:cNvCxnSpPr>
            <a:cxnSpLocks/>
            <a:stCxn id="19" idx="3"/>
            <a:endCxn id="10" idx="1"/>
          </p:cNvCxnSpPr>
          <p:nvPr/>
        </p:nvCxnSpPr>
        <p:spPr>
          <a:xfrm>
            <a:off x="4461930" y="4507642"/>
            <a:ext cx="469177" cy="799368"/>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14">
            <a:extLst>
              <a:ext uri="{FF2B5EF4-FFF2-40B4-BE49-F238E27FC236}">
                <a16:creationId xmlns:a16="http://schemas.microsoft.com/office/drawing/2014/main" id="{03B7B312-E106-79CF-439F-E1A40CD9D2B0}"/>
              </a:ext>
            </a:extLst>
          </p:cNvPr>
          <p:cNvCxnSpPr>
            <a:cxnSpLocks/>
            <a:stCxn id="26" idx="3"/>
            <a:endCxn id="27" idx="1"/>
          </p:cNvCxnSpPr>
          <p:nvPr/>
        </p:nvCxnSpPr>
        <p:spPr>
          <a:xfrm>
            <a:off x="4453661" y="2130052"/>
            <a:ext cx="484740" cy="132734"/>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14">
            <a:extLst>
              <a:ext uri="{FF2B5EF4-FFF2-40B4-BE49-F238E27FC236}">
                <a16:creationId xmlns:a16="http://schemas.microsoft.com/office/drawing/2014/main" id="{C6C7FCD7-5167-0425-4B67-BD97BE8F4FBC}"/>
              </a:ext>
            </a:extLst>
          </p:cNvPr>
          <p:cNvCxnSpPr>
            <a:cxnSpLocks/>
            <a:stCxn id="12" idx="3"/>
            <a:endCxn id="31" idx="1"/>
          </p:cNvCxnSpPr>
          <p:nvPr/>
        </p:nvCxnSpPr>
        <p:spPr>
          <a:xfrm>
            <a:off x="4457895" y="2505479"/>
            <a:ext cx="473215" cy="588223"/>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14">
            <a:extLst>
              <a:ext uri="{FF2B5EF4-FFF2-40B4-BE49-F238E27FC236}">
                <a16:creationId xmlns:a16="http://schemas.microsoft.com/office/drawing/2014/main" id="{74A7364E-22E4-A4AB-7FD2-D2AB5B6B6572}"/>
              </a:ext>
            </a:extLst>
          </p:cNvPr>
          <p:cNvCxnSpPr>
            <a:cxnSpLocks/>
            <a:stCxn id="35" idx="3"/>
            <a:endCxn id="36" idx="1"/>
          </p:cNvCxnSpPr>
          <p:nvPr/>
        </p:nvCxnSpPr>
        <p:spPr>
          <a:xfrm>
            <a:off x="4460784" y="5855799"/>
            <a:ext cx="470327" cy="373734"/>
          </a:xfrm>
          <a:prstGeom prst="bentConnector3">
            <a:avLst>
              <a:gd name="adj1" fmla="val 50000"/>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73B67512-9397-77FC-D457-855C966A05A0}"/>
              </a:ext>
            </a:extLst>
          </p:cNvPr>
          <p:cNvSpPr txBox="1"/>
          <p:nvPr/>
        </p:nvSpPr>
        <p:spPr bwMode="auto">
          <a:xfrm>
            <a:off x="4937757" y="946270"/>
            <a:ext cx="5616699" cy="892552"/>
          </a:xfrm>
          <a:prstGeom prst="rect">
            <a:avLst/>
          </a:prstGeom>
          <a:noFill/>
          <a:ln w="2540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altLang="ja-JP" sz="1400" dirty="0">
                <a:solidFill>
                  <a:prstClr val="black"/>
                </a:solidFill>
                <a:latin typeface="Meiryo UI" panose="020B0604030504040204" pitchFamily="50" charset="-128"/>
                <a:ea typeface="Meiryo UI" panose="020B0604030504040204" pitchFamily="50" charset="-128"/>
              </a:rPr>
              <a:t>5</a:t>
            </a:r>
            <a:r>
              <a:rPr lang="ja-JP" altLang="en-US" sz="1400" dirty="0">
                <a:solidFill>
                  <a:prstClr val="black"/>
                </a:solidFill>
                <a:latin typeface="Meiryo UI" panose="020B0604030504040204" pitchFamily="50" charset="-128"/>
                <a:ea typeface="Meiryo UI" panose="020B0604030504040204" pitchFamily="50" charset="-128"/>
              </a:rPr>
              <a:t>ヶ月前～前月の各月データが表示可能。</a:t>
            </a:r>
            <a:endParaRPr lang="en-US" altLang="ja-JP" sz="1400" dirty="0">
              <a:solidFill>
                <a:prstClr val="black"/>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毎月</a:t>
            </a: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1</a:t>
            </a:r>
            <a:r>
              <a:rPr lang="ja-JP" altLang="en-US" sz="1400" dirty="0">
                <a:latin typeface="Meiryo UI" panose="020B0604030504040204" pitchFamily="50" charset="-128"/>
                <a:ea typeface="Meiryo UI" panose="020B0604030504040204" pitchFamily="50" charset="-128"/>
              </a:rPr>
              <a:t>日に前月までのデータを</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更新する。</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endParaRPr>
          </a:p>
          <a:p>
            <a:pPr marL="285750" indent="-285750">
              <a:spcBef>
                <a:spcPts val="600"/>
              </a:spcBef>
              <a:buFont typeface="Arial" panose="020B0604020202020204" pitchFamily="34" charset="0"/>
              <a:buChar char="•"/>
              <a:defRPr/>
            </a:pP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表示させる対象月は前項の絞り込み機能「年月」で選択する。</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endParaRPr>
          </a:p>
        </p:txBody>
      </p:sp>
      <p:sp>
        <p:nvSpPr>
          <p:cNvPr id="2" name="テキスト ボックス 1">
            <a:extLst>
              <a:ext uri="{FF2B5EF4-FFF2-40B4-BE49-F238E27FC236}">
                <a16:creationId xmlns:a16="http://schemas.microsoft.com/office/drawing/2014/main" id="{60FDEEA0-B42C-22FB-67D1-3B9FC315A182}"/>
              </a:ext>
            </a:extLst>
          </p:cNvPr>
          <p:cNvSpPr txBox="1"/>
          <p:nvPr/>
        </p:nvSpPr>
        <p:spPr bwMode="auto">
          <a:xfrm>
            <a:off x="225339" y="1479901"/>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200" dirty="0">
                <a:solidFill>
                  <a:srgbClr val="FF0000"/>
                </a:solidFill>
                <a:latin typeface="Meiryo UI" panose="020B0604030504040204" pitchFamily="50" charset="-128"/>
                <a:ea typeface="Meiryo UI" panose="020B0604030504040204" pitchFamily="50" charset="-128"/>
              </a:rPr>
              <a:t>㉒</a:t>
            </a:r>
            <a:endParaRPr kumimoji="1" lang="ja-JP" altLang="en-US" sz="1200" dirty="0">
              <a:solidFill>
                <a:srgbClr val="FF0000"/>
              </a:solidFill>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C7D1FBFE-3B61-2909-B8EE-1644D393BB5A}"/>
              </a:ext>
            </a:extLst>
          </p:cNvPr>
          <p:cNvSpPr txBox="1"/>
          <p:nvPr/>
        </p:nvSpPr>
        <p:spPr bwMode="auto">
          <a:xfrm>
            <a:off x="234741" y="1985025"/>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㉓</a:t>
            </a:r>
          </a:p>
        </p:txBody>
      </p:sp>
      <p:sp>
        <p:nvSpPr>
          <p:cNvPr id="13" name="テキスト ボックス 12">
            <a:extLst>
              <a:ext uri="{FF2B5EF4-FFF2-40B4-BE49-F238E27FC236}">
                <a16:creationId xmlns:a16="http://schemas.microsoft.com/office/drawing/2014/main" id="{D5203E3C-6D58-48C8-C011-E3ED162391E3}"/>
              </a:ext>
            </a:extLst>
          </p:cNvPr>
          <p:cNvSpPr txBox="1"/>
          <p:nvPr/>
        </p:nvSpPr>
        <p:spPr bwMode="auto">
          <a:xfrm>
            <a:off x="234741" y="2368145"/>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200" dirty="0">
                <a:solidFill>
                  <a:srgbClr val="FF0000"/>
                </a:solidFill>
                <a:latin typeface="Meiryo UI" panose="020B0604030504040204" pitchFamily="50" charset="-128"/>
                <a:ea typeface="Meiryo UI" panose="020B0604030504040204" pitchFamily="50" charset="-128"/>
              </a:rPr>
              <a:t>㉕</a:t>
            </a:r>
            <a:endParaRPr kumimoji="1" lang="ja-JP" altLang="en-US" sz="1200" dirty="0">
              <a:solidFill>
                <a:srgbClr val="FF0000"/>
              </a:solidFill>
              <a:latin typeface="Meiryo UI" panose="020B0604030504040204" pitchFamily="50" charset="-128"/>
              <a:ea typeface="Meiryo UI" panose="020B0604030504040204" pitchFamily="50" charset="-128"/>
            </a:endParaRPr>
          </a:p>
        </p:txBody>
      </p:sp>
      <p:sp>
        <p:nvSpPr>
          <p:cNvPr id="17" name="テキスト ボックス 16">
            <a:extLst>
              <a:ext uri="{FF2B5EF4-FFF2-40B4-BE49-F238E27FC236}">
                <a16:creationId xmlns:a16="http://schemas.microsoft.com/office/drawing/2014/main" id="{76137CCF-9F5E-323E-BA55-614C3A181327}"/>
              </a:ext>
            </a:extLst>
          </p:cNvPr>
          <p:cNvSpPr txBox="1"/>
          <p:nvPr/>
        </p:nvSpPr>
        <p:spPr bwMode="auto">
          <a:xfrm>
            <a:off x="239203" y="2734670"/>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㉖</a:t>
            </a:r>
          </a:p>
        </p:txBody>
      </p:sp>
      <p:sp>
        <p:nvSpPr>
          <p:cNvPr id="20" name="テキスト ボックス 19">
            <a:extLst>
              <a:ext uri="{FF2B5EF4-FFF2-40B4-BE49-F238E27FC236}">
                <a16:creationId xmlns:a16="http://schemas.microsoft.com/office/drawing/2014/main" id="{F0039B42-CA0F-26D4-6454-C93E5EFE00E4}"/>
              </a:ext>
            </a:extLst>
          </p:cNvPr>
          <p:cNvSpPr txBox="1"/>
          <p:nvPr/>
        </p:nvSpPr>
        <p:spPr bwMode="auto">
          <a:xfrm>
            <a:off x="254702" y="3990766"/>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lang="ja-JP" altLang="en-US" sz="1200" dirty="0">
                <a:solidFill>
                  <a:srgbClr val="FF0000"/>
                </a:solidFill>
                <a:latin typeface="Meiryo UI" panose="020B0604030504040204" pitchFamily="50" charset="-128"/>
                <a:ea typeface="Meiryo UI" panose="020B0604030504040204" pitchFamily="50" charset="-128"/>
              </a:rPr>
              <a:t>㉗</a:t>
            </a:r>
            <a:endParaRPr kumimoji="1" lang="ja-JP" altLang="en-US" sz="1200" dirty="0">
              <a:solidFill>
                <a:srgbClr val="FF0000"/>
              </a:solidFill>
              <a:latin typeface="Meiryo UI" panose="020B0604030504040204" pitchFamily="50" charset="-128"/>
              <a:ea typeface="Meiryo UI" panose="020B0604030504040204" pitchFamily="50" charset="-128"/>
            </a:endParaRPr>
          </a:p>
        </p:txBody>
      </p:sp>
      <p:sp>
        <p:nvSpPr>
          <p:cNvPr id="21" name="テキスト ボックス 20">
            <a:extLst>
              <a:ext uri="{FF2B5EF4-FFF2-40B4-BE49-F238E27FC236}">
                <a16:creationId xmlns:a16="http://schemas.microsoft.com/office/drawing/2014/main" id="{E55EE2A7-6C68-A07F-A941-73F77FC940CD}"/>
              </a:ext>
            </a:extLst>
          </p:cNvPr>
          <p:cNvSpPr txBox="1"/>
          <p:nvPr/>
        </p:nvSpPr>
        <p:spPr bwMode="auto">
          <a:xfrm>
            <a:off x="251103" y="5195184"/>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㉘</a:t>
            </a:r>
          </a:p>
        </p:txBody>
      </p:sp>
      <p:sp>
        <p:nvSpPr>
          <p:cNvPr id="23" name="テキスト ボックス 22">
            <a:extLst>
              <a:ext uri="{FF2B5EF4-FFF2-40B4-BE49-F238E27FC236}">
                <a16:creationId xmlns:a16="http://schemas.microsoft.com/office/drawing/2014/main" id="{0F5494C5-F9FA-511E-8791-C332F78B2535}"/>
              </a:ext>
            </a:extLst>
          </p:cNvPr>
          <p:cNvSpPr txBox="1"/>
          <p:nvPr/>
        </p:nvSpPr>
        <p:spPr bwMode="auto">
          <a:xfrm>
            <a:off x="1375505" y="1844847"/>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㉔</a:t>
            </a:r>
          </a:p>
        </p:txBody>
      </p:sp>
      <p:sp>
        <p:nvSpPr>
          <p:cNvPr id="24" name="テキスト ボックス 23">
            <a:extLst>
              <a:ext uri="{FF2B5EF4-FFF2-40B4-BE49-F238E27FC236}">
                <a16:creationId xmlns:a16="http://schemas.microsoft.com/office/drawing/2014/main" id="{334E86F8-65EA-DB92-2224-A95BCBA738C7}"/>
              </a:ext>
            </a:extLst>
          </p:cNvPr>
          <p:cNvSpPr txBox="1"/>
          <p:nvPr/>
        </p:nvSpPr>
        <p:spPr bwMode="auto">
          <a:xfrm>
            <a:off x="729218" y="2414846"/>
            <a:ext cx="1047824" cy="184666"/>
          </a:xfrm>
          <a:prstGeom prst="rect">
            <a:avLst/>
          </a:prstGeom>
          <a:solidFill>
            <a:srgbClr val="FFFFFF"/>
          </a:solidFill>
          <a:ln w="25400">
            <a:noFill/>
            <a:miter lim="800000"/>
            <a:headEnd/>
            <a:tailEnd/>
          </a:ln>
        </p:spPr>
        <p:txBody>
          <a:bodyPr wrap="square" lIns="180000" rIns="180000" rtlCol="0" anchor="ctr">
            <a:spAutoFit/>
          </a:bodyPr>
          <a:lstStyle/>
          <a:p>
            <a:pPr>
              <a:spcBef>
                <a:spcPts val="600"/>
              </a:spcBef>
            </a:pPr>
            <a:r>
              <a:rPr kumimoji="1" lang="ja-JP" altLang="en-US" sz="600" b="1" dirty="0">
                <a:latin typeface="Meiryo UI" panose="020B0604030504040204" pitchFamily="50" charset="-128"/>
                <a:ea typeface="Meiryo UI" panose="020B0604030504040204" pitchFamily="50" charset="-128"/>
              </a:rPr>
              <a:t>ナースコール傾向</a:t>
            </a:r>
          </a:p>
        </p:txBody>
      </p:sp>
      <p:sp>
        <p:nvSpPr>
          <p:cNvPr id="22" name="四角形: 角を丸くする 21">
            <a:extLst>
              <a:ext uri="{FF2B5EF4-FFF2-40B4-BE49-F238E27FC236}">
                <a16:creationId xmlns:a16="http://schemas.microsoft.com/office/drawing/2014/main" id="{E2CA5421-72DA-1799-6D5B-9BB6A0F497D8}"/>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39" name="テキスト ボックス 38">
            <a:extLst>
              <a:ext uri="{FF2B5EF4-FFF2-40B4-BE49-F238E27FC236}">
                <a16:creationId xmlns:a16="http://schemas.microsoft.com/office/drawing/2014/main" id="{4E25DE6C-771B-685E-8632-88D5BBF93B04}"/>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138801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タイトル 17">
            <a:extLst>
              <a:ext uri="{FF2B5EF4-FFF2-40B4-BE49-F238E27FC236}">
                <a16:creationId xmlns:a16="http://schemas.microsoft.com/office/drawing/2014/main" id="{8F872F7E-588F-E5A2-4088-9CB05933B821}"/>
              </a:ext>
            </a:extLst>
          </p:cNvPr>
          <p:cNvSpPr>
            <a:spLocks noGrp="1"/>
          </p:cNvSpPr>
          <p:nvPr>
            <p:ph type="title"/>
          </p:nvPr>
        </p:nvSpPr>
        <p:spPr/>
        <p:txBody>
          <a:bodyPr/>
          <a:lstStyle/>
          <a:p>
            <a:pPr rtl="0" eaLnBrk="1" fontAlgn="auto" latinLnBrk="0" hangingPunct="1"/>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機能要件　画面要件</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⑤</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原因分析</a:t>
            </a:r>
            <a:r>
              <a:rPr kumimoji="1" lang="ja-JP" altLang="ja-JP"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」ページ</a:t>
            </a:r>
            <a:r>
              <a:rPr kumimoji="1" lang="ja-JP" altLang="en-US" sz="2000" b="0" i="0" kern="1200" spc="0" baseline="0" dirty="0">
                <a:ln>
                  <a:noFill/>
                </a:ln>
                <a:solidFill>
                  <a:srgbClr val="000000"/>
                </a:solidFill>
                <a:effectLst/>
                <a:latin typeface="Meiryo UI" panose="020B0604030504040204" pitchFamily="50" charset="-128"/>
                <a:ea typeface="Meiryo UI" panose="020B0604030504040204" pitchFamily="50" charset="-128"/>
                <a:cs typeface="+mn-cs"/>
              </a:rPr>
              <a:t>　</a:t>
            </a:r>
            <a:r>
              <a:rPr lang="ja-JP" altLang="en-US" sz="2000" b="0" dirty="0">
                <a:solidFill>
                  <a:srgbClr val="000000"/>
                </a:solidFill>
                <a:cs typeface="+mn-cs"/>
              </a:rPr>
              <a:t>各種定義</a:t>
            </a:r>
            <a:endParaRPr lang="ja-JP" altLang="ja-JP" dirty="0">
              <a:effectLst/>
            </a:endParaRPr>
          </a:p>
        </p:txBody>
      </p:sp>
      <p:sp>
        <p:nvSpPr>
          <p:cNvPr id="21" name="テキスト ボックス 20">
            <a:extLst>
              <a:ext uri="{FF2B5EF4-FFF2-40B4-BE49-F238E27FC236}">
                <a16:creationId xmlns:a16="http://schemas.microsoft.com/office/drawing/2014/main" id="{1187ABF3-590C-61E6-0112-B2FA81364BFA}"/>
              </a:ext>
            </a:extLst>
          </p:cNvPr>
          <p:cNvSpPr txBox="1"/>
          <p:nvPr/>
        </p:nvSpPr>
        <p:spPr bwMode="auto">
          <a:xfrm>
            <a:off x="7043957" y="2176256"/>
            <a:ext cx="4162048" cy="430887"/>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原因分析</a:t>
            </a:r>
            <a:r>
              <a:rPr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ホーム別</a:t>
            </a:r>
            <a:r>
              <a:rPr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ページのナースコール傾向の定義を左記のと通りに表示。</a:t>
            </a:r>
            <a:endParaRPr kumimoji="1" lang="en-US" altLang="ja-JP" sz="1100" dirty="0">
              <a:latin typeface="Meiryo UI" panose="020B0604030504040204" pitchFamily="50" charset="-128"/>
              <a:ea typeface="Meiryo UI" panose="020B0604030504040204" pitchFamily="50" charset="-128"/>
            </a:endParaRPr>
          </a:p>
        </p:txBody>
      </p:sp>
      <p:sp>
        <p:nvSpPr>
          <p:cNvPr id="40" name="テキスト ボックス 39">
            <a:extLst>
              <a:ext uri="{FF2B5EF4-FFF2-40B4-BE49-F238E27FC236}">
                <a16:creationId xmlns:a16="http://schemas.microsoft.com/office/drawing/2014/main" id="{9DB7B398-47A9-2E67-5E9C-A41E3E9C26C1}"/>
              </a:ext>
            </a:extLst>
          </p:cNvPr>
          <p:cNvSpPr txBox="1"/>
          <p:nvPr/>
        </p:nvSpPr>
        <p:spPr bwMode="auto">
          <a:xfrm>
            <a:off x="7043956" y="3363980"/>
            <a:ext cx="4162048" cy="430887"/>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原因分析</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ホーム別</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ページのナースコールアラートの定義を左記のとおりに表示。</a:t>
            </a:r>
            <a:endParaRPr kumimoji="1" lang="en-US" altLang="ja-JP" sz="1100" dirty="0">
              <a:latin typeface="Meiryo UI" panose="020B0604030504040204" pitchFamily="50" charset="-128"/>
              <a:ea typeface="Meiryo UI" panose="020B0604030504040204" pitchFamily="50" charset="-128"/>
            </a:endParaRPr>
          </a:p>
        </p:txBody>
      </p:sp>
      <p:pic>
        <p:nvPicPr>
          <p:cNvPr id="17" name="図 16">
            <a:extLst>
              <a:ext uri="{FF2B5EF4-FFF2-40B4-BE49-F238E27FC236}">
                <a16:creationId xmlns:a16="http://schemas.microsoft.com/office/drawing/2014/main" id="{C34B2F2C-8F38-C2C1-43D8-30EDD44C2D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141" y="1072287"/>
            <a:ext cx="6083844" cy="3387936"/>
          </a:xfrm>
          <a:prstGeom prst="rect">
            <a:avLst/>
          </a:prstGeom>
        </p:spPr>
      </p:pic>
      <p:cxnSp>
        <p:nvCxnSpPr>
          <p:cNvPr id="22" name="直線矢印コネクタ 14">
            <a:extLst>
              <a:ext uri="{FF2B5EF4-FFF2-40B4-BE49-F238E27FC236}">
                <a16:creationId xmlns:a16="http://schemas.microsoft.com/office/drawing/2014/main" id="{450E766A-4A58-DCE0-0640-E94F14624663}"/>
              </a:ext>
            </a:extLst>
          </p:cNvPr>
          <p:cNvCxnSpPr>
            <a:cxnSpLocks/>
            <a:stCxn id="20" idx="3"/>
            <a:endCxn id="21" idx="1"/>
          </p:cNvCxnSpPr>
          <p:nvPr/>
        </p:nvCxnSpPr>
        <p:spPr>
          <a:xfrm flipV="1">
            <a:off x="5614428" y="2391700"/>
            <a:ext cx="1429529" cy="1179"/>
          </a:xfrm>
          <a:prstGeom prst="straightConnector1">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14">
            <a:extLst>
              <a:ext uri="{FF2B5EF4-FFF2-40B4-BE49-F238E27FC236}">
                <a16:creationId xmlns:a16="http://schemas.microsoft.com/office/drawing/2014/main" id="{AC7CDB29-E19B-216C-FEF3-1F30B21F2B03}"/>
              </a:ext>
            </a:extLst>
          </p:cNvPr>
          <p:cNvCxnSpPr>
            <a:cxnSpLocks/>
            <a:stCxn id="39" idx="3"/>
            <a:endCxn id="40" idx="1"/>
          </p:cNvCxnSpPr>
          <p:nvPr/>
        </p:nvCxnSpPr>
        <p:spPr>
          <a:xfrm>
            <a:off x="5614428" y="3579424"/>
            <a:ext cx="1429528" cy="0"/>
          </a:xfrm>
          <a:prstGeom prst="straightConnector1">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pic>
        <p:nvPicPr>
          <p:cNvPr id="3" name="図 2">
            <a:extLst>
              <a:ext uri="{FF2B5EF4-FFF2-40B4-BE49-F238E27FC236}">
                <a16:creationId xmlns:a16="http://schemas.microsoft.com/office/drawing/2014/main" id="{3AA92E69-6FCF-54CD-0597-989FD74349FB}"/>
              </a:ext>
            </a:extLst>
          </p:cNvPr>
          <p:cNvPicPr>
            <a:picLocks noChangeAspect="1"/>
          </p:cNvPicPr>
          <p:nvPr/>
        </p:nvPicPr>
        <p:blipFill rotWithShape="1">
          <a:blip r:embed="rId3">
            <a:extLst>
              <a:ext uri="{28A0092B-C50C-407E-A947-70E740481C1C}">
                <a14:useLocalDpi xmlns:a14="http://schemas.microsoft.com/office/drawing/2010/main" val="0"/>
              </a:ext>
            </a:extLst>
          </a:blip>
          <a:srcRect t="91932" b="-1"/>
          <a:stretch/>
        </p:blipFill>
        <p:spPr>
          <a:xfrm>
            <a:off x="453141" y="4458259"/>
            <a:ext cx="6083844" cy="273362"/>
          </a:xfrm>
          <a:prstGeom prst="rect">
            <a:avLst/>
          </a:prstGeom>
        </p:spPr>
      </p:pic>
      <p:pic>
        <p:nvPicPr>
          <p:cNvPr id="4" name="図 3">
            <a:extLst>
              <a:ext uri="{FF2B5EF4-FFF2-40B4-BE49-F238E27FC236}">
                <a16:creationId xmlns:a16="http://schemas.microsoft.com/office/drawing/2014/main" id="{A6E8E994-C8EF-BA0E-EA33-E039FDE890B9}"/>
              </a:ext>
            </a:extLst>
          </p:cNvPr>
          <p:cNvPicPr>
            <a:picLocks noChangeAspect="1"/>
          </p:cNvPicPr>
          <p:nvPr/>
        </p:nvPicPr>
        <p:blipFill rotWithShape="1">
          <a:blip r:embed="rId3">
            <a:extLst>
              <a:ext uri="{28A0092B-C50C-407E-A947-70E740481C1C}">
                <a14:useLocalDpi xmlns:a14="http://schemas.microsoft.com/office/drawing/2010/main" val="0"/>
              </a:ext>
            </a:extLst>
          </a:blip>
          <a:srcRect t="91932" b="-1"/>
          <a:stretch/>
        </p:blipFill>
        <p:spPr>
          <a:xfrm>
            <a:off x="453141" y="4731620"/>
            <a:ext cx="6083844" cy="273362"/>
          </a:xfrm>
          <a:prstGeom prst="rect">
            <a:avLst/>
          </a:prstGeom>
        </p:spPr>
      </p:pic>
      <p:pic>
        <p:nvPicPr>
          <p:cNvPr id="5" name="図 4">
            <a:extLst>
              <a:ext uri="{FF2B5EF4-FFF2-40B4-BE49-F238E27FC236}">
                <a16:creationId xmlns:a16="http://schemas.microsoft.com/office/drawing/2014/main" id="{42DC9B97-9EB7-DA18-C06E-DA0C1AA71D15}"/>
              </a:ext>
            </a:extLst>
          </p:cNvPr>
          <p:cNvPicPr>
            <a:picLocks noChangeAspect="1"/>
          </p:cNvPicPr>
          <p:nvPr/>
        </p:nvPicPr>
        <p:blipFill rotWithShape="1">
          <a:blip r:embed="rId3">
            <a:extLst>
              <a:ext uri="{28A0092B-C50C-407E-A947-70E740481C1C}">
                <a14:useLocalDpi xmlns:a14="http://schemas.microsoft.com/office/drawing/2010/main" val="0"/>
              </a:ext>
            </a:extLst>
          </a:blip>
          <a:srcRect t="91932" b="-1"/>
          <a:stretch/>
        </p:blipFill>
        <p:spPr>
          <a:xfrm>
            <a:off x="453141" y="5003017"/>
            <a:ext cx="6083844" cy="273362"/>
          </a:xfrm>
          <a:prstGeom prst="rect">
            <a:avLst/>
          </a:prstGeom>
        </p:spPr>
      </p:pic>
      <p:pic>
        <p:nvPicPr>
          <p:cNvPr id="6" name="図 5">
            <a:extLst>
              <a:ext uri="{FF2B5EF4-FFF2-40B4-BE49-F238E27FC236}">
                <a16:creationId xmlns:a16="http://schemas.microsoft.com/office/drawing/2014/main" id="{216F7D97-40AF-7EFA-4633-ADC94E6E26B0}"/>
              </a:ext>
            </a:extLst>
          </p:cNvPr>
          <p:cNvPicPr>
            <a:picLocks noChangeAspect="1"/>
          </p:cNvPicPr>
          <p:nvPr/>
        </p:nvPicPr>
        <p:blipFill rotWithShape="1">
          <a:blip r:embed="rId3">
            <a:extLst>
              <a:ext uri="{28A0092B-C50C-407E-A947-70E740481C1C}">
                <a14:useLocalDpi xmlns:a14="http://schemas.microsoft.com/office/drawing/2010/main" val="0"/>
              </a:ext>
            </a:extLst>
          </a:blip>
          <a:srcRect t="91932" b="-1"/>
          <a:stretch/>
        </p:blipFill>
        <p:spPr>
          <a:xfrm>
            <a:off x="453141" y="5263682"/>
            <a:ext cx="6083844" cy="273362"/>
          </a:xfrm>
          <a:prstGeom prst="rect">
            <a:avLst/>
          </a:prstGeom>
        </p:spPr>
      </p:pic>
      <p:pic>
        <p:nvPicPr>
          <p:cNvPr id="8" name="図 7">
            <a:extLst>
              <a:ext uri="{FF2B5EF4-FFF2-40B4-BE49-F238E27FC236}">
                <a16:creationId xmlns:a16="http://schemas.microsoft.com/office/drawing/2014/main" id="{7EF51B00-81BC-266D-7DDB-7C703864324B}"/>
              </a:ext>
            </a:extLst>
          </p:cNvPr>
          <p:cNvPicPr>
            <a:picLocks noChangeAspect="1"/>
          </p:cNvPicPr>
          <p:nvPr/>
        </p:nvPicPr>
        <p:blipFill rotWithShape="1">
          <a:blip r:embed="rId3">
            <a:extLst>
              <a:ext uri="{28A0092B-C50C-407E-A947-70E740481C1C}">
                <a14:useLocalDpi xmlns:a14="http://schemas.microsoft.com/office/drawing/2010/main" val="0"/>
              </a:ext>
            </a:extLst>
          </a:blip>
          <a:srcRect t="91932" b="-1"/>
          <a:stretch/>
        </p:blipFill>
        <p:spPr>
          <a:xfrm>
            <a:off x="453141" y="5537474"/>
            <a:ext cx="6083844" cy="273362"/>
          </a:xfrm>
          <a:prstGeom prst="rect">
            <a:avLst/>
          </a:prstGeom>
        </p:spPr>
      </p:pic>
      <p:pic>
        <p:nvPicPr>
          <p:cNvPr id="9" name="図 8">
            <a:extLst>
              <a:ext uri="{FF2B5EF4-FFF2-40B4-BE49-F238E27FC236}">
                <a16:creationId xmlns:a16="http://schemas.microsoft.com/office/drawing/2014/main" id="{5A07C74C-95F2-0DD4-B012-C72AC7F2503D}"/>
              </a:ext>
            </a:extLst>
          </p:cNvPr>
          <p:cNvPicPr>
            <a:picLocks noChangeAspect="1"/>
          </p:cNvPicPr>
          <p:nvPr/>
        </p:nvPicPr>
        <p:blipFill rotWithShape="1">
          <a:blip r:embed="rId3">
            <a:extLst>
              <a:ext uri="{28A0092B-C50C-407E-A947-70E740481C1C}">
                <a14:useLocalDpi xmlns:a14="http://schemas.microsoft.com/office/drawing/2010/main" val="0"/>
              </a:ext>
            </a:extLst>
          </a:blip>
          <a:srcRect t="91932" b="-1"/>
          <a:stretch/>
        </p:blipFill>
        <p:spPr>
          <a:xfrm>
            <a:off x="453141" y="5810836"/>
            <a:ext cx="6083844" cy="273362"/>
          </a:xfrm>
          <a:prstGeom prst="rect">
            <a:avLst/>
          </a:prstGeom>
        </p:spPr>
      </p:pic>
      <p:pic>
        <p:nvPicPr>
          <p:cNvPr id="10" name="図 9">
            <a:extLst>
              <a:ext uri="{FF2B5EF4-FFF2-40B4-BE49-F238E27FC236}">
                <a16:creationId xmlns:a16="http://schemas.microsoft.com/office/drawing/2014/main" id="{24A55B0A-22AC-8D3F-3DA7-59C8C082957E}"/>
              </a:ext>
            </a:extLst>
          </p:cNvPr>
          <p:cNvPicPr>
            <a:picLocks noChangeAspect="1"/>
          </p:cNvPicPr>
          <p:nvPr/>
        </p:nvPicPr>
        <p:blipFill rotWithShape="1">
          <a:blip r:embed="rId3">
            <a:extLst>
              <a:ext uri="{28A0092B-C50C-407E-A947-70E740481C1C}">
                <a14:useLocalDpi xmlns:a14="http://schemas.microsoft.com/office/drawing/2010/main" val="0"/>
              </a:ext>
            </a:extLst>
          </a:blip>
          <a:srcRect t="91932" b="-1"/>
          <a:stretch/>
        </p:blipFill>
        <p:spPr>
          <a:xfrm>
            <a:off x="453141" y="6082233"/>
            <a:ext cx="6083844" cy="273362"/>
          </a:xfrm>
          <a:prstGeom prst="rect">
            <a:avLst/>
          </a:prstGeom>
        </p:spPr>
      </p:pic>
      <p:pic>
        <p:nvPicPr>
          <p:cNvPr id="11" name="図 10">
            <a:extLst>
              <a:ext uri="{FF2B5EF4-FFF2-40B4-BE49-F238E27FC236}">
                <a16:creationId xmlns:a16="http://schemas.microsoft.com/office/drawing/2014/main" id="{E78C9D0A-B0F1-BF39-B528-76070B606F41}"/>
              </a:ext>
            </a:extLst>
          </p:cNvPr>
          <p:cNvPicPr>
            <a:picLocks noChangeAspect="1"/>
          </p:cNvPicPr>
          <p:nvPr/>
        </p:nvPicPr>
        <p:blipFill rotWithShape="1">
          <a:blip r:embed="rId3">
            <a:extLst>
              <a:ext uri="{28A0092B-C50C-407E-A947-70E740481C1C}">
                <a14:useLocalDpi xmlns:a14="http://schemas.microsoft.com/office/drawing/2010/main" val="0"/>
              </a:ext>
            </a:extLst>
          </a:blip>
          <a:srcRect t="91932" b="-1"/>
          <a:stretch/>
        </p:blipFill>
        <p:spPr>
          <a:xfrm>
            <a:off x="453141" y="6342898"/>
            <a:ext cx="6083844" cy="273362"/>
          </a:xfrm>
          <a:prstGeom prst="rect">
            <a:avLst/>
          </a:prstGeom>
        </p:spPr>
      </p:pic>
      <p:pic>
        <p:nvPicPr>
          <p:cNvPr id="12" name="図 11">
            <a:extLst>
              <a:ext uri="{FF2B5EF4-FFF2-40B4-BE49-F238E27FC236}">
                <a16:creationId xmlns:a16="http://schemas.microsoft.com/office/drawing/2014/main" id="{DF55B7DB-A849-8977-6C6E-DC4A75DA7AD5}"/>
              </a:ext>
            </a:extLst>
          </p:cNvPr>
          <p:cNvPicPr>
            <a:picLocks noChangeAspect="1"/>
          </p:cNvPicPr>
          <p:nvPr/>
        </p:nvPicPr>
        <p:blipFill rotWithShape="1">
          <a:blip r:embed="rId3">
            <a:extLst>
              <a:ext uri="{28A0092B-C50C-407E-A947-70E740481C1C}">
                <a14:useLocalDpi xmlns:a14="http://schemas.microsoft.com/office/drawing/2010/main" val="0"/>
              </a:ext>
            </a:extLst>
          </a:blip>
          <a:srcRect l="13884" t="19075" r="14293" b="10366"/>
          <a:stretch/>
        </p:blipFill>
        <p:spPr>
          <a:xfrm>
            <a:off x="1297410" y="2014219"/>
            <a:ext cx="4369561" cy="2390499"/>
          </a:xfrm>
          <a:prstGeom prst="rect">
            <a:avLst/>
          </a:prstGeom>
        </p:spPr>
      </p:pic>
      <p:sp>
        <p:nvSpPr>
          <p:cNvPr id="20" name="正方形/長方形 19">
            <a:extLst>
              <a:ext uri="{FF2B5EF4-FFF2-40B4-BE49-F238E27FC236}">
                <a16:creationId xmlns:a16="http://schemas.microsoft.com/office/drawing/2014/main" id="{E8E9A456-4CA3-954B-DF0C-68FE17097DEA}"/>
              </a:ext>
            </a:extLst>
          </p:cNvPr>
          <p:cNvSpPr/>
          <p:nvPr/>
        </p:nvSpPr>
        <p:spPr>
          <a:xfrm>
            <a:off x="1356561" y="2067449"/>
            <a:ext cx="4257867" cy="650860"/>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C52B891B-C57A-5BD4-771C-CE639017ACAF}"/>
              </a:ext>
            </a:extLst>
          </p:cNvPr>
          <p:cNvSpPr/>
          <p:nvPr/>
        </p:nvSpPr>
        <p:spPr>
          <a:xfrm>
            <a:off x="1356561" y="2845557"/>
            <a:ext cx="4257867" cy="1467734"/>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C184F833-E4A7-5177-77A9-F962DFE3BD1A}"/>
              </a:ext>
            </a:extLst>
          </p:cNvPr>
          <p:cNvSpPr/>
          <p:nvPr/>
        </p:nvSpPr>
        <p:spPr>
          <a:xfrm>
            <a:off x="1330208" y="1843128"/>
            <a:ext cx="1465746"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800" b="1" dirty="0">
                <a:solidFill>
                  <a:schemeClr val="tx1"/>
                </a:solidFill>
                <a:latin typeface="Meiryo UI" panose="020B0604030504040204" pitchFamily="50" charset="-128"/>
                <a:ea typeface="Meiryo UI" panose="020B0604030504040204" pitchFamily="50" charset="-128"/>
              </a:rPr>
              <a:t>原因分析　</a:t>
            </a:r>
            <a:r>
              <a:rPr lang="ja-JP" altLang="en-US" sz="800" b="1" dirty="0">
                <a:solidFill>
                  <a:schemeClr val="tx1"/>
                </a:solidFill>
                <a:latin typeface="Meiryo UI" panose="020B0604030504040204" pitchFamily="50" charset="-128"/>
                <a:ea typeface="Meiryo UI" panose="020B0604030504040204" pitchFamily="50" charset="-128"/>
              </a:rPr>
              <a:t>ホーム別</a:t>
            </a:r>
            <a:endParaRPr kumimoji="1" lang="ja-JP" altLang="en-US" sz="800" b="1" dirty="0">
              <a:solidFill>
                <a:schemeClr val="tx1"/>
              </a:solidFill>
              <a:latin typeface="Meiryo UI" panose="020B0604030504040204" pitchFamily="50" charset="-128"/>
              <a:ea typeface="Meiryo UI" panose="020B0604030504040204" pitchFamily="50" charset="-128"/>
            </a:endParaRPr>
          </a:p>
        </p:txBody>
      </p:sp>
      <p:cxnSp>
        <p:nvCxnSpPr>
          <p:cNvPr id="15" name="直線矢印コネクタ 14">
            <a:extLst>
              <a:ext uri="{FF2B5EF4-FFF2-40B4-BE49-F238E27FC236}">
                <a16:creationId xmlns:a16="http://schemas.microsoft.com/office/drawing/2014/main" id="{634E830D-930E-1AA2-427C-CAA098C206B3}"/>
              </a:ext>
            </a:extLst>
          </p:cNvPr>
          <p:cNvCxnSpPr>
            <a:cxnSpLocks/>
          </p:cNvCxnSpPr>
          <p:nvPr/>
        </p:nvCxnSpPr>
        <p:spPr>
          <a:xfrm>
            <a:off x="1555387" y="4756557"/>
            <a:ext cx="1421039" cy="2195"/>
          </a:xfrm>
          <a:prstGeom prst="straightConnector1">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pic>
        <p:nvPicPr>
          <p:cNvPr id="16" name="図 15">
            <a:extLst>
              <a:ext uri="{FF2B5EF4-FFF2-40B4-BE49-F238E27FC236}">
                <a16:creationId xmlns:a16="http://schemas.microsoft.com/office/drawing/2014/main" id="{59B8E6A2-AB59-3B7C-6175-15F5CD00B5A2}"/>
              </a:ext>
            </a:extLst>
          </p:cNvPr>
          <p:cNvPicPr>
            <a:picLocks noChangeAspect="1"/>
          </p:cNvPicPr>
          <p:nvPr/>
        </p:nvPicPr>
        <p:blipFill rotWithShape="1">
          <a:blip r:embed="rId3">
            <a:extLst>
              <a:ext uri="{28A0092B-C50C-407E-A947-70E740481C1C}">
                <a14:useLocalDpi xmlns:a14="http://schemas.microsoft.com/office/drawing/2010/main" val="0"/>
              </a:ext>
            </a:extLst>
          </a:blip>
          <a:srcRect l="13884" t="31808" r="14293" b="55034"/>
          <a:stretch/>
        </p:blipFill>
        <p:spPr>
          <a:xfrm>
            <a:off x="1298149" y="4377280"/>
            <a:ext cx="4369561" cy="445801"/>
          </a:xfrm>
          <a:prstGeom prst="rect">
            <a:avLst/>
          </a:prstGeom>
        </p:spPr>
      </p:pic>
      <p:pic>
        <p:nvPicPr>
          <p:cNvPr id="25" name="図 24">
            <a:extLst>
              <a:ext uri="{FF2B5EF4-FFF2-40B4-BE49-F238E27FC236}">
                <a16:creationId xmlns:a16="http://schemas.microsoft.com/office/drawing/2014/main" id="{A007A065-5D5C-9299-5FEF-7BEE0B613D00}"/>
              </a:ext>
            </a:extLst>
          </p:cNvPr>
          <p:cNvPicPr>
            <a:picLocks noChangeAspect="1"/>
          </p:cNvPicPr>
          <p:nvPr/>
        </p:nvPicPr>
        <p:blipFill rotWithShape="1">
          <a:blip r:embed="rId3">
            <a:extLst>
              <a:ext uri="{28A0092B-C50C-407E-A947-70E740481C1C}">
                <a14:useLocalDpi xmlns:a14="http://schemas.microsoft.com/office/drawing/2010/main" val="0"/>
              </a:ext>
            </a:extLst>
          </a:blip>
          <a:srcRect l="13884" t="19075" r="14293" b="70971"/>
          <a:stretch/>
        </p:blipFill>
        <p:spPr>
          <a:xfrm>
            <a:off x="1297410" y="4351483"/>
            <a:ext cx="4369561" cy="337266"/>
          </a:xfrm>
          <a:prstGeom prst="rect">
            <a:avLst/>
          </a:prstGeom>
        </p:spPr>
      </p:pic>
      <p:sp>
        <p:nvSpPr>
          <p:cNvPr id="24" name="正方形/長方形 23">
            <a:extLst>
              <a:ext uri="{FF2B5EF4-FFF2-40B4-BE49-F238E27FC236}">
                <a16:creationId xmlns:a16="http://schemas.microsoft.com/office/drawing/2014/main" id="{5C640061-03BC-922D-29C4-7FA0BA684380}"/>
              </a:ext>
            </a:extLst>
          </p:cNvPr>
          <p:cNvSpPr/>
          <p:nvPr/>
        </p:nvSpPr>
        <p:spPr>
          <a:xfrm>
            <a:off x="1340829" y="4474003"/>
            <a:ext cx="1512730"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b="1" dirty="0">
                <a:solidFill>
                  <a:schemeClr val="tx1"/>
                </a:solidFill>
                <a:latin typeface="Meiryo UI" panose="020B0604030504040204" pitchFamily="50" charset="-128"/>
                <a:ea typeface="Meiryo UI" panose="020B0604030504040204" pitchFamily="50" charset="-128"/>
              </a:rPr>
              <a:t>原因分析　入居者別</a:t>
            </a:r>
            <a:endParaRPr kumimoji="1" lang="ja-JP" altLang="en-US" sz="800" b="1" dirty="0">
              <a:solidFill>
                <a:schemeClr val="tx1"/>
              </a:solidFill>
              <a:latin typeface="Meiryo UI" panose="020B0604030504040204" pitchFamily="50" charset="-128"/>
              <a:ea typeface="Meiryo UI" panose="020B0604030504040204" pitchFamily="50" charset="-128"/>
            </a:endParaRPr>
          </a:p>
        </p:txBody>
      </p:sp>
      <p:sp>
        <p:nvSpPr>
          <p:cNvPr id="52" name="テキスト ボックス 51">
            <a:extLst>
              <a:ext uri="{FF2B5EF4-FFF2-40B4-BE49-F238E27FC236}">
                <a16:creationId xmlns:a16="http://schemas.microsoft.com/office/drawing/2014/main" id="{0D67F7BA-D3F1-A7D7-535D-81C446E17C7E}"/>
              </a:ext>
            </a:extLst>
          </p:cNvPr>
          <p:cNvSpPr txBox="1"/>
          <p:nvPr/>
        </p:nvSpPr>
        <p:spPr bwMode="auto">
          <a:xfrm>
            <a:off x="7036206" y="4947964"/>
            <a:ext cx="4162048" cy="430887"/>
          </a:xfrm>
          <a:prstGeom prst="rect">
            <a:avLst/>
          </a:prstGeom>
          <a:solidFill>
            <a:schemeClr val="bg1"/>
          </a:solidFill>
          <a:ln w="6350">
            <a:solidFill>
              <a:schemeClr val="tx1"/>
            </a:solidFill>
            <a:miter lim="800000"/>
            <a:headEnd/>
            <a:tailEnd/>
          </a:ln>
        </p:spPr>
        <p:txBody>
          <a:bodyPr wrap="square" lIns="180000" rIns="180000" rtlCol="0" anchor="ctr">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1" lang="ja-JP" altLang="en-US" sz="1100" dirty="0">
                <a:latin typeface="Meiryo UI" panose="020B0604030504040204" pitchFamily="50" charset="-128"/>
                <a:ea typeface="Meiryo UI" panose="020B0604030504040204" pitchFamily="50" charset="-128"/>
              </a:rPr>
              <a:t>原因分析</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入居者別</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ページのナースコールアラートの定義を左記のとおりに表示。</a:t>
            </a:r>
            <a:endParaRPr kumimoji="1" lang="en-US" altLang="ja-JP" sz="1100"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73E5CC00-167C-CE5D-F8C6-4DA0D012C6E5}"/>
              </a:ext>
            </a:extLst>
          </p:cNvPr>
          <p:cNvSpPr txBox="1"/>
          <p:nvPr/>
        </p:nvSpPr>
        <p:spPr bwMode="auto">
          <a:xfrm>
            <a:off x="2027479" y="2849502"/>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㉚</a:t>
            </a:r>
          </a:p>
        </p:txBody>
      </p:sp>
      <p:pic>
        <p:nvPicPr>
          <p:cNvPr id="19" name="図 18">
            <a:extLst>
              <a:ext uri="{FF2B5EF4-FFF2-40B4-BE49-F238E27FC236}">
                <a16:creationId xmlns:a16="http://schemas.microsoft.com/office/drawing/2014/main" id="{6712E325-205B-5FBB-F625-D14D55A8A64B}"/>
              </a:ext>
            </a:extLst>
          </p:cNvPr>
          <p:cNvPicPr>
            <a:picLocks noChangeAspect="1"/>
          </p:cNvPicPr>
          <p:nvPr/>
        </p:nvPicPr>
        <p:blipFill rotWithShape="1">
          <a:blip r:embed="rId3">
            <a:extLst>
              <a:ext uri="{28A0092B-C50C-407E-A947-70E740481C1C}">
                <a14:useLocalDpi xmlns:a14="http://schemas.microsoft.com/office/drawing/2010/main" val="0"/>
              </a:ext>
            </a:extLst>
          </a:blip>
          <a:srcRect l="13884" t="51661" r="14293" b="18558"/>
          <a:stretch/>
        </p:blipFill>
        <p:spPr>
          <a:xfrm>
            <a:off x="1297410" y="4722919"/>
            <a:ext cx="4369561" cy="1008945"/>
          </a:xfrm>
          <a:prstGeom prst="rect">
            <a:avLst/>
          </a:prstGeom>
        </p:spPr>
      </p:pic>
      <p:sp>
        <p:nvSpPr>
          <p:cNvPr id="31" name="正方形/長方形 30">
            <a:extLst>
              <a:ext uri="{FF2B5EF4-FFF2-40B4-BE49-F238E27FC236}">
                <a16:creationId xmlns:a16="http://schemas.microsoft.com/office/drawing/2014/main" id="{2D5F07F5-9D41-E694-063B-A19A163ADEF7}"/>
              </a:ext>
            </a:extLst>
          </p:cNvPr>
          <p:cNvSpPr/>
          <p:nvPr/>
        </p:nvSpPr>
        <p:spPr>
          <a:xfrm>
            <a:off x="1383732" y="5578873"/>
            <a:ext cx="2492576" cy="11976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BAD60D4E-1A72-CE30-DD66-A5E190DE1B69}"/>
              </a:ext>
            </a:extLst>
          </p:cNvPr>
          <p:cNvSpPr/>
          <p:nvPr/>
        </p:nvSpPr>
        <p:spPr>
          <a:xfrm>
            <a:off x="1487014" y="4741604"/>
            <a:ext cx="3659258"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800" b="1" dirty="0" err="1">
                <a:solidFill>
                  <a:schemeClr val="tx1"/>
                </a:solidFill>
                <a:latin typeface="Meiryo UI" panose="020B0604030504040204" pitchFamily="50" charset="-128"/>
                <a:ea typeface="Meiryo UI" panose="020B0604030504040204" pitchFamily="50" charset="-128"/>
              </a:rPr>
              <a:t>Axsit</a:t>
            </a:r>
            <a:r>
              <a:rPr kumimoji="1" lang="ja-JP" altLang="en-US" sz="800" b="1" dirty="0">
                <a:solidFill>
                  <a:schemeClr val="tx1"/>
                </a:solidFill>
                <a:latin typeface="Meiryo UI" panose="020B0604030504040204" pitchFamily="50" charset="-128"/>
                <a:ea typeface="Meiryo UI" panose="020B0604030504040204" pitchFamily="50" charset="-128"/>
              </a:rPr>
              <a:t>基準時間比：</a:t>
            </a:r>
            <a:r>
              <a:rPr kumimoji="1" lang="ja-JP" altLang="en-US" sz="800" dirty="0">
                <a:solidFill>
                  <a:schemeClr val="tx1"/>
                </a:solidFill>
                <a:latin typeface="Meiryo UI" panose="020B0604030504040204" pitchFamily="50" charset="-128"/>
                <a:ea typeface="Meiryo UI" panose="020B0604030504040204" pitchFamily="50" charset="-128"/>
              </a:rPr>
              <a:t>要介護度別基準時間に対する援助予定時間の割合</a:t>
            </a:r>
          </a:p>
        </p:txBody>
      </p:sp>
      <p:sp>
        <p:nvSpPr>
          <p:cNvPr id="33" name="正方形/長方形 32">
            <a:extLst>
              <a:ext uri="{FF2B5EF4-FFF2-40B4-BE49-F238E27FC236}">
                <a16:creationId xmlns:a16="http://schemas.microsoft.com/office/drawing/2014/main" id="{19F38C86-B4CC-50EF-18A8-83A51010B97B}"/>
              </a:ext>
            </a:extLst>
          </p:cNvPr>
          <p:cNvSpPr/>
          <p:nvPr/>
        </p:nvSpPr>
        <p:spPr>
          <a:xfrm>
            <a:off x="1484248" y="4887803"/>
            <a:ext cx="3605579"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b="1" dirty="0">
                <a:solidFill>
                  <a:schemeClr val="tx1"/>
                </a:solidFill>
                <a:latin typeface="Meiryo UI" panose="020B0604030504040204" pitchFamily="50" charset="-128"/>
                <a:ea typeface="Meiryo UI" panose="020B0604030504040204" pitchFamily="50" charset="-128"/>
              </a:rPr>
              <a:t>援助未実施率</a:t>
            </a:r>
            <a:r>
              <a:rPr kumimoji="1" lang="ja-JP" altLang="en-US" sz="800" b="1" dirty="0">
                <a:solidFill>
                  <a:schemeClr val="tx1"/>
                </a:solidFill>
                <a:latin typeface="Meiryo UI" panose="020B0604030504040204" pitchFamily="50" charset="-128"/>
                <a:ea typeface="Meiryo UI" panose="020B0604030504040204" pitchFamily="50" charset="-128"/>
              </a:rPr>
              <a:t>：</a:t>
            </a:r>
            <a:r>
              <a:rPr kumimoji="1" lang="ja-JP" altLang="en-US" sz="800" dirty="0">
                <a:solidFill>
                  <a:schemeClr val="tx1"/>
                </a:solidFill>
                <a:latin typeface="Meiryo UI" panose="020B0604030504040204" pitchFamily="50" charset="-128"/>
                <a:ea typeface="Meiryo UI" panose="020B0604030504040204" pitchFamily="50" charset="-128"/>
              </a:rPr>
              <a:t>直接援助のうち中止記録の割合</a:t>
            </a:r>
            <a:r>
              <a:rPr kumimoji="1" lang="en-US" altLang="ja-JP" sz="800" dirty="0">
                <a:solidFill>
                  <a:schemeClr val="tx1"/>
                </a:solidFill>
                <a:latin typeface="Meiryo UI" panose="020B0604030504040204" pitchFamily="50" charset="-128"/>
                <a:ea typeface="Meiryo UI" panose="020B0604030504040204" pitchFamily="50" charset="-128"/>
              </a:rPr>
              <a:t>(</a:t>
            </a:r>
            <a:r>
              <a:rPr kumimoji="1" lang="ja-JP" altLang="en-US" sz="800" dirty="0">
                <a:solidFill>
                  <a:schemeClr val="tx1"/>
                </a:solidFill>
                <a:latin typeface="Meiryo UI" panose="020B0604030504040204" pitchFamily="50" charset="-128"/>
                <a:ea typeface="Meiryo UI" panose="020B0604030504040204" pitchFamily="50" charset="-128"/>
              </a:rPr>
              <a:t>未タップは含まない</a:t>
            </a:r>
            <a:r>
              <a:rPr kumimoji="1" lang="en-US" altLang="ja-JP" sz="800" dirty="0">
                <a:solidFill>
                  <a:schemeClr val="tx1"/>
                </a:solidFill>
                <a:latin typeface="Meiryo UI" panose="020B0604030504040204" pitchFamily="50" charset="-128"/>
                <a:ea typeface="Meiryo UI" panose="020B0604030504040204" pitchFamily="50" charset="-128"/>
              </a:rPr>
              <a:t>)</a:t>
            </a:r>
            <a:endParaRPr kumimoji="1" lang="ja-JP" altLang="en-US" sz="800" dirty="0">
              <a:solidFill>
                <a:schemeClr val="tx1"/>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95BAB77F-A1AE-8672-02EC-DF49DDF95F58}"/>
              </a:ext>
            </a:extLst>
          </p:cNvPr>
          <p:cNvSpPr/>
          <p:nvPr/>
        </p:nvSpPr>
        <p:spPr>
          <a:xfrm>
            <a:off x="1484249" y="5028863"/>
            <a:ext cx="2991384"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b="1" dirty="0">
                <a:solidFill>
                  <a:schemeClr val="tx1"/>
                </a:solidFill>
                <a:latin typeface="Meiryo UI" panose="020B0604030504040204" pitchFamily="50" charset="-128"/>
                <a:ea typeface="Meiryo UI" panose="020B0604030504040204" pitchFamily="50" charset="-128"/>
              </a:rPr>
              <a:t>処方薬剤</a:t>
            </a:r>
            <a:r>
              <a:rPr kumimoji="1" lang="ja-JP" altLang="en-US" sz="800" b="1" dirty="0">
                <a:solidFill>
                  <a:schemeClr val="tx1"/>
                </a:solidFill>
                <a:latin typeface="Meiryo UI" panose="020B0604030504040204" pitchFamily="50" charset="-128"/>
                <a:ea typeface="Meiryo UI" panose="020B0604030504040204" pitchFamily="50" charset="-128"/>
              </a:rPr>
              <a:t>：</a:t>
            </a:r>
            <a:r>
              <a:rPr lang="ja-JP" altLang="en-US" sz="800" dirty="0">
                <a:solidFill>
                  <a:schemeClr val="tx1"/>
                </a:solidFill>
                <a:latin typeface="Meiryo UI" panose="020B0604030504040204" pitchFamily="50" charset="-128"/>
                <a:ea typeface="Meiryo UI" panose="020B0604030504040204" pitchFamily="50" charset="-128"/>
              </a:rPr>
              <a:t>処方薬剤種数</a:t>
            </a:r>
            <a:endParaRPr kumimoji="1" lang="ja-JP" altLang="en-US" sz="800" dirty="0">
              <a:solidFill>
                <a:schemeClr val="tx1"/>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4BEE7E27-4B3A-3C2B-F9C8-FDDB958720FF}"/>
              </a:ext>
            </a:extLst>
          </p:cNvPr>
          <p:cNvSpPr/>
          <p:nvPr/>
        </p:nvSpPr>
        <p:spPr>
          <a:xfrm>
            <a:off x="1484249" y="5170986"/>
            <a:ext cx="2991384"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b="1" dirty="0">
                <a:solidFill>
                  <a:schemeClr val="tx1"/>
                </a:solidFill>
                <a:latin typeface="Meiryo UI" panose="020B0604030504040204" pitchFamily="50" charset="-128"/>
                <a:ea typeface="Meiryo UI" panose="020B0604030504040204" pitchFamily="50" charset="-128"/>
              </a:rPr>
              <a:t>体重変化率</a:t>
            </a:r>
            <a:r>
              <a:rPr lang="en-US" altLang="ja-JP" sz="800" b="1" dirty="0">
                <a:solidFill>
                  <a:schemeClr val="tx1"/>
                </a:solidFill>
                <a:latin typeface="Meiryo UI" panose="020B0604030504040204" pitchFamily="50" charset="-128"/>
                <a:ea typeface="Meiryo UI" panose="020B0604030504040204" pitchFamily="50" charset="-128"/>
              </a:rPr>
              <a:t>(</a:t>
            </a:r>
            <a:r>
              <a:rPr lang="ja-JP" altLang="en-US" sz="800" b="1" dirty="0">
                <a:solidFill>
                  <a:schemeClr val="tx1"/>
                </a:solidFill>
                <a:latin typeface="Meiryo UI" panose="020B0604030504040204" pitchFamily="50" charset="-128"/>
                <a:ea typeface="Meiryo UI" panose="020B0604030504040204" pitchFamily="50" charset="-128"/>
              </a:rPr>
              <a:t>前月比</a:t>
            </a:r>
            <a:r>
              <a:rPr lang="en-US" altLang="ja-JP" sz="800" b="1" dirty="0">
                <a:solidFill>
                  <a:schemeClr val="tx1"/>
                </a:solidFill>
                <a:latin typeface="Meiryo UI" panose="020B0604030504040204" pitchFamily="50" charset="-128"/>
                <a:ea typeface="Meiryo UI" panose="020B0604030504040204" pitchFamily="50" charset="-128"/>
              </a:rPr>
              <a:t>)</a:t>
            </a:r>
            <a:r>
              <a:rPr kumimoji="1" lang="ja-JP" altLang="en-US" sz="800" b="1" dirty="0">
                <a:solidFill>
                  <a:schemeClr val="tx1"/>
                </a:solidFill>
                <a:latin typeface="Meiryo UI" panose="020B0604030504040204" pitchFamily="50" charset="-128"/>
                <a:ea typeface="Meiryo UI" panose="020B0604030504040204" pitchFamily="50" charset="-128"/>
              </a:rPr>
              <a:t>：</a:t>
            </a:r>
            <a:r>
              <a:rPr kumimoji="1" lang="ja-JP" altLang="en-US" sz="800" dirty="0">
                <a:solidFill>
                  <a:schemeClr val="tx1"/>
                </a:solidFill>
                <a:latin typeface="Meiryo UI" panose="020B0604030504040204" pitchFamily="50" charset="-128"/>
                <a:ea typeface="Meiryo UI" panose="020B0604030504040204" pitchFamily="50" charset="-128"/>
              </a:rPr>
              <a:t>平均体重の前月からの変化の割合</a:t>
            </a:r>
          </a:p>
        </p:txBody>
      </p:sp>
      <p:sp>
        <p:nvSpPr>
          <p:cNvPr id="36" name="正方形/長方形 35">
            <a:extLst>
              <a:ext uri="{FF2B5EF4-FFF2-40B4-BE49-F238E27FC236}">
                <a16:creationId xmlns:a16="http://schemas.microsoft.com/office/drawing/2014/main" id="{AFBDD62B-FDED-D7C1-229E-22817E076969}"/>
              </a:ext>
            </a:extLst>
          </p:cNvPr>
          <p:cNvSpPr/>
          <p:nvPr/>
        </p:nvSpPr>
        <p:spPr>
          <a:xfrm>
            <a:off x="1484249" y="5316628"/>
            <a:ext cx="2991384"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b="1" dirty="0">
                <a:solidFill>
                  <a:schemeClr val="tx1"/>
                </a:solidFill>
                <a:latin typeface="Meiryo UI" panose="020B0604030504040204" pitchFamily="50" charset="-128"/>
                <a:ea typeface="Meiryo UI" panose="020B0604030504040204" pitchFamily="50" charset="-128"/>
              </a:rPr>
              <a:t>食事量</a:t>
            </a:r>
            <a:r>
              <a:rPr kumimoji="1" lang="ja-JP" altLang="en-US" sz="800" b="1" dirty="0">
                <a:solidFill>
                  <a:schemeClr val="tx1"/>
                </a:solidFill>
                <a:latin typeface="Meiryo UI" panose="020B0604030504040204" pitchFamily="50" charset="-128"/>
                <a:ea typeface="Meiryo UI" panose="020B0604030504040204" pitchFamily="50" charset="-128"/>
              </a:rPr>
              <a:t>：</a:t>
            </a:r>
            <a:r>
              <a:rPr kumimoji="1" lang="ja-JP" altLang="en-US" sz="800" dirty="0">
                <a:solidFill>
                  <a:schemeClr val="tx1"/>
                </a:solidFill>
                <a:latin typeface="Meiryo UI" panose="020B0604030504040204" pitchFamily="50" charset="-128"/>
                <a:ea typeface="Meiryo UI" panose="020B0604030504040204" pitchFamily="50" charset="-128"/>
              </a:rPr>
              <a:t>平均摂取量</a:t>
            </a:r>
            <a:r>
              <a:rPr kumimoji="1" lang="en-US" altLang="ja-JP" sz="800" dirty="0">
                <a:solidFill>
                  <a:schemeClr val="tx1"/>
                </a:solidFill>
                <a:latin typeface="Meiryo UI" panose="020B0604030504040204" pitchFamily="50" charset="-128"/>
                <a:ea typeface="Meiryo UI" panose="020B0604030504040204" pitchFamily="50" charset="-128"/>
              </a:rPr>
              <a:t>(</a:t>
            </a:r>
            <a:r>
              <a:rPr kumimoji="1" lang="ja-JP" altLang="en-US" sz="800" dirty="0">
                <a:solidFill>
                  <a:schemeClr val="tx1"/>
                </a:solidFill>
                <a:latin typeface="Meiryo UI" panose="020B0604030504040204" pitchFamily="50" charset="-128"/>
                <a:ea typeface="Meiryo UI" panose="020B0604030504040204" pitchFamily="50" charset="-128"/>
              </a:rPr>
              <a:t>主食副食合計</a:t>
            </a:r>
            <a:r>
              <a:rPr kumimoji="1" lang="en-US" altLang="ja-JP" sz="800" dirty="0">
                <a:solidFill>
                  <a:schemeClr val="tx1"/>
                </a:solidFill>
                <a:latin typeface="Meiryo UI" panose="020B0604030504040204" pitchFamily="50" charset="-128"/>
                <a:ea typeface="Meiryo UI" panose="020B0604030504040204" pitchFamily="50" charset="-128"/>
              </a:rPr>
              <a:t>)</a:t>
            </a:r>
            <a:r>
              <a:rPr kumimoji="1" lang="ja-JP" altLang="en-US" sz="800" dirty="0">
                <a:solidFill>
                  <a:schemeClr val="tx1"/>
                </a:solidFill>
                <a:latin typeface="Meiryo UI" panose="020B0604030504040204" pitchFamily="50" charset="-128"/>
                <a:ea typeface="Meiryo UI" panose="020B0604030504040204" pitchFamily="50" charset="-128"/>
              </a:rPr>
              <a:t>の割合</a:t>
            </a:r>
          </a:p>
        </p:txBody>
      </p:sp>
      <p:sp>
        <p:nvSpPr>
          <p:cNvPr id="37" name="正方形/長方形 36">
            <a:extLst>
              <a:ext uri="{FF2B5EF4-FFF2-40B4-BE49-F238E27FC236}">
                <a16:creationId xmlns:a16="http://schemas.microsoft.com/office/drawing/2014/main" id="{13ED6493-1246-C807-E770-EC4FCC6410CE}"/>
              </a:ext>
            </a:extLst>
          </p:cNvPr>
          <p:cNvSpPr/>
          <p:nvPr/>
        </p:nvSpPr>
        <p:spPr>
          <a:xfrm>
            <a:off x="1484249" y="5452403"/>
            <a:ext cx="2991384"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800" b="1" dirty="0">
                <a:solidFill>
                  <a:schemeClr val="tx1"/>
                </a:solidFill>
                <a:latin typeface="Meiryo UI" panose="020B0604030504040204" pitchFamily="50" charset="-128"/>
                <a:ea typeface="Meiryo UI" panose="020B0604030504040204" pitchFamily="50" charset="-128"/>
              </a:rPr>
              <a:t>睡眠時間：</a:t>
            </a:r>
            <a:r>
              <a:rPr kumimoji="1" lang="ja-JP" altLang="en-US" sz="800" dirty="0">
                <a:solidFill>
                  <a:schemeClr val="tx1"/>
                </a:solidFill>
                <a:latin typeface="Meiryo UI" panose="020B0604030504040204" pitchFamily="50" charset="-128"/>
                <a:ea typeface="Meiryo UI" panose="020B0604030504040204" pitchFamily="50" charset="-128"/>
              </a:rPr>
              <a:t>夜間の平均睡眠時間</a:t>
            </a:r>
          </a:p>
        </p:txBody>
      </p:sp>
      <p:sp>
        <p:nvSpPr>
          <p:cNvPr id="14" name="テキスト ボックス 13">
            <a:extLst>
              <a:ext uri="{FF2B5EF4-FFF2-40B4-BE49-F238E27FC236}">
                <a16:creationId xmlns:a16="http://schemas.microsoft.com/office/drawing/2014/main" id="{52F9EFC9-087B-B77A-FD42-1409915F6827}"/>
              </a:ext>
            </a:extLst>
          </p:cNvPr>
          <p:cNvSpPr txBox="1"/>
          <p:nvPr/>
        </p:nvSpPr>
        <p:spPr bwMode="auto">
          <a:xfrm>
            <a:off x="4548169" y="4664664"/>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㉛</a:t>
            </a:r>
          </a:p>
        </p:txBody>
      </p:sp>
      <p:sp>
        <p:nvSpPr>
          <p:cNvPr id="23" name="正方形/長方形 22">
            <a:extLst>
              <a:ext uri="{FF2B5EF4-FFF2-40B4-BE49-F238E27FC236}">
                <a16:creationId xmlns:a16="http://schemas.microsoft.com/office/drawing/2014/main" id="{C7BBF004-D51C-863D-A9A9-9E715730B384}"/>
              </a:ext>
            </a:extLst>
          </p:cNvPr>
          <p:cNvSpPr/>
          <p:nvPr/>
        </p:nvSpPr>
        <p:spPr>
          <a:xfrm>
            <a:off x="1357300" y="4678080"/>
            <a:ext cx="4257867" cy="968689"/>
          </a:xfrm>
          <a:prstGeom prst="rect">
            <a:avLst/>
          </a:prstGeom>
          <a:noFill/>
          <a:ln w="158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3BD20D10-AE5F-A517-DE72-DCAFB27E087F}"/>
              </a:ext>
            </a:extLst>
          </p:cNvPr>
          <p:cNvSpPr/>
          <p:nvPr/>
        </p:nvSpPr>
        <p:spPr>
          <a:xfrm>
            <a:off x="1388478" y="2127632"/>
            <a:ext cx="1465746"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b="1" dirty="0">
                <a:solidFill>
                  <a:schemeClr val="tx1"/>
                </a:solidFill>
                <a:latin typeface="Meiryo UI" panose="020B0604030504040204" pitchFamily="50" charset="-128"/>
                <a:ea typeface="Meiryo UI" panose="020B0604030504040204" pitchFamily="50" charset="-128"/>
              </a:rPr>
              <a:t>ナースコール傾向</a:t>
            </a:r>
            <a:endParaRPr kumimoji="1" lang="ja-JP" altLang="en-US" sz="800" b="1" dirty="0">
              <a:solidFill>
                <a:schemeClr val="tx1"/>
              </a:solidFill>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3F3CD605-2732-667D-FEE4-10179B507064}"/>
              </a:ext>
            </a:extLst>
          </p:cNvPr>
          <p:cNvSpPr txBox="1"/>
          <p:nvPr/>
        </p:nvSpPr>
        <p:spPr bwMode="auto">
          <a:xfrm>
            <a:off x="2286571" y="2057230"/>
            <a:ext cx="517404" cy="276999"/>
          </a:xfrm>
          <a:prstGeom prst="rect">
            <a:avLst/>
          </a:prstGeom>
          <a:noFill/>
          <a:ln w="25400">
            <a:noFill/>
            <a:miter lim="800000"/>
            <a:headEnd/>
            <a:tailEnd/>
          </a:ln>
        </p:spPr>
        <p:txBody>
          <a:bodyPr wrap="none" lIns="180000" rIns="180000" rtlCol="0" anchor="ctr">
            <a:spAutoFit/>
          </a:bodyPr>
          <a:lstStyle/>
          <a:p>
            <a:pPr algn="l">
              <a:spcBef>
                <a:spcPts val="600"/>
              </a:spcBef>
            </a:pPr>
            <a:r>
              <a:rPr kumimoji="1" lang="ja-JP" altLang="en-US" sz="1200" dirty="0">
                <a:solidFill>
                  <a:srgbClr val="FF0000"/>
                </a:solidFill>
                <a:latin typeface="Meiryo UI" panose="020B0604030504040204" pitchFamily="50" charset="-128"/>
                <a:ea typeface="Meiryo UI" panose="020B0604030504040204" pitchFamily="50" charset="-128"/>
              </a:rPr>
              <a:t>㉙</a:t>
            </a:r>
          </a:p>
        </p:txBody>
      </p:sp>
      <p:cxnSp>
        <p:nvCxnSpPr>
          <p:cNvPr id="27" name="直線矢印コネクタ 14">
            <a:extLst>
              <a:ext uri="{FF2B5EF4-FFF2-40B4-BE49-F238E27FC236}">
                <a16:creationId xmlns:a16="http://schemas.microsoft.com/office/drawing/2014/main" id="{FECC68F1-2428-80FB-912F-27423B49EDE7}"/>
              </a:ext>
            </a:extLst>
          </p:cNvPr>
          <p:cNvCxnSpPr>
            <a:cxnSpLocks/>
            <a:stCxn id="23" idx="3"/>
            <a:endCxn id="52" idx="1"/>
          </p:cNvCxnSpPr>
          <p:nvPr/>
        </p:nvCxnSpPr>
        <p:spPr>
          <a:xfrm>
            <a:off x="5615167" y="5162425"/>
            <a:ext cx="1421039" cy="983"/>
          </a:xfrm>
          <a:prstGeom prst="straightConnector1">
            <a:avLst/>
          </a:prstGeom>
          <a:ln>
            <a:solidFill>
              <a:srgbClr val="950016"/>
            </a:solidFill>
            <a:tailEnd type="triangle"/>
          </a:ln>
        </p:spPr>
        <p:style>
          <a:lnRef idx="1">
            <a:schemeClr val="accent1"/>
          </a:lnRef>
          <a:fillRef idx="0">
            <a:schemeClr val="accent1"/>
          </a:fillRef>
          <a:effectRef idx="0">
            <a:schemeClr val="accent1"/>
          </a:effectRef>
          <a:fontRef idx="minor">
            <a:schemeClr val="tx1"/>
          </a:fontRef>
        </p:style>
      </p:cxnSp>
      <p:sp>
        <p:nvSpPr>
          <p:cNvPr id="43" name="正方形/長方形 42">
            <a:extLst>
              <a:ext uri="{FF2B5EF4-FFF2-40B4-BE49-F238E27FC236}">
                <a16:creationId xmlns:a16="http://schemas.microsoft.com/office/drawing/2014/main" id="{5BAD0CF2-D1AE-30CA-4980-CF412AD02F55}"/>
              </a:ext>
            </a:extLst>
          </p:cNvPr>
          <p:cNvSpPr/>
          <p:nvPr/>
        </p:nvSpPr>
        <p:spPr>
          <a:xfrm>
            <a:off x="1526310" y="1534802"/>
            <a:ext cx="1465746"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b="1" dirty="0">
                <a:solidFill>
                  <a:schemeClr val="tx1"/>
                </a:solidFill>
                <a:latin typeface="Meiryo UI" panose="020B0604030504040204" pitchFamily="50" charset="-128"/>
                <a:ea typeface="Meiryo UI" panose="020B0604030504040204" pitchFamily="50" charset="-128"/>
              </a:rPr>
              <a:t>ナースコールモニター各種定義</a:t>
            </a:r>
            <a:endParaRPr kumimoji="1" lang="ja-JP" altLang="en-US" sz="800" b="1" dirty="0">
              <a:solidFill>
                <a:schemeClr val="tx1"/>
              </a:solidFill>
              <a:latin typeface="Meiryo UI" panose="020B0604030504040204" pitchFamily="50" charset="-128"/>
              <a:ea typeface="Meiryo UI" panose="020B0604030504040204" pitchFamily="50" charset="-128"/>
            </a:endParaRPr>
          </a:p>
        </p:txBody>
      </p:sp>
      <p:sp>
        <p:nvSpPr>
          <p:cNvPr id="44" name="四角形: 角を丸くする 43">
            <a:extLst>
              <a:ext uri="{FF2B5EF4-FFF2-40B4-BE49-F238E27FC236}">
                <a16:creationId xmlns:a16="http://schemas.microsoft.com/office/drawing/2014/main" id="{04ACD513-6FE7-90FE-D380-F586A721F038}"/>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45" name="テキスト ボックス 44">
            <a:extLst>
              <a:ext uri="{FF2B5EF4-FFF2-40B4-BE49-F238E27FC236}">
                <a16:creationId xmlns:a16="http://schemas.microsoft.com/office/drawing/2014/main" id="{F1EB396A-64DF-D7C0-1B20-C288280B7F5F}"/>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B390B46F-11C2-4404-A7F1-9D4DE2E1A5A9}"/>
              </a:ext>
            </a:extLst>
          </p:cNvPr>
          <p:cNvSpPr/>
          <p:nvPr/>
        </p:nvSpPr>
        <p:spPr>
          <a:xfrm>
            <a:off x="1960504" y="2346215"/>
            <a:ext cx="3059708"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dirty="0">
                <a:solidFill>
                  <a:schemeClr val="tx1"/>
                </a:solidFill>
                <a:latin typeface="Meiryo UI" panose="020B0604030504040204" pitchFamily="50" charset="-128"/>
                <a:ea typeface="Meiryo UI" panose="020B0604030504040204" pitchFamily="50" charset="-128"/>
              </a:rPr>
              <a:t>時間帯によってコール頻度に明らかな偏りがある</a:t>
            </a:r>
            <a:endParaRPr kumimoji="1" lang="ja-JP" altLang="en-US" sz="800" dirty="0">
              <a:solidFill>
                <a:schemeClr val="tx1"/>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1974DA82-38E6-0392-9B4D-CD61CF5A82E5}"/>
              </a:ext>
            </a:extLst>
          </p:cNvPr>
          <p:cNvSpPr/>
          <p:nvPr/>
        </p:nvSpPr>
        <p:spPr>
          <a:xfrm>
            <a:off x="1860786" y="2496084"/>
            <a:ext cx="3059708"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dirty="0">
                <a:solidFill>
                  <a:schemeClr val="tx1"/>
                </a:solidFill>
                <a:latin typeface="Meiryo UI" panose="020B0604030504040204" pitchFamily="50" charset="-128"/>
                <a:ea typeface="Meiryo UI" panose="020B0604030504040204" pitchFamily="50" charset="-128"/>
              </a:rPr>
              <a:t>曜日によってコール頻度に明らかな偏りがある</a:t>
            </a:r>
            <a:endParaRPr kumimoji="1" lang="ja-JP" altLang="en-US" sz="800" dirty="0">
              <a:solidFill>
                <a:schemeClr val="tx1"/>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C736C635-2592-CBAE-28FF-D6095F94907E}"/>
              </a:ext>
            </a:extLst>
          </p:cNvPr>
          <p:cNvSpPr/>
          <p:nvPr/>
        </p:nvSpPr>
        <p:spPr>
          <a:xfrm>
            <a:off x="1878149" y="3406407"/>
            <a:ext cx="3059708" cy="1421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800" dirty="0">
                <a:solidFill>
                  <a:schemeClr val="tx1"/>
                </a:solidFill>
                <a:latin typeface="Meiryo UI" panose="020B0604030504040204" pitchFamily="50" charset="-128"/>
                <a:ea typeface="Meiryo UI" panose="020B0604030504040204" pitchFamily="50" charset="-128"/>
              </a:rPr>
              <a:t>直接援助のうち中止記録が</a:t>
            </a:r>
            <a:r>
              <a:rPr lang="en-US" altLang="ja-JP" sz="800" dirty="0">
                <a:solidFill>
                  <a:schemeClr val="tx1"/>
                </a:solidFill>
                <a:latin typeface="Meiryo UI" panose="020B0604030504040204" pitchFamily="50" charset="-128"/>
                <a:ea typeface="Meiryo UI" panose="020B0604030504040204" pitchFamily="50" charset="-128"/>
              </a:rPr>
              <a:t>10%</a:t>
            </a:r>
            <a:r>
              <a:rPr lang="ja-JP" altLang="en-US" sz="800" dirty="0">
                <a:solidFill>
                  <a:schemeClr val="tx1"/>
                </a:solidFill>
                <a:latin typeface="Meiryo UI" panose="020B0604030504040204" pitchFamily="50" charset="-128"/>
                <a:ea typeface="Meiryo UI" panose="020B0604030504040204" pitchFamily="50" charset="-128"/>
              </a:rPr>
              <a:t>以上</a:t>
            </a:r>
            <a:r>
              <a:rPr lang="en-US" altLang="ja-JP" sz="800" dirty="0">
                <a:solidFill>
                  <a:schemeClr val="tx1"/>
                </a:solidFill>
                <a:latin typeface="Meiryo UI" panose="020B0604030504040204" pitchFamily="50" charset="-128"/>
                <a:ea typeface="Meiryo UI" panose="020B0604030504040204" pitchFamily="50" charset="-128"/>
              </a:rPr>
              <a:t>(</a:t>
            </a:r>
            <a:r>
              <a:rPr lang="ja-JP" altLang="en-US" sz="800" dirty="0">
                <a:solidFill>
                  <a:schemeClr val="tx1"/>
                </a:solidFill>
                <a:latin typeface="Meiryo UI" panose="020B0604030504040204" pitchFamily="50" charset="-128"/>
                <a:ea typeface="Meiryo UI" panose="020B0604030504040204" pitchFamily="50" charset="-128"/>
              </a:rPr>
              <a:t>未タップは含まない</a:t>
            </a:r>
            <a:r>
              <a:rPr lang="en-US" altLang="ja-JP" sz="800" dirty="0">
                <a:solidFill>
                  <a:schemeClr val="tx1"/>
                </a:solidFill>
                <a:latin typeface="Meiryo UI" panose="020B0604030504040204" pitchFamily="50" charset="-128"/>
                <a:ea typeface="Meiryo UI" panose="020B0604030504040204" pitchFamily="50" charset="-128"/>
              </a:rPr>
              <a:t>)</a:t>
            </a:r>
            <a:endParaRPr kumimoji="1" lang="ja-JP" altLang="en-US" sz="8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65758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C2D622-BF9F-6292-DB0A-B8288FAA3C9A}"/>
              </a:ext>
            </a:extLst>
          </p:cNvPr>
          <p:cNvSpPr>
            <a:spLocks noGrp="1"/>
          </p:cNvSpPr>
          <p:nvPr>
            <p:ph type="title"/>
          </p:nvPr>
        </p:nvSpPr>
        <p:spPr/>
        <p:txBody>
          <a:bodyPr>
            <a:normAutofit/>
          </a:bodyPr>
          <a:lstStyle/>
          <a:p>
            <a:r>
              <a:rPr kumimoji="1" lang="ja-JP" altLang="en-US" sz="2000" b="0" dirty="0"/>
              <a:t>機能要件　明細①</a:t>
            </a:r>
          </a:p>
        </p:txBody>
      </p:sp>
      <p:graphicFrame>
        <p:nvGraphicFramePr>
          <p:cNvPr id="3" name="Google Shape;689;p38">
            <a:extLst>
              <a:ext uri="{FF2B5EF4-FFF2-40B4-BE49-F238E27FC236}">
                <a16:creationId xmlns:a16="http://schemas.microsoft.com/office/drawing/2014/main" id="{50ADB962-F75C-B81D-4B3F-A9CE54CDAF7B}"/>
              </a:ext>
            </a:extLst>
          </p:cNvPr>
          <p:cNvGraphicFramePr/>
          <p:nvPr>
            <p:extLst>
              <p:ext uri="{D42A27DB-BD31-4B8C-83A1-F6EECF244321}">
                <p14:modId xmlns:p14="http://schemas.microsoft.com/office/powerpoint/2010/main" val="2399457006"/>
              </p:ext>
            </p:extLst>
          </p:nvPr>
        </p:nvGraphicFramePr>
        <p:xfrm>
          <a:off x="371375" y="1300482"/>
          <a:ext cx="11449250" cy="5014050"/>
        </p:xfrm>
        <a:graphic>
          <a:graphicData uri="http://schemas.openxmlformats.org/drawingml/2006/table">
            <a:tbl>
              <a:tblPr firstRow="1" bandRow="1">
                <a:tableStyleId>{B301B821-A1FF-4177-AEE7-76D212191A09}</a:tableStyleId>
              </a:tblPr>
              <a:tblGrid>
                <a:gridCol w="823739">
                  <a:extLst>
                    <a:ext uri="{9D8B030D-6E8A-4147-A177-3AD203B41FA5}">
                      <a16:colId xmlns:a16="http://schemas.microsoft.com/office/drawing/2014/main" val="20000"/>
                    </a:ext>
                  </a:extLst>
                </a:gridCol>
                <a:gridCol w="1984561">
                  <a:extLst>
                    <a:ext uri="{9D8B030D-6E8A-4147-A177-3AD203B41FA5}">
                      <a16:colId xmlns:a16="http://schemas.microsoft.com/office/drawing/2014/main" val="20001"/>
                    </a:ext>
                  </a:extLst>
                </a:gridCol>
                <a:gridCol w="6624725">
                  <a:extLst>
                    <a:ext uri="{9D8B030D-6E8A-4147-A177-3AD203B41FA5}">
                      <a16:colId xmlns:a16="http://schemas.microsoft.com/office/drawing/2014/main" val="20002"/>
                    </a:ext>
                  </a:extLst>
                </a:gridCol>
                <a:gridCol w="2016225">
                  <a:extLst>
                    <a:ext uri="{9D8B030D-6E8A-4147-A177-3AD203B41FA5}">
                      <a16:colId xmlns:a16="http://schemas.microsoft.com/office/drawing/2014/main" val="20003"/>
                    </a:ext>
                  </a:extLst>
                </a:gridCol>
              </a:tblGrid>
              <a:tr h="185418">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No.</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PBI（表示・アクション）</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AC（詳細）</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備考</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780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u="none" strike="noStrike" cap="none" dirty="0">
                          <a:latin typeface="Meiryo UI" panose="020B0604030504040204" pitchFamily="50" charset="-128"/>
                          <a:ea typeface="Meiryo UI" panose="020B0604030504040204" pitchFamily="50" charset="-128"/>
                          <a:sym typeface="Arial"/>
                        </a:rPr>
                        <a:t>①</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アクション</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 「月々の推移」「原因分析」の</a:t>
                      </a:r>
                      <a:r>
                        <a:rPr lang="ja-JP" altLang="en-US" sz="1100" b="0" u="none" strike="noStrike" cap="none" dirty="0">
                          <a:latin typeface="Meiryo UI" panose="020B0604030504040204" pitchFamily="50" charset="-128"/>
                          <a:ea typeface="Meiryo UI" panose="020B0604030504040204" pitchFamily="50" charset="-128"/>
                          <a:sym typeface="Arial"/>
                        </a:rPr>
                        <a:t>タブ選択</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タブ選択で「月々の推移」「原因分析」のそれぞれのページに遷移できる。</a:t>
                      </a:r>
                      <a:endParaRPr sz="1100" b="0" i="0" u="none" strike="sng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lang="ja-JP" altLang="en-US" sz="1100" b="0" i="0" u="none" strike="noStrike" cap="none" noProof="0"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u="none" strike="noStrike" cap="none" dirty="0">
                          <a:latin typeface="Meiryo UI" panose="020B0604030504040204" pitchFamily="50" charset="-128"/>
                          <a:ea typeface="Meiryo UI" panose="020B0604030504040204" pitchFamily="50" charset="-128"/>
                          <a:sym typeface="Arial"/>
                        </a:rPr>
                        <a:t>②</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アクション</a:t>
                      </a:r>
                      <a:r>
                        <a:rPr lang="en-US" sz="1100" u="none" strike="noStrike" cap="none" dirty="0">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ナースコール数テーブル</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下記⑤</a:t>
                      </a:r>
                      <a:r>
                        <a:rPr lang="en-US" altLang="ja-JP" sz="1100" dirty="0">
                          <a:solidFill>
                            <a:prstClr val="black"/>
                          </a:solidFill>
                          <a:latin typeface="Meiryo UI" panose="020B0604030504040204" pitchFamily="50" charset="-128"/>
                          <a:ea typeface="Meiryo UI" panose="020B0604030504040204" pitchFamily="50" charset="-128"/>
                        </a:rPr>
                        <a:t>)</a:t>
                      </a:r>
                      <a:r>
                        <a:rPr lang="ja-JP" altLang="en-US" sz="1100" dirty="0">
                          <a:solidFill>
                            <a:prstClr val="black"/>
                          </a:solidFill>
                          <a:latin typeface="Meiryo UI" panose="020B0604030504040204" pitchFamily="50" charset="-128"/>
                          <a:ea typeface="Meiryo UI" panose="020B0604030504040204" pitchFamily="50" charset="-128"/>
                        </a:rPr>
                        <a:t>絞り込み</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任意で一つの部屋番号を選択できる。</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任意で一人の入居者名を選択できる。</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任意で複数のナースコールレベルを選択できる。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u="none" strike="noStrike" cap="none" dirty="0">
                          <a:solidFill>
                            <a:schemeClr val="tx1"/>
                          </a:solidFill>
                          <a:latin typeface="Meiryo UI" panose="020B0604030504040204" pitchFamily="50" charset="-128"/>
                          <a:ea typeface="Meiryo UI" panose="020B0604030504040204" pitchFamily="50" charset="-128"/>
                        </a:rPr>
                        <a:t>任意で複数の介護度を選択できる。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chemeClr val="dk1"/>
                        </a:buClr>
                        <a:buSzPts val="1200"/>
                        <a:buFont typeface="Twentieth Century"/>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u="none" strike="noStrike" cap="none" dirty="0">
                          <a:latin typeface="Meiryo UI" panose="020B0604030504040204" pitchFamily="50" charset="-128"/>
                          <a:ea typeface="Meiryo UI" panose="020B0604030504040204" pitchFamily="50" charset="-128"/>
                          <a:sym typeface="Arial"/>
                        </a:rPr>
                        <a:t>③</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表示</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u="none" strike="noStrike" cap="none" dirty="0">
                          <a:latin typeface="Meiryo UI" panose="020B0604030504040204" pitchFamily="50" charset="-128"/>
                          <a:ea typeface="Meiryo UI" panose="020B0604030504040204" pitchFamily="50" charset="-128"/>
                        </a:rPr>
                        <a:t>月毎ナースコール数の折れ線グラフ</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当月途中までの数値含め過去</a:t>
                      </a:r>
                      <a:r>
                        <a:rPr lang="en-US" altLang="ja-JP" sz="1100" u="none" strike="noStrike" cap="none" dirty="0">
                          <a:solidFill>
                            <a:schemeClr val="tx1"/>
                          </a:solidFill>
                          <a:latin typeface="Meiryo UI" panose="020B0604030504040204" pitchFamily="50" charset="-128"/>
                          <a:ea typeface="Meiryo UI" panose="020B0604030504040204" pitchFamily="50" charset="-128"/>
                        </a:rPr>
                        <a:t>6</a:t>
                      </a:r>
                      <a:r>
                        <a:rPr lang="ja-JP" altLang="en-US" sz="1100" u="none" strike="noStrike" cap="none" dirty="0">
                          <a:solidFill>
                            <a:schemeClr val="tx1"/>
                          </a:solidFill>
                          <a:latin typeface="Meiryo UI" panose="020B0604030504040204" pitchFamily="50" charset="-128"/>
                          <a:ea typeface="Meiryo UI" panose="020B0604030504040204" pitchFamily="50" charset="-128"/>
                        </a:rPr>
                        <a:t>ヶ月間の月間数値の推移を折れ線グラフで表示する。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Y</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＝コール数、</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X=</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月でグラフを構成する。</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b="0" i="0" u="none" strike="noStrike" cap="none" noProof="0" dirty="0">
                          <a:solidFill>
                            <a:schemeClr val="tx1"/>
                          </a:solidFill>
                          <a:latin typeface="Meiryo UI" panose="020B0604030504040204" pitchFamily="50" charset="-128"/>
                          <a:ea typeface="Meiryo UI" panose="020B0604030504040204" pitchFamily="50" charset="-128"/>
                        </a:rPr>
                        <a:t>横軸は</a:t>
                      </a:r>
                      <a:r>
                        <a:rPr lang="en-US" altLang="ja-JP" sz="1100" b="0" i="0" u="none" strike="noStrike" cap="none" noProof="0" dirty="0">
                          <a:solidFill>
                            <a:schemeClr val="tx1"/>
                          </a:solidFill>
                          <a:latin typeface="Meiryo UI" panose="020B0604030504040204" pitchFamily="50" charset="-128"/>
                          <a:ea typeface="Meiryo UI" panose="020B0604030504040204" pitchFamily="50" charset="-128"/>
                        </a:rPr>
                        <a:t>6</a:t>
                      </a:r>
                      <a:r>
                        <a:rPr lang="ja-JP" altLang="en-US" sz="1100" b="0" i="0" u="none" strike="noStrike" cap="none" noProof="0" dirty="0">
                          <a:solidFill>
                            <a:schemeClr val="tx1"/>
                          </a:solidFill>
                          <a:latin typeface="Meiryo UI" panose="020B0604030504040204" pitchFamily="50" charset="-128"/>
                          <a:ea typeface="Meiryo UI" panose="020B0604030504040204" pitchFamily="50" charset="-128"/>
                        </a:rPr>
                        <a:t>ヶ月前から昇順に並べる。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lang="ja-JP" altLang="en-US" sz="1100" b="0" i="0" u="none" strike="noStrike" cap="none" noProof="0"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u="none" strike="noStrike" cap="none" dirty="0">
                          <a:latin typeface="Meiryo UI" panose="020B0604030504040204" pitchFamily="50" charset="-128"/>
                          <a:ea typeface="Meiryo UI" panose="020B0604030504040204" pitchFamily="50" charset="-128"/>
                          <a:sym typeface="Arial"/>
                        </a:rPr>
                        <a:t>④</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表示</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時間帯別ナースコール数の棒グラフ</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u="none" strike="noStrike" cap="none" dirty="0">
                          <a:solidFill>
                            <a:schemeClr val="tx1"/>
                          </a:solidFill>
                          <a:latin typeface="Meiryo UI" panose="020B0604030504040204" pitchFamily="50" charset="-128"/>
                          <a:ea typeface="Meiryo UI" panose="020B0604030504040204" pitchFamily="50" charset="-128"/>
                        </a:rPr>
                        <a:t>当月途中までの数値含め過去</a:t>
                      </a:r>
                      <a:r>
                        <a:rPr lang="en-US" altLang="ja-JP" sz="1100" u="none" strike="noStrike" cap="none" dirty="0">
                          <a:solidFill>
                            <a:schemeClr val="tx1"/>
                          </a:solidFill>
                          <a:latin typeface="Meiryo UI" panose="020B0604030504040204" pitchFamily="50" charset="-128"/>
                          <a:ea typeface="Meiryo UI" panose="020B0604030504040204" pitchFamily="50" charset="-128"/>
                        </a:rPr>
                        <a:t>6</a:t>
                      </a:r>
                      <a:r>
                        <a:rPr lang="ja-JP" altLang="en-US" sz="1100" u="none" strike="noStrike" cap="none" dirty="0">
                          <a:solidFill>
                            <a:schemeClr val="tx1"/>
                          </a:solidFill>
                          <a:latin typeface="Meiryo UI" panose="020B0604030504040204" pitchFamily="50" charset="-128"/>
                          <a:ea typeface="Meiryo UI" panose="020B0604030504040204" pitchFamily="50" charset="-128"/>
                        </a:rPr>
                        <a:t>ヶ月間の数値を時間帯別で集計し棒グラフで表示する。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Y</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＝コール数、</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X=</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時間帯でグラフを構成する。</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横軸は</a:t>
                      </a:r>
                      <a:r>
                        <a:rPr lang="en-US" altLang="ja-JP"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0</a:t>
                      </a: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時から昇順に並べる。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u="none" strike="noStrike" cap="none" dirty="0">
                          <a:latin typeface="Meiryo UI" panose="020B0604030504040204" pitchFamily="50" charset="-128"/>
                          <a:ea typeface="Meiryo UI" panose="020B0604030504040204" pitchFamily="50" charset="-128"/>
                          <a:sym typeface="Arial"/>
                        </a:rPr>
                        <a:t>⑤</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表示・アクション</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月毎の入居者別ナースコール数テーブル</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入居者別に当月途中までの数値含め過去</a:t>
                      </a:r>
                      <a:r>
                        <a:rPr lang="en-US" altLang="ja-JP" sz="1100" u="none" strike="noStrike" cap="none" dirty="0">
                          <a:solidFill>
                            <a:schemeClr val="tx1"/>
                          </a:solidFill>
                          <a:latin typeface="Meiryo UI" panose="020B0604030504040204" pitchFamily="50" charset="-128"/>
                          <a:ea typeface="Meiryo UI" panose="020B0604030504040204" pitchFamily="50" charset="-128"/>
                        </a:rPr>
                        <a:t>6</a:t>
                      </a:r>
                      <a:r>
                        <a:rPr lang="ja-JP" altLang="en-US" sz="1100" u="none" strike="noStrike" cap="none" dirty="0">
                          <a:solidFill>
                            <a:schemeClr val="tx1"/>
                          </a:solidFill>
                          <a:latin typeface="Meiryo UI" panose="020B0604030504040204" pitchFamily="50" charset="-128"/>
                          <a:ea typeface="Meiryo UI" panose="020B0604030504040204" pitchFamily="50" charset="-128"/>
                        </a:rPr>
                        <a:t>ヶ月間の数値を確認できる。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Row</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＝居室番号、</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Column=</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入居者名</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_</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要介護度</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_</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月別ナースコール回数でテーブルを構成する。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各行を押下することで入居者個別推移</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drawer</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に推移できる。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3(300</a:t>
                      </a:r>
                      <a:r>
                        <a:rPr kumimoji="1" lang="ja-JP" altLang="en-US" sz="1100" dirty="0">
                          <a:latin typeface="Meiryo UI" panose="020B0604030504040204" pitchFamily="50" charset="-128"/>
                          <a:ea typeface="Meiryo UI" panose="020B0604030504040204" pitchFamily="50" charset="-128"/>
                        </a:rPr>
                        <a:t>回以上、濃赤色</a:t>
                      </a:r>
                      <a:r>
                        <a:rPr kumimoji="1"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、レベル</a:t>
                      </a:r>
                      <a:r>
                        <a:rPr lang="en-US" altLang="ja-JP" sz="1100" dirty="0">
                          <a:latin typeface="Meiryo UI" panose="020B0604030504040204" pitchFamily="50" charset="-128"/>
                          <a:ea typeface="Meiryo UI" panose="020B0604030504040204" pitchFamily="50" charset="-128"/>
                        </a:rPr>
                        <a:t>2(</a:t>
                      </a:r>
                      <a:r>
                        <a:rPr kumimoji="1" lang="en-US" altLang="ja-JP" sz="1100" dirty="0">
                          <a:latin typeface="Meiryo UI" panose="020B0604030504040204" pitchFamily="50" charset="-128"/>
                          <a:ea typeface="Meiryo UI" panose="020B0604030504040204" pitchFamily="50" charset="-128"/>
                        </a:rPr>
                        <a:t>100~299</a:t>
                      </a:r>
                      <a:r>
                        <a:rPr kumimoji="1" lang="ja-JP" altLang="en-US" sz="1100" dirty="0">
                          <a:latin typeface="Meiryo UI" panose="020B0604030504040204" pitchFamily="50" charset="-128"/>
                          <a:ea typeface="Meiryo UI" panose="020B0604030504040204" pitchFamily="50" charset="-128"/>
                        </a:rPr>
                        <a:t>回、</a:t>
                      </a:r>
                      <a:r>
                        <a:rPr lang="ja-JP" altLang="en-US" sz="1100" dirty="0">
                          <a:latin typeface="Meiryo UI" panose="020B0604030504040204" pitchFamily="50" charset="-128"/>
                          <a:ea typeface="Meiryo UI" panose="020B0604030504040204" pitchFamily="50" charset="-128"/>
                        </a:rPr>
                        <a:t>赤</a:t>
                      </a:r>
                      <a:r>
                        <a:rPr kumimoji="1" lang="ja-JP" altLang="en-US" sz="1100" dirty="0">
                          <a:latin typeface="Meiryo UI" panose="020B0604030504040204" pitchFamily="50" charset="-128"/>
                          <a:ea typeface="Meiryo UI" panose="020B0604030504040204" pitchFamily="50" charset="-128"/>
                        </a:rPr>
                        <a:t>色</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1(45~99</a:t>
                      </a:r>
                      <a:r>
                        <a:rPr kumimoji="1" lang="ja-JP" altLang="en-US" sz="1100" dirty="0">
                          <a:latin typeface="Meiryo UI" panose="020B0604030504040204" pitchFamily="50" charset="-128"/>
                          <a:ea typeface="Meiryo UI" panose="020B0604030504040204" pitchFamily="50" charset="-128"/>
                        </a:rPr>
                        <a:t>回、黄色</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ごとに文字を色付け。</a:t>
                      </a:r>
                      <a:endParaRPr kumimoji="1" lang="en-US" altLang="ja-JP" sz="1100"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入居者名を押下することで正しく画面遷移する。</a:t>
                      </a: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u="none" strike="noStrike" cap="none" dirty="0">
                          <a:latin typeface="Meiryo UI" panose="020B0604030504040204" pitchFamily="50" charset="-128"/>
                          <a:ea typeface="Meiryo UI" panose="020B0604030504040204" pitchFamily="50" charset="-128"/>
                          <a:sym typeface="Arial"/>
                        </a:rPr>
                        <a:t>⑥</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アクション</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ホーム選択</a:t>
                      </a:r>
                      <a:endParaRPr lang="ja-JP" altLang="en-US"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全施設権限ユーザーのみ</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任意のホームを選択できる。</a:t>
                      </a:r>
                      <a:endParaRPr sz="1100" u="none" strike="noStrike" cap="none"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通常権限ユーザーは選択機能はアクティブにならず、所属ホーム名が表示される。</a:t>
                      </a: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⑦</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入居者名表示</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⑤</a:t>
                      </a:r>
                      <a:r>
                        <a:rPr lang="ja-JP" altLang="en-US" sz="1100" b="0" u="none" strike="noStrike" cap="none" dirty="0">
                          <a:latin typeface="Meiryo UI" panose="020B0604030504040204" pitchFamily="50" charset="-128"/>
                          <a:ea typeface="Meiryo UI" panose="020B0604030504040204" pitchFamily="50" charset="-128"/>
                          <a:sym typeface="Arial"/>
                        </a:rPr>
                        <a:t>入居者別ナースコール数テーブルで選択した入居者名が表示される。</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⑤テーブル最下行の合計を押下すると「合計」が表示される。</a:t>
                      </a: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442133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⑧</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アクション</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表示期間の選択</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下記⑨⑩⑪⑫</a:t>
                      </a:r>
                      <a:r>
                        <a:rPr lang="en-US" altLang="ja-JP" sz="1100" u="none" strike="noStrike" cap="none" dirty="0">
                          <a:latin typeface="Meiryo UI" panose="020B0604030504040204" pitchFamily="50" charset="-128"/>
                          <a:ea typeface="Meiryo UI" panose="020B0604030504040204" pitchFamily="50" charset="-128"/>
                        </a:rPr>
                        <a:t>)</a:t>
                      </a:r>
                      <a:endParaRPr lang="ja-JP" altLang="en-US"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spcBef>
                          <a:spcPts val="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表示任意の期間の開始、終了をそれぞれ今日、日数、週数、月数、年数、無制限の方法で選択できる。</a:t>
                      </a:r>
                      <a:endParaRPr lang="en-US" altLang="ja-JP" sz="1100" dirty="0">
                        <a:latin typeface="Meiryo UI" panose="020B0604030504040204" pitchFamily="50" charset="-128"/>
                        <a:ea typeface="Meiryo UI" panose="020B0604030504040204" pitchFamily="50" charset="-128"/>
                      </a:endParaRPr>
                    </a:p>
                    <a:p>
                      <a:pPr marL="285750" indent="-285750">
                        <a:spcBef>
                          <a:spcPts val="0"/>
                        </a:spcBef>
                        <a:buFont typeface="Arial" panose="020B0604020202020204" pitchFamily="34" charset="0"/>
                        <a:buChar char="•"/>
                        <a:defRPr/>
                      </a:pPr>
                      <a:r>
                        <a:rPr lang="ja-JP" altLang="en-US" sz="1100" dirty="0">
                          <a:latin typeface="Meiryo UI" panose="020B0604030504040204" pitchFamily="50" charset="-128"/>
                          <a:ea typeface="Meiryo UI" panose="020B0604030504040204" pitchFamily="50" charset="-128"/>
                        </a:rPr>
                        <a:t>「無制限」を選択すれば、任意期間の開始と終了のそれぞれで存在する全てのデータを抽出する。</a:t>
                      </a:r>
                      <a:endParaRPr lang="en-US" altLang="ja-JP" sz="1100"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0970674"/>
                  </a:ext>
                </a:extLst>
              </a:tr>
            </a:tbl>
          </a:graphicData>
        </a:graphic>
      </p:graphicFrame>
      <p:sp>
        <p:nvSpPr>
          <p:cNvPr id="4" name="Google Shape;688;p38">
            <a:extLst>
              <a:ext uri="{FF2B5EF4-FFF2-40B4-BE49-F238E27FC236}">
                <a16:creationId xmlns:a16="http://schemas.microsoft.com/office/drawing/2014/main" id="{16052823-4289-C1FB-13D0-2CFF0934D414}"/>
              </a:ext>
            </a:extLst>
          </p:cNvPr>
          <p:cNvSpPr txBox="1"/>
          <p:nvPr/>
        </p:nvSpPr>
        <p:spPr>
          <a:xfrm>
            <a:off x="191344" y="908720"/>
            <a:ext cx="7399365" cy="36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ja-JP" sz="1800" u="none" strike="noStrike" cap="none" dirty="0">
                <a:solidFill>
                  <a:schemeClr val="dk1"/>
                </a:solidFill>
                <a:latin typeface="Meiryo UI" panose="020B0604030504040204" pitchFamily="34" charset="-128"/>
                <a:ea typeface="Meiryo UI" panose="020B0604030504040204" pitchFamily="34" charset="-128"/>
                <a:sym typeface="Arial"/>
              </a:rPr>
              <a:t>画面表示・アクション明細</a:t>
            </a:r>
            <a:endParaRPr sz="1400" u="none" strike="noStrike" cap="none" dirty="0">
              <a:solidFill>
                <a:srgbClr val="000000"/>
              </a:solidFill>
              <a:latin typeface="Meiryo UI" panose="020B0604030504040204" pitchFamily="34" charset="-128"/>
              <a:ea typeface="Meiryo UI" panose="020B0604030504040204" pitchFamily="34" charset="-128"/>
              <a:sym typeface="Arial"/>
            </a:endParaRPr>
          </a:p>
        </p:txBody>
      </p:sp>
      <p:sp>
        <p:nvSpPr>
          <p:cNvPr id="6" name="四角形: 角を丸くする 5">
            <a:extLst>
              <a:ext uri="{FF2B5EF4-FFF2-40B4-BE49-F238E27FC236}">
                <a16:creationId xmlns:a16="http://schemas.microsoft.com/office/drawing/2014/main" id="{29E15495-D660-04AA-2EBD-153CFA086AC9}"/>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60135AAC-411A-BC25-A95B-6F9CFCC06502}"/>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00718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1558C-F0BF-BCD8-2AED-896A3DF056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BF8806-2177-EA0F-27E5-9757C3616F44}"/>
              </a:ext>
            </a:extLst>
          </p:cNvPr>
          <p:cNvSpPr>
            <a:spLocks noGrp="1"/>
          </p:cNvSpPr>
          <p:nvPr>
            <p:ph type="title"/>
          </p:nvPr>
        </p:nvSpPr>
        <p:spPr/>
        <p:txBody>
          <a:bodyPr>
            <a:normAutofit/>
          </a:bodyPr>
          <a:lstStyle/>
          <a:p>
            <a:r>
              <a:rPr kumimoji="1" lang="ja-JP" altLang="en-US" sz="2000" b="0" dirty="0"/>
              <a:t>機能要件　明細②</a:t>
            </a:r>
          </a:p>
        </p:txBody>
      </p:sp>
      <p:graphicFrame>
        <p:nvGraphicFramePr>
          <p:cNvPr id="3" name="Google Shape;689;p38">
            <a:extLst>
              <a:ext uri="{FF2B5EF4-FFF2-40B4-BE49-F238E27FC236}">
                <a16:creationId xmlns:a16="http://schemas.microsoft.com/office/drawing/2014/main" id="{13DCB433-F727-2ABC-5063-FE578A5AA04F}"/>
              </a:ext>
            </a:extLst>
          </p:cNvPr>
          <p:cNvGraphicFramePr/>
          <p:nvPr>
            <p:extLst>
              <p:ext uri="{D42A27DB-BD31-4B8C-83A1-F6EECF244321}">
                <p14:modId xmlns:p14="http://schemas.microsoft.com/office/powerpoint/2010/main" val="3061769132"/>
              </p:ext>
            </p:extLst>
          </p:nvPr>
        </p:nvGraphicFramePr>
        <p:xfrm>
          <a:off x="371375" y="1300482"/>
          <a:ext cx="11449250" cy="5090240"/>
        </p:xfrm>
        <a:graphic>
          <a:graphicData uri="http://schemas.openxmlformats.org/drawingml/2006/table">
            <a:tbl>
              <a:tblPr firstRow="1" bandRow="1">
                <a:tableStyleId>{B301B821-A1FF-4177-AEE7-76D212191A09}</a:tableStyleId>
              </a:tblPr>
              <a:tblGrid>
                <a:gridCol w="823739">
                  <a:extLst>
                    <a:ext uri="{9D8B030D-6E8A-4147-A177-3AD203B41FA5}">
                      <a16:colId xmlns:a16="http://schemas.microsoft.com/office/drawing/2014/main" val="20000"/>
                    </a:ext>
                  </a:extLst>
                </a:gridCol>
                <a:gridCol w="1984561">
                  <a:extLst>
                    <a:ext uri="{9D8B030D-6E8A-4147-A177-3AD203B41FA5}">
                      <a16:colId xmlns:a16="http://schemas.microsoft.com/office/drawing/2014/main" val="20001"/>
                    </a:ext>
                  </a:extLst>
                </a:gridCol>
                <a:gridCol w="6624725">
                  <a:extLst>
                    <a:ext uri="{9D8B030D-6E8A-4147-A177-3AD203B41FA5}">
                      <a16:colId xmlns:a16="http://schemas.microsoft.com/office/drawing/2014/main" val="20002"/>
                    </a:ext>
                  </a:extLst>
                </a:gridCol>
                <a:gridCol w="2016225">
                  <a:extLst>
                    <a:ext uri="{9D8B030D-6E8A-4147-A177-3AD203B41FA5}">
                      <a16:colId xmlns:a16="http://schemas.microsoft.com/office/drawing/2014/main" val="20003"/>
                    </a:ext>
                  </a:extLst>
                </a:gridCol>
              </a:tblGrid>
              <a:tr h="0">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No.</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PBI（表示・アクション）</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AC（詳細）</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備考</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780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⑨</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日別推移</a:t>
                      </a:r>
                      <a:r>
                        <a:rPr lang="en-US" altLang="ja-JP" sz="1100" u="none" strike="noStrike" cap="none" dirty="0">
                          <a:latin typeface="Meiryo UI" panose="020B0604030504040204" pitchFamily="50" charset="-128"/>
                          <a:ea typeface="Meiryo UI" panose="020B0604030504040204" pitchFamily="50" charset="-128"/>
                        </a:rPr>
                        <a:t>_</a:t>
                      </a:r>
                      <a:r>
                        <a:rPr lang="ja-JP" altLang="en-US" sz="1100" u="none" strike="noStrike" cap="none" dirty="0">
                          <a:latin typeface="Meiryo UI" panose="020B0604030504040204" pitchFamily="50" charset="-128"/>
                          <a:ea typeface="Meiryo UI" panose="020B0604030504040204" pitchFamily="50" charset="-128"/>
                        </a:rPr>
                        <a:t>チャート</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選択した表示時間の各入居者日別ナースコール数を折れ線グラフで表示する。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Y</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＝コール数、</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X=</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日にちでグラフを構成する。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lang="ja-JP" altLang="en-US" sz="1100" b="0" i="0" u="none" strike="noStrike" cap="none" noProof="0"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254408"/>
                  </a:ext>
                </a:extLst>
              </a:tr>
              <a:tr h="17780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⑩</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日別推移</a:t>
                      </a:r>
                      <a:r>
                        <a:rPr lang="en-US" altLang="ja-JP" sz="1100" u="none" strike="noStrike" cap="none" dirty="0">
                          <a:latin typeface="Meiryo UI" panose="020B0604030504040204" pitchFamily="50" charset="-128"/>
                          <a:ea typeface="Meiryo UI" panose="020B0604030504040204" pitchFamily="50" charset="-128"/>
                        </a:rPr>
                        <a:t>_</a:t>
                      </a:r>
                      <a:r>
                        <a:rPr lang="ja-JP" altLang="en-US" sz="1100" u="none" strike="noStrike" cap="none" dirty="0">
                          <a:latin typeface="Meiryo UI" panose="020B0604030504040204" pitchFamily="50" charset="-128"/>
                          <a:ea typeface="Meiryo UI" panose="020B0604030504040204" pitchFamily="50" charset="-128"/>
                        </a:rPr>
                        <a:t>リスト</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選択した表示時間の各入居者日別ナースコール数をテーブルで表示する。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Row</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＝入居者名、</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Column=</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日別ナースコール回数でテーブルを構成する。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lang="ja-JP" altLang="en-US" sz="1100" b="0" i="0" u="none" strike="noStrike" cap="none" noProof="0"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25177818"/>
                  </a:ext>
                </a:extLst>
              </a:tr>
              <a:tr h="17780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⑪</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表示</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曜日別ナースコール数</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選択した表示時間の各入居者曜日別ナースコール数を棒グラフで表示する。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Y</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＝コール数、</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X=</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曜日でグラフを構成する。</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週毎に集計し色分けをして表示する。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lang="ja-JP" altLang="en-US" sz="1100" b="0" i="0" u="none" strike="noStrike" cap="none" noProof="0"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⑫</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表示</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時間帯別ナースコール数</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選択した表示時間の各入居者時間帯別ナースコール数を積み上げ棒グラフで表示する。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Y</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＝コール数、</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X=</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時間帯でグラフを構成する。</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週毎に集計し色分けをしてグラフを積み上げる。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chemeClr val="dk1"/>
                        </a:buClr>
                        <a:buSzPts val="1200"/>
                        <a:buFont typeface="Twentieth Century"/>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⑬</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表示</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ホーム</a:t>
                      </a:r>
                      <a:r>
                        <a:rPr lang="ja-JP" altLang="en-US" sz="1100" u="none" strike="noStrike" cap="none" dirty="0">
                          <a:latin typeface="Meiryo UI" panose="020B0604030504040204" pitchFamily="50" charset="-128"/>
                          <a:ea typeface="Meiryo UI" panose="020B0604030504040204" pitchFamily="50" charset="-128"/>
                        </a:rPr>
                        <a:t>別ナースコール数・レベル人数</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絞り込み機能</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下記⑭</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で選択した年月のナースコール総数、レベル別</a:t>
                      </a:r>
                      <a:r>
                        <a:rPr lang="en-US" altLang="ja-JP" sz="1100" u="none" strike="noStrike" cap="none" dirty="0">
                          <a:solidFill>
                            <a:schemeClr val="tx1"/>
                          </a:solidFill>
                          <a:latin typeface="Meiryo UI" panose="020B0604030504040204" pitchFamily="50" charset="-128"/>
                          <a:ea typeface="Meiryo UI" panose="020B0604030504040204" pitchFamily="50" charset="-128"/>
                        </a:rPr>
                        <a:t>1,2,3</a:t>
                      </a:r>
                      <a:r>
                        <a:rPr lang="ja-JP" altLang="en-US" sz="1100" u="none" strike="noStrike" cap="none" dirty="0">
                          <a:solidFill>
                            <a:schemeClr val="tx1"/>
                          </a:solidFill>
                          <a:latin typeface="Meiryo UI" panose="020B0604030504040204" pitchFamily="50" charset="-128"/>
                          <a:ea typeface="Meiryo UI" panose="020B0604030504040204" pitchFamily="50" charset="-128"/>
                        </a:rPr>
                        <a:t>それぞれの人数を表示する。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3(300</a:t>
                      </a:r>
                      <a:r>
                        <a:rPr kumimoji="1" lang="ja-JP" altLang="en-US" sz="1100" dirty="0">
                          <a:latin typeface="Meiryo UI" panose="020B0604030504040204" pitchFamily="50" charset="-128"/>
                          <a:ea typeface="Meiryo UI" panose="020B0604030504040204" pitchFamily="50" charset="-128"/>
                        </a:rPr>
                        <a:t>回以上、濃赤色</a:t>
                      </a:r>
                      <a:r>
                        <a:rPr kumimoji="1" lang="en-US" altLang="ja-JP" sz="1100" dirty="0">
                          <a:latin typeface="Meiryo UI" panose="020B0604030504040204" pitchFamily="50" charset="-128"/>
                          <a:ea typeface="Meiryo UI" panose="020B0604030504040204" pitchFamily="50" charset="-128"/>
                        </a:rPr>
                        <a:t>)</a:t>
                      </a:r>
                      <a:r>
                        <a:rPr lang="ja-JP" altLang="en-US" sz="1100" dirty="0">
                          <a:latin typeface="Meiryo UI" panose="020B0604030504040204" pitchFamily="50" charset="-128"/>
                          <a:ea typeface="Meiryo UI" panose="020B0604030504040204" pitchFamily="50" charset="-128"/>
                        </a:rPr>
                        <a:t>、レベル</a:t>
                      </a:r>
                      <a:r>
                        <a:rPr lang="en-US" altLang="ja-JP" sz="1100" dirty="0">
                          <a:latin typeface="Meiryo UI" panose="020B0604030504040204" pitchFamily="50" charset="-128"/>
                          <a:ea typeface="Meiryo UI" panose="020B0604030504040204" pitchFamily="50" charset="-128"/>
                        </a:rPr>
                        <a:t>2(</a:t>
                      </a:r>
                      <a:r>
                        <a:rPr kumimoji="1" lang="en-US" altLang="ja-JP" sz="1100" dirty="0">
                          <a:latin typeface="Meiryo UI" panose="020B0604030504040204" pitchFamily="50" charset="-128"/>
                          <a:ea typeface="Meiryo UI" panose="020B0604030504040204" pitchFamily="50" charset="-128"/>
                        </a:rPr>
                        <a:t>100~299</a:t>
                      </a:r>
                      <a:r>
                        <a:rPr kumimoji="1" lang="ja-JP" altLang="en-US" sz="1100" dirty="0">
                          <a:latin typeface="Meiryo UI" panose="020B0604030504040204" pitchFamily="50" charset="-128"/>
                          <a:ea typeface="Meiryo UI" panose="020B0604030504040204" pitchFamily="50" charset="-128"/>
                        </a:rPr>
                        <a:t>回、</a:t>
                      </a:r>
                      <a:r>
                        <a:rPr lang="ja-JP" altLang="en-US" sz="1100" dirty="0">
                          <a:latin typeface="Meiryo UI" panose="020B0604030504040204" pitchFamily="50" charset="-128"/>
                          <a:ea typeface="Meiryo UI" panose="020B0604030504040204" pitchFamily="50" charset="-128"/>
                        </a:rPr>
                        <a:t>赤</a:t>
                      </a:r>
                      <a:r>
                        <a:rPr kumimoji="1" lang="ja-JP" altLang="en-US" sz="1100" dirty="0">
                          <a:latin typeface="Meiryo UI" panose="020B0604030504040204" pitchFamily="50" charset="-128"/>
                          <a:ea typeface="Meiryo UI" panose="020B0604030504040204" pitchFamily="50" charset="-128"/>
                        </a:rPr>
                        <a:t>色</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、レベル</a:t>
                      </a:r>
                      <a:r>
                        <a:rPr kumimoji="1" lang="en-US" altLang="ja-JP" sz="1100" dirty="0">
                          <a:latin typeface="Meiryo UI" panose="020B0604030504040204" pitchFamily="50" charset="-128"/>
                          <a:ea typeface="Meiryo UI" panose="020B0604030504040204" pitchFamily="50" charset="-128"/>
                        </a:rPr>
                        <a:t>1(45~99</a:t>
                      </a:r>
                      <a:r>
                        <a:rPr kumimoji="1" lang="ja-JP" altLang="en-US" sz="1100" dirty="0">
                          <a:latin typeface="Meiryo UI" panose="020B0604030504040204" pitchFamily="50" charset="-128"/>
                          <a:ea typeface="Meiryo UI" panose="020B0604030504040204" pitchFamily="50" charset="-128"/>
                        </a:rPr>
                        <a:t>回、黄色</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ごとに文字を色付け。</a:t>
                      </a:r>
                      <a:endParaRPr kumimoji="1" lang="en-US" altLang="ja-JP" sz="1100"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lang="ja-JP" altLang="en-US" sz="1100" b="0" i="0" u="none" strike="noStrike" cap="none" noProof="0"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73013">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u="none" strike="noStrike" cap="none" dirty="0">
                          <a:latin typeface="Meiryo UI" panose="020B0604030504040204" pitchFamily="50" charset="-128"/>
                          <a:ea typeface="Meiryo UI" panose="020B0604030504040204" pitchFamily="50" charset="-128"/>
                          <a:sym typeface="Arial"/>
                        </a:rPr>
                        <a:t>⑭</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アクション</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solidFill>
                            <a:prstClr val="black"/>
                          </a:solidFill>
                          <a:latin typeface="Meiryo UI" panose="020B0604030504040204" pitchFamily="50" charset="-128"/>
                          <a:ea typeface="Meiryo UI" panose="020B0604030504040204" pitchFamily="50" charset="-128"/>
                        </a:rPr>
                        <a:t>原因分析用</a:t>
                      </a:r>
                      <a:r>
                        <a:rPr lang="ja-JP" altLang="en-US" sz="1100" dirty="0">
                          <a:solidFill>
                            <a:prstClr val="black"/>
                          </a:solidFill>
                          <a:latin typeface="Meiryo UI" panose="020B0604030504040204" pitchFamily="50" charset="-128"/>
                          <a:ea typeface="Meiryo UI" panose="020B0604030504040204" pitchFamily="50" charset="-128"/>
                        </a:rPr>
                        <a:t>テーブル絞り込み</a:t>
                      </a:r>
                      <a:endParaRPr lang="ja-JP" altLang="en-US"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任意の一つの年月を選択できる。デフォルトは前月データとする。</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任意で一つの部屋番号を選択できる。</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任意で一人の入居者名を選択できる。</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任意で複数のナースコールレベルを選択できる。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u="none" strike="noStrike" cap="none" dirty="0">
                          <a:solidFill>
                            <a:schemeClr val="tx1"/>
                          </a:solidFill>
                          <a:latin typeface="Meiryo UI" panose="020B0604030504040204" pitchFamily="50" charset="-128"/>
                          <a:ea typeface="Meiryo UI" panose="020B0604030504040204" pitchFamily="50" charset="-128"/>
                        </a:rPr>
                        <a:t>任意で複数の要介護度を選択できる。</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⑮</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表示</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入居者基本情報</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選択した年月の部屋番号に対応する入居者名、要介護度を表示する。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rowSpan="3">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⑮⑯⑰⑱⑲テーブル</a:t>
                      </a:r>
                      <a:endParaRPr lang="en-US" altLang="ja-JP"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Row</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＝居室番号、</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Column=</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入居者名</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_</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要介護度</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_</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月別ナースコール回数</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0" marR="0" lvl="0" indent="0" algn="l" rtl="0">
                        <a:lnSpc>
                          <a:spcPct val="100000"/>
                        </a:lnSpc>
                        <a:spcBef>
                          <a:spcPts val="0"/>
                        </a:spcBef>
                        <a:spcAft>
                          <a:spcPts val="0"/>
                        </a:spcAft>
                        <a:buClr>
                          <a:srgbClr val="000000"/>
                        </a:buClr>
                        <a:buSzPts val="1400"/>
                        <a:buFont typeface="Arial"/>
                        <a:buNone/>
                      </a:pPr>
                      <a:endParaRPr lang="en-US" altLang="ja-JP"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各行を押下することで入居者個別推移</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drawer</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に推移できる。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290748">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⑯</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表示</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入居者別レベル</a:t>
                      </a:r>
                      <a:endParaRPr lang="ja-JP" altLang="en-US"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3(300</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回以上、濃赤色</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2(100~299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回、橙色</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1(45~99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回、黄色</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dirty="0">
                          <a:latin typeface="Meiryo UI" panose="020B0604030504040204" pitchFamily="50" charset="-128"/>
                          <a:ea typeface="Meiryo UI" panose="020B0604030504040204" pitchFamily="50" charset="-128"/>
                        </a:rPr>
                        <a:t>レベル</a:t>
                      </a:r>
                      <a:r>
                        <a:rPr lang="en-US" altLang="ja-JP" sz="1100" dirty="0">
                          <a:latin typeface="Meiryo UI" panose="020B0604030504040204" pitchFamily="50" charset="-128"/>
                          <a:ea typeface="Meiryo UI" panose="020B0604030504040204" pitchFamily="50" charset="-128"/>
                        </a:rPr>
                        <a:t>0(45</a:t>
                      </a:r>
                      <a:r>
                        <a:rPr lang="ja-JP" altLang="en-US" sz="1100" dirty="0">
                          <a:latin typeface="Meiryo UI" panose="020B0604030504040204" pitchFamily="50" charset="-128"/>
                          <a:ea typeface="Meiryo UI" panose="020B0604030504040204" pitchFamily="50" charset="-128"/>
                        </a:rPr>
                        <a:t>回未満、灰色</a:t>
                      </a:r>
                      <a:r>
                        <a:rPr lang="en-US" altLang="ja-JP" sz="1100" dirty="0">
                          <a:latin typeface="Meiryo UI" panose="020B0604030504040204" pitchFamily="50" charset="-128"/>
                          <a:ea typeface="Meiryo UI" panose="020B0604030504040204" pitchFamily="50" charset="-128"/>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ごとで文字を色付け表示。</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3=3(300</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以上</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2=3(100-299)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1=1(45-99)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0=0(45</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未満</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と表記する。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126928">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⑰</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合計カウント</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選択した年月の部屋番号に対応するナースコール数の合計を表示する。</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4421334"/>
                  </a:ext>
                </a:extLst>
              </a:tr>
            </a:tbl>
          </a:graphicData>
        </a:graphic>
      </p:graphicFrame>
      <p:sp>
        <p:nvSpPr>
          <p:cNvPr id="4" name="Google Shape;688;p38">
            <a:extLst>
              <a:ext uri="{FF2B5EF4-FFF2-40B4-BE49-F238E27FC236}">
                <a16:creationId xmlns:a16="http://schemas.microsoft.com/office/drawing/2014/main" id="{D76F7B96-ECC0-8D55-0B6F-292BB4712391}"/>
              </a:ext>
            </a:extLst>
          </p:cNvPr>
          <p:cNvSpPr txBox="1"/>
          <p:nvPr/>
        </p:nvSpPr>
        <p:spPr>
          <a:xfrm>
            <a:off x="191344" y="908720"/>
            <a:ext cx="7399365" cy="36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ja-JP" sz="1800" u="none" strike="noStrike" cap="none" dirty="0">
                <a:solidFill>
                  <a:schemeClr val="dk1"/>
                </a:solidFill>
                <a:latin typeface="Meiryo UI" panose="020B0604030504040204" pitchFamily="34" charset="-128"/>
                <a:ea typeface="Meiryo UI" panose="020B0604030504040204" pitchFamily="34" charset="-128"/>
                <a:sym typeface="Arial"/>
              </a:rPr>
              <a:t>画面表示・アクション明細</a:t>
            </a:r>
            <a:endParaRPr sz="1400" u="none" strike="noStrike" cap="none" dirty="0">
              <a:solidFill>
                <a:srgbClr val="000000"/>
              </a:solidFill>
              <a:latin typeface="Meiryo UI" panose="020B0604030504040204" pitchFamily="34" charset="-128"/>
              <a:ea typeface="Meiryo UI" panose="020B0604030504040204" pitchFamily="34" charset="-128"/>
              <a:sym typeface="Arial"/>
            </a:endParaRPr>
          </a:p>
        </p:txBody>
      </p:sp>
      <p:sp>
        <p:nvSpPr>
          <p:cNvPr id="6" name="四角形: 角を丸くする 5">
            <a:extLst>
              <a:ext uri="{FF2B5EF4-FFF2-40B4-BE49-F238E27FC236}">
                <a16:creationId xmlns:a16="http://schemas.microsoft.com/office/drawing/2014/main" id="{2CF4A5F6-CAE9-FF6E-736E-C45C7CA94032}"/>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913F0FB1-E30B-69AC-7871-B38B2C05FF55}"/>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13109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3469D-0548-7A62-18F3-EA9035EBE13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6A44D9-FB89-7C0A-6355-A61D4F0473EB}"/>
              </a:ext>
            </a:extLst>
          </p:cNvPr>
          <p:cNvSpPr>
            <a:spLocks noGrp="1"/>
          </p:cNvSpPr>
          <p:nvPr>
            <p:ph type="title"/>
          </p:nvPr>
        </p:nvSpPr>
        <p:spPr/>
        <p:txBody>
          <a:bodyPr>
            <a:normAutofit/>
          </a:bodyPr>
          <a:lstStyle/>
          <a:p>
            <a:r>
              <a:rPr kumimoji="1" lang="ja-JP" altLang="en-US" sz="2000" b="0" dirty="0"/>
              <a:t>機能要件　明細③</a:t>
            </a:r>
          </a:p>
        </p:txBody>
      </p:sp>
      <p:graphicFrame>
        <p:nvGraphicFramePr>
          <p:cNvPr id="3" name="Google Shape;689;p38">
            <a:extLst>
              <a:ext uri="{FF2B5EF4-FFF2-40B4-BE49-F238E27FC236}">
                <a16:creationId xmlns:a16="http://schemas.microsoft.com/office/drawing/2014/main" id="{D667C0DE-8C54-C3D1-A312-7DE402394CF9}"/>
              </a:ext>
            </a:extLst>
          </p:cNvPr>
          <p:cNvGraphicFramePr/>
          <p:nvPr>
            <p:extLst>
              <p:ext uri="{D42A27DB-BD31-4B8C-83A1-F6EECF244321}">
                <p14:modId xmlns:p14="http://schemas.microsoft.com/office/powerpoint/2010/main" val="1400608134"/>
              </p:ext>
            </p:extLst>
          </p:nvPr>
        </p:nvGraphicFramePr>
        <p:xfrm>
          <a:off x="371375" y="1300482"/>
          <a:ext cx="11449250" cy="4846410"/>
        </p:xfrm>
        <a:graphic>
          <a:graphicData uri="http://schemas.openxmlformats.org/drawingml/2006/table">
            <a:tbl>
              <a:tblPr firstRow="1" bandRow="1">
                <a:tableStyleId>{B301B821-A1FF-4177-AEE7-76D212191A09}</a:tableStyleId>
              </a:tblPr>
              <a:tblGrid>
                <a:gridCol w="823739">
                  <a:extLst>
                    <a:ext uri="{9D8B030D-6E8A-4147-A177-3AD203B41FA5}">
                      <a16:colId xmlns:a16="http://schemas.microsoft.com/office/drawing/2014/main" val="20000"/>
                    </a:ext>
                  </a:extLst>
                </a:gridCol>
                <a:gridCol w="1984561">
                  <a:extLst>
                    <a:ext uri="{9D8B030D-6E8A-4147-A177-3AD203B41FA5}">
                      <a16:colId xmlns:a16="http://schemas.microsoft.com/office/drawing/2014/main" val="20001"/>
                    </a:ext>
                  </a:extLst>
                </a:gridCol>
                <a:gridCol w="6624725">
                  <a:extLst>
                    <a:ext uri="{9D8B030D-6E8A-4147-A177-3AD203B41FA5}">
                      <a16:colId xmlns:a16="http://schemas.microsoft.com/office/drawing/2014/main" val="20002"/>
                    </a:ext>
                  </a:extLst>
                </a:gridCol>
                <a:gridCol w="2016225">
                  <a:extLst>
                    <a:ext uri="{9D8B030D-6E8A-4147-A177-3AD203B41FA5}">
                      <a16:colId xmlns:a16="http://schemas.microsoft.com/office/drawing/2014/main" val="20003"/>
                    </a:ext>
                  </a:extLst>
                </a:gridCol>
              </a:tblGrid>
              <a:tr h="0">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No.</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PBI（表示・アクション）</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AC（詳細）</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備考</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⑱</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ナースコール傾向</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選択した年月の部屋番号に対応する</a:t>
                      </a:r>
                      <a:r>
                        <a:rPr kumimoji="1" lang="ja-JP" altLang="en-US" sz="1100" dirty="0">
                          <a:latin typeface="Meiryo UI" panose="020B0604030504040204" pitchFamily="50" charset="-128"/>
                          <a:ea typeface="Meiryo UI" panose="020B0604030504040204" pitchFamily="50" charset="-128"/>
                        </a:rPr>
                        <a:t>ナースコールの回数が時間帯別で有意差</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カイ二乗検定、有意水準：</a:t>
                      </a:r>
                      <a:r>
                        <a:rPr kumimoji="1" lang="en-US" altLang="ja-JP" sz="1100" dirty="0">
                          <a:latin typeface="Meiryo UI" panose="020B0604030504040204" pitchFamily="50" charset="-128"/>
                          <a:ea typeface="Meiryo UI" panose="020B0604030504040204" pitchFamily="50" charset="-128"/>
                        </a:rPr>
                        <a:t>p&lt;0.05)</a:t>
                      </a:r>
                      <a:r>
                        <a:rPr kumimoji="1" lang="ja-JP" altLang="en-US" sz="1100" dirty="0">
                          <a:latin typeface="Meiryo UI" panose="020B0604030504040204" pitchFamily="50" charset="-128"/>
                          <a:ea typeface="Meiryo UI" panose="020B0604030504040204" pitchFamily="50" charset="-128"/>
                        </a:rPr>
                        <a:t>がある場合</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時間帯別</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、曜日別で有意差</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カイ二乗検定、有意水準：</a:t>
                      </a:r>
                      <a:r>
                        <a:rPr kumimoji="1" lang="en-US" altLang="ja-JP" sz="1100" dirty="0">
                          <a:latin typeface="Meiryo UI" panose="020B0604030504040204" pitchFamily="50" charset="-128"/>
                          <a:ea typeface="Meiryo UI" panose="020B0604030504040204" pitchFamily="50" charset="-128"/>
                        </a:rPr>
                        <a:t>p&lt;0.05)</a:t>
                      </a:r>
                      <a:r>
                        <a:rPr kumimoji="1" lang="ja-JP" altLang="en-US" sz="1100" dirty="0">
                          <a:latin typeface="Meiryo UI" panose="020B0604030504040204" pitchFamily="50" charset="-128"/>
                          <a:ea typeface="Meiryo UI" panose="020B0604030504040204" pitchFamily="50" charset="-128"/>
                        </a:rPr>
                        <a:t>がある場合</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曜日別</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を表示</a:t>
                      </a:r>
                      <a:endParaRPr kumimoji="1" lang="en-US" altLang="ja-JP" sz="1100" dirty="0">
                        <a:solidFill>
                          <a:srgbClr val="FF0000"/>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⑮⑯⑰⑱⑲テーブル</a:t>
                      </a:r>
                      <a:endParaRPr lang="en-US" altLang="ja-JP"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Row</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＝居室番号、</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Column=</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入居者名</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_</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要介護度</a:t>
                      </a:r>
                      <a:r>
                        <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rPr>
                        <a:t>_</a:t>
                      </a:r>
                      <a:r>
                        <a:rPr lang="ja-JP" altLang="en-US" sz="1100" b="0" u="none" strike="noStrike" cap="none" dirty="0">
                          <a:solidFill>
                            <a:schemeClr val="tx1"/>
                          </a:solidFill>
                          <a:latin typeface="Meiryo UI" panose="020B0604030504040204" pitchFamily="50" charset="-128"/>
                          <a:ea typeface="Meiryo UI" panose="020B0604030504040204" pitchFamily="50" charset="-128"/>
                          <a:sym typeface="Arial"/>
                        </a:rPr>
                        <a:t>月別ナースコール回数</a:t>
                      </a:r>
                      <a:endParaRPr lang="en-US" altLang="ja-JP" sz="1100" b="0" u="none" strike="noStrike" cap="none" dirty="0">
                        <a:solidFill>
                          <a:schemeClr val="tx1"/>
                        </a:solidFill>
                        <a:latin typeface="Meiryo UI" panose="020B0604030504040204" pitchFamily="50" charset="-128"/>
                        <a:ea typeface="Meiryo UI" panose="020B0604030504040204" pitchFamily="50" charset="-128"/>
                        <a:sym typeface="Arial"/>
                      </a:endParaRPr>
                    </a:p>
                    <a:p>
                      <a:pPr marL="0" marR="0" lvl="0" indent="0" algn="l" rtl="0">
                        <a:lnSpc>
                          <a:spcPct val="100000"/>
                        </a:lnSpc>
                        <a:spcBef>
                          <a:spcPts val="0"/>
                        </a:spcBef>
                        <a:spcAft>
                          <a:spcPts val="0"/>
                        </a:spcAft>
                        <a:buClr>
                          <a:srgbClr val="000000"/>
                        </a:buClr>
                        <a:buSzPts val="1400"/>
                        <a:buFont typeface="Arial"/>
                        <a:buNone/>
                      </a:pPr>
                      <a:endParaRPr lang="en-US" altLang="ja-JP"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各行を押下することで入居者個別推移</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drawer</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に推移できる。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0097067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⑲</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ケアアラート</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chemeClr val="dk1"/>
                        </a:buClr>
                        <a:buSzPct val="100000"/>
                        <a:buFont typeface="Arial"/>
                        <a:buNone/>
                      </a:pPr>
                      <a:r>
                        <a:rPr lang="ja-JP" altLang="en-US" sz="1100" u="none" strike="noStrike" cap="none" dirty="0">
                          <a:solidFill>
                            <a:schemeClr val="tx1"/>
                          </a:solidFill>
                          <a:latin typeface="Meiryo UI" panose="020B0604030504040204" pitchFamily="50" charset="-128"/>
                          <a:ea typeface="Meiryo UI" panose="020B0604030504040204" pitchFamily="50" charset="-128"/>
                        </a:rPr>
                        <a:t>下記定義に基づき表示</a:t>
                      </a: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援助過剰：援助予定時間が</a:t>
                      </a:r>
                      <a:r>
                        <a:rPr lang="ja-JP" altLang="en-US" sz="1100" dirty="0">
                          <a:latin typeface="Meiryo UI" panose="020B0604030504040204" pitchFamily="50" charset="-128"/>
                          <a:ea typeface="Meiryo UI" panose="020B0604030504040204" pitchFamily="50" charset="-128"/>
                        </a:rPr>
                        <a:t>一段階重度が高い</a:t>
                      </a:r>
                      <a:r>
                        <a:rPr lang="ja-JP" altLang="en-US" sz="1100" u="none" strike="noStrike" cap="none" dirty="0">
                          <a:solidFill>
                            <a:schemeClr val="tx1"/>
                          </a:solidFill>
                          <a:latin typeface="Meiryo UI" panose="020B0604030504040204" pitchFamily="50" charset="-128"/>
                          <a:ea typeface="Meiryo UI" panose="020B0604030504040204" pitchFamily="50" charset="-128"/>
                        </a:rPr>
                        <a:t>介護度の基準時間超過</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黄緑色で表示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援助過少：援助予定時間が</a:t>
                      </a:r>
                      <a:r>
                        <a:rPr lang="ja-JP" altLang="en-US" sz="1100" dirty="0">
                          <a:latin typeface="Meiryo UI" panose="020B0604030504040204" pitchFamily="50" charset="-128"/>
                          <a:ea typeface="Meiryo UI" panose="020B0604030504040204" pitchFamily="50" charset="-128"/>
                        </a:rPr>
                        <a:t>一段階重度が低い</a:t>
                      </a:r>
                      <a:r>
                        <a:rPr lang="ja-JP" altLang="en-US" sz="1100" u="none" strike="noStrike" cap="none" dirty="0">
                          <a:solidFill>
                            <a:schemeClr val="tx1"/>
                          </a:solidFill>
                          <a:latin typeface="Meiryo UI" panose="020B0604030504040204" pitchFamily="50" charset="-128"/>
                          <a:ea typeface="Meiryo UI" panose="020B0604030504040204" pitchFamily="50" charset="-128"/>
                        </a:rPr>
                        <a:t>介護度の基準時間未満</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黄緑色で表示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未実施：直接援助のうち中止記録が</a:t>
                      </a:r>
                      <a:r>
                        <a:rPr lang="en-US" altLang="ja-JP" sz="1100" u="none" strike="noStrike" cap="none" dirty="0">
                          <a:solidFill>
                            <a:schemeClr val="tx1"/>
                          </a:solidFill>
                          <a:latin typeface="Meiryo UI" panose="020B0604030504040204" pitchFamily="50" charset="-128"/>
                          <a:ea typeface="Meiryo UI" panose="020B0604030504040204" pitchFamily="50" charset="-128"/>
                        </a:rPr>
                        <a:t>10%</a:t>
                      </a:r>
                      <a:r>
                        <a:rPr lang="ja-JP" altLang="en-US" sz="1100" u="none" strike="noStrike" cap="none" dirty="0">
                          <a:solidFill>
                            <a:schemeClr val="tx1"/>
                          </a:solidFill>
                          <a:latin typeface="Meiryo UI" panose="020B0604030504040204" pitchFamily="50" charset="-128"/>
                          <a:ea typeface="Meiryo UI" panose="020B0604030504040204" pitchFamily="50" charset="-128"/>
                        </a:rPr>
                        <a:t>以上</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未タップは含まない</a:t>
                      </a:r>
                      <a:r>
                        <a:rPr lang="en-US" altLang="ja-JP" sz="1100" u="none" strike="noStrike" cap="none" dirty="0">
                          <a:solidFill>
                            <a:schemeClr val="tx1"/>
                          </a:solidFill>
                          <a:latin typeface="Meiryo UI" panose="020B0604030504040204" pitchFamily="50" charset="-128"/>
                          <a:ea typeface="Meiryo UI" panose="020B0604030504040204" pitchFamily="50" charset="-128"/>
                        </a:rPr>
                        <a:t>) (</a:t>
                      </a:r>
                      <a:r>
                        <a:rPr lang="ja-JP" altLang="en-US" sz="1100" u="none" strike="noStrike" cap="none" dirty="0">
                          <a:solidFill>
                            <a:schemeClr val="tx1"/>
                          </a:solidFill>
                          <a:latin typeface="Meiryo UI" panose="020B0604030504040204" pitchFamily="50" charset="-128"/>
                          <a:ea typeface="Meiryo UI" panose="020B0604030504040204" pitchFamily="50" charset="-128"/>
                        </a:rPr>
                        <a:t>水色で表示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多剤</a:t>
                      </a:r>
                      <a:r>
                        <a:rPr lang="en-US" altLang="ja-JP" sz="1100" u="none" strike="noStrike" cap="none" dirty="0">
                          <a:solidFill>
                            <a:schemeClr val="tx1"/>
                          </a:solidFill>
                          <a:latin typeface="Meiryo UI" panose="020B0604030504040204" pitchFamily="50" charset="-128"/>
                          <a:ea typeface="Meiryo UI" panose="020B0604030504040204" pitchFamily="50" charset="-128"/>
                        </a:rPr>
                        <a:t>1</a:t>
                      </a:r>
                      <a:r>
                        <a:rPr lang="ja-JP" altLang="en-US" sz="1100" u="none" strike="noStrike" cap="none" dirty="0">
                          <a:solidFill>
                            <a:schemeClr val="tx1"/>
                          </a:solidFill>
                          <a:latin typeface="Meiryo UI" panose="020B0604030504040204" pitchFamily="50" charset="-128"/>
                          <a:ea typeface="Meiryo UI" panose="020B0604030504040204" pitchFamily="50" charset="-128"/>
                        </a:rPr>
                        <a:t>：処方薬が</a:t>
                      </a:r>
                      <a:r>
                        <a:rPr lang="en-US" altLang="ja-JP" sz="1100" u="none" strike="noStrike" cap="none" dirty="0">
                          <a:solidFill>
                            <a:schemeClr val="tx1"/>
                          </a:solidFill>
                          <a:latin typeface="Meiryo UI" panose="020B0604030504040204" pitchFamily="50" charset="-128"/>
                          <a:ea typeface="Meiryo UI" panose="020B0604030504040204" pitchFamily="50" charset="-128"/>
                        </a:rPr>
                        <a:t>6~9</a:t>
                      </a:r>
                      <a:r>
                        <a:rPr lang="ja-JP" altLang="en-US" sz="1100" u="none" strike="noStrike" cap="none" dirty="0">
                          <a:solidFill>
                            <a:schemeClr val="tx1"/>
                          </a:solidFill>
                          <a:latin typeface="Meiryo UI" panose="020B0604030504040204" pitchFamily="50" charset="-128"/>
                          <a:ea typeface="Meiryo UI" panose="020B0604030504040204" pitchFamily="50" charset="-128"/>
                        </a:rPr>
                        <a:t>種類</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茶色で表示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多剤</a:t>
                      </a:r>
                      <a:r>
                        <a:rPr lang="en-US" altLang="ja-JP" sz="1100" u="none" strike="noStrike" cap="none" dirty="0">
                          <a:solidFill>
                            <a:schemeClr val="tx1"/>
                          </a:solidFill>
                          <a:latin typeface="Meiryo UI" panose="020B0604030504040204" pitchFamily="50" charset="-128"/>
                          <a:ea typeface="Meiryo UI" panose="020B0604030504040204" pitchFamily="50" charset="-128"/>
                        </a:rPr>
                        <a:t>2</a:t>
                      </a:r>
                      <a:r>
                        <a:rPr lang="ja-JP" altLang="en-US" sz="1100" u="none" strike="noStrike" cap="none" dirty="0">
                          <a:solidFill>
                            <a:schemeClr val="tx1"/>
                          </a:solidFill>
                          <a:latin typeface="Meiryo UI" panose="020B0604030504040204" pitchFamily="50" charset="-128"/>
                          <a:ea typeface="Meiryo UI" panose="020B0604030504040204" pitchFamily="50" charset="-128"/>
                        </a:rPr>
                        <a:t>：処方薬が</a:t>
                      </a:r>
                      <a:r>
                        <a:rPr lang="en-US" altLang="ja-JP" sz="1100" u="none" strike="noStrike" cap="none" dirty="0">
                          <a:solidFill>
                            <a:schemeClr val="tx1"/>
                          </a:solidFill>
                          <a:latin typeface="Meiryo UI" panose="020B0604030504040204" pitchFamily="50" charset="-128"/>
                          <a:ea typeface="Meiryo UI" panose="020B0604030504040204" pitchFamily="50" charset="-128"/>
                        </a:rPr>
                        <a:t>10</a:t>
                      </a:r>
                      <a:r>
                        <a:rPr lang="ja-JP" altLang="en-US" sz="1100" u="none" strike="noStrike" cap="none" dirty="0">
                          <a:solidFill>
                            <a:schemeClr val="tx1"/>
                          </a:solidFill>
                          <a:latin typeface="Meiryo UI" panose="020B0604030504040204" pitchFamily="50" charset="-128"/>
                          <a:ea typeface="Meiryo UI" panose="020B0604030504040204" pitchFamily="50" charset="-128"/>
                        </a:rPr>
                        <a:t>種類以上</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濃茶色で表示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体重減：平均体重が前月から</a:t>
                      </a:r>
                      <a:r>
                        <a:rPr lang="en-US" altLang="ja-JP" sz="1100" u="none" strike="noStrike" cap="none" dirty="0">
                          <a:solidFill>
                            <a:schemeClr val="tx1"/>
                          </a:solidFill>
                          <a:latin typeface="Meiryo UI" panose="020B0604030504040204" pitchFamily="50" charset="-128"/>
                          <a:ea typeface="Meiryo UI" panose="020B0604030504040204" pitchFamily="50" charset="-128"/>
                        </a:rPr>
                        <a:t>3%</a:t>
                      </a:r>
                      <a:r>
                        <a:rPr lang="ja-JP" altLang="en-US" sz="1100" u="none" strike="noStrike" cap="none" dirty="0">
                          <a:solidFill>
                            <a:schemeClr val="tx1"/>
                          </a:solidFill>
                          <a:latin typeface="Meiryo UI" panose="020B0604030504040204" pitchFamily="50" charset="-128"/>
                          <a:ea typeface="Meiryo UI" panose="020B0604030504040204" pitchFamily="50" charset="-128"/>
                        </a:rPr>
                        <a:t>以上減少</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紫色で表示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食事量：平均摂取量 </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主食副食合計</a:t>
                      </a:r>
                      <a:r>
                        <a:rPr lang="en-US" altLang="ja-JP" sz="1100" u="none" strike="noStrike" cap="none" dirty="0">
                          <a:solidFill>
                            <a:schemeClr val="tx1"/>
                          </a:solidFill>
                          <a:latin typeface="Meiryo UI" panose="020B0604030504040204" pitchFamily="50" charset="-128"/>
                          <a:ea typeface="Meiryo UI" panose="020B0604030504040204" pitchFamily="50" charset="-128"/>
                        </a:rPr>
                        <a:t>) </a:t>
                      </a:r>
                      <a:r>
                        <a:rPr lang="ja-JP" altLang="en-US" sz="1100" u="none" strike="noStrike" cap="none" dirty="0">
                          <a:solidFill>
                            <a:schemeClr val="tx1"/>
                          </a:solidFill>
                          <a:latin typeface="Meiryo UI" panose="020B0604030504040204" pitchFamily="50" charset="-128"/>
                          <a:ea typeface="Meiryo UI" panose="020B0604030504040204" pitchFamily="50" charset="-128"/>
                        </a:rPr>
                        <a:t>が</a:t>
                      </a:r>
                      <a:r>
                        <a:rPr lang="en-US" altLang="ja-JP" sz="1100" u="none" strike="noStrike" cap="none" dirty="0">
                          <a:solidFill>
                            <a:schemeClr val="tx1"/>
                          </a:solidFill>
                          <a:latin typeface="Meiryo UI" panose="020B0604030504040204" pitchFamily="50" charset="-128"/>
                          <a:ea typeface="Meiryo UI" panose="020B0604030504040204" pitchFamily="50" charset="-128"/>
                        </a:rPr>
                        <a:t>75%</a:t>
                      </a:r>
                      <a:r>
                        <a:rPr lang="ja-JP" altLang="en-US" sz="1100" u="none" strike="noStrike" cap="none" dirty="0">
                          <a:solidFill>
                            <a:schemeClr val="tx1"/>
                          </a:solidFill>
                          <a:latin typeface="Meiryo UI" panose="020B0604030504040204" pitchFamily="50" charset="-128"/>
                          <a:ea typeface="Meiryo UI" panose="020B0604030504040204" pitchFamily="50" charset="-128"/>
                        </a:rPr>
                        <a:t>未満</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緑色で表示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夜間不眠：夜間の平均睡眠時間が</a:t>
                      </a:r>
                      <a:r>
                        <a:rPr lang="en-US" altLang="ja-JP" sz="1100" u="none" strike="noStrike" cap="none" dirty="0">
                          <a:solidFill>
                            <a:schemeClr val="tx1"/>
                          </a:solidFill>
                          <a:latin typeface="Meiryo UI" panose="020B0604030504040204" pitchFamily="50" charset="-128"/>
                          <a:ea typeface="Meiryo UI" panose="020B0604030504040204" pitchFamily="50" charset="-128"/>
                        </a:rPr>
                        <a:t>5</a:t>
                      </a:r>
                      <a:r>
                        <a:rPr lang="ja-JP" altLang="en-US" sz="1100" u="none" strike="noStrike" cap="none" dirty="0">
                          <a:solidFill>
                            <a:schemeClr val="tx1"/>
                          </a:solidFill>
                          <a:latin typeface="Meiryo UI" panose="020B0604030504040204" pitchFamily="50" charset="-128"/>
                          <a:ea typeface="Meiryo UI" panose="020B0604030504040204" pitchFamily="50" charset="-128"/>
                        </a:rPr>
                        <a:t>時間未満</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青色で表示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3831272"/>
                  </a:ext>
                </a:extLst>
              </a:tr>
              <a:tr h="187928">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⑳</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アクション</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入居者詳細表示</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選択されている入居者個別推移</a:t>
                      </a:r>
                      <a:r>
                        <a:rPr lang="en-US" altLang="ja-JP" sz="1100" u="none" strike="noStrike" cap="none" dirty="0">
                          <a:solidFill>
                            <a:schemeClr val="tx1"/>
                          </a:solidFill>
                          <a:latin typeface="Meiryo UI" panose="020B0604030504040204" pitchFamily="50" charset="-128"/>
                          <a:ea typeface="Meiryo UI" panose="020B0604030504040204" pitchFamily="50" charset="-128"/>
                        </a:rPr>
                        <a:t>drawer</a:t>
                      </a:r>
                      <a:r>
                        <a:rPr lang="ja-JP" altLang="en-US" sz="1100" u="none" strike="noStrike" cap="none" dirty="0">
                          <a:solidFill>
                            <a:schemeClr val="tx1"/>
                          </a:solidFill>
                          <a:latin typeface="Meiryo UI" panose="020B0604030504040204" pitchFamily="50" charset="-128"/>
                          <a:ea typeface="Meiryo UI" panose="020B0604030504040204" pitchFamily="50" charset="-128"/>
                        </a:rPr>
                        <a:t>に推移できる。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8586144"/>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㉑</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アクション</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各種定義表示</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各種定義のポップアップを表示する。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143451"/>
                  </a:ext>
                </a:extLst>
              </a:tr>
              <a:tr h="155523">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㉒</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表示</a:t>
                      </a:r>
                      <a:r>
                        <a:rPr lang="en-US" altLang="ja-JP" sz="1100" b="0" u="none" strike="noStrike" cap="none" dirty="0">
                          <a:latin typeface="Meiryo UI" panose="020B0604030504040204" pitchFamily="50" charset="-128"/>
                          <a:ea typeface="Meiryo UI" panose="020B0604030504040204" pitchFamily="50" charset="-128"/>
                          <a:sym typeface="Arial"/>
                        </a:rPr>
                        <a:t>)</a:t>
                      </a:r>
                      <a:r>
                        <a:rPr lang="ja-JP" altLang="en-US" sz="1100" b="0" u="none" strike="noStrike" cap="none" dirty="0">
                          <a:latin typeface="Meiryo UI" panose="020B0604030504040204" pitchFamily="50" charset="-128"/>
                          <a:ea typeface="Meiryo UI" panose="020B0604030504040204" pitchFamily="50" charset="-128"/>
                          <a:sym typeface="Arial"/>
                        </a:rPr>
                        <a:t>入居者基本情報</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入居者詳細表示で選択した入居者名、部屋番号、介護度を表示する。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666093"/>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㉓</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表示年月</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絞り込み機能</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上記⑭</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で選択した年月を表示する。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3505958"/>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㉔</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ナースコール数と前月との差分</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kern="1000" baseline="0" dirty="0">
                          <a:latin typeface="Meiryo UI" panose="020B0604030504040204" pitchFamily="50" charset="-128"/>
                          <a:ea typeface="Meiryo UI" panose="020B0604030504040204" pitchFamily="50" charset="-128"/>
                        </a:rPr>
                        <a:t>原因分析ページ絞り込み機能をで選択した年月の</a:t>
                      </a:r>
                      <a:r>
                        <a:rPr kumimoji="1" lang="ja-JP" altLang="en-US" sz="1100" kern="1000" baseline="0" dirty="0">
                          <a:latin typeface="Meiryo UI" panose="020B0604030504040204" pitchFamily="50" charset="-128"/>
                          <a:ea typeface="Meiryo UI" panose="020B0604030504040204" pitchFamily="50" charset="-128"/>
                        </a:rPr>
                        <a:t>ナースコール数と前月との差分を表示する。</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b="0" i="0" u="none" strike="noStrike" kern="1000" cap="none" baseline="0" dirty="0">
                          <a:solidFill>
                            <a:schemeClr val="tx1"/>
                          </a:solidFill>
                          <a:latin typeface="Meiryo UI" panose="020B0604030504040204" pitchFamily="50" charset="-128"/>
                          <a:ea typeface="Meiryo UI" panose="020B0604030504040204" pitchFamily="50" charset="-128"/>
                          <a:cs typeface="Arial"/>
                          <a:sym typeface="Arial"/>
                        </a:rPr>
                        <a:t>差分＝</a:t>
                      </a:r>
                      <a:r>
                        <a:rPr lang="en-US" altLang="ja-JP" sz="1100" b="0" i="0" u="none" strike="noStrike" kern="1000" cap="none" baseline="0" dirty="0">
                          <a:solidFill>
                            <a:schemeClr val="tx1"/>
                          </a:solidFill>
                          <a:latin typeface="Meiryo UI" panose="020B0604030504040204" pitchFamily="50" charset="-128"/>
                          <a:ea typeface="Meiryo UI" panose="020B0604030504040204" pitchFamily="50" charset="-128"/>
                          <a:cs typeface="Arial"/>
                          <a:sym typeface="Arial"/>
                        </a:rPr>
                        <a:t>(</a:t>
                      </a:r>
                      <a:r>
                        <a:rPr lang="ja-JP" altLang="en-US" sz="1100" b="0" i="0" u="none" strike="noStrike" kern="1000" cap="none" baseline="0" dirty="0">
                          <a:solidFill>
                            <a:schemeClr val="tx1"/>
                          </a:solidFill>
                          <a:latin typeface="Meiryo UI" panose="020B0604030504040204" pitchFamily="50" charset="-128"/>
                          <a:ea typeface="Meiryo UI" panose="020B0604030504040204" pitchFamily="50" charset="-128"/>
                          <a:cs typeface="Arial"/>
                          <a:sym typeface="Arial"/>
                        </a:rPr>
                        <a:t>選択した年月ナースコール数</a:t>
                      </a:r>
                      <a:r>
                        <a:rPr lang="en-US" altLang="ja-JP" sz="1100" b="0" i="0" u="none" strike="noStrike" kern="1000" cap="none" baseline="0" dirty="0">
                          <a:solidFill>
                            <a:schemeClr val="tx1"/>
                          </a:solidFill>
                          <a:latin typeface="Meiryo UI" panose="020B0604030504040204" pitchFamily="50" charset="-128"/>
                          <a:ea typeface="Meiryo UI" panose="020B0604030504040204" pitchFamily="50" charset="-128"/>
                          <a:cs typeface="Arial"/>
                          <a:sym typeface="Arial"/>
                        </a:rPr>
                        <a:t>)</a:t>
                      </a:r>
                      <a:r>
                        <a:rPr lang="ja-JP" altLang="en-US" sz="1100" b="0" i="0" u="none" strike="noStrike" kern="1000" cap="none" baseline="0" dirty="0">
                          <a:solidFill>
                            <a:schemeClr val="tx1"/>
                          </a:solidFill>
                          <a:latin typeface="Meiryo UI" panose="020B0604030504040204" pitchFamily="50" charset="-128"/>
                          <a:ea typeface="Meiryo UI" panose="020B0604030504040204" pitchFamily="50" charset="-128"/>
                          <a:cs typeface="Arial"/>
                          <a:sym typeface="Arial"/>
                        </a:rPr>
                        <a:t>ー</a:t>
                      </a:r>
                      <a:r>
                        <a:rPr lang="en-US" altLang="ja-JP" sz="1100" b="0" i="0" u="none" strike="noStrike" kern="1000" cap="none" baseline="0" dirty="0">
                          <a:solidFill>
                            <a:schemeClr val="tx1"/>
                          </a:solidFill>
                          <a:latin typeface="Meiryo UI" panose="020B0604030504040204" pitchFamily="50" charset="-128"/>
                          <a:ea typeface="Meiryo UI" panose="020B0604030504040204" pitchFamily="50" charset="-128"/>
                          <a:cs typeface="Arial"/>
                          <a:sym typeface="Arial"/>
                        </a:rPr>
                        <a:t>(</a:t>
                      </a:r>
                      <a:r>
                        <a:rPr lang="ja-JP" altLang="en-US" sz="1100" b="0" i="0" u="none" strike="noStrike" kern="1000" cap="none" baseline="0" dirty="0">
                          <a:solidFill>
                            <a:schemeClr val="tx1"/>
                          </a:solidFill>
                          <a:latin typeface="Meiryo UI" panose="020B0604030504040204" pitchFamily="50" charset="-128"/>
                          <a:ea typeface="Meiryo UI" panose="020B0604030504040204" pitchFamily="50" charset="-128"/>
                          <a:cs typeface="Arial"/>
                          <a:sym typeface="Arial"/>
                        </a:rPr>
                        <a:t>選択した年月の前月ナースコール数</a:t>
                      </a:r>
                      <a:r>
                        <a:rPr lang="en-US" altLang="ja-JP" sz="1100" b="0" i="0" u="none" strike="noStrike" kern="1000" cap="none" baseline="0" dirty="0">
                          <a:solidFill>
                            <a:schemeClr val="tx1"/>
                          </a:solidFill>
                          <a:latin typeface="Meiryo UI" panose="020B0604030504040204" pitchFamily="50" charset="-128"/>
                          <a:ea typeface="Meiryo UI" panose="020B0604030504040204" pitchFamily="50" charset="-128"/>
                          <a:cs typeface="Arial"/>
                          <a:sym typeface="Arial"/>
                        </a:rPr>
                        <a:t>)</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altLang="ja-JP"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235311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㉕</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ナースコール傾向</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3(300</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回以上、濃赤色</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2(100~299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回、橙色</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1(45~99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回、黄色</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dirty="0">
                          <a:latin typeface="Meiryo UI" panose="020B0604030504040204" pitchFamily="50" charset="-128"/>
                          <a:ea typeface="Meiryo UI" panose="020B0604030504040204" pitchFamily="50" charset="-128"/>
                        </a:rPr>
                        <a:t>レベル</a:t>
                      </a:r>
                      <a:r>
                        <a:rPr lang="en-US" altLang="ja-JP" sz="1100" dirty="0">
                          <a:latin typeface="Meiryo UI" panose="020B0604030504040204" pitchFamily="50" charset="-128"/>
                          <a:ea typeface="Meiryo UI" panose="020B0604030504040204" pitchFamily="50" charset="-128"/>
                        </a:rPr>
                        <a:t>0(45</a:t>
                      </a:r>
                      <a:r>
                        <a:rPr lang="ja-JP" altLang="en-US" sz="1100" dirty="0">
                          <a:latin typeface="Meiryo UI" panose="020B0604030504040204" pitchFamily="50" charset="-128"/>
                          <a:ea typeface="Meiryo UI" panose="020B0604030504040204" pitchFamily="50" charset="-128"/>
                        </a:rPr>
                        <a:t>回未満、灰色</a:t>
                      </a:r>
                      <a:r>
                        <a:rPr lang="en-US" altLang="ja-JP" sz="1100" dirty="0">
                          <a:latin typeface="Meiryo UI" panose="020B0604030504040204" pitchFamily="50" charset="-128"/>
                          <a:ea typeface="Meiryo UI" panose="020B0604030504040204" pitchFamily="50" charset="-128"/>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ごとで文字を色付け表示。</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3=3(300</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以上</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2=3(100-299)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1=1(45-99)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、レベル</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0=0(45</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未満</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と表記する。</a:t>
                      </a:r>
                    </a:p>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ナースコールの回数が時間帯別で有意差</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カイ二乗検定、有意水準：</a:t>
                      </a:r>
                      <a:r>
                        <a:rPr kumimoji="1" lang="en-US" altLang="ja-JP" sz="1100" dirty="0">
                          <a:latin typeface="Meiryo UI" panose="020B0604030504040204" pitchFamily="50" charset="-128"/>
                          <a:ea typeface="Meiryo UI" panose="020B0604030504040204" pitchFamily="50" charset="-128"/>
                        </a:rPr>
                        <a:t>p&lt;0.05)</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がある場合</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時間帯別</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、曜日別で有意差</a:t>
                      </a:r>
                      <a:r>
                        <a:rPr kumimoji="1" lang="en-US" altLang="ja-JP" sz="1100" dirty="0">
                          <a:latin typeface="Meiryo UI" panose="020B0604030504040204" pitchFamily="50" charset="-128"/>
                          <a:ea typeface="Meiryo UI" panose="020B0604030504040204" pitchFamily="50" charset="-128"/>
                        </a:rPr>
                        <a:t>(</a:t>
                      </a:r>
                      <a:r>
                        <a:rPr kumimoji="1" lang="ja-JP" altLang="en-US" sz="1100" dirty="0">
                          <a:latin typeface="Meiryo UI" panose="020B0604030504040204" pitchFamily="50" charset="-128"/>
                          <a:ea typeface="Meiryo UI" panose="020B0604030504040204" pitchFamily="50" charset="-128"/>
                        </a:rPr>
                        <a:t>カイ二乗検定、有意水準：</a:t>
                      </a:r>
                      <a:r>
                        <a:rPr kumimoji="1" lang="en-US" altLang="ja-JP" sz="1100" dirty="0">
                          <a:latin typeface="Meiryo UI" panose="020B0604030504040204" pitchFamily="50" charset="-128"/>
                          <a:ea typeface="Meiryo UI" panose="020B0604030504040204" pitchFamily="50" charset="-128"/>
                        </a:rPr>
                        <a:t>p&lt;0.05)</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がある場合</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曜日別</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と表示。</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上記⑯⑱と同じ。</a:t>
                      </a: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6923962"/>
                  </a:ext>
                </a:extLst>
              </a:tr>
            </a:tbl>
          </a:graphicData>
        </a:graphic>
      </p:graphicFrame>
      <p:sp>
        <p:nvSpPr>
          <p:cNvPr id="4" name="Google Shape;688;p38">
            <a:extLst>
              <a:ext uri="{FF2B5EF4-FFF2-40B4-BE49-F238E27FC236}">
                <a16:creationId xmlns:a16="http://schemas.microsoft.com/office/drawing/2014/main" id="{E5DDCED0-2B58-7478-ADD3-1A7494278D75}"/>
              </a:ext>
            </a:extLst>
          </p:cNvPr>
          <p:cNvSpPr txBox="1"/>
          <p:nvPr/>
        </p:nvSpPr>
        <p:spPr>
          <a:xfrm>
            <a:off x="191344" y="908720"/>
            <a:ext cx="7399365" cy="36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ja-JP" sz="1800" u="none" strike="noStrike" cap="none" dirty="0">
                <a:solidFill>
                  <a:schemeClr val="dk1"/>
                </a:solidFill>
                <a:latin typeface="Meiryo UI" panose="020B0604030504040204" pitchFamily="34" charset="-128"/>
                <a:ea typeface="Meiryo UI" panose="020B0604030504040204" pitchFamily="34" charset="-128"/>
                <a:sym typeface="Arial"/>
              </a:rPr>
              <a:t>画面表示・アクション明細</a:t>
            </a:r>
            <a:endParaRPr sz="1400" u="none" strike="noStrike" cap="none" dirty="0">
              <a:solidFill>
                <a:srgbClr val="000000"/>
              </a:solidFill>
              <a:latin typeface="Meiryo UI" panose="020B0604030504040204" pitchFamily="34" charset="-128"/>
              <a:ea typeface="Meiryo UI" panose="020B0604030504040204" pitchFamily="34" charset="-128"/>
              <a:sym typeface="Arial"/>
            </a:endParaRPr>
          </a:p>
        </p:txBody>
      </p:sp>
      <p:sp>
        <p:nvSpPr>
          <p:cNvPr id="6" name="四角形: 角を丸くする 5">
            <a:extLst>
              <a:ext uri="{FF2B5EF4-FFF2-40B4-BE49-F238E27FC236}">
                <a16:creationId xmlns:a16="http://schemas.microsoft.com/office/drawing/2014/main" id="{117BEF53-D72A-EDDF-C6E8-29989E5C7E0F}"/>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EB4C230C-2EE9-46B9-469B-9B626ECD173F}"/>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97447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7AFF1-EBEB-DE6F-E6E5-A5C1497A72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0988CF-DA5D-F6F6-F59A-9F0587ACE965}"/>
              </a:ext>
            </a:extLst>
          </p:cNvPr>
          <p:cNvSpPr>
            <a:spLocks noGrp="1"/>
          </p:cNvSpPr>
          <p:nvPr>
            <p:ph type="title"/>
          </p:nvPr>
        </p:nvSpPr>
        <p:spPr/>
        <p:txBody>
          <a:bodyPr>
            <a:normAutofit/>
          </a:bodyPr>
          <a:lstStyle/>
          <a:p>
            <a:r>
              <a:rPr kumimoji="1" lang="ja-JP" altLang="en-US" sz="2000" b="0" dirty="0"/>
              <a:t>機能要件　明細</a:t>
            </a:r>
            <a:r>
              <a:rPr lang="ja-JP" altLang="en-US" sz="2000" b="0" dirty="0"/>
              <a:t>④</a:t>
            </a:r>
            <a:endParaRPr kumimoji="1" lang="ja-JP" altLang="en-US" sz="2000" b="0" dirty="0"/>
          </a:p>
        </p:txBody>
      </p:sp>
      <p:graphicFrame>
        <p:nvGraphicFramePr>
          <p:cNvPr id="3" name="Google Shape;689;p38">
            <a:extLst>
              <a:ext uri="{FF2B5EF4-FFF2-40B4-BE49-F238E27FC236}">
                <a16:creationId xmlns:a16="http://schemas.microsoft.com/office/drawing/2014/main" id="{9346DA1D-42BC-5669-8D0A-3B6CF5BE2B79}"/>
              </a:ext>
            </a:extLst>
          </p:cNvPr>
          <p:cNvGraphicFramePr/>
          <p:nvPr>
            <p:extLst>
              <p:ext uri="{D42A27DB-BD31-4B8C-83A1-F6EECF244321}">
                <p14:modId xmlns:p14="http://schemas.microsoft.com/office/powerpoint/2010/main" val="903056062"/>
              </p:ext>
            </p:extLst>
          </p:nvPr>
        </p:nvGraphicFramePr>
        <p:xfrm>
          <a:off x="371375" y="1300482"/>
          <a:ext cx="11449250" cy="5501710"/>
        </p:xfrm>
        <a:graphic>
          <a:graphicData uri="http://schemas.openxmlformats.org/drawingml/2006/table">
            <a:tbl>
              <a:tblPr firstRow="1" bandRow="1">
                <a:tableStyleId>{B301B821-A1FF-4177-AEE7-76D212191A09}</a:tableStyleId>
              </a:tblPr>
              <a:tblGrid>
                <a:gridCol w="823739">
                  <a:extLst>
                    <a:ext uri="{9D8B030D-6E8A-4147-A177-3AD203B41FA5}">
                      <a16:colId xmlns:a16="http://schemas.microsoft.com/office/drawing/2014/main" val="20000"/>
                    </a:ext>
                  </a:extLst>
                </a:gridCol>
                <a:gridCol w="1984561">
                  <a:extLst>
                    <a:ext uri="{9D8B030D-6E8A-4147-A177-3AD203B41FA5}">
                      <a16:colId xmlns:a16="http://schemas.microsoft.com/office/drawing/2014/main" val="20001"/>
                    </a:ext>
                  </a:extLst>
                </a:gridCol>
                <a:gridCol w="6624725">
                  <a:extLst>
                    <a:ext uri="{9D8B030D-6E8A-4147-A177-3AD203B41FA5}">
                      <a16:colId xmlns:a16="http://schemas.microsoft.com/office/drawing/2014/main" val="20002"/>
                    </a:ext>
                  </a:extLst>
                </a:gridCol>
                <a:gridCol w="2016225">
                  <a:extLst>
                    <a:ext uri="{9D8B030D-6E8A-4147-A177-3AD203B41FA5}">
                      <a16:colId xmlns:a16="http://schemas.microsoft.com/office/drawing/2014/main" val="20003"/>
                    </a:ext>
                  </a:extLst>
                </a:gridCol>
              </a:tblGrid>
              <a:tr h="0">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No.</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PBI（表示・アクション）</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AC（詳細）</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100" b="0" u="none" strike="noStrike" cap="none" dirty="0">
                          <a:latin typeface="Meiryo UI" panose="020B0604030504040204" pitchFamily="50" charset="-128"/>
                          <a:ea typeface="Meiryo UI" panose="020B0604030504040204" pitchFamily="50" charset="-128"/>
                          <a:sym typeface="Arial"/>
                        </a:rPr>
                        <a:t>備考</a:t>
                      </a:r>
                      <a:endParaRPr sz="1100" u="none" strike="noStrike" cap="none" dirty="0">
                        <a:latin typeface="Meiryo UI" panose="020B0604030504040204" pitchFamily="50" charset="-128"/>
                        <a:ea typeface="Meiryo UI" panose="020B0604030504040204" pitchFamily="50" charset="-128"/>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㉖</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時間帯別ナースコール数</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時間帯別は</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6</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時間</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(00:00</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5:59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 </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6:00</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11:59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12:00</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17:59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18:00</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23:59)</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ごと、</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24</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時間を</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4</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分割で集計しグラフ表示。</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p>
                      <a:pPr marL="285750" marR="0" lvl="0" indent="-285750" algn="l" rtl="0">
                        <a:lnSpc>
                          <a:spcPct val="100000"/>
                        </a:lnSpc>
                        <a:spcBef>
                          <a:spcPts val="0"/>
                        </a:spcBef>
                        <a:spcAft>
                          <a:spcPts val="0"/>
                        </a:spcAft>
                        <a:buClr>
                          <a:schemeClr val="dk1"/>
                        </a:buClr>
                        <a:buSzPct val="100000"/>
                        <a:buFont typeface="Arial"/>
                        <a:buChar char="•"/>
                      </a:pP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Y</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＝コール数、</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X=</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時間帯でグラフを構成する。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横軸は</a:t>
                      </a:r>
                      <a:r>
                        <a:rPr lang="en-US" altLang="ja-JP"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0</a:t>
                      </a: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時台から昇順に並べる。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7528456"/>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㉗</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曜日別ナースコール数</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選択した年月のナースコール数を曜日別に集計し棒グラフで表示する。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p>
                      <a:pPr marL="285750" marR="0" lvl="0" indent="-285750" algn="l" defTabSz="914400" rtl="0" eaLnBrk="1" fontAlgn="auto" latinLnBrk="0" hangingPunct="1">
                        <a:lnSpc>
                          <a:spcPct val="100000"/>
                        </a:lnSpc>
                        <a:spcBef>
                          <a:spcPts val="0"/>
                        </a:spcBef>
                        <a:spcAft>
                          <a:spcPts val="0"/>
                        </a:spcAft>
                        <a:buClr>
                          <a:schemeClr val="dk1"/>
                        </a:buClr>
                        <a:buSzPct val="100000"/>
                        <a:buFont typeface="Arial"/>
                        <a:buChar char="•"/>
                        <a:tabLst/>
                        <a:defRPr/>
                      </a:pP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Y</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＝コール数、</a:t>
                      </a:r>
                      <a:r>
                        <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X=</a:t>
                      </a: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曜日でグラフを構成する。</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横軸は月火水木金土日に並べる。</a:t>
                      </a: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8586144"/>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㉘</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ケアアラートと詳細数値</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chemeClr val="dk1"/>
                        </a:buClr>
                        <a:buSzPct val="100000"/>
                        <a:buFont typeface="Arial"/>
                        <a:buNone/>
                      </a:pPr>
                      <a:r>
                        <a:rPr lang="ja-JP" altLang="en-US" sz="1100" u="none" strike="noStrike" cap="none" dirty="0">
                          <a:solidFill>
                            <a:schemeClr val="tx1"/>
                          </a:solidFill>
                          <a:latin typeface="Meiryo UI" panose="020B0604030504040204" pitchFamily="50" charset="-128"/>
                          <a:ea typeface="Meiryo UI" panose="020B0604030504040204" pitchFamily="50" charset="-128"/>
                        </a:rPr>
                        <a:t>ケアアラートは下記定義に基づき表示</a:t>
                      </a: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援助過剰：援助予定時間が</a:t>
                      </a:r>
                      <a:r>
                        <a:rPr lang="ja-JP" altLang="en-US" sz="1100" dirty="0">
                          <a:latin typeface="Meiryo UI" panose="020B0604030504040204" pitchFamily="50" charset="-128"/>
                          <a:ea typeface="Meiryo UI" panose="020B0604030504040204" pitchFamily="50" charset="-128"/>
                        </a:rPr>
                        <a:t>一段階重度が高い</a:t>
                      </a:r>
                      <a:r>
                        <a:rPr lang="ja-JP" altLang="en-US" sz="1100" u="none" strike="noStrike" cap="none" dirty="0">
                          <a:solidFill>
                            <a:schemeClr val="tx1"/>
                          </a:solidFill>
                          <a:latin typeface="Meiryo UI" panose="020B0604030504040204" pitchFamily="50" charset="-128"/>
                          <a:ea typeface="Meiryo UI" panose="020B0604030504040204" pitchFamily="50" charset="-128"/>
                        </a:rPr>
                        <a:t>介護度の基準時間超過</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黄緑色で表示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援助過少：援助予定時間が</a:t>
                      </a:r>
                      <a:r>
                        <a:rPr lang="ja-JP" altLang="en-US" sz="1100" dirty="0">
                          <a:latin typeface="Meiryo UI" panose="020B0604030504040204" pitchFamily="50" charset="-128"/>
                          <a:ea typeface="Meiryo UI" panose="020B0604030504040204" pitchFamily="50" charset="-128"/>
                        </a:rPr>
                        <a:t>一段階重度が低い</a:t>
                      </a:r>
                      <a:r>
                        <a:rPr lang="ja-JP" altLang="en-US" sz="1100" u="none" strike="noStrike" cap="none" dirty="0">
                          <a:solidFill>
                            <a:schemeClr val="tx1"/>
                          </a:solidFill>
                          <a:latin typeface="Meiryo UI" panose="020B0604030504040204" pitchFamily="50" charset="-128"/>
                          <a:ea typeface="Meiryo UI" panose="020B0604030504040204" pitchFamily="50" charset="-128"/>
                        </a:rPr>
                        <a:t>介護度の基準時間未満</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黄緑色で表示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未実施：直接援助のうち中止記録が</a:t>
                      </a:r>
                      <a:r>
                        <a:rPr lang="en-US" altLang="ja-JP" sz="1100" u="none" strike="noStrike" cap="none" dirty="0">
                          <a:solidFill>
                            <a:schemeClr val="tx1"/>
                          </a:solidFill>
                          <a:latin typeface="Meiryo UI" panose="020B0604030504040204" pitchFamily="50" charset="-128"/>
                          <a:ea typeface="Meiryo UI" panose="020B0604030504040204" pitchFamily="50" charset="-128"/>
                        </a:rPr>
                        <a:t>10%</a:t>
                      </a:r>
                      <a:r>
                        <a:rPr lang="ja-JP" altLang="en-US" sz="1100" u="none" strike="noStrike" cap="none" dirty="0">
                          <a:solidFill>
                            <a:schemeClr val="tx1"/>
                          </a:solidFill>
                          <a:latin typeface="Meiryo UI" panose="020B0604030504040204" pitchFamily="50" charset="-128"/>
                          <a:ea typeface="Meiryo UI" panose="020B0604030504040204" pitchFamily="50" charset="-128"/>
                        </a:rPr>
                        <a:t>以上</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未タップは含まない</a:t>
                      </a:r>
                      <a:r>
                        <a:rPr lang="en-US" altLang="ja-JP" sz="1100" u="none" strike="noStrike" cap="none" dirty="0">
                          <a:solidFill>
                            <a:schemeClr val="tx1"/>
                          </a:solidFill>
                          <a:latin typeface="Meiryo UI" panose="020B0604030504040204" pitchFamily="50" charset="-128"/>
                          <a:ea typeface="Meiryo UI" panose="020B0604030504040204" pitchFamily="50" charset="-128"/>
                        </a:rPr>
                        <a:t>) (</a:t>
                      </a:r>
                      <a:r>
                        <a:rPr lang="ja-JP" altLang="en-US" sz="1100" u="none" strike="noStrike" cap="none" dirty="0">
                          <a:solidFill>
                            <a:schemeClr val="tx1"/>
                          </a:solidFill>
                          <a:latin typeface="Meiryo UI" panose="020B0604030504040204" pitchFamily="50" charset="-128"/>
                          <a:ea typeface="Meiryo UI" panose="020B0604030504040204" pitchFamily="50" charset="-128"/>
                        </a:rPr>
                        <a:t>水色で表示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多剤</a:t>
                      </a:r>
                      <a:r>
                        <a:rPr lang="en-US" altLang="ja-JP" sz="1100" u="none" strike="noStrike" cap="none" dirty="0">
                          <a:solidFill>
                            <a:schemeClr val="tx1"/>
                          </a:solidFill>
                          <a:latin typeface="Meiryo UI" panose="020B0604030504040204" pitchFamily="50" charset="-128"/>
                          <a:ea typeface="Meiryo UI" panose="020B0604030504040204" pitchFamily="50" charset="-128"/>
                        </a:rPr>
                        <a:t>1</a:t>
                      </a:r>
                      <a:r>
                        <a:rPr lang="ja-JP" altLang="en-US" sz="1100" u="none" strike="noStrike" cap="none" dirty="0">
                          <a:solidFill>
                            <a:schemeClr val="tx1"/>
                          </a:solidFill>
                          <a:latin typeface="Meiryo UI" panose="020B0604030504040204" pitchFamily="50" charset="-128"/>
                          <a:ea typeface="Meiryo UI" panose="020B0604030504040204" pitchFamily="50" charset="-128"/>
                        </a:rPr>
                        <a:t>：処方薬が</a:t>
                      </a:r>
                      <a:r>
                        <a:rPr lang="en-US" altLang="ja-JP" sz="1100" u="none" strike="noStrike" cap="none" dirty="0">
                          <a:solidFill>
                            <a:schemeClr val="tx1"/>
                          </a:solidFill>
                          <a:latin typeface="Meiryo UI" panose="020B0604030504040204" pitchFamily="50" charset="-128"/>
                          <a:ea typeface="Meiryo UI" panose="020B0604030504040204" pitchFamily="50" charset="-128"/>
                        </a:rPr>
                        <a:t>6~9</a:t>
                      </a:r>
                      <a:r>
                        <a:rPr lang="ja-JP" altLang="en-US" sz="1100" u="none" strike="noStrike" cap="none" dirty="0">
                          <a:solidFill>
                            <a:schemeClr val="tx1"/>
                          </a:solidFill>
                          <a:latin typeface="Meiryo UI" panose="020B0604030504040204" pitchFamily="50" charset="-128"/>
                          <a:ea typeface="Meiryo UI" panose="020B0604030504040204" pitchFamily="50" charset="-128"/>
                        </a:rPr>
                        <a:t>種類</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茶色で表示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多剤</a:t>
                      </a:r>
                      <a:r>
                        <a:rPr lang="en-US" altLang="ja-JP" sz="1100" u="none" strike="noStrike" cap="none" dirty="0">
                          <a:solidFill>
                            <a:schemeClr val="tx1"/>
                          </a:solidFill>
                          <a:latin typeface="Meiryo UI" panose="020B0604030504040204" pitchFamily="50" charset="-128"/>
                          <a:ea typeface="Meiryo UI" panose="020B0604030504040204" pitchFamily="50" charset="-128"/>
                        </a:rPr>
                        <a:t>2</a:t>
                      </a:r>
                      <a:r>
                        <a:rPr lang="ja-JP" altLang="en-US" sz="1100" u="none" strike="noStrike" cap="none" dirty="0">
                          <a:solidFill>
                            <a:schemeClr val="tx1"/>
                          </a:solidFill>
                          <a:latin typeface="Meiryo UI" panose="020B0604030504040204" pitchFamily="50" charset="-128"/>
                          <a:ea typeface="Meiryo UI" panose="020B0604030504040204" pitchFamily="50" charset="-128"/>
                        </a:rPr>
                        <a:t>：処方薬が</a:t>
                      </a:r>
                      <a:r>
                        <a:rPr lang="en-US" altLang="ja-JP" sz="1100" u="none" strike="noStrike" cap="none" dirty="0">
                          <a:solidFill>
                            <a:schemeClr val="tx1"/>
                          </a:solidFill>
                          <a:latin typeface="Meiryo UI" panose="020B0604030504040204" pitchFamily="50" charset="-128"/>
                          <a:ea typeface="Meiryo UI" panose="020B0604030504040204" pitchFamily="50" charset="-128"/>
                        </a:rPr>
                        <a:t>10</a:t>
                      </a:r>
                      <a:r>
                        <a:rPr lang="ja-JP" altLang="en-US" sz="1100" u="none" strike="noStrike" cap="none" dirty="0">
                          <a:solidFill>
                            <a:schemeClr val="tx1"/>
                          </a:solidFill>
                          <a:latin typeface="Meiryo UI" panose="020B0604030504040204" pitchFamily="50" charset="-128"/>
                          <a:ea typeface="Meiryo UI" panose="020B0604030504040204" pitchFamily="50" charset="-128"/>
                        </a:rPr>
                        <a:t>種類以上</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濃茶色で表示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体重減：平均体重が前月から</a:t>
                      </a:r>
                      <a:r>
                        <a:rPr lang="en-US" altLang="ja-JP" sz="1100" u="none" strike="noStrike" cap="none" dirty="0">
                          <a:solidFill>
                            <a:schemeClr val="tx1"/>
                          </a:solidFill>
                          <a:latin typeface="Meiryo UI" panose="020B0604030504040204" pitchFamily="50" charset="-128"/>
                          <a:ea typeface="Meiryo UI" panose="020B0604030504040204" pitchFamily="50" charset="-128"/>
                        </a:rPr>
                        <a:t>3%</a:t>
                      </a:r>
                      <a:r>
                        <a:rPr lang="ja-JP" altLang="en-US" sz="1100" u="none" strike="noStrike" cap="none" dirty="0">
                          <a:solidFill>
                            <a:schemeClr val="tx1"/>
                          </a:solidFill>
                          <a:latin typeface="Meiryo UI" panose="020B0604030504040204" pitchFamily="50" charset="-128"/>
                          <a:ea typeface="Meiryo UI" panose="020B0604030504040204" pitchFamily="50" charset="-128"/>
                        </a:rPr>
                        <a:t>以上減少</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紫色で表示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食事量：平均摂取量 </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主食副食合計</a:t>
                      </a:r>
                      <a:r>
                        <a:rPr lang="en-US" altLang="ja-JP" sz="1100" u="none" strike="noStrike" cap="none" dirty="0">
                          <a:solidFill>
                            <a:schemeClr val="tx1"/>
                          </a:solidFill>
                          <a:latin typeface="Meiryo UI" panose="020B0604030504040204" pitchFamily="50" charset="-128"/>
                          <a:ea typeface="Meiryo UI" panose="020B0604030504040204" pitchFamily="50" charset="-128"/>
                        </a:rPr>
                        <a:t>) </a:t>
                      </a:r>
                      <a:r>
                        <a:rPr lang="ja-JP" altLang="en-US" sz="1100" u="none" strike="noStrike" cap="none" dirty="0">
                          <a:solidFill>
                            <a:schemeClr val="tx1"/>
                          </a:solidFill>
                          <a:latin typeface="Meiryo UI" panose="020B0604030504040204" pitchFamily="50" charset="-128"/>
                          <a:ea typeface="Meiryo UI" panose="020B0604030504040204" pitchFamily="50" charset="-128"/>
                        </a:rPr>
                        <a:t>が</a:t>
                      </a:r>
                      <a:r>
                        <a:rPr lang="en-US" altLang="ja-JP" sz="1100" u="none" strike="noStrike" cap="none" dirty="0">
                          <a:solidFill>
                            <a:schemeClr val="tx1"/>
                          </a:solidFill>
                          <a:latin typeface="Meiryo UI" panose="020B0604030504040204" pitchFamily="50" charset="-128"/>
                          <a:ea typeface="Meiryo UI" panose="020B0604030504040204" pitchFamily="50" charset="-128"/>
                        </a:rPr>
                        <a:t>75%</a:t>
                      </a:r>
                      <a:r>
                        <a:rPr lang="ja-JP" altLang="en-US" sz="1100" u="none" strike="noStrike" cap="none" dirty="0">
                          <a:solidFill>
                            <a:schemeClr val="tx1"/>
                          </a:solidFill>
                          <a:latin typeface="Meiryo UI" panose="020B0604030504040204" pitchFamily="50" charset="-128"/>
                          <a:ea typeface="Meiryo UI" panose="020B0604030504040204" pitchFamily="50" charset="-128"/>
                        </a:rPr>
                        <a:t>未満</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緑色で表示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endParaRPr lang="ja-JP" altLang="en-US"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夜間不眠：夜間の平均睡眠時間が</a:t>
                      </a:r>
                      <a:r>
                        <a:rPr lang="en-US" altLang="ja-JP" sz="1100" u="none" strike="noStrike" cap="none" dirty="0">
                          <a:solidFill>
                            <a:schemeClr val="tx1"/>
                          </a:solidFill>
                          <a:latin typeface="Meiryo UI" panose="020B0604030504040204" pitchFamily="50" charset="-128"/>
                          <a:ea typeface="Meiryo UI" panose="020B0604030504040204" pitchFamily="50" charset="-128"/>
                        </a:rPr>
                        <a:t>5</a:t>
                      </a:r>
                      <a:r>
                        <a:rPr lang="ja-JP" altLang="en-US" sz="1100" u="none" strike="noStrike" cap="none" dirty="0">
                          <a:solidFill>
                            <a:schemeClr val="tx1"/>
                          </a:solidFill>
                          <a:latin typeface="Meiryo UI" panose="020B0604030504040204" pitchFamily="50" charset="-128"/>
                          <a:ea typeface="Meiryo UI" panose="020B0604030504040204" pitchFamily="50" charset="-128"/>
                        </a:rPr>
                        <a:t>時間未満</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青色で表示</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p>
                    <a:p>
                      <a:pPr marL="0" marR="0" lvl="0" indent="0" algn="l" rtl="0">
                        <a:lnSpc>
                          <a:spcPct val="100000"/>
                        </a:lnSpc>
                        <a:spcBef>
                          <a:spcPts val="0"/>
                        </a:spcBef>
                        <a:spcAft>
                          <a:spcPts val="0"/>
                        </a:spcAft>
                        <a:buClr>
                          <a:schemeClr val="dk1"/>
                        </a:buClr>
                        <a:buSzPct val="100000"/>
                        <a:buFont typeface="Arial"/>
                        <a:buNone/>
                      </a:pPr>
                      <a:r>
                        <a:rPr lang="ja-JP" altLang="en-US" sz="1100" u="none" strike="noStrike" cap="none" dirty="0">
                          <a:solidFill>
                            <a:schemeClr val="tx1"/>
                          </a:solidFill>
                          <a:latin typeface="Meiryo UI" panose="020B0604030504040204" pitchFamily="50" charset="-128"/>
                          <a:ea typeface="Meiryo UI" panose="020B0604030504040204" pitchFamily="50" charset="-128"/>
                        </a:rPr>
                        <a:t>数値は下記定義に基づき表示</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lang="en-US" altLang="ja-JP" sz="1100" u="none" strike="noStrike" cap="none" dirty="0" err="1">
                          <a:solidFill>
                            <a:schemeClr val="tx1"/>
                          </a:solidFill>
                          <a:latin typeface="Meiryo UI" panose="020B0604030504040204" pitchFamily="50" charset="-128"/>
                          <a:ea typeface="Meiryo UI" panose="020B0604030504040204" pitchFamily="50" charset="-128"/>
                        </a:rPr>
                        <a:t>Axsit</a:t>
                      </a:r>
                      <a:r>
                        <a:rPr lang="ja-JP" altLang="en-US" sz="1100" u="none" strike="noStrike" cap="none" dirty="0">
                          <a:solidFill>
                            <a:schemeClr val="tx1"/>
                          </a:solidFill>
                          <a:latin typeface="Meiryo UI" panose="020B0604030504040204" pitchFamily="50" charset="-128"/>
                          <a:ea typeface="Meiryo UI" panose="020B0604030504040204" pitchFamily="50" charset="-128"/>
                        </a:rPr>
                        <a:t>基準時間比：要介護度別基準時間に対する援助予定時間の割合</a:t>
                      </a:r>
                      <a:endParaRPr lang="en-US" altLang="ja-JP" sz="1100" u="none" strike="noStrike" cap="none" dirty="0">
                        <a:solidFill>
                          <a:schemeClr val="tx1"/>
                        </a:solidFill>
                        <a:latin typeface="Meiryo UI" panose="020B0604030504040204" pitchFamily="50" charset="-128"/>
                        <a:ea typeface="Meiryo UI" panose="020B0604030504040204" pitchFamily="50" charset="-128"/>
                      </a:endParaRPr>
                    </a:p>
                    <a:p>
                      <a:pPr marL="285750" marR="0" lvl="0" indent="-285750" algn="l" rtl="0">
                        <a:lnSpc>
                          <a:spcPct val="100000"/>
                        </a:lnSpc>
                        <a:spcBef>
                          <a:spcPts val="0"/>
                        </a:spcBef>
                        <a:spcAft>
                          <a:spcPts val="0"/>
                        </a:spcAft>
                        <a:buClr>
                          <a:schemeClr val="dk1"/>
                        </a:buClr>
                        <a:buSzPct val="100000"/>
                        <a:buFont typeface="Arial"/>
                        <a:buChar char="•"/>
                      </a:pPr>
                      <a:r>
                        <a:rPr kumimoji="1" lang="ja-JP" altLang="en-US" sz="1100" dirty="0">
                          <a:solidFill>
                            <a:schemeClr val="tx1"/>
                          </a:solidFill>
                          <a:latin typeface="Meiryo UI" panose="020B0604030504040204" pitchFamily="50" charset="-128"/>
                          <a:ea typeface="Meiryo UI" panose="020B0604030504040204" pitchFamily="50" charset="-128"/>
                        </a:rPr>
                        <a:t>援助未実施率：直接援助のうち中止記録の割合</a:t>
                      </a:r>
                      <a:r>
                        <a:rPr kumimoji="1" lang="en-US" altLang="ja-JP" sz="1100" dirty="0">
                          <a:solidFill>
                            <a:schemeClr val="tx1"/>
                          </a:solidFill>
                          <a:latin typeface="Meiryo UI" panose="020B0604030504040204" pitchFamily="50" charset="-128"/>
                          <a:ea typeface="Meiryo UI" panose="020B0604030504040204" pitchFamily="50" charset="-128"/>
                        </a:rPr>
                        <a:t>(</a:t>
                      </a:r>
                      <a:r>
                        <a:rPr kumimoji="1" lang="ja-JP" altLang="en-US" sz="1100" dirty="0">
                          <a:solidFill>
                            <a:schemeClr val="tx1"/>
                          </a:solidFill>
                          <a:latin typeface="Meiryo UI" panose="020B0604030504040204" pitchFamily="50" charset="-128"/>
                          <a:ea typeface="Meiryo UI" panose="020B0604030504040204" pitchFamily="50" charset="-128"/>
                        </a:rPr>
                        <a:t>未タップは含まない</a:t>
                      </a:r>
                      <a:r>
                        <a:rPr kumimoji="1" lang="en-US" altLang="ja-JP" sz="1100" dirty="0">
                          <a:solidFill>
                            <a:schemeClr val="tx1"/>
                          </a:solidFill>
                          <a:latin typeface="Meiryo UI" panose="020B0604030504040204" pitchFamily="50" charset="-128"/>
                          <a:ea typeface="Meiryo UI" panose="020B0604030504040204" pitchFamily="50" charset="-128"/>
                        </a:rPr>
                        <a:t>)</a:t>
                      </a: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処方薬剤：処方薬剤種数</a:t>
                      </a: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体重変化率</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前月比</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：平均体重の前月からの変化の割合</a:t>
                      </a: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食事量：平均摂取量</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主食副食合計</a:t>
                      </a:r>
                      <a:r>
                        <a:rPr lang="en-US" altLang="ja-JP" sz="1100" u="none" strike="noStrike" cap="none" dirty="0">
                          <a:solidFill>
                            <a:schemeClr val="tx1"/>
                          </a:solidFill>
                          <a:latin typeface="Meiryo UI" panose="020B0604030504040204" pitchFamily="50" charset="-128"/>
                          <a:ea typeface="Meiryo UI" panose="020B0604030504040204" pitchFamily="50" charset="-128"/>
                        </a:rPr>
                        <a:t>)</a:t>
                      </a:r>
                      <a:r>
                        <a:rPr lang="ja-JP" altLang="en-US" sz="1100" u="none" strike="noStrike" cap="none" dirty="0">
                          <a:solidFill>
                            <a:schemeClr val="tx1"/>
                          </a:solidFill>
                          <a:latin typeface="Meiryo UI" panose="020B0604030504040204" pitchFamily="50" charset="-128"/>
                          <a:ea typeface="Meiryo UI" panose="020B0604030504040204" pitchFamily="50" charset="-128"/>
                        </a:rPr>
                        <a:t>の割合</a:t>
                      </a:r>
                    </a:p>
                    <a:p>
                      <a:pPr marL="285750" marR="0" lvl="0" indent="-285750" algn="l" rtl="0">
                        <a:lnSpc>
                          <a:spcPct val="100000"/>
                        </a:lnSpc>
                        <a:spcBef>
                          <a:spcPts val="0"/>
                        </a:spcBef>
                        <a:spcAft>
                          <a:spcPts val="0"/>
                        </a:spcAft>
                        <a:buClr>
                          <a:schemeClr val="dk1"/>
                        </a:buClr>
                        <a:buSzPct val="100000"/>
                        <a:buFont typeface="Arial"/>
                        <a:buChar char="•"/>
                      </a:pPr>
                      <a:r>
                        <a:rPr lang="ja-JP" altLang="en-US" sz="1100" u="none" strike="noStrike" cap="none" dirty="0">
                          <a:solidFill>
                            <a:schemeClr val="tx1"/>
                          </a:solidFill>
                          <a:latin typeface="Meiryo UI" panose="020B0604030504040204" pitchFamily="50" charset="-128"/>
                          <a:ea typeface="Meiryo UI" panose="020B0604030504040204" pitchFamily="50" charset="-128"/>
                        </a:rPr>
                        <a:t>睡眠時間：夜間の平均睡眠時間</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ケアアラートは上記⑲と同じ。</a:t>
                      </a:r>
                      <a:endParaRPr lang="en-US" altLang="ja-JP"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rPr>
                        <a:t>詳細数値は下記㉛と同じ。</a:t>
                      </a: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143451"/>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㉙</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原因分析ホーム別ページのナースコール傾向定義</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上記⑱㉕ナースコール傾向の表示定義を記載する。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3505958"/>
                  </a:ext>
                </a:extLst>
              </a:tr>
              <a:tr h="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㉚</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原因分析ホーム別ページのケアアラート定義</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上記⑲㉘ケアアラートの表示定義を記載する。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SzPts val="1400"/>
                        <a:buFont typeface="Arial"/>
                        <a:buNone/>
                      </a:pPr>
                      <a:endParaRPr lang="en-US" altLang="ja-JP"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235311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ja-JP" altLang="en-US" sz="1100" b="0" i="0" u="none" strike="noStrike" cap="none" dirty="0">
                          <a:latin typeface="Meiryo UI" panose="020B0604030504040204" pitchFamily="50" charset="-128"/>
                          <a:ea typeface="Meiryo UI" panose="020B0604030504040204" pitchFamily="50" charset="-128"/>
                          <a:cs typeface="Arial"/>
                          <a:sym typeface="Arial"/>
                        </a:rPr>
                        <a:t>㉛</a:t>
                      </a:r>
                      <a:endParaRPr sz="1100" b="0" i="0" u="none" strike="noStrike" cap="none" dirty="0">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solidFill>
                        <a:srgbClr val="C0000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表示</a:t>
                      </a:r>
                      <a:r>
                        <a:rPr lang="en-US" altLang="ja-JP" sz="1100" u="none" strike="noStrike" cap="none" dirty="0">
                          <a:latin typeface="Meiryo UI" panose="020B0604030504040204" pitchFamily="50" charset="-128"/>
                          <a:ea typeface="Meiryo UI" panose="020B0604030504040204" pitchFamily="50" charset="-128"/>
                        </a:rPr>
                        <a:t>)</a:t>
                      </a:r>
                      <a:r>
                        <a:rPr lang="ja-JP" altLang="en-US" sz="1100" u="none" strike="noStrike" cap="none" dirty="0">
                          <a:latin typeface="Meiryo UI" panose="020B0604030504040204" pitchFamily="50" charset="-128"/>
                          <a:ea typeface="Meiryo UI" panose="020B0604030504040204" pitchFamily="50" charset="-128"/>
                        </a:rPr>
                        <a:t>原因分析入居者別ページ定義</a:t>
                      </a: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lvl="0" indent="-285750" algn="l" rtl="0">
                        <a:lnSpc>
                          <a:spcPct val="100000"/>
                        </a:lnSpc>
                        <a:spcBef>
                          <a:spcPts val="0"/>
                        </a:spcBef>
                        <a:spcAft>
                          <a:spcPts val="0"/>
                        </a:spcAft>
                        <a:buClr>
                          <a:schemeClr val="dk1"/>
                        </a:buClr>
                        <a:buSzPct val="100000"/>
                        <a:buFont typeface="Arial"/>
                        <a:buChar char="•"/>
                      </a:pPr>
                      <a:r>
                        <a:rPr lang="ja-JP" altLang="en-US"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rPr>
                        <a:t>上記㉘詳細数値の表示定義を記載する。</a:t>
                      </a:r>
                      <a:endParaRPr lang="en-US" altLang="ja-JP" sz="1100" b="0" i="0" u="none" strike="noStrike" cap="none" dirty="0">
                        <a:solidFill>
                          <a:schemeClr val="tx1"/>
                        </a:solidFill>
                        <a:effectLst/>
                        <a:latin typeface="Meiryo UI" panose="020B0604030504040204" pitchFamily="50" charset="-128"/>
                        <a:ea typeface="Meiryo UI" panose="020B0604030504040204" pitchFamily="50" charset="-128"/>
                        <a:cs typeface="Tw Cen MT"/>
                        <a:sym typeface="Arial"/>
                      </a:endParaRPr>
                    </a:p>
                  </a:txBody>
                  <a:tcPr marL="91450" marR="91450" marT="45725" marB="457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ja-JP" altLang="en-US" sz="1100" b="0" i="0" u="none" strike="noStrike" cap="none" dirty="0">
                        <a:solidFill>
                          <a:schemeClr val="tx1"/>
                        </a:solidFill>
                        <a:latin typeface="Meiryo UI" panose="020B0604030504040204" pitchFamily="50" charset="-128"/>
                        <a:ea typeface="Meiryo UI" panose="020B0604030504040204" pitchFamily="50" charset="-128"/>
                        <a:cs typeface="Arial"/>
                        <a:sym typeface="Arial"/>
                      </a:endParaRPr>
                    </a:p>
                  </a:txBody>
                  <a:tcPr marL="91450" marR="91450" marT="45725" marB="45725">
                    <a:lnL w="12700" cap="flat" cmpd="sng" algn="ctr">
                      <a:no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6923962"/>
                  </a:ext>
                </a:extLst>
              </a:tr>
            </a:tbl>
          </a:graphicData>
        </a:graphic>
      </p:graphicFrame>
      <p:sp>
        <p:nvSpPr>
          <p:cNvPr id="4" name="Google Shape;688;p38">
            <a:extLst>
              <a:ext uri="{FF2B5EF4-FFF2-40B4-BE49-F238E27FC236}">
                <a16:creationId xmlns:a16="http://schemas.microsoft.com/office/drawing/2014/main" id="{BDF35075-E479-1670-BBF1-9FDB02FEFCB9}"/>
              </a:ext>
            </a:extLst>
          </p:cNvPr>
          <p:cNvSpPr txBox="1"/>
          <p:nvPr/>
        </p:nvSpPr>
        <p:spPr>
          <a:xfrm>
            <a:off x="191344" y="908720"/>
            <a:ext cx="7399365" cy="36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ja-JP" sz="1800" u="none" strike="noStrike" cap="none" dirty="0">
                <a:solidFill>
                  <a:schemeClr val="dk1"/>
                </a:solidFill>
                <a:latin typeface="Meiryo UI" panose="020B0604030504040204" pitchFamily="34" charset="-128"/>
                <a:ea typeface="Meiryo UI" panose="020B0604030504040204" pitchFamily="34" charset="-128"/>
                <a:sym typeface="Arial"/>
              </a:rPr>
              <a:t>画面表示・アクション明細</a:t>
            </a:r>
            <a:endParaRPr sz="1400" u="none" strike="noStrike" cap="none" dirty="0">
              <a:solidFill>
                <a:srgbClr val="000000"/>
              </a:solidFill>
              <a:latin typeface="Meiryo UI" panose="020B0604030504040204" pitchFamily="34" charset="-128"/>
              <a:ea typeface="Meiryo UI" panose="020B0604030504040204" pitchFamily="34" charset="-128"/>
              <a:sym typeface="Arial"/>
            </a:endParaRPr>
          </a:p>
        </p:txBody>
      </p:sp>
      <p:sp>
        <p:nvSpPr>
          <p:cNvPr id="6" name="四角形: 角を丸くする 5">
            <a:extLst>
              <a:ext uri="{FF2B5EF4-FFF2-40B4-BE49-F238E27FC236}">
                <a16:creationId xmlns:a16="http://schemas.microsoft.com/office/drawing/2014/main" id="{38CBAA26-9DA6-CC89-A61B-760705729C89}"/>
              </a:ext>
            </a:extLst>
          </p:cNvPr>
          <p:cNvSpPr/>
          <p:nvPr/>
        </p:nvSpPr>
        <p:spPr>
          <a:xfrm>
            <a:off x="8280912" y="287867"/>
            <a:ext cx="1430866" cy="3833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rgbClr val="FF0000"/>
                </a:solidFill>
                <a:latin typeface="Meiryo UI" panose="020B0604030504040204" pitchFamily="50" charset="-128"/>
                <a:ea typeface="Meiryo UI" panose="020B0604030504040204" pitchFamily="50" charset="-128"/>
              </a:rPr>
              <a:t>after</a:t>
            </a:r>
            <a:endParaRPr kumimoji="1" lang="ja-JP" altLang="en-US" dirty="0">
              <a:solidFill>
                <a:srgbClr val="FF0000"/>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D4D4CF30-D70B-1C7C-8CFA-EA57FDC4BB9B}"/>
              </a:ext>
            </a:extLst>
          </p:cNvPr>
          <p:cNvSpPr txBox="1"/>
          <p:nvPr/>
        </p:nvSpPr>
        <p:spPr bwMode="auto">
          <a:xfrm>
            <a:off x="9711778" y="263454"/>
            <a:ext cx="1222922" cy="430887"/>
          </a:xfrm>
          <a:prstGeom prst="rect">
            <a:avLst/>
          </a:prstGeom>
          <a:noFill/>
          <a:ln w="25400">
            <a:noFill/>
            <a:miter lim="800000"/>
            <a:headEnd/>
            <a:tailEnd/>
          </a:ln>
        </p:spPr>
        <p:txBody>
          <a:bodyPr wrap="square" lIns="180000" rIns="180000" rtlCol="0" anchor="ctr">
            <a:spAutoFit/>
          </a:bodyPr>
          <a:lstStyle/>
          <a:p>
            <a:pPr algn="l">
              <a:spcBef>
                <a:spcPts val="600"/>
              </a:spcBef>
            </a:pPr>
            <a:r>
              <a:rPr lang="en-US" altLang="ja-JP" sz="1100" b="1" dirty="0">
                <a:latin typeface="Meiryo UI" panose="020B0604030504040204" pitchFamily="50" charset="-128"/>
                <a:ea typeface="Meiryo UI" panose="020B0604030504040204" pitchFamily="50" charset="-128"/>
              </a:rPr>
              <a:t>2024</a:t>
            </a:r>
            <a:r>
              <a:rPr lang="ja-JP" altLang="en-US" sz="1100" b="1" dirty="0">
                <a:latin typeface="Meiryo UI" panose="020B0604030504040204" pitchFamily="50" charset="-128"/>
                <a:ea typeface="Meiryo UI" panose="020B0604030504040204" pitchFamily="50" charset="-128"/>
              </a:rPr>
              <a:t>年</a:t>
            </a:r>
            <a:r>
              <a:rPr lang="en-US" altLang="ja-JP" sz="1100" b="1" dirty="0">
                <a:latin typeface="Meiryo UI" panose="020B0604030504040204" pitchFamily="50" charset="-128"/>
                <a:ea typeface="Meiryo UI" panose="020B0604030504040204" pitchFamily="50" charset="-128"/>
              </a:rPr>
              <a:t>2</a:t>
            </a:r>
            <a:r>
              <a:rPr lang="ja-JP" altLang="en-US" sz="1100" b="1" dirty="0">
                <a:latin typeface="Meiryo UI" panose="020B0604030504040204" pitchFamily="50" charset="-128"/>
                <a:ea typeface="Meiryo UI" panose="020B0604030504040204" pitchFamily="50" charset="-128"/>
              </a:rPr>
              <a:t>月要件定義</a:t>
            </a:r>
            <a:endParaRPr kumimoji="1" lang="ja-JP" altLang="en-US" sz="1100" b="1"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84065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DDA52D8-9F26-FBDA-FA56-542D7F79F32F}"/>
              </a:ext>
            </a:extLst>
          </p:cNvPr>
          <p:cNvSpPr>
            <a:spLocks noGrp="1"/>
          </p:cNvSpPr>
          <p:nvPr>
            <p:ph type="title"/>
          </p:nvPr>
        </p:nvSpPr>
        <p:spPr/>
        <p:txBody>
          <a:bodyPr>
            <a:normAutofit/>
          </a:bodyPr>
          <a:lstStyle/>
          <a:p>
            <a:pPr rtl="0" eaLnBrk="1" latinLnBrk="0" hangingPunct="1"/>
            <a:r>
              <a:rPr lang="ja-JP" altLang="en-US" sz="2000" b="0" dirty="0">
                <a:effectLst/>
              </a:rPr>
              <a:t>補足：</a:t>
            </a:r>
            <a:r>
              <a:rPr lang="ja-JP" altLang="en-US" sz="2000" b="0" dirty="0"/>
              <a:t>次回アップデートで再度検討したい内容</a:t>
            </a:r>
            <a:endParaRPr lang="ja-JP" altLang="ja-JP" sz="2000" b="0" dirty="0">
              <a:effectLst/>
            </a:endParaRPr>
          </a:p>
        </p:txBody>
      </p:sp>
      <p:graphicFrame>
        <p:nvGraphicFramePr>
          <p:cNvPr id="2" name="表 1">
            <a:extLst>
              <a:ext uri="{FF2B5EF4-FFF2-40B4-BE49-F238E27FC236}">
                <a16:creationId xmlns:a16="http://schemas.microsoft.com/office/drawing/2014/main" id="{832B718D-00C4-0F34-2CBB-C3FECA4FCDA8}"/>
              </a:ext>
            </a:extLst>
          </p:cNvPr>
          <p:cNvGraphicFramePr>
            <a:graphicFrameLocks noGrp="1"/>
          </p:cNvGraphicFramePr>
          <p:nvPr>
            <p:extLst>
              <p:ext uri="{D42A27DB-BD31-4B8C-83A1-F6EECF244321}">
                <p14:modId xmlns:p14="http://schemas.microsoft.com/office/powerpoint/2010/main" val="121978396"/>
              </p:ext>
            </p:extLst>
          </p:nvPr>
        </p:nvGraphicFramePr>
        <p:xfrm>
          <a:off x="259702" y="1147347"/>
          <a:ext cx="11348098" cy="3840480"/>
        </p:xfrm>
        <a:graphic>
          <a:graphicData uri="http://schemas.openxmlformats.org/drawingml/2006/table">
            <a:tbl>
              <a:tblPr firstRow="1" bandRow="1">
                <a:tableStyleId>{5C22544A-7EE6-4342-B048-85BDC9FD1C3A}</a:tableStyleId>
              </a:tblPr>
              <a:tblGrid>
                <a:gridCol w="459965">
                  <a:extLst>
                    <a:ext uri="{9D8B030D-6E8A-4147-A177-3AD203B41FA5}">
                      <a16:colId xmlns:a16="http://schemas.microsoft.com/office/drawing/2014/main" val="1002995478"/>
                    </a:ext>
                  </a:extLst>
                </a:gridCol>
                <a:gridCol w="2743200">
                  <a:extLst>
                    <a:ext uri="{9D8B030D-6E8A-4147-A177-3AD203B41FA5}">
                      <a16:colId xmlns:a16="http://schemas.microsoft.com/office/drawing/2014/main" val="2927516138"/>
                    </a:ext>
                  </a:extLst>
                </a:gridCol>
                <a:gridCol w="8144933">
                  <a:extLst>
                    <a:ext uri="{9D8B030D-6E8A-4147-A177-3AD203B41FA5}">
                      <a16:colId xmlns:a16="http://schemas.microsoft.com/office/drawing/2014/main" val="3225323661"/>
                    </a:ext>
                  </a:extLst>
                </a:gridCol>
              </a:tblGrid>
              <a:tr h="245426">
                <a:tc>
                  <a:txBody>
                    <a:bodyPr/>
                    <a:lstStyle/>
                    <a:p>
                      <a:r>
                        <a:rPr kumimoji="1" lang="en-US" altLang="ja-JP" sz="1200" dirty="0">
                          <a:solidFill>
                            <a:schemeClr val="bg1"/>
                          </a:solidFill>
                          <a:latin typeface="Meiryo UI" panose="020B0604030504040204" pitchFamily="50" charset="-128"/>
                          <a:ea typeface="Meiryo UI" panose="020B0604030504040204" pitchFamily="50" charset="-128"/>
                        </a:rPr>
                        <a:t>No.</a:t>
                      </a:r>
                      <a:endParaRPr kumimoji="1" lang="ja-JP" altLang="en-US" sz="1200" dirty="0">
                        <a:solidFill>
                          <a:schemeClr val="bg1"/>
                        </a:solidFill>
                        <a:latin typeface="Meiryo UI" panose="020B0604030504040204" pitchFamily="50" charset="-128"/>
                        <a:ea typeface="Meiryo UI" panose="020B0604030504040204" pitchFamily="50" charset="-128"/>
                      </a:endParaRPr>
                    </a:p>
                  </a:txBody>
                  <a:tcPr/>
                </a:tc>
                <a:tc>
                  <a:txBody>
                    <a:bodyPr/>
                    <a:lstStyle/>
                    <a:p>
                      <a:r>
                        <a:rPr kumimoji="1" lang="ja-JP" altLang="en-US" sz="1200" dirty="0">
                          <a:solidFill>
                            <a:schemeClr val="bg1"/>
                          </a:solidFill>
                          <a:latin typeface="Meiryo UI" panose="020B0604030504040204" pitchFamily="50" charset="-128"/>
                          <a:ea typeface="Meiryo UI" panose="020B0604030504040204" pitchFamily="50" charset="-128"/>
                        </a:rPr>
                        <a:t>要望</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bg1"/>
                          </a:solidFill>
                          <a:latin typeface="Meiryo UI" panose="020B0604030504040204" pitchFamily="50" charset="-128"/>
                          <a:ea typeface="Meiryo UI" panose="020B0604030504040204" pitchFamily="50" charset="-128"/>
                        </a:rPr>
                        <a:t>理由</a:t>
                      </a:r>
                    </a:p>
                  </a:txBody>
                  <a:tcPr/>
                </a:tc>
                <a:extLst>
                  <a:ext uri="{0D108BD9-81ED-4DB2-BD59-A6C34878D82A}">
                    <a16:rowId xmlns:a16="http://schemas.microsoft.com/office/drawing/2014/main" val="1971867403"/>
                  </a:ext>
                </a:extLst>
              </a:tr>
              <a:tr h="589022">
                <a:tc>
                  <a:txBody>
                    <a:bodyPr/>
                    <a:lstStyle/>
                    <a:p>
                      <a:r>
                        <a:rPr kumimoji="1" lang="en-US" altLang="ja-JP" sz="1200" dirty="0">
                          <a:solidFill>
                            <a:schemeClr val="tx1"/>
                          </a:solidFill>
                          <a:latin typeface="Meiryo UI" panose="020B0604030504040204" pitchFamily="50" charset="-128"/>
                          <a:ea typeface="Meiryo UI" panose="020B0604030504040204" pitchFamily="50" charset="-128"/>
                        </a:rPr>
                        <a:t>1</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虐待予防、対応困難早期発見の一助となるようにしたい。</a:t>
                      </a: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現時点では機能を検討する材料が不十分な状態である。モジュールに持たせる効果を慎重に考えるべきと判断した。</a:t>
                      </a:r>
                      <a:endParaRPr kumimoji="1" lang="en-US" altLang="ja-JP" sz="1200" dirty="0">
                        <a:solidFill>
                          <a:schemeClr val="tx1"/>
                        </a:solidFill>
                        <a:latin typeface="Meiryo UI" panose="020B0604030504040204" pitchFamily="50" charset="-128"/>
                        <a:ea typeface="Meiryo UI" panose="020B0604030504040204" pitchFamily="50" charset="-128"/>
                      </a:endParaRPr>
                    </a:p>
                    <a:p>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ナースコールが多い入居者の記録から対応職員や記録コメントなどを閲覧できる機能案を考えることができるがケア記録データ処理のための追加開発に工数がかかる。</a:t>
                      </a:r>
                      <a:r>
                        <a:rPr kumimoji="1" lang="en-US" altLang="ja-JP" sz="1200" dirty="0">
                          <a:solidFill>
                            <a:schemeClr val="tx1"/>
                          </a:solidFill>
                          <a:latin typeface="Meiryo UI" panose="020B0604030504040204" pitchFamily="50" charset="-128"/>
                          <a:ea typeface="Meiryo UI" panose="020B0604030504040204" pitchFamily="50" charset="-128"/>
                        </a:rPr>
                        <a:t>)</a:t>
                      </a:r>
                    </a:p>
                  </a:txBody>
                  <a:tcPr/>
                </a:tc>
                <a:extLst>
                  <a:ext uri="{0D108BD9-81ED-4DB2-BD59-A6C34878D82A}">
                    <a16:rowId xmlns:a16="http://schemas.microsoft.com/office/drawing/2014/main" val="99642866"/>
                  </a:ext>
                </a:extLst>
              </a:tr>
              <a:tr h="245426">
                <a:tc>
                  <a:txBody>
                    <a:bodyPr/>
                    <a:lstStyle/>
                    <a:p>
                      <a:r>
                        <a:rPr kumimoji="1" lang="en-US" altLang="ja-JP" sz="1200" dirty="0">
                          <a:solidFill>
                            <a:schemeClr val="tx1"/>
                          </a:solidFill>
                          <a:latin typeface="Meiryo UI" panose="020B0604030504040204" pitchFamily="50" charset="-128"/>
                          <a:ea typeface="Meiryo UI" panose="020B0604030504040204" pitchFamily="50" charset="-128"/>
                        </a:rPr>
                        <a:t>2</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ナースコール減少に向けた計画</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問題解決型プラン</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作成をサポートする。</a:t>
                      </a: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モジュール間データ連携は技術的に難しい。特にアセス</a:t>
                      </a:r>
                      <a:r>
                        <a:rPr kumimoji="1" lang="en-US" altLang="ja-JP" sz="1200" dirty="0">
                          <a:solidFill>
                            <a:schemeClr val="tx1"/>
                          </a:solidFill>
                          <a:latin typeface="Meiryo UI" panose="020B0604030504040204" pitchFamily="50" charset="-128"/>
                          <a:ea typeface="Meiryo UI" panose="020B0604030504040204" pitchFamily="50" charset="-128"/>
                        </a:rPr>
                        <a:t>v4</a:t>
                      </a:r>
                      <a:r>
                        <a:rPr kumimoji="1" lang="ja-JP" altLang="en-US" sz="1200" dirty="0">
                          <a:solidFill>
                            <a:schemeClr val="tx1"/>
                          </a:solidFill>
                          <a:latin typeface="Meiryo UI" panose="020B0604030504040204" pitchFamily="50" charset="-128"/>
                          <a:ea typeface="Meiryo UI" panose="020B0604030504040204" pitchFamily="50" charset="-128"/>
                        </a:rPr>
                        <a:t>との連携</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データのモジュール間の行き来</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は、アセス</a:t>
                      </a:r>
                      <a:r>
                        <a:rPr kumimoji="1" lang="en-US" altLang="ja-JP" sz="1200" dirty="0">
                          <a:solidFill>
                            <a:schemeClr val="tx1"/>
                          </a:solidFill>
                          <a:latin typeface="Meiryo UI" panose="020B0604030504040204" pitchFamily="50" charset="-128"/>
                          <a:ea typeface="Meiryo UI" panose="020B0604030504040204" pitchFamily="50" charset="-128"/>
                        </a:rPr>
                        <a:t>v4</a:t>
                      </a:r>
                      <a:r>
                        <a:rPr kumimoji="1" lang="ja-JP" altLang="en-US" sz="1200" dirty="0">
                          <a:solidFill>
                            <a:schemeClr val="tx1"/>
                          </a:solidFill>
                          <a:latin typeface="Meiryo UI" panose="020B0604030504040204" pitchFamily="50" charset="-128"/>
                          <a:ea typeface="Meiryo UI" panose="020B0604030504040204" pitchFamily="50" charset="-128"/>
                        </a:rPr>
                        <a:t>にどのような影響が出るか分からないため避けるべき。</a:t>
                      </a:r>
                      <a:r>
                        <a:rPr kumimoji="1" lang="en-US" altLang="ja-JP" sz="1200" dirty="0">
                          <a:solidFill>
                            <a:schemeClr val="tx1"/>
                          </a:solidFill>
                          <a:latin typeface="Meiryo UI" panose="020B0604030504040204" pitchFamily="50" charset="-128"/>
                          <a:ea typeface="Meiryo UI" panose="020B0604030504040204" pitchFamily="50" charset="-128"/>
                        </a:rPr>
                        <a:t>carbon</a:t>
                      </a:r>
                      <a:r>
                        <a:rPr kumimoji="1" lang="ja-JP" altLang="en-US" sz="1200" dirty="0">
                          <a:solidFill>
                            <a:schemeClr val="tx1"/>
                          </a:solidFill>
                          <a:latin typeface="Meiryo UI" panose="020B0604030504040204" pitchFamily="50" charset="-128"/>
                          <a:ea typeface="Meiryo UI" panose="020B0604030504040204" pitchFamily="50" charset="-128"/>
                        </a:rPr>
                        <a:t>に戻ってアセス</a:t>
                      </a:r>
                      <a:r>
                        <a:rPr kumimoji="1" lang="en-US" altLang="ja-JP" sz="1200" dirty="0">
                          <a:solidFill>
                            <a:schemeClr val="tx1"/>
                          </a:solidFill>
                          <a:latin typeface="Meiryo UI" panose="020B0604030504040204" pitchFamily="50" charset="-128"/>
                          <a:ea typeface="Meiryo UI" panose="020B0604030504040204" pitchFamily="50" charset="-128"/>
                        </a:rPr>
                        <a:t>v4</a:t>
                      </a:r>
                      <a:r>
                        <a:rPr kumimoji="1" lang="ja-JP" altLang="en-US" sz="1200" dirty="0">
                          <a:solidFill>
                            <a:schemeClr val="tx1"/>
                          </a:solidFill>
                          <a:latin typeface="Meiryo UI" panose="020B0604030504040204" pitchFamily="50" charset="-128"/>
                          <a:ea typeface="Meiryo UI" panose="020B0604030504040204" pitchFamily="50" charset="-128"/>
                        </a:rPr>
                        <a:t>にアクセスした方が良いと判断した。</a:t>
                      </a:r>
                    </a:p>
                  </a:txBody>
                  <a:tcPr/>
                </a:tc>
                <a:extLst>
                  <a:ext uri="{0D108BD9-81ED-4DB2-BD59-A6C34878D82A}">
                    <a16:rowId xmlns:a16="http://schemas.microsoft.com/office/drawing/2014/main" val="2666334428"/>
                  </a:ext>
                </a:extLst>
              </a:tr>
              <a:tr h="245426">
                <a:tc>
                  <a:txBody>
                    <a:bodyPr/>
                    <a:lstStyle/>
                    <a:p>
                      <a:r>
                        <a:rPr kumimoji="1" lang="en-US" altLang="ja-JP" sz="1200" dirty="0">
                          <a:solidFill>
                            <a:schemeClr val="tx1"/>
                          </a:solidFill>
                          <a:latin typeface="Meiryo UI" panose="020B0604030504040204" pitchFamily="50" charset="-128"/>
                          <a:ea typeface="Meiryo UI" panose="020B0604030504040204" pitchFamily="50" charset="-128"/>
                        </a:rPr>
                        <a:t>3</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ナースコール対応の記録ができているか確認する。</a:t>
                      </a: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非定時記録の閲覧などが機能として考えられるが、ケア記録データ処理のための追加開発に工数がかけれない。その他の機能案含め検討できるかもしれないが、</a:t>
                      </a:r>
                      <a:r>
                        <a:rPr kumimoji="1" lang="en-US" altLang="ja-JP" sz="1200" dirty="0">
                          <a:solidFill>
                            <a:schemeClr val="tx1"/>
                          </a:solidFill>
                          <a:latin typeface="Meiryo UI" panose="020B0604030504040204" pitchFamily="50" charset="-128"/>
                          <a:ea typeface="Meiryo UI" panose="020B0604030504040204" pitchFamily="50" charset="-128"/>
                        </a:rPr>
                        <a:t>carbon</a:t>
                      </a:r>
                      <a:r>
                        <a:rPr kumimoji="1" lang="ja-JP" altLang="en-US" sz="1200" dirty="0">
                          <a:solidFill>
                            <a:schemeClr val="tx1"/>
                          </a:solidFill>
                          <a:latin typeface="Meiryo UI" panose="020B0604030504040204" pitchFamily="50" charset="-128"/>
                          <a:ea typeface="Meiryo UI" panose="020B0604030504040204" pitchFamily="50" charset="-128"/>
                        </a:rPr>
                        <a:t>に戻って入居者</a:t>
                      </a:r>
                      <a:r>
                        <a:rPr kumimoji="1" lang="en-US" altLang="ja-JP" sz="1200" dirty="0">
                          <a:solidFill>
                            <a:schemeClr val="tx1"/>
                          </a:solidFill>
                          <a:latin typeface="Meiryo UI" panose="020B0604030504040204" pitchFamily="50" charset="-128"/>
                          <a:ea typeface="Meiryo UI" panose="020B0604030504040204" pitchFamily="50" charset="-128"/>
                        </a:rPr>
                        <a:t>drawer</a:t>
                      </a:r>
                      <a:r>
                        <a:rPr kumimoji="1" lang="ja-JP" altLang="en-US" sz="1200" dirty="0">
                          <a:solidFill>
                            <a:schemeClr val="tx1"/>
                          </a:solidFill>
                          <a:latin typeface="Meiryo UI" panose="020B0604030504040204" pitchFamily="50" charset="-128"/>
                          <a:ea typeface="Meiryo UI" panose="020B0604030504040204" pitchFamily="50" charset="-128"/>
                        </a:rPr>
                        <a:t>にアクセスした方が良いと判断した。</a:t>
                      </a:r>
                      <a:endParaRPr kumimoji="1" lang="en-US" altLang="ja-JP" sz="1200" dirty="0">
                        <a:solidFill>
                          <a:schemeClr val="tx1"/>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596332099"/>
                  </a:ext>
                </a:extLst>
              </a:tr>
              <a:tr h="245426">
                <a:tc>
                  <a:txBody>
                    <a:bodyPr/>
                    <a:lstStyle/>
                    <a:p>
                      <a:r>
                        <a:rPr kumimoji="1" lang="en-US" altLang="ja-JP" sz="1200" dirty="0">
                          <a:solidFill>
                            <a:schemeClr val="tx1"/>
                          </a:solidFill>
                          <a:latin typeface="Meiryo UI" panose="020B0604030504040204" pitchFamily="50" charset="-128"/>
                          <a:ea typeface="Meiryo UI" panose="020B0604030504040204" pitchFamily="50" charset="-128"/>
                        </a:rPr>
                        <a:t>4</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非定時記録入力率</a:t>
                      </a: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ケア記録データ処理のための追加開発に工数がかかる。ケア記録はレコード数が膨大なため、データ活用する場合は画面の応答速度が遅くなるなどユーザビリティに大きな影響が出る考えられるため。</a:t>
                      </a:r>
                    </a:p>
                  </a:txBody>
                  <a:tcPr/>
                </a:tc>
                <a:extLst>
                  <a:ext uri="{0D108BD9-81ED-4DB2-BD59-A6C34878D82A}">
                    <a16:rowId xmlns:a16="http://schemas.microsoft.com/office/drawing/2014/main" val="2847319775"/>
                  </a:ext>
                </a:extLst>
              </a:tr>
              <a:tr h="245426">
                <a:tc>
                  <a:txBody>
                    <a:bodyPr/>
                    <a:lstStyle/>
                    <a:p>
                      <a:r>
                        <a:rPr kumimoji="1" lang="en-US" altLang="ja-JP" sz="1200" dirty="0">
                          <a:solidFill>
                            <a:schemeClr val="tx1"/>
                          </a:solidFill>
                          <a:latin typeface="Meiryo UI" panose="020B0604030504040204" pitchFamily="50" charset="-128"/>
                          <a:ea typeface="Meiryo UI" panose="020B0604030504040204" pitchFamily="50" charset="-128"/>
                        </a:rPr>
                        <a:t>5</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入居者別薬剤情報の詳細</a:t>
                      </a:r>
                    </a:p>
                  </a:txBody>
                  <a:tcPr/>
                </a:tc>
                <a:tc>
                  <a:txBody>
                    <a:bodyPr/>
                    <a:lstStyle/>
                    <a:p>
                      <a:r>
                        <a:rPr kumimoji="1" lang="ja-JP" altLang="en-US" sz="1200" dirty="0">
                          <a:solidFill>
                            <a:schemeClr val="tx1"/>
                          </a:solidFill>
                          <a:latin typeface="Meiryo UI" panose="020B0604030504040204" pitchFamily="50" charset="-128"/>
                          <a:ea typeface="Meiryo UI" panose="020B0604030504040204" pitchFamily="50" charset="-128"/>
                        </a:rPr>
                        <a:t>各入居の薬剤情報はアセス</a:t>
                      </a:r>
                      <a:r>
                        <a:rPr kumimoji="1" lang="en-US" altLang="ja-JP" sz="1200" dirty="0">
                          <a:solidFill>
                            <a:schemeClr val="tx1"/>
                          </a:solidFill>
                          <a:latin typeface="Meiryo UI" panose="020B0604030504040204" pitchFamily="50" charset="-128"/>
                          <a:ea typeface="Meiryo UI" panose="020B0604030504040204" pitchFamily="50" charset="-128"/>
                        </a:rPr>
                        <a:t>v4</a:t>
                      </a:r>
                      <a:r>
                        <a:rPr kumimoji="1" lang="ja-JP" altLang="en-US" sz="1200" dirty="0">
                          <a:solidFill>
                            <a:schemeClr val="tx1"/>
                          </a:solidFill>
                          <a:latin typeface="Meiryo UI" panose="020B0604030504040204" pitchFamily="50" charset="-128"/>
                          <a:ea typeface="Meiryo UI" panose="020B0604030504040204" pitchFamily="50" charset="-128"/>
                        </a:rPr>
                        <a:t>の情報になるが、アセス</a:t>
                      </a:r>
                      <a:r>
                        <a:rPr kumimoji="1" lang="en-US" altLang="ja-JP" sz="1200" dirty="0">
                          <a:solidFill>
                            <a:schemeClr val="tx1"/>
                          </a:solidFill>
                          <a:latin typeface="Meiryo UI" panose="020B0604030504040204" pitchFamily="50" charset="-128"/>
                          <a:ea typeface="Meiryo UI" panose="020B0604030504040204" pitchFamily="50" charset="-128"/>
                        </a:rPr>
                        <a:t>v4</a:t>
                      </a:r>
                      <a:r>
                        <a:rPr kumimoji="1" lang="ja-JP" altLang="en-US" sz="1200" dirty="0">
                          <a:solidFill>
                            <a:schemeClr val="tx1"/>
                          </a:solidFill>
                          <a:latin typeface="Meiryo UI" panose="020B0604030504040204" pitchFamily="50" charset="-128"/>
                          <a:ea typeface="Meiryo UI" panose="020B0604030504040204" pitchFamily="50" charset="-128"/>
                        </a:rPr>
                        <a:t>との連携</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データのモジュール間の行き来</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はアセス</a:t>
                      </a:r>
                      <a:r>
                        <a:rPr kumimoji="1" lang="en-US" altLang="ja-JP" sz="1200" dirty="0">
                          <a:solidFill>
                            <a:schemeClr val="tx1"/>
                          </a:solidFill>
                          <a:latin typeface="Meiryo UI" panose="020B0604030504040204" pitchFamily="50" charset="-128"/>
                          <a:ea typeface="Meiryo UI" panose="020B0604030504040204" pitchFamily="50" charset="-128"/>
                        </a:rPr>
                        <a:t>v4</a:t>
                      </a:r>
                      <a:r>
                        <a:rPr kumimoji="1" lang="ja-JP" altLang="en-US" sz="1200" dirty="0">
                          <a:solidFill>
                            <a:schemeClr val="tx1"/>
                          </a:solidFill>
                          <a:latin typeface="Meiryo UI" panose="020B0604030504040204" pitchFamily="50" charset="-128"/>
                          <a:ea typeface="Meiryo UI" panose="020B0604030504040204" pitchFamily="50" charset="-128"/>
                        </a:rPr>
                        <a:t>にどのような影響が出るか分からないため避けるべきと判断。</a:t>
                      </a:r>
                    </a:p>
                  </a:txBody>
                  <a:tcPr/>
                </a:tc>
                <a:extLst>
                  <a:ext uri="{0D108BD9-81ED-4DB2-BD59-A6C34878D82A}">
                    <a16:rowId xmlns:a16="http://schemas.microsoft.com/office/drawing/2014/main" val="2017721993"/>
                  </a:ext>
                </a:extLst>
              </a:tr>
              <a:tr h="245426">
                <a:tc>
                  <a:txBody>
                    <a:bodyPr/>
                    <a:lstStyle/>
                    <a:p>
                      <a:r>
                        <a:rPr kumimoji="1" lang="en-US" altLang="ja-JP" sz="1200" dirty="0">
                          <a:solidFill>
                            <a:schemeClr val="tx1"/>
                          </a:solidFill>
                          <a:latin typeface="Meiryo UI" panose="020B0604030504040204" pitchFamily="50" charset="-128"/>
                          <a:ea typeface="Meiryo UI" panose="020B0604030504040204" pitchFamily="50" charset="-128"/>
                        </a:rPr>
                        <a:t>6</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Meiryo UI" panose="020B0604030504040204" pitchFamily="50" charset="-128"/>
                          <a:ea typeface="Meiryo UI" panose="020B0604030504040204" pitchFamily="50" charset="-128"/>
                        </a:rPr>
                        <a:t>通話をしていないナースコール（ワン切り）の把握</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ナースコール「通話時間」</a:t>
                      </a:r>
                      <a:r>
                        <a:rPr kumimoji="1" lang="en-US" altLang="ja-JP" sz="1200" dirty="0">
                          <a:latin typeface="Meiryo UI" panose="020B0604030504040204" pitchFamily="50" charset="-128"/>
                          <a:ea typeface="Meiryo UI" panose="020B0604030504040204" pitchFamily="50" charset="-128"/>
                        </a:rPr>
                        <a:t>1</a:t>
                      </a:r>
                      <a:r>
                        <a:rPr kumimoji="1" lang="ja-JP" altLang="en-US" sz="1200" dirty="0">
                          <a:latin typeface="Meiryo UI" panose="020B0604030504040204" pitchFamily="50" charset="-128"/>
                          <a:ea typeface="Meiryo UI" panose="020B0604030504040204" pitchFamily="50" charset="-128"/>
                        </a:rPr>
                        <a:t>秒未満の回数と時間帯の把握の要望。ナースコールの元データ処理の新たなロジックなどを考える必要があるが要件検討と開発にかかる工数をかけることが難しい。</a:t>
                      </a:r>
                      <a:endParaRPr kumimoji="1" lang="en-US" altLang="ja-JP" sz="1200" dirty="0">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通話時間データを記録するメーカーと、記録しないメーカーがあり、記録しないメーカー</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ケアコム</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のナースコールについては実装不可。</a:t>
                      </a:r>
                    </a:p>
                  </a:txBody>
                  <a:tcPr/>
                </a:tc>
                <a:extLst>
                  <a:ext uri="{0D108BD9-81ED-4DB2-BD59-A6C34878D82A}">
                    <a16:rowId xmlns:a16="http://schemas.microsoft.com/office/drawing/2014/main" val="1131423990"/>
                  </a:ext>
                </a:extLst>
              </a:tr>
              <a:tr h="245426">
                <a:tc>
                  <a:txBody>
                    <a:bodyPr/>
                    <a:lstStyle/>
                    <a:p>
                      <a:r>
                        <a:rPr kumimoji="1" lang="en-US" altLang="ja-JP" sz="1200" dirty="0">
                          <a:solidFill>
                            <a:schemeClr val="tx1"/>
                          </a:solidFill>
                          <a:latin typeface="Meiryo UI" panose="020B0604030504040204" pitchFamily="50" charset="-128"/>
                          <a:ea typeface="Meiryo UI" panose="020B0604030504040204" pitchFamily="50" charset="-128"/>
                        </a:rPr>
                        <a:t>7</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schemeClr val="tx1"/>
                          </a:solidFill>
                          <a:latin typeface="Meiryo UI" panose="020B0604030504040204" pitchFamily="50" charset="-128"/>
                          <a:ea typeface="Meiryo UI" panose="020B0604030504040204" pitchFamily="50" charset="-128"/>
                        </a:rPr>
                        <a:t>入院・新入居（月途中）入居者のを確認する。（色を変える）</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eiryo UI" panose="020B0604030504040204" pitchFamily="50" charset="-128"/>
                          <a:ea typeface="Meiryo UI" panose="020B0604030504040204" pitchFamily="50" charset="-128"/>
                        </a:rPr>
                        <a:t>参考とするデータやロジックなど新たな要件検討の工数をかけることが難しい。</a:t>
                      </a:r>
                    </a:p>
                  </a:txBody>
                  <a:tcPr/>
                </a:tc>
                <a:extLst>
                  <a:ext uri="{0D108BD9-81ED-4DB2-BD59-A6C34878D82A}">
                    <a16:rowId xmlns:a16="http://schemas.microsoft.com/office/drawing/2014/main" val="1848711198"/>
                  </a:ext>
                </a:extLst>
              </a:tr>
            </a:tbl>
          </a:graphicData>
        </a:graphic>
      </p:graphicFrame>
      <p:sp>
        <p:nvSpPr>
          <p:cNvPr id="3" name="テキスト ボックス 2">
            <a:extLst>
              <a:ext uri="{FF2B5EF4-FFF2-40B4-BE49-F238E27FC236}">
                <a16:creationId xmlns:a16="http://schemas.microsoft.com/office/drawing/2014/main" id="{2E682D39-CCBC-A2CC-0F15-1C1B50276540}"/>
              </a:ext>
            </a:extLst>
          </p:cNvPr>
          <p:cNvSpPr txBox="1"/>
          <p:nvPr/>
        </p:nvSpPr>
        <p:spPr bwMode="auto">
          <a:xfrm>
            <a:off x="259702" y="5016723"/>
            <a:ext cx="8359365" cy="523220"/>
          </a:xfrm>
          <a:prstGeom prst="rect">
            <a:avLst/>
          </a:prstGeom>
          <a:noFill/>
          <a:ln w="25400">
            <a:noFill/>
            <a:miter lim="800000"/>
            <a:headEnd/>
            <a:tailEnd/>
          </a:ln>
        </p:spPr>
        <p:txBody>
          <a:bodyPr wrap="square" lIns="180000" rIns="180000" rtlCol="0" anchor="ctr">
            <a:spAutoFit/>
          </a:bodyPr>
          <a:lstStyle/>
          <a:p>
            <a:pPr marR="0" lvl="0" algn="l" defTabSz="914400" rtl="0" eaLnBrk="1" fontAlgn="auto" latinLnBrk="0" hangingPunct="1">
              <a:lnSpc>
                <a:spcPct val="100000"/>
              </a:lnSpc>
              <a:spcBef>
                <a:spcPts val="600"/>
              </a:spcBef>
              <a:spcAft>
                <a:spcPts val="0"/>
              </a:spcAft>
              <a:buClrTx/>
              <a:buSzTx/>
              <a:tabLst/>
              <a:defRPr/>
            </a:pPr>
            <a:r>
              <a:rPr lang="ja-JP" altLang="en-US" sz="1400" dirty="0">
                <a:latin typeface="Meiryo UI" panose="020B0604030504040204" pitchFamily="50" charset="-128"/>
                <a:ea typeface="Meiryo UI" panose="020B0604030504040204" pitchFamily="50" charset="-128"/>
              </a:rPr>
              <a:t>上記内容含め、リリース後に寄せられる要望を精査し、次回アップデートの検討内容としたい。</a:t>
            </a:r>
            <a:br>
              <a:rPr lang="en-US" altLang="ja-JP" sz="1400" dirty="0">
                <a:latin typeface="Meiryo UI" panose="020B0604030504040204" pitchFamily="50" charset="-128"/>
                <a:ea typeface="Meiryo UI" panose="020B0604030504040204" pitchFamily="50" charset="-128"/>
              </a:rPr>
            </a:br>
            <a:r>
              <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a:t>
            </a:r>
            <a:r>
              <a:rPr kumimoji="1" lang="ja-JP" altLang="en-US"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rPr>
              <a:t>アップデート計画は未定。</a:t>
            </a:r>
            <a:endParaRPr kumimoji="1" lang="en-US" altLang="ja-JP" sz="1400" b="0" i="0" u="none" strike="noStrike" kern="1200" cap="none" spc="0" normalizeH="0" baseline="0" noProof="0" dirty="0">
              <a:ln>
                <a:noFill/>
              </a:ln>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211261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761" y="3030530"/>
            <a:ext cx="2614477" cy="796940"/>
          </a:xfrm>
          <a:prstGeom prst="rect">
            <a:avLst/>
          </a:prstGeom>
          <a:ln>
            <a:noFill/>
          </a:ln>
        </p:spPr>
      </p:pic>
    </p:spTree>
    <p:extLst>
      <p:ext uri="{BB962C8B-B14F-4D97-AF65-F5344CB8AC3E}">
        <p14:creationId xmlns:p14="http://schemas.microsoft.com/office/powerpoint/2010/main" val="3544844481"/>
      </p:ext>
    </p:extLst>
  </p:cSld>
  <p:clrMapOvr>
    <a:masterClrMapping/>
  </p:clrMapOvr>
</p:sld>
</file>

<file path=ppt/theme/theme1.xml><?xml version="1.0" encoding="utf-8"?>
<a:theme xmlns:a="http://schemas.openxmlformats.org/drawingml/2006/main" name="デザインの設定">
  <a:themeElements>
    <a:clrScheme name="ユーザー定義 2">
      <a:dk1>
        <a:sysClr val="windowText" lastClr="000000"/>
      </a:dk1>
      <a:lt1>
        <a:sysClr val="window" lastClr="FFFFFF"/>
      </a:lt1>
      <a:dk2>
        <a:srgbClr val="000000"/>
      </a:dk2>
      <a:lt2>
        <a:srgbClr val="F8F8F8"/>
      </a:lt2>
      <a:accent1>
        <a:srgbClr val="CC0022"/>
      </a:accent1>
      <a:accent2>
        <a:srgbClr val="E60025"/>
      </a:accent2>
      <a:accent3>
        <a:srgbClr val="C00000"/>
      </a:accent3>
      <a:accent4>
        <a:srgbClr val="BFBFBF"/>
      </a:accent4>
      <a:accent5>
        <a:srgbClr val="D9D9D9"/>
      </a:accent5>
      <a:accent6>
        <a:srgbClr val="595959"/>
      </a:accent6>
      <a:hlink>
        <a:srgbClr val="A6A6A6"/>
      </a:hlink>
      <a:folHlink>
        <a:srgbClr val="9F9F9F"/>
      </a:folHlink>
    </a:clrScheme>
    <a:fontScheme name="Tw Cen MT">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defRPr kumimoji="1" dirty="0"/>
        </a:defPPr>
      </a:lstStyle>
      <a:style>
        <a:lnRef idx="2">
          <a:schemeClr val="accent1">
            <a:shade val="50000"/>
          </a:schemeClr>
        </a:lnRef>
        <a:fillRef idx="1">
          <a:schemeClr val="accent1"/>
        </a:fillRef>
        <a:effectRef idx="0">
          <a:schemeClr val="accent1"/>
        </a:effectRef>
        <a:fontRef idx="minor">
          <a:schemeClr val="lt1"/>
        </a:fontRef>
      </a:style>
    </a:spDef>
    <a:txDef>
      <a:spPr bwMode="auto">
        <a:noFill/>
        <a:ln w="25400">
          <a:noFill/>
          <a:miter lim="800000"/>
          <a:headEnd/>
          <a:tailEnd/>
        </a:ln>
      </a:spPr>
      <a:bodyPr wrap="none" lIns="180000" rIns="180000" rtlCol="0" anchor="ctr">
        <a:spAutoFit/>
      </a:bodyPr>
      <a:lstStyle>
        <a:defPPr algn="l">
          <a:spcBef>
            <a:spcPts val="600"/>
          </a:spcBef>
          <a:defRPr kumimoji="1" sz="1600" dirty="0" smtClean="0">
            <a:latin typeface="+mn-ea"/>
            <a:ea typeface="+mn-ea"/>
          </a:defRPr>
        </a:defPPr>
      </a:lstStyle>
    </a:txDef>
  </a:objectDefaults>
  <a:extraClrSchemeLst/>
</a:theme>
</file>

<file path=ppt/theme/theme2.xml><?xml version="1.0" encoding="utf-8"?>
<a:theme xmlns:a="http://schemas.openxmlformats.org/drawingml/2006/main" name="3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標準デザイン">
  <a:themeElements>
    <a:clrScheme name="sompo">
      <a:dk1>
        <a:srgbClr val="000000"/>
      </a:dk1>
      <a:lt1>
        <a:srgbClr val="FFFFFF"/>
      </a:lt1>
      <a:dk2>
        <a:srgbClr val="A0A3AA"/>
      </a:dk2>
      <a:lt2>
        <a:srgbClr val="DADCDC"/>
      </a:lt2>
      <a:accent1>
        <a:srgbClr val="CC0022"/>
      </a:accent1>
      <a:accent2>
        <a:srgbClr val="ED8B00"/>
      </a:accent2>
      <a:accent3>
        <a:srgbClr val="FCC800"/>
      </a:accent3>
      <a:accent4>
        <a:srgbClr val="009F3A"/>
      </a:accent4>
      <a:accent5>
        <a:srgbClr val="001268"/>
      </a:accent5>
      <a:accent6>
        <a:srgbClr val="826FB0"/>
      </a:accent6>
      <a:hlink>
        <a:srgbClr val="0099FF"/>
      </a:hlink>
      <a:folHlink>
        <a:srgbClr val="99CCFF"/>
      </a:folHlink>
    </a:clrScheme>
    <a:fontScheme name="ユーザー定義 8">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860A8"/>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12700" cap="flat" cmpd="sng" algn="ctr">
          <a:solidFill>
            <a:srgbClr val="0860A8"/>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0" i="0" u="none" strike="noStrike" cap="none" normalizeH="0" baseline="0">
            <a:ln>
              <a:noFill/>
            </a:ln>
            <a:solidFill>
              <a:schemeClr val="tx1"/>
            </a:solidFill>
            <a:effectLst/>
            <a:latin typeface="Microsoft Sans Serif" charset="-52"/>
            <a:ea typeface="ＭＳ Ｐゴシック" charset="-128"/>
            <a:cs typeface="ＭＳ Ｐゴシック" charset="-128"/>
          </a:defRPr>
        </a:defPPr>
      </a:lstStyle>
    </a:lnDef>
  </a:objectDefaults>
  <a:extraClrSchemeLst>
    <a:extraClrScheme>
      <a:clrScheme name="標準デザイン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99FF"/>
        </a:hlink>
        <a:folHlink>
          <a:srgbClr val="99CCF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16615</TotalTime>
  <Words>6580</Words>
  <Application>Microsoft Office PowerPoint</Application>
  <PresentationFormat>ワイド画面</PresentationFormat>
  <Paragraphs>762</Paragraphs>
  <Slides>27</Slides>
  <Notes>13</Notes>
  <HiddenSlides>0</HiddenSlides>
  <MMClips>0</MMClips>
  <ScaleCrop>false</ScaleCrop>
  <HeadingPairs>
    <vt:vector size="6" baseType="variant">
      <vt:variant>
        <vt:lpstr>使用されているフォント</vt:lpstr>
      </vt:variant>
      <vt:variant>
        <vt:i4>10</vt:i4>
      </vt:variant>
      <vt:variant>
        <vt:lpstr>テーマ</vt:lpstr>
      </vt:variant>
      <vt:variant>
        <vt:i4>3</vt:i4>
      </vt:variant>
      <vt:variant>
        <vt:lpstr>スライド タイトル</vt:lpstr>
      </vt:variant>
      <vt:variant>
        <vt:i4>27</vt:i4>
      </vt:variant>
    </vt:vector>
  </HeadingPairs>
  <TitlesOfParts>
    <vt:vector size="40" baseType="lpstr">
      <vt:lpstr>Meiryo UI</vt:lpstr>
      <vt:lpstr>ＭＳ Ｐゴシック</vt:lpstr>
      <vt:lpstr>Twentieth Century</vt:lpstr>
      <vt:lpstr>游ゴシック</vt:lpstr>
      <vt:lpstr>Arial</vt:lpstr>
      <vt:lpstr>Calibri</vt:lpstr>
      <vt:lpstr>Franklin Gothic Book</vt:lpstr>
      <vt:lpstr>Franklin Gothic Medium</vt:lpstr>
      <vt:lpstr>Microsoft Sans Serif</vt:lpstr>
      <vt:lpstr>Tw Cen MT</vt:lpstr>
      <vt:lpstr>デザインの設定</vt:lpstr>
      <vt:lpstr>3_デザインの設定</vt:lpstr>
      <vt:lpstr>標準デザイン</vt:lpstr>
      <vt:lpstr>ナースコールモニター要件定義</vt:lpstr>
      <vt:lpstr>更新履歴①</vt:lpstr>
      <vt:lpstr>更新履歴②</vt:lpstr>
      <vt:lpstr>本要件定義書の位置づけ、特記事項</vt:lpstr>
      <vt:lpstr>マーケティング概要</vt:lpstr>
      <vt:lpstr>前提条件</vt:lpstr>
      <vt:lpstr>ユーザーおよびユースケース、想定アクセス頻度、使用環境</vt:lpstr>
      <vt:lpstr>モジュールで解決する課題・目的・ユーザー要求</vt:lpstr>
      <vt:lpstr>機能要件　概要</vt:lpstr>
      <vt:lpstr>機能要件　画面要件①</vt:lpstr>
      <vt:lpstr>機能要件　画面要件②</vt:lpstr>
      <vt:lpstr>機能要件　画面要件③</vt:lpstr>
      <vt:lpstr>機能要件　画面要件④</vt:lpstr>
      <vt:lpstr>機能要件　明細</vt:lpstr>
      <vt:lpstr>機能要件　画面遷移図</vt:lpstr>
      <vt:lpstr>機能要件　データ表示方法　</vt:lpstr>
      <vt:lpstr>機能要件　画面要件①　「月々の推移」ページ　ホーム全体</vt:lpstr>
      <vt:lpstr>機能要件　画面要件②　「月々の推移」ページ　入居者個別推移drawer</vt:lpstr>
      <vt:lpstr>機能要件　画面要件③　「原因分析」ページ　ホーム別</vt:lpstr>
      <vt:lpstr>機能要件　画面要件④　「原因分析」ページ　入居者個別詳細drawer</vt:lpstr>
      <vt:lpstr>機能要件　画面要件⑤　「原因分析」ページ　各種定義</vt:lpstr>
      <vt:lpstr>機能要件　明細①</vt:lpstr>
      <vt:lpstr>機能要件　明細②</vt:lpstr>
      <vt:lpstr>機能要件　明細③</vt:lpstr>
      <vt:lpstr>機能要件　明細④</vt:lpstr>
      <vt:lpstr>補足：次回アップデートで再度検討したい内容</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sup93228</dc:creator>
  <cp:lastModifiedBy>sup93069</cp:lastModifiedBy>
  <cp:revision>674</cp:revision>
  <dcterms:created xsi:type="dcterms:W3CDTF">2023-02-21T08:14:42Z</dcterms:created>
  <dcterms:modified xsi:type="dcterms:W3CDTF">2024-05-14T07:53:52Z</dcterms:modified>
</cp:coreProperties>
</file>