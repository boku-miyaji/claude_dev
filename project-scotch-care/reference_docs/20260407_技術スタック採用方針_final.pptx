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20_5298337A.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4_0.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06_0.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08_0.xml" ContentType="application/vnd.ms-powerpoint.comments+xml"/>
  <Override PartName="/ppt/notesSlides/notesSlide9.xml" ContentType="application/vnd.openxmlformats-officedocument.presentationml.notesSlide+xml"/>
  <Override PartName="/ppt/comments/modernComment_12E_1AC6E4E6.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0F_0.xml" ContentType="application/vnd.ms-powerpoint.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1" r:id="rId2"/>
  </p:sldMasterIdLst>
  <p:notesMasterIdLst>
    <p:notesMasterId r:id="rId33"/>
  </p:notesMasterIdLst>
  <p:sldIdLst>
    <p:sldId id="257" r:id="rId3"/>
    <p:sldId id="288" r:id="rId4"/>
    <p:sldId id="289" r:id="rId5"/>
    <p:sldId id="260" r:id="rId6"/>
    <p:sldId id="261" r:id="rId7"/>
    <p:sldId id="262" r:id="rId8"/>
    <p:sldId id="263" r:id="rId9"/>
    <p:sldId id="264" r:id="rId10"/>
    <p:sldId id="302" r:id="rId11"/>
    <p:sldId id="301"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Lst>
  <p:sldSz cx="9144000" cy="5143500" type="screen16x9"/>
  <p:notesSz cx="6858000" cy="9144000"/>
  <p:embeddedFontLst>
    <p:embeddedFont>
      <p:font typeface="Century Gothic" panose="020B0502020202020204" pitchFamily="34" charset="0"/>
      <p:regular r:id="rId34"/>
      <p:bold r:id="rId35"/>
      <p:italic r:id="rId36"/>
      <p:boldItalic r:id="rId37"/>
    </p:embeddedFont>
    <p:embeddedFont>
      <p:font typeface="游ゴシック" panose="020B0400000000000000" pitchFamily="50" charset="-128"/>
      <p:regular r:id="rId38"/>
      <p:bold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2" roundtripDataSignature="AMtx7mh+I9JMdcJOaLrXeBs4jpMg60mPL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D03C3AB-DF2B-5B23-888C-119B8DA16063}" name="yoshihisa_kawada" initials="佳川" userId="S::yoshihisa.kawada@acesinc.co.jp::106f6240-58c8-45c1-a9c3-3c5b0ecfb79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33333"/>
    <a:srgbClr val="5555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30366FA-57FC-433F-9D8C-4C9D911C8FC5}">
  <a:tblStyle styleId="{230366FA-57FC-433F-9D8C-4C9D911C8FC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31F8A93-CA79-4AF6-B420-68E9A51CCC31}"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D0CD847-4B11-42B2-8B25-F69DAA7BF958}" styleName="Table_2">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b="off" i="off"/>
      <a:tcStyle>
        <a:tcBdr/>
        <a:fill>
          <a:solidFill>
            <a:srgbClr val="CFD7E7"/>
          </a:solidFill>
        </a:fill>
      </a:tcStyle>
    </a:band1H>
    <a:band2H>
      <a:tcTxStyle b="off" i="off"/>
      <a:tcStyle>
        <a:tcBdr/>
      </a:tcStyle>
    </a:band2H>
    <a:band1V>
      <a:tcTxStyle b="off" i="off"/>
      <a:tcStyle>
        <a:tcBdr/>
        <a:fill>
          <a:solidFill>
            <a:srgbClr val="CFD7E7"/>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35"/>
    <p:restoredTop sz="94658"/>
  </p:normalViewPr>
  <p:slideViewPr>
    <p:cSldViewPr snapToGrid="0">
      <p:cViewPr varScale="1">
        <p:scale>
          <a:sx n="141" d="100"/>
          <a:sy n="141" d="100"/>
        </p:scale>
        <p:origin x="552"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6.fntdata"/><Relationship Id="rId21" Type="http://schemas.openxmlformats.org/officeDocument/2006/relationships/slide" Target="slides/slide19.xml"/><Relationship Id="rId34" Type="http://schemas.openxmlformats.org/officeDocument/2006/relationships/font" Target="fonts/font1.fntdata"/><Relationship Id="rId42" Type="http://customschemas.google.com/relationships/presentationmetadata" Target="metadata"/><Relationship Id="rId47" Type="http://schemas.microsoft.com/office/2018/10/relationships/authors" Targe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4.fntdata"/><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3.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2.fntdata"/><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tableStyles" Target="tableStyles.xml"/><Relationship Id="rId20" Type="http://schemas.openxmlformats.org/officeDocument/2006/relationships/slide" Target="slides/slide18.xml"/></Relationships>
</file>

<file path=ppt/comments/modernComment_10F_0.xml><?xml version="1.0" encoding="utf-8"?>
<p188:cmLst xmlns:a="http://schemas.openxmlformats.org/drawingml/2006/main" xmlns:r="http://schemas.openxmlformats.org/officeDocument/2006/relationships" xmlns:p188="http://schemas.microsoft.com/office/powerpoint/2018/8/main">
  <p188:cm id="{0F381736-66E6-435E-AC9E-7DCF7E6715AC}" authorId="{2D03C3AB-DF2B-5B23-888C-119B8DA16063}" created="2026-04-07T10:58:40.151">
    <ac:deMkLst xmlns:ac="http://schemas.microsoft.com/office/drawing/2013/main/command">
      <pc:docMk xmlns:pc="http://schemas.microsoft.com/office/powerpoint/2013/main/command"/>
      <pc:sldMk xmlns:pc="http://schemas.microsoft.com/office/powerpoint/2013/main/command" cId="0" sldId="271"/>
      <ac:graphicFrameMk id="317" creationId="{00000000-0000-0000-0000-000000000000}"/>
    </ac:deMkLst>
    <p188:txBody>
      <a:bodyPr/>
      <a:lstStyle/>
      <a:p>
        <a:r>
          <a:rPr lang="ja-JP" altLang="en-US"/>
          <a:t>[4/7版追記]採用する各コンポーネントがどの要件に対応するのか分かるように追記</a:t>
        </a:r>
      </a:p>
    </p188:txBody>
  </p188:cm>
</p188:cmLst>
</file>

<file path=ppt/comments/modernComment_12E_1AC6E4E6.xml><?xml version="1.0" encoding="utf-8"?>
<p188:cmLst xmlns:a="http://schemas.openxmlformats.org/drawingml/2006/main" xmlns:r="http://schemas.openxmlformats.org/officeDocument/2006/relationships" xmlns:p188="http://schemas.microsoft.com/office/powerpoint/2018/8/main">
  <p188:cm id="{9FEB4799-1022-4B31-8415-E58A5679E996}" authorId="{2D03C3AB-DF2B-5B23-888C-119B8DA16063}" created="2026-04-07T10:59:52.649">
    <ac:txMkLst xmlns:ac="http://schemas.microsoft.com/office/drawing/2013/main/command">
      <pc:docMk xmlns:pc="http://schemas.microsoft.com/office/powerpoint/2013/main/command"/>
      <pc:sldMk xmlns:pc="http://schemas.microsoft.com/office/powerpoint/2013/main/command" cId="449242342" sldId="302"/>
      <ac:graphicFrameMk id="264" creationId="{00000000-0000-0000-0000-000000000000}"/>
      <ac:tblMk/>
      <ac:tcMk rowId="10000" colId="20001"/>
      <ac:txMk cp="0" len="2">
        <ac:context len="3" hash="39237475"/>
      </ac:txMk>
    </ac:txMkLst>
    <p188:pos x="1109546" y="212493"/>
    <p188:txBody>
      <a:bodyPr/>
      <a:lstStyle/>
      <a:p>
        <a:r>
          <a:rPr lang="ja-JP" altLang="en-US"/>
          <a:t>[4/7版追記]定性的な強みも考慮して再評価を実施</a:t>
        </a:r>
      </a:p>
    </p188:txBody>
  </p188:cm>
</p188:cmLst>
</file>

<file path=ppt/comments/modernComment_104_0.xml><?xml version="1.0" encoding="utf-8"?>
<p188:cmLst xmlns:a="http://schemas.openxmlformats.org/drawingml/2006/main" xmlns:r="http://schemas.openxmlformats.org/officeDocument/2006/relationships" xmlns:p188="http://schemas.microsoft.com/office/powerpoint/2018/8/main">
  <p188:cm id="{AD7E2EE9-39AF-49D9-9BD2-34CC0ADCCBE5}" authorId="{2D03C3AB-DF2B-5B23-888C-119B8DA16063}" created="2026-04-07T10:53:23.853">
    <ac:txMkLst xmlns:ac="http://schemas.microsoft.com/office/drawing/2013/main/command">
      <pc:docMk xmlns:pc="http://schemas.microsoft.com/office/powerpoint/2013/main/command"/>
      <pc:sldMk xmlns:pc="http://schemas.microsoft.com/office/powerpoint/2013/main/command" cId="0" sldId="260"/>
      <ac:graphicFrameMk id="182" creationId="{00000000-0000-0000-0000-000000000000}"/>
      <ac:tblMk/>
      <ac:tcMk rowId="10007" colId="20002"/>
      <ac:txMk cp="0" len="30">
        <ac:context len="31" hash="808759683"/>
      </ac:txMk>
    </ac:txMkLst>
    <p188:pos x="4663689" y="3509758"/>
    <p188:txBody>
      <a:bodyPr/>
      <a:lstStyle/>
      <a:p>
        <a:r>
          <a:rPr lang="ja-JP" altLang="en-US"/>
          <a:t>[4/7版追記]：７つの観点に具体性がなく、イメージができなかったため、具体的要件を記載</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B0B8340B-62F2-4D7A-8FCA-17BD20E24587}" authorId="{2D03C3AB-DF2B-5B23-888C-119B8DA16063}" created="2026-04-07T10:51:53.807">
    <ac:txMkLst xmlns:ac="http://schemas.microsoft.com/office/drawing/2013/main/command">
      <pc:docMk xmlns:pc="http://schemas.microsoft.com/office/powerpoint/2013/main/command"/>
      <pc:sldMk xmlns:pc="http://schemas.microsoft.com/office/powerpoint/2013/main/command" cId="0" sldId="262"/>
      <ac:spMk id="200" creationId="{00000000-0000-0000-0000-000000000000}"/>
      <ac:txMk cp="0" len="21">
        <ac:context len="22" hash="3690022231"/>
      </ac:txMk>
    </ac:txMkLst>
    <p188:pos x="4195436" y="180278"/>
    <p188:txBody>
      <a:bodyPr/>
      <a:lstStyle/>
      <a:p>
        <a:r>
          <a:rPr lang="ja-JP" altLang="en-US"/>
          <a:t>[4/7版追記]課題をどう解決するのかが不明瞭であったため、本ページを追加</a:t>
        </a:r>
      </a:p>
    </p188:txBody>
  </p188:cm>
</p188:cmLst>
</file>

<file path=ppt/comments/modernComment_108_0.xml><?xml version="1.0" encoding="utf-8"?>
<p188:cmLst xmlns:a="http://schemas.openxmlformats.org/drawingml/2006/main" xmlns:r="http://schemas.openxmlformats.org/officeDocument/2006/relationships" xmlns:p188="http://schemas.microsoft.com/office/powerpoint/2018/8/main">
  <p188:cm id="{12154711-E306-41D3-B291-9E2E96AAC888}" authorId="{2D03C3AB-DF2B-5B23-888C-119B8DA16063}" created="2026-04-07T10:54:58.945">
    <ac:txMkLst xmlns:ac="http://schemas.microsoft.com/office/drawing/2013/main/command">
      <pc:docMk xmlns:pc="http://schemas.microsoft.com/office/powerpoint/2013/main/command"/>
      <pc:sldMk xmlns:pc="http://schemas.microsoft.com/office/powerpoint/2013/main/command" cId="0" sldId="264"/>
      <ac:spMk id="251" creationId="{00000000-0000-0000-0000-000000000000}"/>
      <ac:txMk cp="0" len="61">
        <ac:context len="63" hash="2140721254"/>
      </ac:txMk>
    </ac:txMkLst>
    <p188:pos x="7444158" y="178420"/>
    <p188:txBody>
      <a:bodyPr/>
      <a:lstStyle/>
      <a:p>
        <a:r>
          <a:rPr lang="ja-JP" altLang="en-US"/>
          <a:t>[4/7版追記]何を優先的に評価すべきなのか・その理由が不明だったため、評価観点と優先度の方針を記載</a:t>
        </a:r>
      </a:p>
    </p188:txBody>
  </p188:cm>
</p188:cmLst>
</file>

<file path=ppt/comments/modernComment_120_5298337A.xml><?xml version="1.0" encoding="utf-8"?>
<p188:cmLst xmlns:a="http://schemas.openxmlformats.org/drawingml/2006/main" xmlns:r="http://schemas.openxmlformats.org/officeDocument/2006/relationships" xmlns:p188="http://schemas.microsoft.com/office/powerpoint/2018/8/main">
  <p188:cm id="{89929A76-B45B-41F3-959B-716445A3B8F8}" authorId="{2D03C3AB-DF2B-5B23-888C-119B8DA16063}" created="2026-04-07T10:49:35.645">
    <ac:txMkLst xmlns:ac="http://schemas.microsoft.com/office/drawing/2013/main/command">
      <pc:docMk xmlns:pc="http://schemas.microsoft.com/office/powerpoint/2013/main/command"/>
      <pc:sldMk xmlns:pc="http://schemas.microsoft.com/office/powerpoint/2013/main/command" cId="1385706362" sldId="288"/>
      <ac:spMk id="101" creationId="{00000000-0000-0000-0000-000000000000}"/>
      <ac:txMk cp="0" len="16">
        <ac:context len="17" hash="2100749730"/>
      </ac:txMk>
    </ac:txMkLst>
    <p188:pos x="3065346" y="180278"/>
    <p188:txBody>
      <a:bodyPr/>
      <a:lstStyle/>
      <a:p>
        <a:r>
          <a:rPr lang="ja-JP" altLang="en-US"/>
          <a:t>[4/7版追記]技術採用方針の前提・目的（何を目指すか）を明示するように改訂</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游ゴシック" panose="020B0400000000000000" pitchFamily="50" charset="-128"/>
        <a:ea typeface="游ゴシック" panose="020B0400000000000000" pitchFamily="50"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游ゴシック" panose="020B0400000000000000" pitchFamily="50" charset="-128"/>
              <a:ea typeface="游ゴシック" panose="020B0400000000000000" pitchFamily="50"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游ゴシック" panose="020B0400000000000000" pitchFamily="50" charset="-128"/>
              <a:ea typeface="游ゴシック" panose="020B0400000000000000" pitchFamily="50" charset="-128"/>
            </a:endParaRPr>
          </a:p>
        </p:txBody>
      </p:sp>
      <p:sp>
        <p:nvSpPr>
          <p:cNvPr id="99" name="Google Shape;9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0" name="Google Shape;140;p4: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141" name="Google Shape;141;p4: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3</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4" name="Google Shape;174;p5:notes"/>
          <p:cNvSpPr txBox="1">
            <a:spLocks noGrp="1"/>
          </p:cNvSpPr>
          <p:nvPr>
            <p:ph type="body" idx="1"/>
          </p:nvPr>
        </p:nvSpPr>
        <p:spPr>
          <a:xfrm>
            <a:off x="0" y="0"/>
            <a:ext cx="4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175" name="Google Shape;175;p5:notes"/>
          <p:cNvSpPr txBox="1">
            <a:spLocks noGrp="1"/>
          </p:cNvSpPr>
          <p:nvPr>
            <p:ph type="sldNum" idx="12"/>
          </p:nvPr>
        </p:nvSpPr>
        <p:spPr>
          <a:xfrm>
            <a:off x="0" y="0"/>
            <a:ext cx="4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4</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6" name="Google Shape;186;p6:notes"/>
          <p:cNvSpPr txBox="1">
            <a:spLocks noGrp="1"/>
          </p:cNvSpPr>
          <p:nvPr>
            <p:ph type="body" idx="1"/>
          </p:nvPr>
        </p:nvSpPr>
        <p:spPr>
          <a:xfrm>
            <a:off x="0" y="0"/>
            <a:ext cx="4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187" name="Google Shape;187;p6:notes"/>
          <p:cNvSpPr txBox="1">
            <a:spLocks noGrp="1"/>
          </p:cNvSpPr>
          <p:nvPr>
            <p:ph type="sldNum" idx="12"/>
          </p:nvPr>
        </p:nvSpPr>
        <p:spPr>
          <a:xfrm>
            <a:off x="0" y="0"/>
            <a:ext cx="4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5</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7" name="Google Shape;197;p7: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198" name="Google Shape;198;p7: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6</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9" name="Google Shape;23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游ゴシック" panose="020B0400000000000000" pitchFamily="50" charset="-128"/>
              <a:ea typeface="游ゴシック" panose="020B0400000000000000" pitchFamily="50"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9: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45" name="Google Shape;245;p9: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8</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6" name="Google Shape;256;p10: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57" name="Google Shape;257;p10: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9</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1998F9AC-C36D-B70C-0580-BE621FDDF85D}"/>
            </a:ext>
          </a:extLst>
        </p:cNvPr>
        <p:cNvGrpSpPr/>
        <p:nvPr/>
      </p:nvGrpSpPr>
      <p:grpSpPr>
        <a:xfrm>
          <a:off x="0" y="0"/>
          <a:ext cx="0" cy="0"/>
          <a:chOff x="0" y="0"/>
          <a:chExt cx="0" cy="0"/>
        </a:xfrm>
      </p:grpSpPr>
      <p:sp>
        <p:nvSpPr>
          <p:cNvPr id="255" name="Google Shape;255;p10:notes">
            <a:extLst>
              <a:ext uri="{FF2B5EF4-FFF2-40B4-BE49-F238E27FC236}">
                <a16:creationId xmlns:a16="http://schemas.microsoft.com/office/drawing/2014/main" id="{785E1BA6-FC2C-D7E3-4ACC-4995C3CCCD9F}"/>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6" name="Google Shape;256;p10:notes">
            <a:extLst>
              <a:ext uri="{FF2B5EF4-FFF2-40B4-BE49-F238E27FC236}">
                <a16:creationId xmlns:a16="http://schemas.microsoft.com/office/drawing/2014/main" id="{7FB07284-C7BB-1A78-E08E-4A8F9272A774}"/>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57" name="Google Shape;257;p10:notes">
            <a:extLst>
              <a:ext uri="{FF2B5EF4-FFF2-40B4-BE49-F238E27FC236}">
                <a16:creationId xmlns:a16="http://schemas.microsoft.com/office/drawing/2014/main" id="{64870D71-BEEF-B217-9458-4AE12B5404DA}"/>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10</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extLst>
      <p:ext uri="{BB962C8B-B14F-4D97-AF65-F5344CB8AC3E}">
        <p14:creationId xmlns:p14="http://schemas.microsoft.com/office/powerpoint/2010/main" val="42585244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8" name="Google Shape;268;p11:notes"/>
          <p:cNvSpPr txBox="1">
            <a:spLocks noGrp="1"/>
          </p:cNvSpPr>
          <p:nvPr>
            <p:ph type="body" idx="1"/>
          </p:nvPr>
        </p:nvSpPr>
        <p:spPr>
          <a:xfrm>
            <a:off x="0" y="0"/>
            <a:ext cx="4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69" name="Google Shape;269;p11:notes"/>
          <p:cNvSpPr txBox="1">
            <a:spLocks noGrp="1"/>
          </p:cNvSpPr>
          <p:nvPr>
            <p:ph type="sldNum" idx="12"/>
          </p:nvPr>
        </p:nvSpPr>
        <p:spPr>
          <a:xfrm>
            <a:off x="0" y="0"/>
            <a:ext cx="4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11</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1" name="Google Shape;281;p12: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82" name="Google Shape;282;p12: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12</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3" name="Google Shape;293;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游ゴシック" panose="020B0400000000000000" pitchFamily="50" charset="-128"/>
              <a:ea typeface="游ゴシック" panose="020B0400000000000000" pitchFamily="50"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8" name="Google Shape;298;p14: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299" name="Google Shape;299;p14: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14</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0" name="Google Shape;310;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游ゴシック" panose="020B0400000000000000" pitchFamily="50" charset="-128"/>
              <a:ea typeface="游ゴシック" panose="020B0400000000000000" pitchFamily="50"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游ゴシック" panose="020B0400000000000000" pitchFamily="50" charset="-128"/>
              <a:ea typeface="游ゴシック" panose="020B0400000000000000" pitchFamily="50" charset="-128"/>
            </a:endParaRPr>
          </a:p>
        </p:txBody>
      </p:sp>
      <p:sp>
        <p:nvSpPr>
          <p:cNvPr id="315" name="Google Shape;31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1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3" name="Google Shape;323;p17: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324" name="Google Shape;324;p17: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17</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1" name="Google Shape;341;p18: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342" name="Google Shape;342;p18: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altLang="ja" sz="1800" b="0" i="0" u="none" strike="noStrike" cap="none">
                <a:solidFill>
                  <a:schemeClr val="dk1"/>
                </a:solidFill>
                <a:latin typeface="游ゴシック" panose="020B0400000000000000" pitchFamily="50" charset="-128"/>
                <a:ea typeface="游ゴシック" panose="020B0400000000000000" pitchFamily="50" charset="-128"/>
                <a:sym typeface="Arial"/>
              </a:rPr>
              <a:t>18</a:t>
            </a:fld>
            <a:endParaRPr sz="18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游ゴシック" panose="020B0400000000000000" pitchFamily="50" charset="-128"/>
              <a:ea typeface="游ゴシック" panose="020B0400000000000000" pitchFamily="50" charset="-128"/>
            </a:endParaRPr>
          </a:p>
        </p:txBody>
      </p:sp>
      <p:sp>
        <p:nvSpPr>
          <p:cNvPr id="384" name="Google Shape;384;p19: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20: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399" name="Google Shape;399;p20: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21: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435" name="Google Shape;435;p21: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22: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456" name="Google Shape;456;p22: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23: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487" name="Google Shape;487;p23: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24: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505" name="Google Shape;505;p24: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25: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525" name="Google Shape;525;p25: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26: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558" name="Google Shape;558;p26: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27: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596" name="Google Shape;596;p27: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28: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636" name="Google Shape;636;p28: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29: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676" name="Google Shape;676;p29: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30:notes"/>
          <p:cNvSpPr txBox="1">
            <a:spLocks noGrp="1"/>
          </p:cNvSpPr>
          <p:nvPr>
            <p:ph type="body" idx="1"/>
          </p:nvPr>
        </p:nvSpPr>
        <p:spPr>
          <a:xfrm>
            <a:off x="914400" y="4343400"/>
            <a:ext cx="7315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游ゴシック" panose="020B0400000000000000" pitchFamily="50" charset="-128"/>
              <a:ea typeface="游ゴシック" panose="020B0400000000000000" pitchFamily="50" charset="-128"/>
              <a:sym typeface="Arial"/>
            </a:endParaRPr>
          </a:p>
        </p:txBody>
      </p:sp>
      <p:sp>
        <p:nvSpPr>
          <p:cNvPr id="696" name="Google Shape;696;p30:notes"/>
          <p:cNvSpPr>
            <a:spLocks noGrp="1" noRot="1" noChangeAspect="1"/>
          </p:cNvSpPr>
          <p:nvPr>
            <p:ph type="sldImg" idx="2"/>
          </p:nvPr>
        </p:nvSpPr>
        <p:spPr>
          <a:xfrm>
            <a:off x="1524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
        <p:cNvGrpSpPr/>
        <p:nvPr/>
      </p:nvGrpSpPr>
      <p:grpSpPr>
        <a:xfrm>
          <a:off x="0" y="0"/>
          <a:ext cx="0" cy="0"/>
          <a:chOff x="0" y="0"/>
          <a:chExt cx="0" cy="0"/>
        </a:xfrm>
      </p:grpSpPr>
      <p:sp>
        <p:nvSpPr>
          <p:cNvPr id="8" name="Google Shape;8;p33"/>
          <p:cNvSpPr txBox="1">
            <a:spLocks noGrp="1"/>
          </p:cNvSpPr>
          <p:nvPr>
            <p:ph type="dt" idx="10"/>
          </p:nvPr>
        </p:nvSpPr>
        <p:spPr>
          <a:xfrm>
            <a:off x="342900" y="4767263"/>
            <a:ext cx="16002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3"/>
          <p:cNvSpPr txBox="1">
            <a:spLocks noGrp="1"/>
          </p:cNvSpPr>
          <p:nvPr>
            <p:ph type="ftr" idx="11"/>
          </p:nvPr>
        </p:nvSpPr>
        <p:spPr>
          <a:xfrm>
            <a:off x="2343150" y="4767263"/>
            <a:ext cx="21717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3"/>
          <p:cNvSpPr txBox="1">
            <a:spLocks noGrp="1"/>
          </p:cNvSpPr>
          <p:nvPr>
            <p:ph type="sldNum" idx="12"/>
          </p:nvPr>
        </p:nvSpPr>
        <p:spPr>
          <a:xfrm>
            <a:off x="4914900" y="4767263"/>
            <a:ext cx="16002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7"/>
        <p:cNvGrpSpPr/>
        <p:nvPr/>
      </p:nvGrpSpPr>
      <p:grpSpPr>
        <a:xfrm>
          <a:off x="0" y="0"/>
          <a:ext cx="0" cy="0"/>
          <a:chOff x="0" y="0"/>
          <a:chExt cx="0" cy="0"/>
        </a:xfrm>
      </p:grpSpPr>
      <p:sp>
        <p:nvSpPr>
          <p:cNvPr id="18" name="Google Shape;18;p35"/>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19" name="Google Shape;19;p35"/>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atin typeface="游ゴシック" panose="020B0400000000000000" pitchFamily="50" charset="-128"/>
                <a:ea typeface="游ゴシック" panose="020B0400000000000000" pitchFamily="50" charset="-128"/>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dirty="0"/>
          </a:p>
        </p:txBody>
      </p:sp>
      <p:sp>
        <p:nvSpPr>
          <p:cNvPr id="20" name="Google Shape;20;p3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21" name="Google Shape;21;p3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22" name="Google Shape;22;p3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23"/>
        <p:cNvGrpSpPr/>
        <p:nvPr/>
      </p:nvGrpSpPr>
      <p:grpSpPr>
        <a:xfrm>
          <a:off x="0" y="0"/>
          <a:ext cx="0" cy="0"/>
          <a:chOff x="0" y="0"/>
          <a:chExt cx="0" cy="0"/>
        </a:xfrm>
      </p:grpSpPr>
      <p:sp>
        <p:nvSpPr>
          <p:cNvPr id="24" name="Google Shape;24;p36"/>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25" name="Google Shape;25;p36"/>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游ゴシック" panose="020B0400000000000000" pitchFamily="50" charset="-128"/>
                <a:ea typeface="游ゴシック" panose="020B0400000000000000" pitchFamily="50" charset="-128"/>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26" name="Google Shape;26;p3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27" name="Google Shape;27;p3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28" name="Google Shape;28;p3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29"/>
        <p:cNvGrpSpPr/>
        <p:nvPr/>
      </p:nvGrpSpPr>
      <p:grpSpPr>
        <a:xfrm>
          <a:off x="0" y="0"/>
          <a:ext cx="0" cy="0"/>
          <a:chOff x="0" y="0"/>
          <a:chExt cx="0" cy="0"/>
        </a:xfrm>
      </p:grpSpPr>
      <p:sp>
        <p:nvSpPr>
          <p:cNvPr id="30" name="Google Shape;30;p37"/>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31" name="Google Shape;31;p37"/>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757575"/>
              </a:buClr>
              <a:buSzPts val="1800"/>
              <a:buNone/>
              <a:defRPr sz="1800">
                <a:solidFill>
                  <a:srgbClr val="757575"/>
                </a:solidFill>
                <a:latin typeface="游ゴシック" panose="020B0400000000000000" pitchFamily="50" charset="-128"/>
                <a:ea typeface="游ゴシック" panose="020B0400000000000000" pitchFamily="50" charset="-128"/>
              </a:defRPr>
            </a:lvl1pPr>
            <a:lvl2pPr marL="914400" lvl="1" indent="-228600" algn="l">
              <a:lnSpc>
                <a:spcPct val="90000"/>
              </a:lnSpc>
              <a:spcBef>
                <a:spcPts val="400"/>
              </a:spcBef>
              <a:spcAft>
                <a:spcPts val="0"/>
              </a:spcAft>
              <a:buClr>
                <a:srgbClr val="757575"/>
              </a:buClr>
              <a:buSzPts val="1500"/>
              <a:buNone/>
              <a:defRPr sz="1500">
                <a:solidFill>
                  <a:srgbClr val="757575"/>
                </a:solidFill>
              </a:defRPr>
            </a:lvl2pPr>
            <a:lvl3pPr marL="1371600" lvl="2" indent="-228600" algn="l">
              <a:lnSpc>
                <a:spcPct val="90000"/>
              </a:lnSpc>
              <a:spcBef>
                <a:spcPts val="400"/>
              </a:spcBef>
              <a:spcAft>
                <a:spcPts val="0"/>
              </a:spcAft>
              <a:buClr>
                <a:srgbClr val="757575"/>
              </a:buClr>
              <a:buSzPts val="1400"/>
              <a:buNone/>
              <a:defRPr sz="1400">
                <a:solidFill>
                  <a:srgbClr val="757575"/>
                </a:solidFill>
              </a:defRPr>
            </a:lvl3pPr>
            <a:lvl4pPr marL="1828800" lvl="3" indent="-228600" algn="l">
              <a:lnSpc>
                <a:spcPct val="90000"/>
              </a:lnSpc>
              <a:spcBef>
                <a:spcPts val="400"/>
              </a:spcBef>
              <a:spcAft>
                <a:spcPts val="0"/>
              </a:spcAft>
              <a:buClr>
                <a:srgbClr val="757575"/>
              </a:buClr>
              <a:buSzPts val="1200"/>
              <a:buNone/>
              <a:defRPr sz="1200">
                <a:solidFill>
                  <a:srgbClr val="757575"/>
                </a:solidFill>
              </a:defRPr>
            </a:lvl4pPr>
            <a:lvl5pPr marL="2286000" lvl="4" indent="-228600" algn="l">
              <a:lnSpc>
                <a:spcPct val="90000"/>
              </a:lnSpc>
              <a:spcBef>
                <a:spcPts val="400"/>
              </a:spcBef>
              <a:spcAft>
                <a:spcPts val="0"/>
              </a:spcAft>
              <a:buClr>
                <a:srgbClr val="757575"/>
              </a:buClr>
              <a:buSzPts val="1200"/>
              <a:buNone/>
              <a:defRPr sz="1200">
                <a:solidFill>
                  <a:srgbClr val="757575"/>
                </a:solidFill>
              </a:defRPr>
            </a:lvl5pPr>
            <a:lvl6pPr marL="2743200" lvl="5" indent="-228600" algn="l">
              <a:lnSpc>
                <a:spcPct val="90000"/>
              </a:lnSpc>
              <a:spcBef>
                <a:spcPts val="400"/>
              </a:spcBef>
              <a:spcAft>
                <a:spcPts val="0"/>
              </a:spcAft>
              <a:buClr>
                <a:srgbClr val="757575"/>
              </a:buClr>
              <a:buSzPts val="1200"/>
              <a:buNone/>
              <a:defRPr sz="1200">
                <a:solidFill>
                  <a:srgbClr val="757575"/>
                </a:solidFill>
              </a:defRPr>
            </a:lvl6pPr>
            <a:lvl7pPr marL="3200400" lvl="6" indent="-228600" algn="l">
              <a:lnSpc>
                <a:spcPct val="90000"/>
              </a:lnSpc>
              <a:spcBef>
                <a:spcPts val="400"/>
              </a:spcBef>
              <a:spcAft>
                <a:spcPts val="0"/>
              </a:spcAft>
              <a:buClr>
                <a:srgbClr val="757575"/>
              </a:buClr>
              <a:buSzPts val="1200"/>
              <a:buNone/>
              <a:defRPr sz="1200">
                <a:solidFill>
                  <a:srgbClr val="757575"/>
                </a:solidFill>
              </a:defRPr>
            </a:lvl7pPr>
            <a:lvl8pPr marL="3657600" lvl="7" indent="-228600" algn="l">
              <a:lnSpc>
                <a:spcPct val="90000"/>
              </a:lnSpc>
              <a:spcBef>
                <a:spcPts val="400"/>
              </a:spcBef>
              <a:spcAft>
                <a:spcPts val="0"/>
              </a:spcAft>
              <a:buClr>
                <a:srgbClr val="757575"/>
              </a:buClr>
              <a:buSzPts val="1200"/>
              <a:buNone/>
              <a:defRPr sz="1200">
                <a:solidFill>
                  <a:srgbClr val="757575"/>
                </a:solidFill>
              </a:defRPr>
            </a:lvl8pPr>
            <a:lvl9pPr marL="4114800" lvl="8" indent="-228600" algn="l">
              <a:lnSpc>
                <a:spcPct val="90000"/>
              </a:lnSpc>
              <a:spcBef>
                <a:spcPts val="400"/>
              </a:spcBef>
              <a:spcAft>
                <a:spcPts val="0"/>
              </a:spcAft>
              <a:buClr>
                <a:srgbClr val="757575"/>
              </a:buClr>
              <a:buSzPts val="1200"/>
              <a:buNone/>
              <a:defRPr sz="1200">
                <a:solidFill>
                  <a:srgbClr val="757575"/>
                </a:solidFill>
              </a:defRPr>
            </a:lvl9pPr>
          </a:lstStyle>
          <a:p>
            <a:endParaRPr dirty="0"/>
          </a:p>
        </p:txBody>
      </p:sp>
      <p:sp>
        <p:nvSpPr>
          <p:cNvPr id="32" name="Google Shape;32;p3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33" name="Google Shape;33;p3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34" name="Google Shape;34;p3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35"/>
        <p:cNvGrpSpPr/>
        <p:nvPr/>
      </p:nvGrpSpPr>
      <p:grpSpPr>
        <a:xfrm>
          <a:off x="0" y="0"/>
          <a:ext cx="0" cy="0"/>
          <a:chOff x="0" y="0"/>
          <a:chExt cx="0" cy="0"/>
        </a:xfrm>
      </p:grpSpPr>
      <p:sp>
        <p:nvSpPr>
          <p:cNvPr id="36" name="Google Shape;36;p38"/>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37" name="Google Shape;37;p38"/>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游ゴシック" panose="020B0400000000000000" pitchFamily="50" charset="-128"/>
                <a:ea typeface="游ゴシック" panose="020B0400000000000000" pitchFamily="50" charset="-128"/>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38" name="Google Shape;38;p38"/>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游ゴシック" panose="020B0400000000000000" pitchFamily="50" charset="-128"/>
                <a:ea typeface="游ゴシック" panose="020B0400000000000000" pitchFamily="50" charset="-128"/>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39" name="Google Shape;39;p3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40" name="Google Shape;40;p3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41" name="Google Shape;41;p3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42"/>
        <p:cNvGrpSpPr/>
        <p:nvPr/>
      </p:nvGrpSpPr>
      <p:grpSpPr>
        <a:xfrm>
          <a:off x="0" y="0"/>
          <a:ext cx="0" cy="0"/>
          <a:chOff x="0" y="0"/>
          <a:chExt cx="0" cy="0"/>
        </a:xfrm>
      </p:grpSpPr>
      <p:sp>
        <p:nvSpPr>
          <p:cNvPr id="43" name="Google Shape;43;p39"/>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44" name="Google Shape;44;p39"/>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atin typeface="游ゴシック" panose="020B0400000000000000" pitchFamily="50" charset="-128"/>
                <a:ea typeface="游ゴシック" panose="020B0400000000000000" pitchFamily="50" charset="-128"/>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dirty="0"/>
          </a:p>
        </p:txBody>
      </p:sp>
      <p:sp>
        <p:nvSpPr>
          <p:cNvPr id="45" name="Google Shape;45;p39"/>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游ゴシック" panose="020B0400000000000000" pitchFamily="50" charset="-128"/>
                <a:ea typeface="游ゴシック" panose="020B0400000000000000" pitchFamily="50" charset="-128"/>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46" name="Google Shape;46;p39"/>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atin typeface="游ゴシック" panose="020B0400000000000000" pitchFamily="50" charset="-128"/>
                <a:ea typeface="游ゴシック" panose="020B0400000000000000" pitchFamily="50" charset="-128"/>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dirty="0"/>
          </a:p>
        </p:txBody>
      </p:sp>
      <p:sp>
        <p:nvSpPr>
          <p:cNvPr id="47" name="Google Shape;47;p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游ゴシック" panose="020B0400000000000000" pitchFamily="50" charset="-128"/>
                <a:ea typeface="游ゴシック" panose="020B0400000000000000" pitchFamily="50" charset="-128"/>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48" name="Google Shape;48;p3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49" name="Google Shape;49;p3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50" name="Google Shape;50;p3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51"/>
        <p:cNvGrpSpPr/>
        <p:nvPr/>
      </p:nvGrpSpPr>
      <p:grpSpPr>
        <a:xfrm>
          <a:off x="0" y="0"/>
          <a:ext cx="0" cy="0"/>
          <a:chOff x="0" y="0"/>
          <a:chExt cx="0" cy="0"/>
        </a:xfrm>
      </p:grpSpPr>
      <p:sp>
        <p:nvSpPr>
          <p:cNvPr id="52" name="Google Shape;52;p4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53" name="Google Shape;53;p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54" name="Google Shape;54;p4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55" name="Google Shape;55;p4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56"/>
        <p:cNvGrpSpPr/>
        <p:nvPr/>
      </p:nvGrpSpPr>
      <p:grpSpPr>
        <a:xfrm>
          <a:off x="0" y="0"/>
          <a:ext cx="0" cy="0"/>
          <a:chOff x="0" y="0"/>
          <a:chExt cx="0" cy="0"/>
        </a:xfrm>
      </p:grpSpPr>
      <p:sp>
        <p:nvSpPr>
          <p:cNvPr id="57" name="Google Shape;57;p4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58" name="Google Shape;58;p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59" name="Google Shape;59;p4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60"/>
        <p:cNvGrpSpPr/>
        <p:nvPr/>
      </p:nvGrpSpPr>
      <p:grpSpPr>
        <a:xfrm>
          <a:off x="0" y="0"/>
          <a:ext cx="0" cy="0"/>
          <a:chOff x="0" y="0"/>
          <a:chExt cx="0" cy="0"/>
        </a:xfrm>
      </p:grpSpPr>
      <p:sp>
        <p:nvSpPr>
          <p:cNvPr id="61" name="Google Shape;61;p42"/>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62" name="Google Shape;62;p42"/>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atin typeface="游ゴシック" panose="020B0400000000000000" pitchFamily="50" charset="-128"/>
                <a:ea typeface="游ゴシック" panose="020B0400000000000000" pitchFamily="50" charset="-128"/>
              </a:defRPr>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dirty="0"/>
          </a:p>
        </p:txBody>
      </p:sp>
      <p:sp>
        <p:nvSpPr>
          <p:cNvPr id="63" name="Google Shape;63;p42"/>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atin typeface="游ゴシック" panose="020B0400000000000000" pitchFamily="50" charset="-128"/>
                <a:ea typeface="游ゴシック" panose="020B0400000000000000" pitchFamily="50" charset="-128"/>
              </a:defRPr>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dirty="0"/>
          </a:p>
        </p:txBody>
      </p:sp>
      <p:sp>
        <p:nvSpPr>
          <p:cNvPr id="64" name="Google Shape;64;p4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65" name="Google Shape;65;p4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66" name="Google Shape;66;p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7"/>
        <p:cNvGrpSpPr/>
        <p:nvPr/>
      </p:nvGrpSpPr>
      <p:grpSpPr>
        <a:xfrm>
          <a:off x="0" y="0"/>
          <a:ext cx="0" cy="0"/>
          <a:chOff x="0" y="0"/>
          <a:chExt cx="0" cy="0"/>
        </a:xfrm>
      </p:grpSpPr>
      <p:sp>
        <p:nvSpPr>
          <p:cNvPr id="68" name="Google Shape;68;p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69" name="Google Shape;69;p43"/>
          <p:cNvSpPr>
            <a:spLocks noGrp="1"/>
          </p:cNvSpPr>
          <p:nvPr>
            <p:ph type="pic" idx="2"/>
          </p:nvPr>
        </p:nvSpPr>
        <p:spPr>
          <a:xfrm>
            <a:off x="3887391" y="740569"/>
            <a:ext cx="4629150" cy="3655219"/>
          </a:xfrm>
          <a:prstGeom prst="rect">
            <a:avLst/>
          </a:prstGeom>
          <a:noFill/>
          <a:ln>
            <a:noFill/>
          </a:ln>
        </p:spPr>
      </p:sp>
      <p:sp>
        <p:nvSpPr>
          <p:cNvPr id="70" name="Google Shape;70;p43"/>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atin typeface="游ゴシック" panose="020B0400000000000000" pitchFamily="50" charset="-128"/>
                <a:ea typeface="游ゴシック" panose="020B0400000000000000" pitchFamily="50" charset="-128"/>
              </a:defRPr>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dirty="0"/>
          </a:p>
        </p:txBody>
      </p:sp>
      <p:sp>
        <p:nvSpPr>
          <p:cNvPr id="71" name="Google Shape;71;p4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72" name="Google Shape;72;p4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73" name="Google Shape;73;p4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74"/>
        <p:cNvGrpSpPr/>
        <p:nvPr/>
      </p:nvGrpSpPr>
      <p:grpSpPr>
        <a:xfrm>
          <a:off x="0" y="0"/>
          <a:ext cx="0" cy="0"/>
          <a:chOff x="0" y="0"/>
          <a:chExt cx="0" cy="0"/>
        </a:xfrm>
      </p:grpSpPr>
      <p:sp>
        <p:nvSpPr>
          <p:cNvPr id="75" name="Google Shape;75;p4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76" name="Google Shape;76;p44"/>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游ゴシック" panose="020B0400000000000000" pitchFamily="50" charset="-128"/>
                <a:ea typeface="游ゴシック" panose="020B0400000000000000" pitchFamily="50" charset="-128"/>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77" name="Google Shape;77;p4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78" name="Google Shape;78;p4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79" name="Google Shape;79;p4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80"/>
        <p:cNvGrpSpPr/>
        <p:nvPr/>
      </p:nvGrpSpPr>
      <p:grpSpPr>
        <a:xfrm>
          <a:off x="0" y="0"/>
          <a:ext cx="0" cy="0"/>
          <a:chOff x="0" y="0"/>
          <a:chExt cx="0" cy="0"/>
        </a:xfrm>
      </p:grpSpPr>
      <p:sp>
        <p:nvSpPr>
          <p:cNvPr id="81" name="Google Shape;81;p4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atin typeface="游ゴシック" panose="020B0400000000000000" pitchFamily="50" charset="-128"/>
                <a:ea typeface="游ゴシック" panose="020B0400000000000000" pitchFamily="50" charset="-128"/>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
        <p:nvSpPr>
          <p:cNvPr id="82" name="Google Shape;82;p45"/>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atin typeface="游ゴシック" panose="020B0400000000000000" pitchFamily="50" charset="-128"/>
                <a:ea typeface="游ゴシック" panose="020B0400000000000000" pitchFamily="50" charset="-128"/>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dirty="0"/>
          </a:p>
        </p:txBody>
      </p:sp>
      <p:sp>
        <p:nvSpPr>
          <p:cNvPr id="83" name="Google Shape;83;p4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84" name="Google Shape;84;p4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lang="ja-JP" altLang="en-US" dirty="0"/>
          </a:p>
        </p:txBody>
      </p:sp>
      <p:sp>
        <p:nvSpPr>
          <p:cNvPr id="85" name="Google Shape;85;p4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
        <p:cNvGrpSpPr/>
        <p:nvPr/>
      </p:nvGrpSpPr>
      <p:grpSpPr>
        <a:xfrm>
          <a:off x="0" y="0"/>
          <a:ext cx="0" cy="0"/>
          <a:chOff x="0" y="0"/>
          <a:chExt cx="0" cy="0"/>
        </a:xfrm>
      </p:grpSpPr>
      <p:sp>
        <p:nvSpPr>
          <p:cNvPr id="12" name="Google Shape;12;p3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dirty="0"/>
          </a:p>
        </p:txBody>
      </p:sp>
      <p:sp>
        <p:nvSpPr>
          <p:cNvPr id="13" name="Google Shape;13;p34"/>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dirty="0"/>
          </a:p>
        </p:txBody>
      </p:sp>
      <p:sp>
        <p:nvSpPr>
          <p:cNvPr id="14" name="Google Shape;14;p3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lang="ja-JP" altLang="en-US" dirty="0"/>
          </a:p>
        </p:txBody>
      </p:sp>
      <p:sp>
        <p:nvSpPr>
          <p:cNvPr id="15" name="Google Shape;15;p3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lang="ja-JP" altLang="en-US" dirty="0"/>
          </a:p>
        </p:txBody>
      </p:sp>
      <p:sp>
        <p:nvSpPr>
          <p:cNvPr id="16" name="Google Shape;16;p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游ゴシック" panose="020B0400000000000000" pitchFamily="50" charset="-128"/>
                <a:ea typeface="游ゴシック" panose="020B0400000000000000" pitchFamily="50" charset="-128"/>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757575"/>
                </a:solidFill>
                <a:latin typeface="Arial"/>
                <a:ea typeface="Arial"/>
                <a:cs typeface="Arial"/>
                <a:sym typeface="Arial"/>
              </a:defRPr>
            </a:lvl9pPr>
          </a:lstStyle>
          <a:p>
            <a:fld id="{00000000-1234-1234-1234-123412341234}" type="slidenum">
              <a:rPr lang="en-US" altLang="ja" smtClean="0"/>
              <a:pPr/>
              <a:t>‹#›</a:t>
            </a:fld>
            <a:endParaRPr lang="ja" altLang="en-US" dirty="0"/>
          </a:p>
        </p:txBody>
      </p:sp>
    </p:spTree>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游ゴシック" panose="020B0400000000000000" pitchFamily="50" charset="-128"/>
          <a:ea typeface="游ゴシック" panose="020B0400000000000000" pitchFamily="50"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游ゴシック" panose="020B0400000000000000" pitchFamily="50" charset="-128"/>
          <a:ea typeface="游ゴシック" panose="020B0400000000000000" pitchFamily="50"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20_5298337A.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4_0.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6_0.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08_0.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2E_1AC6E4E6.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10F_0.xml"/><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p:nvPr/>
        </p:nvSpPr>
        <p:spPr>
          <a:xfrm>
            <a:off x="594550" y="787550"/>
            <a:ext cx="7562100" cy="31896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ja" sz="1400" b="0" i="0" u="none" strike="noStrike" cap="none" dirty="0">
                <a:solidFill>
                  <a:srgbClr val="000000"/>
                </a:solidFill>
                <a:latin typeface="游ゴシック" panose="020B0400000000000000" pitchFamily="50" charset="-128"/>
                <a:ea typeface="游ゴシック" panose="020B0400000000000000" pitchFamily="50" charset="-128"/>
                <a:sym typeface="Arial"/>
              </a:rPr>
              <a:t>1. </a:t>
            </a:r>
            <a:r>
              <a:rPr lang="ja-JP" altLang="en-US" sz="1400" b="0" i="0" u="none" strike="noStrike" cap="none" dirty="0">
                <a:solidFill>
                  <a:srgbClr val="000000"/>
                </a:solidFill>
                <a:latin typeface="游ゴシック" panose="020B0400000000000000" pitchFamily="50" charset="-128"/>
                <a:ea typeface="游ゴシック" panose="020B0400000000000000" pitchFamily="50" charset="-128"/>
                <a:sym typeface="Arial"/>
              </a:rPr>
              <a:t>新分析基盤の背景・前提と選定要件</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
          <p:cNvSpPr txBox="1"/>
          <p:nvPr/>
        </p:nvSpPr>
        <p:spPr>
          <a:xfrm>
            <a:off x="406400" y="228600"/>
            <a:ext cx="84963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1.1  </a:t>
            </a:r>
            <a:r>
              <a:rPr lang="ja-JP" altLang="en-US"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新分析基盤の背景・前提</a:t>
            </a:r>
            <a:endParaRPr dirty="0">
              <a:latin typeface="游ゴシック" panose="020B0400000000000000" pitchFamily="50" charset="-128"/>
              <a:ea typeface="游ゴシック" panose="020B0400000000000000" pitchFamily="50" charset="-128"/>
            </a:endParaRPr>
          </a:p>
        </p:txBody>
      </p:sp>
      <p:sp>
        <p:nvSpPr>
          <p:cNvPr id="102" name="Google Shape;102;p3"/>
          <p:cNvSpPr txBox="1"/>
          <p:nvPr/>
        </p:nvSpPr>
        <p:spPr>
          <a:xfrm>
            <a:off x="406400" y="609600"/>
            <a:ext cx="8496300" cy="279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ja-JP" altLang="en-US"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利用範囲に適したコスト構造で</a:t>
            </a:r>
            <a:r>
              <a:rPr lang="en" altLang="ja-JP"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SOMPO</a:t>
            </a:r>
            <a:r>
              <a:rPr lang="ja-JP" altLang="en-US"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ケア固有のデータ資産を管理し、将来的に分析対象を段階的に広げられる共通基盤として整備する</a:t>
            </a:r>
            <a:endParaRPr dirty="0">
              <a:latin typeface="游ゴシック" panose="020B0400000000000000" pitchFamily="50" charset="-128"/>
              <a:ea typeface="游ゴシック" panose="020B0400000000000000" pitchFamily="50" charset="-128"/>
            </a:endParaRPr>
          </a:p>
        </p:txBody>
      </p:sp>
      <p:cxnSp>
        <p:nvCxnSpPr>
          <p:cNvPr id="103" name="Google Shape;103;p3"/>
          <p:cNvCxnSpPr/>
          <p:nvPr/>
        </p:nvCxnSpPr>
        <p:spPr>
          <a:xfrm>
            <a:off x="0" y="4876800"/>
            <a:ext cx="9144000" cy="0"/>
          </a:xfrm>
          <a:prstGeom prst="straightConnector1">
            <a:avLst/>
          </a:prstGeom>
          <a:noFill/>
          <a:ln w="9525" cap="flat" cmpd="sng">
            <a:solidFill>
              <a:srgbClr val="E0E0E0"/>
            </a:solidFill>
            <a:prstDash val="solid"/>
            <a:round/>
            <a:headEnd type="none" w="sm" len="sm"/>
            <a:tailEnd type="none" w="sm" len="sm"/>
          </a:ln>
        </p:spPr>
      </p:cxnSp>
      <p:sp>
        <p:nvSpPr>
          <p:cNvPr id="104" name="Google Shape;104;p3"/>
          <p:cNvSpPr txBox="1"/>
          <p:nvPr/>
        </p:nvSpPr>
        <p:spPr>
          <a:xfrm>
            <a:off x="406400" y="4927600"/>
            <a:ext cx="190500" cy="8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50"/>
              <a:buFont typeface="Arial"/>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dirty="0">
              <a:latin typeface="游ゴシック" panose="020B0400000000000000" pitchFamily="50" charset="-128"/>
              <a:ea typeface="游ゴシック" panose="020B0400000000000000" pitchFamily="50" charset="-128"/>
            </a:endParaRPr>
          </a:p>
        </p:txBody>
      </p:sp>
      <p:sp>
        <p:nvSpPr>
          <p:cNvPr id="105" name="Google Shape;105;p3"/>
          <p:cNvSpPr txBox="1"/>
          <p:nvPr/>
        </p:nvSpPr>
        <p:spPr>
          <a:xfrm>
            <a:off x="8128000" y="4927600"/>
            <a:ext cx="622300" cy="8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550"/>
              <a:buFont typeface="Arial"/>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1</a:t>
            </a:r>
            <a:endParaRPr dirty="0">
              <a:latin typeface="游ゴシック" panose="020B0400000000000000" pitchFamily="50" charset="-128"/>
              <a:ea typeface="游ゴシック" panose="020B0400000000000000" pitchFamily="50" charset="-128"/>
            </a:endParaRPr>
          </a:p>
        </p:txBody>
      </p:sp>
      <p:sp>
        <p:nvSpPr>
          <p:cNvPr id="106" name="Google Shape;106;p3"/>
          <p:cNvSpPr txBox="1"/>
          <p:nvPr/>
        </p:nvSpPr>
        <p:spPr>
          <a:xfrm>
            <a:off x="406400" y="1028700"/>
            <a:ext cx="4114800" cy="152400"/>
          </a:xfrm>
          <a:prstGeom prst="rect">
            <a:avLst/>
          </a:prstGeom>
          <a:noFill/>
          <a:ln>
            <a:noFill/>
          </a:ln>
        </p:spPr>
        <p:txBody>
          <a:bodyPr spcFirstLastPara="1" wrap="square" lIns="0" tIns="0" rIns="0" bIns="0" anchor="t" anchorCtr="0">
            <a:noAutofit/>
          </a:bodyPr>
          <a:lstStyle/>
          <a:p>
            <a:pPr>
              <a:buSzPts val="800"/>
            </a:pP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①</a:t>
            </a:r>
            <a:r>
              <a:rPr lang="ja-JP" altLang="en-US"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新分析環境に求める</a:t>
            </a:r>
            <a:r>
              <a:rPr lang="en-US" altLang="ja-JP"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5</a:t>
            </a:r>
            <a:r>
              <a:rPr lang="ja-JP" altLang="en-US"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つの目的</a:t>
            </a:r>
            <a:endParaRPr dirty="0">
              <a:latin typeface="游ゴシック" panose="020B0400000000000000" pitchFamily="50" charset="-128"/>
              <a:ea typeface="游ゴシック" panose="020B0400000000000000" pitchFamily="50" charset="-128"/>
            </a:endParaRPr>
          </a:p>
        </p:txBody>
      </p:sp>
      <p:cxnSp>
        <p:nvCxnSpPr>
          <p:cNvPr id="107" name="Google Shape;107;p3"/>
          <p:cNvCxnSpPr/>
          <p:nvPr/>
        </p:nvCxnSpPr>
        <p:spPr>
          <a:xfrm>
            <a:off x="406400" y="1206500"/>
            <a:ext cx="4114800" cy="0"/>
          </a:xfrm>
          <a:prstGeom prst="straightConnector1">
            <a:avLst/>
          </a:prstGeom>
          <a:noFill/>
          <a:ln w="9525" cap="flat" cmpd="sng">
            <a:solidFill>
              <a:srgbClr val="E0E0E0"/>
            </a:solidFill>
            <a:prstDash val="solid"/>
            <a:round/>
            <a:headEnd type="none" w="sm" len="sm"/>
            <a:tailEnd type="none" w="sm" len="sm"/>
          </a:ln>
        </p:spPr>
      </p:cxnSp>
      <p:sp>
        <p:nvSpPr>
          <p:cNvPr id="108" name="Google Shape;108;p3"/>
          <p:cNvSpPr txBox="1"/>
          <p:nvPr/>
        </p:nvSpPr>
        <p:spPr>
          <a:xfrm>
            <a:off x="534074" y="1282699"/>
            <a:ext cx="3987126" cy="1775970"/>
          </a:xfrm>
          <a:prstGeom prst="rect">
            <a:avLst/>
          </a:prstGeom>
          <a:noFill/>
          <a:ln>
            <a:noFill/>
          </a:ln>
        </p:spPr>
        <p:txBody>
          <a:bodyPr spcFirstLastPara="1" wrap="square" lIns="0" tIns="0" rIns="0" bIns="0" anchor="t" anchorCtr="0">
            <a:noAutofit/>
          </a:bodyPr>
          <a:lstStyle/>
          <a:p>
            <a:pPr marL="171450" marR="0" lvl="0" indent="-171450" algn="l" rtl="0">
              <a:lnSpc>
                <a:spcPct val="100000"/>
              </a:lnSpc>
              <a:spcBef>
                <a:spcPts val="0"/>
              </a:spcBef>
              <a:spcAft>
                <a:spcPts val="0"/>
              </a:spcAft>
              <a:buClr>
                <a:srgbClr val="000000"/>
              </a:buClr>
              <a:buSzPts val="900"/>
              <a:buFont typeface="Arial"/>
              <a:buAutoNum type="arabicPeriod"/>
            </a:pPr>
            <a:r>
              <a:rPr lang="en-US" sz="800" b="1" dirty="0">
                <a:latin typeface="游ゴシック" panose="020B0400000000000000" pitchFamily="50" charset="-128"/>
                <a:ea typeface="游ゴシック" panose="020B0400000000000000" pitchFamily="50" charset="-128"/>
              </a:rPr>
              <a:t>コストの最適化</a:t>
            </a:r>
          </a:p>
          <a:p>
            <a:pPr marL="171450" marR="0" lvl="0" indent="0" algn="l" rtl="0">
              <a:lnSpc>
                <a:spcPct val="100000"/>
              </a:lnSpc>
              <a:spcBef>
                <a:spcPts val="0"/>
              </a:spcBef>
              <a:spcAft>
                <a:spcPts val="200"/>
              </a:spcAft>
              <a:buNone/>
            </a:pPr>
            <a:r>
              <a:rPr lang="en-US" sz="700" dirty="0">
                <a:solidFill>
                  <a:srgbClr val="555555"/>
                </a:solidFill>
                <a:latin typeface="游ゴシック" panose="020B0400000000000000" pitchFamily="50" charset="-128"/>
                <a:ea typeface="游ゴシック" panose="020B0400000000000000" pitchFamily="50" charset="-128"/>
              </a:rPr>
              <a:t>事業規模相応の費用対効果の高い環境を構築。コスト透明性を確保し、将来のスケーリングにも合理的に対応</a:t>
            </a:r>
          </a:p>
          <a:p>
            <a:pPr marL="171450" marR="0" lvl="0" indent="-171450" algn="l" rtl="0">
              <a:lnSpc>
                <a:spcPct val="100000"/>
              </a:lnSpc>
              <a:spcBef>
                <a:spcPts val="0"/>
              </a:spcBef>
              <a:spcAft>
                <a:spcPts val="0"/>
              </a:spcAft>
              <a:buClr>
                <a:srgbClr val="000000"/>
              </a:buClr>
              <a:buSzPts val="900"/>
              <a:buFont typeface="Arial"/>
              <a:buAutoNum type="arabicPeriod" startAt="2"/>
            </a:pPr>
            <a:r>
              <a:rPr lang="en-US" sz="800" b="1" dirty="0">
                <a:latin typeface="游ゴシック" panose="020B0400000000000000" pitchFamily="50" charset="-128"/>
                <a:ea typeface="游ゴシック" panose="020B0400000000000000" pitchFamily="50" charset="-128"/>
              </a:rPr>
              <a:t>運用安定化・ガバナンス強化</a:t>
            </a:r>
          </a:p>
          <a:p>
            <a:pPr marL="171450" marR="0" lvl="0" indent="0" algn="l" rtl="0">
              <a:lnSpc>
                <a:spcPct val="100000"/>
              </a:lnSpc>
              <a:spcBef>
                <a:spcPts val="0"/>
              </a:spcBef>
              <a:spcAft>
                <a:spcPts val="200"/>
              </a:spcAft>
              <a:buNone/>
            </a:pPr>
            <a:r>
              <a:rPr lang="en-US" sz="700" dirty="0">
                <a:solidFill>
                  <a:srgbClr val="555555"/>
                </a:solidFill>
                <a:latin typeface="游ゴシック" panose="020B0400000000000000" pitchFamily="50" charset="-128"/>
                <a:ea typeface="游ゴシック" panose="020B0400000000000000" pitchFamily="50" charset="-128"/>
              </a:rPr>
              <a:t>パイプライン可視化・標準化。IT企画部門が主体的に保守運用できるよう監査ログ・アクセス制御・データリネージを整備</a:t>
            </a:r>
          </a:p>
          <a:p>
            <a:pPr marL="171450" marR="0" lvl="0" indent="-171450" algn="l" rtl="0">
              <a:lnSpc>
                <a:spcPct val="100000"/>
              </a:lnSpc>
              <a:spcBef>
                <a:spcPts val="0"/>
              </a:spcBef>
              <a:spcAft>
                <a:spcPts val="0"/>
              </a:spcAft>
              <a:buClr>
                <a:srgbClr val="000000"/>
              </a:buClr>
              <a:buSzPts val="900"/>
              <a:buFont typeface="Arial"/>
              <a:buAutoNum type="arabicPeriod" startAt="3"/>
            </a:pPr>
            <a:r>
              <a:rPr lang="en-US" sz="800" b="1" dirty="0">
                <a:latin typeface="游ゴシック" panose="020B0400000000000000" pitchFamily="50" charset="-128"/>
                <a:ea typeface="游ゴシック" panose="020B0400000000000000" pitchFamily="50" charset="-128"/>
              </a:rPr>
              <a:t>持続可能性・再現性の確保</a:t>
            </a:r>
          </a:p>
          <a:p>
            <a:pPr marL="171450" marR="0" lvl="0" indent="0" algn="l" rtl="0">
              <a:lnSpc>
                <a:spcPct val="100000"/>
              </a:lnSpc>
              <a:spcBef>
                <a:spcPts val="0"/>
              </a:spcBef>
              <a:spcAft>
                <a:spcPts val="200"/>
              </a:spcAft>
              <a:buNone/>
            </a:pPr>
            <a:r>
              <a:rPr lang="en-US" sz="700" dirty="0">
                <a:solidFill>
                  <a:srgbClr val="555555"/>
                </a:solidFill>
                <a:latin typeface="游ゴシック" panose="020B0400000000000000" pitchFamily="50" charset="-128"/>
                <a:ea typeface="游ゴシック" panose="020B0400000000000000" pitchFamily="50" charset="-128"/>
              </a:rPr>
              <a:t>特定ベンダーに依存しないサステナブルな基盤を構築。ドキュメント整備と標準化を推進</a:t>
            </a:r>
          </a:p>
          <a:p>
            <a:pPr marL="171450" marR="0" lvl="0" indent="-171450" algn="l" rtl="0">
              <a:lnSpc>
                <a:spcPct val="100000"/>
              </a:lnSpc>
              <a:spcBef>
                <a:spcPts val="0"/>
              </a:spcBef>
              <a:spcAft>
                <a:spcPts val="0"/>
              </a:spcAft>
              <a:buClr>
                <a:srgbClr val="000000"/>
              </a:buClr>
              <a:buSzPts val="900"/>
              <a:buFont typeface="Arial"/>
              <a:buAutoNum type="arabicPeriod" startAt="4"/>
            </a:pPr>
            <a:r>
              <a:rPr lang="en-US" sz="800" b="1" dirty="0">
                <a:latin typeface="游ゴシック" panose="020B0400000000000000" pitchFamily="50" charset="-128"/>
                <a:ea typeface="游ゴシック" panose="020B0400000000000000" pitchFamily="50" charset="-128"/>
              </a:rPr>
              <a:t>現場主導のデータ活用</a:t>
            </a:r>
          </a:p>
          <a:p>
            <a:pPr marL="171450" marR="0" lvl="0" indent="0" algn="l" rtl="0">
              <a:lnSpc>
                <a:spcPct val="100000"/>
              </a:lnSpc>
              <a:spcBef>
                <a:spcPts val="0"/>
              </a:spcBef>
              <a:spcAft>
                <a:spcPts val="200"/>
              </a:spcAft>
              <a:buNone/>
            </a:pPr>
            <a:r>
              <a:rPr lang="en-US" sz="700" dirty="0">
                <a:solidFill>
                  <a:srgbClr val="555555"/>
                </a:solidFill>
                <a:latin typeface="游ゴシック" panose="020B0400000000000000" pitchFamily="50" charset="-128"/>
                <a:ea typeface="游ゴシック" panose="020B0400000000000000" pitchFamily="50" charset="-128"/>
              </a:rPr>
              <a:t>プログラミング不要のセルフサービスBI環境を整備。施設長・オーナー部門が自らデータに基づく意思決定を行える状態を実現</a:t>
            </a:r>
          </a:p>
          <a:p>
            <a:pPr marL="171450" marR="0" lvl="0" indent="-171450" algn="l" rtl="0">
              <a:lnSpc>
                <a:spcPct val="100000"/>
              </a:lnSpc>
              <a:spcBef>
                <a:spcPts val="0"/>
              </a:spcBef>
              <a:spcAft>
                <a:spcPts val="0"/>
              </a:spcAft>
              <a:buClr>
                <a:srgbClr val="000000"/>
              </a:buClr>
              <a:buSzPts val="900"/>
              <a:buFont typeface="Arial"/>
              <a:buAutoNum type="arabicPeriod" startAt="5"/>
            </a:pPr>
            <a:r>
              <a:rPr lang="en-US" sz="800" b="1" dirty="0">
                <a:latin typeface="游ゴシック" panose="020B0400000000000000" pitchFamily="50" charset="-128"/>
                <a:ea typeface="游ゴシック" panose="020B0400000000000000" pitchFamily="50" charset="-128"/>
              </a:rPr>
              <a:t>AI対応・将来拡張性</a:t>
            </a:r>
          </a:p>
          <a:p>
            <a:pPr marL="171450" marR="0" lvl="0" indent="0" algn="l" rtl="0">
              <a:lnSpc>
                <a:spcPct val="100000"/>
              </a:lnSpc>
              <a:spcBef>
                <a:spcPts val="0"/>
              </a:spcBef>
              <a:spcAft>
                <a:spcPts val="0"/>
              </a:spcAft>
              <a:buNone/>
            </a:pPr>
            <a:r>
              <a:rPr lang="en-US" sz="700" dirty="0">
                <a:solidFill>
                  <a:srgbClr val="555555"/>
                </a:solidFill>
                <a:latin typeface="游ゴシック" panose="020B0400000000000000" pitchFamily="50" charset="-128"/>
                <a:ea typeface="游ゴシック" panose="020B0400000000000000" pitchFamily="50" charset="-128"/>
              </a:rPr>
              <a:t>AI/ML活用を実装可能なアーキテクチャを採用。セマンティック層の整備・AIエージェント連携を見据えた段階的な拡張</a:t>
            </a:r>
          </a:p>
        </p:txBody>
      </p:sp>
      <p:cxnSp>
        <p:nvCxnSpPr>
          <p:cNvPr id="113" name="Google Shape;113;p3"/>
          <p:cNvCxnSpPr/>
          <p:nvPr/>
        </p:nvCxnSpPr>
        <p:spPr>
          <a:xfrm>
            <a:off x="4597400" y="1028700"/>
            <a:ext cx="0" cy="1625600"/>
          </a:xfrm>
          <a:prstGeom prst="straightConnector1">
            <a:avLst/>
          </a:prstGeom>
          <a:noFill/>
          <a:ln w="9525" cap="flat" cmpd="sng">
            <a:solidFill>
              <a:srgbClr val="CCCCCC"/>
            </a:solidFill>
            <a:prstDash val="solid"/>
            <a:round/>
            <a:headEnd type="none" w="sm" len="sm"/>
            <a:tailEnd type="none" w="sm" len="sm"/>
          </a:ln>
        </p:spPr>
      </p:cxnSp>
      <p:sp>
        <p:nvSpPr>
          <p:cNvPr id="114" name="Google Shape;114;p3"/>
          <p:cNvSpPr txBox="1"/>
          <p:nvPr/>
        </p:nvSpPr>
        <p:spPr>
          <a:xfrm>
            <a:off x="4699000" y="1028700"/>
            <a:ext cx="4114800" cy="15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② 想定する主なユースケース</a:t>
            </a:r>
            <a:endParaRPr dirty="0">
              <a:latin typeface="游ゴシック" panose="020B0400000000000000" pitchFamily="50" charset="-128"/>
              <a:ea typeface="游ゴシック" panose="020B0400000000000000" pitchFamily="50" charset="-128"/>
            </a:endParaRPr>
          </a:p>
        </p:txBody>
      </p:sp>
      <p:cxnSp>
        <p:nvCxnSpPr>
          <p:cNvPr id="115" name="Google Shape;115;p3"/>
          <p:cNvCxnSpPr/>
          <p:nvPr/>
        </p:nvCxnSpPr>
        <p:spPr>
          <a:xfrm>
            <a:off x="4699000" y="1206500"/>
            <a:ext cx="4114800" cy="0"/>
          </a:xfrm>
          <a:prstGeom prst="straightConnector1">
            <a:avLst/>
          </a:prstGeom>
          <a:noFill/>
          <a:ln w="9525" cap="flat" cmpd="sng">
            <a:solidFill>
              <a:srgbClr val="E0E0E0"/>
            </a:solidFill>
            <a:prstDash val="solid"/>
            <a:round/>
            <a:headEnd type="none" w="sm" len="sm"/>
            <a:tailEnd type="none" w="sm" len="sm"/>
          </a:ln>
        </p:spPr>
      </p:cxnSp>
      <p:sp>
        <p:nvSpPr>
          <p:cNvPr id="116" name="Google Shape;116;p3"/>
          <p:cNvSpPr/>
          <p:nvPr/>
        </p:nvSpPr>
        <p:spPr>
          <a:xfrm>
            <a:off x="4699000" y="1282699"/>
            <a:ext cx="635000" cy="368299"/>
          </a:xfrm>
          <a:prstGeom prst="roundRect">
            <a:avLst>
              <a:gd name="adj" fmla="val 6000"/>
            </a:avLst>
          </a:prstGeom>
          <a:solidFill>
            <a:srgbClr val="E8F5E9"/>
          </a:solidFill>
          <a:ln w="9525" cap="flat" cmpd="sng">
            <a:solidFill>
              <a:srgbClr val="4CAF50"/>
            </a:solidFill>
            <a:prstDash val="solid"/>
            <a:round/>
            <a:headEnd type="none" w="sm" len="sm"/>
            <a:tailEnd type="none" w="sm" len="sm"/>
          </a:ln>
        </p:spPr>
        <p:txBody>
          <a:bodyPr spcFirstLastPara="1" wrap="square" lIns="45000" tIns="27000" rIns="45000" bIns="27000" anchor="ctr" anchorCtr="0">
            <a:noAutofit/>
          </a:bodyPr>
          <a:lstStyle/>
          <a:p>
            <a:pPr marL="0" marR="0" lvl="0" indent="0" algn="ctr" rtl="0">
              <a:lnSpc>
                <a:spcPct val="100000"/>
              </a:lnSpc>
              <a:spcBef>
                <a:spcPts val="0"/>
              </a:spcBef>
              <a:spcAft>
                <a:spcPts val="0"/>
              </a:spcAft>
              <a:buClr>
                <a:srgbClr val="000000"/>
              </a:buClr>
              <a:buSzPts val="650"/>
              <a:buFont typeface="Arial"/>
              <a:buNone/>
            </a:pPr>
            <a:r>
              <a:rPr lang="ja" sz="650" b="1" i="0" u="none" strike="noStrike" cap="none" dirty="0">
                <a:solidFill>
                  <a:srgbClr val="2E7D32"/>
                </a:solidFill>
                <a:latin typeface="游ゴシック" panose="020B0400000000000000" pitchFamily="50" charset="-128"/>
                <a:ea typeface="游ゴシック" panose="020B0400000000000000" pitchFamily="50" charset="-128"/>
                <a:cs typeface="Century Gothic"/>
                <a:sym typeface="Century Gothic"/>
              </a:rPr>
              <a:t>今回</a:t>
            </a:r>
            <a:endParaRPr dirty="0">
              <a:latin typeface="游ゴシック" panose="020B0400000000000000" pitchFamily="50" charset="-128"/>
              <a:ea typeface="游ゴシック" panose="020B0400000000000000" pitchFamily="50" charset="-128"/>
            </a:endParaRPr>
          </a:p>
        </p:txBody>
      </p:sp>
      <p:sp>
        <p:nvSpPr>
          <p:cNvPr id="117" name="Google Shape;117;p3"/>
          <p:cNvSpPr txBox="1"/>
          <p:nvPr/>
        </p:nvSpPr>
        <p:spPr>
          <a:xfrm>
            <a:off x="5410200" y="1282700"/>
            <a:ext cx="3403600" cy="38100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000000"/>
              </a:buClr>
              <a:buSzPts val="700"/>
              <a:buFont typeface="Arial"/>
              <a:buNone/>
            </a:pPr>
            <a:r>
              <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カスタムメイドケアサポートダッシュボード / 施設モニター / ナースコール分析 / 施設360</a:t>
            </a:r>
            <a:endParaRPr sz="800" dirty="0">
              <a:latin typeface="游ゴシック" panose="020B0400000000000000" pitchFamily="50" charset="-128"/>
              <a:ea typeface="游ゴシック" panose="020B0400000000000000" pitchFamily="50" charset="-128"/>
            </a:endParaRPr>
          </a:p>
        </p:txBody>
      </p:sp>
      <p:sp>
        <p:nvSpPr>
          <p:cNvPr id="118" name="Google Shape;118;p3"/>
          <p:cNvSpPr txBox="1"/>
          <p:nvPr/>
        </p:nvSpPr>
        <p:spPr>
          <a:xfrm>
            <a:off x="4927600" y="1714500"/>
            <a:ext cx="177800" cy="762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0" i="0" u="none" strike="noStrike" cap="none" dirty="0">
                <a:solidFill>
                  <a:srgbClr val="999999"/>
                </a:solidFill>
                <a:latin typeface="游ゴシック" panose="020B0400000000000000" pitchFamily="50" charset="-128"/>
                <a:ea typeface="游ゴシック" panose="020B0400000000000000" pitchFamily="50" charset="-128"/>
                <a:cs typeface="Century Gothic"/>
                <a:sym typeface="Century Gothic"/>
              </a:rPr>
              <a:t>▼</a:t>
            </a:r>
            <a:endParaRPr dirty="0">
              <a:latin typeface="游ゴシック" panose="020B0400000000000000" pitchFamily="50" charset="-128"/>
              <a:ea typeface="游ゴシック" panose="020B0400000000000000" pitchFamily="50" charset="-128"/>
            </a:endParaRPr>
          </a:p>
        </p:txBody>
      </p:sp>
      <p:sp>
        <p:nvSpPr>
          <p:cNvPr id="119" name="Google Shape;119;p3"/>
          <p:cNvSpPr/>
          <p:nvPr/>
        </p:nvSpPr>
        <p:spPr>
          <a:xfrm>
            <a:off x="4699000" y="1841499"/>
            <a:ext cx="635000" cy="961137"/>
          </a:xfrm>
          <a:prstGeom prst="roundRect">
            <a:avLst>
              <a:gd name="adj" fmla="val 6000"/>
            </a:avLst>
          </a:prstGeom>
          <a:solidFill>
            <a:srgbClr val="E3F2FD"/>
          </a:solidFill>
          <a:ln w="9525" cap="flat" cmpd="sng">
            <a:solidFill>
              <a:srgbClr val="1976D2"/>
            </a:solidFill>
            <a:prstDash val="solid"/>
            <a:round/>
            <a:headEnd type="none" w="sm" len="sm"/>
            <a:tailEnd type="none" w="sm" len="sm"/>
          </a:ln>
        </p:spPr>
        <p:txBody>
          <a:bodyPr spcFirstLastPara="1" wrap="square" lIns="45000" tIns="27000" rIns="45000" bIns="27000" anchor="ctr" anchorCtr="0">
            <a:noAutofit/>
          </a:bodyPr>
          <a:lstStyle/>
          <a:p>
            <a:pPr marL="0" marR="0" lvl="0" indent="0" algn="ctr" rtl="0">
              <a:lnSpc>
                <a:spcPct val="100000"/>
              </a:lnSpc>
              <a:spcBef>
                <a:spcPts val="0"/>
              </a:spcBef>
              <a:spcAft>
                <a:spcPts val="0"/>
              </a:spcAft>
              <a:buClr>
                <a:srgbClr val="000000"/>
              </a:buClr>
              <a:buSzPts val="650"/>
              <a:buFont typeface="Arial"/>
              <a:buNone/>
            </a:pPr>
            <a:r>
              <a:rPr lang="ja" sz="65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将来</a:t>
            </a:r>
            <a:endParaRPr dirty="0">
              <a:latin typeface="游ゴシック" panose="020B0400000000000000" pitchFamily="50" charset="-128"/>
              <a:ea typeface="游ゴシック" panose="020B0400000000000000" pitchFamily="50" charset="-128"/>
            </a:endParaRPr>
          </a:p>
        </p:txBody>
      </p:sp>
      <p:sp>
        <p:nvSpPr>
          <p:cNvPr id="120" name="Google Shape;120;p3"/>
          <p:cNvSpPr txBox="1"/>
          <p:nvPr/>
        </p:nvSpPr>
        <p:spPr>
          <a:xfrm>
            <a:off x="5410200" y="1841500"/>
            <a:ext cx="3403600" cy="762000"/>
          </a:xfrm>
          <a:prstGeom prst="rect">
            <a:avLst/>
          </a:prstGeom>
          <a:noFill/>
          <a:ln>
            <a:noFill/>
          </a:ln>
        </p:spPr>
        <p:txBody>
          <a:bodyPr spcFirstLastPara="1" wrap="square" lIns="0" tIns="0" rIns="0" bIns="0" anchor="t" anchorCtr="0">
            <a:noAutofit/>
          </a:bodyPr>
          <a:lstStyle/>
          <a:p>
            <a:pPr marL="114300" marR="0" lvl="0" indent="-114300" algn="l" rtl="0">
              <a:lnSpc>
                <a:spcPct val="130000"/>
              </a:lnSpc>
              <a:spcBef>
                <a:spcPts val="0"/>
              </a:spcBef>
              <a:spcAft>
                <a:spcPts val="0"/>
              </a:spcAft>
              <a:buClr>
                <a:srgbClr val="555555"/>
              </a:buClr>
              <a:buSzPts val="600"/>
              <a:buFont typeface="Arial"/>
              <a:buChar char="•"/>
            </a:pPr>
            <a:r>
              <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アセスメント情報ヒアリング音声の自動フォーマット化</a:t>
            </a:r>
          </a:p>
          <a:p>
            <a:pPr marL="114300" marR="0" lvl="0" indent="-114300" algn="l" rtl="0">
              <a:lnSpc>
                <a:spcPct val="130000"/>
              </a:lnSpc>
              <a:spcBef>
                <a:spcPts val="0"/>
              </a:spcBef>
              <a:spcAft>
                <a:spcPts val="0"/>
              </a:spcAft>
              <a:buClr>
                <a:srgbClr val="555555"/>
              </a:buClr>
              <a:buSzPts val="600"/>
              <a:buFont typeface="Arial"/>
              <a:buChar char="•"/>
            </a:pPr>
            <a:r>
              <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ケアプラン作成の自動化・標準化</a:t>
            </a:r>
          </a:p>
          <a:p>
            <a:pPr marL="114300" marR="0" lvl="0" indent="-114300" algn="l" rtl="0">
              <a:lnSpc>
                <a:spcPct val="130000"/>
              </a:lnSpc>
              <a:spcBef>
                <a:spcPts val="0"/>
              </a:spcBef>
              <a:spcAft>
                <a:spcPts val="0"/>
              </a:spcAft>
              <a:buClr>
                <a:srgbClr val="555555"/>
              </a:buClr>
              <a:buSzPts val="600"/>
              <a:buFont typeface="Arial"/>
              <a:buChar char="•"/>
            </a:pPr>
            <a:r>
              <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カメラ・センサーの最大活用（施設装備標準化）</a:t>
            </a:r>
          </a:p>
          <a:p>
            <a:pPr marL="114300" marR="0" lvl="0" indent="-114300" algn="l" rtl="0">
              <a:lnSpc>
                <a:spcPct val="130000"/>
              </a:lnSpc>
              <a:spcBef>
                <a:spcPts val="0"/>
              </a:spcBef>
              <a:spcAft>
                <a:spcPts val="0"/>
              </a:spcAft>
              <a:buClr>
                <a:srgbClr val="555555"/>
              </a:buClr>
              <a:buSzPts val="600"/>
              <a:buFont typeface="Arial"/>
              <a:buChar char="•"/>
            </a:pPr>
            <a:r>
              <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介護リアルデータのカスタムメイドケア活用（重度化予測等）</a:t>
            </a:r>
          </a:p>
          <a:p>
            <a:pPr marL="114300" marR="0" lvl="0" indent="-114300" algn="l" rtl="0">
              <a:lnSpc>
                <a:spcPct val="130000"/>
              </a:lnSpc>
              <a:spcBef>
                <a:spcPts val="0"/>
              </a:spcBef>
              <a:spcAft>
                <a:spcPts val="0"/>
              </a:spcAft>
              <a:buClr>
                <a:srgbClr val="555555"/>
              </a:buClr>
              <a:buSzPts val="600"/>
              <a:buFont typeface="Arial"/>
              <a:buChar char="•"/>
            </a:pPr>
            <a:r>
              <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社内問合せAI（RAG）</a:t>
            </a:r>
            <a:endParaRPr lang="en-US" alt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endParaRPr>
          </a:p>
          <a:p>
            <a:pPr marL="114300" marR="0" lvl="0" indent="-114300" algn="l" rtl="0">
              <a:lnSpc>
                <a:spcPct val="130000"/>
              </a:lnSpc>
              <a:spcBef>
                <a:spcPts val="0"/>
              </a:spcBef>
              <a:spcAft>
                <a:spcPts val="0"/>
              </a:spcAft>
              <a:buClr>
                <a:srgbClr val="555555"/>
              </a:buClr>
              <a:buSzPts val="600"/>
              <a:buFont typeface="Arial"/>
              <a:buChar char="•"/>
            </a:pPr>
            <a:r>
              <a:rPr lang="en-US" altLang="ja" sz="800" b="0" i="0" u="none" strike="noStrike" cap="none" dirty="0" err="1">
                <a:solidFill>
                  <a:srgbClr val="555555"/>
                </a:solidFill>
                <a:latin typeface="游ゴシック" panose="020B0400000000000000" pitchFamily="50" charset="-128"/>
                <a:ea typeface="游ゴシック" panose="020B0400000000000000" pitchFamily="50" charset="-128"/>
                <a:cs typeface="Century Gothic"/>
                <a:sym typeface="Century Gothic"/>
              </a:rPr>
              <a:t>etc</a:t>
            </a:r>
            <a:endPar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121" name="Google Shape;121;p3"/>
          <p:cNvCxnSpPr/>
          <p:nvPr/>
        </p:nvCxnSpPr>
        <p:spPr>
          <a:xfrm>
            <a:off x="406400" y="3109468"/>
            <a:ext cx="8331200" cy="0"/>
          </a:xfrm>
          <a:prstGeom prst="straightConnector1">
            <a:avLst/>
          </a:prstGeom>
          <a:noFill/>
          <a:ln w="9525" cap="flat" cmpd="sng">
            <a:solidFill>
              <a:srgbClr val="E0E0E0"/>
            </a:solidFill>
            <a:prstDash val="solid"/>
            <a:round/>
            <a:headEnd type="none" w="sm" len="sm"/>
            <a:tailEnd type="none" w="sm" len="sm"/>
          </a:ln>
        </p:spPr>
      </p:cxnSp>
      <p:sp>
        <p:nvSpPr>
          <p:cNvPr id="122" name="Google Shape;122;p3"/>
          <p:cNvSpPr txBox="1"/>
          <p:nvPr/>
        </p:nvSpPr>
        <p:spPr>
          <a:xfrm>
            <a:off x="406400" y="3211068"/>
            <a:ext cx="8331200" cy="15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③ </a:t>
            </a:r>
            <a:r>
              <a:rPr lang="ja-JP" altLang="en-US" sz="800" b="1" dirty="0">
                <a:solidFill>
                  <a:srgbClr val="5298BA"/>
                </a:solidFill>
                <a:latin typeface="游ゴシック" panose="020B0400000000000000" pitchFamily="50" charset="-128"/>
                <a:ea typeface="游ゴシック" panose="020B0400000000000000" pitchFamily="50" charset="-128"/>
                <a:cs typeface="Century Gothic"/>
                <a:sym typeface="Century Gothic"/>
              </a:rPr>
              <a:t>めざす</a:t>
            </a: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姿を</a:t>
            </a:r>
            <a:r>
              <a:rPr lang="ja-JP" altLang="en-US"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考える上の前提・スコープ</a:t>
            </a:r>
            <a:endParaRPr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123" name="Google Shape;123;p3"/>
          <p:cNvCxnSpPr/>
          <p:nvPr/>
        </p:nvCxnSpPr>
        <p:spPr>
          <a:xfrm>
            <a:off x="406400" y="3388868"/>
            <a:ext cx="8331200" cy="0"/>
          </a:xfrm>
          <a:prstGeom prst="straightConnector1">
            <a:avLst/>
          </a:prstGeom>
          <a:noFill/>
          <a:ln w="9525" cap="flat" cmpd="sng">
            <a:solidFill>
              <a:srgbClr val="E0E0E0"/>
            </a:solidFill>
            <a:prstDash val="solid"/>
            <a:round/>
            <a:headEnd type="none" w="sm" len="sm"/>
            <a:tailEnd type="none" w="sm" len="sm"/>
          </a:ln>
        </p:spPr>
      </p:cxnSp>
      <p:sp>
        <p:nvSpPr>
          <p:cNvPr id="124" name="Google Shape;124;p3"/>
          <p:cNvSpPr txBox="1"/>
          <p:nvPr/>
        </p:nvSpPr>
        <p:spPr>
          <a:xfrm>
            <a:off x="406400" y="3465068"/>
            <a:ext cx="11938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en-US" sz="700" b="1" dirty="0" err="1">
                <a:solidFill>
                  <a:srgbClr val="2C3E50"/>
                </a:solidFill>
                <a:latin typeface="游ゴシック" panose="020B0400000000000000" pitchFamily="50" charset="-128"/>
                <a:ea typeface="游ゴシック" panose="020B0400000000000000" pitchFamily="50" charset="-128"/>
                <a:sym typeface="Century Gothic"/>
              </a:rPr>
              <a:t>移行スコープ</a:t>
            </a:r>
            <a:endParaRPr dirty="0">
              <a:latin typeface="游ゴシック" panose="020B0400000000000000" pitchFamily="50" charset="-128"/>
              <a:ea typeface="游ゴシック" panose="020B0400000000000000" pitchFamily="50" charset="-128"/>
            </a:endParaRPr>
          </a:p>
        </p:txBody>
      </p:sp>
      <p:sp>
        <p:nvSpPr>
          <p:cNvPr id="125" name="Google Shape;125;p3"/>
          <p:cNvSpPr txBox="1"/>
          <p:nvPr/>
        </p:nvSpPr>
        <p:spPr>
          <a:xfrm>
            <a:off x="1676400" y="3465068"/>
            <a:ext cx="70612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ja-JP" altLang="en-US" sz="700" dirty="0">
                <a:solidFill>
                  <a:srgbClr val="555555"/>
                </a:solidFill>
                <a:latin typeface="游ゴシック" panose="020B0400000000000000" pitchFamily="50" charset="-128"/>
                <a:ea typeface="游ゴシック" panose="020B0400000000000000" pitchFamily="50" charset="-128"/>
                <a:cs typeface="Century Gothic"/>
                <a:sym typeface="Century Gothic"/>
              </a:rPr>
              <a:t>デ</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ータ統合・加工・ガバナンス機能および既存</a:t>
            </a:r>
            <a:r>
              <a:rPr lang="en" altLang="ja"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BI</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資産を業界標準設計で継承する。活用が限定的な機能は</a:t>
            </a:r>
            <a:r>
              <a:rPr lang="en-US"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BI</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ツールや</a:t>
            </a:r>
            <a:r>
              <a:rPr lang="en-US"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AI</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活用で軽量に代替</a:t>
            </a:r>
            <a:endParaRPr dirty="0">
              <a:latin typeface="游ゴシック" panose="020B0400000000000000" pitchFamily="50" charset="-128"/>
              <a:ea typeface="游ゴシック" panose="020B0400000000000000" pitchFamily="50" charset="-128"/>
            </a:endParaRPr>
          </a:p>
        </p:txBody>
      </p:sp>
      <p:cxnSp>
        <p:nvCxnSpPr>
          <p:cNvPr id="126" name="Google Shape;126;p3"/>
          <p:cNvCxnSpPr/>
          <p:nvPr/>
        </p:nvCxnSpPr>
        <p:spPr>
          <a:xfrm>
            <a:off x="406400" y="3769868"/>
            <a:ext cx="8331200" cy="0"/>
          </a:xfrm>
          <a:prstGeom prst="straightConnector1">
            <a:avLst/>
          </a:prstGeom>
          <a:noFill/>
          <a:ln w="9525" cap="flat" cmpd="sng">
            <a:solidFill>
              <a:srgbClr val="E0E0E0"/>
            </a:solidFill>
            <a:prstDash val="solid"/>
            <a:round/>
            <a:headEnd type="none" w="sm" len="sm"/>
            <a:tailEnd type="none" w="sm" len="sm"/>
          </a:ln>
        </p:spPr>
      </p:cxnSp>
      <p:sp>
        <p:nvSpPr>
          <p:cNvPr id="127" name="Google Shape;127;p3"/>
          <p:cNvSpPr txBox="1"/>
          <p:nvPr/>
        </p:nvSpPr>
        <p:spPr>
          <a:xfrm>
            <a:off x="406400" y="3820668"/>
            <a:ext cx="11938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ja-JP" altLang="en-US" sz="7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管理対象</a:t>
            </a:r>
            <a:endParaRPr dirty="0">
              <a:latin typeface="游ゴシック" panose="020B0400000000000000" pitchFamily="50" charset="-128"/>
              <a:ea typeface="游ゴシック" panose="020B0400000000000000" pitchFamily="50" charset="-128"/>
            </a:endParaRPr>
          </a:p>
        </p:txBody>
      </p:sp>
      <p:sp>
        <p:nvSpPr>
          <p:cNvPr id="128" name="Google Shape;128;p3"/>
          <p:cNvSpPr txBox="1"/>
          <p:nvPr/>
        </p:nvSpPr>
        <p:spPr>
          <a:xfrm>
            <a:off x="1676400" y="3820668"/>
            <a:ext cx="70612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en-US"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SOMPO</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ケア固有のデータ資産を管理対象とする。テキスト・映像等の非構造化データの生データも保管・カタログ登録の対象とする（</a:t>
            </a:r>
            <a:r>
              <a:rPr lang="en"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Bronze</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層に格納）</a:t>
            </a:r>
            <a:endParaRPr lang="en-US"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endParaRPr>
          </a:p>
          <a:p>
            <a:pPr lvl="0">
              <a:lnSpc>
                <a:spcPct val="150000"/>
              </a:lnSpc>
              <a:buSzPts val="700"/>
            </a:pPr>
            <a:r>
              <a:rPr lang="en" altLang="ja-JP" sz="700" dirty="0">
                <a:solidFill>
                  <a:srgbClr val="555555"/>
                </a:solidFill>
                <a:latin typeface="游ゴシック" panose="020B0400000000000000" pitchFamily="50" charset="-128"/>
                <a:ea typeface="游ゴシック" panose="020B0400000000000000" pitchFamily="50" charset="-128"/>
              </a:rPr>
              <a:t> NLP/</a:t>
            </a:r>
            <a:r>
              <a:rPr lang="ja-JP" altLang="en-US" sz="700" dirty="0">
                <a:solidFill>
                  <a:srgbClr val="555555"/>
                </a:solidFill>
                <a:latin typeface="游ゴシック" panose="020B0400000000000000" pitchFamily="50" charset="-128"/>
                <a:ea typeface="游ゴシック" panose="020B0400000000000000" pitchFamily="50" charset="-128"/>
              </a:rPr>
              <a:t>画像解析等の加工処理は難易度が高くユースケースごとに個別設計が必要。具体的な加工処理は段階的に内製化する</a:t>
            </a:r>
            <a:endParaRPr sz="700" dirty="0">
              <a:solidFill>
                <a:srgbClr val="555555"/>
              </a:solidFill>
              <a:latin typeface="游ゴシック" panose="020B0400000000000000" pitchFamily="50" charset="-128"/>
              <a:ea typeface="游ゴシック" panose="020B0400000000000000" pitchFamily="50" charset="-128"/>
            </a:endParaRPr>
          </a:p>
        </p:txBody>
      </p:sp>
      <p:cxnSp>
        <p:nvCxnSpPr>
          <p:cNvPr id="129" name="Google Shape;129;p3"/>
          <p:cNvCxnSpPr/>
          <p:nvPr/>
        </p:nvCxnSpPr>
        <p:spPr>
          <a:xfrm>
            <a:off x="406400" y="4125468"/>
            <a:ext cx="8331200" cy="0"/>
          </a:xfrm>
          <a:prstGeom prst="straightConnector1">
            <a:avLst/>
          </a:prstGeom>
          <a:noFill/>
          <a:ln w="9525" cap="flat" cmpd="sng">
            <a:solidFill>
              <a:srgbClr val="E0E0E0"/>
            </a:solidFill>
            <a:prstDash val="solid"/>
            <a:round/>
            <a:headEnd type="none" w="sm" len="sm"/>
            <a:tailEnd type="none" w="sm" len="sm"/>
          </a:ln>
        </p:spPr>
      </p:cxnSp>
      <p:sp>
        <p:nvSpPr>
          <p:cNvPr id="130" name="Google Shape;130;p3"/>
          <p:cNvSpPr txBox="1"/>
          <p:nvPr/>
        </p:nvSpPr>
        <p:spPr>
          <a:xfrm>
            <a:off x="406400" y="4176268"/>
            <a:ext cx="11938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ja-JP" altLang="en-US" sz="700" b="1" dirty="0">
                <a:solidFill>
                  <a:srgbClr val="2C3E50"/>
                </a:solidFill>
                <a:latin typeface="游ゴシック" panose="020B0400000000000000" pitchFamily="50" charset="-128"/>
                <a:ea typeface="游ゴシック" panose="020B0400000000000000" pitchFamily="50" charset="-128"/>
                <a:sym typeface="Century Gothic"/>
              </a:rPr>
              <a:t>データオーナー</a:t>
            </a:r>
            <a:endParaRPr dirty="0">
              <a:latin typeface="游ゴシック" panose="020B0400000000000000" pitchFamily="50" charset="-128"/>
              <a:ea typeface="游ゴシック" panose="020B0400000000000000" pitchFamily="50" charset="-128"/>
            </a:endParaRPr>
          </a:p>
        </p:txBody>
      </p:sp>
      <p:sp>
        <p:nvSpPr>
          <p:cNvPr id="131" name="Google Shape;131;p3"/>
          <p:cNvSpPr txBox="1"/>
          <p:nvPr/>
        </p:nvSpPr>
        <p:spPr>
          <a:xfrm>
            <a:off x="1676400" y="4176268"/>
            <a:ext cx="70612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データオーナーは各データドメインごとに明確化し、各主体が責任を持って管理できる状態をつくる。中央集約だけでなく横断的に連携・活用できる構造を目指す</a:t>
            </a:r>
            <a:endParaRPr dirty="0">
              <a:latin typeface="游ゴシック" panose="020B0400000000000000" pitchFamily="50" charset="-128"/>
              <a:ea typeface="游ゴシック" panose="020B0400000000000000" pitchFamily="50" charset="-128"/>
            </a:endParaRPr>
          </a:p>
        </p:txBody>
      </p:sp>
      <p:cxnSp>
        <p:nvCxnSpPr>
          <p:cNvPr id="2" name="Google Shape;129;p3">
            <a:extLst>
              <a:ext uri="{FF2B5EF4-FFF2-40B4-BE49-F238E27FC236}">
                <a16:creationId xmlns:a16="http://schemas.microsoft.com/office/drawing/2014/main" id="{14389270-B52D-334D-A987-FAE76AF1FFBE}"/>
              </a:ext>
            </a:extLst>
          </p:cNvPr>
          <p:cNvCxnSpPr/>
          <p:nvPr/>
        </p:nvCxnSpPr>
        <p:spPr>
          <a:xfrm>
            <a:off x="406400" y="4432301"/>
            <a:ext cx="8331200" cy="0"/>
          </a:xfrm>
          <a:prstGeom prst="straightConnector1">
            <a:avLst/>
          </a:prstGeom>
          <a:noFill/>
          <a:ln w="9525" cap="flat" cmpd="sng">
            <a:solidFill>
              <a:srgbClr val="E0E0E0"/>
            </a:solidFill>
            <a:prstDash val="solid"/>
            <a:round/>
            <a:headEnd type="none" w="sm" len="sm"/>
            <a:tailEnd type="none" w="sm" len="sm"/>
          </a:ln>
        </p:spPr>
      </p:cxnSp>
      <p:sp>
        <p:nvSpPr>
          <p:cNvPr id="3" name="Google Shape;130;p3">
            <a:extLst>
              <a:ext uri="{FF2B5EF4-FFF2-40B4-BE49-F238E27FC236}">
                <a16:creationId xmlns:a16="http://schemas.microsoft.com/office/drawing/2014/main" id="{A605E3B2-C5BE-8A82-676B-0498E77737AA}"/>
              </a:ext>
            </a:extLst>
          </p:cNvPr>
          <p:cNvSpPr txBox="1"/>
          <p:nvPr/>
        </p:nvSpPr>
        <p:spPr>
          <a:xfrm>
            <a:off x="406400" y="4483101"/>
            <a:ext cx="11938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ja-JP" altLang="en-US" sz="700" b="1" dirty="0">
                <a:solidFill>
                  <a:srgbClr val="2C3E50"/>
                </a:solidFill>
                <a:latin typeface="游ゴシック" panose="020B0400000000000000" pitchFamily="50" charset="-128"/>
                <a:ea typeface="游ゴシック" panose="020B0400000000000000" pitchFamily="50" charset="-128"/>
                <a:sym typeface="Century Gothic"/>
              </a:rPr>
              <a:t>分析の範囲</a:t>
            </a:r>
            <a:endParaRPr dirty="0">
              <a:latin typeface="游ゴシック" panose="020B0400000000000000" pitchFamily="50" charset="-128"/>
              <a:ea typeface="游ゴシック" panose="020B0400000000000000" pitchFamily="50" charset="-128"/>
            </a:endParaRPr>
          </a:p>
        </p:txBody>
      </p:sp>
      <p:sp>
        <p:nvSpPr>
          <p:cNvPr id="4" name="Google Shape;131;p3">
            <a:extLst>
              <a:ext uri="{FF2B5EF4-FFF2-40B4-BE49-F238E27FC236}">
                <a16:creationId xmlns:a16="http://schemas.microsoft.com/office/drawing/2014/main" id="{658364AB-C8A4-502D-EB76-1EDCE81F9D78}"/>
              </a:ext>
            </a:extLst>
          </p:cNvPr>
          <p:cNvSpPr txBox="1"/>
          <p:nvPr/>
        </p:nvSpPr>
        <p:spPr>
          <a:xfrm>
            <a:off x="1676400" y="4483101"/>
            <a:ext cx="7061200" cy="279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ダッシュボード閲覧（施設長・本部管理者 ）、セルフ</a:t>
            </a:r>
            <a:r>
              <a:rPr lang="en"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BI</a:t>
            </a:r>
            <a:r>
              <a:rPr lang="ja-JP" altLang="en"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ミドル部門・経営企画等）、自由な分析（</a:t>
            </a:r>
            <a:r>
              <a:rPr lang="en"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IT</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企画部・データ分析チーム）を今回の自走範囲とする</a:t>
            </a:r>
            <a:endParaRPr lang="en-US"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endParaRPr>
          </a:p>
          <a:p>
            <a:pPr marL="0" marR="0" lvl="0" indent="0" algn="l" rtl="0">
              <a:lnSpc>
                <a:spcPct val="150000"/>
              </a:lnSpc>
              <a:spcBef>
                <a:spcPts val="0"/>
              </a:spcBef>
              <a:spcAft>
                <a:spcPts val="0"/>
              </a:spcAft>
              <a:buClr>
                <a:srgbClr val="000000"/>
              </a:buClr>
              <a:buSzPts val="700"/>
              <a:buFont typeface="Arial"/>
              <a:buNone/>
            </a:pPr>
            <a:r>
              <a:rPr lang="en" altLang="ja-JP"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AI/ML</a:t>
            </a:r>
            <a:r>
              <a:rPr lang="ja-JP" altLang="en-US" sz="7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分析は基盤として枠を確保し、段階的に拡張</a:t>
            </a:r>
            <a:endParaRPr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1385706362"/>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2"/>
        <p:cNvGrpSpPr/>
        <p:nvPr/>
      </p:nvGrpSpPr>
      <p:grpSpPr>
        <a:xfrm>
          <a:off x="0" y="0"/>
          <a:ext cx="0" cy="0"/>
          <a:chOff x="0" y="0"/>
          <a:chExt cx="0" cy="0"/>
        </a:xfrm>
      </p:grpSpPr>
      <p:sp>
        <p:nvSpPr>
          <p:cNvPr id="143" name="Google Shape;143;p4"/>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1.2  AI時代のデータ基盤選定</a:t>
            </a:r>
            <a:endParaRPr sz="1800" b="0" i="0" u="none" strike="noStrike" cap="none" dirty="0">
              <a:solidFill>
                <a:schemeClr val="dk1"/>
              </a:solidFill>
              <a:latin typeface="Calibri"/>
              <a:ea typeface="Calibri"/>
              <a:cs typeface="Calibri"/>
              <a:sym typeface="Calibri"/>
            </a:endParaRPr>
          </a:p>
        </p:txBody>
      </p:sp>
      <p:sp>
        <p:nvSpPr>
          <p:cNvPr id="144" name="Google Shape;144;p4"/>
          <p:cNvSpPr/>
          <p:nvPr/>
        </p:nvSpPr>
        <p:spPr>
          <a:xfrm>
            <a:off x="406301" y="609600"/>
            <a:ext cx="8498100" cy="203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77777"/>
              </a:buClr>
              <a:buSzPts val="1000"/>
              <a:buFont typeface="Century Gothic"/>
              <a:buNone/>
            </a:pPr>
            <a:r>
              <a:rPr lang="ja"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重要なのは特定のLLMや個別ツールの選定ではなく、データを適切な権限で蓄積・加工・探索できる基盤の選定である。</a:t>
            </a:r>
            <a:endParaRPr sz="1000" b="0" i="0" u="none" strike="noStrike" cap="none" dirty="0">
              <a:solidFill>
                <a:schemeClr val="dk1"/>
              </a:solidFill>
              <a:latin typeface="Calibri"/>
              <a:ea typeface="Calibri"/>
              <a:cs typeface="Calibri"/>
              <a:sym typeface="Calibri"/>
            </a:endParaRPr>
          </a:p>
        </p:txBody>
      </p:sp>
      <p:cxnSp>
        <p:nvCxnSpPr>
          <p:cNvPr id="145" name="Google Shape;145;p4"/>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146" name="Google Shape;146;p4"/>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147" name="Google Shape;147;p4"/>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1</a:t>
            </a:r>
            <a:endParaRPr sz="550" b="0" i="0" u="none" strike="noStrike" cap="none" dirty="0">
              <a:solidFill>
                <a:schemeClr val="dk1"/>
              </a:solidFill>
              <a:latin typeface="Calibri"/>
              <a:ea typeface="Calibri"/>
              <a:cs typeface="Calibri"/>
              <a:sym typeface="Calibri"/>
            </a:endParaRPr>
          </a:p>
        </p:txBody>
      </p:sp>
      <p:sp>
        <p:nvSpPr>
          <p:cNvPr id="148" name="Google Shape;148;p4"/>
          <p:cNvSpPr txBox="1"/>
          <p:nvPr/>
        </p:nvSpPr>
        <p:spPr>
          <a:xfrm>
            <a:off x="406400" y="1028700"/>
            <a:ext cx="4114800" cy="15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① 今回のRFPにおける基盤選定の意味</a:t>
            </a:r>
            <a:endParaRPr dirty="0">
              <a:latin typeface="游ゴシック" panose="020B0400000000000000" pitchFamily="50" charset="-128"/>
              <a:ea typeface="游ゴシック" panose="020B0400000000000000" pitchFamily="50" charset="-128"/>
            </a:endParaRPr>
          </a:p>
        </p:txBody>
      </p:sp>
      <p:cxnSp>
        <p:nvCxnSpPr>
          <p:cNvPr id="149" name="Google Shape;149;p4"/>
          <p:cNvCxnSpPr/>
          <p:nvPr/>
        </p:nvCxnSpPr>
        <p:spPr>
          <a:xfrm>
            <a:off x="406400" y="1206500"/>
            <a:ext cx="4114800" cy="0"/>
          </a:xfrm>
          <a:prstGeom prst="straightConnector1">
            <a:avLst/>
          </a:prstGeom>
          <a:noFill/>
          <a:ln w="9525" cap="flat" cmpd="sng">
            <a:solidFill>
              <a:srgbClr val="E0E0E0"/>
            </a:solidFill>
            <a:prstDash val="solid"/>
            <a:round/>
            <a:headEnd type="none" w="sm" len="sm"/>
            <a:tailEnd type="none" w="sm" len="sm"/>
          </a:ln>
        </p:spPr>
      </p:cxnSp>
      <p:sp>
        <p:nvSpPr>
          <p:cNvPr id="150" name="Google Shape;150;p4"/>
          <p:cNvSpPr txBox="1"/>
          <p:nvPr/>
        </p:nvSpPr>
        <p:spPr>
          <a:xfrm>
            <a:off x="406400" y="1257300"/>
            <a:ext cx="4114800" cy="133350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000000"/>
              </a:buClr>
              <a:buSzPts val="700"/>
              <a:buFont typeface="Arial"/>
              <a:buNone/>
            </a:pPr>
            <a:r>
              <a:rPr lang="ja"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今回のRFPの主目的は、Foundry基盤からの確実な移行である。</a:t>
            </a:r>
            <a:endParaRPr sz="900" dirty="0">
              <a:latin typeface="游ゴシック" panose="020B0400000000000000" pitchFamily="50" charset="-128"/>
              <a:ea typeface="游ゴシック" panose="020B0400000000000000" pitchFamily="50" charset="-128"/>
            </a:endParaRPr>
          </a:p>
          <a:p>
            <a:pPr marL="0" marR="0" lvl="0" indent="0" algn="l" rtl="0">
              <a:lnSpc>
                <a:spcPct val="160000"/>
              </a:lnSpc>
              <a:spcBef>
                <a:spcPts val="300"/>
              </a:spcBef>
              <a:spcAft>
                <a:spcPts val="0"/>
              </a:spcAft>
              <a:buClr>
                <a:srgbClr val="000000"/>
              </a:buClr>
              <a:buSzPts val="700"/>
              <a:buFont typeface="Arial"/>
              <a:buNone/>
            </a:pPr>
            <a:r>
              <a:rPr lang="ja"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一方で、移行先の基盤は、今後のデータ活用・AI活用の自由度を決める。</a:t>
            </a:r>
            <a:endParaRPr sz="900" dirty="0">
              <a:latin typeface="游ゴシック" panose="020B0400000000000000" pitchFamily="50" charset="-128"/>
              <a:ea typeface="游ゴシック" panose="020B0400000000000000" pitchFamily="50" charset="-128"/>
            </a:endParaRPr>
          </a:p>
          <a:p>
            <a:pPr marL="0" marR="0" lvl="0" indent="0" algn="l" rtl="0">
              <a:lnSpc>
                <a:spcPct val="160000"/>
              </a:lnSpc>
              <a:spcBef>
                <a:spcPts val="300"/>
              </a:spcBef>
              <a:spcAft>
                <a:spcPts val="0"/>
              </a:spcAft>
              <a:buClr>
                <a:srgbClr val="000000"/>
              </a:buClr>
              <a:buSzPts val="700"/>
              <a:buFont typeface="Arial"/>
              <a:buNone/>
            </a:pPr>
            <a:r>
              <a:rPr lang="ja-JP" altLang="en-US"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a:t>
            </a:r>
            <a:r>
              <a:rPr lang="ja"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今回の基盤選定は単なる移行先比較ではなく、</a:t>
            </a:r>
            <a:endParaRPr sz="900" dirty="0">
              <a:latin typeface="游ゴシック" panose="020B0400000000000000" pitchFamily="50" charset="-128"/>
              <a:ea typeface="游ゴシック" panose="020B0400000000000000" pitchFamily="50" charset="-128"/>
            </a:endParaRPr>
          </a:p>
          <a:p>
            <a:pPr marL="0" marR="0" lvl="0" indent="0" algn="l" rtl="0">
              <a:lnSpc>
                <a:spcPct val="160000"/>
              </a:lnSpc>
              <a:spcBef>
                <a:spcPts val="300"/>
              </a:spcBef>
              <a:spcAft>
                <a:spcPts val="0"/>
              </a:spcAft>
              <a:buClr>
                <a:srgbClr val="000000"/>
              </a:buClr>
              <a:buSzPts val="750"/>
              <a:buFont typeface="Arial"/>
              <a:buNone/>
            </a:pPr>
            <a:r>
              <a:rPr lang="ja-JP" altLang="en-US"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　</a:t>
            </a: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今後の拡張余地をどこまで確保できるかを見極める判断</a:t>
            </a:r>
            <a:r>
              <a:rPr lang="ja"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 でもある</a:t>
            </a:r>
            <a:endParaRPr sz="900" dirty="0">
              <a:latin typeface="游ゴシック" panose="020B0400000000000000" pitchFamily="50" charset="-128"/>
              <a:ea typeface="游ゴシック" panose="020B0400000000000000" pitchFamily="50" charset="-128"/>
            </a:endParaRPr>
          </a:p>
        </p:txBody>
      </p:sp>
      <p:sp>
        <p:nvSpPr>
          <p:cNvPr id="151" name="Google Shape;151;p4"/>
          <p:cNvSpPr txBox="1"/>
          <p:nvPr/>
        </p:nvSpPr>
        <p:spPr>
          <a:xfrm>
            <a:off x="4699000" y="1028700"/>
            <a:ext cx="4114800" cy="15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② AI時代に基盤で重要になること</a:t>
            </a:r>
            <a:endParaRPr dirty="0">
              <a:latin typeface="游ゴシック" panose="020B0400000000000000" pitchFamily="50" charset="-128"/>
              <a:ea typeface="游ゴシック" panose="020B0400000000000000" pitchFamily="50" charset="-128"/>
            </a:endParaRPr>
          </a:p>
        </p:txBody>
      </p:sp>
      <p:cxnSp>
        <p:nvCxnSpPr>
          <p:cNvPr id="152" name="Google Shape;152;p4"/>
          <p:cNvCxnSpPr/>
          <p:nvPr/>
        </p:nvCxnSpPr>
        <p:spPr>
          <a:xfrm>
            <a:off x="4699000" y="1206500"/>
            <a:ext cx="4114800" cy="0"/>
          </a:xfrm>
          <a:prstGeom prst="straightConnector1">
            <a:avLst/>
          </a:prstGeom>
          <a:noFill/>
          <a:ln w="9525" cap="flat" cmpd="sng">
            <a:solidFill>
              <a:srgbClr val="E0E0E0"/>
            </a:solidFill>
            <a:prstDash val="solid"/>
            <a:round/>
            <a:headEnd type="none" w="sm" len="sm"/>
            <a:tailEnd type="none" w="sm" len="sm"/>
          </a:ln>
        </p:spPr>
      </p:cxnSp>
      <p:sp>
        <p:nvSpPr>
          <p:cNvPr id="153" name="Google Shape;153;p4"/>
          <p:cNvSpPr txBox="1"/>
          <p:nvPr/>
        </p:nvSpPr>
        <p:spPr>
          <a:xfrm>
            <a:off x="4699000" y="1257300"/>
            <a:ext cx="4114800" cy="33020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000000"/>
              </a:buClr>
              <a:buSzPts val="700"/>
              <a:buFont typeface="Arial"/>
              <a:buNone/>
            </a:pPr>
            <a:r>
              <a:rPr lang="ja" sz="8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AI活用の成否はモデル単体の性能だけでは決まらない。実務で継続的に価値を出すには、基盤として次の条件が必要になる</a:t>
            </a:r>
            <a:endParaRPr sz="1600" dirty="0">
              <a:latin typeface="游ゴシック" panose="020B0400000000000000" pitchFamily="50" charset="-128"/>
              <a:ea typeface="游ゴシック" panose="020B0400000000000000" pitchFamily="50" charset="-128"/>
            </a:endParaRPr>
          </a:p>
        </p:txBody>
      </p:sp>
      <p:sp>
        <p:nvSpPr>
          <p:cNvPr id="154" name="Google Shape;154;p4"/>
          <p:cNvSpPr txBox="1"/>
          <p:nvPr/>
        </p:nvSpPr>
        <p:spPr>
          <a:xfrm>
            <a:off x="4807373" y="1692484"/>
            <a:ext cx="4114800" cy="165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50"/>
              <a:buFont typeface="Arial"/>
              <a:buNone/>
            </a:pPr>
            <a:r>
              <a:rPr lang="ja" sz="900" b="0" i="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必要なデータが継続的に蓄積されること</a:t>
            </a:r>
            <a:endParaRPr sz="1800" dirty="0">
              <a:latin typeface="游ゴシック" panose="020B0400000000000000" pitchFamily="50" charset="-128"/>
              <a:ea typeface="游ゴシック" panose="020B0400000000000000" pitchFamily="50" charset="-128"/>
            </a:endParaRPr>
          </a:p>
        </p:txBody>
      </p:sp>
      <p:sp>
        <p:nvSpPr>
          <p:cNvPr id="155" name="Google Shape;155;p4"/>
          <p:cNvSpPr txBox="1"/>
          <p:nvPr/>
        </p:nvSpPr>
        <p:spPr>
          <a:xfrm>
            <a:off x="4807373" y="1882984"/>
            <a:ext cx="4114800" cy="165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50"/>
              <a:buFont typeface="Arial"/>
              <a:buNone/>
            </a:pPr>
            <a:r>
              <a:rPr lang="ja" sz="900" b="0" i="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データが加工・検索・横断利用しやすい形で整備されていること</a:t>
            </a:r>
            <a:endParaRPr sz="1800" dirty="0">
              <a:latin typeface="游ゴシック" panose="020B0400000000000000" pitchFamily="50" charset="-128"/>
              <a:ea typeface="游ゴシック" panose="020B0400000000000000" pitchFamily="50" charset="-128"/>
            </a:endParaRPr>
          </a:p>
        </p:txBody>
      </p:sp>
      <p:sp>
        <p:nvSpPr>
          <p:cNvPr id="156" name="Google Shape;156;p4"/>
          <p:cNvSpPr txBox="1"/>
          <p:nvPr/>
        </p:nvSpPr>
        <p:spPr>
          <a:xfrm>
            <a:off x="4807373" y="2073484"/>
            <a:ext cx="4114800" cy="165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50"/>
              <a:buFont typeface="Arial"/>
              <a:buNone/>
            </a:pPr>
            <a:r>
              <a:rPr lang="ja" sz="900" b="0" i="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施設・部門・職種に応じた権限制御が効いていること</a:t>
            </a:r>
            <a:endParaRPr sz="1800" dirty="0">
              <a:latin typeface="游ゴシック" panose="020B0400000000000000" pitchFamily="50" charset="-128"/>
              <a:ea typeface="游ゴシック" panose="020B0400000000000000" pitchFamily="50" charset="-128"/>
            </a:endParaRPr>
          </a:p>
        </p:txBody>
      </p:sp>
      <p:sp>
        <p:nvSpPr>
          <p:cNvPr id="157" name="Google Shape;157;p4"/>
          <p:cNvSpPr txBox="1"/>
          <p:nvPr/>
        </p:nvSpPr>
        <p:spPr>
          <a:xfrm>
            <a:off x="4807373" y="2263984"/>
            <a:ext cx="4114800" cy="165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50"/>
              <a:buFont typeface="Arial"/>
              <a:buNone/>
            </a:pPr>
            <a:r>
              <a:rPr lang="ja" sz="900" b="0" i="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監査や運用ルールを含めて継続利用できること</a:t>
            </a:r>
            <a:endParaRPr sz="1800" dirty="0">
              <a:latin typeface="游ゴシック" panose="020B0400000000000000" pitchFamily="50" charset="-128"/>
              <a:ea typeface="游ゴシック" panose="020B0400000000000000" pitchFamily="50" charset="-128"/>
            </a:endParaRPr>
          </a:p>
        </p:txBody>
      </p:sp>
      <p:sp>
        <p:nvSpPr>
          <p:cNvPr id="158" name="Google Shape;158;p4"/>
          <p:cNvSpPr txBox="1"/>
          <p:nvPr/>
        </p:nvSpPr>
        <p:spPr>
          <a:xfrm>
            <a:off x="4807373" y="2454484"/>
            <a:ext cx="4114800" cy="1651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50"/>
              <a:buFont typeface="Arial"/>
              <a:buNone/>
            </a:pPr>
            <a:r>
              <a:rPr lang="ja" sz="900" b="0" i="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新しいAI技術や処理方式を追加しやすいこと</a:t>
            </a:r>
            <a:endParaRPr sz="1800" dirty="0">
              <a:latin typeface="游ゴシック" panose="020B0400000000000000" pitchFamily="50" charset="-128"/>
              <a:ea typeface="游ゴシック" panose="020B0400000000000000" pitchFamily="50" charset="-128"/>
            </a:endParaRPr>
          </a:p>
        </p:txBody>
      </p:sp>
      <p:cxnSp>
        <p:nvCxnSpPr>
          <p:cNvPr id="159" name="Google Shape;159;p4"/>
          <p:cNvCxnSpPr/>
          <p:nvPr/>
        </p:nvCxnSpPr>
        <p:spPr>
          <a:xfrm>
            <a:off x="4597400" y="1028700"/>
            <a:ext cx="0" cy="1689100"/>
          </a:xfrm>
          <a:prstGeom prst="straightConnector1">
            <a:avLst/>
          </a:prstGeom>
          <a:noFill/>
          <a:ln w="9525" cap="flat" cmpd="sng">
            <a:solidFill>
              <a:srgbClr val="CCCCCC"/>
            </a:solidFill>
            <a:prstDash val="solid"/>
            <a:round/>
            <a:headEnd type="none" w="sm" len="sm"/>
            <a:tailEnd type="none" w="sm" len="sm"/>
          </a:ln>
        </p:spPr>
      </p:cxnSp>
      <p:cxnSp>
        <p:nvCxnSpPr>
          <p:cNvPr id="160" name="Google Shape;160;p4"/>
          <p:cNvCxnSpPr/>
          <p:nvPr/>
        </p:nvCxnSpPr>
        <p:spPr>
          <a:xfrm>
            <a:off x="406400" y="2743200"/>
            <a:ext cx="8331200" cy="0"/>
          </a:xfrm>
          <a:prstGeom prst="straightConnector1">
            <a:avLst/>
          </a:prstGeom>
          <a:noFill/>
          <a:ln w="9525" cap="flat" cmpd="sng">
            <a:solidFill>
              <a:srgbClr val="E0E0E0"/>
            </a:solidFill>
            <a:prstDash val="solid"/>
            <a:round/>
            <a:headEnd type="none" w="sm" len="sm"/>
            <a:tailEnd type="none" w="sm" len="sm"/>
          </a:ln>
        </p:spPr>
      </p:cxnSp>
      <p:sp>
        <p:nvSpPr>
          <p:cNvPr id="161" name="Google Shape;161;p4"/>
          <p:cNvSpPr txBox="1"/>
          <p:nvPr/>
        </p:nvSpPr>
        <p:spPr>
          <a:xfrm>
            <a:off x="406400" y="2844800"/>
            <a:ext cx="4114800" cy="15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③ 変わるもの / 変わりにくいもの</a:t>
            </a:r>
            <a:endParaRPr dirty="0">
              <a:latin typeface="游ゴシック" panose="020B0400000000000000" pitchFamily="50" charset="-128"/>
              <a:ea typeface="游ゴシック" panose="020B0400000000000000" pitchFamily="50" charset="-128"/>
            </a:endParaRPr>
          </a:p>
        </p:txBody>
      </p:sp>
      <p:cxnSp>
        <p:nvCxnSpPr>
          <p:cNvPr id="162" name="Google Shape;162;p4"/>
          <p:cNvCxnSpPr/>
          <p:nvPr/>
        </p:nvCxnSpPr>
        <p:spPr>
          <a:xfrm>
            <a:off x="406400" y="3022600"/>
            <a:ext cx="4114800" cy="0"/>
          </a:xfrm>
          <a:prstGeom prst="straightConnector1">
            <a:avLst/>
          </a:prstGeom>
          <a:noFill/>
          <a:ln w="9525" cap="flat" cmpd="sng">
            <a:solidFill>
              <a:srgbClr val="E0E0E0"/>
            </a:solidFill>
            <a:prstDash val="solid"/>
            <a:round/>
            <a:headEnd type="none" w="sm" len="sm"/>
            <a:tailEnd type="none" w="sm" len="sm"/>
          </a:ln>
        </p:spPr>
      </p:cxnSp>
      <p:sp>
        <p:nvSpPr>
          <p:cNvPr id="163" name="Google Shape;163;p4"/>
          <p:cNvSpPr txBox="1"/>
          <p:nvPr/>
        </p:nvSpPr>
        <p:spPr>
          <a:xfrm>
            <a:off x="406400" y="3060700"/>
            <a:ext cx="4114800" cy="1778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000000"/>
              </a:buClr>
              <a:buSzPts val="700"/>
              <a:buFont typeface="Arial"/>
              <a:buNone/>
            </a:pPr>
            <a:r>
              <a:rPr lang="ja"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変化の速い領域と、土台として価値が残る領域を分けて考える</a:t>
            </a:r>
            <a:endParaRPr sz="1800" dirty="0">
              <a:latin typeface="游ゴシック" panose="020B0400000000000000" pitchFamily="50" charset="-128"/>
              <a:ea typeface="游ゴシック" panose="020B0400000000000000" pitchFamily="50" charset="-128"/>
            </a:endParaRPr>
          </a:p>
        </p:txBody>
      </p:sp>
      <p:sp>
        <p:nvSpPr>
          <p:cNvPr id="164" name="Google Shape;164;p4"/>
          <p:cNvSpPr/>
          <p:nvPr/>
        </p:nvSpPr>
        <p:spPr>
          <a:xfrm>
            <a:off x="406400" y="3276600"/>
            <a:ext cx="4114800" cy="330200"/>
          </a:xfrm>
          <a:prstGeom prst="roundRect">
            <a:avLst>
              <a:gd name="adj" fmla="val 6000"/>
            </a:avLst>
          </a:prstGeom>
          <a:solidFill>
            <a:srgbClr val="F3F8FF"/>
          </a:solidFill>
          <a:ln w="9525" cap="flat" cmpd="sng">
            <a:solidFill>
              <a:srgbClr val="5298BA"/>
            </a:solidFill>
            <a:prstDash val="solid"/>
            <a:round/>
            <a:headEnd type="none" w="sm" len="sm"/>
            <a:tailEnd type="none" w="sm" len="sm"/>
          </a:ln>
        </p:spPr>
        <p:txBody>
          <a:bodyPr spcFirstLastPara="1" wrap="square" lIns="36000" tIns="27000" rIns="36000" bIns="27000" anchor="t" anchorCtr="0">
            <a:noAutofit/>
          </a:bodyPr>
          <a:lstStyle/>
          <a:p>
            <a:pPr marL="0" indent="0" algn="l">
              <a:lnSpc>
                <a:spcPct val="100000"/>
              </a:lnSpc>
              <a:spcBef>
                <a:spcPts val="0"/>
              </a:spcBef>
              <a:spcAft>
                <a:spcPts val="0"/>
              </a:spcAft>
              <a:buNone/>
            </a:pPr>
            <a:r>
              <a:rPr lang="ja" sz="900" b="1" dirty="0">
                <a:solidFill>
                  <a:srgbClr val="5298BA"/>
                </a:solidFill>
                <a:latin typeface="游ゴシック" panose="020B0400000000000000" pitchFamily="50" charset="-128"/>
                <a:ea typeface="游ゴシック" panose="020B0400000000000000" pitchFamily="50" charset="-128"/>
                <a:cs typeface="Century Gothic"/>
                <a:sym typeface="Century Gothic"/>
              </a:rPr>
              <a:t>変わるもの:</a:t>
            </a:r>
            <a:r>
              <a:rPr lang="ja" sz="900" dirty="0">
                <a:solidFill>
                  <a:srgbClr val="555555"/>
                </a:solidFill>
                <a:latin typeface="游ゴシック" panose="020B0400000000000000" pitchFamily="50" charset="-128"/>
                <a:ea typeface="游ゴシック" panose="020B0400000000000000" pitchFamily="50" charset="-128"/>
                <a:cs typeface="Century Gothic"/>
                <a:sym typeface="Century Gothic"/>
              </a:rPr>
              <a:t>         LLM、AIエージェント、AI関連ツール、実装パターン</a:t>
            </a:r>
          </a:p>
        </p:txBody>
      </p:sp>
      <p:sp>
        <p:nvSpPr>
          <p:cNvPr id="166" name="Google Shape;166;p4"/>
          <p:cNvSpPr/>
          <p:nvPr/>
        </p:nvSpPr>
        <p:spPr>
          <a:xfrm>
            <a:off x="406400" y="3657600"/>
            <a:ext cx="4114800" cy="330200"/>
          </a:xfrm>
          <a:prstGeom prst="roundRect">
            <a:avLst>
              <a:gd name="adj" fmla="val 6000"/>
            </a:avLst>
          </a:prstGeom>
          <a:solidFill>
            <a:srgbClr val="FFF8E1"/>
          </a:solidFill>
          <a:ln w="9525" cap="flat" cmpd="sng">
            <a:solidFill>
              <a:srgbClr val="F57C00"/>
            </a:solidFill>
            <a:prstDash val="solid"/>
            <a:round/>
            <a:headEnd type="none" w="sm" len="sm"/>
            <a:tailEnd type="none" w="sm" len="sm"/>
          </a:ln>
        </p:spPr>
        <p:txBody>
          <a:bodyPr spcFirstLastPara="1" wrap="square" lIns="36000" tIns="27000" rIns="36000" bIns="27000" anchor="t" anchorCtr="0">
            <a:noAutofit/>
          </a:bodyPr>
          <a:lstStyle/>
          <a:p>
            <a:pPr marL="0" indent="0" algn="l">
              <a:lnSpc>
                <a:spcPct val="100000"/>
              </a:lnSpc>
              <a:spcBef>
                <a:spcPts val="0"/>
              </a:spcBef>
              <a:spcAft>
                <a:spcPts val="0"/>
              </a:spcAft>
              <a:buNone/>
            </a:pPr>
            <a:r>
              <a:rPr lang="ja" sz="900" b="1" dirty="0">
                <a:solidFill>
                  <a:srgbClr val="E65100"/>
                </a:solidFill>
                <a:latin typeface="游ゴシック" panose="020B0400000000000000" pitchFamily="50" charset="-128"/>
                <a:ea typeface="游ゴシック" panose="020B0400000000000000" pitchFamily="50" charset="-128"/>
                <a:cs typeface="Century Gothic"/>
                <a:sym typeface="Century Gothic"/>
              </a:rPr>
              <a:t>変わりにくいもの:</a:t>
            </a:r>
            <a:r>
              <a:rPr lang="ja" sz="900" dirty="0">
                <a:solidFill>
                  <a:srgbClr val="555555"/>
                </a:solidFill>
                <a:latin typeface="游ゴシック" panose="020B0400000000000000" pitchFamily="50" charset="-128"/>
                <a:ea typeface="游ゴシック" panose="020B0400000000000000" pitchFamily="50" charset="-128"/>
                <a:cs typeface="Century Gothic"/>
                <a:sym typeface="Century Gothic"/>
              </a:rPr>
              <a:t>    データの蓄積・加工・探索、権限制御、ガバナンス</a:t>
            </a:r>
          </a:p>
        </p:txBody>
      </p:sp>
      <p:sp>
        <p:nvSpPr>
          <p:cNvPr id="167" name="Google Shape;167;p4"/>
          <p:cNvSpPr txBox="1"/>
          <p:nvPr/>
        </p:nvSpPr>
        <p:spPr>
          <a:xfrm>
            <a:off x="406400" y="4038600"/>
            <a:ext cx="4114800" cy="330200"/>
          </a:xfrm>
          <a:prstGeom prst="rect">
            <a:avLst/>
          </a:prstGeom>
          <a:noFill/>
          <a:ln>
            <a:noFill/>
          </a:ln>
        </p:spPr>
        <p:txBody>
          <a:bodyPr spcFirstLastPara="1" wrap="square" lIns="0" tIns="0" rIns="0" bIns="0" anchor="t" anchorCtr="0">
            <a:noAutofit/>
          </a:bodyPr>
          <a:lstStyle/>
          <a:p>
            <a:pPr marL="0" indent="0" algn="l">
              <a:lnSpc>
                <a:spcPct val="100000"/>
              </a:lnSpc>
              <a:spcBef>
                <a:spcPts val="0"/>
              </a:spcBef>
              <a:spcAft>
                <a:spcPts val="0"/>
              </a:spcAft>
              <a:buNone/>
            </a:pPr>
            <a:r>
              <a:rPr lang="ja" sz="900" b="1" dirty="0">
                <a:solidFill>
                  <a:srgbClr val="7B1FA2"/>
                </a:solidFill>
                <a:latin typeface="游ゴシック" panose="020B0400000000000000" pitchFamily="50" charset="-128"/>
                <a:ea typeface="游ゴシック" panose="020B0400000000000000" pitchFamily="50" charset="-128"/>
                <a:cs typeface="Century Gothic"/>
                <a:sym typeface="Century Gothic"/>
              </a:rPr>
              <a:t>技術では解決しないもの:</a:t>
            </a:r>
            <a:r>
              <a:rPr lang="ja" sz="900" dirty="0">
                <a:solidFill>
                  <a:srgbClr val="555555"/>
                </a:solidFill>
                <a:latin typeface="游ゴシック" panose="020B0400000000000000" pitchFamily="50" charset="-128"/>
                <a:ea typeface="游ゴシック" panose="020B0400000000000000" pitchFamily="50" charset="-128"/>
                <a:cs typeface="Century Gothic"/>
                <a:sym typeface="Century Gothic"/>
              </a:rPr>
              <a:t> 運用体制の設計、ナレッジの属人化解消、利用者の教育・定着</a:t>
            </a:r>
          </a:p>
        </p:txBody>
      </p:sp>
      <p:sp>
        <p:nvSpPr>
          <p:cNvPr id="168" name="Google Shape;168;p4"/>
          <p:cNvSpPr txBox="1"/>
          <p:nvPr/>
        </p:nvSpPr>
        <p:spPr>
          <a:xfrm>
            <a:off x="4699000" y="2844800"/>
            <a:ext cx="4114800" cy="15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④ SOMPOケアにおける示唆</a:t>
            </a:r>
            <a:endParaRPr dirty="0">
              <a:latin typeface="游ゴシック" panose="020B0400000000000000" pitchFamily="50" charset="-128"/>
              <a:ea typeface="游ゴシック" panose="020B0400000000000000" pitchFamily="50" charset="-128"/>
            </a:endParaRPr>
          </a:p>
        </p:txBody>
      </p:sp>
      <p:cxnSp>
        <p:nvCxnSpPr>
          <p:cNvPr id="169" name="Google Shape;169;p4"/>
          <p:cNvCxnSpPr/>
          <p:nvPr/>
        </p:nvCxnSpPr>
        <p:spPr>
          <a:xfrm>
            <a:off x="4699000" y="3022600"/>
            <a:ext cx="4114800" cy="0"/>
          </a:xfrm>
          <a:prstGeom prst="straightConnector1">
            <a:avLst/>
          </a:prstGeom>
          <a:noFill/>
          <a:ln w="9525" cap="flat" cmpd="sng">
            <a:solidFill>
              <a:srgbClr val="E0E0E0"/>
            </a:solidFill>
            <a:prstDash val="solid"/>
            <a:round/>
            <a:headEnd type="none" w="sm" len="sm"/>
            <a:tailEnd type="none" w="sm" len="sm"/>
          </a:ln>
        </p:spPr>
      </p:cxnSp>
      <p:sp>
        <p:nvSpPr>
          <p:cNvPr id="170" name="Google Shape;170;p4"/>
          <p:cNvSpPr txBox="1"/>
          <p:nvPr/>
        </p:nvSpPr>
        <p:spPr>
          <a:xfrm>
            <a:off x="4699000" y="3060700"/>
            <a:ext cx="4114800" cy="127000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000000"/>
              </a:buClr>
              <a:buSzPts val="700"/>
              <a:buFont typeface="Arial"/>
              <a:buNone/>
            </a:pPr>
            <a:r>
              <a:rPr lang="ja"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SOMPOケアは、多数施設にまたがる業務データ・介護記録・センサーデータを保有しており、基盤が整えばAI進化の恩恵を大きく受けられる。</a:t>
            </a:r>
            <a:endParaRPr sz="1800" dirty="0">
              <a:latin typeface="游ゴシック" panose="020B0400000000000000" pitchFamily="50" charset="-128"/>
              <a:ea typeface="游ゴシック" panose="020B0400000000000000" pitchFamily="50" charset="-128"/>
            </a:endParaRPr>
          </a:p>
          <a:p>
            <a:pPr marL="0" marR="0" lvl="0" indent="0" algn="l" rtl="0">
              <a:lnSpc>
                <a:spcPct val="160000"/>
              </a:lnSpc>
              <a:spcBef>
                <a:spcPts val="200"/>
              </a:spcBef>
              <a:spcAft>
                <a:spcPts val="0"/>
              </a:spcAft>
              <a:buClr>
                <a:srgbClr val="000000"/>
              </a:buClr>
              <a:buSzPts val="700"/>
              <a:buFont typeface="Arial"/>
              <a:buNone/>
            </a:pPr>
            <a:r>
              <a:rPr lang="ja" sz="900" b="0" i="0" u="none" strike="noStrike" cap="none" dirty="0">
                <a:solidFill>
                  <a:srgbClr val="555555"/>
                </a:solidFill>
                <a:latin typeface="游ゴシック" panose="020B0400000000000000" pitchFamily="50" charset="-128"/>
                <a:ea typeface="游ゴシック" panose="020B0400000000000000" pitchFamily="50" charset="-128"/>
                <a:cs typeface="Century Gothic"/>
                <a:sym typeface="Century Gothic"/>
              </a:rPr>
              <a:t>一方、基盤選定を誤ると、将来の活用が特定ベンダーや構成に制約され、追加対応や再設計が必要になる</a:t>
            </a:r>
            <a:endParaRPr sz="1800" dirty="0">
              <a:latin typeface="游ゴシック" panose="020B0400000000000000" pitchFamily="50" charset="-128"/>
              <a:ea typeface="游ゴシック" panose="020B0400000000000000" pitchFamily="50" charset="-128"/>
            </a:endParaRPr>
          </a:p>
          <a:p>
            <a:pPr marL="0" marR="0" lvl="0" indent="0" algn="l" rtl="0">
              <a:lnSpc>
                <a:spcPct val="160000"/>
              </a:lnSpc>
              <a:spcBef>
                <a:spcPts val="200"/>
              </a:spcBef>
              <a:spcAft>
                <a:spcPts val="0"/>
              </a:spcAft>
              <a:buClr>
                <a:srgbClr val="000000"/>
              </a:buClr>
              <a:buSzPts val="750"/>
              <a:buFont typeface="Arial"/>
              <a:buNone/>
            </a:pPr>
            <a:r>
              <a:rPr lang="ja-JP" altLang="en-US"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⇒「今動くか」「</a:t>
            </a:r>
            <a:r>
              <a:rPr lang="en" altLang="ja-JP"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Foundry</a:t>
            </a:r>
            <a:r>
              <a:rPr lang="ja-JP" altLang="en-US"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より安くなるか」「社内で回せるか」</a:t>
            </a:r>
            <a:endParaRPr lang="en-US" altLang="ja-JP"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endParaRPr>
          </a:p>
          <a:p>
            <a:pPr marL="0" marR="0" lvl="0" indent="0" algn="l" rtl="0">
              <a:lnSpc>
                <a:spcPct val="160000"/>
              </a:lnSpc>
              <a:spcBef>
                <a:spcPts val="200"/>
              </a:spcBef>
              <a:spcAft>
                <a:spcPts val="0"/>
              </a:spcAft>
              <a:buClr>
                <a:srgbClr val="000000"/>
              </a:buClr>
              <a:buSzPts val="750"/>
              <a:buFont typeface="Arial"/>
              <a:buNone/>
            </a:pPr>
            <a:r>
              <a:rPr lang="ja-JP" altLang="en-US" sz="900" b="1" dirty="0">
                <a:solidFill>
                  <a:srgbClr val="2C3E50"/>
                </a:solidFill>
                <a:latin typeface="游ゴシック" panose="020B0400000000000000" pitchFamily="50" charset="-128"/>
                <a:ea typeface="游ゴシック" panose="020B0400000000000000" pitchFamily="50" charset="-128"/>
                <a:cs typeface="Century Gothic"/>
                <a:sym typeface="Century Gothic"/>
              </a:rPr>
              <a:t>　</a:t>
            </a:r>
            <a:r>
              <a:rPr lang="ja-JP" altLang="en-US"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「将来を阻害しないか」 をあわせて見る必要がある</a:t>
            </a:r>
          </a:p>
          <a:p>
            <a:pPr marL="0" marR="0" lvl="0" indent="0" algn="l" rtl="0">
              <a:lnSpc>
                <a:spcPct val="160000"/>
              </a:lnSpc>
              <a:spcBef>
                <a:spcPts val="200"/>
              </a:spcBef>
              <a:spcAft>
                <a:spcPts val="0"/>
              </a:spcAft>
              <a:buClr>
                <a:srgbClr val="000000"/>
              </a:buClr>
              <a:buSzPts val="750"/>
              <a:buFont typeface="Arial"/>
              <a:buNone/>
            </a:pPr>
            <a:br>
              <a:rPr lang="ja-JP" altLang="en-US" sz="75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br>
            <a:endParaRPr dirty="0">
              <a:latin typeface="游ゴシック" panose="020B0400000000000000" pitchFamily="50" charset="-128"/>
              <a:ea typeface="游ゴシック" panose="020B0400000000000000" pitchFamily="50" charset="-128"/>
            </a:endParaRPr>
          </a:p>
        </p:txBody>
      </p:sp>
      <p:cxnSp>
        <p:nvCxnSpPr>
          <p:cNvPr id="171" name="Google Shape;171;p4"/>
          <p:cNvCxnSpPr/>
          <p:nvPr/>
        </p:nvCxnSpPr>
        <p:spPr>
          <a:xfrm>
            <a:off x="4597400" y="2743200"/>
            <a:ext cx="0" cy="1879600"/>
          </a:xfrm>
          <a:prstGeom prst="straightConnector1">
            <a:avLst/>
          </a:prstGeom>
          <a:noFill/>
          <a:ln w="9525" cap="flat" cmpd="sng">
            <a:solidFill>
              <a:srgbClr val="CCCCCC"/>
            </a:solidFill>
            <a:prstDash val="solid"/>
            <a:round/>
            <a:headEnd type="none" w="sm" len="sm"/>
            <a:tailEnd type="none" w="sm" len="sm"/>
          </a:ln>
        </p:spPr>
      </p:cxnSp>
    </p:spTree>
    <p:extLst>
      <p:ext uri="{BB962C8B-B14F-4D97-AF65-F5344CB8AC3E}">
        <p14:creationId xmlns:p14="http://schemas.microsoft.com/office/powerpoint/2010/main" val="2152814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6"/>
        <p:cNvGrpSpPr/>
        <p:nvPr/>
      </p:nvGrpSpPr>
      <p:grpSpPr>
        <a:xfrm>
          <a:off x="0" y="0"/>
          <a:ext cx="0" cy="0"/>
          <a:chOff x="0" y="0"/>
          <a:chExt cx="0" cy="0"/>
        </a:xfrm>
      </p:grpSpPr>
      <p:sp>
        <p:nvSpPr>
          <p:cNvPr id="177" name="Google Shape;177;p5"/>
          <p:cNvSpPr/>
          <p:nvPr/>
        </p:nvSpPr>
        <p:spPr>
          <a:xfrm>
            <a:off x="406301" y="228600"/>
            <a:ext cx="8498026"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1.3  AI活用も見据えたデータ基盤に求められる7つの観点</a:t>
            </a:r>
            <a:endParaRPr sz="1800" b="0" i="0" u="none" strike="noStrike" cap="none" dirty="0">
              <a:solidFill>
                <a:schemeClr val="dk1"/>
              </a:solidFill>
              <a:latin typeface="Calibri"/>
              <a:ea typeface="Calibri"/>
              <a:cs typeface="Calibri"/>
              <a:sym typeface="Calibri"/>
            </a:endParaRPr>
          </a:p>
        </p:txBody>
      </p:sp>
      <p:sp>
        <p:nvSpPr>
          <p:cNvPr id="178" name="Google Shape;178;p5"/>
          <p:cNvSpPr/>
          <p:nvPr/>
        </p:nvSpPr>
        <p:spPr>
          <a:xfrm>
            <a:off x="406301" y="609600"/>
            <a:ext cx="8498026" cy="1714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ja-JP" altLang="en-US"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今回の選定対象はデータ基盤であるが、将来の</a:t>
            </a:r>
            <a:r>
              <a:rPr lang="en" altLang="ja-JP"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AI</a:t>
            </a:r>
            <a:r>
              <a:rPr lang="ja-JP" altLang="en-US"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活用やデータ連携の広がりも阻害しないことを前提に、</a:t>
            </a:r>
            <a:r>
              <a:rPr lang="en-US" altLang="ja-JP"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7</a:t>
            </a:r>
            <a:r>
              <a:rPr lang="ja-JP" altLang="en-US"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つの観点で必須要件と将来を阻害しないための確認事項を整理する。</a:t>
            </a:r>
            <a:endParaRPr dirty="0">
              <a:latin typeface="游ゴシック" panose="020B0400000000000000" pitchFamily="50" charset="-128"/>
              <a:ea typeface="游ゴシック" panose="020B0400000000000000" pitchFamily="50" charset="-128"/>
            </a:endParaRPr>
          </a:p>
        </p:txBody>
      </p:sp>
      <p:cxnSp>
        <p:nvCxnSpPr>
          <p:cNvPr id="179" name="Google Shape;179;p5"/>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180" name="Google Shape;180;p5"/>
          <p:cNvSpPr/>
          <p:nvPr/>
        </p:nvSpPr>
        <p:spPr>
          <a:xfrm>
            <a:off x="406301" y="4930825"/>
            <a:ext cx="194006" cy="857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181" name="Google Shape;181;p5"/>
          <p:cNvSpPr/>
          <p:nvPr/>
        </p:nvSpPr>
        <p:spPr>
          <a:xfrm>
            <a:off x="8132564" y="4930825"/>
            <a:ext cx="617238" cy="857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2</a:t>
            </a:r>
            <a:endParaRPr sz="550" b="0" i="0" u="none" strike="noStrike" cap="none" dirty="0">
              <a:solidFill>
                <a:schemeClr val="dk1"/>
              </a:solidFill>
              <a:latin typeface="Calibri"/>
              <a:ea typeface="Calibri"/>
              <a:cs typeface="Calibri"/>
              <a:sym typeface="Calibri"/>
            </a:endParaRPr>
          </a:p>
        </p:txBody>
      </p:sp>
      <p:graphicFrame>
        <p:nvGraphicFramePr>
          <p:cNvPr id="182" name="Google Shape;182;p5"/>
          <p:cNvGraphicFramePr/>
          <p:nvPr>
            <p:extLst>
              <p:ext uri="{D42A27DB-BD31-4B8C-83A1-F6EECF244321}">
                <p14:modId xmlns:p14="http://schemas.microsoft.com/office/powerpoint/2010/main" val="423324507"/>
              </p:ext>
            </p:extLst>
          </p:nvPr>
        </p:nvGraphicFramePr>
        <p:xfrm>
          <a:off x="406399" y="1017637"/>
          <a:ext cx="8497927" cy="3637815"/>
        </p:xfrm>
        <a:graphic>
          <a:graphicData uri="http://schemas.openxmlformats.org/drawingml/2006/table">
            <a:tbl>
              <a:tblPr firstRow="1" bandRow="1">
                <a:noFill/>
                <a:tableStyleId>{831F8A93-CA79-4AF6-B420-68E9A51CCC31}</a:tableStyleId>
              </a:tblPr>
              <a:tblGrid>
                <a:gridCol w="1428223">
                  <a:extLst>
                    <a:ext uri="{9D8B030D-6E8A-4147-A177-3AD203B41FA5}">
                      <a16:colId xmlns:a16="http://schemas.microsoft.com/office/drawing/2014/main" val="20000"/>
                    </a:ext>
                  </a:extLst>
                </a:gridCol>
                <a:gridCol w="3570558">
                  <a:extLst>
                    <a:ext uri="{9D8B030D-6E8A-4147-A177-3AD203B41FA5}">
                      <a16:colId xmlns:a16="http://schemas.microsoft.com/office/drawing/2014/main" val="20002"/>
                    </a:ext>
                  </a:extLst>
                </a:gridCol>
                <a:gridCol w="3499146">
                  <a:extLst>
                    <a:ext uri="{9D8B030D-6E8A-4147-A177-3AD203B41FA5}">
                      <a16:colId xmlns:a16="http://schemas.microsoft.com/office/drawing/2014/main" val="20003"/>
                    </a:ext>
                  </a:extLst>
                </a:gridCol>
              </a:tblGrid>
              <a:tr h="237145">
                <a:tc>
                  <a:txBody>
                    <a:bodyPr/>
                    <a:lstStyle/>
                    <a:p>
                      <a:pPr marL="0" marR="0" lvl="0" indent="0" algn="l" rtl="0">
                        <a:lnSpc>
                          <a:spcPct val="11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観点</a:t>
                      </a:r>
                      <a:endParaRPr sz="18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rtl="0">
                        <a:lnSpc>
                          <a:spcPct val="110000"/>
                        </a:lnSpc>
                        <a:spcBef>
                          <a:spcPts val="0"/>
                        </a:spcBef>
                        <a:spcAft>
                          <a:spcPts val="0"/>
                        </a:spcAft>
                        <a:buNone/>
                      </a:pPr>
                      <a:r>
                        <a:rPr lang="en-US" sz="1000" b="1" u="none" strike="noStrike" cap="none" dirty="0" err="1">
                          <a:latin typeface="游ゴシック" panose="020B0400000000000000" pitchFamily="50" charset="-128"/>
                          <a:ea typeface="游ゴシック" panose="020B0400000000000000" pitchFamily="50" charset="-128"/>
                          <a:sym typeface="Century Gothic"/>
                        </a:rPr>
                        <a:t>必須要件</a:t>
                      </a:r>
                      <a:endParaRPr sz="1800" dirty="0"/>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rtl="0">
                        <a:lnSpc>
                          <a:spcPct val="110000"/>
                        </a:lnSpc>
                        <a:spcBef>
                          <a:spcPts val="0"/>
                        </a:spcBef>
                        <a:spcAft>
                          <a:spcPts val="0"/>
                        </a:spcAft>
                        <a:buNone/>
                      </a:pPr>
                      <a:r>
                        <a:rPr lang="ja-JP" altLang="en-US" sz="1000" b="1" u="none" strike="noStrike" cap="none" dirty="0">
                          <a:latin typeface="游ゴシック" panose="020B0400000000000000" pitchFamily="50" charset="-128"/>
                          <a:ea typeface="游ゴシック" panose="020B0400000000000000" pitchFamily="50" charset="-128"/>
                          <a:cs typeface="Century Gothic"/>
                          <a:sym typeface="Century Gothic"/>
                        </a:rPr>
                        <a:t>加点要件</a:t>
                      </a:r>
                      <a:r>
                        <a:rPr lang="en-US" altLang="ja-JP" sz="1000" b="1" u="none" strike="noStrike" cap="none" dirty="0">
                          <a:latin typeface="游ゴシック" panose="020B0400000000000000" pitchFamily="50" charset="-128"/>
                          <a:ea typeface="游ゴシック" panose="020B0400000000000000" pitchFamily="50" charset="-128"/>
                          <a:cs typeface="Century Gothic"/>
                          <a:sym typeface="Century Gothic"/>
                        </a:rPr>
                        <a:t>(</a:t>
                      </a:r>
                      <a:r>
                        <a:rPr lang="ja-JP" altLang="en-US" sz="1000" b="1" u="none" strike="noStrike" cap="none" dirty="0">
                          <a:latin typeface="游ゴシック" panose="020B0400000000000000" pitchFamily="50" charset="-128"/>
                          <a:ea typeface="游ゴシック" panose="020B0400000000000000" pitchFamily="50" charset="-128"/>
                          <a:cs typeface="Century Gothic"/>
                          <a:sym typeface="Century Gothic"/>
                        </a:rPr>
                        <a:t>将来を阻害しないために今回確認すること</a:t>
                      </a:r>
                      <a:r>
                        <a:rPr lang="en-US" altLang="ja-JP" sz="1000" b="1" u="none" strike="noStrike" cap="none" dirty="0">
                          <a:latin typeface="游ゴシック" panose="020B0400000000000000" pitchFamily="50" charset="-128"/>
                          <a:ea typeface="游ゴシック" panose="020B0400000000000000" pitchFamily="50" charset="-128"/>
                          <a:cs typeface="Century Gothic"/>
                          <a:sym typeface="Century Gothic"/>
                        </a:rPr>
                        <a:t>)</a:t>
                      </a:r>
                      <a:endParaRPr lang="ja-JP" altLang="en-US" sz="18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461115">
                <a:tc>
                  <a:txBody>
                    <a:bodyPr/>
                    <a:lstStyle/>
                    <a:p>
                      <a:pPr marL="0" marR="0" lvl="0" indent="0" algn="l" rtl="0">
                        <a:lnSpc>
                          <a:spcPct val="110000"/>
                        </a:lnSpc>
                        <a:spcBef>
                          <a:spcPts val="0"/>
                        </a:spcBef>
                        <a:spcAft>
                          <a:spcPts val="0"/>
                        </a:spcAft>
                        <a:buNone/>
                      </a:pPr>
                      <a:r>
                        <a:rPr lang="ja" sz="1200" b="1" u="none" strike="noStrike" cap="none" dirty="0">
                          <a:latin typeface="游ゴシック" panose="020B0400000000000000" pitchFamily="50" charset="-128"/>
                          <a:ea typeface="游ゴシック" panose="020B0400000000000000" pitchFamily="50" charset="-128"/>
                          <a:cs typeface="Century Gothic"/>
                          <a:sym typeface="Century Gothic"/>
                        </a:rPr>
                        <a:t>① 連携性</a:t>
                      </a:r>
                      <a:endParaRPr sz="12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ほのぼの、Axist、眠りSCAN、ナースコール等の既存接続に対応できるか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IoT・映像等の連携先が増えても大きな再設計なく拡張できるか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61115">
                <a:tc>
                  <a:txBody>
                    <a:bodyPr/>
                    <a:lstStyle/>
                    <a:p>
                      <a:pPr marL="0" marR="0" lvl="0" indent="0" algn="l" rtl="0">
                        <a:lnSpc>
                          <a:spcPct val="110000"/>
                        </a:lnSpc>
                        <a:spcBef>
                          <a:spcPts val="0"/>
                        </a:spcBef>
                        <a:spcAft>
                          <a:spcPts val="0"/>
                        </a:spcAft>
                        <a:buNone/>
                      </a:pPr>
                      <a:r>
                        <a:rPr lang="ja" sz="1200" b="1" u="none" strike="noStrike" cap="none" dirty="0">
                          <a:latin typeface="游ゴシック" panose="020B0400000000000000" pitchFamily="50" charset="-128"/>
                          <a:ea typeface="游ゴシック" panose="020B0400000000000000" pitchFamily="50" charset="-128"/>
                          <a:cs typeface="Century Gothic"/>
                          <a:sym typeface="Century Gothic"/>
                        </a:rPr>
                        <a:t>② 安全性</a:t>
                      </a:r>
                      <a:endParaRPr sz="12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要配慮個人情報を扱う前提で、施設・部門・役割単位のアクセス制御、監査ログ、権限管理を実現できるか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AI活用時にも同様の統制を維持できる構造か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61115">
                <a:tc>
                  <a:txBody>
                    <a:bodyPr/>
                    <a:lstStyle/>
                    <a:p>
                      <a:pPr marL="0" marR="0" lvl="0" indent="0" algn="l" rtl="0">
                        <a:lnSpc>
                          <a:spcPct val="110000"/>
                        </a:lnSpc>
                        <a:spcBef>
                          <a:spcPts val="0"/>
                        </a:spcBef>
                        <a:spcAft>
                          <a:spcPts val="0"/>
                        </a:spcAft>
                        <a:buNone/>
                      </a:pPr>
                      <a:r>
                        <a:rPr lang="ja" sz="1200" b="1" u="none" strike="noStrike" cap="none" dirty="0">
                          <a:latin typeface="游ゴシック" panose="020B0400000000000000" pitchFamily="50" charset="-128"/>
                          <a:ea typeface="游ゴシック" panose="020B0400000000000000" pitchFamily="50" charset="-128"/>
                          <a:cs typeface="Century Gothic"/>
                          <a:sym typeface="Century Gothic"/>
                        </a:rPr>
                        <a:t>③ 進化性</a:t>
                      </a:r>
                      <a:endParaRPr sz="12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Foundry固有制約から脱却し、標準的なデータ形式・疎結合な構成で継続運用できるか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LLMや構造化処理を追加しても全体を大きく作り直さずに拡張できるか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61115">
                <a:tc>
                  <a:txBody>
                    <a:bodyPr/>
                    <a:lstStyle/>
                    <a:p>
                      <a:pPr marL="0" marR="0" lvl="0" indent="0" algn="l" rtl="0">
                        <a:lnSpc>
                          <a:spcPct val="110000"/>
                        </a:lnSpc>
                        <a:spcBef>
                          <a:spcPts val="0"/>
                        </a:spcBef>
                        <a:spcAft>
                          <a:spcPts val="0"/>
                        </a:spcAft>
                        <a:buNone/>
                      </a:pPr>
                      <a:r>
                        <a:rPr lang="ja" sz="1200" b="1" u="none" strike="noStrike" cap="none" dirty="0">
                          <a:latin typeface="游ゴシック" panose="020B0400000000000000" pitchFamily="50" charset="-128"/>
                          <a:ea typeface="游ゴシック" panose="020B0400000000000000" pitchFamily="50" charset="-128"/>
                          <a:cs typeface="Century Gothic"/>
                          <a:sym typeface="Century Gothic"/>
                        </a:rPr>
                        <a:t>④ 実効性</a:t>
                      </a:r>
                      <a:endParaRPr sz="12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219本のパイプライン移行、既存BI再現、大容量データ移行を現実的に実現できるか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テキスト・映像等の活用対象が広がっても基盤側で受け止められるか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09144">
                <a:tc>
                  <a:txBody>
                    <a:bodyPr/>
                    <a:lstStyle/>
                    <a:p>
                      <a:pPr marL="0" marR="0" lvl="0" indent="0" algn="l" rtl="0">
                        <a:lnSpc>
                          <a:spcPct val="110000"/>
                        </a:lnSpc>
                        <a:spcBef>
                          <a:spcPts val="0"/>
                        </a:spcBef>
                        <a:spcAft>
                          <a:spcPts val="0"/>
                        </a:spcAft>
                        <a:buNone/>
                      </a:pPr>
                      <a:r>
                        <a:rPr lang="ja" sz="1200" b="1" u="none" strike="noStrike" cap="none" dirty="0">
                          <a:latin typeface="游ゴシック" panose="020B0400000000000000" pitchFamily="50" charset="-128"/>
                          <a:ea typeface="游ゴシック" panose="020B0400000000000000" pitchFamily="50" charset="-128"/>
                          <a:cs typeface="Century Gothic"/>
                          <a:sym typeface="Century Gothic"/>
                        </a:rPr>
                        <a:t>⑤ 運用性</a:t>
                      </a:r>
                      <a:endParaRPr sz="12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データの所在・定義・更新状況を把握できるか。</a:t>
                      </a:r>
                      <a:r>
                        <a:rPr lang="ja-JP" altLang="en-US" sz="900" b="0" u="none" strike="noStrike" cap="none" dirty="0">
                          <a:latin typeface="游ゴシック" panose="020B0400000000000000" pitchFamily="50" charset="-128"/>
                          <a:ea typeface="游ゴシック" panose="020B0400000000000000" pitchFamily="50" charset="-128"/>
                          <a:cs typeface="Century Gothic"/>
                          <a:sym typeface="Century Gothic"/>
                        </a:rPr>
                        <a:t>セルフサービス</a:t>
                      </a:r>
                      <a:r>
                        <a:rPr lang="en" altLang="ja" sz="900" b="0" u="none" strike="noStrike" cap="none" dirty="0">
                          <a:latin typeface="游ゴシック" panose="020B0400000000000000" pitchFamily="50" charset="-128"/>
                          <a:ea typeface="游ゴシック" panose="020B0400000000000000" pitchFamily="50" charset="-128"/>
                          <a:cs typeface="Century Gothic"/>
                          <a:sym typeface="Century Gothic"/>
                        </a:rPr>
                        <a:t>BI</a:t>
                      </a:r>
                      <a:r>
                        <a:rPr lang="ja-JP" altLang="en-US" sz="900" b="0" u="none" strike="noStrike" cap="none" dirty="0">
                          <a:latin typeface="游ゴシック" panose="020B0400000000000000" pitchFamily="50" charset="-128"/>
                          <a:ea typeface="游ゴシック" panose="020B0400000000000000" pitchFamily="50" charset="-128"/>
                          <a:cs typeface="Century Gothic"/>
                          <a:sym typeface="Century Gothic"/>
                        </a:rPr>
                        <a:t>環境が整備され、施設長・ミドル部門が</a:t>
                      </a:r>
                      <a:r>
                        <a:rPr lang="en" altLang="ja" sz="900" b="0" u="none" strike="noStrike" cap="none" dirty="0">
                          <a:latin typeface="游ゴシック" panose="020B0400000000000000" pitchFamily="50" charset="-128"/>
                          <a:ea typeface="游ゴシック" panose="020B0400000000000000" pitchFamily="50" charset="-128"/>
                          <a:cs typeface="Century Gothic"/>
                          <a:sym typeface="Century Gothic"/>
                        </a:rPr>
                        <a:t>IT</a:t>
                      </a:r>
                      <a:r>
                        <a:rPr lang="ja-JP" altLang="en-US" sz="900" b="0" u="none" strike="noStrike" cap="none" dirty="0">
                          <a:latin typeface="游ゴシック" panose="020B0400000000000000" pitchFamily="50" charset="-128"/>
                          <a:ea typeface="游ゴシック" panose="020B0400000000000000" pitchFamily="50" charset="-128"/>
                          <a:cs typeface="Century Gothic"/>
                          <a:sym typeface="Century Gothic"/>
                        </a:rPr>
                        <a:t>部門への依頼なしにデータ閲覧・分析できるか。</a:t>
                      </a:r>
                      <a:r>
                        <a:rPr lang="en" altLang="ja" sz="900" b="0" u="none" strike="noStrike" cap="none" dirty="0">
                          <a:latin typeface="游ゴシック" panose="020B0400000000000000" pitchFamily="50" charset="-128"/>
                          <a:ea typeface="游ゴシック" panose="020B0400000000000000" pitchFamily="50" charset="-128"/>
                          <a:cs typeface="Century Gothic"/>
                          <a:sym typeface="Century Gothic"/>
                        </a:rPr>
                        <a:t>IT</a:t>
                      </a:r>
                      <a:r>
                        <a:rPr lang="ja-JP" altLang="en-US" sz="900" b="0" u="none" strike="noStrike" cap="none" dirty="0">
                          <a:latin typeface="游ゴシック" panose="020B0400000000000000" pitchFamily="50" charset="-128"/>
                          <a:ea typeface="游ゴシック" panose="020B0400000000000000" pitchFamily="50" charset="-128"/>
                          <a:cs typeface="Century Gothic"/>
                          <a:sym typeface="Century Gothic"/>
                        </a:rPr>
                        <a:t>企画部・データチームが自由な分析を完結できるか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AI活用時にも利用データや処理内容を追跡できる構造か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61115">
                <a:tc>
                  <a:txBody>
                    <a:bodyPr/>
                    <a:lstStyle/>
                    <a:p>
                      <a:pPr marL="0" marR="0" lvl="0" indent="0" algn="l" rtl="0">
                        <a:lnSpc>
                          <a:spcPct val="110000"/>
                        </a:lnSpc>
                        <a:spcBef>
                          <a:spcPts val="0"/>
                        </a:spcBef>
                        <a:spcAft>
                          <a:spcPts val="0"/>
                        </a:spcAft>
                        <a:buNone/>
                      </a:pPr>
                      <a:r>
                        <a:rPr lang="ja" sz="1200" b="1" u="none" strike="noStrike" cap="none" dirty="0">
                          <a:latin typeface="游ゴシック" panose="020B0400000000000000" pitchFamily="50" charset="-128"/>
                          <a:ea typeface="游ゴシック" panose="020B0400000000000000" pitchFamily="50" charset="-128"/>
                          <a:cs typeface="Century Gothic"/>
                          <a:sym typeface="Century Gothic"/>
                        </a:rPr>
                        <a:t>⑥ 開発速度</a:t>
                      </a:r>
                      <a:endParaRPr sz="12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開発環境の標準構成、権限付与、PoCから本番への移行を進めやすい構成か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テキスト分析や映像構造化などの新ユースケースを段階的に追加しやすいか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61115">
                <a:tc>
                  <a:txBody>
                    <a:bodyPr/>
                    <a:lstStyle/>
                    <a:p>
                      <a:pPr marL="0" marR="0" lvl="0" indent="0" algn="l" rtl="0">
                        <a:lnSpc>
                          <a:spcPct val="110000"/>
                        </a:lnSpc>
                        <a:spcBef>
                          <a:spcPts val="0"/>
                        </a:spcBef>
                        <a:spcAft>
                          <a:spcPts val="0"/>
                        </a:spcAft>
                        <a:buNone/>
                      </a:pPr>
                      <a:r>
                        <a:rPr lang="ja" sz="1200" b="1" u="none" strike="noStrike" cap="none" dirty="0">
                          <a:latin typeface="游ゴシック" panose="020B0400000000000000" pitchFamily="50" charset="-128"/>
                          <a:ea typeface="游ゴシック" panose="020B0400000000000000" pitchFamily="50" charset="-128"/>
                          <a:cs typeface="Century Gothic"/>
                          <a:sym typeface="Century Gothic"/>
                        </a:rPr>
                        <a:t>⑦ スケール</a:t>
                      </a:r>
                      <a:endParaRPr sz="12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約1,000施設規模、利用者数増、分析対象拡大に対応できるか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10000"/>
                        </a:lnSpc>
                        <a:spcBef>
                          <a:spcPts val="0"/>
                        </a:spcBef>
                        <a:spcAft>
                          <a:spcPts val="0"/>
                        </a:spcAft>
                        <a:buNone/>
                      </a:pPr>
                      <a:r>
                        <a:rPr lang="ja" sz="900" b="0" u="none" strike="noStrike" cap="none" dirty="0">
                          <a:latin typeface="游ゴシック" panose="020B0400000000000000" pitchFamily="50" charset="-128"/>
                          <a:ea typeface="游ゴシック" panose="020B0400000000000000" pitchFamily="50" charset="-128"/>
                          <a:cs typeface="Century Gothic"/>
                          <a:sym typeface="Century Gothic"/>
                        </a:rPr>
                        <a:t>将来、AI活用が増加しても性能・運用・コスト面で破綻しないか</a:t>
                      </a:r>
                      <a:endParaRPr sz="900" dirty="0">
                        <a:latin typeface="游ゴシック" panose="020B0400000000000000" pitchFamily="50" charset="-128"/>
                        <a:ea typeface="游ゴシック" panose="020B0400000000000000" pitchFamily="50" charset="-128"/>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83" name="Google Shape;183;p5"/>
          <p:cNvSpPr txBox="1"/>
          <p:nvPr/>
        </p:nvSpPr>
        <p:spPr>
          <a:xfrm>
            <a:off x="406400" y="4638725"/>
            <a:ext cx="8331200" cy="292100"/>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 なお、</a:t>
            </a:r>
            <a:r>
              <a:rPr lang="en-US" alt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AI</a:t>
            </a:r>
            <a:r>
              <a:rPr lang="ja-JP" altLang="en-US"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活用における</a:t>
            </a: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将来の詳細論点は、後続の「AI活用に向けた将来論点」で別途整理する。</a:t>
            </a:r>
            <a:endParaRPr sz="800" dirty="0">
              <a:latin typeface="游ゴシック" panose="020B0400000000000000" pitchFamily="50" charset="-128"/>
              <a:ea typeface="游ゴシック" panose="020B0400000000000000" pitchFamily="50" charset="-128"/>
            </a:endParaRPr>
          </a:p>
        </p:txBody>
      </p:sp>
    </p:spTree>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6"/>
          <p:cNvSpPr/>
          <p:nvPr/>
        </p:nvSpPr>
        <p:spPr>
          <a:xfrm>
            <a:off x="406301" y="228600"/>
            <a:ext cx="8498026"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1.4  貴社ニーズに合わせた優先選定要件</a:t>
            </a:r>
            <a:endParaRPr sz="1800" b="0" i="0" u="none" strike="noStrike" cap="none" dirty="0">
              <a:solidFill>
                <a:schemeClr val="dk1"/>
              </a:solidFill>
              <a:latin typeface="Calibri"/>
              <a:ea typeface="Calibri"/>
              <a:cs typeface="Calibri"/>
              <a:sym typeface="Calibri"/>
            </a:endParaRPr>
          </a:p>
        </p:txBody>
      </p:sp>
      <p:sp>
        <p:nvSpPr>
          <p:cNvPr id="190" name="Google Shape;190;p6"/>
          <p:cNvSpPr/>
          <p:nvPr/>
        </p:nvSpPr>
        <p:spPr>
          <a:xfrm>
            <a:off x="406301" y="609600"/>
            <a:ext cx="8498026" cy="1714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ja"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1.3で整理した7つの観点をそのまま並列に扱うのではなく、SOMPOケアの現行課題と目的に照らして、今回の選定で特に重視すべき4つの優先要件に束ねて判断する。</a:t>
            </a:r>
            <a:endParaRPr dirty="0">
              <a:latin typeface="游ゴシック" panose="020B0400000000000000" pitchFamily="50" charset="-128"/>
              <a:ea typeface="游ゴシック" panose="020B0400000000000000" pitchFamily="50" charset="-128"/>
            </a:endParaRPr>
          </a:p>
        </p:txBody>
      </p:sp>
      <p:cxnSp>
        <p:nvCxnSpPr>
          <p:cNvPr id="191" name="Google Shape;191;p6"/>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192" name="Google Shape;192;p6"/>
          <p:cNvSpPr/>
          <p:nvPr/>
        </p:nvSpPr>
        <p:spPr>
          <a:xfrm>
            <a:off x="406301" y="4930825"/>
            <a:ext cx="194006" cy="857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193" name="Google Shape;193;p6"/>
          <p:cNvSpPr/>
          <p:nvPr/>
        </p:nvSpPr>
        <p:spPr>
          <a:xfrm>
            <a:off x="8132564" y="4930825"/>
            <a:ext cx="617238" cy="857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4</a:t>
            </a:r>
            <a:endParaRPr sz="550" b="0" i="0" u="none" strike="noStrike" cap="none" dirty="0">
              <a:solidFill>
                <a:schemeClr val="dk1"/>
              </a:solidFill>
              <a:latin typeface="Calibri"/>
              <a:ea typeface="Calibri"/>
              <a:cs typeface="Calibri"/>
              <a:sym typeface="Calibri"/>
            </a:endParaRPr>
          </a:p>
        </p:txBody>
      </p:sp>
      <p:graphicFrame>
        <p:nvGraphicFramePr>
          <p:cNvPr id="194" name="Google Shape;194;p6"/>
          <p:cNvGraphicFramePr/>
          <p:nvPr>
            <p:extLst>
              <p:ext uri="{D42A27DB-BD31-4B8C-83A1-F6EECF244321}">
                <p14:modId xmlns:p14="http://schemas.microsoft.com/office/powerpoint/2010/main" val="1566064781"/>
              </p:ext>
            </p:extLst>
          </p:nvPr>
        </p:nvGraphicFramePr>
        <p:xfrm>
          <a:off x="406400" y="988903"/>
          <a:ext cx="8331200" cy="3708400"/>
        </p:xfrm>
        <a:graphic>
          <a:graphicData uri="http://schemas.openxmlformats.org/drawingml/2006/table">
            <a:tbl>
              <a:tblPr firstRow="1" bandRow="1">
                <a:noFill/>
                <a:tableStyleId>{831F8A93-CA79-4AF6-B420-68E9A51CCC31}</a:tableStyleId>
              </a:tblPr>
              <a:tblGrid>
                <a:gridCol w="19685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3175000">
                  <a:extLst>
                    <a:ext uri="{9D8B030D-6E8A-4147-A177-3AD203B41FA5}">
                      <a16:colId xmlns:a16="http://schemas.microsoft.com/office/drawing/2014/main" val="20002"/>
                    </a:ext>
                  </a:extLst>
                </a:gridCol>
                <a:gridCol w="2235200">
                  <a:extLst>
                    <a:ext uri="{9D8B030D-6E8A-4147-A177-3AD203B41FA5}">
                      <a16:colId xmlns:a16="http://schemas.microsoft.com/office/drawing/2014/main" val="20003"/>
                    </a:ext>
                  </a:extLst>
                </a:gridCol>
              </a:tblGrid>
              <a:tr h="254000">
                <a:tc>
                  <a:txBody>
                    <a:bodyPr/>
                    <a:lstStyle/>
                    <a:p>
                      <a:pPr marL="0" marR="0" lvl="0" indent="0" algn="l" rtl="0">
                        <a:lnSpc>
                          <a:spcPct val="12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優先選定要件</a:t>
                      </a:r>
                      <a:endParaRPr sz="1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rtl="0">
                        <a:lnSpc>
                          <a:spcPct val="12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対応する観点</a:t>
                      </a:r>
                      <a:endParaRPr sz="1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rtl="0">
                        <a:lnSpc>
                          <a:spcPct val="12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今回特に重視する確認事項</a:t>
                      </a:r>
                      <a:endParaRPr sz="1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rtl="0">
                        <a:lnSpc>
                          <a:spcPct val="12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この要件を置く理由</a:t>
                      </a:r>
                      <a:endParaRPr sz="1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863600">
                <a:tc>
                  <a:txBody>
                    <a:bodyPr/>
                    <a:lstStyle/>
                    <a:p>
                      <a:pPr marL="0" marR="0" lvl="0" indent="0" algn="l" rtl="0">
                        <a:lnSpc>
                          <a:spcPct val="120000"/>
                        </a:lnSpc>
                        <a:spcBef>
                          <a:spcPts val="0"/>
                        </a:spcBef>
                        <a:spcAft>
                          <a:spcPts val="0"/>
                        </a:spcAft>
                        <a:buNone/>
                      </a:pPr>
                      <a:r>
                        <a:rPr 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1</a:t>
                      </a:r>
                      <a:endParaRPr sz="1000" dirty="0">
                        <a:solidFill>
                          <a:srgbClr val="002060"/>
                        </a:solidFill>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妥当で説明可能なコスト構造であること</a:t>
                      </a:r>
                      <a:endParaRPr sz="10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⑤運用性</a:t>
                      </a:r>
                      <a:endParaRPr sz="900" dirty="0">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⑦スケール</a:t>
                      </a:r>
                      <a:endParaRPr sz="9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800" u="none" strike="noStrike" cap="none" dirty="0">
                          <a:latin typeface="游ゴシック" panose="020B0400000000000000" pitchFamily="50" charset="-128"/>
                          <a:ea typeface="游ゴシック" panose="020B0400000000000000" pitchFamily="50" charset="-128"/>
                          <a:cs typeface="Century Gothic"/>
                          <a:sym typeface="Century Gothic"/>
                        </a:rPr>
                        <a:t>コスト体系の透明性、データ量増加・利用拡大時のコスト予測可能性、投資対効果の定量的な説明可能性を確保できるか</a:t>
                      </a:r>
                      <a:endParaRPr sz="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800" u="none" strike="noStrike" cap="none" dirty="0">
                          <a:latin typeface="游ゴシック" panose="020B0400000000000000" pitchFamily="50" charset="-128"/>
                          <a:ea typeface="游ゴシック" panose="020B0400000000000000" pitchFamily="50" charset="-128"/>
                          <a:cs typeface="Century Gothic"/>
                          <a:sym typeface="Century Gothic"/>
                        </a:rPr>
                        <a:t>事業規模に見合う合理的なコスト構造がなければ、継続投資の正当性を説明できないため</a:t>
                      </a:r>
                      <a:endParaRPr lang="en-US" altLang="ja" sz="800" u="none" strike="noStrike" cap="none" dirty="0">
                        <a:latin typeface="游ゴシック" panose="020B0400000000000000" pitchFamily="50" charset="-128"/>
                        <a:ea typeface="游ゴシック" panose="020B0400000000000000" pitchFamily="50" charset="-128"/>
                        <a:cs typeface="Century Gothic"/>
                        <a:sym typeface="Century Gothic"/>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1529432"/>
                  </a:ext>
                </a:extLst>
              </a:tr>
              <a:tr h="863600">
                <a:tc>
                  <a:txBody>
                    <a:bodyPr/>
                    <a:lstStyle/>
                    <a:p>
                      <a:pPr marL="0" marR="0" lvl="0" indent="0" algn="l" rtl="0">
                        <a:lnSpc>
                          <a:spcPct val="120000"/>
                        </a:lnSpc>
                        <a:spcBef>
                          <a:spcPts val="0"/>
                        </a:spcBef>
                        <a:spcAft>
                          <a:spcPts val="0"/>
                        </a:spcAft>
                        <a:buNone/>
                      </a:pPr>
                      <a:r>
                        <a:rPr 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2</a:t>
                      </a:r>
                      <a:endParaRPr lang="ja-JP" altLang="en-US" sz="1000" dirty="0">
                        <a:solidFill>
                          <a:srgbClr val="002060"/>
                        </a:solidFill>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JP" altLang="en-US" sz="1000" b="1" u="none" strike="noStrike" cap="none" dirty="0">
                          <a:latin typeface="游ゴシック" panose="020B0400000000000000" pitchFamily="50" charset="-128"/>
                          <a:ea typeface="游ゴシック" panose="020B0400000000000000" pitchFamily="50" charset="-128"/>
                          <a:cs typeface="Century Gothic"/>
                          <a:sym typeface="Century Gothic"/>
                        </a:rPr>
                        <a:t>開発・移行を確実に実現できること</a:t>
                      </a:r>
                      <a:endParaRPr lang="ja-JP" altLang="en-US" sz="10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①連携性</a:t>
                      </a:r>
                      <a:endParaRPr sz="900" dirty="0">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④実効性</a:t>
                      </a:r>
                      <a:endParaRPr sz="9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800" u="none" strike="noStrike" cap="none" dirty="0">
                          <a:latin typeface="游ゴシック" panose="020B0400000000000000" pitchFamily="50" charset="-128"/>
                          <a:ea typeface="游ゴシック" panose="020B0400000000000000" pitchFamily="50" charset="-128"/>
                          <a:cs typeface="Century Gothic"/>
                          <a:sym typeface="Century Gothic"/>
                        </a:rPr>
                        <a:t>既存ソース接続、219本のパイプライン移行、既存BI再現、大容量データ移行を現実的に実現できるか</a:t>
                      </a:r>
                      <a:endParaRPr sz="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800" u="none" strike="noStrike" cap="none" dirty="0">
                          <a:latin typeface="游ゴシック" panose="020B0400000000000000" pitchFamily="50" charset="-128"/>
                          <a:ea typeface="游ゴシック" panose="020B0400000000000000" pitchFamily="50" charset="-128"/>
                          <a:cs typeface="Century Gothic"/>
                          <a:sym typeface="Century Gothic"/>
                        </a:rPr>
                        <a:t>移行そのものが成立しなければ、以降の活用に進めないため</a:t>
                      </a:r>
                      <a:endParaRPr sz="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63600">
                <a:tc>
                  <a:txBody>
                    <a:bodyPr/>
                    <a:lstStyle/>
                    <a:p>
                      <a:pPr marL="0" marR="0" lvl="0" indent="0" algn="l" rtl="0">
                        <a:lnSpc>
                          <a:spcPct val="120000"/>
                        </a:lnSpc>
                        <a:spcBef>
                          <a:spcPts val="0"/>
                        </a:spcBef>
                        <a:spcAft>
                          <a:spcPts val="0"/>
                        </a:spcAft>
                        <a:buNone/>
                      </a:pPr>
                      <a:r>
                        <a:rPr 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3</a:t>
                      </a:r>
                      <a:endParaRPr sz="1000" dirty="0">
                        <a:solidFill>
                          <a:srgbClr val="002060"/>
                        </a:solidFill>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運用継続性・ガバナンスを確保できること</a:t>
                      </a:r>
                      <a:endParaRPr sz="10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②安全性</a:t>
                      </a:r>
                      <a:endParaRPr sz="900" dirty="0">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⑤運用性</a:t>
                      </a:r>
                      <a:endParaRPr sz="9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JP" altLang="en-US" sz="800" u="none" strike="noStrike" cap="none" dirty="0">
                          <a:latin typeface="游ゴシック" panose="020B0400000000000000" pitchFamily="50" charset="-128"/>
                          <a:ea typeface="游ゴシック" panose="020B0400000000000000" pitchFamily="50" charset="-128"/>
                          <a:cs typeface="Century Gothic"/>
                          <a:sym typeface="Century Gothic"/>
                        </a:rPr>
                        <a:t>内部チームで日常運用が完結し、</a:t>
                      </a:r>
                    </a:p>
                    <a:p>
                      <a:pPr marL="0" marR="0" lvl="0" indent="0" algn="l" rtl="0">
                        <a:lnSpc>
                          <a:spcPct val="120000"/>
                        </a:lnSpc>
                        <a:spcBef>
                          <a:spcPts val="0"/>
                        </a:spcBef>
                        <a:spcAft>
                          <a:spcPts val="0"/>
                        </a:spcAft>
                        <a:buNone/>
                      </a:pPr>
                      <a:r>
                        <a:rPr lang="ja-JP" altLang="en-US" sz="800" u="none" strike="noStrike" cap="none" dirty="0">
                          <a:latin typeface="游ゴシック" panose="020B0400000000000000" pitchFamily="50" charset="-128"/>
                          <a:ea typeface="游ゴシック" panose="020B0400000000000000" pitchFamily="50" charset="-128"/>
                          <a:cs typeface="Century Gothic"/>
                          <a:sym typeface="Century Gothic"/>
                        </a:rPr>
                        <a:t>施設長・ミドル部門によるダッシュボード閲覧・セルフ</a:t>
                      </a:r>
                      <a:r>
                        <a:rPr lang="en" altLang="ja-JP" sz="800" u="none" strike="noStrike" cap="none" dirty="0">
                          <a:latin typeface="游ゴシック" panose="020B0400000000000000" pitchFamily="50" charset="-128"/>
                          <a:ea typeface="游ゴシック" panose="020B0400000000000000" pitchFamily="50" charset="-128"/>
                          <a:cs typeface="Century Gothic"/>
                          <a:sym typeface="Century Gothic"/>
                        </a:rPr>
                        <a:t>BI</a:t>
                      </a:r>
                      <a:r>
                        <a:rPr lang="ja-JP" altLang="en" sz="800" u="none" strike="noStrike" cap="none" dirty="0">
                          <a:latin typeface="游ゴシック" panose="020B0400000000000000" pitchFamily="50" charset="-128"/>
                          <a:ea typeface="游ゴシック" panose="020B0400000000000000" pitchFamily="50" charset="-128"/>
                          <a:cs typeface="Century Gothic"/>
                          <a:sym typeface="Century Gothic"/>
                        </a:rPr>
                        <a:t>、</a:t>
                      </a:r>
                    </a:p>
                    <a:p>
                      <a:pPr marL="0" marR="0" lvl="0" indent="0" algn="l" rtl="0">
                        <a:lnSpc>
                          <a:spcPct val="120000"/>
                        </a:lnSpc>
                        <a:spcBef>
                          <a:spcPts val="0"/>
                        </a:spcBef>
                        <a:spcAft>
                          <a:spcPts val="0"/>
                        </a:spcAft>
                        <a:buNone/>
                      </a:pPr>
                      <a:r>
                        <a:rPr lang="en" altLang="ja-JP" sz="800" u="none" strike="noStrike" cap="none" dirty="0">
                          <a:latin typeface="游ゴシック" panose="020B0400000000000000" pitchFamily="50" charset="-128"/>
                          <a:ea typeface="游ゴシック" panose="020B0400000000000000" pitchFamily="50" charset="-128"/>
                          <a:cs typeface="Century Gothic"/>
                          <a:sym typeface="Century Gothic"/>
                        </a:rPr>
                        <a:t>IT</a:t>
                      </a:r>
                      <a:r>
                        <a:rPr lang="ja-JP" altLang="en-US" sz="800" u="none" strike="noStrike" cap="none" dirty="0">
                          <a:latin typeface="游ゴシック" panose="020B0400000000000000" pitchFamily="50" charset="-128"/>
                          <a:ea typeface="游ゴシック" panose="020B0400000000000000" pitchFamily="50" charset="-128"/>
                          <a:cs typeface="Century Gothic"/>
                          <a:sym typeface="Century Gothic"/>
                        </a:rPr>
                        <a:t>企画部・データチームによる自由な分析が自走できること。</a:t>
                      </a:r>
                    </a:p>
                    <a:p>
                      <a:pPr marL="0" marR="0" lvl="0" indent="0" algn="l" rtl="0">
                        <a:lnSpc>
                          <a:spcPct val="120000"/>
                        </a:lnSpc>
                        <a:spcBef>
                          <a:spcPts val="0"/>
                        </a:spcBef>
                        <a:spcAft>
                          <a:spcPts val="0"/>
                        </a:spcAft>
                        <a:buNone/>
                      </a:pPr>
                      <a:r>
                        <a:rPr lang="ja-JP" altLang="en-US" sz="800" u="none" strike="noStrike" cap="none" dirty="0">
                          <a:latin typeface="游ゴシック" panose="020B0400000000000000" pitchFamily="50" charset="-128"/>
                          <a:ea typeface="游ゴシック" panose="020B0400000000000000" pitchFamily="50" charset="-128"/>
                          <a:cs typeface="Century Gothic"/>
                          <a:sym typeface="Century Gothic"/>
                        </a:rPr>
                        <a:t>全拠点（</a:t>
                      </a:r>
                      <a:r>
                        <a:rPr lang="en-US" altLang="ja-JP" sz="800" u="none" strike="noStrike" cap="none" dirty="0">
                          <a:latin typeface="游ゴシック" panose="020B0400000000000000" pitchFamily="50" charset="-128"/>
                          <a:ea typeface="游ゴシック" panose="020B0400000000000000" pitchFamily="50" charset="-128"/>
                          <a:cs typeface="Century Gothic"/>
                          <a:sym typeface="Century Gothic"/>
                        </a:rPr>
                        <a:t>1,000+</a:t>
                      </a:r>
                      <a:r>
                        <a:rPr lang="ja-JP" altLang="en-US" sz="800" u="none" strike="noStrike" cap="none" dirty="0">
                          <a:latin typeface="游ゴシック" panose="020B0400000000000000" pitchFamily="50" charset="-128"/>
                          <a:ea typeface="游ゴシック" panose="020B0400000000000000" pitchFamily="50" charset="-128"/>
                          <a:cs typeface="Century Gothic"/>
                          <a:sym typeface="Century Gothic"/>
                        </a:rPr>
                        <a:t>）の</a:t>
                      </a:r>
                      <a:r>
                        <a:rPr lang="en" altLang="ja-JP" sz="800" u="none" strike="noStrike" cap="none" dirty="0">
                          <a:latin typeface="游ゴシック" panose="020B0400000000000000" pitchFamily="50" charset="-128"/>
                          <a:ea typeface="游ゴシック" panose="020B0400000000000000" pitchFamily="50" charset="-128"/>
                          <a:cs typeface="Century Gothic"/>
                          <a:sym typeface="Century Gothic"/>
                        </a:rPr>
                        <a:t>RLS</a:t>
                      </a:r>
                      <a:r>
                        <a:rPr lang="ja-JP" altLang="en" sz="800" u="none" strike="noStrike" cap="none" dirty="0">
                          <a:latin typeface="游ゴシック" panose="020B0400000000000000" pitchFamily="50" charset="-128"/>
                          <a:ea typeface="游ゴシック" panose="020B0400000000000000" pitchFamily="50" charset="-128"/>
                          <a:cs typeface="Century Gothic"/>
                          <a:sym typeface="Century Gothic"/>
                        </a:rPr>
                        <a:t>・</a:t>
                      </a:r>
                      <a:r>
                        <a:rPr lang="ja-JP" altLang="en-US" sz="800" u="none" strike="noStrike" cap="none" dirty="0">
                          <a:latin typeface="游ゴシック" panose="020B0400000000000000" pitchFamily="50" charset="-128"/>
                          <a:ea typeface="游ゴシック" panose="020B0400000000000000" pitchFamily="50" charset="-128"/>
                          <a:cs typeface="Century Gothic"/>
                          <a:sym typeface="Century Gothic"/>
                        </a:rPr>
                        <a:t>要配慮個人情報保護が実現すること</a:t>
                      </a: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lang="ja-JP" altLang="en-US" sz="800" b="0" i="0" dirty="0">
                          <a:effectLst/>
                          <a:latin typeface="游ゴシック" panose="020B0400000000000000" pitchFamily="50" charset="-128"/>
                          <a:ea typeface="游ゴシック" panose="020B0400000000000000" pitchFamily="50" charset="-128"/>
                        </a:rPr>
                        <a:t>移行後にベンダー依存が再発すれば、</a:t>
                      </a:r>
                      <a:r>
                        <a:rPr lang="en" altLang="ja-JP" sz="800" b="0" i="0" dirty="0">
                          <a:effectLst/>
                          <a:latin typeface="游ゴシック" panose="020B0400000000000000" pitchFamily="50" charset="-128"/>
                          <a:ea typeface="游ゴシック" panose="020B0400000000000000" pitchFamily="50" charset="-128"/>
                        </a:rPr>
                        <a:t>Foundry</a:t>
                      </a:r>
                      <a:r>
                        <a:rPr lang="ja-JP" altLang="en-US" sz="800" b="0" i="0" dirty="0">
                          <a:effectLst/>
                          <a:latin typeface="游ゴシック" panose="020B0400000000000000" pitchFamily="50" charset="-128"/>
                          <a:ea typeface="游ゴシック" panose="020B0400000000000000" pitchFamily="50" charset="-128"/>
                        </a:rPr>
                        <a:t>と同じ課題を繰り返すことになるため</a:t>
                      </a:r>
                      <a:endParaRPr lang="en-US" altLang="ja" sz="800" b="0" u="none" strike="noStrike" cap="none" dirty="0">
                        <a:latin typeface="游ゴシック" panose="020B0400000000000000" pitchFamily="50" charset="-128"/>
                        <a:ea typeface="游ゴシック" panose="020B0400000000000000" pitchFamily="50" charset="-128"/>
                        <a:cs typeface="Century Gothic"/>
                        <a:sym typeface="Century Gothic"/>
                      </a:endParaRPr>
                    </a:p>
                    <a:p>
                      <a:pPr marL="0" marR="0" lvl="0" indent="0" algn="l" rtl="0">
                        <a:lnSpc>
                          <a:spcPct val="120000"/>
                        </a:lnSpc>
                        <a:spcBef>
                          <a:spcPts val="0"/>
                        </a:spcBef>
                        <a:spcAft>
                          <a:spcPts val="0"/>
                        </a:spcAft>
                        <a:buNone/>
                      </a:pPr>
                      <a:r>
                        <a:rPr lang="ja" sz="800" b="0" u="none" strike="noStrike" cap="none" dirty="0">
                          <a:latin typeface="游ゴシック" panose="020B0400000000000000" pitchFamily="50" charset="-128"/>
                          <a:ea typeface="游ゴシック" panose="020B0400000000000000" pitchFamily="50" charset="-128"/>
                          <a:cs typeface="Century Gothic"/>
                          <a:sym typeface="Century Gothic"/>
                        </a:rPr>
                        <a:t>要配慮個人情報を扱う以上、安全性</a:t>
                      </a:r>
                      <a:r>
                        <a:rPr lang="ja" altLang="en-US" sz="800" u="none" strike="noStrike" cap="none" dirty="0">
                          <a:latin typeface="游ゴシック" panose="020B0400000000000000" pitchFamily="50" charset="-128"/>
                          <a:ea typeface="游ゴシック" panose="020B0400000000000000" pitchFamily="50" charset="-128"/>
                          <a:cs typeface="Century Gothic"/>
                          <a:sym typeface="Century Gothic"/>
                        </a:rPr>
                        <a:t>は</a:t>
                      </a:r>
                      <a:r>
                        <a:rPr lang="en-US" altLang="ja" sz="800" u="none" strike="noStrike" cap="none" dirty="0">
                          <a:latin typeface="游ゴシック" panose="020B0400000000000000" pitchFamily="50" charset="-128"/>
                          <a:ea typeface="游ゴシック" panose="020B0400000000000000" pitchFamily="50" charset="-128"/>
                          <a:cs typeface="Century Gothic"/>
                          <a:sym typeface="Century Gothic"/>
                        </a:rPr>
                        <a:t>must</a:t>
                      </a:r>
                      <a:br>
                        <a:rPr lang="ja-JP" altLang="en-US" sz="800" dirty="0">
                          <a:latin typeface="游ゴシック" panose="020B0400000000000000" pitchFamily="50" charset="-128"/>
                          <a:ea typeface="游ゴシック" panose="020B0400000000000000" pitchFamily="50" charset="-128"/>
                        </a:rPr>
                      </a:br>
                      <a:endParaRPr lang="en-US" altLang="ja" sz="800" u="none" strike="noStrike" cap="none" dirty="0">
                        <a:latin typeface="游ゴシック" panose="020B0400000000000000" pitchFamily="50" charset="-128"/>
                        <a:ea typeface="游ゴシック" panose="020B0400000000000000" pitchFamily="50" charset="-128"/>
                        <a:cs typeface="Century Gothic"/>
                        <a:sym typeface="Century Gothic"/>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63600">
                <a:tc>
                  <a:txBody>
                    <a:bodyPr/>
                    <a:lstStyle/>
                    <a:p>
                      <a:pPr marL="0" marR="0" lvl="0" indent="0" algn="l" rtl="0">
                        <a:lnSpc>
                          <a:spcPct val="120000"/>
                        </a:lnSpc>
                        <a:spcBef>
                          <a:spcPts val="0"/>
                        </a:spcBef>
                        <a:spcAft>
                          <a:spcPts val="0"/>
                        </a:spcAft>
                        <a:buNone/>
                      </a:pPr>
                      <a:r>
                        <a:rPr 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u="none" strike="noStrike" cap="none" dirty="0">
                          <a:solidFill>
                            <a:srgbClr val="002060"/>
                          </a:solidFill>
                          <a:latin typeface="游ゴシック" panose="020B0400000000000000" pitchFamily="50" charset="-128"/>
                          <a:ea typeface="游ゴシック" panose="020B0400000000000000" pitchFamily="50" charset="-128"/>
                          <a:cs typeface="Century Gothic"/>
                          <a:sym typeface="Century Gothic"/>
                        </a:rPr>
                        <a:t>4</a:t>
                      </a:r>
                      <a:endParaRPr sz="1000" dirty="0">
                        <a:solidFill>
                          <a:srgbClr val="002060"/>
                        </a:solidFill>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 sz="1000" b="1" u="none" strike="noStrike" cap="none" dirty="0">
                          <a:latin typeface="游ゴシック" panose="020B0400000000000000" pitchFamily="50" charset="-128"/>
                          <a:ea typeface="游ゴシック" panose="020B0400000000000000" pitchFamily="50" charset="-128"/>
                          <a:cs typeface="Century Gothic"/>
                          <a:sym typeface="Century Gothic"/>
                        </a:rPr>
                        <a:t>将来のAI活用を阻害しない拡張性があること</a:t>
                      </a:r>
                      <a:endParaRPr sz="10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③進化性</a:t>
                      </a:r>
                      <a:endParaRPr sz="900" dirty="0">
                        <a:latin typeface="游ゴシック" panose="020B0400000000000000" pitchFamily="50" charset="-128"/>
                        <a:ea typeface="游ゴシック" panose="020B0400000000000000" pitchFamily="50" charset="-128"/>
                      </a:endParaRPr>
                    </a:p>
                    <a:p>
                      <a:pPr marL="0" marR="0" lvl="0" indent="0" algn="l" rtl="0">
                        <a:lnSpc>
                          <a:spcPct val="120000"/>
                        </a:lnSpc>
                        <a:spcBef>
                          <a:spcPts val="0"/>
                        </a:spcBef>
                        <a:spcAft>
                          <a:spcPts val="0"/>
                        </a:spcAft>
                        <a:buNone/>
                      </a:pPr>
                      <a:r>
                        <a:rPr lang="ja" sz="90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⑥開発速度</a:t>
                      </a:r>
                      <a:endParaRPr sz="9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800" u="none" strike="noStrike" cap="none" dirty="0">
                          <a:latin typeface="游ゴシック" panose="020B0400000000000000" pitchFamily="50" charset="-128"/>
                          <a:ea typeface="游ゴシック" panose="020B0400000000000000" pitchFamily="50" charset="-128"/>
                          <a:cs typeface="Century Gothic"/>
                          <a:sym typeface="Century Gothic"/>
                        </a:rPr>
                        <a:t>標準的なデータ形式、疎結合な構成、PoCから本番へ進めやすい構成、新ユースケースを段階的に追加しやすい構造か</a:t>
                      </a:r>
                      <a:endParaRPr sz="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rtl="0">
                        <a:lnSpc>
                          <a:spcPct val="120000"/>
                        </a:lnSpc>
                        <a:spcBef>
                          <a:spcPts val="0"/>
                        </a:spcBef>
                        <a:spcAft>
                          <a:spcPts val="0"/>
                        </a:spcAft>
                        <a:buNone/>
                      </a:pPr>
                      <a:r>
                        <a:rPr lang="ja" sz="800" u="none" strike="noStrike" cap="none" dirty="0">
                          <a:latin typeface="游ゴシック" panose="020B0400000000000000" pitchFamily="50" charset="-128"/>
                          <a:ea typeface="游ゴシック" panose="020B0400000000000000" pitchFamily="50" charset="-128"/>
                          <a:cs typeface="Century Gothic"/>
                          <a:sym typeface="Century Gothic"/>
                        </a:rPr>
                        <a:t>今回は移行が主目的でも、基盤選定が将来のAI活用余地を左右するため</a:t>
                      </a:r>
                      <a:endParaRPr sz="800" dirty="0">
                        <a:latin typeface="游ゴシック" panose="020B0400000000000000" pitchFamily="50" charset="-128"/>
                        <a:ea typeface="游ゴシック" panose="020B0400000000000000" pitchFamily="50" charset="-128"/>
                      </a:endParaRPr>
                    </a:p>
                  </a:txBody>
                  <a:tcPr marL="45725" marR="45725" marT="27425" marB="27425"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7"/>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1.5  課題・目的・観点・要件のつながり</a:t>
            </a:r>
            <a:endParaRPr sz="1800" b="0" i="0" u="none" strike="noStrike" cap="none" dirty="0">
              <a:solidFill>
                <a:schemeClr val="dk1"/>
              </a:solidFill>
              <a:latin typeface="Calibri"/>
              <a:ea typeface="Calibri"/>
              <a:cs typeface="Calibri"/>
              <a:sym typeface="Calibri"/>
            </a:endParaRPr>
          </a:p>
        </p:txBody>
      </p:sp>
      <p:sp>
        <p:nvSpPr>
          <p:cNvPr id="201" name="Google Shape;201;p7"/>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ja"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4つの優先選定要件は、現行環境の具体的な課題を起点に、達成すべき目的と基盤選定の観点を通じて整理したものである。</a:t>
            </a:r>
            <a:endParaRPr dirty="0">
              <a:latin typeface="游ゴシック" panose="020B0400000000000000" pitchFamily="50" charset="-128"/>
              <a:ea typeface="游ゴシック" panose="020B0400000000000000" pitchFamily="50" charset="-128"/>
            </a:endParaRPr>
          </a:p>
        </p:txBody>
      </p:sp>
      <p:cxnSp>
        <p:nvCxnSpPr>
          <p:cNvPr id="202" name="Google Shape;202;p7"/>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203" name="Google Shape;203;p7"/>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204" name="Google Shape;204;p7"/>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4</a:t>
            </a:r>
            <a:endParaRPr sz="550" b="0" i="0" u="none" strike="noStrike" cap="none" dirty="0">
              <a:solidFill>
                <a:schemeClr val="dk1"/>
              </a:solidFill>
              <a:latin typeface="Calibri"/>
              <a:ea typeface="Calibri"/>
              <a:cs typeface="Calibri"/>
              <a:sym typeface="Calibri"/>
            </a:endParaRPr>
          </a:p>
        </p:txBody>
      </p:sp>
      <p:sp>
        <p:nvSpPr>
          <p:cNvPr id="205" name="Google Shape;205;p7"/>
          <p:cNvSpPr/>
          <p:nvPr/>
        </p:nvSpPr>
        <p:spPr>
          <a:xfrm>
            <a:off x="406400" y="914400"/>
            <a:ext cx="1968500" cy="228600"/>
          </a:xfrm>
          <a:prstGeom prst="roundRect">
            <a:avLst>
              <a:gd name="adj" fmla="val 5000"/>
            </a:avLst>
          </a:prstGeom>
          <a:solidFill>
            <a:srgbClr val="4A4A4A"/>
          </a:solidFill>
          <a:ln>
            <a:noFill/>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課題</a:t>
            </a:r>
            <a:endParaRPr dirty="0">
              <a:latin typeface="游ゴシック" panose="020B0400000000000000" pitchFamily="50" charset="-128"/>
              <a:ea typeface="游ゴシック" panose="020B0400000000000000" pitchFamily="50" charset="-128"/>
            </a:endParaRPr>
          </a:p>
        </p:txBody>
      </p:sp>
      <p:sp>
        <p:nvSpPr>
          <p:cNvPr id="206" name="Google Shape;206;p7"/>
          <p:cNvSpPr/>
          <p:nvPr/>
        </p:nvSpPr>
        <p:spPr>
          <a:xfrm>
            <a:off x="2552700" y="914400"/>
            <a:ext cx="1460500" cy="228600"/>
          </a:xfrm>
          <a:prstGeom prst="roundRect">
            <a:avLst>
              <a:gd name="adj" fmla="val 5000"/>
            </a:avLst>
          </a:prstGeom>
          <a:solidFill>
            <a:srgbClr val="4A4A4A"/>
          </a:solidFill>
          <a:ln>
            <a:noFill/>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目的</a:t>
            </a:r>
            <a:endParaRPr dirty="0">
              <a:latin typeface="游ゴシック" panose="020B0400000000000000" pitchFamily="50" charset="-128"/>
              <a:ea typeface="游ゴシック" panose="020B0400000000000000" pitchFamily="50" charset="-128"/>
            </a:endParaRPr>
          </a:p>
        </p:txBody>
      </p:sp>
      <p:sp>
        <p:nvSpPr>
          <p:cNvPr id="207" name="Google Shape;207;p7"/>
          <p:cNvSpPr/>
          <p:nvPr/>
        </p:nvSpPr>
        <p:spPr>
          <a:xfrm>
            <a:off x="4191000" y="914400"/>
            <a:ext cx="1270000" cy="228600"/>
          </a:xfrm>
          <a:prstGeom prst="roundRect">
            <a:avLst>
              <a:gd name="adj" fmla="val 5000"/>
            </a:avLst>
          </a:prstGeom>
          <a:solidFill>
            <a:srgbClr val="4A4A4A"/>
          </a:solidFill>
          <a:ln>
            <a:noFill/>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7観点</a:t>
            </a:r>
            <a:endParaRPr dirty="0">
              <a:latin typeface="游ゴシック" panose="020B0400000000000000" pitchFamily="50" charset="-128"/>
              <a:ea typeface="游ゴシック" panose="020B0400000000000000" pitchFamily="50" charset="-128"/>
            </a:endParaRPr>
          </a:p>
        </p:txBody>
      </p:sp>
      <p:sp>
        <p:nvSpPr>
          <p:cNvPr id="208" name="Google Shape;208;p7"/>
          <p:cNvSpPr/>
          <p:nvPr/>
        </p:nvSpPr>
        <p:spPr>
          <a:xfrm>
            <a:off x="5638800" y="914400"/>
            <a:ext cx="3098800" cy="228600"/>
          </a:xfrm>
          <a:prstGeom prst="roundRect">
            <a:avLst>
              <a:gd name="adj" fmla="val 5000"/>
            </a:avLst>
          </a:prstGeom>
          <a:solidFill>
            <a:srgbClr val="4A4A4A"/>
          </a:solidFill>
          <a:ln>
            <a:noFill/>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4要件</a:t>
            </a:r>
            <a:endParaRPr dirty="0">
              <a:latin typeface="游ゴシック" panose="020B0400000000000000" pitchFamily="50" charset="-128"/>
              <a:ea typeface="游ゴシック" panose="020B0400000000000000" pitchFamily="50" charset="-128"/>
            </a:endParaRPr>
          </a:p>
        </p:txBody>
      </p:sp>
      <p:sp>
        <p:nvSpPr>
          <p:cNvPr id="209" name="Google Shape;209;p7"/>
          <p:cNvSpPr/>
          <p:nvPr/>
        </p:nvSpPr>
        <p:spPr>
          <a:xfrm>
            <a:off x="406400" y="1193800"/>
            <a:ext cx="1968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過剰コスト</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コスト体系不透明</a:t>
            </a:r>
            <a:endParaRPr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データ量増加時のコスト増</a:t>
            </a:r>
            <a:endParaRPr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投資対効果説明困難</a:t>
            </a:r>
            <a:endParaRPr dirty="0">
              <a:latin typeface="游ゴシック" panose="020B0400000000000000" pitchFamily="50" charset="-128"/>
              <a:ea typeface="游ゴシック" panose="020B0400000000000000" pitchFamily="50" charset="-128"/>
            </a:endParaRPr>
          </a:p>
        </p:txBody>
      </p:sp>
      <p:sp>
        <p:nvSpPr>
          <p:cNvPr id="210" name="Google Shape;210;p7"/>
          <p:cNvSpPr/>
          <p:nvPr/>
        </p:nvSpPr>
        <p:spPr>
          <a:xfrm>
            <a:off x="2552700" y="1193800"/>
            <a:ext cx="1460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①コストの最適化</a:t>
            </a:r>
            <a:endParaRPr sz="900" dirty="0">
              <a:latin typeface="游ゴシック" panose="020B0400000000000000" pitchFamily="50" charset="-128"/>
              <a:ea typeface="游ゴシック" panose="020B0400000000000000" pitchFamily="50" charset="-128"/>
            </a:endParaRPr>
          </a:p>
        </p:txBody>
      </p:sp>
      <p:sp>
        <p:nvSpPr>
          <p:cNvPr id="211" name="Google Shape;211;p7"/>
          <p:cNvSpPr/>
          <p:nvPr/>
        </p:nvSpPr>
        <p:spPr>
          <a:xfrm>
            <a:off x="4191000" y="1193800"/>
            <a:ext cx="12700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⑤運用性</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⑦スケール</a:t>
            </a:r>
            <a:endParaRPr sz="900" dirty="0">
              <a:latin typeface="游ゴシック" panose="020B0400000000000000" pitchFamily="50" charset="-128"/>
              <a:ea typeface="游ゴシック" panose="020B0400000000000000" pitchFamily="50" charset="-128"/>
            </a:endParaRPr>
          </a:p>
        </p:txBody>
      </p:sp>
      <p:sp>
        <p:nvSpPr>
          <p:cNvPr id="212" name="Google Shape;212;p7"/>
          <p:cNvSpPr/>
          <p:nvPr/>
        </p:nvSpPr>
        <p:spPr>
          <a:xfrm>
            <a:off x="5638800" y="1193800"/>
            <a:ext cx="3098800" cy="863600"/>
          </a:xfrm>
          <a:prstGeom prst="roundRect">
            <a:avLst>
              <a:gd name="adj" fmla="val 5000"/>
            </a:avLst>
          </a:prstGeom>
          <a:solidFill>
            <a:srgbClr val="F0F4F8"/>
          </a:solidFill>
          <a:ln w="9525" cap="flat" cmpd="sng">
            <a:solidFill>
              <a:srgbClr val="B0C4D8"/>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1</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1000" b="0"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妥当で説明可能なコスト構造であること</a:t>
            </a:r>
            <a:endParaRPr sz="1000" dirty="0">
              <a:latin typeface="游ゴシック" panose="020B0400000000000000" pitchFamily="50" charset="-128"/>
              <a:ea typeface="游ゴシック" panose="020B0400000000000000" pitchFamily="50" charset="-128"/>
            </a:endParaRPr>
          </a:p>
        </p:txBody>
      </p:sp>
      <p:sp>
        <p:nvSpPr>
          <p:cNvPr id="213" name="Google Shape;213;p7"/>
          <p:cNvSpPr/>
          <p:nvPr/>
        </p:nvSpPr>
        <p:spPr>
          <a:xfrm>
            <a:off x="406400" y="2108200"/>
            <a:ext cx="1968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JP" altLang="en-US" sz="1000" b="1" dirty="0">
                <a:solidFill>
                  <a:srgbClr val="2C3E50"/>
                </a:solidFill>
                <a:latin typeface="游ゴシック" panose="020B0400000000000000" pitchFamily="50" charset="-128"/>
                <a:ea typeface="游ゴシック" panose="020B0400000000000000" pitchFamily="50" charset="-128"/>
                <a:cs typeface="Century Gothic"/>
                <a:sym typeface="Century Gothic"/>
              </a:rPr>
              <a:t>ブラックボックス化</a:t>
            </a:r>
            <a:endParaRPr lang="en-US" altLang="ja-JP"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endParaRPr>
          </a:p>
          <a:p>
            <a:pPr marL="0" marR="0" lvl="0" indent="0" algn="ctr" rtl="0">
              <a:lnSpc>
                <a:spcPct val="110000"/>
              </a:lnSpc>
              <a:spcBef>
                <a:spcPts val="0"/>
              </a:spcBef>
              <a:spcAft>
                <a:spcPts val="0"/>
              </a:spcAft>
              <a:buNone/>
            </a:pPr>
            <a:r>
              <a:rPr lang="ja-JP" altLang="en-US"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ベンダー依存による移行困難</a:t>
            </a:r>
            <a:endParaRPr lang="en-US" altLang="ja-JP"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endParaRPr>
          </a:p>
          <a:p>
            <a:pPr marL="0" marR="0" lvl="0" indent="0" algn="ctr" rtl="0">
              <a:lnSpc>
                <a:spcPct val="110000"/>
              </a:lnSpc>
              <a:spcBef>
                <a:spcPts val="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予告なしUI変更</a:t>
            </a:r>
            <a:endParaRPr lang="en-US" altLang="ja" sz="600" dirty="0">
              <a:solidFill>
                <a:srgbClr val="666666"/>
              </a:solidFill>
              <a:latin typeface="游ゴシック" panose="020B0400000000000000" pitchFamily="50" charset="-128"/>
              <a:ea typeface="游ゴシック" panose="020B0400000000000000" pitchFamily="50" charset="-128"/>
              <a:cs typeface="Century Gothic"/>
              <a:sym typeface="Century Gothic"/>
            </a:endParaRPr>
          </a:p>
          <a:p>
            <a:pPr marL="0" marR="0" lvl="0" indent="0" algn="ctr" rtl="0">
              <a:lnSpc>
                <a:spcPct val="110000"/>
              </a:lnSpc>
              <a:spcBef>
                <a:spcPts val="50"/>
              </a:spcBef>
              <a:spcAft>
                <a:spcPts val="0"/>
              </a:spcAft>
              <a:buNone/>
            </a:pPr>
            <a:r>
              <a:rPr lang="ja-JP" altLang="en-US"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処理ブラックボックス</a:t>
            </a:r>
            <a:endParaRPr lang="en-US" altLang="ja-JP"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endParaRPr>
          </a:p>
          <a:p>
            <a:pPr algn="ctr">
              <a:lnSpc>
                <a:spcPct val="110000"/>
              </a:lnSpc>
              <a:spcBef>
                <a:spcPts val="50"/>
              </a:spcBef>
            </a:pPr>
            <a:r>
              <a:rPr lang="en-US" altLang="ja-JP"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Foundry</a:t>
            </a:r>
            <a:r>
              <a:rPr lang="ja-JP" altLang="en-US"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固有仕様への依存</a:t>
            </a:r>
            <a:endParaRPr lang="en-US" altLang="ja-JP"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endParaRPr>
          </a:p>
        </p:txBody>
      </p:sp>
      <p:sp>
        <p:nvSpPr>
          <p:cNvPr id="214" name="Google Shape;214;p7"/>
          <p:cNvSpPr/>
          <p:nvPr/>
        </p:nvSpPr>
        <p:spPr>
          <a:xfrm>
            <a:off x="2552700" y="2108200"/>
            <a:ext cx="1460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5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③持続可能性</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再現性の確保</a:t>
            </a:r>
            <a:endParaRPr sz="900" dirty="0">
              <a:latin typeface="游ゴシック" panose="020B0400000000000000" pitchFamily="50" charset="-128"/>
              <a:ea typeface="游ゴシック" panose="020B0400000000000000" pitchFamily="50" charset="-128"/>
            </a:endParaRPr>
          </a:p>
        </p:txBody>
      </p:sp>
      <p:sp>
        <p:nvSpPr>
          <p:cNvPr id="215" name="Google Shape;215;p7"/>
          <p:cNvSpPr/>
          <p:nvPr/>
        </p:nvSpPr>
        <p:spPr>
          <a:xfrm>
            <a:off x="4191000" y="2108200"/>
            <a:ext cx="12700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④実効性</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③進化性</a:t>
            </a:r>
            <a:endParaRPr sz="900" dirty="0">
              <a:latin typeface="游ゴシック" panose="020B0400000000000000" pitchFamily="50" charset="-128"/>
              <a:ea typeface="游ゴシック" panose="020B0400000000000000" pitchFamily="50" charset="-128"/>
            </a:endParaRPr>
          </a:p>
        </p:txBody>
      </p:sp>
      <p:sp>
        <p:nvSpPr>
          <p:cNvPr id="216" name="Google Shape;216;p7"/>
          <p:cNvSpPr/>
          <p:nvPr/>
        </p:nvSpPr>
        <p:spPr>
          <a:xfrm>
            <a:off x="5638800" y="2108200"/>
            <a:ext cx="3098800" cy="863600"/>
          </a:xfrm>
          <a:prstGeom prst="roundRect">
            <a:avLst>
              <a:gd name="adj" fmla="val 5000"/>
            </a:avLst>
          </a:prstGeom>
          <a:solidFill>
            <a:srgbClr val="F0F4F8"/>
          </a:solidFill>
          <a:ln w="9525" cap="flat" cmpd="sng">
            <a:solidFill>
              <a:srgbClr val="B0C4D8"/>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2</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1000" b="0"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開発・移行を確実に実現できること</a:t>
            </a:r>
            <a:endParaRPr sz="1000" dirty="0">
              <a:latin typeface="游ゴシック" panose="020B0400000000000000" pitchFamily="50" charset="-128"/>
              <a:ea typeface="游ゴシック" panose="020B0400000000000000" pitchFamily="50" charset="-128"/>
            </a:endParaRPr>
          </a:p>
        </p:txBody>
      </p:sp>
      <p:sp>
        <p:nvSpPr>
          <p:cNvPr id="217" name="Google Shape;217;p7"/>
          <p:cNvSpPr/>
          <p:nvPr/>
        </p:nvSpPr>
        <p:spPr>
          <a:xfrm>
            <a:off x="406400" y="3022600"/>
            <a:ext cx="1968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現場データ活用の停滞</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セルフ分析不可、BI分散</a:t>
            </a:r>
            <a:endParaRPr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データ所在不明</a:t>
            </a:r>
            <a:endParaRPr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IT企画部門に依頼集中</a:t>
            </a:r>
            <a:endParaRPr dirty="0">
              <a:latin typeface="游ゴシック" panose="020B0400000000000000" pitchFamily="50" charset="-128"/>
              <a:ea typeface="游ゴシック" panose="020B0400000000000000" pitchFamily="50" charset="-128"/>
            </a:endParaRPr>
          </a:p>
        </p:txBody>
      </p:sp>
      <p:sp>
        <p:nvSpPr>
          <p:cNvPr id="218" name="Google Shape;218;p7"/>
          <p:cNvSpPr/>
          <p:nvPr/>
        </p:nvSpPr>
        <p:spPr>
          <a:xfrm>
            <a:off x="2552700" y="3022600"/>
            <a:ext cx="1460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④現場主導の</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データ活用</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②運用安定化</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ガバナンス強化</a:t>
            </a:r>
            <a:endParaRPr sz="900" dirty="0">
              <a:latin typeface="游ゴシック" panose="020B0400000000000000" pitchFamily="50" charset="-128"/>
              <a:ea typeface="游ゴシック" panose="020B0400000000000000" pitchFamily="50" charset="-128"/>
            </a:endParaRPr>
          </a:p>
        </p:txBody>
      </p:sp>
      <p:sp>
        <p:nvSpPr>
          <p:cNvPr id="219" name="Google Shape;219;p7"/>
          <p:cNvSpPr/>
          <p:nvPr/>
        </p:nvSpPr>
        <p:spPr>
          <a:xfrm>
            <a:off x="4191000" y="3022600"/>
            <a:ext cx="12700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⑤運用性</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②安全性</a:t>
            </a:r>
            <a:endParaRPr sz="900" dirty="0">
              <a:latin typeface="游ゴシック" panose="020B0400000000000000" pitchFamily="50" charset="-128"/>
              <a:ea typeface="游ゴシック" panose="020B0400000000000000" pitchFamily="50" charset="-128"/>
            </a:endParaRPr>
          </a:p>
        </p:txBody>
      </p:sp>
      <p:sp>
        <p:nvSpPr>
          <p:cNvPr id="220" name="Google Shape;220;p7"/>
          <p:cNvSpPr/>
          <p:nvPr/>
        </p:nvSpPr>
        <p:spPr>
          <a:xfrm>
            <a:off x="5638800" y="3022600"/>
            <a:ext cx="3098800" cy="863600"/>
          </a:xfrm>
          <a:prstGeom prst="roundRect">
            <a:avLst>
              <a:gd name="adj" fmla="val 5000"/>
            </a:avLst>
          </a:prstGeom>
          <a:solidFill>
            <a:srgbClr val="F0F4F8"/>
          </a:solidFill>
          <a:ln w="9525" cap="flat" cmpd="sng">
            <a:solidFill>
              <a:srgbClr val="B0C4D8"/>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3</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1000" b="0"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運用継続性・ガバナンスを確保できること</a:t>
            </a:r>
            <a:endParaRPr sz="1000" dirty="0">
              <a:latin typeface="游ゴシック" panose="020B0400000000000000" pitchFamily="50" charset="-128"/>
              <a:ea typeface="游ゴシック" panose="020B0400000000000000" pitchFamily="50" charset="-128"/>
            </a:endParaRPr>
          </a:p>
        </p:txBody>
      </p:sp>
      <p:sp>
        <p:nvSpPr>
          <p:cNvPr id="221" name="Google Shape;221;p7"/>
          <p:cNvSpPr/>
          <p:nvPr/>
        </p:nvSpPr>
        <p:spPr>
          <a:xfrm>
            <a:off x="406400" y="3937000"/>
            <a:ext cx="1968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AI活用を前提とした</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設計不足</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非構造化データ活用余地不足</a:t>
            </a:r>
            <a:endParaRPr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cs typeface="Century Gothic"/>
                <a:sym typeface="Century Gothic"/>
              </a:rPr>
              <a:t>将来AI拡張性不足</a:t>
            </a:r>
            <a:endParaRPr dirty="0">
              <a:latin typeface="游ゴシック" panose="020B0400000000000000" pitchFamily="50" charset="-128"/>
              <a:ea typeface="游ゴシック" panose="020B0400000000000000" pitchFamily="50" charset="-128"/>
            </a:endParaRPr>
          </a:p>
        </p:txBody>
      </p:sp>
      <p:sp>
        <p:nvSpPr>
          <p:cNvPr id="222" name="Google Shape;222;p7"/>
          <p:cNvSpPr/>
          <p:nvPr/>
        </p:nvSpPr>
        <p:spPr>
          <a:xfrm>
            <a:off x="2552700" y="3937000"/>
            <a:ext cx="14605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5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⑤AI対応</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将来拡張性</a:t>
            </a:r>
            <a:endParaRPr sz="900" dirty="0">
              <a:latin typeface="游ゴシック" panose="020B0400000000000000" pitchFamily="50" charset="-128"/>
              <a:ea typeface="游ゴシック" panose="020B0400000000000000" pitchFamily="50" charset="-128"/>
            </a:endParaRPr>
          </a:p>
        </p:txBody>
      </p:sp>
      <p:sp>
        <p:nvSpPr>
          <p:cNvPr id="223" name="Google Shape;223;p7"/>
          <p:cNvSpPr/>
          <p:nvPr/>
        </p:nvSpPr>
        <p:spPr>
          <a:xfrm>
            <a:off x="4191000" y="3937000"/>
            <a:ext cx="1270000" cy="863600"/>
          </a:xfrm>
          <a:prstGeom prst="roundRect">
            <a:avLst>
              <a:gd name="adj" fmla="val 5000"/>
            </a:avLst>
          </a:prstGeom>
          <a:solidFill>
            <a:srgbClr val="F7F8FA"/>
          </a:solidFill>
          <a:ln w="9525" cap="flat" cmpd="sng">
            <a:solidFill>
              <a:srgbClr val="D8DCE0"/>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③進化性</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⑥開発速度</a:t>
            </a:r>
            <a:endParaRPr sz="9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900" b="1" i="0" u="none" strike="noStrike" cap="none" dirty="0">
                <a:solidFill>
                  <a:srgbClr val="5298BA"/>
                </a:solidFill>
                <a:latin typeface="游ゴシック" panose="020B0400000000000000" pitchFamily="50" charset="-128"/>
                <a:ea typeface="游ゴシック" panose="020B0400000000000000" pitchFamily="50" charset="-128"/>
                <a:cs typeface="Century Gothic"/>
                <a:sym typeface="Century Gothic"/>
              </a:rPr>
              <a:t>⑦スケール</a:t>
            </a:r>
            <a:endParaRPr sz="900" dirty="0">
              <a:latin typeface="游ゴシック" panose="020B0400000000000000" pitchFamily="50" charset="-128"/>
              <a:ea typeface="游ゴシック" panose="020B0400000000000000" pitchFamily="50" charset="-128"/>
            </a:endParaRPr>
          </a:p>
        </p:txBody>
      </p:sp>
      <p:sp>
        <p:nvSpPr>
          <p:cNvPr id="224" name="Google Shape;224;p7"/>
          <p:cNvSpPr/>
          <p:nvPr/>
        </p:nvSpPr>
        <p:spPr>
          <a:xfrm>
            <a:off x="5638800" y="3937000"/>
            <a:ext cx="3098800" cy="863600"/>
          </a:xfrm>
          <a:prstGeom prst="roundRect">
            <a:avLst>
              <a:gd name="adj" fmla="val 5000"/>
            </a:avLst>
          </a:prstGeom>
          <a:solidFill>
            <a:srgbClr val="F0F4F8"/>
          </a:solidFill>
          <a:ln w="9525" cap="flat" cmpd="sng">
            <a:solidFill>
              <a:srgbClr val="B0C4D8"/>
            </a:solidFill>
            <a:prstDash val="solid"/>
            <a:round/>
            <a:headEnd type="none" w="sm" len="sm"/>
            <a:tailEnd type="none" w="sm" len="sm"/>
          </a:ln>
        </p:spPr>
        <p:txBody>
          <a:bodyPr spcFirstLastPara="1" wrap="square" lIns="36000" tIns="18000" rIns="36000" bIns="18000" anchor="ctr" anchorCtr="0">
            <a:noAutofit/>
          </a:bodyPr>
          <a:lstStyle/>
          <a:p>
            <a:pPr marL="0" marR="0" lvl="0" indent="0" algn="ctr" rtl="0">
              <a:lnSpc>
                <a:spcPct val="110000"/>
              </a:lnSpc>
              <a:spcBef>
                <a:spcPts val="0"/>
              </a:spcBef>
              <a:spcAft>
                <a:spcPts val="0"/>
              </a:spcAft>
              <a:buNone/>
            </a:pPr>
            <a:r>
              <a:rPr 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10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4</a:t>
            </a:r>
            <a:endParaRPr sz="1000" dirty="0">
              <a:latin typeface="游ゴシック" panose="020B0400000000000000" pitchFamily="50" charset="-128"/>
              <a:ea typeface="游ゴシック" panose="020B0400000000000000" pitchFamily="50" charset="-128"/>
            </a:endParaRPr>
          </a:p>
          <a:p>
            <a:pPr marL="0" marR="0" lvl="0" indent="0" algn="ctr" rtl="0">
              <a:lnSpc>
                <a:spcPct val="110000"/>
              </a:lnSpc>
              <a:spcBef>
                <a:spcPts val="50"/>
              </a:spcBef>
              <a:spcAft>
                <a:spcPts val="0"/>
              </a:spcAft>
              <a:buNone/>
            </a:pPr>
            <a:r>
              <a:rPr lang="ja" sz="1000" b="0"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将来のAI活用を阻害しない拡張性があること</a:t>
            </a:r>
            <a:endParaRPr sz="1000" dirty="0">
              <a:latin typeface="游ゴシック" panose="020B0400000000000000" pitchFamily="50" charset="-128"/>
              <a:ea typeface="游ゴシック" panose="020B0400000000000000" pitchFamily="50" charset="-128"/>
            </a:endParaRPr>
          </a:p>
        </p:txBody>
      </p:sp>
      <p:sp>
        <p:nvSpPr>
          <p:cNvPr id="225" name="Google Shape;225;p7"/>
          <p:cNvSpPr/>
          <p:nvPr/>
        </p:nvSpPr>
        <p:spPr>
          <a:xfrm>
            <a:off x="2413000" y="15621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26" name="Google Shape;226;p7"/>
          <p:cNvSpPr/>
          <p:nvPr/>
        </p:nvSpPr>
        <p:spPr>
          <a:xfrm>
            <a:off x="4051300" y="15621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27" name="Google Shape;227;p7"/>
          <p:cNvSpPr/>
          <p:nvPr/>
        </p:nvSpPr>
        <p:spPr>
          <a:xfrm>
            <a:off x="5499100" y="15621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28" name="Google Shape;228;p7"/>
          <p:cNvSpPr/>
          <p:nvPr/>
        </p:nvSpPr>
        <p:spPr>
          <a:xfrm>
            <a:off x="2413000" y="24765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29" name="Google Shape;229;p7"/>
          <p:cNvSpPr/>
          <p:nvPr/>
        </p:nvSpPr>
        <p:spPr>
          <a:xfrm>
            <a:off x="4051300" y="24765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30" name="Google Shape;230;p7"/>
          <p:cNvSpPr/>
          <p:nvPr/>
        </p:nvSpPr>
        <p:spPr>
          <a:xfrm>
            <a:off x="5499100" y="24765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31" name="Google Shape;231;p7"/>
          <p:cNvSpPr/>
          <p:nvPr/>
        </p:nvSpPr>
        <p:spPr>
          <a:xfrm>
            <a:off x="2413000" y="33909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32" name="Google Shape;232;p7"/>
          <p:cNvSpPr/>
          <p:nvPr/>
        </p:nvSpPr>
        <p:spPr>
          <a:xfrm>
            <a:off x="4051300" y="33909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33" name="Google Shape;233;p7"/>
          <p:cNvSpPr/>
          <p:nvPr/>
        </p:nvSpPr>
        <p:spPr>
          <a:xfrm>
            <a:off x="5499100" y="33909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34" name="Google Shape;234;p7"/>
          <p:cNvSpPr/>
          <p:nvPr/>
        </p:nvSpPr>
        <p:spPr>
          <a:xfrm>
            <a:off x="2413000" y="43053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35" name="Google Shape;235;p7"/>
          <p:cNvSpPr/>
          <p:nvPr/>
        </p:nvSpPr>
        <p:spPr>
          <a:xfrm>
            <a:off x="4051300" y="43053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236" name="Google Shape;236;p7"/>
          <p:cNvSpPr/>
          <p:nvPr/>
        </p:nvSpPr>
        <p:spPr>
          <a:xfrm>
            <a:off x="5499100" y="4305300"/>
            <a:ext cx="101600" cy="127000"/>
          </a:xfrm>
          <a:prstGeom prst="rightArrow">
            <a:avLst>
              <a:gd name="adj1" fmla="val 50000"/>
              <a:gd name="adj2" fmla="val 50000"/>
            </a:avLst>
          </a:prstGeom>
          <a:solidFill>
            <a:srgbClr val="CCCC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8"/>
          <p:cNvSpPr/>
          <p:nvPr/>
        </p:nvSpPr>
        <p:spPr>
          <a:xfrm>
            <a:off x="594550" y="787550"/>
            <a:ext cx="7562100" cy="31896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 sz="1400" b="0" i="0" u="none" strike="noStrike" cap="none" dirty="0">
                <a:solidFill>
                  <a:srgbClr val="000000"/>
                </a:solidFill>
                <a:latin typeface="游ゴシック" panose="020B0400000000000000" pitchFamily="50" charset="-128"/>
                <a:ea typeface="游ゴシック" panose="020B0400000000000000" pitchFamily="50" charset="-128"/>
                <a:sym typeface="Arial"/>
              </a:rPr>
              <a:t>2. RFPの評価観点</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6"/>
        <p:cNvGrpSpPr/>
        <p:nvPr/>
      </p:nvGrpSpPr>
      <p:grpSpPr>
        <a:xfrm>
          <a:off x="0" y="0"/>
          <a:ext cx="0" cy="0"/>
          <a:chOff x="0" y="0"/>
          <a:chExt cx="0" cy="0"/>
        </a:xfrm>
      </p:grpSpPr>
      <p:sp>
        <p:nvSpPr>
          <p:cNvPr id="247" name="Google Shape;247;p9"/>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2.1 RFP評価観点</a:t>
            </a:r>
            <a:endParaRPr sz="1800" b="0" i="0" u="none" strike="noStrike" cap="none" dirty="0">
              <a:solidFill>
                <a:schemeClr val="dk1"/>
              </a:solidFill>
              <a:latin typeface="Calibri"/>
              <a:ea typeface="Calibri"/>
              <a:cs typeface="Calibri"/>
              <a:sym typeface="Calibri"/>
            </a:endParaRPr>
          </a:p>
        </p:txBody>
      </p:sp>
      <p:cxnSp>
        <p:nvCxnSpPr>
          <p:cNvPr id="248" name="Google Shape;248;p9"/>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249" name="Google Shape;249;p9"/>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00" b="0" i="0" u="none" strike="noStrike" cap="none" dirty="0">
              <a:solidFill>
                <a:schemeClr val="dk1"/>
              </a:solidFill>
              <a:latin typeface="Calibri"/>
              <a:ea typeface="Calibri"/>
              <a:cs typeface="Calibri"/>
              <a:sym typeface="Calibri"/>
            </a:endParaRPr>
          </a:p>
        </p:txBody>
      </p:sp>
      <p:sp>
        <p:nvSpPr>
          <p:cNvPr id="250" name="Google Shape;250;p9"/>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5</a:t>
            </a:r>
            <a:endParaRPr sz="500" b="0" i="0" u="none" strike="noStrike" cap="none" dirty="0">
              <a:solidFill>
                <a:schemeClr val="dk1"/>
              </a:solidFill>
              <a:latin typeface="Calibri"/>
              <a:ea typeface="Calibri"/>
              <a:cs typeface="Calibri"/>
              <a:sym typeface="Calibri"/>
            </a:endParaRPr>
          </a:p>
        </p:txBody>
      </p:sp>
      <p:sp>
        <p:nvSpPr>
          <p:cNvPr id="251" name="Google Shape;251;p9"/>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77777"/>
              </a:buClr>
              <a:buSzPts val="1000"/>
              <a:buFont typeface="Century Gothic"/>
              <a:buNone/>
            </a:pPr>
            <a:r>
              <a:rPr lang="ja"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優先要件からRFPで特に注視すべき評価観点と確認事項を整理</a:t>
            </a:r>
            <a:r>
              <a:rPr lang="ja" altLang="en-US"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a:t>
            </a:r>
            <a:r>
              <a:rPr lang="en-US" altLang="ja" sz="1000" dirty="0">
                <a:solidFill>
                  <a:srgbClr val="777777"/>
                </a:solidFill>
                <a:latin typeface="游ゴシック" panose="020B0400000000000000" pitchFamily="50" charset="-128"/>
                <a:ea typeface="游ゴシック" panose="020B0400000000000000" pitchFamily="50" charset="-128"/>
                <a:cs typeface="Century Gothic"/>
                <a:sym typeface="Century Gothic"/>
              </a:rPr>
              <a:t>4</a:t>
            </a:r>
            <a:r>
              <a:rPr lang="ja-JP" altLang="en-US" sz="1000" dirty="0">
                <a:solidFill>
                  <a:srgbClr val="777777"/>
                </a:solidFill>
                <a:latin typeface="游ゴシック" panose="020B0400000000000000" pitchFamily="50" charset="-128"/>
                <a:ea typeface="游ゴシック" panose="020B0400000000000000" pitchFamily="50" charset="-128"/>
                <a:cs typeface="Century Gothic"/>
                <a:sym typeface="Century Gothic"/>
              </a:rPr>
              <a:t>要件や</a:t>
            </a:r>
            <a:r>
              <a:rPr lang="en-US" altLang="ja"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RFI</a:t>
            </a:r>
            <a:r>
              <a:rPr lang="ja-JP" altLang="en-US"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回答を踏まえ、重点的に評価した方がいい観点を整理</a:t>
            </a:r>
            <a:endParaRPr sz="14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a:p>
            <a:pPr marL="0" marR="0" lvl="0" indent="0" algn="l" rtl="0">
              <a:lnSpc>
                <a:spcPct val="100000"/>
              </a:lnSpc>
              <a:spcBef>
                <a:spcPts val="0"/>
              </a:spcBef>
              <a:spcAft>
                <a:spcPts val="0"/>
              </a:spcAft>
              <a:buClr>
                <a:srgbClr val="777777"/>
              </a:buClr>
              <a:buSzPts val="1000"/>
              <a:buFont typeface="Century Gothic"/>
              <a:buNone/>
            </a:pPr>
            <a:endParaRPr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endParaRPr>
          </a:p>
        </p:txBody>
      </p:sp>
      <p:graphicFrame>
        <p:nvGraphicFramePr>
          <p:cNvPr id="252" name="Google Shape;252;p9"/>
          <p:cNvGraphicFramePr/>
          <p:nvPr>
            <p:extLst>
              <p:ext uri="{D42A27DB-BD31-4B8C-83A1-F6EECF244321}">
                <p14:modId xmlns:p14="http://schemas.microsoft.com/office/powerpoint/2010/main" val="1186062824"/>
              </p:ext>
            </p:extLst>
          </p:nvPr>
        </p:nvGraphicFramePr>
        <p:xfrm>
          <a:off x="406397" y="778853"/>
          <a:ext cx="8331300" cy="4082474"/>
        </p:xfrm>
        <a:graphic>
          <a:graphicData uri="http://schemas.openxmlformats.org/drawingml/2006/table">
            <a:tbl>
              <a:tblPr firstRow="1" bandRow="1">
                <a:noFill/>
                <a:tableStyleId>{831F8A93-CA79-4AF6-B420-68E9A51CCC31}</a:tableStyleId>
              </a:tblPr>
              <a:tblGrid>
                <a:gridCol w="1113931">
                  <a:extLst>
                    <a:ext uri="{9D8B030D-6E8A-4147-A177-3AD203B41FA5}">
                      <a16:colId xmlns:a16="http://schemas.microsoft.com/office/drawing/2014/main" val="20000"/>
                    </a:ext>
                  </a:extLst>
                </a:gridCol>
                <a:gridCol w="881349">
                  <a:extLst>
                    <a:ext uri="{9D8B030D-6E8A-4147-A177-3AD203B41FA5}">
                      <a16:colId xmlns:a16="http://schemas.microsoft.com/office/drawing/2014/main" val="20003"/>
                    </a:ext>
                  </a:extLst>
                </a:gridCol>
                <a:gridCol w="3216925">
                  <a:extLst>
                    <a:ext uri="{9D8B030D-6E8A-4147-A177-3AD203B41FA5}">
                      <a16:colId xmlns:a16="http://schemas.microsoft.com/office/drawing/2014/main" val="20004"/>
                    </a:ext>
                  </a:extLst>
                </a:gridCol>
                <a:gridCol w="869036">
                  <a:extLst>
                    <a:ext uri="{9D8B030D-6E8A-4147-A177-3AD203B41FA5}">
                      <a16:colId xmlns:a16="http://schemas.microsoft.com/office/drawing/2014/main" val="483496891"/>
                    </a:ext>
                  </a:extLst>
                </a:gridCol>
                <a:gridCol w="2250059">
                  <a:extLst>
                    <a:ext uri="{9D8B030D-6E8A-4147-A177-3AD203B41FA5}">
                      <a16:colId xmlns:a16="http://schemas.microsoft.com/office/drawing/2014/main" val="2620691722"/>
                    </a:ext>
                  </a:extLst>
                </a:gridCol>
              </a:tblGrid>
              <a:tr h="228600">
                <a:tc>
                  <a:txBody>
                    <a:bodyPr/>
                    <a:lstStyle/>
                    <a:p>
                      <a:pPr marL="0" marR="0" lvl="0" indent="0" algn="ctr" rtl="0">
                        <a:lnSpc>
                          <a:spcPct val="105000"/>
                        </a:lnSpc>
                        <a:spcBef>
                          <a:spcPts val="0"/>
                        </a:spcBef>
                        <a:spcAft>
                          <a:spcPts val="0"/>
                        </a:spcAft>
                        <a:buNone/>
                      </a:pPr>
                      <a:r>
                        <a:rPr lang="ja" sz="1050" b="1"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4要件</a:t>
                      </a:r>
                      <a:endParaRPr sz="2400" dirty="0">
                        <a:latin typeface="游ゴシック" panose="020B0400000000000000" pitchFamily="50" charset="-128"/>
                        <a:ea typeface="游ゴシック" panose="020B0400000000000000" pitchFamily="50" charset="-128"/>
                      </a:endParaRPr>
                    </a:p>
                  </a:txBody>
                  <a:tcPr marL="27000" marR="27000" marT="9000" marB="9000" anchor="ctr">
                    <a:solidFill>
                      <a:srgbClr val="2C3E50"/>
                    </a:solidFill>
                  </a:tcPr>
                </a:tc>
                <a:tc>
                  <a:txBody>
                    <a:bodyPr/>
                    <a:lstStyle/>
                    <a:p>
                      <a:pPr marL="0" marR="0" lvl="0" indent="0" algn="ctr" rtl="0">
                        <a:lnSpc>
                          <a:spcPct val="105000"/>
                        </a:lnSpc>
                        <a:spcBef>
                          <a:spcPts val="0"/>
                        </a:spcBef>
                        <a:spcAft>
                          <a:spcPts val="0"/>
                        </a:spcAft>
                        <a:buNone/>
                      </a:pPr>
                      <a:r>
                        <a:rPr lang="ja" sz="1050" b="1"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評価観点</a:t>
                      </a:r>
                      <a:endParaRPr sz="2400" dirty="0">
                        <a:latin typeface="游ゴシック" panose="020B0400000000000000" pitchFamily="50" charset="-128"/>
                        <a:ea typeface="游ゴシック" panose="020B0400000000000000" pitchFamily="50" charset="-128"/>
                      </a:endParaRPr>
                    </a:p>
                  </a:txBody>
                  <a:tcPr marL="27000" marR="27000" marT="9000" marB="9000" anchor="ctr">
                    <a:solidFill>
                      <a:srgbClr val="2C3E50"/>
                    </a:solidFill>
                  </a:tcPr>
                </a:tc>
                <a:tc>
                  <a:txBody>
                    <a:bodyPr/>
                    <a:lstStyle/>
                    <a:p>
                      <a:pPr marL="0" marR="0" lvl="0" indent="0" algn="ctr" rtl="0">
                        <a:lnSpc>
                          <a:spcPct val="105000"/>
                        </a:lnSpc>
                        <a:spcBef>
                          <a:spcPts val="0"/>
                        </a:spcBef>
                        <a:spcAft>
                          <a:spcPts val="0"/>
                        </a:spcAft>
                        <a:buNone/>
                      </a:pPr>
                      <a:r>
                        <a:rPr lang="ja-JP" altLang="en-US" sz="1050" b="1"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評価内容</a:t>
                      </a:r>
                      <a:endParaRPr lang="ja-JP" altLang="en-US" sz="2400" dirty="0">
                        <a:latin typeface="游ゴシック" panose="020B0400000000000000" pitchFamily="50" charset="-128"/>
                        <a:ea typeface="游ゴシック" panose="020B0400000000000000" pitchFamily="50" charset="-128"/>
                      </a:endParaRPr>
                    </a:p>
                  </a:txBody>
                  <a:tcPr marL="27000" marR="27000" marT="9000" marB="9000" anchor="ctr">
                    <a:solidFill>
                      <a:srgbClr val="2C3E50"/>
                    </a:solidFill>
                  </a:tcPr>
                </a:tc>
                <a:tc>
                  <a:txBody>
                    <a:bodyPr/>
                    <a:lstStyle/>
                    <a:p>
                      <a:pPr marL="0" marR="0" lvl="0" indent="0" algn="ctr" rtl="0">
                        <a:lnSpc>
                          <a:spcPct val="105000"/>
                        </a:lnSpc>
                        <a:spcBef>
                          <a:spcPts val="0"/>
                        </a:spcBef>
                        <a:spcAft>
                          <a:spcPts val="0"/>
                        </a:spcAft>
                        <a:buNone/>
                      </a:pPr>
                      <a:r>
                        <a:rPr lang="ja-JP" altLang="en-US" sz="1050" b="1" u="none" strike="noStrike" cap="none" dirty="0">
                          <a:solidFill>
                            <a:srgbClr val="FFFFFF"/>
                          </a:solidFill>
                          <a:latin typeface="游ゴシック" panose="020B0400000000000000" pitchFamily="50" charset="-128"/>
                          <a:ea typeface="游ゴシック" panose="020B0400000000000000" pitchFamily="50" charset="-128"/>
                          <a:sym typeface="Century Gothic"/>
                        </a:rPr>
                        <a:t>優先度</a:t>
                      </a:r>
                      <a:endParaRPr lang="ja-JP" altLang="en-US" sz="2400" dirty="0">
                        <a:latin typeface="游ゴシック" panose="020B0400000000000000" pitchFamily="50" charset="-128"/>
                        <a:ea typeface="游ゴシック" panose="020B0400000000000000" pitchFamily="50" charset="-128"/>
                      </a:endParaRPr>
                    </a:p>
                  </a:txBody>
                  <a:tcPr marL="27000" marR="27000" marT="9000" marB="9000" anchor="ctr">
                    <a:solidFill>
                      <a:srgbClr val="2C3E50"/>
                    </a:solidFill>
                  </a:tcPr>
                </a:tc>
                <a:tc>
                  <a:txBody>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lang="ja-JP" altLang="en-US" sz="1100" b="1" u="none" strike="noStrike" cap="none" dirty="0">
                          <a:solidFill>
                            <a:srgbClr val="FFFFFF"/>
                          </a:solidFill>
                          <a:latin typeface="游ゴシック" panose="020B0400000000000000" pitchFamily="50" charset="-128"/>
                          <a:ea typeface="游ゴシック" panose="020B0400000000000000" pitchFamily="50" charset="-128"/>
                          <a:sym typeface="Century Gothic"/>
                        </a:rPr>
                        <a:t>優先度の理由</a:t>
                      </a:r>
                      <a:endParaRPr lang="ja-JP" altLang="en-US" sz="2400" dirty="0">
                        <a:latin typeface="游ゴシック" panose="020B0400000000000000" pitchFamily="50" charset="-128"/>
                        <a:ea typeface="游ゴシック" panose="020B0400000000000000" pitchFamily="50" charset="-128"/>
                      </a:endParaRPr>
                    </a:p>
                  </a:txBody>
                  <a:tcPr marL="27000" marR="27000" marT="9000" marB="9000" anchor="ctr">
                    <a:solidFill>
                      <a:srgbClr val="2C3E50"/>
                    </a:solidFill>
                  </a:tcPr>
                </a:tc>
                <a:extLst>
                  <a:ext uri="{0D108BD9-81ED-4DB2-BD59-A6C34878D82A}">
                    <a16:rowId xmlns:a16="http://schemas.microsoft.com/office/drawing/2014/main" val="10000"/>
                  </a:ext>
                </a:extLst>
              </a:tr>
              <a:tr h="355600">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1</a:t>
                      </a:r>
                      <a:b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b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妥当で説明可能なコスト構造であること</a:t>
                      </a:r>
                      <a:endParaRPr sz="800" dirty="0">
                        <a:latin typeface="游ゴシック" panose="020B0400000000000000" pitchFamily="50" charset="-128"/>
                        <a:ea typeface="游ゴシック" panose="020B0400000000000000" pitchFamily="50" charset="-128"/>
                      </a:endParaRPr>
                    </a:p>
                  </a:txBody>
                  <a:tcPr marL="27000" marR="27000" marT="9000" marB="9000" anchor="ctr">
                    <a:noFill/>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開発・運用コスト</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試算の妥当性。初期費用、月額・年額費用、従量課金の内訳と前提条件が明確で、費用試算に妥当性があるかを評価する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今回検討の経緯の一つ</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2263541526"/>
                  </a:ext>
                </a:extLst>
              </a:tr>
              <a:tr h="355600">
                <a:tc rowSpan="4">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2</a:t>
                      </a:r>
                      <a:b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b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開発・移行を確実に実現できること</a:t>
                      </a:r>
                      <a:endParaRPr sz="800" dirty="0">
                        <a:latin typeface="游ゴシック" panose="020B0400000000000000" pitchFamily="50" charset="-128"/>
                        <a:ea typeface="游ゴシック" panose="020B0400000000000000" pitchFamily="50" charset="-128"/>
                      </a:endParaRPr>
                    </a:p>
                  </a:txBody>
                  <a:tcPr marL="27000" marR="27000" marT="9000" marB="9000" anchor="ctr">
                    <a:noFill/>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推進体制</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本PJを推進する体制が、役割分担・人数・主要メンバーの経験・実績の観点で十分かを評価する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運用停止の場合、通常業務に大きな支障が発生するため</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10001"/>
                  </a:ext>
                </a:extLst>
              </a:tr>
              <a:tr h="355600">
                <a:tc vMerge="1">
                  <a:txBody>
                    <a:bodyPr/>
                    <a:lstStyle/>
                    <a:p>
                      <a:endParaRPr lang="ja-JP"/>
                    </a:p>
                  </a:txBody>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移行実効性</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Foundryパイプラインや関連資産について、移行方針が妥当か、想定工数や移行ステップに実現性があるかを評価する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移行できなければ通常業務に支障</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10002"/>
                  </a:ext>
                </a:extLst>
              </a:tr>
              <a:tr h="355600">
                <a:tc vMerge="1">
                  <a:txBody>
                    <a:bodyPr/>
                    <a:lstStyle/>
                    <a:p>
                      <a:endParaRPr lang="ja-JP"/>
                    </a:p>
                  </a:txBody>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資産継承性</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chemeClr val="bg1">
                        <a:lumMod val="85000"/>
                      </a:schemeClr>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PySpark資産の移植/書き換え方針の妥当性を評価する。Tableauや既存ダッシュボードの再現性を評価する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chemeClr val="bg1">
                        <a:lumMod val="85000"/>
                      </a:schemeClr>
                    </a:solidFill>
                  </a:tcPr>
                </a:tc>
                <a:tc>
                  <a:txBody>
                    <a:bodyPr/>
                    <a:lstStyle/>
                    <a:p>
                      <a:pPr marL="0" marR="0" lvl="0" indent="0" algn="ctr" rtl="0">
                        <a:lnSpc>
                          <a:spcPct val="105000"/>
                        </a:lnSpc>
                        <a:spcBef>
                          <a:spcPts val="0"/>
                        </a:spcBef>
                        <a:spcAft>
                          <a:spcPts val="0"/>
                        </a:spcAft>
                        <a:buNone/>
                      </a:pPr>
                      <a:r>
                        <a:rPr lang="ja-JP" altLang="en-US" sz="1000" u="none" strike="noStrike" cap="none" dirty="0">
                          <a:solidFill>
                            <a:srgbClr val="333333"/>
                          </a:solidFill>
                          <a:latin typeface="游ゴシック" panose="020B0400000000000000" pitchFamily="50" charset="-128"/>
                          <a:ea typeface="游ゴシック" panose="020B0400000000000000" pitchFamily="50" charset="-128"/>
                          <a:sym typeface="Century Gothic"/>
                        </a:rPr>
                        <a:t>推奨</a:t>
                      </a:r>
                      <a:endParaRPr sz="1000" dirty="0">
                        <a:latin typeface="游ゴシック" panose="020B0400000000000000" pitchFamily="50" charset="-128"/>
                        <a:ea typeface="游ゴシック" panose="020B0400000000000000" pitchFamily="50" charset="-128"/>
                      </a:endParaRPr>
                    </a:p>
                  </a:txBody>
                  <a:tcPr marL="27000" marR="27000" marT="9000" marB="9000" anchor="ctr">
                    <a:solidFill>
                      <a:schemeClr val="bg1">
                        <a:lumMod val="85000"/>
                      </a:schemeClr>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将来移行性の高いコードにリプレースも可</a:t>
                      </a:r>
                      <a:endParaRPr dirty="0">
                        <a:latin typeface="游ゴシック" panose="020B0400000000000000" pitchFamily="50" charset="-128"/>
                        <a:ea typeface="游ゴシック" panose="020B0400000000000000" pitchFamily="50" charset="-128"/>
                      </a:endParaRPr>
                    </a:p>
                  </a:txBody>
                  <a:tcPr marL="27000" marR="27000" marT="9000" marB="9000">
                    <a:solidFill>
                      <a:schemeClr val="bg1">
                        <a:lumMod val="85000"/>
                      </a:schemeClr>
                    </a:solidFill>
                  </a:tcPr>
                </a:tc>
                <a:extLst>
                  <a:ext uri="{0D108BD9-81ED-4DB2-BD59-A6C34878D82A}">
                    <a16:rowId xmlns:a16="http://schemas.microsoft.com/office/drawing/2014/main" val="10003"/>
                  </a:ext>
                </a:extLst>
              </a:tr>
              <a:tr h="355600">
                <a:tc vMerge="1">
                  <a:txBody>
                    <a:bodyPr/>
                    <a:lstStyle/>
                    <a:p>
                      <a:endParaRPr lang="ja-JP"/>
                    </a:p>
                  </a:txBody>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移行安全性</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段階移行、並行稼働、切戻し、テスト、移行リハーサル等を含め、安全に切り替えられる計画かを評価する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移行できなければ通常業務に支障</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10004"/>
                  </a:ext>
                </a:extLst>
              </a:tr>
              <a:tr h="355600">
                <a:tc rowSpan="4">
                  <a:txBody>
                    <a:bodyPr/>
                    <a:lstStyle/>
                    <a:p>
                      <a:pPr marL="0" marR="0" lvl="0" indent="0" algn="l" rtl="0">
                        <a:lnSpc>
                          <a:spcPct val="105000"/>
                        </a:lnSpc>
                        <a:spcBef>
                          <a:spcPts val="0"/>
                        </a:spcBef>
                        <a:spcAft>
                          <a:spcPts val="0"/>
                        </a:spcAft>
                        <a:buClr>
                          <a:srgbClr val="000000"/>
                        </a:buClr>
                        <a:buFont typeface="Arial"/>
                        <a:buNone/>
                      </a:pPr>
                      <a:r>
                        <a:rPr lang="ja" altLang="en-US" sz="8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3</a:t>
                      </a:r>
                      <a:br>
                        <a:rPr lang="ja" altLang="en-US" sz="8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br>
                      <a:r>
                        <a:rPr lang="ja" altLang="en-US" sz="800" b="1" i="0"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運用継続性・ガバナンスを確保できること</a:t>
                      </a:r>
                      <a:endParaRPr sz="800" b="1" i="0" u="none" strike="noStrike" cap="none" dirty="0">
                        <a:solidFill>
                          <a:srgbClr val="2C3E50"/>
                        </a:solidFill>
                        <a:latin typeface="游ゴシック" panose="020B0400000000000000" pitchFamily="50" charset="-128"/>
                        <a:ea typeface="游ゴシック" panose="020B0400000000000000" pitchFamily="50" charset="-128"/>
                        <a:sym typeface="Arial"/>
                      </a:endParaRPr>
                    </a:p>
                  </a:txBody>
                  <a:tcPr marL="27000" marR="27000" marT="9000" marB="9000" anchor="ctr">
                    <a:noFill/>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運用体制</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運用監視、再実行、障害切り分け、問い合わせ対応、変更管理等を含め、移行後に継続運用できる体制かを評価する</a:t>
                      </a:r>
                      <a:r>
                        <a:rPr lang="ja" altLang="en-US"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運用停止の場合、通常業務に大きな支障が発生するため</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10008"/>
                  </a:ext>
                </a:extLst>
              </a:tr>
              <a:tr h="355600">
                <a:tc vMerge="1">
                  <a:txBody>
                    <a:bodyPr/>
                    <a:lstStyle/>
                    <a:p>
                      <a:endParaRPr lang="ja-JP"/>
                    </a:p>
                  </a:txBody>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ガバナンス</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データセット、パイプライン、ダッシュボード等を対象に、カタログ化・リネージ追跡・品質管理できるかを評価する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障害対応・メンテナンス・運用に必須</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10009"/>
                  </a:ext>
                </a:extLst>
              </a:tr>
              <a:tr h="355600">
                <a:tc vMerge="1">
                  <a:txBody>
                    <a:bodyPr/>
                    <a:lstStyle/>
                    <a:p>
                      <a:endParaRPr lang="ja-JP"/>
                    </a:p>
                  </a:txBody>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セキュリティ</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既存認証基盤との連携、権限制御粒度、個人情報マスキング、監査ログの取得範囲を踏まえ、データアクセスを適切に統制できるかを評価する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コンプライアンスのため</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10010"/>
                  </a:ext>
                </a:extLst>
              </a:tr>
              <a:tr h="0">
                <a:tc vMerge="1">
                  <a:txBody>
                    <a:bodyPr/>
                    <a:lstStyle/>
                    <a:p>
                      <a:pPr marL="0" marR="0" lvl="0" indent="0" algn="l" rtl="0">
                        <a:lnSpc>
                          <a:spcPct val="105000"/>
                        </a:lnSpc>
                        <a:spcBef>
                          <a:spcPts val="0"/>
                        </a:spcBef>
                        <a:spcAft>
                          <a:spcPts val="0"/>
                        </a:spcAft>
                        <a:buNone/>
                      </a:pPr>
                      <a:endParaRPr sz="800" dirty="0"/>
                    </a:p>
                  </a:txBody>
                  <a:tcPr marL="27000" marR="27000" marT="9000" marB="9000" anchor="ctr">
                    <a:noFill/>
                  </a:tcPr>
                </a:tc>
                <a:tc>
                  <a:txBody>
                    <a:bodyPr/>
                    <a:lstStyle/>
                    <a:p>
                      <a:pPr marL="0" marR="0" lvl="0" indent="0" algn="l" rtl="0">
                        <a:lnSpc>
                          <a:spcPct val="105000"/>
                        </a:lnSpc>
                        <a:spcBef>
                          <a:spcPts val="0"/>
                        </a:spcBef>
                        <a:spcAft>
                          <a:spcPts val="0"/>
                        </a:spcAft>
                        <a:buClr>
                          <a:srgbClr val="000000"/>
                        </a:buClr>
                        <a:buFont typeface="Arial"/>
                        <a:buNone/>
                      </a:pPr>
                      <a:r>
                        <a:rPr lang="ja-JP" altLang="en-US" sz="800" b="1" i="0" u="none" strike="noStrike" cap="none" dirty="0">
                          <a:solidFill>
                            <a:srgbClr val="2C3E50"/>
                          </a:solidFill>
                          <a:latin typeface="游ゴシック" panose="020B0400000000000000" pitchFamily="50" charset="-128"/>
                          <a:ea typeface="游ゴシック" panose="020B0400000000000000" pitchFamily="50" charset="-128"/>
                          <a:sym typeface="Arial"/>
                        </a:rPr>
                        <a:t>属人化解消</a:t>
                      </a:r>
                      <a:endParaRPr sz="800" b="1" i="0" u="none" strike="noStrike" cap="none" dirty="0">
                        <a:solidFill>
                          <a:srgbClr val="2C3E50"/>
                        </a:solidFill>
                        <a:latin typeface="游ゴシック" panose="020B0400000000000000" pitchFamily="50" charset="-128"/>
                        <a:ea typeface="游ゴシック" panose="020B0400000000000000" pitchFamily="50" charset="-128"/>
                        <a:sym typeface="Arial"/>
                      </a:endParaRPr>
                    </a:p>
                  </a:txBody>
                  <a:tcPr marL="27000" marR="27000" marT="9000" marB="9000" anchor="ctr">
                    <a:solidFill>
                      <a:srgbClr val="FFFFFF"/>
                    </a:solidFill>
                  </a:tcPr>
                </a:tc>
                <a:tc>
                  <a:txBody>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lang="ja-JP" altLang="en-US" sz="750" b="0" i="0" dirty="0">
                          <a:effectLst/>
                          <a:latin typeface="游ゴシック" panose="020B0400000000000000" pitchFamily="50" charset="-128"/>
                          <a:ea typeface="游ゴシック" panose="020B0400000000000000" pitchFamily="50" charset="-128"/>
                        </a:rPr>
                        <a:t>コーディングスキル不要で</a:t>
                      </a:r>
                      <a:r>
                        <a:rPr lang="en" altLang="ja-JP" sz="750" b="0" i="0" dirty="0">
                          <a:effectLst/>
                          <a:latin typeface="游ゴシック" panose="020B0400000000000000" pitchFamily="50" charset="-128"/>
                          <a:ea typeface="游ゴシック" panose="020B0400000000000000" pitchFamily="50" charset="-128"/>
                        </a:rPr>
                        <a:t>BI</a:t>
                      </a:r>
                      <a:r>
                        <a:rPr lang="ja-JP" altLang="en-US" sz="750" b="0" i="0" dirty="0">
                          <a:effectLst/>
                          <a:latin typeface="游ゴシック" panose="020B0400000000000000" pitchFamily="50" charset="-128"/>
                          <a:ea typeface="游ゴシック" panose="020B0400000000000000" pitchFamily="50" charset="-128"/>
                        </a:rPr>
                        <a:t>接続・ダッシュボード表示が可能か。施設長・ミドル部門が</a:t>
                      </a:r>
                      <a:r>
                        <a:rPr lang="en" altLang="ja-JP" sz="750" b="0" i="0" dirty="0">
                          <a:effectLst/>
                          <a:latin typeface="游ゴシック" panose="020B0400000000000000" pitchFamily="50" charset="-128"/>
                          <a:ea typeface="游ゴシック" panose="020B0400000000000000" pitchFamily="50" charset="-128"/>
                        </a:rPr>
                        <a:t>IT</a:t>
                      </a:r>
                      <a:r>
                        <a:rPr lang="ja-JP" altLang="en-US" sz="750" b="0" i="0" dirty="0">
                          <a:effectLst/>
                          <a:latin typeface="游ゴシック" panose="020B0400000000000000" pitchFamily="50" charset="-128"/>
                          <a:ea typeface="游ゴシック" panose="020B0400000000000000" pitchFamily="50" charset="-128"/>
                        </a:rPr>
                        <a:t>部門への依頼なしにデータ閲覧・分析できるか</a:t>
                      </a:r>
                      <a:endParaRPr sz="750" b="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lang="ja-JP" altLang="en-US" sz="800" b="0" i="0" dirty="0">
                          <a:effectLst/>
                          <a:latin typeface="游ゴシック" panose="020B0400000000000000" pitchFamily="50" charset="-128"/>
                          <a:ea typeface="游ゴシック" panose="020B0400000000000000" pitchFamily="50" charset="-128"/>
                        </a:rPr>
                        <a:t>今回検討の経緯の一つ</a:t>
                      </a:r>
                      <a:endParaRPr sz="80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3603099633"/>
                  </a:ext>
                </a:extLst>
              </a:tr>
              <a:tr h="355600">
                <a:tc rowSpan="2">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4</a:t>
                      </a:r>
                      <a:b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b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将来のAI活用を阻害しない拡張性があること</a:t>
                      </a:r>
                      <a:endParaRPr sz="800" dirty="0">
                        <a:latin typeface="游ゴシック" panose="020B0400000000000000" pitchFamily="50" charset="-128"/>
                        <a:ea typeface="游ゴシック" panose="020B0400000000000000" pitchFamily="50" charset="-128"/>
                      </a:endParaRPr>
                    </a:p>
                  </a:txBody>
                  <a:tcPr marL="27000" marR="27000" marT="9000" marB="9000" anchor="ctr">
                    <a:noFill/>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オープン性</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採用するデータ形式や周辺仕様が、特定サービスへの過度な依存を生まず、将来の移行・再構築を阻害しにくいかを評価する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tc>
                  <a:txBody>
                    <a:bodyPr/>
                    <a:lstStyle/>
                    <a:p>
                      <a:pPr marL="0" marR="0" lvl="0" indent="0" algn="ctr" rtl="0">
                        <a:lnSpc>
                          <a:spcPct val="105000"/>
                        </a:lnSpc>
                        <a:spcBef>
                          <a:spcPts val="0"/>
                        </a:spcBef>
                        <a:spcAft>
                          <a:spcPts val="0"/>
                        </a:spcAft>
                        <a:buNone/>
                      </a:pPr>
                      <a:r>
                        <a:rPr lang="ja-JP" altLang="en-US" sz="1000" b="0" u="none" strike="noStrike" cap="none" dirty="0">
                          <a:solidFill>
                            <a:srgbClr val="FF0000"/>
                          </a:solidFill>
                          <a:latin typeface="游ゴシック" panose="020B0400000000000000" pitchFamily="50" charset="-128"/>
                          <a:ea typeface="游ゴシック" panose="020B0400000000000000" pitchFamily="50" charset="-128"/>
                          <a:cs typeface="Century Gothic"/>
                          <a:sym typeface="Century Gothic"/>
                        </a:rPr>
                        <a:t>必須</a:t>
                      </a:r>
                      <a:endParaRPr sz="1000" b="0" dirty="0">
                        <a:solidFill>
                          <a:srgbClr val="FF0000"/>
                        </a:solidFill>
                        <a:latin typeface="游ゴシック" panose="020B0400000000000000" pitchFamily="50" charset="-128"/>
                        <a:ea typeface="游ゴシック" panose="020B0400000000000000" pitchFamily="50" charset="-128"/>
                      </a:endParaRPr>
                    </a:p>
                  </a:txBody>
                  <a:tcPr marL="27000" marR="27000" marT="9000" marB="9000" anchor="ctr">
                    <a:solidFill>
                      <a:srgbClr val="FFFFFF"/>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将来の拡張可能性・移行コスト削減のため</a:t>
                      </a:r>
                      <a:endParaRPr dirty="0">
                        <a:latin typeface="游ゴシック" panose="020B0400000000000000" pitchFamily="50" charset="-128"/>
                        <a:ea typeface="游ゴシック" panose="020B0400000000000000" pitchFamily="50" charset="-128"/>
                      </a:endParaRPr>
                    </a:p>
                  </a:txBody>
                  <a:tcPr marL="27000" marR="27000" marT="9000" marB="9000">
                    <a:solidFill>
                      <a:srgbClr val="FFFFFF"/>
                    </a:solidFill>
                  </a:tcPr>
                </a:tc>
                <a:extLst>
                  <a:ext uri="{0D108BD9-81ED-4DB2-BD59-A6C34878D82A}">
                    <a16:rowId xmlns:a16="http://schemas.microsoft.com/office/drawing/2014/main" val="1877195312"/>
                  </a:ext>
                </a:extLst>
              </a:tr>
              <a:tr h="355600">
                <a:tc vMerge="1">
                  <a:txBody>
                    <a:bodyPr/>
                    <a:lstStyle/>
                    <a:p>
                      <a:endParaRPr lang="ja-JP"/>
                    </a:p>
                  </a:txBody>
                  <a:tcPr>
                    <a:solidFill>
                      <a:srgbClr val="FDF5F0"/>
                    </a:solidFill>
                  </a:tcPr>
                </a:tc>
                <a:tc>
                  <a:txBody>
                    <a:bodyPr/>
                    <a:lstStyle/>
                    <a:p>
                      <a:pPr marL="0" marR="0" lvl="0" indent="0" algn="l" rtl="0">
                        <a:lnSpc>
                          <a:spcPct val="105000"/>
                        </a:lnSpc>
                        <a:spcBef>
                          <a:spcPts val="0"/>
                        </a:spcBef>
                        <a:spcAft>
                          <a:spcPts val="0"/>
                        </a:spcAft>
                        <a:buNone/>
                      </a:pPr>
                      <a:r>
                        <a:rPr lang="ja" sz="800" b="1" u="none" strike="noStrike" cap="none" dirty="0">
                          <a:solidFill>
                            <a:srgbClr val="2C3E50"/>
                          </a:solidFill>
                          <a:latin typeface="游ゴシック" panose="020B0400000000000000" pitchFamily="50" charset="-128"/>
                          <a:ea typeface="游ゴシック" panose="020B0400000000000000" pitchFamily="50" charset="-128"/>
                          <a:cs typeface="Century Gothic"/>
                          <a:sym typeface="Century Gothic"/>
                        </a:rPr>
                        <a:t>AI拡張性</a:t>
                      </a:r>
                      <a:endParaRPr sz="800" dirty="0">
                        <a:latin typeface="游ゴシック" panose="020B0400000000000000" pitchFamily="50" charset="-128"/>
                        <a:ea typeface="游ゴシック" panose="020B0400000000000000" pitchFamily="50" charset="-128"/>
                      </a:endParaRPr>
                    </a:p>
                  </a:txBody>
                  <a:tcPr marL="27000" marR="27000" marT="9000" marB="9000" anchor="ctr">
                    <a:solidFill>
                      <a:schemeClr val="bg2">
                        <a:lumMod val="20000"/>
                        <a:lumOff val="80000"/>
                      </a:schemeClr>
                    </a:solidFill>
                  </a:tcPr>
                </a:tc>
                <a:tc>
                  <a:txBody>
                    <a:bodyPr/>
                    <a:lstStyle/>
                    <a:p>
                      <a:pPr marL="0" marR="0" lvl="0" indent="0" algn="l" rtl="0">
                        <a:lnSpc>
                          <a:spcPct val="105000"/>
                        </a:lnSpc>
                        <a:spcBef>
                          <a:spcPts val="0"/>
                        </a:spcBef>
                        <a:spcAft>
                          <a:spcPts val="0"/>
                        </a:spcAft>
                        <a:buNone/>
                      </a:pPr>
                      <a:r>
                        <a:rPr lang="ja" sz="75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AI開発環境の構成が、特定製品や独自実装への依存度を抑えつつ、PoCから本番移行、将来拡張まで見据えた構成になっているかを評価する</a:t>
                      </a:r>
                      <a:endParaRPr sz="750" dirty="0">
                        <a:latin typeface="游ゴシック" panose="020B0400000000000000" pitchFamily="50" charset="-128"/>
                        <a:ea typeface="游ゴシック" panose="020B0400000000000000" pitchFamily="50" charset="-128"/>
                      </a:endParaRPr>
                    </a:p>
                  </a:txBody>
                  <a:tcPr marL="27000" marR="27000" marT="9000" marB="9000">
                    <a:solidFill>
                      <a:schemeClr val="bg2">
                        <a:lumMod val="20000"/>
                        <a:lumOff val="80000"/>
                      </a:schemeClr>
                    </a:solidFill>
                  </a:tcPr>
                </a:tc>
                <a:tc>
                  <a:txBody>
                    <a:bodyPr/>
                    <a:lstStyle/>
                    <a:p>
                      <a:pPr marL="0" marR="0" lvl="0" indent="0" algn="ctr" rtl="0">
                        <a:lnSpc>
                          <a:spcPct val="105000"/>
                        </a:lnSpc>
                        <a:spcBef>
                          <a:spcPts val="0"/>
                        </a:spcBef>
                        <a:spcAft>
                          <a:spcPts val="0"/>
                        </a:spcAft>
                        <a:buNone/>
                      </a:pPr>
                      <a:r>
                        <a:rPr lang="ja-JP" altLang="en-US" sz="1000" u="none" strike="noStrike" cap="none" dirty="0">
                          <a:solidFill>
                            <a:srgbClr val="333333"/>
                          </a:solidFill>
                          <a:latin typeface="游ゴシック" panose="020B0400000000000000" pitchFamily="50" charset="-128"/>
                          <a:ea typeface="游ゴシック" panose="020B0400000000000000" pitchFamily="50" charset="-128"/>
                          <a:sym typeface="Century Gothic"/>
                        </a:rPr>
                        <a:t>重要</a:t>
                      </a:r>
                      <a:endParaRPr sz="1000" dirty="0">
                        <a:latin typeface="游ゴシック" panose="020B0400000000000000" pitchFamily="50" charset="-128"/>
                        <a:ea typeface="游ゴシック" panose="020B0400000000000000" pitchFamily="50" charset="-128"/>
                      </a:endParaRPr>
                    </a:p>
                  </a:txBody>
                  <a:tcPr marL="27000" marR="27000" marT="9000" marB="9000" anchor="ctr">
                    <a:solidFill>
                      <a:schemeClr val="bg2">
                        <a:lumMod val="20000"/>
                        <a:lumOff val="80000"/>
                      </a:schemeClr>
                    </a:solidFill>
                  </a:tcPr>
                </a:tc>
                <a:tc>
                  <a:txBody>
                    <a:bodyPr/>
                    <a:lstStyle/>
                    <a:p>
                      <a:pPr marL="0" marR="0" lvl="0" indent="0" algn="l" rtl="0">
                        <a:lnSpc>
                          <a:spcPct val="105000"/>
                        </a:lnSpc>
                        <a:spcBef>
                          <a:spcPts val="0"/>
                        </a:spcBef>
                        <a:spcAft>
                          <a:spcPts val="0"/>
                        </a:spcAft>
                        <a:buNone/>
                      </a:pPr>
                      <a:r>
                        <a:rPr lang="ja-JP" altLang="en-US" sz="800" b="0" i="0" dirty="0">
                          <a:effectLst/>
                          <a:latin typeface="游ゴシック" panose="020B0400000000000000" pitchFamily="50" charset="-128"/>
                          <a:ea typeface="游ゴシック" panose="020B0400000000000000" pitchFamily="50" charset="-128"/>
                        </a:rPr>
                        <a:t>将来の</a:t>
                      </a:r>
                      <a:r>
                        <a:rPr lang="en" altLang="ja-JP" sz="800" b="0" i="0" dirty="0">
                          <a:effectLst/>
                          <a:latin typeface="游ゴシック" panose="020B0400000000000000" pitchFamily="50" charset="-128"/>
                          <a:ea typeface="游ゴシック" panose="020B0400000000000000" pitchFamily="50" charset="-128"/>
                        </a:rPr>
                        <a:t>AI</a:t>
                      </a:r>
                      <a:r>
                        <a:rPr lang="ja-JP" altLang="en-US" sz="800" b="0" i="0" dirty="0">
                          <a:effectLst/>
                          <a:latin typeface="游ゴシック" panose="020B0400000000000000" pitchFamily="50" charset="-128"/>
                          <a:ea typeface="游ゴシック" panose="020B0400000000000000" pitchFamily="50" charset="-128"/>
                        </a:rPr>
                        <a:t>ドリブンな業務を前提としているため</a:t>
                      </a:r>
                      <a:endParaRPr dirty="0">
                        <a:latin typeface="游ゴシック" panose="020B0400000000000000" pitchFamily="50" charset="-128"/>
                        <a:ea typeface="游ゴシック" panose="020B0400000000000000" pitchFamily="50" charset="-128"/>
                      </a:endParaRPr>
                    </a:p>
                  </a:txBody>
                  <a:tcPr marL="27000" marR="27000" marT="9000" marB="9000">
                    <a:solidFill>
                      <a:schemeClr val="bg2">
                        <a:lumMod val="20000"/>
                        <a:lumOff val="80000"/>
                      </a:schemeClr>
                    </a:solidFill>
                  </a:tcPr>
                </a:tc>
                <a:extLst>
                  <a:ext uri="{0D108BD9-81ED-4DB2-BD59-A6C34878D82A}">
                    <a16:rowId xmlns:a16="http://schemas.microsoft.com/office/drawing/2014/main" val="2264222606"/>
                  </a:ext>
                </a:extLst>
              </a:tr>
            </a:tbl>
          </a:graphicData>
        </a:graphic>
      </p:graphicFrame>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sp>
        <p:nvSpPr>
          <p:cNvPr id="259" name="Google Shape;259;p10"/>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en-US" altLang="ja" sz="1800" b="1" dirty="0">
                <a:solidFill>
                  <a:srgbClr val="121212"/>
                </a:solidFill>
                <a:latin typeface="游ゴシック" panose="020B0400000000000000" pitchFamily="50" charset="-128"/>
                <a:ea typeface="游ゴシック" panose="020B0400000000000000" pitchFamily="50" charset="-128"/>
                <a:cs typeface="Century Gothic"/>
                <a:sym typeface="Century Gothic"/>
              </a:rPr>
              <a:t>2.2 </a:t>
            </a: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FRI</a:t>
            </a:r>
            <a:r>
              <a:rPr lang="ja-JP" altLang="en-US"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回答の評価まとめ</a:t>
            </a:r>
            <a:endParaRPr sz="1800" b="0" i="0" u="none" strike="noStrike" cap="none" dirty="0">
              <a:solidFill>
                <a:schemeClr val="dk1"/>
              </a:solidFill>
              <a:latin typeface="Calibri"/>
              <a:ea typeface="Calibri"/>
              <a:cs typeface="Calibri"/>
              <a:sym typeface="Calibri"/>
            </a:endParaRPr>
          </a:p>
        </p:txBody>
      </p:sp>
      <p:sp>
        <p:nvSpPr>
          <p:cNvPr id="260" name="Google Shape;260;p10"/>
          <p:cNvSpPr/>
          <p:nvPr/>
        </p:nvSpPr>
        <p:spPr>
          <a:xfrm>
            <a:off x="406301" y="575733"/>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ja" sz="1000" b="1" dirty="0">
                <a:solidFill>
                  <a:srgbClr val="777777"/>
                </a:solidFill>
                <a:latin typeface="游ゴシック" panose="020B0400000000000000" pitchFamily="50" charset="-128"/>
                <a:ea typeface="游ゴシック" panose="020B0400000000000000" pitchFamily="50" charset="-128"/>
                <a:sym typeface="Arial"/>
              </a:rPr>
              <a:t>RFI時点では、Deloitte・Fujitsuが技術面で有力。</a:t>
            </a:r>
            <a:r>
              <a:rPr lang="ja-JP" altLang="en-US" sz="1000" b="1" dirty="0">
                <a:solidFill>
                  <a:srgbClr val="777777"/>
                </a:solidFill>
                <a:latin typeface="游ゴシック" panose="020B0400000000000000" pitchFamily="50" charset="-128"/>
                <a:ea typeface="游ゴシック" panose="020B0400000000000000" pitchFamily="50" charset="-128"/>
                <a:sym typeface="Arial"/>
              </a:rPr>
              <a:t>ただし、各社ならではの強みがあるので、最終判断はコスト・体制・実装力など総合的に判断</a:t>
            </a:r>
            <a:endParaRPr lang="en-US" altLang="ja-JP" sz="1000" b="1" dirty="0">
              <a:solidFill>
                <a:srgbClr val="777777"/>
              </a:solidFill>
              <a:latin typeface="游ゴシック" panose="020B0400000000000000" pitchFamily="50" charset="-128"/>
              <a:ea typeface="游ゴシック" panose="020B0400000000000000" pitchFamily="50" charset="-128"/>
              <a:sym typeface="Arial"/>
            </a:endParaRPr>
          </a:p>
        </p:txBody>
      </p:sp>
      <p:cxnSp>
        <p:nvCxnSpPr>
          <p:cNvPr id="261" name="Google Shape;261;p10"/>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262" name="Google Shape;262;p10"/>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6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00" b="0" i="0" u="none" strike="noStrike" cap="none" dirty="0">
              <a:solidFill>
                <a:schemeClr val="dk1"/>
              </a:solidFill>
              <a:latin typeface="Calibri"/>
              <a:ea typeface="Calibri"/>
              <a:cs typeface="Calibri"/>
              <a:sym typeface="Calibri"/>
            </a:endParaRPr>
          </a:p>
        </p:txBody>
      </p:sp>
      <p:sp>
        <p:nvSpPr>
          <p:cNvPr id="263" name="Google Shape;263;p10"/>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6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5</a:t>
            </a:r>
            <a:endParaRPr sz="500" b="0" i="0" u="none" strike="noStrike" cap="none" dirty="0">
              <a:solidFill>
                <a:schemeClr val="dk1"/>
              </a:solidFill>
              <a:latin typeface="Calibri"/>
              <a:ea typeface="Calibri"/>
              <a:cs typeface="Calibri"/>
              <a:sym typeface="Calibri"/>
            </a:endParaRPr>
          </a:p>
        </p:txBody>
      </p:sp>
      <p:graphicFrame>
        <p:nvGraphicFramePr>
          <p:cNvPr id="264" name="Google Shape;264;p10"/>
          <p:cNvGraphicFramePr/>
          <p:nvPr>
            <p:extLst>
              <p:ext uri="{D42A27DB-BD31-4B8C-83A1-F6EECF244321}">
                <p14:modId xmlns:p14="http://schemas.microsoft.com/office/powerpoint/2010/main" val="2902785042"/>
              </p:ext>
            </p:extLst>
          </p:nvPr>
        </p:nvGraphicFramePr>
        <p:xfrm>
          <a:off x="228600" y="939800"/>
          <a:ext cx="8763000" cy="3888740"/>
        </p:xfrm>
        <a:graphic>
          <a:graphicData uri="http://schemas.openxmlformats.org/drawingml/2006/table">
            <a:tbl>
              <a:tblPr firstRow="1" bandRow="1"/>
              <a:tblGrid>
                <a:gridCol w="571500">
                  <a:extLst>
                    <a:ext uri="{9D8B030D-6E8A-4147-A177-3AD203B41FA5}">
                      <a16:colId xmlns:a16="http://schemas.microsoft.com/office/drawing/2014/main" val="20000"/>
                    </a:ext>
                  </a:extLst>
                </a:gridCol>
                <a:gridCol w="6985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540000">
                  <a:extLst>
                    <a:ext uri="{9D8B030D-6E8A-4147-A177-3AD203B41FA5}">
                      <a16:colId xmlns:a16="http://schemas.microsoft.com/office/drawing/2014/main" val="20004"/>
                    </a:ext>
                  </a:extLst>
                </a:gridCol>
              </a:tblGrid>
              <a:tr h="254000">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会社</a:t>
                      </a:r>
                    </a:p>
                  </a:txBody>
                  <a:tcPr marL="27000" marR="27000" marT="12700" marB="12700" anchor="ctr">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評価</a:t>
                      </a:r>
                    </a:p>
                  </a:txBody>
                  <a:tcPr marL="27000" marR="27000" marT="12700" marB="12700" anchor="ctr">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この会社ならではの定性的な強み</a:t>
                      </a:r>
                    </a:p>
                  </a:txBody>
                  <a:tcPr marL="27000" marR="27000" marT="12700" marB="12700" anchor="ctr">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なぜRFPに残すのか</a:t>
                      </a:r>
                    </a:p>
                  </a:txBody>
                  <a:tcPr marL="27000" marR="27000" marT="12700" marB="12700" anchor="ctr">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懸念・RFPで確認すること</a:t>
                      </a:r>
                    </a:p>
                  </a:txBody>
                  <a:tcPr marL="27000" marR="27000" marT="12700" marB="12700" anchor="ctr">
                    <a:solidFill>
                      <a:srgbClr val="333333"/>
                    </a:solidFill>
                  </a:tcPr>
                </a:tc>
                <a:extLst>
                  <a:ext uri="{0D108BD9-81ED-4DB2-BD59-A6C34878D82A}">
                    <a16:rowId xmlns:a16="http://schemas.microsoft.com/office/drawing/2014/main" val="10000"/>
                  </a:ext>
                </a:extLst>
              </a:tr>
              <a:tr h="605790">
                <a:tc>
                  <a:txBody>
                    <a:bodyPr/>
                    <a:lstStyle/>
                    <a:p>
                      <a:pPr algn="l">
                        <a:lnSpc>
                          <a:spcPct val="115000"/>
                        </a:lnSpc>
                        <a:spcBef>
                          <a:spcPts val="0"/>
                        </a:spcBef>
                        <a:spcAft>
                          <a:spcPts val="0"/>
                        </a:spcAft>
                      </a:pPr>
                      <a:r>
                        <a:rPr lang="ja" sz="800" b="1" dirty="0">
                          <a:solidFill>
                            <a:srgbClr val="121212"/>
                          </a:solidFill>
                          <a:latin typeface="游ゴシック" panose="020B0400000000000000" pitchFamily="50" charset="-128"/>
                          <a:ea typeface="游ゴシック" panose="020B0400000000000000" pitchFamily="50" charset="-128"/>
                        </a:rPr>
                        <a:t>Deloitte</a:t>
                      </a:r>
                    </a:p>
                  </a:txBody>
                  <a:tcPr marL="27000" marR="27000" marT="12700" marB="12700">
                    <a:noFill/>
                  </a:tcPr>
                </a:tc>
                <a:tc>
                  <a:txBody>
                    <a:bodyPr/>
                    <a:lstStyle/>
                    <a:p>
                      <a:pPr algn="ctr">
                        <a:lnSpc>
                          <a:spcPct val="115000"/>
                        </a:lnSpc>
                        <a:spcBef>
                          <a:spcPts val="0"/>
                        </a:spcBef>
                        <a:spcAft>
                          <a:spcPts val="0"/>
                        </a:spcAft>
                      </a:pPr>
                      <a:r>
                        <a:rPr lang="ja" sz="800" b="1" dirty="0">
                          <a:solidFill>
                            <a:srgbClr val="3A7D44"/>
                          </a:solidFill>
                          <a:latin typeface="游ゴシック" panose="020B0400000000000000" pitchFamily="50" charset="-128"/>
                          <a:ea typeface="游ゴシック" panose="020B0400000000000000" pitchFamily="50" charset="-128"/>
                        </a:rPr>
                        <a:t>有力候補</a:t>
                      </a:r>
                    </a:p>
                  </a:txBody>
                  <a:tcPr marL="27000" marR="27000" marT="12700" marB="12700">
                    <a:noFill/>
                  </a:tcPr>
                </a:tc>
                <a:tc>
                  <a:txBody>
                    <a:bodyPr/>
                    <a:lstStyle/>
                    <a:p>
                      <a:pPr algn="l">
                        <a:lnSpc>
                          <a:spcPct val="115000"/>
                        </a:lnSpc>
                        <a:spcBef>
                          <a:spcPts val="0"/>
                        </a:spcBef>
                        <a:spcAft>
                          <a:spcPts val="0"/>
                        </a:spcAft>
                      </a:pPr>
                      <a:r>
                        <a:rPr lang="ja-JP" altLang="en-US" sz="800" b="0" i="0" dirty="0">
                          <a:effectLst/>
                          <a:latin typeface="游ゴシック" panose="020B0400000000000000" pitchFamily="50" charset="-128"/>
                        </a:rPr>
                        <a:t>コスト試算を唯一提示（年</a:t>
                      </a:r>
                      <a:r>
                        <a:rPr lang="en-US" altLang="ja-JP" sz="800" b="0" i="0" dirty="0">
                          <a:effectLst/>
                          <a:latin typeface="游ゴシック" panose="020B0400000000000000" pitchFamily="50" charset="-128"/>
                        </a:rPr>
                        <a:t>3,000</a:t>
                      </a:r>
                      <a:r>
                        <a:rPr lang="ja-JP" altLang="en-US" sz="800" b="0" i="0" dirty="0">
                          <a:effectLst/>
                          <a:latin typeface="游ゴシック" panose="020B0400000000000000" pitchFamily="50" charset="-128"/>
                        </a:rPr>
                        <a:t>万</a:t>
                      </a:r>
                      <a:r>
                        <a:rPr lang="en-US" altLang="ja-JP" sz="800" b="0" i="0" dirty="0">
                          <a:effectLst/>
                        </a:rPr>
                        <a:t>〜8,000</a:t>
                      </a:r>
                      <a:r>
                        <a:rPr lang="ja-JP" altLang="en-US" sz="800" b="0" i="0" dirty="0">
                          <a:effectLst/>
                        </a:rPr>
                        <a:t>万円）</a:t>
                      </a:r>
                      <a:endParaRPr lang="en-US" altLang="ja-JP" sz="800" b="0" i="0" dirty="0">
                        <a:effectLst/>
                      </a:endParaRPr>
                    </a:p>
                    <a:p>
                      <a:pPr algn="l">
                        <a:lnSpc>
                          <a:spcPct val="115000"/>
                        </a:lnSpc>
                        <a:spcBef>
                          <a:spcPts val="0"/>
                        </a:spcBef>
                        <a:spcAft>
                          <a:spcPts val="0"/>
                        </a:spcAft>
                      </a:pPr>
                      <a:r>
                        <a:rPr lang="en" altLang="ja-JP" sz="800" b="0" i="0" dirty="0" err="1">
                          <a:effectLst/>
                        </a:rPr>
                        <a:t>PySpark</a:t>
                      </a:r>
                      <a:r>
                        <a:rPr lang="ja-JP" altLang="en-US" sz="800" b="0" i="0" dirty="0">
                          <a:effectLst/>
                        </a:rPr>
                        <a:t>互換性が高く移行計画も具体的。</a:t>
                      </a:r>
                      <a:endParaRPr lang="en-US" altLang="ja-JP" sz="800" b="0" i="0" dirty="0">
                        <a:effectLst/>
                      </a:endParaRPr>
                    </a:p>
                    <a:p>
                      <a:pPr algn="l">
                        <a:lnSpc>
                          <a:spcPct val="115000"/>
                        </a:lnSpc>
                        <a:spcBef>
                          <a:spcPts val="0"/>
                        </a:spcBef>
                        <a:spcAft>
                          <a:spcPts val="0"/>
                        </a:spcAft>
                      </a:pPr>
                      <a:r>
                        <a:rPr lang="en" altLang="ja-JP" sz="800" b="0" i="0" dirty="0">
                          <a:effectLst/>
                        </a:rPr>
                        <a:t>AI/ML</a:t>
                      </a:r>
                      <a:r>
                        <a:rPr lang="ja-JP" altLang="en-US" sz="800" b="0" i="0" dirty="0">
                          <a:effectLst/>
                        </a:rPr>
                        <a:t>含め技術面の具体性もある。</a:t>
                      </a:r>
                      <a:endParaRPr lang="en-US" altLang="ja-JP" sz="800" b="0" i="0" dirty="0">
                        <a:effectLst/>
                      </a:endParaRPr>
                    </a:p>
                    <a:p>
                      <a:pPr algn="l">
                        <a:lnSpc>
                          <a:spcPct val="115000"/>
                        </a:lnSpc>
                        <a:spcBef>
                          <a:spcPts val="0"/>
                        </a:spcBef>
                        <a:spcAft>
                          <a:spcPts val="0"/>
                        </a:spcAft>
                      </a:pPr>
                      <a:r>
                        <a:rPr lang="en" altLang="ja-JP" sz="800" b="0" i="0" dirty="0">
                          <a:effectLst/>
                        </a:rPr>
                        <a:t>SOMPO</a:t>
                      </a:r>
                      <a:r>
                        <a:rPr lang="ja-JP" altLang="en-US" sz="800" b="0" i="0" dirty="0">
                          <a:effectLst/>
                        </a:rPr>
                        <a:t>グループ</a:t>
                      </a:r>
                      <a:r>
                        <a:rPr lang="en-US" altLang="ja-JP" sz="800" b="0" i="0" dirty="0">
                          <a:effectLst/>
                        </a:rPr>
                        <a:t>12</a:t>
                      </a:r>
                      <a:r>
                        <a:rPr lang="ja-JP" altLang="en-US" sz="800" b="0" i="0" dirty="0">
                          <a:effectLst/>
                        </a:rPr>
                        <a:t>年以上の支援実績</a:t>
                      </a:r>
                      <a:endParaRPr lang="ja" sz="800" dirty="0">
                        <a:solidFill>
                          <a:srgbClr val="121212"/>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800" dirty="0">
                          <a:solidFill>
                            <a:srgbClr val="121212"/>
                          </a:solidFill>
                          <a:latin typeface="游ゴシック" panose="020B0400000000000000" pitchFamily="50" charset="-128"/>
                          <a:ea typeface="游ゴシック" panose="020B0400000000000000" pitchFamily="50" charset="-128"/>
                        </a:rPr>
                        <a:t>技術構成の包括性とコスト試算の具体性が最も高い</a:t>
                      </a:r>
                    </a:p>
                  </a:txBody>
                  <a:tcPr marL="27000" marR="27000" marT="12700" marB="12700">
                    <a:noFill/>
                  </a:tcPr>
                </a:tc>
                <a:tc>
                  <a:txBody>
                    <a:bodyPr/>
                    <a:lstStyle/>
                    <a:p>
                      <a:pPr algn="l">
                        <a:lnSpc>
                          <a:spcPct val="115000"/>
                        </a:lnSpc>
                        <a:spcBef>
                          <a:spcPts val="0"/>
                        </a:spcBef>
                        <a:spcAft>
                          <a:spcPts val="0"/>
                        </a:spcAft>
                      </a:pPr>
                      <a:r>
                        <a:rPr lang="ja" sz="800" dirty="0">
                          <a:solidFill>
                            <a:srgbClr val="121212"/>
                          </a:solidFill>
                          <a:latin typeface="游ゴシック" panose="020B0400000000000000" pitchFamily="50" charset="-128"/>
                          <a:ea typeface="游ゴシック" panose="020B0400000000000000" pitchFamily="50" charset="-128"/>
                        </a:rPr>
                        <a:t>日本側の運用体制の具体像。コスト試算の精緻化。内部チームへの移管計画</a:t>
                      </a:r>
                    </a:p>
                  </a:txBody>
                  <a:tcPr marL="27000" marR="27000" marT="12700" marB="12700">
                    <a:noFill/>
                  </a:tcPr>
                </a:tc>
                <a:extLst>
                  <a:ext uri="{0D108BD9-81ED-4DB2-BD59-A6C34878D82A}">
                    <a16:rowId xmlns:a16="http://schemas.microsoft.com/office/drawing/2014/main" val="10001"/>
                  </a:ext>
                </a:extLst>
              </a:tr>
              <a:tr h="605790">
                <a:tc>
                  <a:txBody>
                    <a:bodyPr/>
                    <a:lstStyle/>
                    <a:p>
                      <a:pPr algn="l">
                        <a:lnSpc>
                          <a:spcPct val="115000"/>
                        </a:lnSpc>
                        <a:spcBef>
                          <a:spcPts val="0"/>
                        </a:spcBef>
                        <a:spcAft>
                          <a:spcPts val="0"/>
                        </a:spcAft>
                      </a:pPr>
                      <a:r>
                        <a:rPr lang="ja" sz="800" b="1" dirty="0">
                          <a:solidFill>
                            <a:srgbClr val="121212"/>
                          </a:solidFill>
                          <a:latin typeface="游ゴシック" panose="020B0400000000000000" pitchFamily="50" charset="-128"/>
                          <a:ea typeface="游ゴシック" panose="020B0400000000000000" pitchFamily="50" charset="-128"/>
                        </a:rPr>
                        <a:t>Fujitsu</a:t>
                      </a:r>
                    </a:p>
                  </a:txBody>
                  <a:tcPr marL="27000" marR="27000" marT="12700" marB="12700">
                    <a:noFill/>
                  </a:tcPr>
                </a:tc>
                <a:tc>
                  <a:txBody>
                    <a:bodyPr/>
                    <a:lstStyle/>
                    <a:p>
                      <a:pPr algn="ctr">
                        <a:lnSpc>
                          <a:spcPct val="115000"/>
                        </a:lnSpc>
                        <a:spcBef>
                          <a:spcPts val="0"/>
                        </a:spcBef>
                        <a:spcAft>
                          <a:spcPts val="0"/>
                        </a:spcAft>
                      </a:pPr>
                      <a:r>
                        <a:rPr lang="ja" sz="800" b="1" dirty="0">
                          <a:solidFill>
                            <a:srgbClr val="3A7D44"/>
                          </a:solidFill>
                          <a:latin typeface="游ゴシック" panose="020B0400000000000000" pitchFamily="50" charset="-128"/>
                          <a:ea typeface="游ゴシック" panose="020B0400000000000000" pitchFamily="50" charset="-128"/>
                        </a:rPr>
                        <a:t>有力候補</a:t>
                      </a:r>
                    </a:p>
                  </a:txBody>
                  <a:tcPr marL="27000" marR="27000" marT="12700" marB="12700">
                    <a:noFill/>
                  </a:tcPr>
                </a:tc>
                <a:tc>
                  <a:txBody>
                    <a:bodyPr/>
                    <a:lstStyle/>
                    <a:p>
                      <a:pPr algn="l">
                        <a:lnSpc>
                          <a:spcPct val="115000"/>
                        </a:lnSpc>
                        <a:spcBef>
                          <a:spcPts val="0"/>
                        </a:spcBef>
                        <a:spcAft>
                          <a:spcPts val="0"/>
                        </a:spcAft>
                      </a:pPr>
                      <a:r>
                        <a:rPr lang="en" altLang="ja-JP" sz="800" b="0" i="0" dirty="0" err="1">
                          <a:effectLst/>
                          <a:latin typeface="游ゴシック" panose="020B0400000000000000" pitchFamily="50" charset="-128"/>
                        </a:rPr>
                        <a:t>egaku</a:t>
                      </a:r>
                      <a:r>
                        <a:rPr lang="en" altLang="ja-JP" sz="800" b="0" i="0" dirty="0">
                          <a:effectLst/>
                          <a:latin typeface="游ゴシック" panose="020B0400000000000000" pitchFamily="50" charset="-128"/>
                        </a:rPr>
                        <a:t>/Foundry</a:t>
                      </a:r>
                      <a:r>
                        <a:rPr lang="ja-JP" altLang="en-US" sz="800" b="0" i="0" dirty="0">
                          <a:effectLst/>
                          <a:latin typeface="游ゴシック" panose="020B0400000000000000" pitchFamily="50" charset="-128"/>
                        </a:rPr>
                        <a:t>運用経験者が在籍する唯一の会社</a:t>
                      </a:r>
                      <a:endParaRPr lang="en-US" altLang="ja-JP" sz="800" b="0" i="0" dirty="0">
                        <a:effectLst/>
                      </a:endParaRPr>
                    </a:p>
                    <a:p>
                      <a:pPr algn="l">
                        <a:lnSpc>
                          <a:spcPct val="115000"/>
                        </a:lnSpc>
                        <a:spcBef>
                          <a:spcPts val="0"/>
                        </a:spcBef>
                        <a:spcAft>
                          <a:spcPts val="0"/>
                        </a:spcAft>
                      </a:pPr>
                      <a:r>
                        <a:rPr lang="ja-JP" altLang="en-US" sz="800" b="0" i="0" dirty="0">
                          <a:effectLst/>
                        </a:rPr>
                        <a:t>「移せるか」の不確実性を最も低減できる。</a:t>
                      </a:r>
                      <a:endParaRPr lang="en-US" altLang="ja-JP" sz="800" b="0" i="0" dirty="0">
                        <a:effectLst/>
                      </a:endParaRPr>
                    </a:p>
                    <a:p>
                      <a:pPr algn="l">
                        <a:lnSpc>
                          <a:spcPct val="115000"/>
                        </a:lnSpc>
                        <a:spcBef>
                          <a:spcPts val="0"/>
                        </a:spcBef>
                        <a:spcAft>
                          <a:spcPts val="0"/>
                        </a:spcAft>
                      </a:pPr>
                      <a:r>
                        <a:rPr lang="ja-JP" altLang="en-US" sz="800" b="0" i="0" dirty="0">
                          <a:effectLst/>
                        </a:rPr>
                        <a:t>パッケージ化で最短</a:t>
                      </a:r>
                      <a:r>
                        <a:rPr lang="en-US" altLang="ja-JP" sz="800" b="0" i="0" dirty="0">
                          <a:effectLst/>
                        </a:rPr>
                        <a:t>3</a:t>
                      </a:r>
                      <a:r>
                        <a:rPr lang="ja-JP" altLang="en-US" sz="800" b="0" i="0" dirty="0">
                          <a:effectLst/>
                        </a:rPr>
                        <a:t>ヶ月環境構築</a:t>
                      </a:r>
                      <a:endParaRPr lang="ja" sz="800" dirty="0">
                        <a:solidFill>
                          <a:srgbClr val="121212"/>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800" dirty="0">
                          <a:solidFill>
                            <a:srgbClr val="121212"/>
                          </a:solidFill>
                          <a:latin typeface="游ゴシック" panose="020B0400000000000000" pitchFamily="50" charset="-128"/>
                          <a:ea typeface="游ゴシック" panose="020B0400000000000000" pitchFamily="50" charset="-128"/>
                        </a:rPr>
                        <a:t>現行環境の知見は他社で代替できない</a:t>
                      </a:r>
                    </a:p>
                  </a:txBody>
                  <a:tcPr marL="27000" marR="27000" marT="12700" marB="12700">
                    <a:noFill/>
                  </a:tcPr>
                </a:tc>
                <a:tc>
                  <a:txBody>
                    <a:bodyPr/>
                    <a:lstStyle/>
                    <a:p>
                      <a:pPr algn="l">
                        <a:lnSpc>
                          <a:spcPct val="115000"/>
                        </a:lnSpc>
                        <a:spcBef>
                          <a:spcPts val="0"/>
                        </a:spcBef>
                        <a:spcAft>
                          <a:spcPts val="0"/>
                        </a:spcAft>
                      </a:pPr>
                      <a:r>
                        <a:rPr lang="ja" sz="800" dirty="0">
                          <a:solidFill>
                            <a:srgbClr val="121212"/>
                          </a:solidFill>
                          <a:latin typeface="游ゴシック" panose="020B0400000000000000" pitchFamily="50" charset="-128"/>
                          <a:ea typeface="游ゴシック" panose="020B0400000000000000" pitchFamily="50" charset="-128"/>
                        </a:rPr>
                        <a:t>コスト試算の提示。PySpark移行の具体策。AI基盤をKozuchiに限定しない構成が可能か</a:t>
                      </a:r>
                    </a:p>
                  </a:txBody>
                  <a:tcPr marL="27000" marR="27000" marT="12700" marB="12700">
                    <a:noFill/>
                  </a:tcPr>
                </a:tc>
                <a:extLst>
                  <a:ext uri="{0D108BD9-81ED-4DB2-BD59-A6C34878D82A}">
                    <a16:rowId xmlns:a16="http://schemas.microsoft.com/office/drawing/2014/main" val="10002"/>
                  </a:ext>
                </a:extLst>
              </a:tr>
              <a:tr h="605790">
                <a:tc>
                  <a:txBody>
                    <a:bodyPr/>
                    <a:lstStyle/>
                    <a:p>
                      <a:pPr algn="l">
                        <a:lnSpc>
                          <a:spcPct val="115000"/>
                        </a:lnSpc>
                        <a:spcBef>
                          <a:spcPts val="0"/>
                        </a:spcBef>
                        <a:spcAft>
                          <a:spcPts val="0"/>
                        </a:spcAft>
                      </a:pPr>
                      <a:r>
                        <a:rPr lang="ja" sz="800" b="1" dirty="0">
                          <a:solidFill>
                            <a:srgbClr val="121212"/>
                          </a:solidFill>
                          <a:latin typeface="游ゴシック" panose="020B0400000000000000" pitchFamily="50" charset="-128"/>
                          <a:ea typeface="游ゴシック" panose="020B0400000000000000" pitchFamily="50" charset="-128"/>
                        </a:rPr>
                        <a:t>Sky</a:t>
                      </a:r>
                    </a:p>
                  </a:txBody>
                  <a:tcPr marL="27000" marR="27000" marT="12700" marB="12700">
                    <a:noFill/>
                  </a:tcPr>
                </a:tc>
                <a:tc>
                  <a:txBody>
                    <a:bodyPr/>
                    <a:lstStyle/>
                    <a:p>
                      <a:pPr algn="ctr">
                        <a:lnSpc>
                          <a:spcPct val="115000"/>
                        </a:lnSpc>
                        <a:spcBef>
                          <a:spcPts val="0"/>
                        </a:spcBef>
                        <a:spcAft>
                          <a:spcPts val="0"/>
                        </a:spcAft>
                      </a:pPr>
                      <a:r>
                        <a:rPr lang="ja" sz="800" b="1" dirty="0">
                          <a:solidFill>
                            <a:srgbClr val="B8860B"/>
                          </a:solidFill>
                          <a:latin typeface="游ゴシック" panose="020B0400000000000000" pitchFamily="50" charset="-128"/>
                          <a:ea typeface="游ゴシック" panose="020B0400000000000000" pitchFamily="50" charset="-128"/>
                        </a:rPr>
                        <a:t>比較継続</a:t>
                      </a:r>
                    </a:p>
                  </a:txBody>
                  <a:tcPr marL="27000" marR="27000" marT="12700" marB="12700">
                    <a:noFill/>
                  </a:tcPr>
                </a:tc>
                <a:tc>
                  <a:txBody>
                    <a:bodyPr/>
                    <a:lstStyle/>
                    <a:p>
                      <a:pPr algn="l">
                        <a:lnSpc>
                          <a:spcPct val="115000"/>
                        </a:lnSpc>
                        <a:spcBef>
                          <a:spcPts val="0"/>
                        </a:spcBef>
                        <a:spcAft>
                          <a:spcPts val="0"/>
                        </a:spcAft>
                      </a:pPr>
                      <a:r>
                        <a:rPr lang="en" altLang="ja-JP" sz="800" b="0" i="0" dirty="0">
                          <a:effectLst/>
                          <a:latin typeface="游ゴシック" panose="020B0400000000000000" pitchFamily="50" charset="-128"/>
                        </a:rPr>
                        <a:t>AI-Ready Data Platform</a:t>
                      </a:r>
                      <a:r>
                        <a:rPr lang="ja-JP" altLang="en-US" sz="800" b="0" i="0" dirty="0">
                          <a:effectLst/>
                          <a:latin typeface="游ゴシック" panose="020B0400000000000000" pitchFamily="50" charset="-128"/>
                        </a:rPr>
                        <a:t>として、データ品質・定義・リネージを</a:t>
                      </a:r>
                      <a:r>
                        <a:rPr lang="en" altLang="ja-JP" sz="800" b="0" i="0" dirty="0">
                          <a:effectLst/>
                          <a:latin typeface="游ゴシック" panose="020B0400000000000000" pitchFamily="50" charset="-128"/>
                        </a:rPr>
                        <a:t>AI</a:t>
                      </a:r>
                      <a:r>
                        <a:rPr lang="ja-JP" altLang="en-US" sz="800" b="0" i="0" dirty="0">
                          <a:effectLst/>
                        </a:rPr>
                        <a:t>活用の前提条件として体系化。</a:t>
                      </a:r>
                      <a:endParaRPr lang="en-US" altLang="ja-JP" sz="800" b="0" i="0" dirty="0">
                        <a:effectLst/>
                      </a:endParaRPr>
                    </a:p>
                    <a:p>
                      <a:pPr algn="l">
                        <a:lnSpc>
                          <a:spcPct val="115000"/>
                        </a:lnSpc>
                        <a:spcBef>
                          <a:spcPts val="0"/>
                        </a:spcBef>
                        <a:spcAft>
                          <a:spcPts val="0"/>
                        </a:spcAft>
                      </a:pPr>
                      <a:endParaRPr lang="ja" sz="800" dirty="0">
                        <a:solidFill>
                          <a:srgbClr val="121212"/>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800" dirty="0">
                          <a:solidFill>
                            <a:srgbClr val="121212"/>
                          </a:solidFill>
                          <a:latin typeface="游ゴシック" panose="020B0400000000000000" pitchFamily="50" charset="-128"/>
                          <a:ea typeface="游ゴシック" panose="020B0400000000000000" pitchFamily="50" charset="-128"/>
                        </a:rPr>
                        <a:t>将来のAI拡張を見据えた設計力が最も強い</a:t>
                      </a:r>
                    </a:p>
                  </a:txBody>
                  <a:tcPr marL="27000" marR="27000" marT="12700" marB="12700">
                    <a:noFill/>
                  </a:tcPr>
                </a:tc>
                <a:tc>
                  <a:txBody>
                    <a:bodyPr/>
                    <a:lstStyle/>
                    <a:p>
                      <a:pPr algn="l">
                        <a:lnSpc>
                          <a:spcPct val="115000"/>
                        </a:lnSpc>
                        <a:spcBef>
                          <a:spcPts val="0"/>
                        </a:spcBef>
                        <a:spcAft>
                          <a:spcPts val="0"/>
                        </a:spcAft>
                      </a:pPr>
                      <a:r>
                        <a:rPr lang="ja" sz="800" dirty="0">
                          <a:solidFill>
                            <a:srgbClr val="121212"/>
                          </a:solidFill>
                          <a:latin typeface="游ゴシック" panose="020B0400000000000000" pitchFamily="50" charset="-128"/>
                          <a:ea typeface="游ゴシック" panose="020B0400000000000000" pitchFamily="50" charset="-128"/>
                        </a:rPr>
                        <a:t>BIツールがQuick Suite固定で既存Tableau資産からの切替が必要。BI移行の実現性・影響範囲</a:t>
                      </a:r>
                    </a:p>
                  </a:txBody>
                  <a:tcPr marL="27000" marR="27000" marT="12700" marB="12700">
                    <a:noFill/>
                  </a:tcPr>
                </a:tc>
                <a:extLst>
                  <a:ext uri="{0D108BD9-81ED-4DB2-BD59-A6C34878D82A}">
                    <a16:rowId xmlns:a16="http://schemas.microsoft.com/office/drawing/2014/main" val="10003"/>
                  </a:ext>
                </a:extLst>
              </a:tr>
              <a:tr h="605790">
                <a:tc>
                  <a:txBody>
                    <a:bodyPr/>
                    <a:lstStyle/>
                    <a:p>
                      <a:pPr algn="l">
                        <a:lnSpc>
                          <a:spcPct val="115000"/>
                        </a:lnSpc>
                        <a:spcBef>
                          <a:spcPts val="0"/>
                        </a:spcBef>
                        <a:spcAft>
                          <a:spcPts val="0"/>
                        </a:spcAft>
                      </a:pPr>
                      <a:r>
                        <a:rPr lang="ja" sz="800" b="1" dirty="0">
                          <a:solidFill>
                            <a:srgbClr val="121212"/>
                          </a:solidFill>
                          <a:latin typeface="游ゴシック" panose="020B0400000000000000" pitchFamily="50" charset="-128"/>
                          <a:ea typeface="游ゴシック" panose="020B0400000000000000" pitchFamily="50" charset="-128"/>
                        </a:rPr>
                        <a:t>PwC</a:t>
                      </a:r>
                    </a:p>
                  </a:txBody>
                  <a:tcPr marL="27000" marR="27000" marT="12700" marB="12700">
                    <a:noFill/>
                  </a:tcPr>
                </a:tc>
                <a:tc>
                  <a:txBody>
                    <a:bodyPr/>
                    <a:lstStyle/>
                    <a:p>
                      <a:pPr algn="ctr">
                        <a:lnSpc>
                          <a:spcPct val="115000"/>
                        </a:lnSpc>
                        <a:spcBef>
                          <a:spcPts val="0"/>
                        </a:spcBef>
                        <a:spcAft>
                          <a:spcPts val="0"/>
                        </a:spcAft>
                      </a:pPr>
                      <a:r>
                        <a:rPr lang="ja" sz="800" b="1" dirty="0">
                          <a:solidFill>
                            <a:srgbClr val="B8860B"/>
                          </a:solidFill>
                          <a:latin typeface="游ゴシック" panose="020B0400000000000000" pitchFamily="50" charset="-128"/>
                          <a:ea typeface="游ゴシック" panose="020B0400000000000000" pitchFamily="50" charset="-128"/>
                        </a:rPr>
                        <a:t>コスト次第</a:t>
                      </a:r>
                    </a:p>
                  </a:txBody>
                  <a:tcPr marL="27000" marR="27000" marT="12700" marB="12700">
                    <a:noFill/>
                  </a:tcPr>
                </a:tc>
                <a:tc>
                  <a:txBody>
                    <a:bodyPr/>
                    <a:lstStyle/>
                    <a:p>
                      <a:pPr algn="l">
                        <a:lnSpc>
                          <a:spcPct val="115000"/>
                        </a:lnSpc>
                        <a:spcBef>
                          <a:spcPts val="0"/>
                        </a:spcBef>
                        <a:spcAft>
                          <a:spcPts val="0"/>
                        </a:spcAft>
                      </a:pPr>
                      <a:r>
                        <a:rPr lang="en" altLang="ja-JP" sz="800" b="0" i="0" dirty="0">
                          <a:effectLst/>
                          <a:latin typeface="游ゴシック" panose="020B0400000000000000" pitchFamily="50" charset="-128"/>
                        </a:rPr>
                        <a:t>SOMPO</a:t>
                      </a:r>
                      <a:r>
                        <a:rPr lang="ja-JP" altLang="en-US" sz="800" b="0" i="0" dirty="0">
                          <a:effectLst/>
                          <a:latin typeface="游ゴシック" panose="020B0400000000000000" pitchFamily="50" charset="-128"/>
                        </a:rPr>
                        <a:t>グループ</a:t>
                      </a:r>
                      <a:r>
                        <a:rPr lang="en-US" altLang="ja-JP" sz="800" b="0" i="0" dirty="0">
                          <a:effectLst/>
                          <a:latin typeface="游ゴシック" panose="020B0400000000000000" pitchFamily="50" charset="-128"/>
                        </a:rPr>
                        <a:t>20</a:t>
                      </a:r>
                      <a:r>
                        <a:rPr lang="ja-JP" altLang="en-US" sz="800" b="0" i="0" dirty="0">
                          <a:effectLst/>
                        </a:rPr>
                        <a:t>件以上の支援実績。</a:t>
                      </a:r>
                      <a:endParaRPr lang="en-US" altLang="ja-JP" sz="800" b="0" i="0" dirty="0">
                        <a:effectLst/>
                      </a:endParaRPr>
                    </a:p>
                    <a:p>
                      <a:pPr algn="l">
                        <a:lnSpc>
                          <a:spcPct val="115000"/>
                        </a:lnSpc>
                        <a:spcBef>
                          <a:spcPts val="0"/>
                        </a:spcBef>
                        <a:spcAft>
                          <a:spcPts val="0"/>
                        </a:spcAft>
                      </a:pPr>
                      <a:r>
                        <a:rPr lang="ja-JP" altLang="en-US" sz="800" b="0" i="0" dirty="0">
                          <a:effectLst/>
                        </a:rPr>
                        <a:t>ガバナンス設計・マスターデータ管理・組織設計のコンサル力が最も高い。</a:t>
                      </a:r>
                      <a:endParaRPr lang="ja" sz="800" dirty="0">
                        <a:solidFill>
                          <a:srgbClr val="121212"/>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800" dirty="0">
                          <a:solidFill>
                            <a:srgbClr val="121212"/>
                          </a:solidFill>
                          <a:latin typeface="游ゴシック" panose="020B0400000000000000" pitchFamily="50" charset="-128"/>
                          <a:ea typeface="游ゴシック" panose="020B0400000000000000" pitchFamily="50" charset="-128"/>
                        </a:rPr>
                        <a:t>ガバナンス・組織設計の伴走者としての価値。技術ベンダーとの組合せも選択肢</a:t>
                      </a:r>
                    </a:p>
                  </a:txBody>
                  <a:tcPr marL="27000" marR="27000" marT="12700" marB="12700">
                    <a:noFill/>
                  </a:tcPr>
                </a:tc>
                <a:tc>
                  <a:txBody>
                    <a:bodyPr/>
                    <a:lstStyle/>
                    <a:p>
                      <a:pPr algn="l">
                        <a:lnSpc>
                          <a:spcPct val="115000"/>
                        </a:lnSpc>
                        <a:spcBef>
                          <a:spcPts val="0"/>
                        </a:spcBef>
                        <a:spcAft>
                          <a:spcPts val="0"/>
                        </a:spcAft>
                      </a:pPr>
                      <a:r>
                        <a:rPr lang="ja" sz="800" dirty="0">
                          <a:solidFill>
                            <a:srgbClr val="121212"/>
                          </a:solidFill>
                          <a:latin typeface="游ゴシック" panose="020B0400000000000000" pitchFamily="50" charset="-128"/>
                          <a:ea typeface="游ゴシック" panose="020B0400000000000000" pitchFamily="50" charset="-128"/>
                        </a:rPr>
                        <a:t>AWS個別サービスの運用負荷。内部での運用可否。コストが合うか</a:t>
                      </a:r>
                    </a:p>
                  </a:txBody>
                  <a:tcPr marL="27000" marR="27000" marT="12700" marB="12700">
                    <a:noFill/>
                  </a:tcPr>
                </a:tc>
                <a:extLst>
                  <a:ext uri="{0D108BD9-81ED-4DB2-BD59-A6C34878D82A}">
                    <a16:rowId xmlns:a16="http://schemas.microsoft.com/office/drawing/2014/main" val="10004"/>
                  </a:ext>
                </a:extLst>
              </a:tr>
              <a:tr h="605790">
                <a:tc>
                  <a:txBody>
                    <a:bodyPr/>
                    <a:lstStyle/>
                    <a:p>
                      <a:pPr algn="l">
                        <a:lnSpc>
                          <a:spcPct val="115000"/>
                        </a:lnSpc>
                        <a:spcBef>
                          <a:spcPts val="0"/>
                        </a:spcBef>
                        <a:spcAft>
                          <a:spcPts val="0"/>
                        </a:spcAft>
                      </a:pPr>
                      <a:r>
                        <a:rPr lang="ja" sz="800" b="1" dirty="0">
                          <a:solidFill>
                            <a:srgbClr val="121212"/>
                          </a:solidFill>
                          <a:latin typeface="游ゴシック" panose="020B0400000000000000" pitchFamily="50" charset="-128"/>
                          <a:ea typeface="游ゴシック" panose="020B0400000000000000" pitchFamily="50" charset="-128"/>
                        </a:rPr>
                        <a:t>Hitachi</a:t>
                      </a:r>
                    </a:p>
                  </a:txBody>
                  <a:tcPr marL="27000" marR="27000" marT="12700" marB="12700">
                    <a:noFill/>
                  </a:tcPr>
                </a:tc>
                <a:tc>
                  <a:txBody>
                    <a:bodyPr/>
                    <a:lstStyle/>
                    <a:p>
                      <a:pPr algn="ctr">
                        <a:lnSpc>
                          <a:spcPct val="115000"/>
                        </a:lnSpc>
                        <a:spcBef>
                          <a:spcPts val="0"/>
                        </a:spcBef>
                        <a:spcAft>
                          <a:spcPts val="0"/>
                        </a:spcAft>
                      </a:pPr>
                      <a:r>
                        <a:rPr lang="ja" sz="800" b="1" dirty="0">
                          <a:solidFill>
                            <a:srgbClr val="B8860B"/>
                          </a:solidFill>
                          <a:latin typeface="游ゴシック" panose="020B0400000000000000" pitchFamily="50" charset="-128"/>
                          <a:ea typeface="游ゴシック" panose="020B0400000000000000" pitchFamily="50" charset="-128"/>
                        </a:rPr>
                        <a:t>コスト・工数次第</a:t>
                      </a:r>
                    </a:p>
                  </a:txBody>
                  <a:tcPr marL="27000" marR="27000" marT="12700" marB="12700">
                    <a:noFill/>
                  </a:tcPr>
                </a:tc>
                <a:tc>
                  <a:txBody>
                    <a:bodyPr/>
                    <a:lstStyle/>
                    <a:p>
                      <a:pPr algn="l">
                        <a:lnSpc>
                          <a:spcPct val="115000"/>
                        </a:lnSpc>
                        <a:spcBef>
                          <a:spcPts val="0"/>
                        </a:spcBef>
                        <a:spcAft>
                          <a:spcPts val="0"/>
                        </a:spcAft>
                      </a:pPr>
                      <a:r>
                        <a:rPr lang="ja-JP" altLang="en-US" sz="800" b="0" i="0" dirty="0">
                          <a:effectLst/>
                          <a:latin typeface="游ゴシック" panose="020B0400000000000000" pitchFamily="50" charset="-128"/>
                        </a:rPr>
                        <a:t>介護業界での</a:t>
                      </a:r>
                      <a:r>
                        <a:rPr lang="en" altLang="ja-JP" sz="800" b="0" i="0" dirty="0">
                          <a:effectLst/>
                          <a:latin typeface="游ゴシック" panose="020B0400000000000000" pitchFamily="50" charset="-128"/>
                        </a:rPr>
                        <a:t>Snowflake</a:t>
                      </a:r>
                      <a:r>
                        <a:rPr lang="ja-JP" altLang="en-US" sz="800" b="0" i="0" dirty="0">
                          <a:effectLst/>
                          <a:latin typeface="游ゴシック" panose="020B0400000000000000" pitchFamily="50" charset="-128"/>
                        </a:rPr>
                        <a:t>実績。</a:t>
                      </a:r>
                      <a:endParaRPr lang="en-US" altLang="ja-JP" sz="800" b="0" i="0" dirty="0">
                        <a:effectLst/>
                      </a:endParaRPr>
                    </a:p>
                    <a:p>
                      <a:pPr algn="l">
                        <a:lnSpc>
                          <a:spcPct val="115000"/>
                        </a:lnSpc>
                        <a:spcBef>
                          <a:spcPts val="0"/>
                        </a:spcBef>
                        <a:spcAft>
                          <a:spcPts val="0"/>
                        </a:spcAft>
                      </a:pPr>
                      <a:r>
                        <a:rPr lang="ja-JP" altLang="en-US" sz="800" b="0" i="0" dirty="0">
                          <a:effectLst/>
                        </a:rPr>
                        <a:t>データ分析民主化の育成計画が最も具体的。</a:t>
                      </a:r>
                      <a:endParaRPr lang="en-US" altLang="ja-JP" sz="800" b="0" i="0" dirty="0">
                        <a:effectLst/>
                      </a:endParaRPr>
                    </a:p>
                    <a:p>
                      <a:pPr algn="l">
                        <a:lnSpc>
                          <a:spcPct val="115000"/>
                        </a:lnSpc>
                        <a:spcBef>
                          <a:spcPts val="0"/>
                        </a:spcBef>
                        <a:spcAft>
                          <a:spcPts val="0"/>
                        </a:spcAft>
                      </a:pPr>
                      <a:r>
                        <a:rPr lang="en" altLang="ja-JP" sz="800" b="0" i="0" dirty="0">
                          <a:effectLst/>
                        </a:rPr>
                        <a:t>Snowflake</a:t>
                      </a:r>
                      <a:r>
                        <a:rPr lang="ja-JP" altLang="en-US" sz="800" b="0" i="0" dirty="0">
                          <a:effectLst/>
                        </a:rPr>
                        <a:t>のフルマネージドは少人数運用と相性が良い</a:t>
                      </a:r>
                      <a:endParaRPr lang="ja" sz="800" dirty="0">
                        <a:solidFill>
                          <a:srgbClr val="121212"/>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800" dirty="0">
                          <a:solidFill>
                            <a:srgbClr val="121212"/>
                          </a:solidFill>
                          <a:latin typeface="游ゴシック" panose="020B0400000000000000" pitchFamily="50" charset="-128"/>
                          <a:ea typeface="游ゴシック" panose="020B0400000000000000" pitchFamily="50" charset="-128"/>
                        </a:rPr>
                        <a:t>運用負荷の低さと業界理解・ユーザー育成は独自の価値</a:t>
                      </a:r>
                    </a:p>
                  </a:txBody>
                  <a:tcPr marL="27000" marR="27000" marT="12700" marB="12700">
                    <a:noFill/>
                  </a:tcPr>
                </a:tc>
                <a:tc>
                  <a:txBody>
                    <a:bodyPr/>
                    <a:lstStyle/>
                    <a:p>
                      <a:pPr algn="l">
                        <a:lnSpc>
                          <a:spcPct val="115000"/>
                        </a:lnSpc>
                        <a:spcBef>
                          <a:spcPts val="0"/>
                        </a:spcBef>
                        <a:spcAft>
                          <a:spcPts val="0"/>
                        </a:spcAft>
                      </a:pPr>
                      <a:r>
                        <a:rPr lang="ja" sz="800" dirty="0">
                          <a:solidFill>
                            <a:srgbClr val="121212"/>
                          </a:solidFill>
                          <a:latin typeface="游ゴシック" panose="020B0400000000000000" pitchFamily="50" charset="-128"/>
                          <a:ea typeface="游ゴシック" panose="020B0400000000000000" pitchFamily="50" charset="-128"/>
                        </a:rPr>
                        <a:t>PySpark全面書換えの工数・期間・費用。コスト試算。Databricks構成との比較判断材料</a:t>
                      </a:r>
                    </a:p>
                  </a:txBody>
                  <a:tcPr marL="27000" marR="27000" marT="12700" marB="12700">
                    <a:noFill/>
                  </a:tcPr>
                </a:tc>
                <a:extLst>
                  <a:ext uri="{0D108BD9-81ED-4DB2-BD59-A6C34878D82A}">
                    <a16:rowId xmlns:a16="http://schemas.microsoft.com/office/drawing/2014/main" val="10005"/>
                  </a:ext>
                </a:extLst>
              </a:tr>
              <a:tr h="605790">
                <a:tc>
                  <a:txBody>
                    <a:bodyPr/>
                    <a:lstStyle/>
                    <a:p>
                      <a:pPr algn="l">
                        <a:lnSpc>
                          <a:spcPct val="115000"/>
                        </a:lnSpc>
                        <a:spcBef>
                          <a:spcPts val="0"/>
                        </a:spcBef>
                        <a:spcAft>
                          <a:spcPts val="0"/>
                        </a:spcAft>
                      </a:pPr>
                      <a:r>
                        <a:rPr lang="ja" sz="800" b="1" dirty="0">
                          <a:solidFill>
                            <a:srgbClr val="121212"/>
                          </a:solidFill>
                          <a:latin typeface="游ゴシック" panose="020B0400000000000000" pitchFamily="50" charset="-128"/>
                          <a:ea typeface="游ゴシック" panose="020B0400000000000000" pitchFamily="50" charset="-128"/>
                        </a:rPr>
                        <a:t>SF</a:t>
                      </a:r>
                    </a:p>
                  </a:txBody>
                  <a:tcPr marL="27000" marR="27000" marT="12700" marB="12700">
                    <a:noFill/>
                  </a:tcPr>
                </a:tc>
                <a:tc>
                  <a:txBody>
                    <a:bodyPr/>
                    <a:lstStyle/>
                    <a:p>
                      <a:pPr algn="ctr">
                        <a:lnSpc>
                          <a:spcPct val="115000"/>
                        </a:lnSpc>
                        <a:spcBef>
                          <a:spcPts val="0"/>
                        </a:spcBef>
                        <a:spcAft>
                          <a:spcPts val="0"/>
                        </a:spcAft>
                      </a:pPr>
                      <a:r>
                        <a:rPr lang="ja" sz="800" b="1" dirty="0">
                          <a:solidFill>
                            <a:srgbClr val="DB5F5F"/>
                          </a:solidFill>
                          <a:latin typeface="游ゴシック" panose="020B0400000000000000" pitchFamily="50" charset="-128"/>
                          <a:ea typeface="游ゴシック" panose="020B0400000000000000" pitchFamily="50" charset="-128"/>
                        </a:rPr>
                        <a:t>除外</a:t>
                      </a:r>
                    </a:p>
                  </a:txBody>
                  <a:tcPr marL="27000" marR="27000" marT="12700" marB="12700">
                    <a:noFill/>
                  </a:tcPr>
                </a:tc>
                <a:tc>
                  <a:txBody>
                    <a:bodyPr/>
                    <a:lstStyle/>
                    <a:p>
                      <a:pPr algn="l">
                        <a:lnSpc>
                          <a:spcPct val="115000"/>
                        </a:lnSpc>
                        <a:spcBef>
                          <a:spcPts val="0"/>
                        </a:spcBef>
                        <a:spcAft>
                          <a:spcPts val="0"/>
                        </a:spcAft>
                      </a:pPr>
                      <a:r>
                        <a:rPr lang="en-US" altLang="ja" sz="800" dirty="0">
                          <a:solidFill>
                            <a:srgbClr val="121212"/>
                          </a:solidFill>
                          <a:latin typeface="游ゴシック" panose="020B0400000000000000" pitchFamily="50" charset="-128"/>
                          <a:ea typeface="游ゴシック" panose="020B0400000000000000" pitchFamily="50" charset="-128"/>
                        </a:rPr>
                        <a:t>CRM</a:t>
                      </a:r>
                      <a:r>
                        <a:rPr lang="ja-JP" altLang="en-US" sz="800" dirty="0">
                          <a:solidFill>
                            <a:srgbClr val="121212"/>
                          </a:solidFill>
                          <a:latin typeface="游ゴシック" panose="020B0400000000000000" pitchFamily="50" charset="-128"/>
                          <a:ea typeface="游ゴシック" panose="020B0400000000000000" pitchFamily="50" charset="-128"/>
                        </a:rPr>
                        <a:t>文脈では強い</a:t>
                      </a:r>
                      <a:endParaRPr lang="en-US" altLang="ja" sz="800" dirty="0">
                        <a:solidFill>
                          <a:srgbClr val="121212"/>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800" dirty="0">
                          <a:solidFill>
                            <a:srgbClr val="121212"/>
                          </a:solidFill>
                          <a:latin typeface="游ゴシック" panose="020B0400000000000000" pitchFamily="50" charset="-128"/>
                          <a:ea typeface="游ゴシック" panose="020B0400000000000000" pitchFamily="50" charset="-128"/>
                        </a:rPr>
                        <a:t>—</a:t>
                      </a:r>
                    </a:p>
                  </a:txBody>
                  <a:tcPr marL="27000" marR="27000" marT="12700" marB="12700">
                    <a:noFill/>
                  </a:tcPr>
                </a:tc>
                <a:tc>
                  <a:txBody>
                    <a:bodyPr/>
                    <a:lstStyle/>
                    <a:p>
                      <a:pPr algn="l">
                        <a:lnSpc>
                          <a:spcPct val="115000"/>
                        </a:lnSpc>
                        <a:spcBef>
                          <a:spcPts val="0"/>
                        </a:spcBef>
                        <a:spcAft>
                          <a:spcPts val="0"/>
                        </a:spcAft>
                      </a:pPr>
                      <a:r>
                        <a:rPr lang="ja" sz="800" dirty="0">
                          <a:solidFill>
                            <a:srgbClr val="121212"/>
                          </a:solidFill>
                          <a:latin typeface="游ゴシック" panose="020B0400000000000000" pitchFamily="50" charset="-128"/>
                          <a:ea typeface="游ゴシック" panose="020B0400000000000000" pitchFamily="50" charset="-128"/>
                        </a:rPr>
                        <a:t>コストがFoundry維持を上回る可能性が高い。BI専業でデータ基盤は別途必要</a:t>
                      </a:r>
                    </a:p>
                  </a:txBody>
                  <a:tcPr marL="27000" marR="27000" marT="12700" marB="12700">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49242342"/>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8">
          <a:extLst>
            <a:ext uri="{FF2B5EF4-FFF2-40B4-BE49-F238E27FC236}">
              <a16:creationId xmlns:a16="http://schemas.microsoft.com/office/drawing/2014/main" id="{04F58301-DF4E-1FC4-4F19-13FDC043DD76}"/>
            </a:ext>
          </a:extLst>
        </p:cNvPr>
        <p:cNvGrpSpPr/>
        <p:nvPr/>
      </p:nvGrpSpPr>
      <p:grpSpPr>
        <a:xfrm>
          <a:off x="0" y="0"/>
          <a:ext cx="0" cy="0"/>
          <a:chOff x="0" y="0"/>
          <a:chExt cx="0" cy="0"/>
        </a:xfrm>
      </p:grpSpPr>
      <p:sp>
        <p:nvSpPr>
          <p:cNvPr id="259" name="Google Shape;259;p10">
            <a:extLst>
              <a:ext uri="{FF2B5EF4-FFF2-40B4-BE49-F238E27FC236}">
                <a16:creationId xmlns:a16="http://schemas.microsoft.com/office/drawing/2014/main" id="{2DC5F97F-0267-30BE-59BE-D6050A26858C}"/>
              </a:ext>
            </a:extLst>
          </p:cNvPr>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2.</a:t>
            </a: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3</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 (参考) 6社RFI回答の</a:t>
            </a:r>
            <a:r>
              <a:rPr lang="ja-JP" altLang="en-US"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４要件評価</a:t>
            </a:r>
            <a:endParaRPr sz="1800" b="0" i="0" u="none" strike="noStrike" cap="none" dirty="0">
              <a:solidFill>
                <a:schemeClr val="dk1"/>
              </a:solidFill>
              <a:latin typeface="Calibri"/>
              <a:ea typeface="Calibri"/>
              <a:cs typeface="Calibri"/>
              <a:sym typeface="Calibri"/>
            </a:endParaRPr>
          </a:p>
        </p:txBody>
      </p:sp>
      <p:sp>
        <p:nvSpPr>
          <p:cNvPr id="260" name="Google Shape;260;p10">
            <a:extLst>
              <a:ext uri="{FF2B5EF4-FFF2-40B4-BE49-F238E27FC236}">
                <a16:creationId xmlns:a16="http://schemas.microsoft.com/office/drawing/2014/main" id="{DD56A70F-F843-6A01-E03B-23AE4EBC790A}"/>
              </a:ext>
            </a:extLst>
          </p:cNvPr>
          <p:cNvSpPr/>
          <p:nvPr/>
        </p:nvSpPr>
        <p:spPr>
          <a:xfrm>
            <a:off x="406301" y="575733"/>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ja" altLang="en-US" sz="1000" b="1" dirty="0">
                <a:solidFill>
                  <a:srgbClr val="777777"/>
                </a:solidFill>
                <a:latin typeface="游ゴシック" panose="020B0400000000000000" pitchFamily="50" charset="-128"/>
                <a:ea typeface="游ゴシック" panose="020B0400000000000000" pitchFamily="50" charset="-128"/>
              </a:rPr>
              <a:t>４</a:t>
            </a:r>
            <a:r>
              <a:rPr lang="ja-JP" altLang="en-US" sz="1000" b="1" dirty="0">
                <a:solidFill>
                  <a:srgbClr val="777777"/>
                </a:solidFill>
                <a:latin typeface="游ゴシック" panose="020B0400000000000000" pitchFamily="50" charset="-128"/>
                <a:ea typeface="游ゴシック" panose="020B0400000000000000" pitchFamily="50" charset="-128"/>
              </a:rPr>
              <a:t>要件で各社の</a:t>
            </a:r>
            <a:r>
              <a:rPr lang="en-US" altLang="ja-JP" sz="1000" b="1" dirty="0">
                <a:solidFill>
                  <a:srgbClr val="777777"/>
                </a:solidFill>
                <a:latin typeface="游ゴシック" panose="020B0400000000000000" pitchFamily="50" charset="-128"/>
                <a:ea typeface="游ゴシック" panose="020B0400000000000000" pitchFamily="50" charset="-128"/>
              </a:rPr>
              <a:t>RFI</a:t>
            </a:r>
            <a:r>
              <a:rPr lang="ja-JP" altLang="en-US" sz="1000" b="1" dirty="0">
                <a:solidFill>
                  <a:srgbClr val="777777"/>
                </a:solidFill>
                <a:latin typeface="游ゴシック" panose="020B0400000000000000" pitchFamily="50" charset="-128"/>
                <a:ea typeface="游ゴシック" panose="020B0400000000000000" pitchFamily="50" charset="-128"/>
              </a:rPr>
              <a:t>を評価</a:t>
            </a:r>
            <a:endParaRPr lang="ja" sz="1000" b="1" dirty="0">
              <a:solidFill>
                <a:srgbClr val="777777"/>
              </a:solidFill>
              <a:latin typeface="游ゴシック" panose="020B0400000000000000" pitchFamily="50" charset="-128"/>
              <a:ea typeface="游ゴシック" panose="020B0400000000000000" pitchFamily="50" charset="-128"/>
              <a:sym typeface="Arial"/>
            </a:endParaRPr>
          </a:p>
        </p:txBody>
      </p:sp>
      <p:cxnSp>
        <p:nvCxnSpPr>
          <p:cNvPr id="261" name="Google Shape;261;p10">
            <a:extLst>
              <a:ext uri="{FF2B5EF4-FFF2-40B4-BE49-F238E27FC236}">
                <a16:creationId xmlns:a16="http://schemas.microsoft.com/office/drawing/2014/main" id="{EC8ABBA6-5F59-A033-C651-03880311B3A4}"/>
              </a:ext>
            </a:extLst>
          </p:cNvPr>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262" name="Google Shape;262;p10">
            <a:extLst>
              <a:ext uri="{FF2B5EF4-FFF2-40B4-BE49-F238E27FC236}">
                <a16:creationId xmlns:a16="http://schemas.microsoft.com/office/drawing/2014/main" id="{7687D301-537A-AA52-F148-AB15BAA16010}"/>
              </a:ext>
            </a:extLst>
          </p:cNvPr>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6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00" b="0" i="0" u="none" strike="noStrike" cap="none" dirty="0">
              <a:solidFill>
                <a:schemeClr val="dk1"/>
              </a:solidFill>
              <a:latin typeface="Calibri"/>
              <a:ea typeface="Calibri"/>
              <a:cs typeface="Calibri"/>
              <a:sym typeface="Calibri"/>
            </a:endParaRPr>
          </a:p>
        </p:txBody>
      </p:sp>
      <p:sp>
        <p:nvSpPr>
          <p:cNvPr id="263" name="Google Shape;263;p10">
            <a:extLst>
              <a:ext uri="{FF2B5EF4-FFF2-40B4-BE49-F238E27FC236}">
                <a16:creationId xmlns:a16="http://schemas.microsoft.com/office/drawing/2014/main" id="{AEB5EF7F-1FD4-04F1-F01A-2F8F98E41C11}"/>
              </a:ext>
            </a:extLst>
          </p:cNvPr>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6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5</a:t>
            </a:r>
            <a:endParaRPr sz="500" b="0" i="0" u="none" strike="noStrike" cap="none" dirty="0">
              <a:solidFill>
                <a:schemeClr val="dk1"/>
              </a:solidFill>
              <a:latin typeface="Calibri"/>
              <a:ea typeface="Calibri"/>
              <a:cs typeface="Calibri"/>
              <a:sym typeface="Calibri"/>
            </a:endParaRPr>
          </a:p>
        </p:txBody>
      </p:sp>
      <p:graphicFrame>
        <p:nvGraphicFramePr>
          <p:cNvPr id="264" name="Google Shape;264;p10">
            <a:extLst>
              <a:ext uri="{FF2B5EF4-FFF2-40B4-BE49-F238E27FC236}">
                <a16:creationId xmlns:a16="http://schemas.microsoft.com/office/drawing/2014/main" id="{E2B5E56E-8966-CE85-E101-2BCBC73BB331}"/>
              </a:ext>
            </a:extLst>
          </p:cNvPr>
          <p:cNvGraphicFramePr/>
          <p:nvPr>
            <p:extLst>
              <p:ext uri="{D42A27DB-BD31-4B8C-83A1-F6EECF244321}">
                <p14:modId xmlns:p14="http://schemas.microsoft.com/office/powerpoint/2010/main" val="3255768917"/>
              </p:ext>
            </p:extLst>
          </p:nvPr>
        </p:nvGraphicFramePr>
        <p:xfrm>
          <a:off x="228600" y="939800"/>
          <a:ext cx="8763000" cy="3973467"/>
        </p:xfrm>
        <a:graphic>
          <a:graphicData uri="http://schemas.openxmlformats.org/drawingml/2006/table">
            <a:tbl>
              <a:tblPr firstRow="1" bandRow="1"/>
              <a:tblGrid>
                <a:gridCol w="508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841500">
                  <a:extLst>
                    <a:ext uri="{9D8B030D-6E8A-4147-A177-3AD203B41FA5}">
                      <a16:colId xmlns:a16="http://schemas.microsoft.com/office/drawing/2014/main" val="20002"/>
                    </a:ext>
                  </a:extLst>
                </a:gridCol>
                <a:gridCol w="1841500">
                  <a:extLst>
                    <a:ext uri="{9D8B030D-6E8A-4147-A177-3AD203B41FA5}">
                      <a16:colId xmlns:a16="http://schemas.microsoft.com/office/drawing/2014/main" val="20003"/>
                    </a:ext>
                  </a:extLst>
                </a:gridCol>
                <a:gridCol w="1841500">
                  <a:extLst>
                    <a:ext uri="{9D8B030D-6E8A-4147-A177-3AD203B41FA5}">
                      <a16:colId xmlns:a16="http://schemas.microsoft.com/office/drawing/2014/main" val="20004"/>
                    </a:ext>
                  </a:extLst>
                </a:gridCol>
                <a:gridCol w="1714500">
                  <a:extLst>
                    <a:ext uri="{9D8B030D-6E8A-4147-A177-3AD203B41FA5}">
                      <a16:colId xmlns:a16="http://schemas.microsoft.com/office/drawing/2014/main" val="20005"/>
                    </a:ext>
                  </a:extLst>
                </a:gridCol>
              </a:tblGrid>
              <a:tr h="254000">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会社</a:t>
                      </a:r>
                    </a:p>
                  </a:txBody>
                  <a:tcPr marL="27000" marR="27000" marT="12700" marB="12700">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提案基盤</a:t>
                      </a:r>
                    </a:p>
                  </a:txBody>
                  <a:tcPr marL="27000" marR="27000" marT="12700" marB="12700">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要件1: コスト</a:t>
                      </a:r>
                    </a:p>
                  </a:txBody>
                  <a:tcPr marL="27000" marR="27000" marT="12700" marB="12700">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要件2: 確実な移行</a:t>
                      </a:r>
                    </a:p>
                  </a:txBody>
                  <a:tcPr marL="27000" marR="27000" marT="12700" marB="12700">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要件3: 運用自走・ガバナンス</a:t>
                      </a:r>
                    </a:p>
                  </a:txBody>
                  <a:tcPr marL="27000" marR="27000" marT="12700" marB="12700">
                    <a:solidFill>
                      <a:srgbClr val="333333"/>
                    </a:solidFill>
                  </a:tcPr>
                </a:tc>
                <a:tc>
                  <a:txBody>
                    <a:bodyPr/>
                    <a:lstStyle/>
                    <a:p>
                      <a:pPr algn="ctr">
                        <a:lnSpc>
                          <a:spcPct val="115000"/>
                        </a:lnSpc>
                        <a:spcBef>
                          <a:spcPts val="0"/>
                        </a:spcBef>
                        <a:spcAft>
                          <a:spcPts val="0"/>
                        </a:spcAft>
                      </a:pPr>
                      <a:r>
                        <a:rPr lang="ja" sz="1000" b="1" dirty="0">
                          <a:solidFill>
                            <a:srgbClr val="FFFFFF"/>
                          </a:solidFill>
                          <a:latin typeface="游ゴシック" panose="020B0400000000000000" pitchFamily="50" charset="-128"/>
                          <a:ea typeface="游ゴシック" panose="020B0400000000000000" pitchFamily="50" charset="-128"/>
                        </a:rPr>
                        <a:t>要件4: AI拡張性</a:t>
                      </a:r>
                    </a:p>
                  </a:txBody>
                  <a:tcPr marL="27000" marR="27000" marT="12700" marB="12700">
                    <a:solidFill>
                      <a:srgbClr val="333333"/>
                    </a:solidFill>
                  </a:tcPr>
                </a:tc>
                <a:extLst>
                  <a:ext uri="{0D108BD9-81ED-4DB2-BD59-A6C34878D82A}">
                    <a16:rowId xmlns:a16="http://schemas.microsoft.com/office/drawing/2014/main" val="10000"/>
                  </a:ext>
                </a:extLst>
              </a:tr>
              <a:tr h="657034">
                <a:tc>
                  <a:txBody>
                    <a:bodyPr/>
                    <a:lstStyle/>
                    <a:p>
                      <a:pPr algn="l">
                        <a:lnSpc>
                          <a:spcPct val="115000"/>
                        </a:lnSpc>
                        <a:spcBef>
                          <a:spcPts val="0"/>
                        </a:spcBef>
                        <a:spcAft>
                          <a:spcPts val="0"/>
                        </a:spcAft>
                      </a:pPr>
                      <a:r>
                        <a:rPr lang="ja" sz="800" b="1" dirty="0">
                          <a:solidFill>
                            <a:srgbClr val="121212"/>
                          </a:solidFill>
                          <a:latin typeface="游ゴシック" panose="020B0400000000000000" pitchFamily="50" charset="-128"/>
                          <a:ea typeface="游ゴシック" panose="020B0400000000000000" pitchFamily="50" charset="-128"/>
                        </a:rPr>
                        <a:t>Deloitte</a:t>
                      </a:r>
                    </a:p>
                  </a:txBody>
                  <a:tcPr marL="27000" marR="27000" marT="12700" marB="12700">
                    <a:noFill/>
                  </a:tcPr>
                </a:tc>
                <a:tc>
                  <a:txBody>
                    <a:bodyPr/>
                    <a:lstStyle/>
                    <a:p>
                      <a:pPr algn="l">
                        <a:lnSpc>
                          <a:spcPct val="115000"/>
                        </a:lnSpc>
                        <a:spcBef>
                          <a:spcPts val="0"/>
                        </a:spcBef>
                        <a:spcAft>
                          <a:spcPts val="0"/>
                        </a:spcAft>
                      </a:pPr>
                      <a:r>
                        <a:rPr lang="ja" sz="800" dirty="0">
                          <a:solidFill>
                            <a:srgbClr val="121212"/>
                          </a:solidFill>
                          <a:latin typeface="游ゴシック" panose="020B0400000000000000" pitchFamily="50" charset="-128"/>
                          <a:ea typeface="游ゴシック" panose="020B0400000000000000" pitchFamily="50" charset="-128"/>
                        </a:rPr>
                        <a:t>Databricks on AWS</a:t>
                      </a:r>
                    </a:p>
                  </a:txBody>
                  <a:tcPr marL="27000" marR="27000" marT="12700" marB="12700">
                    <a:noFill/>
                  </a:tcPr>
                </a:tc>
                <a:tc>
                  <a:txBody>
                    <a:bodyPr/>
                    <a:lstStyle/>
                    <a:p>
                      <a:pPr algn="l">
                        <a:lnSpc>
                          <a:spcPct val="115000"/>
                        </a:lnSpc>
                        <a:spcBef>
                          <a:spcPts val="0"/>
                        </a:spcBef>
                        <a:spcAft>
                          <a:spcPts val="0"/>
                        </a:spcAft>
                      </a:pPr>
                      <a:r>
                        <a:rPr lang="ja" sz="800" dirty="0">
                          <a:solidFill>
                            <a:srgbClr val="3A7D44"/>
                          </a:solidFill>
                          <a:latin typeface="游ゴシック" panose="020B0400000000000000" pitchFamily="50" charset="-128"/>
                          <a:ea typeface="游ゴシック" panose="020B0400000000000000" pitchFamily="50" charset="-128"/>
                        </a:rPr>
                        <a:t>○ 唯一の具体的試算あり（年3,000万〜8,000万円）。</a:t>
                      </a:r>
                    </a:p>
                  </a:txBody>
                  <a:tcPr marL="27000" marR="27000" marT="12700" marB="12700">
                    <a:noFill/>
                  </a:tcPr>
                </a:tc>
                <a:tc>
                  <a:txBody>
                    <a:bodyPr/>
                    <a:lstStyle/>
                    <a:p>
                      <a:pPr algn="l">
                        <a:lnSpc>
                          <a:spcPct val="115000"/>
                        </a:lnSpc>
                        <a:spcBef>
                          <a:spcPts val="0"/>
                        </a:spcBef>
                        <a:spcAft>
                          <a:spcPts val="0"/>
                        </a:spcAft>
                      </a:pPr>
                      <a:r>
                        <a:rPr lang="ja" sz="800" dirty="0">
                          <a:solidFill>
                            <a:srgbClr val="3A7D44"/>
                          </a:solidFill>
                          <a:latin typeface="游ゴシック" panose="020B0400000000000000" pitchFamily="50" charset="-128"/>
                          <a:ea typeface="游ゴシック" panose="020B0400000000000000" pitchFamily="50" charset="-128"/>
                        </a:rPr>
                        <a:t>○ PySpark互換。12ヶ月の段階移行計画。移行アクセラレータ資産あり</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24/365グローバル運用体制だが、日本側の要員数・対応範囲が不明</a:t>
                      </a:r>
                      <a:endParaRPr lang="en-US" altLang="ja" sz="800" dirty="0">
                        <a:solidFill>
                          <a:srgbClr val="B8860B"/>
                        </a:solidFill>
                        <a:latin typeface="游ゴシック" panose="020B0400000000000000" pitchFamily="50" charset="-128"/>
                        <a:ea typeface="游ゴシック" panose="020B0400000000000000" pitchFamily="50" charset="-128"/>
                      </a:endParaRPr>
                    </a:p>
                    <a:p>
                      <a:pPr marL="0" marR="0" indent="0" algn="l" defTabSz="914400" eaLnBrk="1" fontAlgn="auto" latinLnBrk="0" hangingPunct="1">
                        <a:lnSpc>
                          <a:spcPct val="115000"/>
                        </a:lnSpc>
                        <a:spcBef>
                          <a:spcPts val="0"/>
                        </a:spcBef>
                        <a:spcAft>
                          <a:spcPts val="0"/>
                        </a:spcAft>
                        <a:buClrTx/>
                        <a:buSzTx/>
                        <a:buFontTx/>
                        <a:buNone/>
                        <a:tabLst/>
                        <a:defRPr/>
                      </a:pPr>
                      <a:r>
                        <a:rPr lang="en-US" altLang="ja" sz="800" dirty="0">
                          <a:solidFill>
                            <a:srgbClr val="B8860B"/>
                          </a:solidFill>
                          <a:latin typeface="游ゴシック" panose="020B0400000000000000" pitchFamily="50" charset="-128"/>
                          <a:ea typeface="游ゴシック" panose="020B0400000000000000" pitchFamily="50" charset="-128"/>
                        </a:rPr>
                        <a:t>AI/BI Genie</a:t>
                      </a:r>
                      <a:r>
                        <a:rPr lang="ja" altLang="en-US" sz="800" dirty="0">
                          <a:solidFill>
                            <a:srgbClr val="B8860B"/>
                          </a:solidFill>
                          <a:latin typeface="游ゴシック" panose="020B0400000000000000" pitchFamily="50" charset="-128"/>
                          <a:ea typeface="游ゴシック" panose="020B0400000000000000" pitchFamily="50" charset="-128"/>
                        </a:rPr>
                        <a:t>（</a:t>
                      </a:r>
                      <a:r>
                        <a:rPr lang="ja-JP" altLang="en-US" sz="800" dirty="0">
                          <a:solidFill>
                            <a:srgbClr val="B8860B"/>
                          </a:solidFill>
                          <a:latin typeface="游ゴシック" panose="020B0400000000000000" pitchFamily="50" charset="-128"/>
                          <a:ea typeface="游ゴシック" panose="020B0400000000000000" pitchFamily="50" charset="-128"/>
                        </a:rPr>
                        <a:t>自然言語クエリ）でセルフ分析を支援</a:t>
                      </a:r>
                      <a:endParaRPr lang="en-US" altLang="ja" sz="800" dirty="0">
                        <a:solidFill>
                          <a:srgbClr val="B8860B"/>
                        </a:solidFill>
                        <a:latin typeface="游ゴシック" panose="020B0400000000000000" pitchFamily="50" charset="-128"/>
                        <a:ea typeface="游ゴシック" panose="020B0400000000000000" pitchFamily="50" charset="-128"/>
                      </a:endParaRPr>
                    </a:p>
                    <a:p>
                      <a:pPr algn="l">
                        <a:lnSpc>
                          <a:spcPct val="115000"/>
                        </a:lnSpc>
                        <a:spcBef>
                          <a:spcPts val="0"/>
                        </a:spcBef>
                        <a:spcAft>
                          <a:spcPts val="0"/>
                        </a:spcAft>
                      </a:pPr>
                      <a:endParaRPr lang="ja" sz="800" dirty="0">
                        <a:solidFill>
                          <a:srgbClr val="B8860B"/>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800" dirty="0">
                          <a:solidFill>
                            <a:srgbClr val="3A7D44"/>
                          </a:solidFill>
                          <a:latin typeface="游ゴシック" panose="020B0400000000000000" pitchFamily="50" charset="-128"/>
                          <a:ea typeface="游ゴシック" panose="020B0400000000000000" pitchFamily="50" charset="-128"/>
                        </a:rPr>
                        <a:t>○ MosaicML、MLflow、AutoML、AI/BI Genie等を包括的にカバー</a:t>
                      </a:r>
                    </a:p>
                  </a:txBody>
                  <a:tcPr marL="27000" marR="27000" marT="12700" marB="12700">
                    <a:noFill/>
                  </a:tcPr>
                </a:tc>
                <a:extLst>
                  <a:ext uri="{0D108BD9-81ED-4DB2-BD59-A6C34878D82A}">
                    <a16:rowId xmlns:a16="http://schemas.microsoft.com/office/drawing/2014/main" val="10001"/>
                  </a:ext>
                </a:extLst>
              </a:tr>
              <a:tr h="615132">
                <a:tc>
                  <a:txBody>
                    <a:bodyPr/>
                    <a:lstStyle/>
                    <a:p>
                      <a:pPr algn="l">
                        <a:lnSpc>
                          <a:spcPct val="115000"/>
                        </a:lnSpc>
                        <a:spcBef>
                          <a:spcPts val="0"/>
                        </a:spcBef>
                        <a:spcAft>
                          <a:spcPts val="0"/>
                        </a:spcAft>
                      </a:pPr>
                      <a:r>
                        <a:rPr lang="ja" sz="800" b="1" dirty="0">
                          <a:solidFill>
                            <a:srgbClr val="121212"/>
                          </a:solidFill>
                          <a:latin typeface="游ゴシック" panose="020B0400000000000000" pitchFamily="50" charset="-128"/>
                          <a:ea typeface="游ゴシック" panose="020B0400000000000000" pitchFamily="50" charset="-128"/>
                        </a:rPr>
                        <a:t>Fujitsu</a:t>
                      </a:r>
                    </a:p>
                  </a:txBody>
                  <a:tcPr marL="27000" marR="27000" marT="12700" marB="12700">
                    <a:noFill/>
                  </a:tcPr>
                </a:tc>
                <a:tc>
                  <a:txBody>
                    <a:bodyPr/>
                    <a:lstStyle/>
                    <a:p>
                      <a:pPr algn="l">
                        <a:lnSpc>
                          <a:spcPct val="115000"/>
                        </a:lnSpc>
                        <a:spcBef>
                          <a:spcPts val="0"/>
                        </a:spcBef>
                        <a:spcAft>
                          <a:spcPts val="0"/>
                        </a:spcAft>
                      </a:pPr>
                      <a:r>
                        <a:rPr lang="ja" sz="800" dirty="0">
                          <a:solidFill>
                            <a:srgbClr val="121212"/>
                          </a:solidFill>
                          <a:latin typeface="游ゴシック" panose="020B0400000000000000" pitchFamily="50" charset="-128"/>
                          <a:ea typeface="游ゴシック" panose="020B0400000000000000" pitchFamily="50" charset="-128"/>
                        </a:rPr>
                        <a:t>DI Basic（Databricks + dbt Core on AWS）</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未提示。梅3,500万〜松8,000万円の初期費用と月額100万円〜のみ</a:t>
                      </a:r>
                    </a:p>
                  </a:txBody>
                  <a:tcPr marL="27000" marR="27000" marT="12700" marB="12700">
                    <a:noFill/>
                  </a:tcPr>
                </a:tc>
                <a:tc>
                  <a:txBody>
                    <a:bodyPr/>
                    <a:lstStyle/>
                    <a:p>
                      <a:pPr algn="l">
                        <a:lnSpc>
                          <a:spcPct val="115000"/>
                        </a:lnSpc>
                        <a:spcBef>
                          <a:spcPts val="0"/>
                        </a:spcBef>
                        <a:spcAft>
                          <a:spcPts val="0"/>
                        </a:spcAft>
                      </a:pPr>
                      <a:r>
                        <a:rPr lang="ja" sz="800" dirty="0">
                          <a:solidFill>
                            <a:srgbClr val="3A7D44"/>
                          </a:solidFill>
                          <a:latin typeface="游ゴシック" panose="020B0400000000000000" pitchFamily="50" charset="-128"/>
                          <a:ea typeface="游ゴシック" panose="020B0400000000000000" pitchFamily="50" charset="-128"/>
                        </a:rPr>
                        <a:t>○ PySpark互換。egaku運用経験者在籍で移行不確実性が最も低い。Ontology移行リスクを具体的に指摘</a:t>
                      </a:r>
                    </a:p>
                  </a:txBody>
                  <a:tcPr marL="27000" marR="27000" marT="12700" marB="12700">
                    <a:noFill/>
                  </a:tcPr>
                </a:tc>
                <a:tc>
                  <a:txBody>
                    <a:bodyPr/>
                    <a:lstStyle/>
                    <a:p>
                      <a:pPr marL="0" marR="0" indent="0" algn="l" defTabSz="914400" eaLnBrk="1" fontAlgn="auto" latinLnBrk="0" hangingPunct="1">
                        <a:lnSpc>
                          <a:spcPct val="115000"/>
                        </a:lnSpc>
                        <a:spcBef>
                          <a:spcPts val="0"/>
                        </a:spcBef>
                        <a:spcAft>
                          <a:spcPts val="0"/>
                        </a:spcAft>
                        <a:buClrTx/>
                        <a:buSzTx/>
                        <a:buFontTx/>
                        <a:buNone/>
                        <a:tabLst/>
                        <a:defRPr/>
                      </a:pPr>
                      <a:r>
                        <a:rPr lang="ja" sz="800" dirty="0">
                          <a:solidFill>
                            <a:srgbClr val="B8860B"/>
                          </a:solidFill>
                          <a:latin typeface="游ゴシック" panose="020B0400000000000000" pitchFamily="50" charset="-128"/>
                          <a:ea typeface="游ゴシック" panose="020B0400000000000000" pitchFamily="50" charset="-128"/>
                        </a:rPr>
                        <a:t>△ 社内チーム主導の運用モデル（ベンダーはヘルプデスク）。ガバナンス詳細が薄い</a:t>
                      </a:r>
                      <a:r>
                        <a:rPr lang="ja" altLang="en-US" sz="800" dirty="0">
                          <a:solidFill>
                            <a:srgbClr val="B8860B"/>
                          </a:solidFill>
                          <a:latin typeface="游ゴシック" panose="020B0400000000000000" pitchFamily="50" charset="-128"/>
                          <a:ea typeface="游ゴシック" panose="020B0400000000000000" pitchFamily="50" charset="-128"/>
                        </a:rPr>
                        <a:t>。</a:t>
                      </a:r>
                      <a:r>
                        <a:rPr lang="en" altLang="ja" sz="800" dirty="0">
                          <a:solidFill>
                            <a:srgbClr val="B8860B"/>
                          </a:solidFill>
                          <a:latin typeface="游ゴシック" panose="020B0400000000000000" pitchFamily="50" charset="-128"/>
                          <a:ea typeface="游ゴシック" panose="020B0400000000000000" pitchFamily="50" charset="-128"/>
                        </a:rPr>
                        <a:t>Tableau</a:t>
                      </a:r>
                      <a:r>
                        <a:rPr lang="ja-JP" altLang="en-US" sz="800" dirty="0">
                          <a:solidFill>
                            <a:srgbClr val="B8860B"/>
                          </a:solidFill>
                          <a:latin typeface="游ゴシック" panose="020B0400000000000000" pitchFamily="50" charset="-128"/>
                          <a:ea typeface="游ゴシック" panose="020B0400000000000000" pitchFamily="50" charset="-128"/>
                        </a:rPr>
                        <a:t>対応。</a:t>
                      </a:r>
                      <a:r>
                        <a:rPr lang="en" altLang="ja" sz="800" dirty="0">
                          <a:solidFill>
                            <a:srgbClr val="B8860B"/>
                          </a:solidFill>
                          <a:latin typeface="游ゴシック" panose="020B0400000000000000" pitchFamily="50" charset="-128"/>
                          <a:ea typeface="游ゴシック" panose="020B0400000000000000" pitchFamily="50" charset="-128"/>
                        </a:rPr>
                        <a:t>BI</a:t>
                      </a:r>
                      <a:r>
                        <a:rPr lang="ja-JP" altLang="en-US" sz="800" dirty="0">
                          <a:solidFill>
                            <a:srgbClr val="B8860B"/>
                          </a:solidFill>
                          <a:latin typeface="游ゴシック" panose="020B0400000000000000" pitchFamily="50" charset="-128"/>
                          <a:ea typeface="游ゴシック" panose="020B0400000000000000" pitchFamily="50" charset="-128"/>
                        </a:rPr>
                        <a:t>テンプレート提供で活用加速</a:t>
                      </a:r>
                      <a:endParaRPr lang="ja" sz="800" dirty="0">
                        <a:solidFill>
                          <a:srgbClr val="B8860B"/>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AI機能はKozuchi（富士通独自）中心。松プランのみ</a:t>
                      </a:r>
                    </a:p>
                  </a:txBody>
                  <a:tcPr marL="27000" marR="27000" marT="12700" marB="12700">
                    <a:noFill/>
                  </a:tcPr>
                </a:tc>
                <a:extLst>
                  <a:ext uri="{0D108BD9-81ED-4DB2-BD59-A6C34878D82A}">
                    <a16:rowId xmlns:a16="http://schemas.microsoft.com/office/drawing/2014/main" val="10002"/>
                  </a:ext>
                </a:extLst>
              </a:tr>
              <a:tr h="627961">
                <a:tc>
                  <a:txBody>
                    <a:bodyPr/>
                    <a:lstStyle/>
                    <a:p>
                      <a:pPr algn="l">
                        <a:lnSpc>
                          <a:spcPct val="115000"/>
                        </a:lnSpc>
                        <a:spcBef>
                          <a:spcPts val="0"/>
                        </a:spcBef>
                        <a:spcAft>
                          <a:spcPts val="0"/>
                        </a:spcAft>
                      </a:pPr>
                      <a:r>
                        <a:rPr lang="ja" sz="800" b="1" dirty="0">
                          <a:solidFill>
                            <a:srgbClr val="121212"/>
                          </a:solidFill>
                          <a:latin typeface="游ゴシック" panose="020B0400000000000000" pitchFamily="50" charset="-128"/>
                          <a:ea typeface="游ゴシック" panose="020B0400000000000000" pitchFamily="50" charset="-128"/>
                        </a:rPr>
                        <a:t>Sky</a:t>
                      </a:r>
                    </a:p>
                  </a:txBody>
                  <a:tcPr marL="27000" marR="27000" marT="12700" marB="12700">
                    <a:noFill/>
                  </a:tcPr>
                </a:tc>
                <a:tc>
                  <a:txBody>
                    <a:bodyPr/>
                    <a:lstStyle/>
                    <a:p>
                      <a:pPr algn="l">
                        <a:lnSpc>
                          <a:spcPct val="115000"/>
                        </a:lnSpc>
                        <a:spcBef>
                          <a:spcPts val="0"/>
                        </a:spcBef>
                        <a:spcAft>
                          <a:spcPts val="0"/>
                        </a:spcAft>
                      </a:pPr>
                      <a:r>
                        <a:rPr lang="ja" sz="800" dirty="0">
                          <a:solidFill>
                            <a:srgbClr val="121212"/>
                          </a:solidFill>
                          <a:latin typeface="游ゴシック" panose="020B0400000000000000" pitchFamily="50" charset="-128"/>
                          <a:ea typeface="游ゴシック" panose="020B0400000000000000" pitchFamily="50" charset="-128"/>
                        </a:rPr>
                        <a:t>AWS Native → Databricks段階移行</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明細型だがBI閲覧者50名前提（実態3,000名と乖離）。松プラン月$4,590</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松プランでPySpark互換。ただし段階移行（梅→竹→松）で互換性は後半。Foundry移行の具体策なし</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松プランでUnity Catalog対応。梅/竹ではガバナンスが限定的</a:t>
                      </a:r>
                      <a:endParaRPr lang="en-US" altLang="ja" sz="800" dirty="0">
                        <a:solidFill>
                          <a:srgbClr val="B8860B"/>
                        </a:solidFill>
                        <a:latin typeface="游ゴシック" panose="020B0400000000000000" pitchFamily="50" charset="-128"/>
                        <a:ea typeface="游ゴシック" panose="020B0400000000000000" pitchFamily="50" charset="-128"/>
                      </a:endParaRPr>
                    </a:p>
                    <a:p>
                      <a:pPr marL="0" marR="0" indent="0" algn="l" defTabSz="914400" eaLnBrk="1" fontAlgn="auto" latinLnBrk="0" hangingPunct="1">
                        <a:lnSpc>
                          <a:spcPct val="115000"/>
                        </a:lnSpc>
                        <a:spcBef>
                          <a:spcPts val="0"/>
                        </a:spcBef>
                        <a:spcAft>
                          <a:spcPts val="0"/>
                        </a:spcAft>
                        <a:buClrTx/>
                        <a:buSzTx/>
                        <a:buFontTx/>
                        <a:buNone/>
                        <a:tabLst/>
                        <a:defRPr/>
                      </a:pPr>
                      <a:r>
                        <a:rPr lang="en" altLang="ja" sz="800" dirty="0">
                          <a:solidFill>
                            <a:srgbClr val="B8860B"/>
                          </a:solidFill>
                          <a:latin typeface="游ゴシック" panose="020B0400000000000000" pitchFamily="50" charset="-128"/>
                          <a:ea typeface="游ゴシック" panose="020B0400000000000000" pitchFamily="50" charset="-128"/>
                        </a:rPr>
                        <a:t>Quick Suite</a:t>
                      </a:r>
                      <a:r>
                        <a:rPr lang="ja-JP" altLang="en-US" sz="800" dirty="0">
                          <a:solidFill>
                            <a:srgbClr val="B8860B"/>
                          </a:solidFill>
                          <a:latin typeface="游ゴシック" panose="020B0400000000000000" pitchFamily="50" charset="-128"/>
                          <a:ea typeface="游ゴシック" panose="020B0400000000000000" pitchFamily="50" charset="-128"/>
                        </a:rPr>
                        <a:t>で自然言語分析・レポート自動生成。ただし</a:t>
                      </a:r>
                      <a:r>
                        <a:rPr lang="en" altLang="ja" sz="800" dirty="0">
                          <a:solidFill>
                            <a:srgbClr val="B8860B"/>
                          </a:solidFill>
                          <a:latin typeface="游ゴシック" panose="020B0400000000000000" pitchFamily="50" charset="-128"/>
                          <a:ea typeface="游ゴシック" panose="020B0400000000000000" pitchFamily="50" charset="-128"/>
                        </a:rPr>
                        <a:t>Tableau</a:t>
                      </a:r>
                      <a:r>
                        <a:rPr lang="ja-JP" altLang="en-US" sz="800" dirty="0">
                          <a:solidFill>
                            <a:srgbClr val="B8860B"/>
                          </a:solidFill>
                          <a:latin typeface="游ゴシック" panose="020B0400000000000000" pitchFamily="50" charset="-128"/>
                          <a:ea typeface="游ゴシック" panose="020B0400000000000000" pitchFamily="50" charset="-128"/>
                        </a:rPr>
                        <a:t>非対応</a:t>
                      </a:r>
                      <a:endParaRPr lang="ja" sz="800" dirty="0">
                        <a:solidFill>
                          <a:srgbClr val="B8860B"/>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800" dirty="0">
                          <a:solidFill>
                            <a:srgbClr val="1565C0"/>
                          </a:solidFill>
                          <a:latin typeface="游ゴシック" panose="020B0400000000000000" pitchFamily="50" charset="-128"/>
                          <a:ea typeface="游ゴシック" panose="020B0400000000000000" pitchFamily="50" charset="-128"/>
                        </a:rPr>
                        <a:t>◎ Mosaic AI + MLflow + Agent Bricks + Genie。AI-Ready Data Platformとして体系化。最も具体的</a:t>
                      </a:r>
                    </a:p>
                  </a:txBody>
                  <a:tcPr marL="27000" marR="27000" marT="12700" marB="12700">
                    <a:noFill/>
                  </a:tcPr>
                </a:tc>
                <a:extLst>
                  <a:ext uri="{0D108BD9-81ED-4DB2-BD59-A6C34878D82A}">
                    <a16:rowId xmlns:a16="http://schemas.microsoft.com/office/drawing/2014/main" val="10003"/>
                  </a:ext>
                </a:extLst>
              </a:tr>
              <a:tr h="683046">
                <a:tc>
                  <a:txBody>
                    <a:bodyPr/>
                    <a:lstStyle/>
                    <a:p>
                      <a:pPr algn="l">
                        <a:lnSpc>
                          <a:spcPct val="115000"/>
                        </a:lnSpc>
                        <a:spcBef>
                          <a:spcPts val="0"/>
                        </a:spcBef>
                        <a:spcAft>
                          <a:spcPts val="0"/>
                        </a:spcAft>
                      </a:pPr>
                      <a:r>
                        <a:rPr lang="ja" sz="800" b="1" dirty="0">
                          <a:solidFill>
                            <a:srgbClr val="121212"/>
                          </a:solidFill>
                          <a:latin typeface="游ゴシック" panose="020B0400000000000000" pitchFamily="50" charset="-128"/>
                          <a:ea typeface="游ゴシック" panose="020B0400000000000000" pitchFamily="50" charset="-128"/>
                        </a:rPr>
                        <a:t>PwC</a:t>
                      </a:r>
                    </a:p>
                  </a:txBody>
                  <a:tcPr marL="27000" marR="27000" marT="12700" marB="12700">
                    <a:noFill/>
                  </a:tcPr>
                </a:tc>
                <a:tc>
                  <a:txBody>
                    <a:bodyPr/>
                    <a:lstStyle/>
                    <a:p>
                      <a:pPr algn="l">
                        <a:lnSpc>
                          <a:spcPct val="115000"/>
                        </a:lnSpc>
                        <a:spcBef>
                          <a:spcPts val="0"/>
                        </a:spcBef>
                        <a:spcAft>
                          <a:spcPts val="0"/>
                        </a:spcAft>
                      </a:pPr>
                      <a:r>
                        <a:rPr lang="ja" sz="800" dirty="0">
                          <a:solidFill>
                            <a:srgbClr val="121212"/>
                          </a:solidFill>
                          <a:latin typeface="游ゴシック" panose="020B0400000000000000" pitchFamily="50" charset="-128"/>
                          <a:ea typeface="游ゴシック" panose="020B0400000000000000" pitchFamily="50" charset="-128"/>
                        </a:rPr>
                        <a:t>AWS Native（S3 + Glue + Redshift）</a:t>
                      </a:r>
                    </a:p>
                  </a:txBody>
                  <a:tcPr marL="27000" marR="27000" marT="12700" marB="12700">
                    <a:noFill/>
                  </a:tcPr>
                </a:tc>
                <a:tc>
                  <a:txBody>
                    <a:bodyPr/>
                    <a:lstStyle/>
                    <a:p>
                      <a:pPr algn="l">
                        <a:lnSpc>
                          <a:spcPct val="115000"/>
                        </a:lnSpc>
                        <a:spcBef>
                          <a:spcPts val="0"/>
                        </a:spcBef>
                        <a:spcAft>
                          <a:spcPts val="0"/>
                        </a:spcAft>
                      </a:pPr>
                      <a:r>
                        <a:rPr lang="ja" sz="800" dirty="0">
                          <a:solidFill>
                            <a:srgbClr val="3A7D44"/>
                          </a:solidFill>
                          <a:latin typeface="游ゴシック" panose="020B0400000000000000" pitchFamily="50" charset="-128"/>
                          <a:ea typeface="游ゴシック" panose="020B0400000000000000" pitchFamily="50" charset="-128"/>
                        </a:rPr>
                        <a:t>○ 明確（Step2初期1.6〜2.3億、年間2,400万円）</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Glue上でPySpark動作可能だが、移行の具体策なし。ユーザー作成レポートはスコープ外</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ガバナンス・マスターデータ管理の設計は最も体系的。一方でAWS個別サービスの運用負荷が高い</a:t>
                      </a:r>
                      <a:endParaRPr lang="en-US" altLang="ja" sz="800" dirty="0">
                        <a:solidFill>
                          <a:srgbClr val="B8860B"/>
                        </a:solidFill>
                        <a:latin typeface="游ゴシック" panose="020B0400000000000000" pitchFamily="50" charset="-128"/>
                        <a:ea typeface="游ゴシック" panose="020B0400000000000000" pitchFamily="50" charset="-128"/>
                      </a:endParaRPr>
                    </a:p>
                    <a:p>
                      <a:pPr marL="0" marR="0" indent="0" algn="l" defTabSz="914400" eaLnBrk="1" fontAlgn="auto" latinLnBrk="0" hangingPunct="1">
                        <a:lnSpc>
                          <a:spcPct val="115000"/>
                        </a:lnSpc>
                        <a:spcBef>
                          <a:spcPts val="0"/>
                        </a:spcBef>
                        <a:spcAft>
                          <a:spcPts val="0"/>
                        </a:spcAft>
                        <a:buClrTx/>
                        <a:buSzTx/>
                        <a:buFontTx/>
                        <a:buNone/>
                        <a:tabLst/>
                        <a:defRPr/>
                      </a:pPr>
                      <a:r>
                        <a:rPr lang="en" altLang="ja" sz="800" dirty="0">
                          <a:solidFill>
                            <a:srgbClr val="B8860B"/>
                          </a:solidFill>
                          <a:latin typeface="游ゴシック" panose="020B0400000000000000" pitchFamily="50" charset="-128"/>
                          <a:ea typeface="游ゴシック" panose="020B0400000000000000" pitchFamily="50" charset="-128"/>
                        </a:rPr>
                        <a:t>Tableau</a:t>
                      </a:r>
                      <a:r>
                        <a:rPr lang="ja-JP" altLang="en-US" sz="800" dirty="0">
                          <a:solidFill>
                            <a:srgbClr val="B8860B"/>
                          </a:solidFill>
                          <a:latin typeface="游ゴシック" panose="020B0400000000000000" pitchFamily="50" charset="-128"/>
                          <a:ea typeface="游ゴシック" panose="020B0400000000000000" pitchFamily="50" charset="-128"/>
                        </a:rPr>
                        <a:t>推奨。</a:t>
                      </a:r>
                      <a:r>
                        <a:rPr lang="en" altLang="ja" sz="800" dirty="0">
                          <a:solidFill>
                            <a:srgbClr val="B8860B"/>
                          </a:solidFill>
                          <a:latin typeface="游ゴシック" panose="020B0400000000000000" pitchFamily="50" charset="-128"/>
                          <a:ea typeface="游ゴシック" panose="020B0400000000000000" pitchFamily="50" charset="-128"/>
                        </a:rPr>
                        <a:t>Step2</a:t>
                      </a:r>
                      <a:r>
                        <a:rPr lang="ja-JP" altLang="en-US" sz="800" dirty="0">
                          <a:solidFill>
                            <a:srgbClr val="B8860B"/>
                          </a:solidFill>
                          <a:latin typeface="游ゴシック" panose="020B0400000000000000" pitchFamily="50" charset="-128"/>
                          <a:ea typeface="游ゴシック" panose="020B0400000000000000" pitchFamily="50" charset="-128"/>
                        </a:rPr>
                        <a:t>でセルフ</a:t>
                      </a:r>
                      <a:r>
                        <a:rPr lang="en" altLang="ja" sz="800" dirty="0">
                          <a:solidFill>
                            <a:srgbClr val="B8860B"/>
                          </a:solidFill>
                          <a:latin typeface="游ゴシック" panose="020B0400000000000000" pitchFamily="50" charset="-128"/>
                          <a:ea typeface="游ゴシック" panose="020B0400000000000000" pitchFamily="50" charset="-128"/>
                        </a:rPr>
                        <a:t>BI</a:t>
                      </a:r>
                      <a:r>
                        <a:rPr lang="ja-JP" altLang="en-US" sz="800" dirty="0">
                          <a:solidFill>
                            <a:srgbClr val="B8860B"/>
                          </a:solidFill>
                          <a:latin typeface="游ゴシック" panose="020B0400000000000000" pitchFamily="50" charset="-128"/>
                          <a:ea typeface="游ゴシック" panose="020B0400000000000000" pitchFamily="50" charset="-128"/>
                        </a:rPr>
                        <a:t>環境整備</a:t>
                      </a:r>
                      <a:endParaRPr lang="ja" sz="800" dirty="0">
                        <a:solidFill>
                          <a:srgbClr val="B8860B"/>
                        </a:solidFill>
                        <a:latin typeface="游ゴシック" panose="020B0400000000000000" pitchFamily="50" charset="-128"/>
                        <a:ea typeface="游ゴシック" panose="020B0400000000000000" pitchFamily="50" charset="-128"/>
                      </a:endParaRPr>
                    </a:p>
                  </a:txBody>
                  <a:tcPr marL="27000" marR="27000" marT="12700" marB="12700">
                    <a:noFill/>
                  </a:tcPr>
                </a:tc>
                <a:tc>
                  <a:txBody>
                    <a:bodyPr/>
                    <a:lstStyle/>
                    <a:p>
                      <a:pPr algn="l">
                        <a:lnSpc>
                          <a:spcPct val="115000"/>
                        </a:lnSpc>
                        <a:spcBef>
                          <a:spcPts val="0"/>
                        </a:spcBef>
                        <a:spcAft>
                          <a:spcPts val="0"/>
                        </a:spcAft>
                      </a:pPr>
                      <a:r>
                        <a:rPr lang="ja" sz="800" dirty="0">
                          <a:solidFill>
                            <a:srgbClr val="DB5F5F"/>
                          </a:solidFill>
                          <a:latin typeface="游ゴシック" panose="020B0400000000000000" pitchFamily="50" charset="-128"/>
                          <a:ea typeface="游ゴシック" panose="020B0400000000000000" pitchFamily="50" charset="-128"/>
                        </a:rPr>
                        <a:t>× Step1/2にAI機能なし。Step3のみ</a:t>
                      </a:r>
                    </a:p>
                  </a:txBody>
                  <a:tcPr marL="27000" marR="27000" marT="12700" marB="12700">
                    <a:noFill/>
                  </a:tcPr>
                </a:tc>
                <a:extLst>
                  <a:ext uri="{0D108BD9-81ED-4DB2-BD59-A6C34878D82A}">
                    <a16:rowId xmlns:a16="http://schemas.microsoft.com/office/drawing/2014/main" val="10004"/>
                  </a:ext>
                </a:extLst>
              </a:tr>
              <a:tr h="518160">
                <a:tc>
                  <a:txBody>
                    <a:bodyPr/>
                    <a:lstStyle/>
                    <a:p>
                      <a:pPr algn="l">
                        <a:lnSpc>
                          <a:spcPct val="115000"/>
                        </a:lnSpc>
                        <a:spcBef>
                          <a:spcPts val="0"/>
                        </a:spcBef>
                        <a:spcAft>
                          <a:spcPts val="0"/>
                        </a:spcAft>
                      </a:pPr>
                      <a:r>
                        <a:rPr lang="ja" sz="800" b="1" dirty="0">
                          <a:solidFill>
                            <a:srgbClr val="121212"/>
                          </a:solidFill>
                          <a:latin typeface="游ゴシック" panose="020B0400000000000000" pitchFamily="50" charset="-128"/>
                          <a:ea typeface="游ゴシック" panose="020B0400000000000000" pitchFamily="50" charset="-128"/>
                        </a:rPr>
                        <a:t>Hitachi</a:t>
                      </a:r>
                    </a:p>
                  </a:txBody>
                  <a:tcPr marL="27000" marR="27000" marT="12700" marB="12700">
                    <a:noFill/>
                  </a:tcPr>
                </a:tc>
                <a:tc>
                  <a:txBody>
                    <a:bodyPr/>
                    <a:lstStyle/>
                    <a:p>
                      <a:pPr algn="l">
                        <a:lnSpc>
                          <a:spcPct val="115000"/>
                        </a:lnSpc>
                        <a:spcBef>
                          <a:spcPts val="0"/>
                        </a:spcBef>
                        <a:spcAft>
                          <a:spcPts val="0"/>
                        </a:spcAft>
                      </a:pPr>
                      <a:r>
                        <a:rPr lang="ja" sz="800" dirty="0">
                          <a:solidFill>
                            <a:srgbClr val="121212"/>
                          </a:solidFill>
                          <a:latin typeface="游ゴシック" panose="020B0400000000000000" pitchFamily="50" charset="-128"/>
                          <a:ea typeface="游ゴシック" panose="020B0400000000000000" pitchFamily="50" charset="-128"/>
                        </a:rPr>
                        <a:t>Snowflake + HULFT Square</a:t>
                      </a:r>
                    </a:p>
                  </a:txBody>
                  <a:tcPr marL="27000" marR="27000" marT="12700" marB="12700">
                    <a:noFill/>
                  </a:tcPr>
                </a:tc>
                <a:tc>
                  <a:txBody>
                    <a:bodyPr/>
                    <a:lstStyle/>
                    <a:p>
                      <a:pPr algn="l">
                        <a:lnSpc>
                          <a:spcPct val="115000"/>
                        </a:lnSpc>
                        <a:spcBef>
                          <a:spcPts val="0"/>
                        </a:spcBef>
                        <a:spcAft>
                          <a:spcPts val="0"/>
                        </a:spcAft>
                      </a:pPr>
                      <a:r>
                        <a:rPr lang="ja" sz="800" dirty="0">
                          <a:solidFill>
                            <a:srgbClr val="DB5F5F"/>
                          </a:solidFill>
                          <a:latin typeface="游ゴシック" panose="020B0400000000000000" pitchFamily="50" charset="-128"/>
                          <a:ea typeface="游ゴシック" panose="020B0400000000000000" pitchFamily="50" charset="-128"/>
                        </a:rPr>
                        <a:t>× 未提示（製薬会社の参考事例のみ）</a:t>
                      </a:r>
                    </a:p>
                  </a:txBody>
                  <a:tcPr marL="27000" marR="27000" marT="12700" marB="12700">
                    <a:noFill/>
                  </a:tcPr>
                </a:tc>
                <a:tc>
                  <a:txBody>
                    <a:bodyPr/>
                    <a:lstStyle/>
                    <a:p>
                      <a:pPr algn="l">
                        <a:lnSpc>
                          <a:spcPct val="115000"/>
                        </a:lnSpc>
                        <a:spcBef>
                          <a:spcPts val="0"/>
                        </a:spcBef>
                        <a:spcAft>
                          <a:spcPts val="0"/>
                        </a:spcAft>
                      </a:pPr>
                      <a:r>
                        <a:rPr lang="ja" sz="800" dirty="0">
                          <a:solidFill>
                            <a:srgbClr val="DB5F5F"/>
                          </a:solidFill>
                          <a:latin typeface="游ゴシック" panose="020B0400000000000000" pitchFamily="50" charset="-128"/>
                          <a:ea typeface="游ゴシック" panose="020B0400000000000000" pitchFamily="50" charset="-128"/>
                        </a:rPr>
                        <a:t>× PySpark全面書換え（Snowpark）が必要。移行工数が読めない</a:t>
                      </a:r>
                    </a:p>
                  </a:txBody>
                  <a:tcPr marL="27000" marR="27000" marT="12700" marB="12700">
                    <a:noFill/>
                  </a:tcPr>
                </a:tc>
                <a:tc>
                  <a:txBody>
                    <a:bodyPr/>
                    <a:lstStyle/>
                    <a:p>
                      <a:pPr algn="l">
                        <a:lnSpc>
                          <a:spcPct val="115000"/>
                        </a:lnSpc>
                        <a:spcBef>
                          <a:spcPts val="0"/>
                        </a:spcBef>
                        <a:spcAft>
                          <a:spcPts val="0"/>
                        </a:spcAft>
                      </a:pPr>
                      <a:r>
                        <a:rPr lang="ja" sz="800" dirty="0">
                          <a:solidFill>
                            <a:srgbClr val="3A7D44"/>
                          </a:solidFill>
                          <a:latin typeface="游ゴシック" panose="020B0400000000000000" pitchFamily="50" charset="-128"/>
                          <a:ea typeface="游ゴシック" panose="020B0400000000000000" pitchFamily="50" charset="-128"/>
                        </a:rPr>
                        <a:t>○ Snowflakeはフルマネージドで運用負荷が極めて低い。データ分析民主化の育成計画が最も具体的。HIPAA準拠</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DataRobot + Cortex AI。機能はあるがSnowflake内で完結</a:t>
                      </a:r>
                    </a:p>
                  </a:txBody>
                  <a:tcPr marL="27000" marR="27000" marT="12700" marB="12700">
                    <a:noFill/>
                  </a:tcPr>
                </a:tc>
                <a:extLst>
                  <a:ext uri="{0D108BD9-81ED-4DB2-BD59-A6C34878D82A}">
                    <a16:rowId xmlns:a16="http://schemas.microsoft.com/office/drawing/2014/main" val="10005"/>
                  </a:ext>
                </a:extLst>
              </a:tr>
              <a:tr h="518160">
                <a:tc>
                  <a:txBody>
                    <a:bodyPr/>
                    <a:lstStyle/>
                    <a:p>
                      <a:pPr algn="l">
                        <a:lnSpc>
                          <a:spcPct val="115000"/>
                        </a:lnSpc>
                        <a:spcBef>
                          <a:spcPts val="0"/>
                        </a:spcBef>
                        <a:spcAft>
                          <a:spcPts val="0"/>
                        </a:spcAft>
                      </a:pPr>
                      <a:r>
                        <a:rPr lang="ja" sz="800" b="1" dirty="0">
                          <a:solidFill>
                            <a:srgbClr val="121212"/>
                          </a:solidFill>
                          <a:latin typeface="游ゴシック" panose="020B0400000000000000" pitchFamily="50" charset="-128"/>
                          <a:ea typeface="游ゴシック" panose="020B0400000000000000" pitchFamily="50" charset="-128"/>
                        </a:rPr>
                        <a:t>SF</a:t>
                      </a:r>
                    </a:p>
                  </a:txBody>
                  <a:tcPr marL="27000" marR="27000" marT="12700" marB="12700">
                    <a:noFill/>
                  </a:tcPr>
                </a:tc>
                <a:tc>
                  <a:txBody>
                    <a:bodyPr/>
                    <a:lstStyle/>
                    <a:p>
                      <a:pPr algn="l">
                        <a:lnSpc>
                          <a:spcPct val="115000"/>
                        </a:lnSpc>
                        <a:spcBef>
                          <a:spcPts val="0"/>
                        </a:spcBef>
                        <a:spcAft>
                          <a:spcPts val="0"/>
                        </a:spcAft>
                      </a:pPr>
                      <a:r>
                        <a:rPr lang="ja" sz="800" dirty="0">
                          <a:solidFill>
                            <a:srgbClr val="121212"/>
                          </a:solidFill>
                          <a:latin typeface="游ゴシック" panose="020B0400000000000000" pitchFamily="50" charset="-128"/>
                          <a:ea typeface="游ゴシック" panose="020B0400000000000000" pitchFamily="50" charset="-128"/>
                        </a:rPr>
                        <a:t>Tableau Cloud + Data 360</a:t>
                      </a:r>
                    </a:p>
                  </a:txBody>
                  <a:tcPr marL="27000" marR="27000" marT="12700" marB="12700">
                    <a:noFill/>
                  </a:tcPr>
                </a:tc>
                <a:tc>
                  <a:txBody>
                    <a:bodyPr/>
                    <a:lstStyle/>
                    <a:p>
                      <a:pPr algn="l">
                        <a:lnSpc>
                          <a:spcPct val="115000"/>
                        </a:lnSpc>
                        <a:spcBef>
                          <a:spcPts val="0"/>
                        </a:spcBef>
                        <a:spcAft>
                          <a:spcPts val="0"/>
                        </a:spcAft>
                      </a:pPr>
                      <a:r>
                        <a:rPr lang="ja" sz="800" dirty="0">
                          <a:solidFill>
                            <a:srgbClr val="DB5F5F"/>
                          </a:solidFill>
                          <a:latin typeface="游ゴシック" panose="020B0400000000000000" pitchFamily="50" charset="-128"/>
                          <a:ea typeface="游ゴシック" panose="020B0400000000000000" pitchFamily="50" charset="-128"/>
                        </a:rPr>
                        <a:t>×× 梅でも年6,500万円、松は年2.48億円</a:t>
                      </a:r>
                    </a:p>
                  </a:txBody>
                  <a:tcPr marL="27000" marR="27000" marT="12700" marB="12700">
                    <a:noFill/>
                  </a:tcPr>
                </a:tc>
                <a:tc>
                  <a:txBody>
                    <a:bodyPr/>
                    <a:lstStyle/>
                    <a:p>
                      <a:pPr algn="l">
                        <a:lnSpc>
                          <a:spcPct val="115000"/>
                        </a:lnSpc>
                        <a:spcBef>
                          <a:spcPts val="0"/>
                        </a:spcBef>
                        <a:spcAft>
                          <a:spcPts val="0"/>
                        </a:spcAft>
                      </a:pPr>
                      <a:r>
                        <a:rPr lang="ja" sz="800" dirty="0">
                          <a:solidFill>
                            <a:srgbClr val="DB5F5F"/>
                          </a:solidFill>
                          <a:latin typeface="游ゴシック" panose="020B0400000000000000" pitchFamily="50" charset="-128"/>
                          <a:ea typeface="游ゴシック" panose="020B0400000000000000" pitchFamily="50" charset="-128"/>
                        </a:rPr>
                        <a:t>× データ基盤なし（BI専業）。PySpark非対応</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SaaS型でBI運用負荷は低いが、データ基盤の運用は別途必要</a:t>
                      </a:r>
                    </a:p>
                  </a:txBody>
                  <a:tcPr marL="27000" marR="27000" marT="12700" marB="12700">
                    <a:noFill/>
                  </a:tcPr>
                </a:tc>
                <a:tc>
                  <a:txBody>
                    <a:bodyPr/>
                    <a:lstStyle/>
                    <a:p>
                      <a:pPr algn="l">
                        <a:lnSpc>
                          <a:spcPct val="115000"/>
                        </a:lnSpc>
                        <a:spcBef>
                          <a:spcPts val="0"/>
                        </a:spcBef>
                        <a:spcAft>
                          <a:spcPts val="0"/>
                        </a:spcAft>
                      </a:pPr>
                      <a:r>
                        <a:rPr lang="ja" sz="800" dirty="0">
                          <a:solidFill>
                            <a:srgbClr val="B8860B"/>
                          </a:solidFill>
                          <a:latin typeface="游ゴシック" panose="020B0400000000000000" pitchFamily="50" charset="-128"/>
                          <a:ea typeface="游ゴシック" panose="020B0400000000000000" pitchFamily="50" charset="-128"/>
                        </a:rPr>
                        <a:t>△ 松プランのData 360でBYOM対応。ただし松プランのみ</a:t>
                      </a:r>
                    </a:p>
                  </a:txBody>
                  <a:tcPr marL="27000" marR="27000" marT="12700" marB="12700">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42934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0"/>
        <p:cNvGrpSpPr/>
        <p:nvPr/>
      </p:nvGrpSpPr>
      <p:grpSpPr>
        <a:xfrm>
          <a:off x="0" y="0"/>
          <a:ext cx="0" cy="0"/>
          <a:chOff x="0" y="0"/>
          <a:chExt cx="0" cy="0"/>
        </a:xfrm>
      </p:grpSpPr>
      <p:sp>
        <p:nvSpPr>
          <p:cNvPr id="271" name="Google Shape;271;p11"/>
          <p:cNvSpPr/>
          <p:nvPr/>
        </p:nvSpPr>
        <p:spPr>
          <a:xfrm>
            <a:off x="406301" y="228600"/>
            <a:ext cx="8498026"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2.</a:t>
            </a: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4</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 (参考) 6社RFI回答のレビュー (AI</a:t>
            </a:r>
            <a:r>
              <a:rPr lang="ja-JP" altLang="en-US" sz="1800" b="1" dirty="0">
                <a:solidFill>
                  <a:srgbClr val="121212"/>
                </a:solidFill>
                <a:latin typeface="游ゴシック" panose="020B0400000000000000" pitchFamily="50" charset="-128"/>
                <a:ea typeface="游ゴシック" panose="020B0400000000000000" pitchFamily="50" charset="-128"/>
                <a:cs typeface="Century Gothic"/>
                <a:sym typeface="Century Gothic"/>
              </a:rPr>
              <a:t>活用における優先</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観点)</a:t>
            </a:r>
            <a:endParaRPr sz="1800" b="0" i="0" u="none" strike="noStrike" cap="none" dirty="0">
              <a:solidFill>
                <a:schemeClr val="dk1"/>
              </a:solidFill>
              <a:latin typeface="Calibri"/>
              <a:ea typeface="Calibri"/>
              <a:cs typeface="Calibri"/>
              <a:sym typeface="Calibri"/>
            </a:endParaRPr>
          </a:p>
        </p:txBody>
      </p:sp>
      <p:sp>
        <p:nvSpPr>
          <p:cNvPr id="272" name="Google Shape;272;p11"/>
          <p:cNvSpPr/>
          <p:nvPr/>
        </p:nvSpPr>
        <p:spPr>
          <a:xfrm>
            <a:off x="406301" y="609600"/>
            <a:ext cx="8498026" cy="1714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77777"/>
              </a:buClr>
              <a:buSzPts val="1000"/>
              <a:buFont typeface="Century Gothic"/>
              <a:buNone/>
            </a:pPr>
            <a:r>
              <a:rPr lang="ja"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評価観点に照らし、AI観点で6社のRFI回答を評価する</a:t>
            </a:r>
            <a:endParaRPr sz="1000" b="0" i="0" u="none" strike="noStrike" cap="none" dirty="0">
              <a:solidFill>
                <a:schemeClr val="dk1"/>
              </a:solidFill>
              <a:latin typeface="Calibri"/>
              <a:ea typeface="Calibri"/>
              <a:cs typeface="Calibri"/>
              <a:sym typeface="Calibri"/>
            </a:endParaRPr>
          </a:p>
        </p:txBody>
      </p:sp>
      <p:cxnSp>
        <p:nvCxnSpPr>
          <p:cNvPr id="273" name="Google Shape;273;p11"/>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274" name="Google Shape;274;p11"/>
          <p:cNvSpPr/>
          <p:nvPr/>
        </p:nvSpPr>
        <p:spPr>
          <a:xfrm>
            <a:off x="406301" y="4930825"/>
            <a:ext cx="194006" cy="857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275" name="Google Shape;275;p11"/>
          <p:cNvSpPr/>
          <p:nvPr/>
        </p:nvSpPr>
        <p:spPr>
          <a:xfrm>
            <a:off x="8132564" y="4930825"/>
            <a:ext cx="617238" cy="857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5</a:t>
            </a:r>
            <a:endParaRPr sz="550" b="0" i="0" u="none" strike="noStrike" cap="none" dirty="0">
              <a:solidFill>
                <a:schemeClr val="dk1"/>
              </a:solidFill>
              <a:latin typeface="Calibri"/>
              <a:ea typeface="Calibri"/>
              <a:cs typeface="Calibri"/>
              <a:sym typeface="Calibri"/>
            </a:endParaRPr>
          </a:p>
        </p:txBody>
      </p:sp>
      <p:graphicFrame>
        <p:nvGraphicFramePr>
          <p:cNvPr id="276" name="Google Shape;276;p11"/>
          <p:cNvGraphicFramePr/>
          <p:nvPr>
            <p:extLst>
              <p:ext uri="{D42A27DB-BD31-4B8C-83A1-F6EECF244321}">
                <p14:modId xmlns:p14="http://schemas.microsoft.com/office/powerpoint/2010/main" val="2704753446"/>
              </p:ext>
            </p:extLst>
          </p:nvPr>
        </p:nvGraphicFramePr>
        <p:xfrm>
          <a:off x="406400" y="877824"/>
          <a:ext cx="8331175" cy="3323555"/>
        </p:xfrm>
        <a:graphic>
          <a:graphicData uri="http://schemas.openxmlformats.org/drawingml/2006/table">
            <a:tbl>
              <a:tblPr>
                <a:noFill/>
                <a:tableStyleId>{831F8A93-CA79-4AF6-B420-68E9A51CCC31}</a:tableStyleId>
              </a:tblPr>
              <a:tblGrid>
                <a:gridCol w="418700">
                  <a:extLst>
                    <a:ext uri="{9D8B030D-6E8A-4147-A177-3AD203B41FA5}">
                      <a16:colId xmlns:a16="http://schemas.microsoft.com/office/drawing/2014/main" val="20000"/>
                    </a:ext>
                  </a:extLst>
                </a:gridCol>
                <a:gridCol w="837375">
                  <a:extLst>
                    <a:ext uri="{9D8B030D-6E8A-4147-A177-3AD203B41FA5}">
                      <a16:colId xmlns:a16="http://schemas.microsoft.com/office/drawing/2014/main" val="20001"/>
                    </a:ext>
                  </a:extLst>
                </a:gridCol>
                <a:gridCol w="1160225">
                  <a:extLst>
                    <a:ext uri="{9D8B030D-6E8A-4147-A177-3AD203B41FA5}">
                      <a16:colId xmlns:a16="http://schemas.microsoft.com/office/drawing/2014/main" val="20002"/>
                    </a:ext>
                  </a:extLst>
                </a:gridCol>
                <a:gridCol w="1160225">
                  <a:extLst>
                    <a:ext uri="{9D8B030D-6E8A-4147-A177-3AD203B41FA5}">
                      <a16:colId xmlns:a16="http://schemas.microsoft.com/office/drawing/2014/main" val="20003"/>
                    </a:ext>
                  </a:extLst>
                </a:gridCol>
                <a:gridCol w="1160225">
                  <a:extLst>
                    <a:ext uri="{9D8B030D-6E8A-4147-A177-3AD203B41FA5}">
                      <a16:colId xmlns:a16="http://schemas.microsoft.com/office/drawing/2014/main" val="20004"/>
                    </a:ext>
                  </a:extLst>
                </a:gridCol>
                <a:gridCol w="1160225">
                  <a:extLst>
                    <a:ext uri="{9D8B030D-6E8A-4147-A177-3AD203B41FA5}">
                      <a16:colId xmlns:a16="http://schemas.microsoft.com/office/drawing/2014/main" val="20005"/>
                    </a:ext>
                  </a:extLst>
                </a:gridCol>
                <a:gridCol w="1160225">
                  <a:extLst>
                    <a:ext uri="{9D8B030D-6E8A-4147-A177-3AD203B41FA5}">
                      <a16:colId xmlns:a16="http://schemas.microsoft.com/office/drawing/2014/main" val="20006"/>
                    </a:ext>
                  </a:extLst>
                </a:gridCol>
                <a:gridCol w="1273975">
                  <a:extLst>
                    <a:ext uri="{9D8B030D-6E8A-4147-A177-3AD203B41FA5}">
                      <a16:colId xmlns:a16="http://schemas.microsoft.com/office/drawing/2014/main" val="20007"/>
                    </a:ext>
                  </a:extLst>
                </a:gridCol>
              </a:tblGrid>
              <a:tr h="381000">
                <a:tc>
                  <a:txBody>
                    <a:bodyPr/>
                    <a:lstStyle/>
                    <a:p>
                      <a:pPr marL="0" marR="0" lvl="0" indent="0" algn="l" rtl="0">
                        <a:lnSpc>
                          <a:spcPct val="100000"/>
                        </a:lnSpc>
                        <a:spcBef>
                          <a:spcPts val="0"/>
                        </a:spcBef>
                        <a:spcAft>
                          <a:spcPts val="0"/>
                        </a:spcAft>
                        <a:buClr>
                          <a:srgbClr val="FFFFFF"/>
                        </a:buClr>
                        <a:buSzPts val="6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要件</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2D2D2D"/>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評価項目</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2D2D2D"/>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Deloitte</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Fujitsu</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PwC</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Hitachi</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SF</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Sky</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extLst>
                  <a:ext uri="{0D108BD9-81ED-4DB2-BD59-A6C34878D82A}">
                    <a16:rowId xmlns:a16="http://schemas.microsoft.com/office/drawing/2014/main" val="10000"/>
                  </a:ext>
                </a:extLst>
              </a:tr>
              <a:tr h="483775">
                <a:tc>
                  <a:txBody>
                    <a:bodyPr/>
                    <a:lstStyle/>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要件</a:t>
                      </a:r>
                      <a:r>
                        <a:rPr lang="en-US" altLang="ja-JP" sz="800" b="1" u="none" strike="noStrike" cap="none" dirty="0">
                          <a:solidFill>
                            <a:srgbClr val="5298BA"/>
                          </a:solidFill>
                          <a:latin typeface="游ゴシック" panose="020B0400000000000000" pitchFamily="50" charset="-128"/>
                          <a:cs typeface="Arial"/>
                          <a:sym typeface="Arial"/>
                        </a:rPr>
                        <a:t>3</a:t>
                      </a:r>
                    </a:p>
                    <a:p>
                      <a:pPr marL="0" marR="0" lvl="0" indent="0" algn="ctr" rtl="0">
                        <a:lnSpc>
                          <a:spcPct val="100000"/>
                        </a:lnSpc>
                        <a:spcBef>
                          <a:spcPts val="0"/>
                        </a:spcBef>
                        <a:spcAft>
                          <a:spcPts val="0"/>
                        </a:spcAft>
                        <a:buClr>
                          <a:srgbClr val="5298BA"/>
                        </a:buClr>
                        <a:buSzPts val="600"/>
                        <a:buFont typeface="Arial"/>
                        <a:buNone/>
                      </a:pPr>
                      <a:r>
                        <a:rPr lang="en-US" sz="800" b="1" u="none" strike="noStrike" cap="none" dirty="0" err="1">
                          <a:solidFill>
                            <a:srgbClr val="5298BA"/>
                          </a:solidFill>
                          <a:latin typeface="游ゴシック" panose="020B0400000000000000" pitchFamily="50" charset="-128"/>
                          <a:cs typeface="Arial"/>
                          <a:sym typeface="Arial"/>
                        </a:rPr>
                        <a:t>AI拡張</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非構造化</a:t>
                      </a:r>
                      <a:endParaRPr sz="800" u="none" strike="noStrike" cap="none" dirty="0"/>
                    </a:p>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データ対応</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Unity Catalog</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+OpenSearch</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DI Basic内</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具体設計なし</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Step3先送り</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Document AI</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+Cortex Search</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Data 360</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松プラン限定</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AI Functions+RAG</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+AI-OCR</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83775">
                <a:tc>
                  <a:txBody>
                    <a:bodyPr/>
                    <a:lstStyle/>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要件</a:t>
                      </a: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2</a:t>
                      </a:r>
                      <a:endParaRPr lang="en-US" alt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endParaRPr>
                    </a:p>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cs typeface="Arial"/>
                          <a:sym typeface="Arial"/>
                        </a:rPr>
                        <a:t>運用</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カタログ</a:t>
                      </a:r>
                      <a:endParaRPr sz="800" u="none" strike="noStrike" cap="none" dirty="0"/>
                    </a:p>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・リネージ</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Unity Catalog</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自動リネージ+品質</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Unity Catalog</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DI Basic内蔵</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DataZone</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リネージ+MDM</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Snowflake内蔵</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専用カタログなし</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Data 360</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松プラン限定</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Unity Catalog</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松プランのみ</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83775">
                <a:tc>
                  <a:txBody>
                    <a:bodyPr/>
                    <a:lstStyle/>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要件</a:t>
                      </a:r>
                      <a:r>
                        <a:rPr lang="en-US" altLang="ja-JP"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2</a:t>
                      </a:r>
                      <a:endPar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endParaRPr>
                    </a:p>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cs typeface="Arial"/>
                          <a:sym typeface="Arial"/>
                        </a:rPr>
                        <a:t>運用</a:t>
                      </a:r>
                      <a:endParaRPr lang="ja-JP" altLang="en-US"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権限管理</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Unity Catalog</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RLS+列マスキング</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DI Basic内</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具体設計なし</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IAM+Cognito</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RLS対応</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Snowflake RLS</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+マスキング</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Trust Layer</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RLS+CRLS</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IAM（梅竹）</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Unity Catalog RLS（松）</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83775">
                <a:tc>
                  <a:txBody>
                    <a:bodyPr/>
                    <a:lstStyle/>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要件</a:t>
                      </a:r>
                      <a:r>
                        <a:rPr lang="en-US" altLang="ja-JP" sz="800" b="1" u="none" strike="noStrike" cap="none" dirty="0">
                          <a:solidFill>
                            <a:srgbClr val="5298BA"/>
                          </a:solidFill>
                          <a:latin typeface="游ゴシック" panose="020B0400000000000000" pitchFamily="50" charset="-128"/>
                          <a:cs typeface="Arial"/>
                          <a:sym typeface="Arial"/>
                        </a:rPr>
                        <a:t>3</a:t>
                      </a:r>
                    </a:p>
                    <a:p>
                      <a:pPr marL="0" marR="0" lvl="0" indent="0" algn="ctr" rtl="0">
                        <a:lnSpc>
                          <a:spcPct val="100000"/>
                        </a:lnSpc>
                        <a:spcBef>
                          <a:spcPts val="0"/>
                        </a:spcBef>
                        <a:spcAft>
                          <a:spcPts val="0"/>
                        </a:spcAft>
                        <a:buClr>
                          <a:srgbClr val="5298BA"/>
                        </a:buClr>
                        <a:buSzPts val="600"/>
                        <a:buFont typeface="Arial"/>
                        <a:buNone/>
                      </a:pPr>
                      <a:r>
                        <a:rPr lang="en" altLang="ja-JP" sz="800" b="1" u="none" strike="noStrike" cap="none" dirty="0">
                          <a:solidFill>
                            <a:srgbClr val="5298BA"/>
                          </a:solidFill>
                          <a:latin typeface="游ゴシック" panose="020B0400000000000000" pitchFamily="50" charset="-128"/>
                          <a:cs typeface="Arial"/>
                          <a:sym typeface="Arial"/>
                        </a:rPr>
                        <a:t>AI</a:t>
                      </a:r>
                      <a:r>
                        <a:rPr lang="ja-JP" altLang="en-US" sz="800" b="1" u="none" strike="noStrike" cap="none" dirty="0">
                          <a:solidFill>
                            <a:srgbClr val="5298BA"/>
                          </a:solidFill>
                          <a:latin typeface="游ゴシック" panose="020B0400000000000000" pitchFamily="50" charset="-128"/>
                          <a:cs typeface="Arial"/>
                          <a:sym typeface="Arial"/>
                        </a:rPr>
                        <a:t>拡張</a:t>
                      </a:r>
                      <a:endParaRPr lang="ja-JP" altLang="en-US"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rPr>
                        <a:t>AI開発</a:t>
                      </a: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ロックイン</a:t>
                      </a:r>
                      <a:endParaRPr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Delta Lake/MLflow</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rPr>
                        <a:t>aws構成での</a:t>
                      </a:r>
                      <a:endParaRPr sz="800" u="none" strike="noStrike" cap="none" dirty="0">
                        <a:solidFill>
                          <a:srgbClr val="B8860B"/>
                        </a:solidFill>
                      </a:endParaRPr>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Dify依存に注意</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 AI層がKozuchi</a:t>
                      </a:r>
                      <a:endParaRPr sz="800" u="none" strike="noStrike" cap="none" dirty="0"/>
                    </a:p>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独自依存度大</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AWS標準サービス</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移行先あり</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Snowflake内部形式</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移行時は書直し</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 SF閉域</a:t>
                      </a:r>
                      <a:endParaRPr sz="800" u="none" strike="noStrike" cap="none" dirty="0"/>
                    </a:p>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全面作直しリスク</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Delta Lake</a:t>
                      </a:r>
                      <a:endParaRPr sz="800" u="none" strike="noStrike" cap="none" dirty="0"/>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+Databricks（松）</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83775">
                <a:tc>
                  <a:txBody>
                    <a:bodyPr/>
                    <a:lstStyle/>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要件</a:t>
                      </a:r>
                      <a:r>
                        <a:rPr lang="en-US" altLang="ja-JP" sz="800" b="1" u="none" strike="noStrike" cap="none" dirty="0">
                          <a:solidFill>
                            <a:srgbClr val="5298BA"/>
                          </a:solidFill>
                          <a:latin typeface="游ゴシック" panose="020B0400000000000000" pitchFamily="50" charset="-128"/>
                          <a:cs typeface="Arial"/>
                          <a:sym typeface="Arial"/>
                        </a:rPr>
                        <a:t>3</a:t>
                      </a:r>
                    </a:p>
                    <a:p>
                      <a:pPr marL="0" marR="0" lvl="0" indent="0" algn="ctr" rtl="0">
                        <a:lnSpc>
                          <a:spcPct val="100000"/>
                        </a:lnSpc>
                        <a:spcBef>
                          <a:spcPts val="0"/>
                        </a:spcBef>
                        <a:spcAft>
                          <a:spcPts val="0"/>
                        </a:spcAft>
                        <a:buClr>
                          <a:srgbClr val="5298BA"/>
                        </a:buClr>
                        <a:buSzPts val="600"/>
                        <a:buFont typeface="Arial"/>
                        <a:buNone/>
                      </a:pPr>
                      <a:r>
                        <a:rPr lang="en" altLang="ja-JP" sz="800" b="1" u="none" strike="noStrike" cap="none" dirty="0">
                          <a:solidFill>
                            <a:srgbClr val="5298BA"/>
                          </a:solidFill>
                          <a:latin typeface="游ゴシック" panose="020B0400000000000000" pitchFamily="50" charset="-128"/>
                          <a:cs typeface="Arial"/>
                          <a:sym typeface="Arial"/>
                        </a:rPr>
                        <a:t>AI</a:t>
                      </a:r>
                      <a:r>
                        <a:rPr lang="ja-JP" altLang="en-US" sz="800" b="1" u="none" strike="noStrike" cap="none" dirty="0">
                          <a:solidFill>
                            <a:srgbClr val="5298BA"/>
                          </a:solidFill>
                          <a:latin typeface="游ゴシック" panose="020B0400000000000000" pitchFamily="50" charset="-128"/>
                          <a:cs typeface="Arial"/>
                          <a:sym typeface="Arial"/>
                        </a:rPr>
                        <a:t>拡張</a:t>
                      </a:r>
                      <a:endParaRPr lang="ja-JP" altLang="en-US"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マルチLLM</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a:t>
                      </a:r>
                      <a:r>
                        <a:rPr lang="ja" sz="800" u="none" strike="noStrike" cap="none" dirty="0">
                          <a:solidFill>
                            <a:srgbClr val="3A7D44"/>
                          </a:solidFill>
                        </a:rPr>
                        <a:t>databricks</a:t>
                      </a: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経由</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3A7D44"/>
                          </a:solidFill>
                        </a:rPr>
                        <a:t>GPT/Claude/Llama等</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 Kozuchi/Takane</a:t>
                      </a:r>
                      <a:endParaRPr sz="800" u="none" strike="noStrike" cap="none" dirty="0"/>
                    </a:p>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独自LLM</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a:t>
                      </a: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Bedrock前提</a:t>
                      </a:r>
                      <a:endParaRPr sz="800" u="none" strike="noStrike" cap="none" dirty="0">
                        <a:solidFill>
                          <a:srgbClr val="B8860B"/>
                        </a:solidFill>
                      </a:endParaRPr>
                    </a:p>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マルチLLM可能</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a:t>
                      </a: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Cortex経由</a:t>
                      </a:r>
                      <a:endParaRPr sz="800" u="none" strike="noStrike" cap="none" dirty="0">
                        <a:solidFill>
                          <a:srgbClr val="3A7D44"/>
                        </a:solidFill>
                      </a:endParaRPr>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3A7D44"/>
                          </a:solidFill>
                        </a:rPr>
                        <a:t>GPT/</a:t>
                      </a: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Claude/Llama等</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 Einstein独自</a:t>
                      </a:r>
                      <a:endParaRPr sz="800" u="none" strike="noStrike" cap="none" dirty="0"/>
                    </a:p>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SF内で完結</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a:t>
                      </a:r>
                      <a:r>
                        <a:rPr lang="ja" sz="800" u="none" strike="noStrike" cap="none" dirty="0">
                          <a:solidFill>
                            <a:srgbClr val="3A7D44"/>
                          </a:solidFill>
                        </a:rPr>
                        <a:t>databricks経由</a:t>
                      </a:r>
                      <a:endParaRPr sz="800" u="none" strike="noStrike" cap="none" dirty="0"/>
                    </a:p>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3A7D44"/>
                          </a:solidFill>
                        </a:rPr>
                        <a:t>GPT/Claude/Llama等</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83775">
                <a:tc>
                  <a:txBody>
                    <a:bodyPr/>
                    <a:lstStyle/>
                    <a:p>
                      <a:pPr marL="0" marR="0" lvl="0" indent="0" algn="ctr" rtl="0">
                        <a:lnSpc>
                          <a:spcPct val="100000"/>
                        </a:lnSpc>
                        <a:spcBef>
                          <a:spcPts val="0"/>
                        </a:spcBef>
                        <a:spcAft>
                          <a:spcPts val="0"/>
                        </a:spcAft>
                        <a:buClr>
                          <a:srgbClr val="5298BA"/>
                        </a:buClr>
                        <a:buSzPts val="600"/>
                        <a:buFont typeface="Arial"/>
                        <a:buNone/>
                      </a:pPr>
                      <a:r>
                        <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要件</a:t>
                      </a:r>
                      <a:r>
                        <a:rPr lang="en-US" altLang="ja-JP" sz="800" b="1" u="none" strike="noStrike" cap="none" dirty="0">
                          <a:solidFill>
                            <a:srgbClr val="5298BA"/>
                          </a:solidFill>
                          <a:latin typeface="游ゴシック" panose="020B0400000000000000" pitchFamily="50" charset="-128"/>
                          <a:cs typeface="Arial"/>
                          <a:sym typeface="Arial"/>
                        </a:rPr>
                        <a:t>3</a:t>
                      </a:r>
                    </a:p>
                    <a:p>
                      <a:pPr marL="0" marR="0" lvl="0" indent="0" algn="ctr" rtl="0">
                        <a:lnSpc>
                          <a:spcPct val="100000"/>
                        </a:lnSpc>
                        <a:spcBef>
                          <a:spcPts val="0"/>
                        </a:spcBef>
                        <a:spcAft>
                          <a:spcPts val="0"/>
                        </a:spcAft>
                        <a:buClr>
                          <a:srgbClr val="5298BA"/>
                        </a:buClr>
                        <a:buSzPts val="600"/>
                        <a:buFont typeface="Arial"/>
                        <a:buNone/>
                      </a:pPr>
                      <a:r>
                        <a:rPr lang="en" altLang="ja-JP" sz="800" b="1" u="none" strike="noStrike" cap="none" dirty="0">
                          <a:solidFill>
                            <a:srgbClr val="5298BA"/>
                          </a:solidFill>
                          <a:latin typeface="游ゴシック" panose="020B0400000000000000" pitchFamily="50" charset="-128"/>
                          <a:cs typeface="Arial"/>
                          <a:sym typeface="Arial"/>
                        </a:rPr>
                        <a:t>AI</a:t>
                      </a:r>
                      <a:r>
                        <a:rPr lang="ja-JP" altLang="en-US" sz="800" b="1" u="none" strike="noStrike" cap="none" dirty="0">
                          <a:solidFill>
                            <a:srgbClr val="5298BA"/>
                          </a:solidFill>
                          <a:latin typeface="游ゴシック" panose="020B0400000000000000" pitchFamily="50" charset="-128"/>
                          <a:cs typeface="Arial"/>
                          <a:sym typeface="Arial"/>
                        </a:rPr>
                        <a:t>拡張</a:t>
                      </a:r>
                      <a:endParaRPr lang="ja-JP" altLang="en-US"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121212"/>
                        </a:buClr>
                        <a:buSzPts val="700"/>
                        <a:buFont typeface="Arial"/>
                        <a:buNone/>
                      </a:pPr>
                      <a:r>
                        <a:rPr lang="ja"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rPr>
                        <a:t>AI/ML開発環境・ 将来拡張性</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Agentic AI構成図</a:t>
                      </a:r>
                      <a:b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MLflow+Registry</a:t>
                      </a:r>
                      <a:b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Dev/Stg/Prod分離</a:t>
                      </a:r>
                      <a:b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Notebook統合環境</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DI Basic内蔵</a:t>
                      </a:r>
                      <a:b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詳細不明</a:t>
                      </a:r>
                      <a:b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環境分離の具体設計なし</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 AI/MLは将来検討扱い</a:t>
                      </a:r>
                      <a:b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実験環境の提案なし</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 DataRobot MLOps</a:t>
                      </a:r>
                      <a:b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Snowflake内で完結</a:t>
                      </a:r>
                      <a:b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B8860B"/>
                          </a:solidFill>
                          <a:latin typeface="游ゴシック" panose="020B0400000000000000" pitchFamily="50" charset="-128"/>
                          <a:ea typeface="游ゴシック" panose="020B0400000000000000" pitchFamily="50" charset="-128"/>
                          <a:cs typeface="Arial"/>
                          <a:sym typeface="Arial"/>
                        </a:rPr>
                        <a:t>環境分離方法不明</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DB5F5F"/>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 松プランのみ</a:t>
                      </a:r>
                      <a:b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Einstein Studio</a:t>
                      </a:r>
                      <a:b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DB5F5F"/>
                          </a:solidFill>
                          <a:latin typeface="游ゴシック" panose="020B0400000000000000" pitchFamily="50" charset="-128"/>
                          <a:ea typeface="游ゴシック" panose="020B0400000000000000" pitchFamily="50" charset="-128"/>
                          <a:cs typeface="Arial"/>
                          <a:sym typeface="Arial"/>
                        </a:rPr>
                        <a:t>独自閉域環境</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3A7D44"/>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 Mosaic AI+MLflow</a:t>
                      </a:r>
                      <a:b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Agent Bricks</a:t>
                      </a:r>
                      <a:b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梅竹松で段階的環境提供</a:t>
                      </a:r>
                      <a:b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br>
                      <a:r>
                        <a:rPr lang="ja" sz="800" u="none" strike="noStrike" cap="none" dirty="0">
                          <a:solidFill>
                            <a:srgbClr val="3A7D44"/>
                          </a:solidFill>
                          <a:latin typeface="游ゴシック" panose="020B0400000000000000" pitchFamily="50" charset="-128"/>
                          <a:ea typeface="游ゴシック" panose="020B0400000000000000" pitchFamily="50" charset="-128"/>
                          <a:cs typeface="Arial"/>
                          <a:sym typeface="Arial"/>
                        </a:rPr>
                        <a:t>松でSandbox設計あり</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sp>
        <p:nvSpPr>
          <p:cNvPr id="277" name="Google Shape;277;p11"/>
          <p:cNvSpPr txBox="1"/>
          <p:nvPr/>
        </p:nvSpPr>
        <p:spPr>
          <a:xfrm>
            <a:off x="406400" y="4224925"/>
            <a:ext cx="8331200" cy="660400"/>
          </a:xfrm>
          <a:prstGeom prst="rect">
            <a:avLst/>
          </a:prstGeom>
          <a:noFill/>
          <a:ln>
            <a:noFill/>
          </a:ln>
        </p:spPr>
        <p:txBody>
          <a:bodyPr spcFirstLastPara="1" wrap="square" lIns="36000" tIns="18000" rIns="36000" bIns="18000" anchor="t"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rgbClr val="333333"/>
                </a:solidFill>
                <a:latin typeface="游ゴシック" panose="020B0400000000000000" pitchFamily="50" charset="-128"/>
                <a:ea typeface="游ゴシック" panose="020B0400000000000000" pitchFamily="50" charset="-128"/>
                <a:sym typeface="Arial"/>
              </a:rPr>
              <a:t>補足: AI開発ロックインの評価基準</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a:p>
            <a:pPr marL="72000" marR="0" lvl="0" indent="-72000" algn="l" rtl="0">
              <a:lnSpc>
                <a:spcPct val="100000"/>
              </a:lnSpc>
              <a:spcBef>
                <a:spcPts val="50"/>
              </a:spcBef>
              <a:spcAft>
                <a:spcPts val="0"/>
              </a:spcAft>
              <a:buClr>
                <a:srgbClr val="000000"/>
              </a:buClr>
              <a:buSzPts val="800"/>
              <a:buFont typeface="Arial"/>
              <a:buNone/>
            </a:pPr>
            <a:r>
              <a:rPr lang="ja" sz="800" b="0" i="0" u="none" strike="noStrike" cap="none" dirty="0">
                <a:solidFill>
                  <a:srgbClr val="DB5F5F"/>
                </a:solidFill>
                <a:latin typeface="游ゴシック" panose="020B0400000000000000" pitchFamily="50" charset="-128"/>
                <a:ea typeface="游ゴシック" panose="020B0400000000000000" pitchFamily="50" charset="-128"/>
                <a:sym typeface="Arial"/>
              </a:rPr>
              <a:t>✕</a:t>
            </a:r>
            <a:r>
              <a:rPr lang="ja" sz="800" b="0" i="0" u="none" strike="noStrike" cap="none" dirty="0">
                <a:solidFill>
                  <a:srgbClr val="444444"/>
                </a:solidFill>
                <a:latin typeface="游ゴシック" panose="020B0400000000000000" pitchFamily="50" charset="-128"/>
                <a:ea typeface="游ゴシック" panose="020B0400000000000000" pitchFamily="50" charset="-128"/>
                <a:sym typeface="Arial"/>
              </a:rPr>
              <a:t> = 独自製品依存（乗り換え＝全面作り直し）… Kozuchi、Einstein等</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a:p>
            <a:pPr marL="72000" marR="0" lvl="0" indent="-72000" algn="l" rtl="0">
              <a:lnSpc>
                <a:spcPct val="100000"/>
              </a:lnSpc>
              <a:spcBef>
                <a:spcPts val="25"/>
              </a:spcBef>
              <a:spcAft>
                <a:spcPts val="0"/>
              </a:spcAft>
              <a:buClr>
                <a:srgbClr val="000000"/>
              </a:buClr>
              <a:buSzPts val="800"/>
              <a:buFont typeface="Arial"/>
              <a:buNone/>
            </a:pPr>
            <a:r>
              <a:rPr lang="ja" sz="800" b="0" i="0" u="none" strike="noStrike" cap="none" dirty="0">
                <a:solidFill>
                  <a:srgbClr val="B8860B"/>
                </a:solidFill>
                <a:latin typeface="游ゴシック" panose="020B0400000000000000" pitchFamily="50" charset="-128"/>
                <a:ea typeface="游ゴシック" panose="020B0400000000000000" pitchFamily="50" charset="-128"/>
                <a:sym typeface="Arial"/>
              </a:rPr>
              <a:t>△</a:t>
            </a:r>
            <a:r>
              <a:rPr lang="ja" sz="800" b="0" i="0" u="none" strike="noStrike" cap="none" dirty="0">
                <a:solidFill>
                  <a:srgbClr val="444444"/>
                </a:solidFill>
                <a:latin typeface="游ゴシック" panose="020B0400000000000000" pitchFamily="50" charset="-128"/>
                <a:ea typeface="游ゴシック" panose="020B0400000000000000" pitchFamily="50" charset="-128"/>
                <a:sym typeface="Arial"/>
              </a:rPr>
              <a:t> = 特定PF依存（乗り換え可能だが書き直しコスト発生）… Snowflake内部形式等</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a:p>
            <a:pPr marL="72000" marR="0" lvl="0" indent="-72000" algn="l" rtl="0">
              <a:lnSpc>
                <a:spcPct val="100000"/>
              </a:lnSpc>
              <a:spcBef>
                <a:spcPts val="25"/>
              </a:spcBef>
              <a:spcAft>
                <a:spcPts val="0"/>
              </a:spcAft>
              <a:buClr>
                <a:srgbClr val="000000"/>
              </a:buClr>
              <a:buSzPts val="800"/>
              <a:buFont typeface="Arial"/>
              <a:buNone/>
            </a:pPr>
            <a:r>
              <a:rPr lang="ja" sz="800" b="0" i="0" u="none" strike="noStrike" cap="none" dirty="0">
                <a:solidFill>
                  <a:srgbClr val="3A7D44"/>
                </a:solidFill>
                <a:latin typeface="游ゴシック" panose="020B0400000000000000" pitchFamily="50" charset="-128"/>
                <a:ea typeface="游ゴシック" panose="020B0400000000000000" pitchFamily="50" charset="-128"/>
                <a:sym typeface="Arial"/>
              </a:rPr>
              <a:t>○</a:t>
            </a:r>
            <a:r>
              <a:rPr lang="ja" sz="800" b="0" i="0" u="none" strike="noStrike" cap="none" dirty="0">
                <a:solidFill>
                  <a:srgbClr val="444444"/>
                </a:solidFill>
                <a:latin typeface="游ゴシック" panose="020B0400000000000000" pitchFamily="50" charset="-128"/>
                <a:ea typeface="游ゴシック" panose="020B0400000000000000" pitchFamily="50" charset="-128"/>
                <a:sym typeface="Arial"/>
              </a:rPr>
              <a:t> = 業界標準 or OSS（移行先が複数あり現実的に乗り換え可能）… AWS標準、Delta/Iceberg等</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3"/>
        <p:cNvGrpSpPr/>
        <p:nvPr/>
      </p:nvGrpSpPr>
      <p:grpSpPr>
        <a:xfrm>
          <a:off x="0" y="0"/>
          <a:ext cx="0" cy="0"/>
          <a:chOff x="0" y="0"/>
          <a:chExt cx="0" cy="0"/>
        </a:xfrm>
      </p:grpSpPr>
      <p:sp>
        <p:nvSpPr>
          <p:cNvPr id="284" name="Google Shape;284;p12"/>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2.</a:t>
            </a: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5</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 (参考) 6社RFI回答のレビュー (AI以外の観点)</a:t>
            </a:r>
            <a:endParaRPr sz="1800" b="0" i="0" u="none" strike="noStrike" cap="none" dirty="0">
              <a:solidFill>
                <a:schemeClr val="dk1"/>
              </a:solidFill>
              <a:latin typeface="Calibri"/>
              <a:ea typeface="Calibri"/>
              <a:cs typeface="Calibri"/>
              <a:sym typeface="Calibri"/>
            </a:endParaRPr>
          </a:p>
        </p:txBody>
      </p:sp>
      <p:sp>
        <p:nvSpPr>
          <p:cNvPr id="285" name="Google Shape;285;p12"/>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77777"/>
              </a:buClr>
              <a:buSzPts val="1000"/>
              <a:buFont typeface="Century Gothic"/>
              <a:buNone/>
            </a:pPr>
            <a:r>
              <a:rPr lang="ja"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各社のRFI回答をAI以外の観点で評価</a:t>
            </a:r>
            <a:endParaRPr sz="1000" b="0" i="0" u="none" strike="noStrike" cap="none" dirty="0">
              <a:solidFill>
                <a:schemeClr val="dk1"/>
              </a:solidFill>
              <a:latin typeface="Calibri"/>
              <a:ea typeface="Calibri"/>
              <a:cs typeface="Calibri"/>
              <a:sym typeface="Calibri"/>
            </a:endParaRPr>
          </a:p>
        </p:txBody>
      </p:sp>
      <p:cxnSp>
        <p:nvCxnSpPr>
          <p:cNvPr id="286" name="Google Shape;286;p12"/>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287" name="Google Shape;287;p12"/>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00" b="0" i="0" u="none" strike="noStrike" cap="none" dirty="0">
              <a:solidFill>
                <a:schemeClr val="dk1"/>
              </a:solidFill>
              <a:latin typeface="Calibri"/>
              <a:ea typeface="Calibri"/>
              <a:cs typeface="Calibri"/>
              <a:sym typeface="Calibri"/>
            </a:endParaRPr>
          </a:p>
        </p:txBody>
      </p:sp>
      <p:sp>
        <p:nvSpPr>
          <p:cNvPr id="288" name="Google Shape;288;p12"/>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00"/>
              <a:buFont typeface="Century Gothic"/>
              <a:buNone/>
            </a:pPr>
            <a:r>
              <a:rPr lang="ja" sz="50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5</a:t>
            </a:r>
            <a:endParaRPr sz="500" b="0" i="0" u="none" strike="noStrike" cap="none" dirty="0">
              <a:solidFill>
                <a:schemeClr val="dk1"/>
              </a:solidFill>
              <a:latin typeface="Calibri"/>
              <a:ea typeface="Calibri"/>
              <a:cs typeface="Calibri"/>
              <a:sym typeface="Calibri"/>
            </a:endParaRPr>
          </a:p>
        </p:txBody>
      </p:sp>
      <p:graphicFrame>
        <p:nvGraphicFramePr>
          <p:cNvPr id="289" name="Google Shape;289;p12"/>
          <p:cNvGraphicFramePr/>
          <p:nvPr>
            <p:extLst>
              <p:ext uri="{D42A27DB-BD31-4B8C-83A1-F6EECF244321}">
                <p14:modId xmlns:p14="http://schemas.microsoft.com/office/powerpoint/2010/main" val="3134860752"/>
              </p:ext>
            </p:extLst>
          </p:nvPr>
        </p:nvGraphicFramePr>
        <p:xfrm>
          <a:off x="406400" y="877824"/>
          <a:ext cx="8331225" cy="3564270"/>
        </p:xfrm>
        <a:graphic>
          <a:graphicData uri="http://schemas.openxmlformats.org/drawingml/2006/table">
            <a:tbl>
              <a:tblPr>
                <a:noFill/>
                <a:tableStyleId>{831F8A93-CA79-4AF6-B420-68E9A51CCC31}</a:tableStyleId>
              </a:tblPr>
              <a:tblGrid>
                <a:gridCol w="1083475">
                  <a:extLst>
                    <a:ext uri="{9D8B030D-6E8A-4147-A177-3AD203B41FA5}">
                      <a16:colId xmlns:a16="http://schemas.microsoft.com/office/drawing/2014/main" val="20000"/>
                    </a:ext>
                  </a:extLst>
                </a:gridCol>
                <a:gridCol w="1354025">
                  <a:extLst>
                    <a:ext uri="{9D8B030D-6E8A-4147-A177-3AD203B41FA5}">
                      <a16:colId xmlns:a16="http://schemas.microsoft.com/office/drawing/2014/main" val="20001"/>
                    </a:ext>
                  </a:extLst>
                </a:gridCol>
                <a:gridCol w="1227725">
                  <a:extLst>
                    <a:ext uri="{9D8B030D-6E8A-4147-A177-3AD203B41FA5}">
                      <a16:colId xmlns:a16="http://schemas.microsoft.com/office/drawing/2014/main" val="20002"/>
                    </a:ext>
                  </a:extLst>
                </a:gridCol>
                <a:gridCol w="1125025">
                  <a:extLst>
                    <a:ext uri="{9D8B030D-6E8A-4147-A177-3AD203B41FA5}">
                      <a16:colId xmlns:a16="http://schemas.microsoft.com/office/drawing/2014/main" val="20003"/>
                    </a:ext>
                  </a:extLst>
                </a:gridCol>
                <a:gridCol w="1180325">
                  <a:extLst>
                    <a:ext uri="{9D8B030D-6E8A-4147-A177-3AD203B41FA5}">
                      <a16:colId xmlns:a16="http://schemas.microsoft.com/office/drawing/2014/main" val="20004"/>
                    </a:ext>
                  </a:extLst>
                </a:gridCol>
                <a:gridCol w="1180325">
                  <a:extLst>
                    <a:ext uri="{9D8B030D-6E8A-4147-A177-3AD203B41FA5}">
                      <a16:colId xmlns:a16="http://schemas.microsoft.com/office/drawing/2014/main" val="20005"/>
                    </a:ext>
                  </a:extLst>
                </a:gridCol>
                <a:gridCol w="1180325">
                  <a:extLst>
                    <a:ext uri="{9D8B030D-6E8A-4147-A177-3AD203B41FA5}">
                      <a16:colId xmlns:a16="http://schemas.microsoft.com/office/drawing/2014/main" val="20006"/>
                    </a:ext>
                  </a:extLst>
                </a:gridCol>
              </a:tblGrid>
              <a:tr h="381000">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評価項目</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2D2D2D"/>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Deloitte</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Fujitsu</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PwC</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Hitachi</a:t>
                      </a:r>
                      <a:endParaRPr sz="10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SF</a:t>
                      </a:r>
                      <a:endParaRPr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Sky</a:t>
                      </a:r>
                      <a:endParaRPr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5298BA"/>
                    </a:solidFill>
                  </a:tcPr>
                </a:tc>
                <a:extLst>
                  <a:ext uri="{0D108BD9-81ED-4DB2-BD59-A6C34878D82A}">
                    <a16:rowId xmlns:a16="http://schemas.microsoft.com/office/drawing/2014/main" val="10000"/>
                  </a:ext>
                </a:extLst>
              </a:tr>
              <a:tr h="453425">
                <a:tc>
                  <a:txBody>
                    <a:bodyPr/>
                    <a:lstStyle/>
                    <a:p>
                      <a:pPr marL="0" marR="0" lvl="0" indent="0" algn="l" rtl="0">
                        <a:lnSpc>
                          <a:spcPct val="100000"/>
                        </a:lnSpc>
                        <a:spcBef>
                          <a:spcPts val="0"/>
                        </a:spcBef>
                        <a:spcAft>
                          <a:spcPts val="0"/>
                        </a:spcAft>
                        <a:buClr>
                          <a:schemeClr val="dk1"/>
                        </a:buClr>
                        <a:buSzPts val="700"/>
                        <a:buFont typeface="Arial"/>
                        <a:buNone/>
                      </a:pPr>
                      <a:r>
                        <a:rPr lang="ja" sz="800" b="1" u="none" strike="noStrike" cap="none" dirty="0">
                          <a:solidFill>
                            <a:srgbClr val="222222"/>
                          </a:solidFill>
                          <a:latin typeface="Calibri"/>
                          <a:ea typeface="Calibri"/>
                          <a:cs typeface="Calibri"/>
                          <a:sym typeface="Calibri"/>
                        </a:rPr>
                        <a:t>コスト透明性/コスト</a:t>
                      </a:r>
                      <a:endParaRPr sz="800" u="none" strike="noStrike" cap="none" dirty="0">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○（Sケア個別の試算詳細）</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B8860B"/>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 △(試算はないが、現時点では不透明なため妥当)</a:t>
                      </a:r>
                      <a:endParaRPr sz="8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 (概算のみ)　</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chemeClr val="dk1"/>
                        </a:buClr>
                        <a:buSzPts val="8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△（Snowflake従量課金） </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
                          <a:schemeClr val="dk1"/>
                        </a:buClr>
                        <a:buSzPts val="700"/>
                        <a:buFont typeface="Arial"/>
                        <a:buNone/>
                        <a:tabLst/>
                        <a:defRPr/>
                      </a:pPr>
                      <a:r>
                        <a:rPr lang="en" altLang="ja" sz="800" u="none" strike="noStrike" cap="none" dirty="0">
                          <a:solidFill>
                            <a:srgbClr val="DB5F5F"/>
                          </a:solidFill>
                          <a:latin typeface="游ゴシック" panose="020B0400000000000000" pitchFamily="50" charset="-128"/>
                          <a:ea typeface="游ゴシック" panose="020B0400000000000000" pitchFamily="50" charset="-128"/>
                        </a:rPr>
                        <a:t>✕ (</a:t>
                      </a:r>
                      <a:r>
                        <a:rPr lang="ja-JP" altLang="en-US" sz="800" u="none" strike="noStrike" cap="none" dirty="0">
                          <a:solidFill>
                            <a:srgbClr val="DB5F5F"/>
                          </a:solidFill>
                        </a:rPr>
                        <a:t>オーバースペック</a:t>
                      </a:r>
                      <a:r>
                        <a:rPr lang="en-US" altLang="ja-JP" sz="800" u="none" strike="noStrike" cap="none" dirty="0">
                          <a:solidFill>
                            <a:srgbClr val="DB5F5F"/>
                          </a:solidFill>
                        </a:rPr>
                        <a:t>)</a:t>
                      </a:r>
                      <a:endParaRPr lang="ja-JP" altLang="en-US" sz="800" u="none" strike="noStrike" cap="none" dirty="0">
                        <a:solidFill>
                          <a:srgbClr val="B8860B"/>
                        </a:solidFill>
                      </a:endParaRPr>
                    </a:p>
                    <a:p>
                      <a:pPr marL="0" marR="0" lvl="0" indent="0" algn="l" rtl="0">
                        <a:lnSpc>
                          <a:spcPct val="100000"/>
                        </a:lnSpc>
                        <a:spcBef>
                          <a:spcPts val="0"/>
                        </a:spcBef>
                        <a:spcAft>
                          <a:spcPts val="0"/>
                        </a:spcAft>
                        <a:buClr>
                          <a:schemeClr val="dk1"/>
                        </a:buClr>
                        <a:buSzPts val="700"/>
                        <a:buFont typeface="Arial"/>
                        <a:buNone/>
                      </a:pP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○（AWS明細型）</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53425">
                <a:tc>
                  <a:txBody>
                    <a:bodyPr/>
                    <a:lstStyle/>
                    <a:p>
                      <a:pPr marL="0" marR="0" lvl="0" indent="0" algn="l" rtl="0">
                        <a:lnSpc>
                          <a:spcPct val="100000"/>
                        </a:lnSpc>
                        <a:spcBef>
                          <a:spcPts val="0"/>
                        </a:spcBef>
                        <a:spcAft>
                          <a:spcPts val="0"/>
                        </a:spcAft>
                        <a:buClr>
                          <a:schemeClr val="dk1"/>
                        </a:buClr>
                        <a:buSzPts val="700"/>
                        <a:buFont typeface="Arial"/>
                        <a:buNone/>
                      </a:pPr>
                      <a:r>
                        <a:rPr lang="ja" sz="800" b="1" u="none" strike="noStrike" cap="none" dirty="0">
                          <a:solidFill>
                            <a:srgbClr val="222222"/>
                          </a:solidFill>
                          <a:latin typeface="Calibri"/>
                          <a:ea typeface="Calibri"/>
                          <a:cs typeface="Calibri"/>
                          <a:sym typeface="Calibri"/>
                        </a:rPr>
                        <a:t>既存資産の再利用可能性</a:t>
                      </a:r>
                      <a:endParaRPr sz="800" u="none" strike="noStrike" cap="none" dirty="0">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○（PySpark native）</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○（PySpark native）</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○（Glue=PySpark可）</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chemeClr val="dk1"/>
                        </a:buClr>
                        <a:buSzPts val="8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△（Snowpark、PySpark互換だが変換要）  </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rPr>
                        <a:t>✕ (PySpark非対応)</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○（Glue or Databricks）</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53425">
                <a:tc>
                  <a:txBody>
                    <a:bodyPr/>
                    <a:lstStyle/>
                    <a:p>
                      <a:pPr marL="0" marR="0" lvl="0" indent="0" algn="l" rtl="0">
                        <a:lnSpc>
                          <a:spcPct val="100000"/>
                        </a:lnSpc>
                        <a:spcBef>
                          <a:spcPts val="0"/>
                        </a:spcBef>
                        <a:spcAft>
                          <a:spcPts val="0"/>
                        </a:spcAft>
                        <a:buClr>
                          <a:schemeClr val="dk1"/>
                        </a:buClr>
                        <a:buSzPts val="700"/>
                        <a:buFont typeface="Arial"/>
                        <a:buNone/>
                      </a:pPr>
                      <a:r>
                        <a:rPr lang="ja" sz="800" b="1" u="none" strike="noStrike" cap="none" dirty="0">
                          <a:solidFill>
                            <a:srgbClr val="222222"/>
                          </a:solidFill>
                          <a:latin typeface="Calibri"/>
                          <a:ea typeface="Calibri"/>
                          <a:cs typeface="Calibri"/>
                          <a:sym typeface="Calibri"/>
                        </a:rPr>
                        <a:t>ダッシュボード</a:t>
                      </a:r>
                      <a:endParaRPr sz="800" b="1" u="none" strike="noStrike" cap="none" dirty="0">
                        <a:solidFill>
                          <a:srgbClr val="222222"/>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700"/>
                        <a:buFont typeface="Arial"/>
                        <a:buNone/>
                      </a:pPr>
                      <a:r>
                        <a:rPr lang="ja" sz="800" b="1" u="none" strike="noStrike" cap="none" dirty="0">
                          <a:solidFill>
                            <a:srgbClr val="222222"/>
                          </a:solidFill>
                          <a:latin typeface="Calibri"/>
                          <a:ea typeface="Calibri"/>
                          <a:cs typeface="Calibri"/>
                          <a:sym typeface="Calibri"/>
                        </a:rPr>
                        <a:t>再現性</a:t>
                      </a:r>
                      <a:endParaRPr sz="800" u="none" strike="noStrike" cap="none" dirty="0">
                        <a:latin typeface="游ゴシック" panose="020B0400000000000000" pitchFamily="50" charset="-128"/>
                        <a:ea typeface="游ゴシック" panose="020B0400000000000000" pitchFamily="50" charset="-128"/>
                      </a:endParaRPr>
                    </a:p>
                    <a:p>
                      <a:pPr marL="0" marR="0" lvl="0" indent="0" algn="l" rtl="0">
                        <a:lnSpc>
                          <a:spcPct val="100000"/>
                        </a:lnSpc>
                        <a:spcBef>
                          <a:spcPts val="0"/>
                        </a:spcBef>
                        <a:spcAft>
                          <a:spcPts val="0"/>
                        </a:spcAft>
                        <a:buClr>
                          <a:schemeClr val="dk1"/>
                        </a:buClr>
                        <a:buSzPts val="700"/>
                        <a:buFont typeface="Arial"/>
                        <a:buNone/>
                      </a:pPr>
                      <a:r>
                        <a:rPr lang="ja" sz="600" b="1" u="none" strike="noStrike" cap="none" dirty="0">
                          <a:solidFill>
                            <a:srgbClr val="DB5F5F"/>
                          </a:solidFill>
                          <a:latin typeface="Calibri"/>
                          <a:ea typeface="Calibri"/>
                          <a:cs typeface="Calibri"/>
                          <a:sym typeface="Calibri"/>
                        </a:rPr>
                        <a:t>※Tableauで要件を満たすか要確認</a:t>
                      </a:r>
                      <a:endParaRPr sz="1400" u="none" strike="noStrike" cap="none" dirty="0"/>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△（Tableau）</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△（PowerBI/Tableau）</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△（Tableau推奨）</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chemeClr val="dk1"/>
                        </a:buClr>
                        <a:buSzPts val="8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△（Tableau/PowerBI対応）</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△（Tableau）</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△（QuickSight）</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53425">
                <a:tc>
                  <a:txBody>
                    <a:bodyPr/>
                    <a:lstStyle/>
                    <a:p>
                      <a:pPr marL="0" marR="0" lvl="0" indent="0" algn="l" rtl="0">
                        <a:lnSpc>
                          <a:spcPct val="100000"/>
                        </a:lnSpc>
                        <a:spcBef>
                          <a:spcPts val="0"/>
                        </a:spcBef>
                        <a:spcAft>
                          <a:spcPts val="0"/>
                        </a:spcAft>
                        <a:buClr>
                          <a:schemeClr val="dk1"/>
                        </a:buClr>
                        <a:buSzPts val="700"/>
                        <a:buFont typeface="Arial"/>
                        <a:buNone/>
                      </a:pPr>
                      <a:r>
                        <a:rPr lang="ja" sz="800" b="1" u="none" strike="noStrike" cap="none" dirty="0">
                          <a:solidFill>
                            <a:srgbClr val="222222"/>
                          </a:solidFill>
                          <a:latin typeface="Calibri"/>
                          <a:ea typeface="Calibri"/>
                          <a:cs typeface="Calibri"/>
                          <a:sym typeface="Calibri"/>
                        </a:rPr>
                        <a:t>運用負荷</a:t>
                      </a:r>
                      <a:endParaRPr sz="800" b="1" u="none" strike="noStrike" cap="none" dirty="0">
                        <a:solidFill>
                          <a:srgbClr val="121212"/>
                        </a:solidFill>
                        <a:latin typeface="游ゴシック" panose="020B0400000000000000" pitchFamily="50" charset="-128"/>
                        <a:ea typeface="游ゴシック" panose="020B0400000000000000" pitchFamily="50" charset="-128"/>
                        <a:cs typeface="Arial"/>
                        <a:sym typeface="Aria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○（マネージド中心、24/365グローバル保守体制）</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△（Databricks主体だが、Sケア主体前提）</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rPr>
                        <a:t>✕（AWS群の個別管理）</a:t>
                      </a:r>
                      <a:endParaRPr sz="800" u="none" strike="noStrike" cap="none" dirty="0">
                        <a:solidFill>
                          <a:srgbClr val="DB5F5F"/>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chemeClr val="dk1"/>
                        </a:buClr>
                        <a:buSzPts val="8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△（SaaS構成だが複数ベンダー管理） </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○（保守サービスの明記）</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53425">
                <a:tc>
                  <a:txBody>
                    <a:bodyPr/>
                    <a:lstStyle/>
                    <a:p>
                      <a:pPr marL="0" marR="0" lvl="0" indent="0" algn="l" rtl="0">
                        <a:lnSpc>
                          <a:spcPct val="100000"/>
                        </a:lnSpc>
                        <a:spcBef>
                          <a:spcPts val="0"/>
                        </a:spcBef>
                        <a:spcAft>
                          <a:spcPts val="0"/>
                        </a:spcAft>
                        <a:buClr>
                          <a:srgbClr val="000000"/>
                        </a:buClr>
                        <a:buSzPts val="700"/>
                        <a:buFont typeface="Arial"/>
                        <a:buNone/>
                      </a:pPr>
                      <a:r>
                        <a:rPr lang="ja" sz="800" b="1" u="none" strike="noStrike" cap="none">
                          <a:solidFill>
                            <a:srgbClr val="222222"/>
                          </a:solidFill>
                          <a:latin typeface="Calibri"/>
                          <a:ea typeface="Calibri"/>
                          <a:cs typeface="Calibri"/>
                          <a:sym typeface="Calibri"/>
                        </a:rPr>
                        <a:t>データ形式</a:t>
                      </a:r>
                      <a:endParaRPr sz="800" b="1" u="none" strike="noStrike" cap="none">
                        <a:solidFill>
                          <a:srgbClr val="222222"/>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700"/>
                        <a:buFont typeface="Arial"/>
                        <a:buNone/>
                      </a:pPr>
                      <a:r>
                        <a:rPr lang="ja" sz="800" b="1" u="none" strike="noStrike" cap="none">
                          <a:solidFill>
                            <a:srgbClr val="222222"/>
                          </a:solidFill>
                          <a:latin typeface="Calibri"/>
                          <a:ea typeface="Calibri"/>
                          <a:cs typeface="Calibri"/>
                          <a:sym typeface="Calibri"/>
                        </a:rPr>
                        <a:t>ロックイン</a:t>
                      </a:r>
                      <a:endParaRPr sz="800" b="1" u="none" strike="noStrike" cap="none">
                        <a:solidFill>
                          <a:srgbClr val="222222"/>
                        </a:solidFill>
                        <a:latin typeface="Calibri"/>
                        <a:ea typeface="Calibri"/>
                        <a:cs typeface="Calibri"/>
                        <a:sym typeface="Calibri"/>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○（Iceberg/Delta開放）</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○（Databricks主体）</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△（AWS形式依存）</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△（SF API依存）</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DB5F5F"/>
                          </a:solidFill>
                          <a:latin typeface="游ゴシック" panose="020B0400000000000000" pitchFamily="50" charset="-128"/>
                          <a:ea typeface="游ゴシック" panose="020B0400000000000000" pitchFamily="50" charset="-128"/>
                        </a:rPr>
                        <a:t>✕（SF API依存）</a:t>
                      </a:r>
                      <a:endParaRPr sz="800" u="none" strike="noStrike" cap="none" dirty="0">
                        <a:solidFill>
                          <a:srgbClr val="DB5F5F"/>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△（フルAWS構成)</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53425">
                <a:tc>
                  <a:txBody>
                    <a:bodyPr/>
                    <a:lstStyle/>
                    <a:p>
                      <a:pPr marL="0" marR="0" lvl="0" indent="0" algn="l" rtl="0">
                        <a:lnSpc>
                          <a:spcPct val="100000"/>
                        </a:lnSpc>
                        <a:spcBef>
                          <a:spcPts val="0"/>
                        </a:spcBef>
                        <a:spcAft>
                          <a:spcPts val="0"/>
                        </a:spcAft>
                        <a:buClr>
                          <a:schemeClr val="dk1"/>
                        </a:buClr>
                        <a:buSzPts val="700"/>
                        <a:buFont typeface="Arial"/>
                        <a:buNone/>
                      </a:pPr>
                      <a:r>
                        <a:rPr lang="ja" sz="800" b="1" u="none" strike="noStrike" cap="none" dirty="0">
                          <a:solidFill>
                            <a:srgbClr val="222222"/>
                          </a:solidFill>
                          <a:latin typeface="Calibri"/>
                          <a:ea typeface="Calibri"/>
                          <a:cs typeface="Calibri"/>
                          <a:sym typeface="Calibri"/>
                        </a:rPr>
                        <a:t>移行リスク</a:t>
                      </a:r>
                      <a:endParaRPr sz="800" u="none" strike="noStrike" cap="none" dirty="0">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○（3パターン段階）</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○（egaku運用実績）</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○（3 Step移行）</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chemeClr val="dk1"/>
                        </a:buClr>
                        <a:buSzPts val="8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△（介護業界Snowflake実績あるが移行計画詳細不足</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B8860B"/>
                          </a:solidFill>
                          <a:latin typeface="游ゴシック" panose="020B0400000000000000" pitchFamily="50" charset="-128"/>
                          <a:ea typeface="游ゴシック" panose="020B0400000000000000" pitchFamily="50" charset="-128"/>
                        </a:rPr>
                        <a:t>△（情報不足）</a:t>
                      </a:r>
                      <a:endParaRPr sz="800" u="none" strike="noStrike" cap="none" dirty="0">
                        <a:solidFill>
                          <a:srgbClr val="B8860B"/>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 (実績多)</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453425">
                <a:tc>
                  <a:txBody>
                    <a:bodyPr/>
                    <a:lstStyle/>
                    <a:p>
                      <a:pPr marL="0" marR="0" lvl="0" indent="0" algn="l" rtl="0">
                        <a:lnSpc>
                          <a:spcPct val="100000"/>
                        </a:lnSpc>
                        <a:spcBef>
                          <a:spcPts val="0"/>
                        </a:spcBef>
                        <a:spcAft>
                          <a:spcPts val="0"/>
                        </a:spcAft>
                        <a:buClr>
                          <a:schemeClr val="dk1"/>
                        </a:buClr>
                        <a:buSzPts val="700"/>
                        <a:buFont typeface="Arial"/>
                        <a:buNone/>
                      </a:pPr>
                      <a:r>
                        <a:rPr lang="ja" sz="800" b="1" u="none" strike="noStrike" cap="none" dirty="0">
                          <a:solidFill>
                            <a:srgbClr val="222222"/>
                          </a:solidFill>
                          <a:latin typeface="Calibri"/>
                          <a:ea typeface="Calibri"/>
                          <a:cs typeface="Calibri"/>
                          <a:sym typeface="Calibri"/>
                        </a:rPr>
                        <a:t>セキュリティ</a:t>
                      </a:r>
                      <a:endParaRPr sz="800" u="none" strike="noStrike" cap="none" dirty="0">
                        <a:latin typeface="游ゴシック" panose="020B0400000000000000" pitchFamily="50" charset="-128"/>
                        <a:ea typeface="游ゴシック" panose="020B0400000000000000" pitchFamily="50" charset="-128"/>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○（Unity Catalog+IAM）</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○（IAM+CloudTrail）</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○（IAM+Cognito）</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chemeClr val="dk1"/>
                        </a:buClr>
                        <a:buSzPts val="8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○（Horizon + HIPPA準拠Snowflake実績）   </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○（Einstein + Tableau RLS）</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800" u="none" strike="noStrike" cap="none" dirty="0">
                          <a:solidFill>
                            <a:srgbClr val="3A7D44"/>
                          </a:solidFill>
                          <a:latin typeface="游ゴシック" panose="020B0400000000000000" pitchFamily="50" charset="-128"/>
                          <a:ea typeface="游ゴシック" panose="020B0400000000000000" pitchFamily="50" charset="-128"/>
                        </a:rPr>
                        <a:t>○（IAM+CloudWatch, 松でUnity Catalog)</a:t>
                      </a:r>
                      <a:endParaRPr sz="800" u="none" strike="noStrike" cap="none" dirty="0">
                        <a:solidFill>
                          <a:srgbClr val="3A7D44"/>
                        </a:solidFill>
                      </a:endParaRPr>
                    </a:p>
                  </a:txBody>
                  <a:tcPr marL="36000" marR="36000" marT="18000" marB="18000">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3"/>
          <p:cNvSpPr/>
          <p:nvPr/>
        </p:nvSpPr>
        <p:spPr>
          <a:xfrm>
            <a:off x="594550" y="787550"/>
            <a:ext cx="7562100" cy="31896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 sz="1400" b="0" i="0" u="none" strike="noStrike" cap="none" dirty="0">
                <a:solidFill>
                  <a:srgbClr val="000000"/>
                </a:solidFill>
                <a:latin typeface="游ゴシック" panose="020B0400000000000000" pitchFamily="50" charset="-128"/>
                <a:ea typeface="游ゴシック" panose="020B0400000000000000" pitchFamily="50" charset="-128"/>
                <a:sym typeface="Arial"/>
              </a:rPr>
              <a:t>3. AI活用に向けた将来論点</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0"/>
        <p:cNvGrpSpPr/>
        <p:nvPr/>
      </p:nvGrpSpPr>
      <p:grpSpPr>
        <a:xfrm>
          <a:off x="0" y="0"/>
          <a:ext cx="0" cy="0"/>
          <a:chOff x="0" y="0"/>
          <a:chExt cx="0" cy="0"/>
        </a:xfrm>
      </p:grpSpPr>
      <p:sp>
        <p:nvSpPr>
          <p:cNvPr id="301" name="Google Shape;301;p14"/>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3.1 </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AI活用に向けた将来論点</a:t>
            </a:r>
            <a:endParaRPr sz="1800" b="0" i="0" u="none" strike="noStrike" cap="none" dirty="0">
              <a:solidFill>
                <a:schemeClr val="dk1"/>
              </a:solidFill>
              <a:latin typeface="Calibri"/>
              <a:ea typeface="Calibri"/>
              <a:cs typeface="Calibri"/>
              <a:sym typeface="Calibri"/>
            </a:endParaRPr>
          </a:p>
        </p:txBody>
      </p:sp>
      <p:sp>
        <p:nvSpPr>
          <p:cNvPr id="302" name="Google Shape;302;p14"/>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77777"/>
              </a:buClr>
              <a:buSzPts val="1000"/>
              <a:buFont typeface="Century Gothic"/>
              <a:buNone/>
            </a:pPr>
            <a:r>
              <a:rPr lang="ja"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AI活用の進展を見据え、将来追加で検討が必要となる論点を7つの観点で整理する</a:t>
            </a:r>
            <a:endParaRPr sz="1000" b="0" i="0" u="none" strike="noStrike" cap="none" dirty="0">
              <a:solidFill>
                <a:schemeClr val="dk1"/>
              </a:solidFill>
              <a:latin typeface="Calibri"/>
              <a:ea typeface="Calibri"/>
              <a:cs typeface="Calibri"/>
              <a:sym typeface="Calibri"/>
            </a:endParaRPr>
          </a:p>
        </p:txBody>
      </p:sp>
      <p:sp>
        <p:nvSpPr>
          <p:cNvPr id="303" name="Google Shape;303;p14"/>
          <p:cNvSpPr/>
          <p:nvPr/>
        </p:nvSpPr>
        <p:spPr>
          <a:xfrm>
            <a:off x="406301" y="4676924"/>
            <a:ext cx="8498100" cy="104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AAAAAA"/>
              </a:buClr>
              <a:buSzPts val="600"/>
              <a:buFont typeface="Century Gothic"/>
              <a:buNone/>
            </a:pPr>
            <a:r>
              <a:rPr lang="ja" sz="800" b="0" i="0" u="none" strike="noStrike" cap="none" dirty="0">
                <a:solidFill>
                  <a:srgbClr val="7F7F7F"/>
                </a:solidFill>
                <a:latin typeface="游ゴシック" panose="020B0400000000000000" pitchFamily="50" charset="-128"/>
                <a:ea typeface="游ゴシック" panose="020B0400000000000000" pitchFamily="50" charset="-128"/>
                <a:cs typeface="Century Gothic"/>
                <a:sym typeface="Century Gothic"/>
              </a:rPr>
              <a:t>※ 体制・人材・制度の論点も別途存在</a:t>
            </a:r>
            <a:endParaRPr sz="800" b="0" i="0" u="none" strike="noStrike" cap="none" dirty="0">
              <a:solidFill>
                <a:srgbClr val="7F7F7F"/>
              </a:solidFill>
              <a:latin typeface="Calibri"/>
              <a:ea typeface="Calibri"/>
              <a:cs typeface="Calibri"/>
              <a:sym typeface="Calibri"/>
            </a:endParaRPr>
          </a:p>
        </p:txBody>
      </p:sp>
      <p:cxnSp>
        <p:nvCxnSpPr>
          <p:cNvPr id="304" name="Google Shape;304;p14"/>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305" name="Google Shape;305;p14"/>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306" name="Google Shape;306;p14"/>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6</a:t>
            </a:r>
            <a:endParaRPr sz="550" b="0" i="0" u="none" strike="noStrike" cap="none" dirty="0">
              <a:solidFill>
                <a:schemeClr val="dk1"/>
              </a:solidFill>
              <a:latin typeface="Calibri"/>
              <a:ea typeface="Calibri"/>
              <a:cs typeface="Calibri"/>
              <a:sym typeface="Calibri"/>
            </a:endParaRPr>
          </a:p>
        </p:txBody>
      </p:sp>
      <p:graphicFrame>
        <p:nvGraphicFramePr>
          <p:cNvPr id="307" name="Google Shape;307;p14"/>
          <p:cNvGraphicFramePr/>
          <p:nvPr>
            <p:extLst>
              <p:ext uri="{D42A27DB-BD31-4B8C-83A1-F6EECF244321}">
                <p14:modId xmlns:p14="http://schemas.microsoft.com/office/powerpoint/2010/main" val="3911343836"/>
              </p:ext>
            </p:extLst>
          </p:nvPr>
        </p:nvGraphicFramePr>
        <p:xfrm>
          <a:off x="406301" y="908000"/>
          <a:ext cx="8343500" cy="3321345"/>
        </p:xfrm>
        <a:graphic>
          <a:graphicData uri="http://schemas.openxmlformats.org/drawingml/2006/table">
            <a:tbl>
              <a:tblPr>
                <a:noFill/>
                <a:tableStyleId>{831F8A93-CA79-4AF6-B420-68E9A51CCC31}</a:tableStyleId>
              </a:tblPr>
              <a:tblGrid>
                <a:gridCol w="741800">
                  <a:extLst>
                    <a:ext uri="{9D8B030D-6E8A-4147-A177-3AD203B41FA5}">
                      <a16:colId xmlns:a16="http://schemas.microsoft.com/office/drawing/2014/main" val="20000"/>
                    </a:ext>
                  </a:extLst>
                </a:gridCol>
                <a:gridCol w="2725500">
                  <a:extLst>
                    <a:ext uri="{9D8B030D-6E8A-4147-A177-3AD203B41FA5}">
                      <a16:colId xmlns:a16="http://schemas.microsoft.com/office/drawing/2014/main" val="20001"/>
                    </a:ext>
                  </a:extLst>
                </a:gridCol>
                <a:gridCol w="2234450">
                  <a:extLst>
                    <a:ext uri="{9D8B030D-6E8A-4147-A177-3AD203B41FA5}">
                      <a16:colId xmlns:a16="http://schemas.microsoft.com/office/drawing/2014/main" val="20002"/>
                    </a:ext>
                  </a:extLst>
                </a:gridCol>
                <a:gridCol w="2641750">
                  <a:extLst>
                    <a:ext uri="{9D8B030D-6E8A-4147-A177-3AD203B41FA5}">
                      <a16:colId xmlns:a16="http://schemas.microsoft.com/office/drawing/2014/main" val="20003"/>
                    </a:ext>
                  </a:extLst>
                </a:gridCol>
              </a:tblGrid>
              <a:tr h="275800">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観点</a:t>
                      </a:r>
                      <a:endParaRPr sz="1000" b="1"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333333"/>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rPr>
                        <a:t>将来論点</a:t>
                      </a:r>
                      <a:endParaRPr sz="1000" b="1"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333333"/>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将来の検討事項</a:t>
                      </a:r>
                      <a:endParaRPr sz="1000" b="1"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333333"/>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1000" b="1" u="none" strike="noStrike" cap="none" dirty="0">
                          <a:solidFill>
                            <a:schemeClr val="lt1"/>
                          </a:solidFill>
                          <a:latin typeface="游ゴシック" panose="020B0400000000000000" pitchFamily="50" charset="-128"/>
                          <a:ea typeface="游ゴシック" panose="020B0400000000000000" pitchFamily="50" charset="-128"/>
                          <a:cs typeface="Arial"/>
                          <a:sym typeface="Arial"/>
                        </a:rPr>
                        <a:t>いつ検討すべきか</a:t>
                      </a:r>
                      <a:endParaRPr sz="1000" b="1" u="none" strike="noStrike" cap="none" dirty="0">
                        <a:solidFill>
                          <a:schemeClr val="lt1"/>
                        </a:solidFill>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333333"/>
                    </a:solidFill>
                  </a:tcPr>
                </a:tc>
                <a:extLst>
                  <a:ext uri="{0D108BD9-81ED-4DB2-BD59-A6C34878D82A}">
                    <a16:rowId xmlns:a16="http://schemas.microsoft.com/office/drawing/2014/main" val="10000"/>
                  </a:ext>
                </a:extLst>
              </a:tr>
              <a:tr h="426225">
                <a:tc>
                  <a:txBody>
                    <a:bodyPr/>
                    <a:lstStyle/>
                    <a:p>
                      <a:pPr marL="0" marR="0" lvl="0" indent="0" algn="l" rtl="0">
                        <a:lnSpc>
                          <a:spcPct val="100000"/>
                        </a:lnSpc>
                        <a:spcBef>
                          <a:spcPts val="0"/>
                        </a:spcBef>
                        <a:spcAft>
                          <a:spcPts val="0"/>
                        </a:spcAft>
                        <a:buClr>
                          <a:srgbClr val="5298BA"/>
                        </a:buClr>
                        <a:buSzPts val="700"/>
                        <a:buFont typeface="Arial"/>
                        <a:buNone/>
                      </a:pP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①連携性</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cs typeface="Arial"/>
                          <a:sym typeface="Arial"/>
                        </a:rPr>
                        <a:t>HD/グループ会社とのデータ共有や、施設IoT・映像等のリアルタイム連携が必要になる可能性がある</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cs typeface="Arial"/>
                          <a:sym typeface="Arial"/>
                        </a:rPr>
                        <a:t>共有方式、リアルタイム連携要否、対象データ、更新頻度、遅延許容、障害時再送</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cs typeface="Arial"/>
                          <a:sym typeface="Arial"/>
                        </a:rPr>
                        <a:t>HD/</a:t>
                      </a:r>
                      <a:r>
                        <a:rPr lang="ja" sz="800" u="none" strike="noStrike" cap="none" dirty="0"/>
                        <a:t>グループ会社</a:t>
                      </a:r>
                      <a:r>
                        <a:rPr lang="ja" sz="800" u="none" strike="noStrike" cap="none" dirty="0">
                          <a:latin typeface="游ゴシック" panose="020B0400000000000000" pitchFamily="50" charset="-128"/>
                          <a:ea typeface="游ゴシック" panose="020B0400000000000000" pitchFamily="50" charset="-128"/>
                          <a:cs typeface="Arial"/>
                          <a:sym typeface="Arial"/>
                        </a:rPr>
                        <a:t>側の連携方針が確定した時、またはIoT/映像ユースケースが具体化した時</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extLst>
                  <a:ext uri="{0D108BD9-81ED-4DB2-BD59-A6C34878D82A}">
                    <a16:rowId xmlns:a16="http://schemas.microsoft.com/office/drawing/2014/main" val="10001"/>
                  </a:ext>
                </a:extLst>
              </a:tr>
              <a:tr h="426225">
                <a:tc>
                  <a:txBody>
                    <a:bodyPr/>
                    <a:lstStyle/>
                    <a:p>
                      <a:pPr marL="0" marR="0" lvl="0" indent="0" algn="l" rtl="0">
                        <a:lnSpc>
                          <a:spcPct val="100000"/>
                        </a:lnSpc>
                        <a:spcBef>
                          <a:spcPts val="0"/>
                        </a:spcBef>
                        <a:spcAft>
                          <a:spcPts val="0"/>
                        </a:spcAft>
                        <a:buClr>
                          <a:srgbClr val="5298BA"/>
                        </a:buClr>
                        <a:buSzPts val="700"/>
                        <a:buFont typeface="Arial"/>
                        <a:buNone/>
                      </a:pP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②安全性</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cs typeface="Arial"/>
                          <a:sym typeface="Arial"/>
                        </a:rPr>
                        <a:t>AIがデータアクセス主体となる場合、人と同等のID・</a:t>
                      </a:r>
                      <a:endParaRPr sz="1400" u="none" strike="noStrike" cap="none" dirty="0"/>
                    </a:p>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cs typeface="Arial"/>
                          <a:sym typeface="Arial"/>
                        </a:rPr>
                        <a:t>権限・監査・ガードレール設計が必要になる</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AI主体を含む認可方針、データ分類、</a:t>
                      </a:r>
                      <a:endParaRPr sz="800" u="none" strike="noStrike" cap="none" dirty="0"/>
                    </a:p>
                    <a:p>
                      <a:pPr marL="0" marR="0" lvl="0" indent="0" algn="l" rtl="0">
                        <a:lnSpc>
                          <a:spcPct val="100000"/>
                        </a:lnSpc>
                        <a:spcBef>
                          <a:spcPts val="0"/>
                        </a:spcBef>
                        <a:spcAft>
                          <a:spcPts val="0"/>
                        </a:spcAft>
                        <a:buClr>
                          <a:srgbClr val="333333"/>
                        </a:buClr>
                        <a:buSzPts val="700"/>
                        <a:buFont typeface="Arial"/>
                        <a:buNone/>
                      </a:pPr>
                      <a:r>
                        <a:rPr lang="ja" sz="800" u="none" strike="noStrike" cap="none" dirty="0"/>
                        <a:t>監査方針、AI個別権限、入出力制御</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cs typeface="Arial"/>
                          <a:sym typeface="Arial"/>
                        </a:rPr>
                        <a:t>AIユースケース検討時</a:t>
                      </a:r>
                      <a:endParaRPr sz="1400" u="none" strike="noStrike" cap="none" dirty="0"/>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extLst>
                  <a:ext uri="{0D108BD9-81ED-4DB2-BD59-A6C34878D82A}">
                    <a16:rowId xmlns:a16="http://schemas.microsoft.com/office/drawing/2014/main" val="10002"/>
                  </a:ext>
                </a:extLst>
              </a:tr>
              <a:tr h="426225">
                <a:tc>
                  <a:txBody>
                    <a:bodyPr/>
                    <a:lstStyle/>
                    <a:p>
                      <a:pPr marL="0" marR="0" lvl="0" indent="0" algn="l" rtl="0">
                        <a:lnSpc>
                          <a:spcPct val="100000"/>
                        </a:lnSpc>
                        <a:spcBef>
                          <a:spcPts val="0"/>
                        </a:spcBef>
                        <a:spcAft>
                          <a:spcPts val="0"/>
                        </a:spcAft>
                        <a:buClr>
                          <a:srgbClr val="5298BA"/>
                        </a:buClr>
                        <a:buSzPts val="700"/>
                        <a:buFont typeface="Arial"/>
                        <a:buNone/>
                      </a:pP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③進化性</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AIモデルは短期間で変化するため、精度評価・</a:t>
                      </a:r>
                      <a:endParaRPr sz="800" u="none" strike="noStrike" cap="none" dirty="0"/>
                    </a:p>
                    <a:p>
                      <a:pPr marL="0" marR="0" lvl="0" indent="0" algn="l" rtl="0">
                        <a:lnSpc>
                          <a:spcPct val="100000"/>
                        </a:lnSpc>
                        <a:spcBef>
                          <a:spcPts val="0"/>
                        </a:spcBef>
                        <a:spcAft>
                          <a:spcPts val="0"/>
                        </a:spcAft>
                        <a:buClr>
                          <a:srgbClr val="333333"/>
                        </a:buClr>
                        <a:buSzPts val="700"/>
                        <a:buFont typeface="Arial"/>
                        <a:buNone/>
                      </a:pPr>
                      <a:r>
                        <a:rPr lang="ja" sz="800" u="none" strike="noStrike" cap="none" dirty="0"/>
                        <a:t>劣化検知・改善サイクルを前提とした運用が必要になる</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評価指標、劣化検知、モデル/プロンプト/RAG構成の管理、切替手順、改善サイクル</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本番利用するAI機能・モデルの導入方針が決まった時</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extLst>
                  <a:ext uri="{0D108BD9-81ED-4DB2-BD59-A6C34878D82A}">
                    <a16:rowId xmlns:a16="http://schemas.microsoft.com/office/drawing/2014/main" val="10003"/>
                  </a:ext>
                </a:extLst>
              </a:tr>
              <a:tr h="426225">
                <a:tc>
                  <a:txBody>
                    <a:bodyPr/>
                    <a:lstStyle/>
                    <a:p>
                      <a:pPr marL="0" marR="0" lvl="0" indent="0" algn="l" rtl="0">
                        <a:lnSpc>
                          <a:spcPct val="100000"/>
                        </a:lnSpc>
                        <a:spcBef>
                          <a:spcPts val="0"/>
                        </a:spcBef>
                        <a:spcAft>
                          <a:spcPts val="0"/>
                        </a:spcAft>
                        <a:buClr>
                          <a:srgbClr val="5298BA"/>
                        </a:buClr>
                        <a:buSzPts val="700"/>
                        <a:buFont typeface="Arial"/>
                        <a:buNone/>
                      </a:pP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④実効性</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介護記録テキスト、音声、IoT、映像等の非構造化</a:t>
                      </a:r>
                      <a:endParaRPr sz="800" u="none" strike="noStrike" cap="none" dirty="0"/>
                    </a:p>
                    <a:p>
                      <a:pPr marL="0" marR="0" lvl="0" indent="0" algn="l" rtl="0">
                        <a:lnSpc>
                          <a:spcPct val="100000"/>
                        </a:lnSpc>
                        <a:spcBef>
                          <a:spcPts val="0"/>
                        </a:spcBef>
                        <a:spcAft>
                          <a:spcPts val="0"/>
                        </a:spcAft>
                        <a:buClr>
                          <a:srgbClr val="333333"/>
                        </a:buClr>
                        <a:buSzPts val="700"/>
                        <a:buFont typeface="Arial"/>
                        <a:buNone/>
                      </a:pPr>
                      <a:r>
                        <a:rPr lang="ja" sz="800" u="none" strike="noStrike" cap="none" dirty="0"/>
                        <a:t>データは、構造化データと異なる加工設計が必要になる</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対象データ選定、原本/加工後データ管理、チャンク化・ベクトル化、品質管理、構造化データとの紐付け</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非構造化データを用いる具体ユースケースが決まり、対象データと精度要件が明確になった時</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extLst>
                  <a:ext uri="{0D108BD9-81ED-4DB2-BD59-A6C34878D82A}">
                    <a16:rowId xmlns:a16="http://schemas.microsoft.com/office/drawing/2014/main" val="10004"/>
                  </a:ext>
                </a:extLst>
              </a:tr>
              <a:tr h="426225">
                <a:tc>
                  <a:txBody>
                    <a:bodyPr/>
                    <a:lstStyle/>
                    <a:p>
                      <a:pPr marL="0" marR="0" lvl="0" indent="0" algn="l" rtl="0">
                        <a:lnSpc>
                          <a:spcPct val="100000"/>
                        </a:lnSpc>
                        <a:spcBef>
                          <a:spcPts val="0"/>
                        </a:spcBef>
                        <a:spcAft>
                          <a:spcPts val="0"/>
                        </a:spcAft>
                        <a:buClr>
                          <a:srgbClr val="5298BA"/>
                        </a:buClr>
                        <a:buSzPts val="700"/>
                        <a:buFont typeface="Arial"/>
                        <a:buNone/>
                      </a:pP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⑤運用性</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AIはモデル・データ・プロンプト・ツールの複合体と</a:t>
                      </a:r>
                      <a:endParaRPr sz="800" u="none" strike="noStrike" cap="none" dirty="0"/>
                    </a:p>
                    <a:p>
                      <a:pPr marL="0" marR="0" lvl="0" indent="0" algn="l" rtl="0">
                        <a:lnSpc>
                          <a:spcPct val="100000"/>
                        </a:lnSpc>
                        <a:spcBef>
                          <a:spcPts val="0"/>
                        </a:spcBef>
                        <a:spcAft>
                          <a:spcPts val="0"/>
                        </a:spcAft>
                        <a:buClr>
                          <a:srgbClr val="333333"/>
                        </a:buClr>
                        <a:buSzPts val="700"/>
                        <a:buFont typeface="Arial"/>
                        <a:buNone/>
                      </a:pPr>
                      <a:r>
                        <a:rPr lang="ja" sz="800" u="none" strike="noStrike" cap="none" dirty="0"/>
                        <a:t>なるため、障害時の原因切り分け、停止判断、</a:t>
                      </a:r>
                      <a:endParaRPr sz="800" u="none" strike="noStrike" cap="none" dirty="0"/>
                    </a:p>
                    <a:p>
                      <a:pPr marL="0" marR="0" lvl="0" indent="0" algn="l" rtl="0">
                        <a:lnSpc>
                          <a:spcPct val="100000"/>
                        </a:lnSpc>
                        <a:spcBef>
                          <a:spcPts val="0"/>
                        </a:spcBef>
                        <a:spcAft>
                          <a:spcPts val="0"/>
                        </a:spcAft>
                        <a:buClr>
                          <a:srgbClr val="333333"/>
                        </a:buClr>
                        <a:buSzPts val="700"/>
                        <a:buFont typeface="Arial"/>
                        <a:buNone/>
                      </a:pPr>
                      <a:r>
                        <a:rPr lang="ja" sz="800" u="none" strike="noStrike" cap="none" dirty="0"/>
                        <a:t>コスト管理が難しくなる</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ログ/トレース、障害切り分け、停止基準、コスト可視化、監視・運用体制</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AIユースケースの実装設計に着手する時</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extLst>
                  <a:ext uri="{0D108BD9-81ED-4DB2-BD59-A6C34878D82A}">
                    <a16:rowId xmlns:a16="http://schemas.microsoft.com/office/drawing/2014/main" val="10005"/>
                  </a:ext>
                </a:extLst>
              </a:tr>
              <a:tr h="426225">
                <a:tc>
                  <a:txBody>
                    <a:bodyPr/>
                    <a:lstStyle/>
                    <a:p>
                      <a:pPr marL="0" marR="0" lvl="0" indent="0" algn="l" rtl="0">
                        <a:lnSpc>
                          <a:spcPct val="100000"/>
                        </a:lnSpc>
                        <a:spcBef>
                          <a:spcPts val="0"/>
                        </a:spcBef>
                        <a:spcAft>
                          <a:spcPts val="0"/>
                        </a:spcAft>
                        <a:buClr>
                          <a:srgbClr val="5298BA"/>
                        </a:buClr>
                        <a:buSzPts val="700"/>
                        <a:buFont typeface="Arial"/>
                        <a:buNone/>
                      </a:pP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⑥</a:t>
                      </a:r>
                      <a:r>
                        <a:rPr lang="ja" sz="800" b="1" u="none" strike="noStrike" cap="none" dirty="0">
                          <a:solidFill>
                            <a:srgbClr val="5298BA"/>
                          </a:solidFill>
                        </a:rPr>
                        <a:t>開発</a:t>
                      </a: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速度</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AI開発は試行錯誤前提であり、PoC→本番→横展開の標準手順が未整備だと立ち上げが遅延する</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標準運用、利用可能データ範囲、権限付与、PoC→本番移行条件</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PoC候補具体化時に環境要件を確定</a:t>
                      </a:r>
                      <a:endParaRPr sz="800" u="none" strike="noStrike" cap="none" dirty="0"/>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extLst>
                  <a:ext uri="{0D108BD9-81ED-4DB2-BD59-A6C34878D82A}">
                    <a16:rowId xmlns:a16="http://schemas.microsoft.com/office/drawing/2014/main" val="10006"/>
                  </a:ext>
                </a:extLst>
              </a:tr>
              <a:tr h="426225">
                <a:tc>
                  <a:txBody>
                    <a:bodyPr/>
                    <a:lstStyle/>
                    <a:p>
                      <a:pPr marL="0" marR="0" lvl="0" indent="0" algn="l" rtl="0">
                        <a:lnSpc>
                          <a:spcPct val="100000"/>
                        </a:lnSpc>
                        <a:spcBef>
                          <a:spcPts val="0"/>
                        </a:spcBef>
                        <a:spcAft>
                          <a:spcPts val="0"/>
                        </a:spcAft>
                        <a:buClr>
                          <a:srgbClr val="5298BA"/>
                        </a:buClr>
                        <a:buSzPts val="700"/>
                        <a:buFont typeface="Arial"/>
                        <a:buNone/>
                      </a:pPr>
                      <a:r>
                        <a:rPr lang="ja"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⑦</a:t>
                      </a:r>
                      <a:r>
                        <a:rPr lang="ja-JP" altLang="en-US" sz="800" b="1" u="none" strike="noStrike" cap="none" dirty="0">
                          <a:solidFill>
                            <a:srgbClr val="5298BA"/>
                          </a:solidFill>
                          <a:latin typeface="游ゴシック" panose="020B0400000000000000" pitchFamily="50" charset="-128"/>
                          <a:ea typeface="游ゴシック" panose="020B0400000000000000" pitchFamily="50" charset="-128"/>
                          <a:cs typeface="Arial"/>
                          <a:sym typeface="Arial"/>
                        </a:rPr>
                        <a:t>スケール</a:t>
                      </a:r>
                      <a:endParaRPr sz="8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AI/Agent増加で品質・責任・コスト管理が難しくなる</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登録管理、標準化、責任分界、コスト管理</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800" u="none" strike="noStrike" cap="none" dirty="0">
                          <a:latin typeface="游ゴシック" panose="020B0400000000000000" pitchFamily="50" charset="-128"/>
                          <a:ea typeface="游ゴシック" panose="020B0400000000000000" pitchFamily="50" charset="-128"/>
                        </a:rPr>
                        <a:t>複数AI機能が開発された時</a:t>
                      </a:r>
                      <a:endParaRPr sz="700" u="none" strike="noStrike" cap="none" dirty="0">
                        <a:latin typeface="游ゴシック" panose="020B0400000000000000" pitchFamily="50" charset="-128"/>
                        <a:ea typeface="游ゴシック" panose="020B0400000000000000" pitchFamily="50" charset="-128"/>
                        <a:cs typeface="Arial"/>
                        <a:sym typeface="Arial"/>
                      </a:endParaRPr>
                    </a:p>
                  </a:txBody>
                  <a:tcPr marL="91450" marR="91450" marT="45725" marB="45725" anchor="ctr">
                    <a:lnL w="9525" cap="flat" cmpd="sng">
                      <a:solidFill>
                        <a:srgbClr val="E8E8E8"/>
                      </a:solidFill>
                      <a:prstDash val="solid"/>
                      <a:round/>
                      <a:headEnd type="none" w="sm" len="sm"/>
                      <a:tailEnd type="none" w="sm" len="sm"/>
                    </a:lnL>
                    <a:lnR w="9525" cap="flat" cmpd="sng">
                      <a:solidFill>
                        <a:srgbClr val="E8E8E8"/>
                      </a:solidFill>
                      <a:prstDash val="solid"/>
                      <a:round/>
                      <a:headEnd type="none" w="sm" len="sm"/>
                      <a:tailEnd type="none" w="sm" len="sm"/>
                    </a:lnR>
                    <a:lnT w="9525" cap="flat" cmpd="sng">
                      <a:solidFill>
                        <a:srgbClr val="E8E8E8"/>
                      </a:solidFill>
                      <a:prstDash val="solid"/>
                      <a:round/>
                      <a:headEnd type="none" w="sm" len="sm"/>
                      <a:tailEnd type="none" w="sm" len="sm"/>
                    </a:lnT>
                    <a:lnB w="9525" cap="flat" cmpd="sng">
                      <a:solidFill>
                        <a:srgbClr val="E8E8E8"/>
                      </a:solidFill>
                      <a:prstDash val="solid"/>
                      <a:round/>
                      <a:headEnd type="none" w="sm" len="sm"/>
                      <a:tailEnd type="none" w="sm" len="sm"/>
                    </a:lnB>
                    <a:solidFill>
                      <a:srgbClr val="FAFCFD"/>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15"/>
          <p:cNvSpPr/>
          <p:nvPr/>
        </p:nvSpPr>
        <p:spPr>
          <a:xfrm>
            <a:off x="594550" y="787550"/>
            <a:ext cx="7562100" cy="31896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altLang="ja" sz="1400" b="0" i="0" u="none" strike="noStrike" cap="none" dirty="0">
                <a:solidFill>
                  <a:srgbClr val="000000"/>
                </a:solidFill>
                <a:latin typeface="游ゴシック" panose="020B0400000000000000" pitchFamily="50" charset="-128"/>
                <a:ea typeface="游ゴシック" panose="020B0400000000000000" pitchFamily="50" charset="-128"/>
                <a:sym typeface="Arial"/>
              </a:rPr>
              <a:t>4. </a:t>
            </a:r>
            <a:r>
              <a:rPr lang="ja" sz="1400" b="0" i="0" u="none" strike="noStrike" cap="none" dirty="0">
                <a:solidFill>
                  <a:srgbClr val="000000"/>
                </a:solidFill>
                <a:latin typeface="游ゴシック" panose="020B0400000000000000" pitchFamily="50" charset="-128"/>
                <a:ea typeface="游ゴシック" panose="020B0400000000000000" pitchFamily="50" charset="-128"/>
                <a:sym typeface="Arial"/>
              </a:rPr>
              <a:t>SW構成基本方針/データ・フロー基本方針</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graphicFrame>
        <p:nvGraphicFramePr>
          <p:cNvPr id="317" name="Google Shape;317;p16"/>
          <p:cNvGraphicFramePr/>
          <p:nvPr>
            <p:extLst>
              <p:ext uri="{D42A27DB-BD31-4B8C-83A1-F6EECF244321}">
                <p14:modId xmlns:p14="http://schemas.microsoft.com/office/powerpoint/2010/main" val="4199059237"/>
              </p:ext>
            </p:extLst>
          </p:nvPr>
        </p:nvGraphicFramePr>
        <p:xfrm>
          <a:off x="406301" y="914400"/>
          <a:ext cx="8051875" cy="3922423"/>
        </p:xfrm>
        <a:graphic>
          <a:graphicData uri="http://schemas.openxmlformats.org/drawingml/2006/table">
            <a:tbl>
              <a:tblPr>
                <a:noFill/>
                <a:tableStyleId>{831F8A93-CA79-4AF6-B420-68E9A51CCC31}</a:tableStyleId>
              </a:tblPr>
              <a:tblGrid>
                <a:gridCol w="1250775">
                  <a:extLst>
                    <a:ext uri="{9D8B030D-6E8A-4147-A177-3AD203B41FA5}">
                      <a16:colId xmlns:a16="http://schemas.microsoft.com/office/drawing/2014/main" val="20000"/>
                    </a:ext>
                  </a:extLst>
                </a:gridCol>
                <a:gridCol w="4655671">
                  <a:extLst>
                    <a:ext uri="{9D8B030D-6E8A-4147-A177-3AD203B41FA5}">
                      <a16:colId xmlns:a16="http://schemas.microsoft.com/office/drawing/2014/main" val="20001"/>
                    </a:ext>
                  </a:extLst>
                </a:gridCol>
                <a:gridCol w="2145429">
                  <a:extLst>
                    <a:ext uri="{9D8B030D-6E8A-4147-A177-3AD203B41FA5}">
                      <a16:colId xmlns:a16="http://schemas.microsoft.com/office/drawing/2014/main" val="20002"/>
                    </a:ext>
                  </a:extLst>
                </a:gridCol>
              </a:tblGrid>
              <a:tr h="369475">
                <a:tc>
                  <a:txBody>
                    <a:bodyPr/>
                    <a:lstStyle/>
                    <a:p>
                      <a:pPr marL="0" marR="0" lvl="0" indent="0" algn="l" rtl="0">
                        <a:lnSpc>
                          <a:spcPct val="126923"/>
                        </a:lnSpc>
                        <a:spcBef>
                          <a:spcPts val="0"/>
                        </a:spcBef>
                        <a:spcAft>
                          <a:spcPts val="0"/>
                        </a:spcAft>
                        <a:buClr>
                          <a:srgbClr val="FFFFFF"/>
                        </a:buClr>
                        <a:buSzPts val="1000"/>
                        <a:buFont typeface="Arial"/>
                        <a:buNone/>
                      </a:pPr>
                      <a:r>
                        <a:rPr lang="ja" sz="1000" b="1" i="0"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コンポーネント</a:t>
                      </a:r>
                      <a:r>
                        <a:rPr lang="ja" sz="1000" b="1" i="0" u="none" strike="noStrike" cap="none" dirty="0">
                          <a:solidFill>
                            <a:srgbClr val="000000"/>
                          </a:solidFill>
                        </a:rPr>
                        <a:t>​</a:t>
                      </a:r>
                      <a:endParaRPr sz="1000" b="1"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solidFill>
                      <a:srgbClr val="333333"/>
                    </a:solidFill>
                  </a:tcPr>
                </a:tc>
                <a:tc>
                  <a:txBody>
                    <a:bodyPr/>
                    <a:lstStyle/>
                    <a:p>
                      <a:pPr marL="0" marR="0" lvl="0" indent="0" algn="l" rtl="0">
                        <a:lnSpc>
                          <a:spcPct val="126923"/>
                        </a:lnSpc>
                        <a:spcBef>
                          <a:spcPts val="0"/>
                        </a:spcBef>
                        <a:spcAft>
                          <a:spcPts val="0"/>
                        </a:spcAft>
                        <a:buClr>
                          <a:srgbClr val="FFFFFF"/>
                        </a:buClr>
                        <a:buSzPts val="1000"/>
                        <a:buFont typeface="Arial"/>
                        <a:buNone/>
                      </a:pPr>
                      <a:r>
                        <a:rPr lang="ja" sz="1000" b="1" i="0"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構成方針</a:t>
                      </a:r>
                      <a:r>
                        <a:rPr lang="ja" sz="1000" b="1" i="0" u="none" strike="noStrike" cap="none" dirty="0">
                          <a:solidFill>
                            <a:srgbClr val="000000"/>
                          </a:solidFill>
                        </a:rPr>
                        <a:t>​</a:t>
                      </a:r>
                      <a:endParaRPr sz="1000" b="1"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solidFill>
                      <a:srgbClr val="333333"/>
                    </a:solidFill>
                  </a:tcPr>
                </a:tc>
                <a:tc>
                  <a:txBody>
                    <a:bodyPr/>
                    <a:lstStyle/>
                    <a:p>
                      <a:pPr marL="0" marR="0" lvl="0" indent="0" algn="l" rtl="0">
                        <a:lnSpc>
                          <a:spcPct val="95000"/>
                        </a:lnSpc>
                        <a:spcBef>
                          <a:spcPts val="0"/>
                        </a:spcBef>
                        <a:spcAft>
                          <a:spcPts val="0"/>
                        </a:spcAft>
                        <a:buClr>
                          <a:srgbClr val="000000"/>
                        </a:buClr>
                        <a:buSzPts val="800"/>
                        <a:buFont typeface="Arial"/>
                        <a:buNone/>
                      </a:pPr>
                      <a:r>
                        <a:rPr lang="ja" sz="1000" b="1" u="none" strike="noStrike" cap="none" dirty="0">
                          <a:solidFill>
                            <a:srgbClr val="FFFFFF"/>
                          </a:solidFill>
                          <a:latin typeface="游ゴシック" panose="020B0400000000000000" pitchFamily="50" charset="-128"/>
                          <a:ea typeface="游ゴシック" panose="020B0400000000000000" pitchFamily="50" charset="-128"/>
                          <a:cs typeface="Century Gothic"/>
                          <a:sym typeface="Century Gothic"/>
                        </a:rPr>
                        <a:t>対応する優先要件</a:t>
                      </a:r>
                      <a:endParaRPr sz="1800" b="1" dirty="0">
                        <a:latin typeface="游ゴシック" panose="020B0400000000000000" pitchFamily="50" charset="-128"/>
                        <a:ea typeface="游ゴシック" panose="020B0400000000000000" pitchFamily="50" charset="-128"/>
                      </a:endParaRPr>
                    </a:p>
                  </a:txBody>
                  <a:tcPr marL="91450" marR="91450" marT="45725" marB="45725" anchor="ctr">
                    <a:lnL w="12050" cap="flat" cmpd="sng">
                      <a:solidFill>
                        <a:srgbClr val="121212"/>
                      </a:solidFill>
                      <a:prstDash val="solid"/>
                      <a:round/>
                      <a:headEnd type="none" w="sm" len="sm"/>
                      <a:tailEnd type="none" w="sm" len="sm"/>
                    </a:lnL>
                    <a:solidFill>
                      <a:srgbClr val="333333"/>
                    </a:solidFill>
                  </a:tcPr>
                </a:tc>
                <a:extLst>
                  <a:ext uri="{0D108BD9-81ED-4DB2-BD59-A6C34878D82A}">
                    <a16:rowId xmlns:a16="http://schemas.microsoft.com/office/drawing/2014/main" val="10000"/>
                  </a:ext>
                </a:extLst>
              </a:tr>
              <a:tr h="447875">
                <a:tc>
                  <a:txBody>
                    <a:bodyPr/>
                    <a:lstStyle/>
                    <a:p>
                      <a:pPr marL="0" marR="0" lvl="0" indent="0" algn="l" rtl="0">
                        <a:lnSpc>
                          <a:spcPct val="95000"/>
                        </a:lnSpc>
                        <a:spcBef>
                          <a:spcPts val="0"/>
                        </a:spcBef>
                        <a:spcAft>
                          <a:spcPts val="0"/>
                        </a:spcAft>
                        <a:buClr>
                          <a:srgbClr val="000000"/>
                        </a:buClr>
                        <a:buSzPts val="800"/>
                        <a:buFont typeface="Arial"/>
                        <a:buNone/>
                      </a:pPr>
                      <a:r>
                        <a:rPr lang="ja" sz="800" b="1"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インテグレーション</a:t>
                      </a:r>
                      <a:r>
                        <a:rPr lang="ja" sz="800" b="0" i="0" u="none" strike="noStrike" cap="none" dirty="0">
                          <a:solidFill>
                            <a:srgbClr val="000000"/>
                          </a:solidFill>
                        </a:rPr>
                        <a:t>​</a:t>
                      </a:r>
                      <a:endParaRPr sz="800" b="0"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多様なデータソースを標準的な接続方式で取り込める構成とする​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既存連携の再利用を重視しつつ、将来の非構造化データや外部サービス連携の追加にも対応可能とする​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2</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開発・移行</a:t>
                      </a:r>
                      <a:endParaRPr dirty="0">
                        <a:latin typeface="游ゴシック" panose="020B0400000000000000" pitchFamily="50" charset="-128"/>
                        <a:ea typeface="游ゴシック" panose="020B0400000000000000" pitchFamily="50" charset="-128"/>
                      </a:endParaRPr>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4</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将来拡張性</a:t>
                      </a:r>
                      <a:endParaRPr dirty="0"/>
                    </a:p>
                  </a:txBody>
                  <a:tcPr marL="91450" marR="91450" marT="45725" marB="45725" anchor="ctr">
                    <a:lnL w="12050" cap="flat" cmpd="sng">
                      <a:solidFill>
                        <a:srgbClr val="121212"/>
                      </a:solidFill>
                      <a:prstDash val="solid"/>
                      <a:round/>
                      <a:headEnd type="none" w="sm" len="sm"/>
                      <a:tailEnd type="none" w="sm" len="sm"/>
                    </a:lnL>
                  </a:tcPr>
                </a:tc>
                <a:extLst>
                  <a:ext uri="{0D108BD9-81ED-4DB2-BD59-A6C34878D82A}">
                    <a16:rowId xmlns:a16="http://schemas.microsoft.com/office/drawing/2014/main" val="10001"/>
                  </a:ext>
                </a:extLst>
              </a:tr>
              <a:tr h="447875">
                <a:tc>
                  <a:txBody>
                    <a:bodyPr/>
                    <a:lstStyle/>
                    <a:p>
                      <a:pPr marL="0" marR="0" lvl="0" indent="0" algn="l" rtl="0">
                        <a:lnSpc>
                          <a:spcPct val="95000"/>
                        </a:lnSpc>
                        <a:spcBef>
                          <a:spcPts val="0"/>
                        </a:spcBef>
                        <a:spcAft>
                          <a:spcPts val="0"/>
                        </a:spcAft>
                        <a:buClr>
                          <a:srgbClr val="000000"/>
                        </a:buClr>
                        <a:buSzPts val="800"/>
                        <a:buFont typeface="Arial"/>
                        <a:buNone/>
                      </a:pPr>
                      <a:r>
                        <a:rPr lang="ja" sz="800" b="1"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ストレージ</a:t>
                      </a:r>
                      <a:r>
                        <a:rPr lang="ja" sz="800" b="0" i="0" u="none" strike="noStrike" cap="none" dirty="0">
                          <a:solidFill>
                            <a:srgbClr val="000000"/>
                          </a:solidFill>
                        </a:rPr>
                        <a:t>​</a:t>
                      </a:r>
                      <a:endParaRPr sz="800" b="0"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構造化データを中心に、原本・標準化済み・活用用データを統合管理できる構成とする​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将来の非構造化データ追加を阻害しないことを前提とする​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2</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開発・移行</a:t>
                      </a:r>
                      <a:endParaRPr dirty="0">
                        <a:latin typeface="游ゴシック" panose="020B0400000000000000" pitchFamily="50" charset="-128"/>
                        <a:ea typeface="游ゴシック" panose="020B0400000000000000" pitchFamily="50" charset="-128"/>
                      </a:endParaRPr>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4</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将来拡張性</a:t>
                      </a:r>
                      <a:endParaRPr dirty="0"/>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1</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コスト構造</a:t>
                      </a:r>
                      <a:endParaRPr dirty="0"/>
                    </a:p>
                  </a:txBody>
                  <a:tcPr marL="91450" marR="91450" marT="45725" marB="45725" anchor="ctr">
                    <a:lnL w="12050" cap="flat" cmpd="sng">
                      <a:solidFill>
                        <a:srgbClr val="121212"/>
                      </a:solidFill>
                      <a:prstDash val="solid"/>
                      <a:round/>
                      <a:headEnd type="none" w="sm" len="sm"/>
                      <a:tailEnd type="none" w="sm" len="sm"/>
                    </a:lnL>
                  </a:tcPr>
                </a:tc>
                <a:extLst>
                  <a:ext uri="{0D108BD9-81ED-4DB2-BD59-A6C34878D82A}">
                    <a16:rowId xmlns:a16="http://schemas.microsoft.com/office/drawing/2014/main" val="10002"/>
                  </a:ext>
                </a:extLst>
              </a:tr>
              <a:tr h="447875">
                <a:tc>
                  <a:txBody>
                    <a:bodyPr/>
                    <a:lstStyle/>
                    <a:p>
                      <a:pPr marL="0" marR="0" lvl="0" indent="0" algn="l" rtl="0">
                        <a:lnSpc>
                          <a:spcPct val="95000"/>
                        </a:lnSpc>
                        <a:spcBef>
                          <a:spcPts val="0"/>
                        </a:spcBef>
                        <a:spcAft>
                          <a:spcPts val="0"/>
                        </a:spcAft>
                        <a:buClr>
                          <a:srgbClr val="000000"/>
                        </a:buClr>
                        <a:buSzPts val="800"/>
                        <a:buFont typeface="Arial"/>
                        <a:buNone/>
                      </a:pPr>
                      <a:r>
                        <a:rPr lang="ja" sz="800" b="1"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オーケストレーション</a:t>
                      </a:r>
                      <a:r>
                        <a:rPr lang="ja" sz="800" b="0" i="0" u="none" strike="noStrike" cap="none" dirty="0">
                          <a:solidFill>
                            <a:srgbClr val="000000"/>
                          </a:solidFill>
                        </a:rPr>
                        <a:t>​</a:t>
                      </a:r>
                      <a:endParaRPr sz="800" b="0"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ワークフロー実行、スケジュール管理、再実行、監視を一元的に扱える構成とする​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個別運用を増やしすぎず運用負荷を抑えやすい構成とする​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2</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開発・移行</a:t>
                      </a:r>
                      <a:endParaRPr dirty="0">
                        <a:latin typeface="游ゴシック" panose="020B0400000000000000" pitchFamily="50" charset="-128"/>
                        <a:ea typeface="游ゴシック" panose="020B0400000000000000" pitchFamily="50" charset="-128"/>
                      </a:endParaRPr>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3</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運用継続性・ガバナンス</a:t>
                      </a:r>
                      <a:endParaRPr dirty="0"/>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1</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コスト構造</a:t>
                      </a:r>
                      <a:endParaRPr dirty="0"/>
                    </a:p>
                  </a:txBody>
                  <a:tcPr marL="91450" marR="91450" marT="45725" marB="45725" anchor="ctr">
                    <a:lnL w="12050" cap="flat" cmpd="sng">
                      <a:solidFill>
                        <a:srgbClr val="121212"/>
                      </a:solidFill>
                      <a:prstDash val="solid"/>
                      <a:round/>
                      <a:headEnd type="none" w="sm" len="sm"/>
                      <a:tailEnd type="none" w="sm" len="sm"/>
                    </a:lnL>
                  </a:tcPr>
                </a:tc>
                <a:extLst>
                  <a:ext uri="{0D108BD9-81ED-4DB2-BD59-A6C34878D82A}">
                    <a16:rowId xmlns:a16="http://schemas.microsoft.com/office/drawing/2014/main" val="10003"/>
                  </a:ext>
                </a:extLst>
              </a:tr>
              <a:tr h="583525">
                <a:tc>
                  <a:txBody>
                    <a:bodyPr/>
                    <a:lstStyle/>
                    <a:p>
                      <a:pPr marL="0" marR="0" lvl="0" indent="0" algn="l" rtl="0">
                        <a:lnSpc>
                          <a:spcPct val="95000"/>
                        </a:lnSpc>
                        <a:spcBef>
                          <a:spcPts val="0"/>
                        </a:spcBef>
                        <a:spcAft>
                          <a:spcPts val="0"/>
                        </a:spcAft>
                        <a:buClr>
                          <a:srgbClr val="000000"/>
                        </a:buClr>
                        <a:buSzPts val="800"/>
                        <a:buFont typeface="Arial"/>
                        <a:buNone/>
                      </a:pPr>
                      <a:r>
                        <a:rPr lang="ja" sz="800" b="1"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変換・処理</a:t>
                      </a:r>
                      <a:r>
                        <a:rPr lang="ja" sz="800" b="0" i="0" u="none" strike="noStrike" cap="none" dirty="0">
                          <a:solidFill>
                            <a:srgbClr val="000000"/>
                          </a:solidFill>
                        </a:rPr>
                        <a:t>​</a:t>
                      </a:r>
                      <a:endParaRPr sz="800" b="0"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既存パイプライン資産の再利用性・移植性を重視し、処理ロジックを継承しやすい構成とする​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将来の追加加工(</a:t>
                      </a:r>
                      <a:r>
                        <a:rPr lang="ja" sz="800" u="none" strike="noStrike" cap="none" dirty="0"/>
                        <a:t>非構造データ含む)</a:t>
                      </a: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にも拡張可能とし、管理しやすい構成とする。個別実装や属人運用を増やさないことを重視する​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2</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開発・移行</a:t>
                      </a:r>
                      <a:endParaRPr dirty="0">
                        <a:latin typeface="游ゴシック" panose="020B0400000000000000" pitchFamily="50" charset="-128"/>
                        <a:ea typeface="游ゴシック" panose="020B0400000000000000" pitchFamily="50" charset="-128"/>
                      </a:endParaRPr>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4</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将来拡張性</a:t>
                      </a:r>
                      <a:endParaRPr dirty="0"/>
                    </a:p>
                  </a:txBody>
                  <a:tcPr marL="91450" marR="91450" marT="45725" marB="45725" anchor="ctr">
                    <a:lnL w="12050" cap="flat" cmpd="sng">
                      <a:solidFill>
                        <a:srgbClr val="121212"/>
                      </a:solidFill>
                      <a:prstDash val="solid"/>
                      <a:round/>
                      <a:headEnd type="none" w="sm" len="sm"/>
                      <a:tailEnd type="none" w="sm" len="sm"/>
                    </a:lnL>
                  </a:tcPr>
                </a:tc>
                <a:extLst>
                  <a:ext uri="{0D108BD9-81ED-4DB2-BD59-A6C34878D82A}">
                    <a16:rowId xmlns:a16="http://schemas.microsoft.com/office/drawing/2014/main" val="10004"/>
                  </a:ext>
                </a:extLst>
              </a:tr>
              <a:tr h="583525">
                <a:tc>
                  <a:txBody>
                    <a:bodyPr/>
                    <a:lstStyle/>
                    <a:p>
                      <a:pPr marL="0" marR="0" lvl="0" indent="0" algn="l" rtl="0">
                        <a:lnSpc>
                          <a:spcPct val="95000"/>
                        </a:lnSpc>
                        <a:spcBef>
                          <a:spcPts val="0"/>
                        </a:spcBef>
                        <a:spcAft>
                          <a:spcPts val="0"/>
                        </a:spcAft>
                        <a:buClr>
                          <a:srgbClr val="000000"/>
                        </a:buClr>
                        <a:buSzPts val="800"/>
                        <a:buFont typeface="Arial"/>
                        <a:buNone/>
                      </a:pPr>
                      <a:r>
                        <a:rPr lang="ja" sz="800" b="1"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ガバナンス</a:t>
                      </a:r>
                      <a:r>
                        <a:rPr lang="ja" sz="800" b="0" i="0" u="none" strike="noStrike" cap="none" dirty="0">
                          <a:solidFill>
                            <a:srgbClr val="000000"/>
                          </a:solidFill>
                        </a:rPr>
                        <a:t>​</a:t>
                      </a:r>
                      <a:endParaRPr sz="800" b="0"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カタログ、リネージ、権限、監査ログを統合的に管理・運用できる構成とする​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データとパイプラインを横断して可視化・統制でき、管理対象、更新責任、監査運用が継続できることを重視する​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3</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運用継続性・ガバナンス</a:t>
                      </a:r>
                      <a:endParaRPr dirty="0">
                        <a:latin typeface="游ゴシック" panose="020B0400000000000000" pitchFamily="50" charset="-128"/>
                        <a:ea typeface="游ゴシック" panose="020B0400000000000000" pitchFamily="50" charset="-128"/>
                      </a:endParaRPr>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1</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コスト構造</a:t>
                      </a:r>
                      <a:endParaRPr dirty="0"/>
                    </a:p>
                  </a:txBody>
                  <a:tcPr marL="91450" marR="91450" marT="45725" marB="45725" anchor="ctr">
                    <a:lnL w="12050" cap="flat" cmpd="sng">
                      <a:solidFill>
                        <a:srgbClr val="121212"/>
                      </a:solidFill>
                      <a:prstDash val="solid"/>
                      <a:round/>
                      <a:headEnd type="none" w="sm" len="sm"/>
                      <a:tailEnd type="none" w="sm" len="sm"/>
                    </a:lnL>
                  </a:tcPr>
                </a:tc>
                <a:extLst>
                  <a:ext uri="{0D108BD9-81ED-4DB2-BD59-A6C34878D82A}">
                    <a16:rowId xmlns:a16="http://schemas.microsoft.com/office/drawing/2014/main" val="10005"/>
                  </a:ext>
                </a:extLst>
              </a:tr>
              <a:tr h="719175">
                <a:tc>
                  <a:txBody>
                    <a:bodyPr/>
                    <a:lstStyle/>
                    <a:p>
                      <a:pPr marL="0" marR="0" lvl="0" indent="0" algn="l" rtl="0">
                        <a:lnSpc>
                          <a:spcPct val="95000"/>
                        </a:lnSpc>
                        <a:spcBef>
                          <a:spcPts val="0"/>
                        </a:spcBef>
                        <a:spcAft>
                          <a:spcPts val="0"/>
                        </a:spcAft>
                        <a:buClr>
                          <a:srgbClr val="000000"/>
                        </a:buClr>
                        <a:buSzPts val="800"/>
                        <a:buFont typeface="Arial"/>
                        <a:buNone/>
                      </a:pPr>
                      <a:r>
                        <a:rPr lang="ja" sz="800" b="1"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ML/AI</a:t>
                      </a: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a:t>
                      </a:r>
                      <a:endParaRPr sz="800" b="0"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ML/AI機能そのものは現時点で存在しないため、実装可能な枠確保を基本とする​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将来のML・AIモデル、プロンプト/RAG、推論ログを追加しやすい構成とする​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p>
                      <a:pPr marL="0" marR="0" lvl="0" indent="0" algn="l" rtl="0">
                        <a:lnSpc>
                          <a:spcPct val="95000"/>
                        </a:lnSpc>
                        <a:spcBef>
                          <a:spcPts val="0"/>
                        </a:spcBef>
                        <a:spcAft>
                          <a:spcPts val="0"/>
                        </a:spcAft>
                        <a:buClr>
                          <a:srgbClr val="000000"/>
                        </a:buClr>
                        <a:buSzPts val="800"/>
                        <a:buFont typeface="Arial"/>
                        <a:buChar char="•"/>
                      </a:pPr>
                      <a:r>
                        <a:rPr lang="ja"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将来的に特定モデルのみや特定技術に限定されない構成とする​</a:t>
                      </a:r>
                      <a:endParaRPr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4</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将来拡張性</a:t>
                      </a:r>
                      <a:endParaRPr dirty="0">
                        <a:latin typeface="游ゴシック" panose="020B0400000000000000" pitchFamily="50" charset="-128"/>
                        <a:ea typeface="游ゴシック" panose="020B0400000000000000" pitchFamily="50" charset="-128"/>
                      </a:endParaRPr>
                    </a:p>
                  </a:txBody>
                  <a:tcPr marL="91450" marR="91450" marT="45725" marB="45725" anchor="ctr">
                    <a:lnL w="12050" cap="flat" cmpd="sng">
                      <a:solidFill>
                        <a:srgbClr val="121212"/>
                      </a:solidFill>
                      <a:prstDash val="solid"/>
                      <a:round/>
                      <a:headEnd type="none" w="sm" len="sm"/>
                      <a:tailEnd type="none" w="sm" len="sm"/>
                    </a:lnL>
                  </a:tcPr>
                </a:tc>
                <a:extLst>
                  <a:ext uri="{0D108BD9-81ED-4DB2-BD59-A6C34878D82A}">
                    <a16:rowId xmlns:a16="http://schemas.microsoft.com/office/drawing/2014/main" val="10006"/>
                  </a:ext>
                </a:extLst>
              </a:tr>
              <a:tr h="312250">
                <a:tc>
                  <a:txBody>
                    <a:bodyPr/>
                    <a:lstStyle/>
                    <a:p>
                      <a:pPr marL="0" marR="0" lvl="0" indent="0" algn="l" rtl="0">
                        <a:lnSpc>
                          <a:spcPct val="95000"/>
                        </a:lnSpc>
                        <a:spcBef>
                          <a:spcPts val="0"/>
                        </a:spcBef>
                        <a:spcAft>
                          <a:spcPts val="0"/>
                        </a:spcAft>
                        <a:buClr>
                          <a:srgbClr val="000000"/>
                        </a:buClr>
                        <a:buSzPts val="800"/>
                        <a:buFont typeface="Arial"/>
                        <a:buNone/>
                      </a:pPr>
                      <a:r>
                        <a:rPr lang="ja" sz="800" b="1"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可視化</a:t>
                      </a:r>
                      <a:r>
                        <a:rPr lang="ja" sz="800" b="0" i="0" u="none" strike="noStrike" cap="none" dirty="0">
                          <a:solidFill>
                            <a:srgbClr val="000000"/>
                          </a:solidFill>
                        </a:rPr>
                        <a:t>​</a:t>
                      </a:r>
                      <a:endParaRPr sz="800" b="0" i="0" u="none" strike="noStrike" cap="none" dirty="0">
                        <a:solidFill>
                          <a:srgbClr val="000000"/>
                        </a:solidFill>
                      </a:endParaRP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Char char="•"/>
                      </a:pPr>
                      <a:r>
                        <a:rPr lang="ja-JP" altLang="en-US"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既存</a:t>
                      </a:r>
                      <a:r>
                        <a:rPr lang="en" altLang="ja-JP"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BI</a:t>
                      </a:r>
                      <a:r>
                        <a:rPr lang="ja-JP" altLang="en-US" sz="800" b="0" i="0" u="none" strike="noStrike" cap="none" dirty="0">
                          <a:solidFill>
                            <a:srgbClr val="000000"/>
                          </a:solidFill>
                          <a:latin typeface="游ゴシック" panose="020B0400000000000000" pitchFamily="50" charset="-128"/>
                          <a:ea typeface="游ゴシック" panose="020B0400000000000000" pitchFamily="50" charset="-128"/>
                          <a:cs typeface="Arial"/>
                          <a:sym typeface="Arial"/>
                        </a:rPr>
                        <a:t>資産の再現性を重視しつつ、移行後も利用者に負担なく活用できる可視化構成とする</a:t>
                      </a:r>
                    </a:p>
                  </a:txBody>
                  <a:tcPr marL="65450" marR="65450" marT="32725" marB="32725" anchor="ctr">
                    <a:lnL w="12050" cap="flat" cmpd="sng">
                      <a:solidFill>
                        <a:srgbClr val="121212"/>
                      </a:solidFill>
                      <a:prstDash val="solid"/>
                      <a:round/>
                      <a:headEnd type="none" w="sm" len="sm"/>
                      <a:tailEnd type="none" w="sm" len="sm"/>
                    </a:lnL>
                    <a:lnR w="12050" cap="flat" cmpd="sng">
                      <a:solidFill>
                        <a:srgbClr val="121212"/>
                      </a:solidFill>
                      <a:prstDash val="solid"/>
                      <a:round/>
                      <a:headEnd type="none" w="sm" len="sm"/>
                      <a:tailEnd type="none" w="sm" len="sm"/>
                    </a:lnR>
                    <a:lnT w="12050" cap="flat" cmpd="sng">
                      <a:solidFill>
                        <a:srgbClr val="121212"/>
                      </a:solidFill>
                      <a:prstDash val="solid"/>
                      <a:round/>
                      <a:headEnd type="none" w="sm" len="sm"/>
                      <a:tailEnd type="none" w="sm" len="sm"/>
                    </a:lnT>
                    <a:lnB w="12050" cap="flat" cmpd="sng">
                      <a:solidFill>
                        <a:srgbClr val="121212"/>
                      </a:solidFill>
                      <a:prstDash val="solid"/>
                      <a:round/>
                      <a:headEnd type="none" w="sm" len="sm"/>
                      <a:tailEnd type="none" w="sm" len="sm"/>
                    </a:lnB>
                  </a:tcPr>
                </a:tc>
                <a:tc>
                  <a:txBody>
                    <a:bodyPr/>
                    <a:lstStyle/>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2</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開発・移行</a:t>
                      </a:r>
                      <a:endParaRPr dirty="0">
                        <a:latin typeface="游ゴシック" panose="020B0400000000000000" pitchFamily="50" charset="-128"/>
                        <a:ea typeface="游ゴシック" panose="020B0400000000000000" pitchFamily="50" charset="-128"/>
                      </a:endParaRPr>
                    </a:p>
                    <a:p>
                      <a:pPr marL="0" marR="0" lvl="0" indent="0" algn="l" rtl="0">
                        <a:lnSpc>
                          <a:spcPct val="95000"/>
                        </a:lnSpc>
                        <a:spcBef>
                          <a:spcPts val="0"/>
                        </a:spcBef>
                        <a:spcAft>
                          <a:spcPts val="0"/>
                        </a:spcAft>
                        <a:buClr>
                          <a:srgbClr val="000000"/>
                        </a:buClr>
                        <a:buSzPts val="800"/>
                        <a:buFont typeface="Arial"/>
                        <a:buNone/>
                      </a:pP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要件</a:t>
                      </a:r>
                      <a:r>
                        <a:rPr lang="en-US" alt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3</a:t>
                      </a:r>
                      <a:r>
                        <a:rPr lang="ja" sz="800" u="none" strike="noStrike" cap="none" dirty="0">
                          <a:solidFill>
                            <a:srgbClr val="333333"/>
                          </a:solidFill>
                          <a:latin typeface="游ゴシック" panose="020B0400000000000000" pitchFamily="50" charset="-128"/>
                          <a:ea typeface="游ゴシック" panose="020B0400000000000000" pitchFamily="50" charset="-128"/>
                          <a:cs typeface="Century Gothic"/>
                          <a:sym typeface="Century Gothic"/>
                        </a:rPr>
                        <a:t> 運用継続性・ガバナンス</a:t>
                      </a:r>
                      <a:endParaRPr dirty="0"/>
                    </a:p>
                  </a:txBody>
                  <a:tcPr marL="91450" marR="91450" marT="45725" marB="45725" anchor="ctr">
                    <a:lnL w="12050" cap="flat" cmpd="sng">
                      <a:solidFill>
                        <a:srgbClr val="121212"/>
                      </a:solidFill>
                      <a:prstDash val="solid"/>
                      <a:round/>
                      <a:headEnd type="none" w="sm" len="sm"/>
                      <a:tailEnd type="none" w="sm" len="sm"/>
                    </a:lnL>
                  </a:tcPr>
                </a:tc>
                <a:extLst>
                  <a:ext uri="{0D108BD9-81ED-4DB2-BD59-A6C34878D82A}">
                    <a16:rowId xmlns:a16="http://schemas.microsoft.com/office/drawing/2014/main" val="10007"/>
                  </a:ext>
                </a:extLst>
              </a:tr>
            </a:tbl>
          </a:graphicData>
        </a:graphic>
      </p:graphicFrame>
      <p:sp>
        <p:nvSpPr>
          <p:cNvPr id="318" name="Google Shape;318;p16"/>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4.1 </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主要コンポーネントの基本構成方針</a:t>
            </a:r>
            <a:endParaRPr sz="1800" b="0" i="0" u="none" strike="noStrike" cap="none" dirty="0">
              <a:solidFill>
                <a:schemeClr val="dk1"/>
              </a:solidFill>
              <a:latin typeface="Calibri"/>
              <a:ea typeface="Calibri"/>
              <a:cs typeface="Calibri"/>
              <a:sym typeface="Calibri"/>
            </a:endParaRPr>
          </a:p>
        </p:txBody>
      </p:sp>
      <p:sp>
        <p:nvSpPr>
          <p:cNvPr id="319" name="Google Shape;319;p16"/>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77777"/>
              </a:buClr>
              <a:buSzPts val="1000"/>
              <a:buFont typeface="Century Gothic"/>
              <a:buNone/>
            </a:pPr>
            <a:endParaRPr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endParaRPr>
          </a:p>
        </p:txBody>
      </p:sp>
      <p:sp>
        <p:nvSpPr>
          <p:cNvPr id="320" name="Google Shape;320;p16"/>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77777"/>
              </a:buClr>
              <a:buSzPts val="1000"/>
              <a:buFont typeface="Century Gothic"/>
              <a:buNone/>
            </a:pPr>
            <a:r>
              <a:rPr lang="ja-JP" altLang="en-US"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現行環境で実際に活用されているデータ基盤機能を分解し、業界標準の構成要素に再マッピングした結果、以下の</a:t>
            </a:r>
            <a:r>
              <a:rPr lang="en-US" altLang="ja-JP"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7</a:t>
            </a:r>
            <a:r>
              <a:rPr lang="ja-JP" altLang="en-US"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rPr>
              <a:t>コンポーネントを採用する。</a:t>
            </a:r>
            <a:endParaRPr sz="1000" b="0" i="0" u="none" strike="noStrike" cap="none" dirty="0">
              <a:solidFill>
                <a:schemeClr val="dk1"/>
              </a:solidFill>
              <a:latin typeface="Calibri"/>
              <a:ea typeface="Calibri"/>
              <a:cs typeface="Calibri"/>
              <a:sym typeface="Calibri"/>
            </a:endParaRPr>
          </a:p>
        </p:txBody>
      </p:sp>
    </p:spTree>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5"/>
        <p:cNvGrpSpPr/>
        <p:nvPr/>
      </p:nvGrpSpPr>
      <p:grpSpPr>
        <a:xfrm>
          <a:off x="0" y="0"/>
          <a:ext cx="0" cy="0"/>
          <a:chOff x="0" y="0"/>
          <a:chExt cx="0" cy="0"/>
        </a:xfrm>
      </p:grpSpPr>
      <p:sp>
        <p:nvSpPr>
          <p:cNvPr id="326" name="Google Shape;326;p17"/>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21212"/>
              </a:buClr>
              <a:buSzPts val="1800"/>
              <a:buFont typeface="Century Gothic"/>
              <a:buNone/>
            </a:pPr>
            <a:r>
              <a:rPr lang="en-US" alt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4.2 </a:t>
            </a:r>
            <a:r>
              <a:rPr lang="ja"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rPr>
              <a:t>データの段階的な階層設計</a:t>
            </a:r>
            <a:endParaRPr sz="1800" b="0" i="0" u="none" strike="noStrike" cap="none" dirty="0">
              <a:solidFill>
                <a:schemeClr val="dk1"/>
              </a:solidFill>
              <a:latin typeface="Calibri"/>
              <a:ea typeface="Calibri"/>
              <a:cs typeface="Calibri"/>
              <a:sym typeface="Calibri"/>
            </a:endParaRPr>
          </a:p>
        </p:txBody>
      </p:sp>
      <p:sp>
        <p:nvSpPr>
          <p:cNvPr id="327" name="Google Shape;327;p17"/>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100"/>
              <a:buFont typeface="Arial"/>
              <a:buNone/>
            </a:pPr>
            <a:r>
              <a:rPr lang="ja" sz="1100" b="0" i="0" u="none" strike="noStrike" cap="none" dirty="0">
                <a:solidFill>
                  <a:srgbClr val="666666"/>
                </a:solidFill>
                <a:latin typeface="游ゴシック" panose="020B0400000000000000" pitchFamily="50" charset="-128"/>
                <a:ea typeface="游ゴシック" panose="020B0400000000000000" pitchFamily="50" charset="-128"/>
                <a:sym typeface="Arial"/>
              </a:rPr>
              <a:t>Bronze（生データ）→ Silver（クレンジング済）→ Gold（ビジネスロジック適用）の3層構造</a:t>
            </a:r>
            <a:endParaRPr sz="14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a:p>
            <a:pPr marL="0" marR="0" lvl="0" indent="0" algn="l" rtl="0">
              <a:lnSpc>
                <a:spcPct val="100000"/>
              </a:lnSpc>
              <a:spcBef>
                <a:spcPts val="0"/>
              </a:spcBef>
              <a:spcAft>
                <a:spcPts val="0"/>
              </a:spcAft>
              <a:buClr>
                <a:srgbClr val="777777"/>
              </a:buClr>
              <a:buSzPts val="1000"/>
              <a:buFont typeface="Century Gothic"/>
              <a:buNone/>
            </a:pPr>
            <a:endParaRPr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328" name="Google Shape;328;p17"/>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329" name="Google Shape;329;p17"/>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330" name="Google Shape;330;p17"/>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6</a:t>
            </a:r>
            <a:endParaRPr sz="550" b="0" i="0" u="none" strike="noStrike" cap="none" dirty="0">
              <a:solidFill>
                <a:schemeClr val="dk1"/>
              </a:solidFill>
              <a:latin typeface="Calibri"/>
              <a:ea typeface="Calibri"/>
              <a:cs typeface="Calibri"/>
              <a:sym typeface="Calibri"/>
            </a:endParaRPr>
          </a:p>
        </p:txBody>
      </p:sp>
      <p:graphicFrame>
        <p:nvGraphicFramePr>
          <p:cNvPr id="331" name="Google Shape;331;p17"/>
          <p:cNvGraphicFramePr/>
          <p:nvPr/>
        </p:nvGraphicFramePr>
        <p:xfrm>
          <a:off x="548640" y="1056132"/>
          <a:ext cx="8161050" cy="2568325"/>
        </p:xfrm>
        <a:graphic>
          <a:graphicData uri="http://schemas.openxmlformats.org/drawingml/2006/table">
            <a:tbl>
              <a:tblPr>
                <a:noFill/>
                <a:tableStyleId>{DD0CD847-4B11-42B2-8B25-F69DAA7BF958}</a:tableStyleId>
              </a:tblPr>
              <a:tblGrid>
                <a:gridCol w="1234450">
                  <a:extLst>
                    <a:ext uri="{9D8B030D-6E8A-4147-A177-3AD203B41FA5}">
                      <a16:colId xmlns:a16="http://schemas.microsoft.com/office/drawing/2014/main" val="20000"/>
                    </a:ext>
                  </a:extLst>
                </a:gridCol>
                <a:gridCol w="2331725">
                  <a:extLst>
                    <a:ext uri="{9D8B030D-6E8A-4147-A177-3AD203B41FA5}">
                      <a16:colId xmlns:a16="http://schemas.microsoft.com/office/drawing/2014/main" val="20001"/>
                    </a:ext>
                  </a:extLst>
                </a:gridCol>
                <a:gridCol w="2331725">
                  <a:extLst>
                    <a:ext uri="{9D8B030D-6E8A-4147-A177-3AD203B41FA5}">
                      <a16:colId xmlns:a16="http://schemas.microsoft.com/office/drawing/2014/main" val="20002"/>
                    </a:ext>
                  </a:extLst>
                </a:gridCol>
                <a:gridCol w="2263150">
                  <a:extLst>
                    <a:ext uri="{9D8B030D-6E8A-4147-A177-3AD203B41FA5}">
                      <a16:colId xmlns:a16="http://schemas.microsoft.com/office/drawing/2014/main" val="20003"/>
                    </a:ext>
                  </a:extLst>
                </a:gridCol>
              </a:tblGrid>
              <a:tr h="494825">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dirty="0">
                          <a:solidFill>
                            <a:schemeClr val="dk1"/>
                          </a:solidFill>
                        </a:rPr>
                        <a:t>設計基準</a:t>
                      </a:r>
                      <a:endParaRPr sz="800" u="none" strike="noStrike" cap="none" dirty="0">
                        <a:solidFill>
                          <a:schemeClr val="dk1"/>
                        </a:solidFill>
                      </a:endParaRPr>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ja" sz="1000" u="none" strike="noStrike" cap="none">
                          <a:solidFill>
                            <a:schemeClr val="dk1"/>
                          </a:solidFill>
                        </a:rPr>
                        <a:t>Bronze層</a:t>
                      </a:r>
                      <a:endParaRPr sz="1000" u="none" strike="noStrike" cap="none">
                        <a:solidFill>
                          <a:schemeClr val="dk1"/>
                        </a:solidFill>
                      </a:endParaRPr>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ja" sz="1000" u="none" strike="noStrike" cap="none">
                          <a:solidFill>
                            <a:schemeClr val="dk1"/>
                          </a:solidFill>
                        </a:rPr>
                        <a:t>Silver層</a:t>
                      </a:r>
                      <a:endParaRPr sz="1000" u="none" strike="noStrike" cap="none">
                        <a:solidFill>
                          <a:schemeClr val="dk1"/>
                        </a:solidFill>
                      </a:endParaRPr>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ja" sz="1000" u="none" strike="noStrike" cap="none">
                          <a:solidFill>
                            <a:schemeClr val="dk1"/>
                          </a:solidFill>
                        </a:rPr>
                        <a:t>Gold層</a:t>
                      </a:r>
                      <a:endParaRPr sz="1000" u="none" strike="noStrike" cap="none">
                        <a:solidFill>
                          <a:schemeClr val="dk1"/>
                        </a:solidFill>
                      </a:endParaRPr>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518375">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目的</a:t>
                      </a:r>
                      <a:endParaRPr sz="11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b="1" u="none" strike="noStrike" cap="none"/>
                        <a:t>ソースデータの保管</a:t>
                      </a:r>
                      <a:br>
                        <a:rPr lang="ja" sz="800" b="1" u="none" strike="noStrike" cap="none"/>
                      </a:br>
                      <a:r>
                        <a:rPr lang="ja" sz="800" b="1" u="none" strike="noStrike" cap="none"/>
                        <a:t>「事実の記録」として不変</a:t>
                      </a:r>
                      <a:endParaRPr sz="800" b="1"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b="1" u="none" strike="noStrike" cap="none"/>
                        <a:t>分析可能な状態に標準化</a:t>
                      </a:r>
                      <a:br>
                        <a:rPr lang="ja" sz="800" b="1" u="none" strike="noStrike" cap="none"/>
                      </a:br>
                      <a:r>
                        <a:rPr lang="ja" sz="800" b="1" u="none" strike="noStrike" cap="none"/>
                        <a:t>クレンジング・正規化済</a:t>
                      </a:r>
                      <a:endParaRPr sz="800" b="1"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b="1" u="none" strike="noStrike" cap="none"/>
                        <a:t>ビジネスKPI・BI/ダッシュボード接続用</a:t>
                      </a:r>
                      <a:br>
                        <a:rPr lang="ja" sz="800" b="1" u="none" strike="noStrike" cap="none"/>
                      </a:br>
                      <a:r>
                        <a:rPr lang="ja" sz="800" b="1" u="none" strike="noStrike" cap="none"/>
                        <a:t>集計・結合・ロジック適用済</a:t>
                      </a:r>
                      <a:endParaRPr sz="800" b="1"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18375">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変換ルール</a:t>
                      </a:r>
                      <a:endParaRPr sz="11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取り込んだままを保持</a:t>
                      </a:r>
                      <a:endParaRPr sz="8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型変換・NULL処理・重複排除</a:t>
                      </a:r>
                      <a:br>
                        <a:rPr lang="ja" sz="800" u="none" strike="noStrike" cap="none"/>
                      </a:br>
                      <a:r>
                        <a:rPr lang="ja" sz="800" u="none" strike="noStrike" cap="none"/>
                        <a:t>カラム名の標準化</a:t>
                      </a:r>
                      <a:endParaRPr sz="11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集計・結合・ビジネスロジック</a:t>
                      </a:r>
                      <a:endParaRPr sz="8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extLst>
                  <a:ext uri="{0D108BD9-81ED-4DB2-BD59-A6C34878D82A}">
                    <a16:rowId xmlns:a16="http://schemas.microsoft.com/office/drawing/2014/main" val="10002"/>
                  </a:ext>
                </a:extLst>
              </a:tr>
              <a:tr h="518375">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品質チェック</a:t>
                      </a:r>
                      <a:endParaRPr sz="11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到着確認・件数チェック・スキーマ確認</a:t>
                      </a:r>
                      <a:endParaRPr sz="8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b="0" u="none" strike="noStrike" cap="none" dirty="0">
                          <a:latin typeface="游ゴシック" panose="020B0400000000000000" pitchFamily="50" charset="-128"/>
                          <a:ea typeface="游ゴシック" panose="020B0400000000000000" pitchFamily="50" charset="-128"/>
                          <a:cs typeface="Arial"/>
                          <a:sym typeface="Arial"/>
                        </a:rPr>
                        <a:t>品質ゲート（違反行はアラート）</a:t>
                      </a:r>
                      <a:endParaRPr sz="800" b="0" u="none" strike="noStrike" cap="none" dirty="0">
                        <a:latin typeface="游ゴシック" panose="020B0400000000000000" pitchFamily="50" charset="-128"/>
                        <a:ea typeface="游ゴシック" panose="020B0400000000000000" pitchFamily="50" charset="-128"/>
                        <a:cs typeface="Arial"/>
                        <a:sym typeface="Arial"/>
                      </a:endParaRPr>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KPI整合性チェック</a:t>
                      </a:r>
                      <a:endParaRPr sz="8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518375">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テーブル命名例</a:t>
                      </a:r>
                      <a:endParaRPr sz="11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raw_care_records</a:t>
                      </a:r>
                      <a:br>
                        <a:rPr lang="ja" sz="800" u="none" strike="noStrike" cap="none"/>
                      </a:br>
                      <a:r>
                        <a:rPr lang="ja" sz="800" u="none" strike="noStrike" cap="none"/>
                        <a:t>raw_sensor_data</a:t>
                      </a:r>
                      <a:endParaRPr sz="11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clean_care_records</a:t>
                      </a:r>
                      <a:br>
                        <a:rPr lang="ja" sz="800" u="none" strike="noStrike" cap="none"/>
                      </a:br>
                      <a:r>
                        <a:rPr lang="ja" sz="800" u="none" strike="noStrike" cap="none"/>
                        <a:t>master_facilities</a:t>
                      </a:r>
                      <a:endParaRPr sz="8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800" u="none" strike="noStrike" cap="none"/>
                        <a:t>kpi_facility_monthly</a:t>
                      </a:r>
                      <a:br>
                        <a:rPr lang="ja" sz="800" u="none" strike="noStrike" cap="none"/>
                      </a:br>
                      <a:r>
                        <a:rPr lang="ja" sz="800" u="none" strike="noStrike" cap="none"/>
                        <a:t>dim_staff, fact_care_events</a:t>
                      </a:r>
                      <a:endParaRPr sz="800" u="none" strike="noStrike" cap="none"/>
                    </a:p>
                  </a:txBody>
                  <a:tcPr marL="68600" marR="68600" marT="34300" marB="3430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5F5F5"/>
                    </a:solidFill>
                  </a:tcPr>
                </a:tc>
                <a:extLst>
                  <a:ext uri="{0D108BD9-81ED-4DB2-BD59-A6C34878D82A}">
                    <a16:rowId xmlns:a16="http://schemas.microsoft.com/office/drawing/2014/main" val="10004"/>
                  </a:ext>
                </a:extLst>
              </a:tr>
            </a:tbl>
          </a:graphicData>
        </a:graphic>
      </p:graphicFrame>
      <p:sp>
        <p:nvSpPr>
          <p:cNvPr id="332" name="Google Shape;332;p17"/>
          <p:cNvSpPr/>
          <p:nvPr/>
        </p:nvSpPr>
        <p:spPr>
          <a:xfrm>
            <a:off x="514350" y="3847157"/>
            <a:ext cx="8263800" cy="687300"/>
          </a:xfrm>
          <a:prstGeom prst="rect">
            <a:avLst/>
          </a:prstGeom>
          <a:solidFill>
            <a:srgbClr val="E8EFF5"/>
          </a:solidFill>
          <a:ln>
            <a:noFill/>
          </a:ln>
          <a:effectLst>
            <a:outerShdw blurRad="30000" dist="17250" dir="5400000" rotWithShape="0">
              <a:srgbClr val="000000">
                <a:alpha val="34901"/>
              </a:srgbClr>
            </a:outerShdw>
          </a:effectLst>
        </p:spPr>
        <p:txBody>
          <a:bodyPr spcFirstLastPara="1" wrap="square" lIns="102875" tIns="68575" rIns="68575" bIns="34275" anchor="ctr" anchorCtr="0">
            <a:noAutofit/>
          </a:bodyPr>
          <a:lstStyle/>
          <a:p>
            <a:pPr marL="0" marR="0" lvl="0" indent="0" algn="ctr" rtl="0">
              <a:lnSpc>
                <a:spcPct val="150000"/>
              </a:lnSpc>
              <a:spcBef>
                <a:spcPts val="0"/>
              </a:spcBef>
              <a:spcAft>
                <a:spcPts val="0"/>
              </a:spcAft>
              <a:buClr>
                <a:srgbClr val="000000"/>
              </a:buClr>
              <a:buSzPts val="900"/>
              <a:buFont typeface="Arial"/>
              <a:buNone/>
            </a:pPr>
            <a:r>
              <a:rPr lang="ja" sz="900" b="1" i="0" u="none" strike="noStrike" cap="none" dirty="0">
                <a:solidFill>
                  <a:srgbClr val="1B3A5C"/>
                </a:solidFill>
                <a:latin typeface="游ゴシック" panose="020B0400000000000000" pitchFamily="50" charset="-128"/>
                <a:ea typeface="游ゴシック" panose="020B0400000000000000" pitchFamily="50" charset="-128"/>
                <a:sym typeface="Arial"/>
              </a:rPr>
              <a:t>設計原則：各層の独立性を維持し、Bronze → Silver → Goldの一方向依存を徹底</a:t>
            </a:r>
            <a:endParaRPr sz="900" b="0" i="0" u="none" strike="noStrike" cap="none" dirty="0">
              <a:solidFill>
                <a:schemeClr val="lt1"/>
              </a:solidFill>
              <a:latin typeface="Calibri"/>
              <a:ea typeface="Calibri"/>
              <a:cs typeface="Calibri"/>
              <a:sym typeface="Calibri"/>
            </a:endParaRPr>
          </a:p>
          <a:p>
            <a:pPr marL="0" marR="0" lvl="0" indent="0" algn="l" rtl="0">
              <a:lnSpc>
                <a:spcPct val="150000"/>
              </a:lnSpc>
              <a:spcBef>
                <a:spcPts val="300"/>
              </a:spcBef>
              <a:spcAft>
                <a:spcPts val="0"/>
              </a:spcAft>
              <a:buClr>
                <a:srgbClr val="000000"/>
              </a:buClr>
              <a:buSzPts val="800"/>
              <a:buFont typeface="Arial"/>
              <a:buNone/>
            </a:pPr>
            <a:r>
              <a:rPr lang="ja" sz="800" b="0" i="0" u="none" strike="noStrike" cap="none" dirty="0">
                <a:solidFill>
                  <a:srgbClr val="333333"/>
                </a:solidFill>
                <a:latin typeface="游ゴシック" panose="020B0400000000000000" pitchFamily="50" charset="-128"/>
                <a:ea typeface="游ゴシック" panose="020B0400000000000000" pitchFamily="50" charset="-128"/>
                <a:sym typeface="Arial"/>
              </a:rPr>
              <a:t>階層に分離することで不具合時の原因特定を明確化。BIツール利用ユーザーにはGold層を提供、分析ユーザーにはSilver層を提供。</a:t>
            </a:r>
            <a:endParaRPr sz="800" b="0" i="0" u="none" strike="noStrike" cap="none" dirty="0">
              <a:solidFill>
                <a:schemeClr val="lt1"/>
              </a:solidFill>
              <a:latin typeface="Calibri"/>
              <a:ea typeface="Calibri"/>
              <a:cs typeface="Calibri"/>
              <a:sym typeface="Calibri"/>
            </a:endParaRPr>
          </a:p>
        </p:txBody>
      </p:sp>
      <p:sp>
        <p:nvSpPr>
          <p:cNvPr id="333" name="Google Shape;333;p17"/>
          <p:cNvSpPr/>
          <p:nvPr/>
        </p:nvSpPr>
        <p:spPr>
          <a:xfrm>
            <a:off x="4029075" y="1219008"/>
            <a:ext cx="205800" cy="171600"/>
          </a:xfrm>
          <a:prstGeom prst="rightArrow">
            <a:avLst>
              <a:gd name="adj1" fmla="val 50000"/>
              <a:gd name="adj2" fmla="val 50000"/>
            </a:avLst>
          </a:prstGeom>
          <a:solidFill>
            <a:schemeClr val="dk1"/>
          </a:solidFill>
          <a:ln>
            <a:noFill/>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34" name="Google Shape;334;p17"/>
          <p:cNvSpPr/>
          <p:nvPr/>
        </p:nvSpPr>
        <p:spPr>
          <a:xfrm>
            <a:off x="6395085" y="1219008"/>
            <a:ext cx="205800" cy="171600"/>
          </a:xfrm>
          <a:prstGeom prst="rightArrow">
            <a:avLst>
              <a:gd name="adj1" fmla="val 50000"/>
              <a:gd name="adj2" fmla="val 50000"/>
            </a:avLst>
          </a:prstGeom>
          <a:solidFill>
            <a:schemeClr val="dk1"/>
          </a:solidFill>
          <a:ln>
            <a:noFill/>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cxnSp>
        <p:nvCxnSpPr>
          <p:cNvPr id="335" name="Google Shape;335;p17"/>
          <p:cNvCxnSpPr/>
          <p:nvPr/>
        </p:nvCxnSpPr>
        <p:spPr>
          <a:xfrm>
            <a:off x="548640" y="1484757"/>
            <a:ext cx="8101200" cy="0"/>
          </a:xfrm>
          <a:prstGeom prst="straightConnector1">
            <a:avLst/>
          </a:prstGeom>
          <a:noFill/>
          <a:ln w="19050" cap="flat" cmpd="sng">
            <a:solidFill>
              <a:schemeClr val="dk1"/>
            </a:solidFill>
            <a:prstDash val="solid"/>
            <a:round/>
            <a:headEnd type="none" w="sm" len="sm"/>
            <a:tailEnd type="none" w="sm" len="sm"/>
          </a:ln>
          <a:effectLst>
            <a:outerShdw blurRad="30000" dist="15000" dir="5400000" rotWithShape="0">
              <a:srgbClr val="000000">
                <a:alpha val="38039"/>
              </a:srgbClr>
            </a:outerShdw>
          </a:effectLst>
        </p:spPr>
      </p:cxnSp>
      <p:pic>
        <p:nvPicPr>
          <p:cNvPr id="336" name="Google Shape;336;p17" descr="Database with solid fill"/>
          <p:cNvPicPr preferRelativeResize="0"/>
          <p:nvPr/>
        </p:nvPicPr>
        <p:blipFill rotWithShape="1">
          <a:blip r:embed="rId3">
            <a:alphaModFix/>
          </a:blip>
          <a:srcRect/>
          <a:stretch/>
        </p:blipFill>
        <p:spPr>
          <a:xfrm>
            <a:off x="2436996" y="1195458"/>
            <a:ext cx="205740" cy="205740"/>
          </a:xfrm>
          <a:prstGeom prst="rect">
            <a:avLst/>
          </a:prstGeom>
          <a:noFill/>
          <a:ln>
            <a:noFill/>
          </a:ln>
        </p:spPr>
      </p:pic>
      <p:pic>
        <p:nvPicPr>
          <p:cNvPr id="337" name="Google Shape;337;p17" descr="Database with solid fill"/>
          <p:cNvPicPr preferRelativeResize="0"/>
          <p:nvPr/>
        </p:nvPicPr>
        <p:blipFill rotWithShape="1">
          <a:blip r:embed="rId4">
            <a:alphaModFix/>
          </a:blip>
          <a:srcRect/>
          <a:stretch/>
        </p:blipFill>
        <p:spPr>
          <a:xfrm>
            <a:off x="4784663" y="1191577"/>
            <a:ext cx="205740" cy="205740"/>
          </a:xfrm>
          <a:prstGeom prst="rect">
            <a:avLst/>
          </a:prstGeom>
          <a:noFill/>
          <a:ln>
            <a:noFill/>
          </a:ln>
        </p:spPr>
      </p:pic>
      <p:pic>
        <p:nvPicPr>
          <p:cNvPr id="338" name="Google Shape;338;p17" descr="Database with solid fill"/>
          <p:cNvPicPr preferRelativeResize="0"/>
          <p:nvPr/>
        </p:nvPicPr>
        <p:blipFill rotWithShape="1">
          <a:blip r:embed="rId5">
            <a:alphaModFix/>
          </a:blip>
          <a:srcRect/>
          <a:stretch/>
        </p:blipFill>
        <p:spPr>
          <a:xfrm>
            <a:off x="7132329" y="1201863"/>
            <a:ext cx="205740" cy="20574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3"/>
        <p:cNvGrpSpPr/>
        <p:nvPr/>
      </p:nvGrpSpPr>
      <p:grpSpPr>
        <a:xfrm>
          <a:off x="0" y="0"/>
          <a:ext cx="0" cy="0"/>
          <a:chOff x="0" y="0"/>
          <a:chExt cx="0" cy="0"/>
        </a:xfrm>
      </p:grpSpPr>
      <p:sp>
        <p:nvSpPr>
          <p:cNvPr id="344" name="Google Shape;344;p18"/>
          <p:cNvSpPr/>
          <p:nvPr/>
        </p:nvSpPr>
        <p:spPr>
          <a:xfrm>
            <a:off x="406301" y="228600"/>
            <a:ext cx="8498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r>
              <a:rPr lang="en-US" alt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4.3 </a:t>
            </a: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開発・本番環境の分離</a:t>
            </a:r>
            <a:endParaRPr sz="14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21212"/>
              </a:buClr>
              <a:buSzPts val="1800"/>
              <a:buFont typeface="Century Gothic"/>
              <a:buNone/>
            </a:pPr>
            <a:endParaRPr sz="1800" b="1" i="0" u="none" strike="noStrike" cap="none" dirty="0">
              <a:solidFill>
                <a:srgbClr val="121212"/>
              </a:solidFill>
              <a:latin typeface="游ゴシック" panose="020B0400000000000000" pitchFamily="50" charset="-128"/>
              <a:ea typeface="游ゴシック" panose="020B0400000000000000" pitchFamily="50" charset="-128"/>
              <a:cs typeface="Century Gothic"/>
              <a:sym typeface="Century Gothic"/>
            </a:endParaRPr>
          </a:p>
        </p:txBody>
      </p:sp>
      <p:sp>
        <p:nvSpPr>
          <p:cNvPr id="345" name="Google Shape;345;p18"/>
          <p:cNvSpPr/>
          <p:nvPr/>
        </p:nvSpPr>
        <p:spPr>
          <a:xfrm>
            <a:off x="406301" y="609600"/>
            <a:ext cx="8498100" cy="1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100"/>
              <a:buFont typeface="Arial"/>
              <a:buNone/>
            </a:pPr>
            <a:r>
              <a:rPr lang="ja" sz="1100" b="0" i="0" u="none" strike="noStrike" cap="none" dirty="0">
                <a:solidFill>
                  <a:srgbClr val="666666"/>
                </a:solidFill>
                <a:latin typeface="游ゴシック" panose="020B0400000000000000" pitchFamily="50" charset="-128"/>
                <a:ea typeface="游ゴシック" panose="020B0400000000000000" pitchFamily="50" charset="-128"/>
                <a:sym typeface="Arial"/>
              </a:rPr>
              <a:t>安定運用のための環境分離の方針</a:t>
            </a:r>
            <a:endParaRPr sz="14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a:p>
            <a:pPr marL="0" marR="0" lvl="0" indent="0" algn="l" rtl="0">
              <a:lnSpc>
                <a:spcPct val="100000"/>
              </a:lnSpc>
              <a:spcBef>
                <a:spcPts val="0"/>
              </a:spcBef>
              <a:spcAft>
                <a:spcPts val="0"/>
              </a:spcAft>
              <a:buClr>
                <a:srgbClr val="777777"/>
              </a:buClr>
              <a:buSzPts val="1000"/>
              <a:buFont typeface="Century Gothic"/>
              <a:buNone/>
            </a:pPr>
            <a:endParaRPr sz="1000" b="0" i="0" u="none" strike="noStrike" cap="none" dirty="0">
              <a:solidFill>
                <a:srgbClr val="777777"/>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346" name="Google Shape;346;p18"/>
          <p:cNvCxnSpPr/>
          <p:nvPr/>
        </p:nvCxnSpPr>
        <p:spPr>
          <a:xfrm>
            <a:off x="0" y="4875312"/>
            <a:ext cx="9144000" cy="0"/>
          </a:xfrm>
          <a:prstGeom prst="straightConnector1">
            <a:avLst/>
          </a:prstGeom>
          <a:noFill/>
          <a:ln w="9525" cap="flat" cmpd="sng">
            <a:solidFill>
              <a:srgbClr val="E0E0E0"/>
            </a:solidFill>
            <a:prstDash val="solid"/>
            <a:round/>
            <a:headEnd type="none" w="sm" len="sm"/>
            <a:tailEnd type="none" w="sm" len="sm"/>
          </a:ln>
        </p:spPr>
      </p:cxnSp>
      <p:sp>
        <p:nvSpPr>
          <p:cNvPr id="347" name="Google Shape;347;p18"/>
          <p:cNvSpPr/>
          <p:nvPr/>
        </p:nvSpPr>
        <p:spPr>
          <a:xfrm>
            <a:off x="406301" y="4930825"/>
            <a:ext cx="194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ACES</a:t>
            </a:r>
            <a:endParaRPr sz="550" b="0" i="0" u="none" strike="noStrike" cap="none" dirty="0">
              <a:solidFill>
                <a:schemeClr val="dk1"/>
              </a:solidFill>
              <a:latin typeface="Calibri"/>
              <a:ea typeface="Calibri"/>
              <a:cs typeface="Calibri"/>
              <a:sym typeface="Calibri"/>
            </a:endParaRPr>
          </a:p>
        </p:txBody>
      </p:sp>
      <p:sp>
        <p:nvSpPr>
          <p:cNvPr id="348" name="Google Shape;348;p18"/>
          <p:cNvSpPr/>
          <p:nvPr/>
        </p:nvSpPr>
        <p:spPr>
          <a:xfrm>
            <a:off x="8132564" y="4930825"/>
            <a:ext cx="617100" cy="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BBBBB"/>
              </a:buClr>
              <a:buSzPts val="550"/>
              <a:buFont typeface="Century Gothic"/>
              <a:buNone/>
            </a:pPr>
            <a:r>
              <a:rPr lang="ja" sz="550" b="0" i="0" u="none" strike="noStrike" cap="none" dirty="0">
                <a:solidFill>
                  <a:srgbClr val="BBBBBB"/>
                </a:solidFill>
                <a:latin typeface="游ゴシック" panose="020B0400000000000000" pitchFamily="50" charset="-128"/>
                <a:ea typeface="游ゴシック" panose="020B0400000000000000" pitchFamily="50" charset="-128"/>
                <a:cs typeface="Century Gothic"/>
                <a:sym typeface="Century Gothic"/>
              </a:rPr>
              <a:t>CONFIDENTIAL  |  6</a:t>
            </a:r>
            <a:endParaRPr sz="550" b="0" i="0" u="none" strike="noStrike" cap="none" dirty="0">
              <a:solidFill>
                <a:schemeClr val="dk1"/>
              </a:solidFill>
              <a:latin typeface="Calibri"/>
              <a:ea typeface="Calibri"/>
              <a:cs typeface="Calibri"/>
              <a:sym typeface="Calibri"/>
            </a:endParaRPr>
          </a:p>
        </p:txBody>
      </p:sp>
      <p:sp>
        <p:nvSpPr>
          <p:cNvPr id="349" name="Google Shape;349;p18"/>
          <p:cNvSpPr/>
          <p:nvPr/>
        </p:nvSpPr>
        <p:spPr>
          <a:xfrm>
            <a:off x="548640" y="1197980"/>
            <a:ext cx="2537700" cy="308700"/>
          </a:xfrm>
          <a:prstGeom prst="rect">
            <a:avLst/>
          </a:prstGeom>
          <a:solidFill>
            <a:srgbClr val="262626"/>
          </a:solidFill>
          <a:ln w="9525" cap="flat" cmpd="sng">
            <a:solidFill>
              <a:srgbClr val="262626"/>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41150"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ja" sz="900" b="1" i="0" u="none" strike="noStrike" cap="none" dirty="0">
                <a:solidFill>
                  <a:schemeClr val="lt1"/>
                </a:solidFill>
                <a:latin typeface="游ゴシック" panose="020B0400000000000000" pitchFamily="50" charset="-128"/>
                <a:ea typeface="游ゴシック" panose="020B0400000000000000" pitchFamily="50" charset="-128"/>
                <a:sym typeface="Arial"/>
              </a:rPr>
              <a:t>開発環境  (dev)</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50" name="Google Shape;350;p18"/>
          <p:cNvSpPr/>
          <p:nvPr/>
        </p:nvSpPr>
        <p:spPr>
          <a:xfrm>
            <a:off x="548640" y="1506590"/>
            <a:ext cx="2537700" cy="260700"/>
          </a:xfrm>
          <a:prstGeom prst="rect">
            <a:avLst/>
          </a:prstGeom>
          <a:solidFill>
            <a:srgbClr val="F2F2F2"/>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1" i="0" u="none" strike="noStrike" cap="none" dirty="0">
                <a:solidFill>
                  <a:srgbClr val="333333"/>
                </a:solidFill>
                <a:latin typeface="游ゴシック" panose="020B0400000000000000" pitchFamily="50" charset="-128"/>
                <a:ea typeface="游ゴシック" panose="020B0400000000000000" pitchFamily="50" charset="-128"/>
                <a:sym typeface="Arial"/>
              </a:rPr>
              <a:t>開発者個人の実験・検証</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51" name="Google Shape;351;p18"/>
          <p:cNvSpPr/>
          <p:nvPr/>
        </p:nvSpPr>
        <p:spPr>
          <a:xfrm>
            <a:off x="548640" y="1767194"/>
            <a:ext cx="2537700" cy="260700"/>
          </a:xfrm>
          <a:prstGeom prst="rect">
            <a:avLst/>
          </a:prstGeom>
          <a:solidFill>
            <a:srgbClr val="FFFFFF"/>
          </a:solidFill>
          <a:ln w="9525" cap="flat" cmpd="sng">
            <a:solidFill>
              <a:srgbClr val="E8E8E8"/>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Branch単位で作業</a:t>
            </a:r>
            <a:endParaRPr sz="1400" b="0" i="0" u="none" strike="noStrike" cap="none" dirty="0">
              <a:solidFill>
                <a:schemeClr val="lt1"/>
              </a:solidFill>
              <a:latin typeface="Calibri"/>
              <a:ea typeface="Calibri"/>
              <a:cs typeface="Calibri"/>
              <a:sym typeface="Calibri"/>
            </a:endParaRPr>
          </a:p>
        </p:txBody>
      </p:sp>
      <p:sp>
        <p:nvSpPr>
          <p:cNvPr id="352" name="Google Shape;352;p18"/>
          <p:cNvSpPr/>
          <p:nvPr/>
        </p:nvSpPr>
        <p:spPr>
          <a:xfrm>
            <a:off x="548640" y="2027798"/>
            <a:ext cx="2537700" cy="260700"/>
          </a:xfrm>
          <a:prstGeom prst="rect">
            <a:avLst/>
          </a:prstGeom>
          <a:solidFill>
            <a:srgbClr val="F2F2F2"/>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サンプルデータを使用</a:t>
            </a:r>
            <a:endParaRPr sz="1400" b="0" i="0" u="none" strike="noStrike" cap="none" dirty="0">
              <a:solidFill>
                <a:schemeClr val="lt1"/>
              </a:solidFill>
              <a:latin typeface="Calibri"/>
              <a:ea typeface="Calibri"/>
              <a:cs typeface="Calibri"/>
              <a:sym typeface="Calibri"/>
            </a:endParaRPr>
          </a:p>
        </p:txBody>
      </p:sp>
      <p:sp>
        <p:nvSpPr>
          <p:cNvPr id="353" name="Google Shape;353;p18"/>
          <p:cNvSpPr/>
          <p:nvPr/>
        </p:nvSpPr>
        <p:spPr>
          <a:xfrm>
            <a:off x="3120390" y="1609460"/>
            <a:ext cx="171600" cy="171600"/>
          </a:xfrm>
          <a:prstGeom prst="rightArrow">
            <a:avLst>
              <a:gd name="adj1" fmla="val 50000"/>
              <a:gd name="adj2" fmla="val 50000"/>
            </a:avLst>
          </a:prstGeom>
          <a:solidFill>
            <a:srgbClr val="595959"/>
          </a:solidFill>
          <a:ln>
            <a:noFill/>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54" name="Google Shape;354;p18"/>
          <p:cNvSpPr/>
          <p:nvPr/>
        </p:nvSpPr>
        <p:spPr>
          <a:xfrm>
            <a:off x="3326130" y="1197980"/>
            <a:ext cx="2537700" cy="308700"/>
          </a:xfrm>
          <a:prstGeom prst="rect">
            <a:avLst/>
          </a:prstGeom>
          <a:solidFill>
            <a:srgbClr val="262626"/>
          </a:solidFill>
          <a:ln w="9525" cap="flat" cmpd="sng">
            <a:solidFill>
              <a:srgbClr val="262626"/>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41150"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ja" sz="900" b="1" i="0" u="none" strike="noStrike" cap="none" dirty="0">
                <a:solidFill>
                  <a:schemeClr val="lt1"/>
                </a:solidFill>
                <a:latin typeface="游ゴシック" panose="020B0400000000000000" pitchFamily="50" charset="-128"/>
                <a:ea typeface="游ゴシック" panose="020B0400000000000000" pitchFamily="50" charset="-128"/>
                <a:sym typeface="Arial"/>
              </a:rPr>
              <a:t>ステージング環境  (stg)</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55" name="Google Shape;355;p18"/>
          <p:cNvSpPr/>
          <p:nvPr/>
        </p:nvSpPr>
        <p:spPr>
          <a:xfrm>
            <a:off x="3326130" y="1506590"/>
            <a:ext cx="2537700" cy="260700"/>
          </a:xfrm>
          <a:prstGeom prst="rect">
            <a:avLst/>
          </a:prstGeom>
          <a:solidFill>
            <a:srgbClr val="F2F2F2"/>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1" i="0" u="none" strike="noStrike" cap="none" dirty="0">
                <a:solidFill>
                  <a:srgbClr val="333333"/>
                </a:solidFill>
                <a:latin typeface="游ゴシック" panose="020B0400000000000000" pitchFamily="50" charset="-128"/>
                <a:ea typeface="游ゴシック" panose="020B0400000000000000" pitchFamily="50" charset="-128"/>
                <a:sym typeface="Arial"/>
              </a:rPr>
              <a:t>統合テスト・品質検証</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56" name="Google Shape;356;p18"/>
          <p:cNvSpPr/>
          <p:nvPr/>
        </p:nvSpPr>
        <p:spPr>
          <a:xfrm>
            <a:off x="3326130" y="1767194"/>
            <a:ext cx="2537700" cy="260700"/>
          </a:xfrm>
          <a:prstGeom prst="rect">
            <a:avLst/>
          </a:prstGeom>
          <a:solidFill>
            <a:srgbClr val="FFFFFF"/>
          </a:solidFill>
          <a:ln w="9525" cap="flat" cmpd="sng">
            <a:solidFill>
              <a:srgbClr val="E8E8E8"/>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本番同等スキーマで検証</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57" name="Google Shape;357;p18"/>
          <p:cNvSpPr/>
          <p:nvPr/>
        </p:nvSpPr>
        <p:spPr>
          <a:xfrm>
            <a:off x="3326130" y="2027798"/>
            <a:ext cx="2537700" cy="260700"/>
          </a:xfrm>
          <a:prstGeom prst="rect">
            <a:avLst/>
          </a:prstGeom>
          <a:solidFill>
            <a:srgbClr val="F2F2F2"/>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CI/CDで自動デプロイ</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58" name="Google Shape;358;p18"/>
          <p:cNvSpPr/>
          <p:nvPr/>
        </p:nvSpPr>
        <p:spPr>
          <a:xfrm>
            <a:off x="5897880" y="1609460"/>
            <a:ext cx="171600" cy="171600"/>
          </a:xfrm>
          <a:prstGeom prst="rightArrow">
            <a:avLst>
              <a:gd name="adj1" fmla="val 50000"/>
              <a:gd name="adj2" fmla="val 50000"/>
            </a:avLst>
          </a:prstGeom>
          <a:solidFill>
            <a:srgbClr val="595959"/>
          </a:solidFill>
          <a:ln>
            <a:noFill/>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59" name="Google Shape;359;p18"/>
          <p:cNvSpPr/>
          <p:nvPr/>
        </p:nvSpPr>
        <p:spPr>
          <a:xfrm>
            <a:off x="6103620" y="1197980"/>
            <a:ext cx="2537700" cy="308700"/>
          </a:xfrm>
          <a:prstGeom prst="rect">
            <a:avLst/>
          </a:prstGeom>
          <a:solidFill>
            <a:srgbClr val="262626"/>
          </a:solidFill>
          <a:ln w="9525" cap="flat" cmpd="sng">
            <a:solidFill>
              <a:srgbClr val="262626"/>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41150"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ja" sz="900" b="1" i="0" u="none" strike="noStrike" cap="none" dirty="0">
                <a:solidFill>
                  <a:schemeClr val="lt1"/>
                </a:solidFill>
                <a:latin typeface="游ゴシック" panose="020B0400000000000000" pitchFamily="50" charset="-128"/>
                <a:ea typeface="游ゴシック" panose="020B0400000000000000" pitchFamily="50" charset="-128"/>
                <a:sym typeface="Arial"/>
              </a:rPr>
              <a:t>本番環境  (prod)</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60" name="Google Shape;360;p18"/>
          <p:cNvSpPr/>
          <p:nvPr/>
        </p:nvSpPr>
        <p:spPr>
          <a:xfrm>
            <a:off x="6103620" y="1506590"/>
            <a:ext cx="2537700" cy="260700"/>
          </a:xfrm>
          <a:prstGeom prst="rect">
            <a:avLst/>
          </a:prstGeom>
          <a:solidFill>
            <a:srgbClr val="F2F2F2"/>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1" i="0" u="none" strike="noStrike" cap="none" dirty="0">
                <a:solidFill>
                  <a:srgbClr val="333333"/>
                </a:solidFill>
                <a:latin typeface="游ゴシック" panose="020B0400000000000000" pitchFamily="50" charset="-128"/>
                <a:ea typeface="游ゴシック" panose="020B0400000000000000" pitchFamily="50" charset="-128"/>
                <a:sym typeface="Arial"/>
              </a:rPr>
              <a:t>本番環境・ダッシュボード接続</a:t>
            </a:r>
            <a:endParaRPr sz="1400" b="1" i="0" u="none" strike="noStrike" cap="none" dirty="0">
              <a:solidFill>
                <a:schemeClr val="lt1"/>
              </a:solidFill>
              <a:latin typeface="Calibri"/>
              <a:ea typeface="Calibri"/>
              <a:cs typeface="Calibri"/>
              <a:sym typeface="Calibri"/>
            </a:endParaRPr>
          </a:p>
        </p:txBody>
      </p:sp>
      <p:sp>
        <p:nvSpPr>
          <p:cNvPr id="361" name="Google Shape;361;p18"/>
          <p:cNvSpPr/>
          <p:nvPr/>
        </p:nvSpPr>
        <p:spPr>
          <a:xfrm>
            <a:off x="6103620" y="1767194"/>
            <a:ext cx="2537700" cy="260700"/>
          </a:xfrm>
          <a:prstGeom prst="rect">
            <a:avLst/>
          </a:prstGeom>
          <a:solidFill>
            <a:srgbClr val="FFFFFF"/>
          </a:solidFill>
          <a:ln w="9525" cap="flat" cmpd="sng">
            <a:solidFill>
              <a:srgbClr val="E8E8E8"/>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変更はStagingからのリリースのみ</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62" name="Google Shape;362;p18"/>
          <p:cNvSpPr/>
          <p:nvPr/>
        </p:nvSpPr>
        <p:spPr>
          <a:xfrm>
            <a:off x="6103620" y="2027798"/>
            <a:ext cx="2537700" cy="260700"/>
          </a:xfrm>
          <a:prstGeom prst="rect">
            <a:avLst/>
          </a:prstGeom>
          <a:solidFill>
            <a:srgbClr val="F2F2F2"/>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本番データ・施設別アクセス制御</a:t>
            </a:r>
            <a:endParaRPr sz="1400" b="0" i="0" u="none" strike="noStrike" cap="none" dirty="0">
              <a:solidFill>
                <a:schemeClr val="lt1"/>
              </a:solidFill>
              <a:latin typeface="Calibri"/>
              <a:ea typeface="Calibri"/>
              <a:cs typeface="Calibri"/>
              <a:sym typeface="Calibri"/>
            </a:endParaRPr>
          </a:p>
        </p:txBody>
      </p:sp>
      <p:sp>
        <p:nvSpPr>
          <p:cNvPr id="363" name="Google Shape;363;p18"/>
          <p:cNvSpPr/>
          <p:nvPr/>
        </p:nvSpPr>
        <p:spPr>
          <a:xfrm>
            <a:off x="543885" y="2374081"/>
            <a:ext cx="8097300" cy="533400"/>
          </a:xfrm>
          <a:prstGeom prst="rect">
            <a:avLst/>
          </a:prstGeom>
          <a:solidFill>
            <a:srgbClr val="E8EFF5"/>
          </a:solidFill>
          <a:ln>
            <a:noFill/>
          </a:ln>
          <a:effectLst>
            <a:outerShdw blurRad="30000" dist="17250" dir="5400000" rotWithShape="0">
              <a:srgbClr val="000000">
                <a:alpha val="34901"/>
              </a:srgbClr>
            </a:outerShdw>
          </a:effectLst>
        </p:spPr>
        <p:txBody>
          <a:bodyPr spcFirstLastPara="1" wrap="square" lIns="102875" tIns="685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ja" sz="900" b="1" i="0" u="none" strike="noStrike" cap="none" dirty="0">
                <a:solidFill>
                  <a:srgbClr val="1B3A5C"/>
                </a:solidFill>
                <a:latin typeface="游ゴシック" panose="020B0400000000000000" pitchFamily="50" charset="-128"/>
                <a:ea typeface="游ゴシック" panose="020B0400000000000000" pitchFamily="50" charset="-128"/>
                <a:sym typeface="Arial"/>
              </a:rPr>
              <a:t>原則：環境間のデータ移動は禁止。コード（パイプライン定義）のみがCI/CDで環境間を移動する</a:t>
            </a:r>
            <a:endParaRPr sz="900" b="0" i="0" u="none" strike="noStrike" cap="none" dirty="0">
              <a:solidFill>
                <a:schemeClr val="lt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800"/>
              <a:buFont typeface="Arial"/>
              <a:buNone/>
            </a:pPr>
            <a:r>
              <a:rPr lang="ja" sz="800" b="0" i="0" u="none" strike="noStrike" cap="none" dirty="0">
                <a:solidFill>
                  <a:srgbClr val="333333"/>
                </a:solidFill>
                <a:latin typeface="游ゴシック" panose="020B0400000000000000" pitchFamily="50" charset="-128"/>
                <a:ea typeface="游ゴシック" panose="020B0400000000000000" pitchFamily="50" charset="-128"/>
                <a:sym typeface="Arial"/>
              </a:rPr>
              <a:t>Dev環境では特定時点のスナップショットのサンプルデータを使用して、開発に活用。Stagingで本番同等の環境で検証を行い、合格した場合にProdへリリース。</a:t>
            </a:r>
            <a:endParaRPr sz="800" b="0" i="0" u="none" strike="noStrike" cap="none" dirty="0">
              <a:solidFill>
                <a:schemeClr val="lt1"/>
              </a:solidFill>
              <a:latin typeface="Calibri"/>
              <a:ea typeface="Calibri"/>
              <a:cs typeface="Calibri"/>
              <a:sym typeface="Calibri"/>
            </a:endParaRPr>
          </a:p>
        </p:txBody>
      </p:sp>
      <p:cxnSp>
        <p:nvCxnSpPr>
          <p:cNvPr id="364" name="Google Shape;364;p18"/>
          <p:cNvCxnSpPr/>
          <p:nvPr/>
        </p:nvCxnSpPr>
        <p:spPr>
          <a:xfrm>
            <a:off x="548640" y="1506590"/>
            <a:ext cx="2537700" cy="0"/>
          </a:xfrm>
          <a:prstGeom prst="straightConnector1">
            <a:avLst/>
          </a:prstGeom>
          <a:noFill/>
          <a:ln w="19050" cap="flat" cmpd="sng">
            <a:solidFill>
              <a:schemeClr val="dk1"/>
            </a:solidFill>
            <a:prstDash val="solid"/>
            <a:round/>
            <a:headEnd type="none" w="sm" len="sm"/>
            <a:tailEnd type="none" w="sm" len="sm"/>
          </a:ln>
          <a:effectLst>
            <a:outerShdw blurRad="30000" dist="15000" dir="5400000" rotWithShape="0">
              <a:srgbClr val="000000">
                <a:alpha val="38039"/>
              </a:srgbClr>
            </a:outerShdw>
          </a:effectLst>
        </p:spPr>
      </p:cxnSp>
      <p:cxnSp>
        <p:nvCxnSpPr>
          <p:cNvPr id="365" name="Google Shape;365;p18"/>
          <p:cNvCxnSpPr/>
          <p:nvPr/>
        </p:nvCxnSpPr>
        <p:spPr>
          <a:xfrm>
            <a:off x="3326130" y="1498018"/>
            <a:ext cx="2537700" cy="0"/>
          </a:xfrm>
          <a:prstGeom prst="straightConnector1">
            <a:avLst/>
          </a:prstGeom>
          <a:noFill/>
          <a:ln w="19050" cap="flat" cmpd="sng">
            <a:solidFill>
              <a:schemeClr val="dk1"/>
            </a:solidFill>
            <a:prstDash val="solid"/>
            <a:round/>
            <a:headEnd type="none" w="sm" len="sm"/>
            <a:tailEnd type="none" w="sm" len="sm"/>
          </a:ln>
          <a:effectLst>
            <a:outerShdw blurRad="30000" dist="15000" dir="5400000" rotWithShape="0">
              <a:srgbClr val="000000">
                <a:alpha val="38039"/>
              </a:srgbClr>
            </a:outerShdw>
          </a:effectLst>
        </p:spPr>
      </p:cxnSp>
      <p:cxnSp>
        <p:nvCxnSpPr>
          <p:cNvPr id="366" name="Google Shape;366;p18"/>
          <p:cNvCxnSpPr/>
          <p:nvPr/>
        </p:nvCxnSpPr>
        <p:spPr>
          <a:xfrm>
            <a:off x="6103620" y="1498018"/>
            <a:ext cx="2537700" cy="0"/>
          </a:xfrm>
          <a:prstGeom prst="straightConnector1">
            <a:avLst/>
          </a:prstGeom>
          <a:noFill/>
          <a:ln w="19050" cap="flat" cmpd="sng">
            <a:solidFill>
              <a:schemeClr val="dk1"/>
            </a:solidFill>
            <a:prstDash val="solid"/>
            <a:round/>
            <a:headEnd type="none" w="sm" len="sm"/>
            <a:tailEnd type="none" w="sm" len="sm"/>
          </a:ln>
          <a:effectLst>
            <a:outerShdw blurRad="30000" dist="15000" dir="5400000" rotWithShape="0">
              <a:srgbClr val="000000">
                <a:alpha val="38039"/>
              </a:srgbClr>
            </a:outerShdw>
          </a:effectLst>
        </p:spPr>
      </p:cxnSp>
      <p:sp>
        <p:nvSpPr>
          <p:cNvPr id="367" name="Google Shape;367;p18"/>
          <p:cNvSpPr txBox="1"/>
          <p:nvPr/>
        </p:nvSpPr>
        <p:spPr>
          <a:xfrm>
            <a:off x="526750" y="3165200"/>
            <a:ext cx="1593900" cy="238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ja" sz="1100" b="1" i="0" u="none" strike="noStrike" cap="none" dirty="0">
                <a:solidFill>
                  <a:srgbClr val="333333"/>
                </a:solidFill>
                <a:latin typeface="游ゴシック" panose="020B0400000000000000" pitchFamily="50" charset="-128"/>
                <a:ea typeface="游ゴシック" panose="020B0400000000000000" pitchFamily="50" charset="-128"/>
                <a:sym typeface="Arial"/>
              </a:rPr>
              <a:t>開発〜リリースの流れ</a:t>
            </a:r>
            <a:endParaRPr sz="1100" b="1" i="0" u="none" strike="noStrike" cap="none" dirty="0">
              <a:solidFill>
                <a:srgbClr val="333333"/>
              </a:solidFill>
              <a:latin typeface="游ゴシック" panose="020B0400000000000000" pitchFamily="50" charset="-128"/>
              <a:ea typeface="游ゴシック" panose="020B0400000000000000" pitchFamily="50" charset="-128"/>
              <a:sym typeface="Arial"/>
            </a:endParaRPr>
          </a:p>
        </p:txBody>
      </p:sp>
      <p:sp>
        <p:nvSpPr>
          <p:cNvPr id="368" name="Google Shape;368;p18"/>
          <p:cNvSpPr/>
          <p:nvPr/>
        </p:nvSpPr>
        <p:spPr>
          <a:xfrm>
            <a:off x="548640" y="3486165"/>
            <a:ext cx="1875000" cy="339900"/>
          </a:xfrm>
          <a:prstGeom prst="rect">
            <a:avLst/>
          </a:prstGeom>
          <a:solidFill>
            <a:srgbClr val="F2F2F2"/>
          </a:solidFill>
          <a:ln w="9525" cap="flat" cmpd="sng">
            <a:solidFill>
              <a:srgbClr val="BFBFBF"/>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41150" rIns="68575" bIns="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chemeClr val="dk1"/>
                </a:solidFill>
                <a:latin typeface="游ゴシック" panose="020B0400000000000000" pitchFamily="50" charset="-128"/>
                <a:ea typeface="游ゴシック" panose="020B0400000000000000" pitchFamily="50" charset="-128"/>
                <a:sym typeface="Arial"/>
              </a:rPr>
              <a:t>① 開発・実験</a:t>
            </a:r>
            <a:endParaRPr sz="800" b="1" i="0" u="none" strike="noStrike" cap="none" dirty="0">
              <a:solidFill>
                <a:schemeClr val="dk1"/>
              </a:solidFill>
              <a:latin typeface="游ゴシック" panose="020B0400000000000000" pitchFamily="50" charset="-128"/>
              <a:ea typeface="游ゴシック" panose="020B0400000000000000" pitchFamily="50" charset="-128"/>
              <a:sym typeface="Arial"/>
            </a:endParaRPr>
          </a:p>
          <a:p>
            <a:pPr marL="0" marR="0" lvl="0" indent="0" algn="l" rtl="0">
              <a:lnSpc>
                <a:spcPct val="100000"/>
              </a:lnSpc>
              <a:spcBef>
                <a:spcPts val="200"/>
              </a:spcBef>
              <a:spcAft>
                <a:spcPts val="0"/>
              </a:spcAft>
              <a:buClr>
                <a:srgbClr val="000000"/>
              </a:buClr>
              <a:buSzPts val="600"/>
              <a:buFont typeface="Arial"/>
              <a:buNone/>
            </a:pPr>
            <a:r>
              <a:rPr lang="ja" sz="600" b="0" i="0" u="none" strike="noStrike" cap="none" dirty="0">
                <a:solidFill>
                  <a:schemeClr val="dk1"/>
                </a:solidFill>
                <a:latin typeface="游ゴシック" panose="020B0400000000000000" pitchFamily="50" charset="-128"/>
                <a:ea typeface="游ゴシック" panose="020B0400000000000000" pitchFamily="50" charset="-128"/>
                <a:sym typeface="Arial"/>
              </a:rPr>
              <a:t>開発環境</a:t>
            </a:r>
            <a:endParaRPr sz="6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
        <p:nvSpPr>
          <p:cNvPr id="369" name="Google Shape;369;p18"/>
          <p:cNvSpPr/>
          <p:nvPr/>
        </p:nvSpPr>
        <p:spPr>
          <a:xfrm>
            <a:off x="548640" y="3825818"/>
            <a:ext cx="1875000" cy="900000"/>
          </a:xfrm>
          <a:prstGeom prst="rect">
            <a:avLst/>
          </a:prstGeom>
          <a:solidFill>
            <a:schemeClr val="lt1"/>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82300" tIns="82300" rIns="68575" bIns="41150" anchor="ctr" anchorCtr="0">
            <a:noAutofit/>
          </a:bodyPr>
          <a:lstStyle/>
          <a:p>
            <a:pPr marL="0" marR="0" lvl="0" indent="0" algn="l" rtl="0">
              <a:lnSpc>
                <a:spcPct val="15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Feature Branchで作業</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サンプルデータで開発・検証</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テスト実行</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p:txBody>
      </p:sp>
      <p:sp>
        <p:nvSpPr>
          <p:cNvPr id="370" name="Google Shape;370;p18"/>
          <p:cNvSpPr/>
          <p:nvPr/>
        </p:nvSpPr>
        <p:spPr>
          <a:xfrm>
            <a:off x="2457930" y="3998836"/>
            <a:ext cx="102900" cy="137400"/>
          </a:xfrm>
          <a:prstGeom prst="rightArrow">
            <a:avLst>
              <a:gd name="adj1" fmla="val 50000"/>
              <a:gd name="adj2" fmla="val 50000"/>
            </a:avLst>
          </a:prstGeom>
          <a:solidFill>
            <a:srgbClr val="1B3A5C"/>
          </a:solidFill>
          <a:ln>
            <a:noFill/>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71" name="Google Shape;371;p18"/>
          <p:cNvSpPr/>
          <p:nvPr/>
        </p:nvSpPr>
        <p:spPr>
          <a:xfrm>
            <a:off x="2604114" y="3486166"/>
            <a:ext cx="1875000" cy="339900"/>
          </a:xfrm>
          <a:prstGeom prst="rect">
            <a:avLst/>
          </a:prstGeom>
          <a:solidFill>
            <a:srgbClr val="F2F2F2"/>
          </a:solidFill>
          <a:ln w="9525" cap="flat" cmpd="sng">
            <a:solidFill>
              <a:srgbClr val="BFBFBF"/>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41150" rIns="68575" bIns="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chemeClr val="dk1"/>
                </a:solidFill>
                <a:latin typeface="游ゴシック" panose="020B0400000000000000" pitchFamily="50" charset="-128"/>
                <a:ea typeface="游ゴシック" panose="020B0400000000000000" pitchFamily="50" charset="-128"/>
                <a:sym typeface="Arial"/>
              </a:rPr>
              <a:t>② PR・レビュー</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a:p>
            <a:pPr marL="0" marR="0" lvl="0" indent="0" algn="l" rtl="0">
              <a:lnSpc>
                <a:spcPct val="100000"/>
              </a:lnSpc>
              <a:spcBef>
                <a:spcPts val="200"/>
              </a:spcBef>
              <a:spcAft>
                <a:spcPts val="0"/>
              </a:spcAft>
              <a:buClr>
                <a:srgbClr val="000000"/>
              </a:buClr>
              <a:buSzPts val="600"/>
              <a:buFont typeface="Arial"/>
              <a:buNone/>
            </a:pPr>
            <a:r>
              <a:rPr lang="ja" sz="600" b="0" i="0" u="none" strike="noStrike" cap="none" dirty="0">
                <a:solidFill>
                  <a:schemeClr val="dk1"/>
                </a:solidFill>
                <a:latin typeface="游ゴシック" panose="020B0400000000000000" pitchFamily="50" charset="-128"/>
                <a:ea typeface="游ゴシック" panose="020B0400000000000000" pitchFamily="50" charset="-128"/>
                <a:sym typeface="Arial"/>
              </a:rPr>
              <a:t>コードレビュー</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72" name="Google Shape;372;p18"/>
          <p:cNvSpPr/>
          <p:nvPr/>
        </p:nvSpPr>
        <p:spPr>
          <a:xfrm>
            <a:off x="2604114" y="3825818"/>
            <a:ext cx="1875000" cy="900000"/>
          </a:xfrm>
          <a:prstGeom prst="rect">
            <a:avLst/>
          </a:prstGeom>
          <a:solidFill>
            <a:schemeClr val="lt1"/>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82300" tIns="82300" rIns="68575" bIns="41150" anchor="ctr" anchorCtr="0">
            <a:noAutofit/>
          </a:bodyPr>
          <a:lstStyle/>
          <a:p>
            <a:pPr marL="0" marR="0" lvl="0" indent="0" algn="l" rtl="0">
              <a:lnSpc>
                <a:spcPct val="15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PR作成（最低1名承認）</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テスト自動チェック</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mainブランチへMerge</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p:txBody>
      </p:sp>
      <p:sp>
        <p:nvSpPr>
          <p:cNvPr id="373" name="Google Shape;373;p18"/>
          <p:cNvSpPr/>
          <p:nvPr/>
        </p:nvSpPr>
        <p:spPr>
          <a:xfrm>
            <a:off x="4522428" y="3998836"/>
            <a:ext cx="102900" cy="137400"/>
          </a:xfrm>
          <a:prstGeom prst="rightArrow">
            <a:avLst>
              <a:gd name="adj1" fmla="val 50000"/>
              <a:gd name="adj2" fmla="val 50000"/>
            </a:avLst>
          </a:prstGeom>
          <a:solidFill>
            <a:srgbClr val="1B3A5C"/>
          </a:solidFill>
          <a:ln>
            <a:noFill/>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74" name="Google Shape;374;p18"/>
          <p:cNvSpPr/>
          <p:nvPr/>
        </p:nvSpPr>
        <p:spPr>
          <a:xfrm>
            <a:off x="4677636" y="3486165"/>
            <a:ext cx="1875000" cy="339900"/>
          </a:xfrm>
          <a:prstGeom prst="rect">
            <a:avLst/>
          </a:prstGeom>
          <a:solidFill>
            <a:srgbClr val="F2F2F2"/>
          </a:solidFill>
          <a:ln w="9525" cap="flat" cmpd="sng">
            <a:solidFill>
              <a:srgbClr val="BFBFBF"/>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41150" rIns="68575" bIns="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chemeClr val="dk1"/>
                </a:solidFill>
                <a:latin typeface="游ゴシック" panose="020B0400000000000000" pitchFamily="50" charset="-128"/>
                <a:ea typeface="游ゴシック" panose="020B0400000000000000" pitchFamily="50" charset="-128"/>
                <a:sym typeface="Arial"/>
              </a:rPr>
              <a:t>③ ステージング反映・検証</a:t>
            </a:r>
            <a:endParaRPr sz="800" b="1" i="0" u="none" strike="noStrike" cap="none" dirty="0">
              <a:solidFill>
                <a:schemeClr val="dk1"/>
              </a:solidFill>
              <a:latin typeface="游ゴシック" panose="020B0400000000000000" pitchFamily="50" charset="-128"/>
              <a:ea typeface="游ゴシック" panose="020B0400000000000000" pitchFamily="50" charset="-128"/>
              <a:sym typeface="Arial"/>
            </a:endParaRPr>
          </a:p>
          <a:p>
            <a:pPr marL="0" marR="0" lvl="0" indent="0" algn="l" rtl="0">
              <a:lnSpc>
                <a:spcPct val="100000"/>
              </a:lnSpc>
              <a:spcBef>
                <a:spcPts val="200"/>
              </a:spcBef>
              <a:spcAft>
                <a:spcPts val="0"/>
              </a:spcAft>
              <a:buClr>
                <a:srgbClr val="000000"/>
              </a:buClr>
              <a:buSzPts val="600"/>
              <a:buFont typeface="Arial"/>
              <a:buNone/>
            </a:pPr>
            <a:r>
              <a:rPr lang="ja" sz="600" b="0" i="0" u="none" strike="noStrike" cap="none" dirty="0">
                <a:solidFill>
                  <a:schemeClr val="dk1"/>
                </a:solidFill>
                <a:latin typeface="游ゴシック" panose="020B0400000000000000" pitchFamily="50" charset="-128"/>
                <a:ea typeface="游ゴシック" panose="020B0400000000000000" pitchFamily="50" charset="-128"/>
                <a:sym typeface="Arial"/>
              </a:rPr>
              <a:t>ステージング環境</a:t>
            </a:r>
            <a:endParaRPr sz="6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
        <p:nvSpPr>
          <p:cNvPr id="375" name="Google Shape;375;p18"/>
          <p:cNvSpPr/>
          <p:nvPr/>
        </p:nvSpPr>
        <p:spPr>
          <a:xfrm>
            <a:off x="4677636" y="3825818"/>
            <a:ext cx="1875000" cy="900000"/>
          </a:xfrm>
          <a:prstGeom prst="rect">
            <a:avLst/>
          </a:prstGeom>
          <a:solidFill>
            <a:schemeClr val="lt1"/>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82300" tIns="82300" rIns="68575" bIns="41150" anchor="ctr" anchorCtr="0">
            <a:noAutofit/>
          </a:bodyPr>
          <a:lstStyle/>
          <a:p>
            <a:pPr marL="0" marR="0" lvl="0" indent="0" algn="l" rtl="0">
              <a:lnSpc>
                <a:spcPct val="15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CI/CDで自動デプロイ</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本番同等データで統合テスト</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データ品質チェック通過を確認</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p:txBody>
      </p:sp>
      <p:sp>
        <p:nvSpPr>
          <p:cNvPr id="376" name="Google Shape;376;p18"/>
          <p:cNvSpPr/>
          <p:nvPr/>
        </p:nvSpPr>
        <p:spPr>
          <a:xfrm>
            <a:off x="6613998" y="3998836"/>
            <a:ext cx="102900" cy="137400"/>
          </a:xfrm>
          <a:prstGeom prst="rightArrow">
            <a:avLst>
              <a:gd name="adj1" fmla="val 50000"/>
              <a:gd name="adj2" fmla="val 50000"/>
            </a:avLst>
          </a:prstGeom>
          <a:solidFill>
            <a:srgbClr val="1B3A5C"/>
          </a:solidFill>
          <a:ln>
            <a:noFill/>
          </a:ln>
          <a:effectLst>
            <a:outerShdw blurRad="30000" dist="17250" dir="5400000" rotWithShape="0">
              <a:srgbClr val="000000">
                <a:alpha val="34901"/>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77" name="Google Shape;377;p18"/>
          <p:cNvSpPr/>
          <p:nvPr/>
        </p:nvSpPr>
        <p:spPr>
          <a:xfrm>
            <a:off x="6767885" y="3495708"/>
            <a:ext cx="1875000" cy="339900"/>
          </a:xfrm>
          <a:prstGeom prst="rect">
            <a:avLst/>
          </a:prstGeom>
          <a:solidFill>
            <a:srgbClr val="F2F2F2"/>
          </a:solidFill>
          <a:ln w="9525" cap="flat" cmpd="sng">
            <a:solidFill>
              <a:srgbClr val="BFBFBF"/>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68575" tIns="41150" rIns="68575" bIns="0"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dirty="0">
                <a:solidFill>
                  <a:schemeClr val="dk1"/>
                </a:solidFill>
                <a:latin typeface="游ゴシック" panose="020B0400000000000000" pitchFamily="50" charset="-128"/>
                <a:ea typeface="游ゴシック" panose="020B0400000000000000" pitchFamily="50" charset="-128"/>
                <a:sym typeface="Arial"/>
              </a:rPr>
              <a:t>④ 本番リリースPR</a:t>
            </a:r>
            <a:endParaRPr sz="800" b="1" i="0" u="none" strike="noStrike" cap="none" dirty="0">
              <a:solidFill>
                <a:schemeClr val="dk1"/>
              </a:solidFill>
              <a:latin typeface="游ゴシック" panose="020B0400000000000000" pitchFamily="50" charset="-128"/>
              <a:ea typeface="游ゴシック" panose="020B0400000000000000" pitchFamily="50" charset="-128"/>
              <a:sym typeface="Arial"/>
            </a:endParaRPr>
          </a:p>
          <a:p>
            <a:pPr marL="0" marR="0" lvl="0" indent="0" algn="l" rtl="0">
              <a:lnSpc>
                <a:spcPct val="100000"/>
              </a:lnSpc>
              <a:spcBef>
                <a:spcPts val="200"/>
              </a:spcBef>
              <a:spcAft>
                <a:spcPts val="0"/>
              </a:spcAft>
              <a:buClr>
                <a:srgbClr val="000000"/>
              </a:buClr>
              <a:buSzPts val="600"/>
              <a:buFont typeface="Arial"/>
              <a:buNone/>
            </a:pPr>
            <a:r>
              <a:rPr lang="ja" sz="600" b="0" i="0" u="none" strike="noStrike" cap="none" dirty="0">
                <a:solidFill>
                  <a:schemeClr val="dk1"/>
                </a:solidFill>
                <a:latin typeface="游ゴシック" panose="020B0400000000000000" pitchFamily="50" charset="-128"/>
                <a:ea typeface="游ゴシック" panose="020B0400000000000000" pitchFamily="50" charset="-128"/>
                <a:sym typeface="Arial"/>
              </a:rPr>
              <a:t>本番リリースのレビュー</a:t>
            </a:r>
            <a:endParaRPr sz="600"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
        <p:nvSpPr>
          <p:cNvPr id="378" name="Google Shape;378;p18"/>
          <p:cNvSpPr/>
          <p:nvPr/>
        </p:nvSpPr>
        <p:spPr>
          <a:xfrm>
            <a:off x="6767885" y="3835361"/>
            <a:ext cx="1875000" cy="900000"/>
          </a:xfrm>
          <a:prstGeom prst="rect">
            <a:avLst/>
          </a:prstGeom>
          <a:solidFill>
            <a:schemeClr val="lt1"/>
          </a:solidFill>
          <a:ln w="9525" cap="flat" cmpd="sng">
            <a:solidFill>
              <a:srgbClr val="F2F2F2"/>
            </a:solidFill>
            <a:prstDash val="solid"/>
            <a:round/>
            <a:headEnd type="none" w="sm" len="sm"/>
            <a:tailEnd type="none" w="sm" len="sm"/>
          </a:ln>
          <a:effectLst>
            <a:outerShdw blurRad="30000" dist="17250" dir="5400000" rotWithShape="0">
              <a:srgbClr val="000000">
                <a:alpha val="34901"/>
              </a:srgbClr>
            </a:outerShdw>
          </a:effectLst>
        </p:spPr>
        <p:txBody>
          <a:bodyPr spcFirstLastPara="1" wrap="square" lIns="82300" tIns="82300" rIns="68575" bIns="41150" anchor="ctr" anchorCtr="0">
            <a:noAutofit/>
          </a:bodyPr>
          <a:lstStyle/>
          <a:p>
            <a:pPr marL="0" marR="0" lvl="0" indent="0" algn="l" rtl="0">
              <a:lnSpc>
                <a:spcPct val="150000"/>
              </a:lnSpc>
              <a:spcBef>
                <a:spcPts val="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リリース承認（担当者）</a:t>
            </a:r>
            <a:endParaRPr sz="11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r>
              <a:rPr lang="ja" sz="700" b="0" i="0" u="none" strike="noStrike" cap="none" dirty="0">
                <a:solidFill>
                  <a:srgbClr val="333333"/>
                </a:solidFill>
                <a:latin typeface="游ゴシック" panose="020B0400000000000000" pitchFamily="50" charset="-128"/>
                <a:ea typeface="游ゴシック" panose="020B0400000000000000" pitchFamily="50" charset="-128"/>
                <a:sym typeface="Arial"/>
              </a:rPr>
              <a:t>• CI/CDで自動デプロイ</a:t>
            </a: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a:p>
            <a:pPr marL="0" marR="0" lvl="0" indent="0" algn="l" rtl="0">
              <a:lnSpc>
                <a:spcPct val="150000"/>
              </a:lnSpc>
              <a:spcBef>
                <a:spcPts val="500"/>
              </a:spcBef>
              <a:spcAft>
                <a:spcPts val="0"/>
              </a:spcAft>
              <a:buClr>
                <a:srgbClr val="000000"/>
              </a:buClr>
              <a:buSzPts val="700"/>
              <a:buFont typeface="Arial"/>
              <a:buNone/>
            </a:pPr>
            <a:endParaRPr sz="700" b="0" i="0" u="none" strike="noStrike" cap="none" dirty="0">
              <a:solidFill>
                <a:srgbClr val="333333"/>
              </a:solidFill>
              <a:latin typeface="游ゴシック" panose="020B0400000000000000" pitchFamily="50" charset="-128"/>
              <a:ea typeface="游ゴシック" panose="020B0400000000000000" pitchFamily="50" charset="-128"/>
              <a:sym typeface="Arial"/>
            </a:endParaRPr>
          </a:p>
        </p:txBody>
      </p:sp>
      <p:sp>
        <p:nvSpPr>
          <p:cNvPr id="379" name="Google Shape;379;p18"/>
          <p:cNvSpPr txBox="1"/>
          <p:nvPr/>
        </p:nvSpPr>
        <p:spPr>
          <a:xfrm>
            <a:off x="526753" y="925053"/>
            <a:ext cx="1424700" cy="238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ja" sz="1100" b="1" i="0" u="none" strike="noStrike" cap="none" dirty="0">
                <a:solidFill>
                  <a:srgbClr val="333333"/>
                </a:solidFill>
                <a:latin typeface="游ゴシック" panose="020B0400000000000000" pitchFamily="50" charset="-128"/>
                <a:ea typeface="游ゴシック" panose="020B0400000000000000" pitchFamily="50" charset="-128"/>
                <a:sym typeface="Arial"/>
              </a:rPr>
              <a:t>３階層の環境構成</a:t>
            </a:r>
            <a:endParaRPr sz="1100" b="1" i="0" u="none" strike="noStrike" cap="none" dirty="0">
              <a:solidFill>
                <a:srgbClr val="333333"/>
              </a:solidFill>
              <a:latin typeface="游ゴシック" panose="020B0400000000000000" pitchFamily="50" charset="-128"/>
              <a:ea typeface="游ゴシック" panose="020B0400000000000000" pitchFamily="50" charset="-128"/>
              <a:sym typeface="Arial"/>
            </a:endParaRPr>
          </a:p>
        </p:txBody>
      </p:sp>
      <p:cxnSp>
        <p:nvCxnSpPr>
          <p:cNvPr id="380" name="Google Shape;380;p18"/>
          <p:cNvCxnSpPr>
            <a:stCxn id="367" idx="3"/>
          </p:cNvCxnSpPr>
          <p:nvPr/>
        </p:nvCxnSpPr>
        <p:spPr>
          <a:xfrm rot="10800000" flipH="1">
            <a:off x="2120650" y="3259850"/>
            <a:ext cx="6530700" cy="24600"/>
          </a:xfrm>
          <a:prstGeom prst="straightConnector1">
            <a:avLst/>
          </a:prstGeom>
          <a:noFill/>
          <a:ln w="9525" cap="flat" cmpd="sng">
            <a:solidFill>
              <a:srgbClr val="BFBFBF"/>
            </a:solidFill>
            <a:prstDash val="solid"/>
            <a:round/>
            <a:headEnd type="none" w="sm" len="sm"/>
            <a:tailEnd type="none" w="sm" len="sm"/>
          </a:ln>
          <a:effectLst>
            <a:outerShdw blurRad="30000" dist="15000" dir="5400000" rotWithShape="0">
              <a:srgbClr val="000000">
                <a:alpha val="38039"/>
              </a:srgbClr>
            </a:outerShdw>
          </a:effectLst>
        </p:spPr>
      </p:cxnSp>
      <p:cxnSp>
        <p:nvCxnSpPr>
          <p:cNvPr id="381" name="Google Shape;381;p18"/>
          <p:cNvCxnSpPr/>
          <p:nvPr/>
        </p:nvCxnSpPr>
        <p:spPr>
          <a:xfrm>
            <a:off x="1865055" y="1041729"/>
            <a:ext cx="6750000" cy="0"/>
          </a:xfrm>
          <a:prstGeom prst="straightConnector1">
            <a:avLst/>
          </a:prstGeom>
          <a:noFill/>
          <a:ln w="9525" cap="flat" cmpd="sng">
            <a:solidFill>
              <a:srgbClr val="BFBFBF"/>
            </a:solidFill>
            <a:prstDash val="solid"/>
            <a:round/>
            <a:headEnd type="none" w="sm" len="sm"/>
            <a:tailEnd type="none" w="sm" len="sm"/>
          </a:ln>
          <a:effectLst>
            <a:outerShdw blurRad="30000" dist="15000" dir="5400000" rotWithShape="0">
              <a:srgbClr val="000000">
                <a:alpha val="38039"/>
              </a:srgbClr>
            </a:outerShdw>
          </a:effectLst>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19"/>
          <p:cNvSpPr txBox="1"/>
          <p:nvPr/>
        </p:nvSpPr>
        <p:spPr>
          <a:xfrm>
            <a:off x="355600" y="254000"/>
            <a:ext cx="84327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 sz="2000" b="1" i="0" u="none" strike="noStrike" cap="none" dirty="0">
                <a:solidFill>
                  <a:srgbClr val="1B2A4A"/>
                </a:solidFill>
                <a:latin typeface="游ゴシック" panose="020B0400000000000000" pitchFamily="50" charset="-128"/>
                <a:ea typeface="游ゴシック" panose="020B0400000000000000" pitchFamily="50" charset="-128"/>
                <a:cs typeface="Century Gothic"/>
                <a:sym typeface="Century Gothic"/>
              </a:rPr>
              <a:t>Appendix 目次</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cxnSp>
        <p:nvCxnSpPr>
          <p:cNvPr id="387" name="Google Shape;387;p19"/>
          <p:cNvCxnSpPr/>
          <p:nvPr/>
        </p:nvCxnSpPr>
        <p:spPr>
          <a:xfrm>
            <a:off x="355600" y="698500"/>
            <a:ext cx="8432700" cy="0"/>
          </a:xfrm>
          <a:prstGeom prst="straightConnector1">
            <a:avLst/>
          </a:prstGeom>
          <a:noFill/>
          <a:ln w="12700" cap="flat" cmpd="sng">
            <a:solidFill>
              <a:srgbClr val="1B2A4A"/>
            </a:solidFill>
            <a:prstDash val="solid"/>
            <a:miter lim="800000"/>
            <a:headEnd type="none" w="sm" len="sm"/>
            <a:tailEnd type="none" w="sm" len="sm"/>
          </a:ln>
        </p:spPr>
      </p:cxnSp>
      <p:sp>
        <p:nvSpPr>
          <p:cNvPr id="388" name="Google Shape;388;p19"/>
          <p:cNvSpPr txBox="1"/>
          <p:nvPr/>
        </p:nvSpPr>
        <p:spPr>
          <a:xfrm>
            <a:off x="355600" y="863600"/>
            <a:ext cx="50799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  アーキテクチャ・技術選定</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89" name="Google Shape;389;p19"/>
          <p:cNvSpPr txBox="1"/>
          <p:nvPr/>
        </p:nvSpPr>
        <p:spPr>
          <a:xfrm>
            <a:off x="533400" y="1143000"/>
            <a:ext cx="7874100" cy="2031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A-1  アーキテクチャ：DWH+DL vs Lakehouse</a:t>
            </a:r>
            <a:b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b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A-2  テーブルフォーマットとは</a:t>
            </a:r>
            <a:b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b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A-3  UniFormによるフォーマットの収束</a:t>
            </a:r>
            <a:b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b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A-4  プラットフォーム比較：Databricks vs Snowflake vs AWS</a:t>
            </a:r>
            <a:b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b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A-5  本プロジェクトにおける各PF評価</a:t>
            </a:r>
            <a:b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b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A-6  BI層にSnowflakeを挟む必要性</a:t>
            </a:r>
            <a:b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b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A-7  オーケストレーション：構成パターン比較</a:t>
            </a:r>
            <a:b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b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A-8  データ変換：Foundry PySpark移植戦略</a:t>
            </a:r>
            <a:b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b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A-9  セマンティックレイヤー：Ontology代替</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90" name="Google Shape;390;p19"/>
          <p:cNvSpPr txBox="1"/>
          <p:nvPr/>
        </p:nvSpPr>
        <p:spPr>
          <a:xfrm>
            <a:off x="355600" y="3048000"/>
            <a:ext cx="50799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別紙B  ガバナンス移行マッピング</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91" name="Google Shape;391;p19"/>
          <p:cNvSpPr txBox="1"/>
          <p:nvPr/>
        </p:nvSpPr>
        <p:spPr>
          <a:xfrm>
            <a:off x="533400" y="3327400"/>
            <a:ext cx="7874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B-1  データガバナンス：Foundry機能の代替マッピング</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92" name="Google Shape;392;p19"/>
          <p:cNvSpPr txBox="1"/>
          <p:nvPr/>
        </p:nvSpPr>
        <p:spPr>
          <a:xfrm>
            <a:off x="355600" y="3708400"/>
            <a:ext cx="50799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別紙C  推奨技術スタック総括</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
        <p:nvSpPr>
          <p:cNvPr id="393" name="Google Shape;393;p19"/>
          <p:cNvSpPr txBox="1"/>
          <p:nvPr/>
        </p:nvSpPr>
        <p:spPr>
          <a:xfrm>
            <a:off x="533400" y="3987800"/>
            <a:ext cx="78741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C-1  推奨技術スタック：総括</a:t>
            </a:r>
            <a:b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br>
            <a:r>
              <a:rPr lang="ja" sz="1400" b="0" i="0" u="none" strike="noStrike" cap="none" dirty="0">
                <a:solidFill>
                  <a:srgbClr val="444444"/>
                </a:solidFill>
                <a:latin typeface="游ゴシック" panose="020B0400000000000000" pitchFamily="50" charset="-128"/>
                <a:ea typeface="游ゴシック" panose="020B0400000000000000" pitchFamily="50" charset="-128"/>
                <a:cs typeface="Century Gothic"/>
                <a:sym typeface="Century Gothic"/>
              </a:rPr>
              <a:t>C-2  技術選定サマリー</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cxnSp>
        <p:nvCxnSpPr>
          <p:cNvPr id="394" name="Google Shape;394;p19"/>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395" name="Google Shape;395;p19"/>
          <p:cNvSpPr txBox="1"/>
          <p:nvPr/>
        </p:nvSpPr>
        <p:spPr>
          <a:xfrm>
            <a:off x="355600" y="4953000"/>
            <a:ext cx="6351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396" name="Google Shape;396;p19"/>
          <p:cNvSpPr txBox="1"/>
          <p:nvPr/>
        </p:nvSpPr>
        <p:spPr>
          <a:xfrm>
            <a:off x="6858000" y="4953000"/>
            <a:ext cx="1930500" cy="21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20"/>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02" name="Google Shape;402;p20"/>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1</a:t>
            </a:r>
            <a:endParaRPr sz="1350" b="0" i="0" u="none" strike="noStrike" cap="none" dirty="0">
              <a:solidFill>
                <a:schemeClr val="dk1"/>
              </a:solidFill>
              <a:latin typeface="Calibri"/>
              <a:ea typeface="Calibri"/>
              <a:cs typeface="Calibri"/>
              <a:sym typeface="Calibri"/>
            </a:endParaRPr>
          </a:p>
        </p:txBody>
      </p:sp>
      <p:sp>
        <p:nvSpPr>
          <p:cNvPr id="403" name="Google Shape;403;p20"/>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アーキテクチャ：「DWH + Data Lake」 vs 「Lakehouse」</a:t>
            </a:r>
            <a:endParaRPr sz="1350" b="0" i="0" u="none" strike="noStrike" cap="none" dirty="0">
              <a:solidFill>
                <a:schemeClr val="dk1"/>
              </a:solidFill>
              <a:latin typeface="Calibri"/>
              <a:ea typeface="Calibri"/>
              <a:cs typeface="Calibri"/>
              <a:sym typeface="Calibri"/>
            </a:endParaRPr>
          </a:p>
        </p:txBody>
      </p:sp>
      <p:sp>
        <p:nvSpPr>
          <p:cNvPr id="404" name="Google Shape;404;p20"/>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従来の2層構成を1つに統合した Lakehouse が新しい標準</a:t>
            </a:r>
            <a:endParaRPr sz="1350" b="0" i="0" u="none" strike="noStrike" cap="none" dirty="0">
              <a:solidFill>
                <a:schemeClr val="dk1"/>
              </a:solidFill>
              <a:latin typeface="Calibri"/>
              <a:ea typeface="Calibri"/>
              <a:cs typeface="Calibri"/>
              <a:sym typeface="Calibri"/>
            </a:endParaRPr>
          </a:p>
        </p:txBody>
      </p:sp>
      <p:sp>
        <p:nvSpPr>
          <p:cNvPr id="405" name="Google Shape;405;p20"/>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06" name="Google Shape;406;p20"/>
          <p:cNvSpPr/>
          <p:nvPr/>
        </p:nvSpPr>
        <p:spPr>
          <a:xfrm>
            <a:off x="480060" y="925830"/>
            <a:ext cx="3840480" cy="342900"/>
          </a:xfrm>
          <a:prstGeom prst="rect">
            <a:avLst/>
          </a:prstGeom>
          <a:solidFill>
            <a:srgbClr val="787878"/>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975"/>
              <a:buFont typeface="Arial"/>
              <a:buNone/>
            </a:pPr>
            <a:r>
              <a:rPr lang="ja" sz="975" b="1" i="0" u="none" strike="noStrike" cap="none" dirty="0">
                <a:solidFill>
                  <a:srgbClr val="FFFFFF"/>
                </a:solidFill>
                <a:latin typeface="游ゴシック" panose="020B0400000000000000" pitchFamily="50" charset="-128"/>
                <a:ea typeface="游ゴシック" panose="020B0400000000000000" pitchFamily="50" charset="-128"/>
                <a:sym typeface="Arial"/>
              </a:rPr>
              <a:t>従来型：DWH + Data Lake（2層構成）</a:t>
            </a:r>
            <a:endParaRPr sz="1350" b="0" i="0" u="none" strike="noStrike" cap="none" dirty="0">
              <a:solidFill>
                <a:schemeClr val="dk1"/>
              </a:solidFill>
              <a:latin typeface="Calibri"/>
              <a:ea typeface="Calibri"/>
              <a:cs typeface="Calibri"/>
              <a:sym typeface="Calibri"/>
            </a:endParaRPr>
          </a:p>
        </p:txBody>
      </p:sp>
      <p:sp>
        <p:nvSpPr>
          <p:cNvPr id="407" name="Google Shape;407;p20"/>
          <p:cNvSpPr/>
          <p:nvPr/>
        </p:nvSpPr>
        <p:spPr>
          <a:xfrm>
            <a:off x="548640" y="1405889"/>
            <a:ext cx="1440180" cy="1062990"/>
          </a:xfrm>
          <a:prstGeom prst="roundRect">
            <a:avLst>
              <a:gd name="adj" fmla="val 16667"/>
            </a:avLst>
          </a:prstGeom>
          <a:solidFill>
            <a:srgbClr val="E8F0F5"/>
          </a:solidFill>
          <a:ln w="12700" cap="flat" cmpd="sng">
            <a:solidFill>
              <a:srgbClr val="78787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82275" rIns="68550" bIns="34275" anchor="ctr"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787878"/>
                </a:solidFill>
                <a:latin typeface="游ゴシック" panose="020B0400000000000000" pitchFamily="50" charset="-128"/>
                <a:ea typeface="游ゴシック" panose="020B0400000000000000" pitchFamily="50" charset="-128"/>
                <a:sym typeface="Arial"/>
              </a:rPr>
              <a:t>Data Lake</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S3 / GCS</a:t>
            </a:r>
            <a:endParaRPr sz="1350" b="0" i="0" u="none" strike="noStrike" cap="none" dirty="0">
              <a:solidFill>
                <a:schemeClr val="lt1"/>
              </a:solidFill>
              <a:latin typeface="Calibri"/>
              <a:ea typeface="Calibri"/>
              <a:cs typeface="Calibri"/>
              <a:sym typeface="Calibri"/>
            </a:endParaRPr>
          </a:p>
          <a:p>
            <a:pPr marL="0" marR="0" lvl="0" indent="0" algn="ctr" rtl="0">
              <a:lnSpc>
                <a:spcPct val="100000"/>
              </a:lnSpc>
              <a:spcBef>
                <a:spcPts val="450"/>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生データを安価に保管</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C0392B"/>
                </a:solidFill>
                <a:latin typeface="游ゴシック" panose="020B0400000000000000" pitchFamily="50" charset="-128"/>
                <a:ea typeface="游ゴシック" panose="020B0400000000000000" pitchFamily="50" charset="-128"/>
                <a:sym typeface="Arial"/>
              </a:rPr>
              <a:t>SQLで直接分析は不可</a:t>
            </a:r>
            <a:endParaRPr sz="1350" b="0" i="0" u="none" strike="noStrike" cap="none" dirty="0">
              <a:solidFill>
                <a:schemeClr val="dk1"/>
              </a:solidFill>
              <a:latin typeface="Calibri"/>
              <a:ea typeface="Calibri"/>
              <a:cs typeface="Calibri"/>
              <a:sym typeface="Calibri"/>
            </a:endParaRPr>
          </a:p>
        </p:txBody>
      </p:sp>
      <p:sp>
        <p:nvSpPr>
          <p:cNvPr id="408" name="Google Shape;408;p20"/>
          <p:cNvSpPr/>
          <p:nvPr/>
        </p:nvSpPr>
        <p:spPr>
          <a:xfrm>
            <a:off x="2057400" y="1783079"/>
            <a:ext cx="377190" cy="205740"/>
          </a:xfrm>
          <a:prstGeom prst="rightArrow">
            <a:avLst>
              <a:gd name="adj1" fmla="val 50000"/>
              <a:gd name="adj2" fmla="val 50000"/>
            </a:avLst>
          </a:prstGeom>
          <a:solidFill>
            <a:srgbClr val="78787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09" name="Google Shape;409;p20"/>
          <p:cNvSpPr txBox="1"/>
          <p:nvPr/>
        </p:nvSpPr>
        <p:spPr>
          <a:xfrm>
            <a:off x="2057400" y="2023109"/>
            <a:ext cx="377190" cy="150011"/>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525"/>
              <a:buFont typeface="Arial"/>
              <a:buNone/>
            </a:pPr>
            <a:r>
              <a:rPr lang="ja" sz="525" b="1" i="0" u="none" strike="noStrike" cap="none" dirty="0">
                <a:solidFill>
                  <a:srgbClr val="787878"/>
                </a:solidFill>
                <a:latin typeface="游ゴシック" panose="020B0400000000000000" pitchFamily="50" charset="-128"/>
                <a:ea typeface="游ゴシック" panose="020B0400000000000000" pitchFamily="50" charset="-128"/>
                <a:sym typeface="Arial"/>
              </a:rPr>
              <a:t>ETL</a:t>
            </a:r>
            <a:endParaRPr sz="1350" b="0" i="0" u="none" strike="noStrike" cap="none" dirty="0">
              <a:solidFill>
                <a:schemeClr val="dk1"/>
              </a:solidFill>
              <a:latin typeface="Calibri"/>
              <a:ea typeface="Calibri"/>
              <a:cs typeface="Calibri"/>
              <a:sym typeface="Calibri"/>
            </a:endParaRPr>
          </a:p>
        </p:txBody>
      </p:sp>
      <p:sp>
        <p:nvSpPr>
          <p:cNvPr id="410" name="Google Shape;410;p20"/>
          <p:cNvSpPr/>
          <p:nvPr/>
        </p:nvSpPr>
        <p:spPr>
          <a:xfrm>
            <a:off x="2537460" y="1405889"/>
            <a:ext cx="1440180" cy="1062990"/>
          </a:xfrm>
          <a:prstGeom prst="roundRect">
            <a:avLst>
              <a:gd name="adj" fmla="val 16667"/>
            </a:avLst>
          </a:prstGeom>
          <a:solidFill>
            <a:srgbClr val="F5EEE8"/>
          </a:solidFill>
          <a:ln w="12700" cap="flat" cmpd="sng">
            <a:solidFill>
              <a:srgbClr val="78787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82275" rIns="68550" bIns="34275" anchor="ctr"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787878"/>
                </a:solidFill>
                <a:latin typeface="游ゴシック" panose="020B0400000000000000" pitchFamily="50" charset="-128"/>
                <a:ea typeface="游ゴシック" panose="020B0400000000000000" pitchFamily="50" charset="-128"/>
                <a:sym typeface="Arial"/>
              </a:rPr>
              <a:t>Data Warehouse</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Snowflake / Redshift</a:t>
            </a:r>
            <a:endParaRPr sz="1350" b="0" i="0" u="none" strike="noStrike" cap="none" dirty="0">
              <a:solidFill>
                <a:schemeClr val="lt1"/>
              </a:solidFill>
              <a:latin typeface="Calibri"/>
              <a:ea typeface="Calibri"/>
              <a:cs typeface="Calibri"/>
              <a:sym typeface="Calibri"/>
            </a:endParaRPr>
          </a:p>
          <a:p>
            <a:pPr marL="0" marR="0" lvl="0" indent="0" algn="ctr" rtl="0">
              <a:lnSpc>
                <a:spcPct val="100000"/>
              </a:lnSpc>
              <a:spcBef>
                <a:spcPts val="450"/>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加工済みデータをBI向けに提供</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C0392B"/>
                </a:solidFill>
                <a:latin typeface="游ゴシック" panose="020B0400000000000000" pitchFamily="50" charset="-128"/>
                <a:ea typeface="游ゴシック" panose="020B0400000000000000" pitchFamily="50" charset="-128"/>
                <a:sym typeface="Arial"/>
              </a:rPr>
              <a:t>コスト高・ML/AI非対応</a:t>
            </a:r>
            <a:endParaRPr sz="1350" b="0" i="0" u="none" strike="noStrike" cap="none" dirty="0">
              <a:solidFill>
                <a:schemeClr val="dk1"/>
              </a:solidFill>
              <a:latin typeface="Calibri"/>
              <a:ea typeface="Calibri"/>
              <a:cs typeface="Calibri"/>
              <a:sym typeface="Calibri"/>
            </a:endParaRPr>
          </a:p>
        </p:txBody>
      </p:sp>
      <p:sp>
        <p:nvSpPr>
          <p:cNvPr id="411" name="Google Shape;411;p20"/>
          <p:cNvSpPr txBox="1"/>
          <p:nvPr/>
        </p:nvSpPr>
        <p:spPr>
          <a:xfrm>
            <a:off x="548640" y="2597467"/>
            <a:ext cx="34290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C0392B"/>
                </a:solidFill>
                <a:latin typeface="游ゴシック" panose="020B0400000000000000" pitchFamily="50" charset="-128"/>
                <a:ea typeface="游ゴシック" panose="020B0400000000000000" pitchFamily="50" charset="-128"/>
                <a:sym typeface="Arial"/>
              </a:rPr>
              <a:t>  ✗  データが2箇所に存在 → 同期コスト・整合性の問題</a:t>
            </a:r>
            <a:endParaRPr sz="1350" b="0" i="0" u="none" strike="noStrike" cap="none" dirty="0">
              <a:solidFill>
                <a:schemeClr val="dk1"/>
              </a:solidFill>
              <a:latin typeface="Calibri"/>
              <a:ea typeface="Calibri"/>
              <a:cs typeface="Calibri"/>
              <a:sym typeface="Calibri"/>
            </a:endParaRPr>
          </a:p>
        </p:txBody>
      </p:sp>
      <p:sp>
        <p:nvSpPr>
          <p:cNvPr id="412" name="Google Shape;412;p20"/>
          <p:cNvSpPr txBox="1"/>
          <p:nvPr/>
        </p:nvSpPr>
        <p:spPr>
          <a:xfrm>
            <a:off x="548640" y="2763774"/>
            <a:ext cx="34290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C0392B"/>
                </a:solidFill>
                <a:latin typeface="游ゴシック" panose="020B0400000000000000" pitchFamily="50" charset="-128"/>
                <a:ea typeface="游ゴシック" panose="020B0400000000000000" pitchFamily="50" charset="-128"/>
                <a:sym typeface="Arial"/>
              </a:rPr>
              <a:t>  ✗  DWHライセンス + Lake運用 = 二重課金</a:t>
            </a:r>
            <a:endParaRPr sz="1350" b="0" i="0" u="none" strike="noStrike" cap="none" dirty="0">
              <a:solidFill>
                <a:schemeClr val="dk1"/>
              </a:solidFill>
              <a:latin typeface="Calibri"/>
              <a:ea typeface="Calibri"/>
              <a:cs typeface="Calibri"/>
              <a:sym typeface="Calibri"/>
            </a:endParaRPr>
          </a:p>
        </p:txBody>
      </p:sp>
      <p:sp>
        <p:nvSpPr>
          <p:cNvPr id="413" name="Google Shape;413;p20"/>
          <p:cNvSpPr txBox="1"/>
          <p:nvPr/>
        </p:nvSpPr>
        <p:spPr>
          <a:xfrm>
            <a:off x="548640" y="2930080"/>
            <a:ext cx="34290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C0392B"/>
                </a:solidFill>
                <a:latin typeface="游ゴシック" panose="020B0400000000000000" pitchFamily="50" charset="-128"/>
                <a:ea typeface="游ゴシック" panose="020B0400000000000000" pitchFamily="50" charset="-128"/>
                <a:sym typeface="Arial"/>
              </a:rPr>
              <a:t>  ✗  ML/AIはDWHから取り出して別環境で実行が必要</a:t>
            </a:r>
            <a:endParaRPr sz="1350" b="0" i="0" u="none" strike="noStrike" cap="none" dirty="0">
              <a:solidFill>
                <a:schemeClr val="dk1"/>
              </a:solidFill>
              <a:latin typeface="Calibri"/>
              <a:ea typeface="Calibri"/>
              <a:cs typeface="Calibri"/>
              <a:sym typeface="Calibri"/>
            </a:endParaRPr>
          </a:p>
        </p:txBody>
      </p:sp>
      <p:sp>
        <p:nvSpPr>
          <p:cNvPr id="414" name="Google Shape;414;p20"/>
          <p:cNvSpPr/>
          <p:nvPr/>
        </p:nvSpPr>
        <p:spPr>
          <a:xfrm>
            <a:off x="4423410" y="925830"/>
            <a:ext cx="13716" cy="2331720"/>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15" name="Google Shape;415;p20"/>
          <p:cNvSpPr/>
          <p:nvPr/>
        </p:nvSpPr>
        <p:spPr>
          <a:xfrm>
            <a:off x="4251960" y="1817370"/>
            <a:ext cx="377190" cy="240030"/>
          </a:xfrm>
          <a:prstGeom prst="rightArrow">
            <a:avLst>
              <a:gd name="adj1" fmla="val 50000"/>
              <a:gd name="adj2" fmla="val 50000"/>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16" name="Google Shape;416;p20"/>
          <p:cNvSpPr/>
          <p:nvPr/>
        </p:nvSpPr>
        <p:spPr>
          <a:xfrm>
            <a:off x="4697730" y="925830"/>
            <a:ext cx="4011930" cy="342900"/>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975"/>
              <a:buFont typeface="Arial"/>
              <a:buNone/>
            </a:pPr>
            <a:r>
              <a:rPr lang="ja" sz="975" b="1" i="0" u="none" strike="noStrike" cap="none" dirty="0">
                <a:solidFill>
                  <a:srgbClr val="FFFFFF"/>
                </a:solidFill>
                <a:latin typeface="游ゴシック" panose="020B0400000000000000" pitchFamily="50" charset="-128"/>
                <a:ea typeface="游ゴシック" panose="020B0400000000000000" pitchFamily="50" charset="-128"/>
                <a:sym typeface="Arial"/>
              </a:rPr>
              <a:t>Lakehouse（統合型 — 推奨）</a:t>
            </a:r>
            <a:endParaRPr sz="1350" b="0" i="0" u="none" strike="noStrike" cap="none" dirty="0">
              <a:solidFill>
                <a:schemeClr val="dk1"/>
              </a:solidFill>
              <a:latin typeface="Calibri"/>
              <a:ea typeface="Calibri"/>
              <a:cs typeface="Calibri"/>
              <a:sym typeface="Calibri"/>
            </a:endParaRPr>
          </a:p>
        </p:txBody>
      </p:sp>
      <p:sp>
        <p:nvSpPr>
          <p:cNvPr id="417" name="Google Shape;417;p20"/>
          <p:cNvSpPr/>
          <p:nvPr/>
        </p:nvSpPr>
        <p:spPr>
          <a:xfrm>
            <a:off x="4697730" y="1405889"/>
            <a:ext cx="4011930" cy="1165860"/>
          </a:xfrm>
          <a:prstGeom prst="roundRect">
            <a:avLst>
              <a:gd name="adj" fmla="val 16667"/>
            </a:avLst>
          </a:prstGeom>
          <a:solidFill>
            <a:srgbClr val="E8EFF5"/>
          </a:solidFill>
          <a:ln w="2540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102850" tIns="82275" rIns="68550" bIns="34275" anchor="t" anchorCtr="0">
            <a:noAutofit/>
          </a:bodyPr>
          <a:lstStyle/>
          <a:p>
            <a:pPr marL="0" marR="0" lvl="0" indent="0" algn="ctr" rtl="0">
              <a:lnSpc>
                <a:spcPct val="100000"/>
              </a:lnSpc>
              <a:spcBef>
                <a:spcPts val="0"/>
              </a:spcBef>
              <a:spcAft>
                <a:spcPts val="0"/>
              </a:spcAft>
              <a:buClr>
                <a:srgbClr val="000000"/>
              </a:buClr>
              <a:buSzPts val="1050"/>
              <a:buFont typeface="Arial"/>
              <a:buNone/>
            </a:pPr>
            <a:r>
              <a:rPr lang="ja" sz="1050" b="1" i="0" u="none" strike="noStrike" cap="none" dirty="0">
                <a:solidFill>
                  <a:srgbClr val="1B3A5C"/>
                </a:solidFill>
                <a:latin typeface="游ゴシック" panose="020B0400000000000000" pitchFamily="50" charset="-128"/>
                <a:ea typeface="游ゴシック" panose="020B0400000000000000" pitchFamily="50" charset="-128"/>
                <a:sym typeface="Arial"/>
              </a:rPr>
              <a:t>Lakehouse</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Databricks + S3  /  Palantir Foundry（現行）</a:t>
            </a:r>
            <a:endParaRPr sz="1350" b="0" i="0" u="none" strike="noStrike" cap="none" dirty="0">
              <a:solidFill>
                <a:schemeClr val="dk1"/>
              </a:solidFill>
              <a:latin typeface="Calibri"/>
              <a:ea typeface="Calibri"/>
              <a:cs typeface="Calibri"/>
              <a:sym typeface="Calibri"/>
            </a:endParaRPr>
          </a:p>
        </p:txBody>
      </p:sp>
      <p:sp>
        <p:nvSpPr>
          <p:cNvPr id="418" name="Google Shape;418;p20"/>
          <p:cNvSpPr/>
          <p:nvPr/>
        </p:nvSpPr>
        <p:spPr>
          <a:xfrm>
            <a:off x="4780026" y="1920239"/>
            <a:ext cx="740664" cy="582930"/>
          </a:xfrm>
          <a:prstGeom prst="roundRect">
            <a:avLst>
              <a:gd name="adj" fmla="val 16667"/>
            </a:avLst>
          </a:prstGeom>
          <a:solidFill>
            <a:srgbClr val="FFFFFF"/>
          </a:solidFill>
          <a:ln w="9525"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27425" tIns="41125" rIns="27425"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保管</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Data Lakeの安価な</a:t>
            </a:r>
            <a:b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ストレージ</a:t>
            </a:r>
            <a:endParaRPr sz="1350" b="0" i="0" u="none" strike="noStrike" cap="none" dirty="0">
              <a:solidFill>
                <a:schemeClr val="dk1"/>
              </a:solidFill>
              <a:latin typeface="Calibri"/>
              <a:ea typeface="Calibri"/>
              <a:cs typeface="Calibri"/>
              <a:sym typeface="Calibri"/>
            </a:endParaRPr>
          </a:p>
        </p:txBody>
      </p:sp>
      <p:sp>
        <p:nvSpPr>
          <p:cNvPr id="419" name="Google Shape;419;p20"/>
          <p:cNvSpPr/>
          <p:nvPr/>
        </p:nvSpPr>
        <p:spPr>
          <a:xfrm>
            <a:off x="5568696" y="1920239"/>
            <a:ext cx="740664" cy="582930"/>
          </a:xfrm>
          <a:prstGeom prst="roundRect">
            <a:avLst>
              <a:gd name="adj" fmla="val 16667"/>
            </a:avLst>
          </a:prstGeom>
          <a:solidFill>
            <a:srgbClr val="FFFFFF"/>
          </a:solidFill>
          <a:ln w="9525"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27425" tIns="41125" rIns="27425"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分析</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DWHの高速な</a:t>
            </a:r>
            <a:b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SQL検索</a:t>
            </a:r>
            <a:endParaRPr sz="1350" b="0" i="0" u="none" strike="noStrike" cap="none" dirty="0">
              <a:solidFill>
                <a:schemeClr val="dk1"/>
              </a:solidFill>
              <a:latin typeface="Calibri"/>
              <a:ea typeface="Calibri"/>
              <a:cs typeface="Calibri"/>
              <a:sym typeface="Calibri"/>
            </a:endParaRPr>
          </a:p>
        </p:txBody>
      </p:sp>
      <p:sp>
        <p:nvSpPr>
          <p:cNvPr id="420" name="Google Shape;420;p20"/>
          <p:cNvSpPr/>
          <p:nvPr/>
        </p:nvSpPr>
        <p:spPr>
          <a:xfrm>
            <a:off x="6357366" y="1920239"/>
            <a:ext cx="740664" cy="582930"/>
          </a:xfrm>
          <a:prstGeom prst="roundRect">
            <a:avLst>
              <a:gd name="adj" fmla="val 16667"/>
            </a:avLst>
          </a:prstGeom>
          <a:solidFill>
            <a:srgbClr val="FFFFFF"/>
          </a:solidFill>
          <a:ln w="9525"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27425" tIns="41125" rIns="27425"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加工</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ETLパイプラインを</a:t>
            </a:r>
            <a:b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統合実行</a:t>
            </a:r>
            <a:endParaRPr sz="1350" b="0" i="0" u="none" strike="noStrike" cap="none" dirty="0">
              <a:solidFill>
                <a:schemeClr val="dk1"/>
              </a:solidFill>
              <a:latin typeface="Calibri"/>
              <a:ea typeface="Calibri"/>
              <a:cs typeface="Calibri"/>
              <a:sym typeface="Calibri"/>
            </a:endParaRPr>
          </a:p>
        </p:txBody>
      </p:sp>
      <p:sp>
        <p:nvSpPr>
          <p:cNvPr id="421" name="Google Shape;421;p20"/>
          <p:cNvSpPr/>
          <p:nvPr/>
        </p:nvSpPr>
        <p:spPr>
          <a:xfrm>
            <a:off x="7146036" y="1920239"/>
            <a:ext cx="740664" cy="582930"/>
          </a:xfrm>
          <a:prstGeom prst="roundRect">
            <a:avLst>
              <a:gd name="adj" fmla="val 16667"/>
            </a:avLst>
          </a:prstGeom>
          <a:solidFill>
            <a:srgbClr val="FFFFFF"/>
          </a:solidFill>
          <a:ln w="9525"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27425" tIns="41125" rIns="27425"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AI</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ML/AIを</a:t>
            </a:r>
            <a:b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同一基盤で</a:t>
            </a:r>
            <a:endParaRPr sz="1350" b="0" i="0" u="none" strike="noStrike" cap="none" dirty="0">
              <a:solidFill>
                <a:schemeClr val="dk1"/>
              </a:solidFill>
              <a:latin typeface="Calibri"/>
              <a:ea typeface="Calibri"/>
              <a:cs typeface="Calibri"/>
              <a:sym typeface="Calibri"/>
            </a:endParaRPr>
          </a:p>
        </p:txBody>
      </p:sp>
      <p:sp>
        <p:nvSpPr>
          <p:cNvPr id="422" name="Google Shape;422;p20"/>
          <p:cNvSpPr/>
          <p:nvPr/>
        </p:nvSpPr>
        <p:spPr>
          <a:xfrm>
            <a:off x="7934706" y="1920239"/>
            <a:ext cx="740664" cy="582930"/>
          </a:xfrm>
          <a:prstGeom prst="roundRect">
            <a:avLst>
              <a:gd name="adj" fmla="val 16667"/>
            </a:avLst>
          </a:prstGeom>
          <a:solidFill>
            <a:srgbClr val="FFFFFF"/>
          </a:solidFill>
          <a:ln w="9525"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27425" tIns="41125" rIns="27425"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管理</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権限・監査</a:t>
            </a:r>
            <a:b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リネージ統合</a:t>
            </a:r>
            <a:endParaRPr sz="1350" b="0" i="0" u="none" strike="noStrike" cap="none" dirty="0">
              <a:solidFill>
                <a:schemeClr val="dk1"/>
              </a:solidFill>
              <a:latin typeface="Calibri"/>
              <a:ea typeface="Calibri"/>
              <a:cs typeface="Calibri"/>
              <a:sym typeface="Calibri"/>
            </a:endParaRPr>
          </a:p>
        </p:txBody>
      </p:sp>
      <p:sp>
        <p:nvSpPr>
          <p:cNvPr id="423" name="Google Shape;423;p20"/>
          <p:cNvSpPr txBox="1"/>
          <p:nvPr/>
        </p:nvSpPr>
        <p:spPr>
          <a:xfrm>
            <a:off x="4697730" y="2597467"/>
            <a:ext cx="401193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  ✓  データは1箇所 → 管理がシンプル・整合性の問題なし</a:t>
            </a:r>
            <a:endParaRPr sz="1350" b="0" i="0" u="none" strike="noStrike" cap="none" dirty="0">
              <a:solidFill>
                <a:schemeClr val="dk1"/>
              </a:solidFill>
              <a:latin typeface="Calibri"/>
              <a:ea typeface="Calibri"/>
              <a:cs typeface="Calibri"/>
              <a:sym typeface="Calibri"/>
            </a:endParaRPr>
          </a:p>
        </p:txBody>
      </p:sp>
      <p:sp>
        <p:nvSpPr>
          <p:cNvPr id="424" name="Google Shape;424;p20"/>
          <p:cNvSpPr txBox="1"/>
          <p:nvPr/>
        </p:nvSpPr>
        <p:spPr>
          <a:xfrm>
            <a:off x="4697730" y="2763774"/>
            <a:ext cx="401193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  ✓  ストレージはS3価格 + コンピュートは従量課金</a:t>
            </a:r>
            <a:endParaRPr sz="1350" b="0" i="0" u="none" strike="noStrike" cap="none" dirty="0">
              <a:solidFill>
                <a:schemeClr val="dk1"/>
              </a:solidFill>
              <a:latin typeface="Calibri"/>
              <a:ea typeface="Calibri"/>
              <a:cs typeface="Calibri"/>
              <a:sym typeface="Calibri"/>
            </a:endParaRPr>
          </a:p>
        </p:txBody>
      </p:sp>
      <p:sp>
        <p:nvSpPr>
          <p:cNvPr id="425" name="Google Shape;425;p20"/>
          <p:cNvSpPr txBox="1"/>
          <p:nvPr/>
        </p:nvSpPr>
        <p:spPr>
          <a:xfrm>
            <a:off x="4697730" y="2930080"/>
            <a:ext cx="401193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  ✓  BI・ML/AI・ETLが同一基盤で完結</a:t>
            </a:r>
            <a:endParaRPr sz="1350" b="0" i="0" u="none" strike="noStrike" cap="none" dirty="0">
              <a:solidFill>
                <a:schemeClr val="dk1"/>
              </a:solidFill>
              <a:latin typeface="Calibri"/>
              <a:ea typeface="Calibri"/>
              <a:cs typeface="Calibri"/>
              <a:sym typeface="Calibri"/>
            </a:endParaRPr>
          </a:p>
        </p:txBody>
      </p:sp>
      <p:sp>
        <p:nvSpPr>
          <p:cNvPr id="426" name="Google Shape;426;p20"/>
          <p:cNvSpPr/>
          <p:nvPr/>
        </p:nvSpPr>
        <p:spPr>
          <a:xfrm>
            <a:off x="480060" y="31546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graphicFrame>
        <p:nvGraphicFramePr>
          <p:cNvPr id="427" name="Google Shape;427;p20"/>
          <p:cNvGraphicFramePr/>
          <p:nvPr/>
        </p:nvGraphicFramePr>
        <p:xfrm>
          <a:off x="480060" y="3223260"/>
          <a:ext cx="8298200" cy="1920400"/>
        </p:xfrm>
        <a:graphic>
          <a:graphicData uri="http://schemas.openxmlformats.org/drawingml/2006/table">
            <a:tbl>
              <a:tblPr>
                <a:noFill/>
                <a:tableStyleId>{831F8A93-CA79-4AF6-B420-68E9A51CCC31}</a:tableStyleId>
              </a:tblPr>
              <a:tblGrid>
                <a:gridCol w="1714500">
                  <a:extLst>
                    <a:ext uri="{9D8B030D-6E8A-4147-A177-3AD203B41FA5}">
                      <a16:colId xmlns:a16="http://schemas.microsoft.com/office/drawing/2014/main" val="20000"/>
                    </a:ext>
                  </a:extLst>
                </a:gridCol>
                <a:gridCol w="3291850">
                  <a:extLst>
                    <a:ext uri="{9D8B030D-6E8A-4147-A177-3AD203B41FA5}">
                      <a16:colId xmlns:a16="http://schemas.microsoft.com/office/drawing/2014/main" val="20001"/>
                    </a:ext>
                  </a:extLst>
                </a:gridCol>
                <a:gridCol w="3291850">
                  <a:extLst>
                    <a:ext uri="{9D8B030D-6E8A-4147-A177-3AD203B41FA5}">
                      <a16:colId xmlns:a16="http://schemas.microsoft.com/office/drawing/2014/main" val="20002"/>
                    </a:ext>
                  </a:extLst>
                </a:gridCol>
              </a:tblGrid>
              <a:tr h="240050">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観点</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DWH + Data Lake（2層）</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Lakehouse（統合）</a:t>
                      </a:r>
                      <a:endParaRPr sz="1400" u="none" strike="noStrike" cap="none" dirty="0"/>
                    </a:p>
                  </a:txBody>
                  <a:tcPr marL="68600" marR="68600" marT="34300" marB="34300">
                    <a:solidFill>
                      <a:srgbClr val="1B3A5C"/>
                    </a:solidFill>
                  </a:tcPr>
                </a:tc>
                <a:extLst>
                  <a:ext uri="{0D108BD9-81ED-4DB2-BD59-A6C34878D82A}">
                    <a16:rowId xmlns:a16="http://schemas.microsoft.com/office/drawing/2014/main" val="10000"/>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データの場所</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2箇所（Lakeに保管 → DWHにコピー）</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1箇所（S3上にすべて統合）</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1"/>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コスト構造</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DWHライセンス + Lake運用 = 二重課金</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ストレージはS3価格 + コンピュート従量課金</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2"/>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BI対応</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DWH側は非常に高速</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近年大幅改善。実用上十分</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3"/>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ML/AI対応</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DWHから取り出して別環境で実行</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同一基盤でデータに直接アクセス</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4"/>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ガバナンス</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DWHとLakeで別々に管理</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統合管理（権限・監査・リネージ）</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5"/>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ベンダーロックイン</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DWH側にロックインされやすい</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オープンフォーマット（Iceberg等）で回避可能</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6"/>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市場トレンド</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レガシー構成</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新規構築の主流</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7"/>
                  </a:ext>
                </a:extLst>
              </a:tr>
            </a:tbl>
          </a:graphicData>
        </a:graphic>
      </p:graphicFrame>
      <p:sp>
        <p:nvSpPr>
          <p:cNvPr id="428" name="Google Shape;428;p20"/>
          <p:cNvSpPr txBox="1"/>
          <p:nvPr/>
        </p:nvSpPr>
        <p:spPr>
          <a:xfrm>
            <a:off x="8366760" y="4834890"/>
            <a:ext cx="548640" cy="161552"/>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2</a:t>
            </a:r>
            <a:endParaRPr sz="1350" b="0" i="0" u="none" strike="noStrike" cap="none" dirty="0">
              <a:solidFill>
                <a:schemeClr val="dk1"/>
              </a:solidFill>
              <a:latin typeface="Calibri"/>
              <a:ea typeface="Calibri"/>
              <a:cs typeface="Calibri"/>
              <a:sym typeface="Calibri"/>
            </a:endParaRPr>
          </a:p>
        </p:txBody>
      </p:sp>
      <p:sp>
        <p:nvSpPr>
          <p:cNvPr id="429" name="Google Shape;429;p20"/>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別紙A-1</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430" name="Google Shape;430;p20"/>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431" name="Google Shape;431;p20"/>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432" name="Google Shape;432;p20"/>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別紙A-1</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21"/>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38" name="Google Shape;438;p21"/>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2</a:t>
            </a:r>
            <a:endParaRPr sz="1350" b="0" i="0" u="none" strike="noStrike" cap="none" dirty="0">
              <a:solidFill>
                <a:schemeClr val="dk1"/>
              </a:solidFill>
              <a:latin typeface="Calibri"/>
              <a:ea typeface="Calibri"/>
              <a:cs typeface="Calibri"/>
              <a:sym typeface="Calibri"/>
            </a:endParaRPr>
          </a:p>
        </p:txBody>
      </p:sp>
      <p:sp>
        <p:nvSpPr>
          <p:cNvPr id="439" name="Google Shape;439;p21"/>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テーブルフォーマットとは</a:t>
            </a:r>
            <a:endParaRPr sz="1350" b="0" i="0" u="none" strike="noStrike" cap="none" dirty="0">
              <a:solidFill>
                <a:schemeClr val="dk1"/>
              </a:solidFill>
              <a:latin typeface="Calibri"/>
              <a:ea typeface="Calibri"/>
              <a:cs typeface="Calibri"/>
              <a:sym typeface="Calibri"/>
            </a:endParaRPr>
          </a:p>
        </p:txBody>
      </p:sp>
      <p:sp>
        <p:nvSpPr>
          <p:cNvPr id="440" name="Google Shape;440;p21"/>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S3上のファイルを「テーブル」として扱うための仕組み</a:t>
            </a:r>
            <a:endParaRPr sz="1350" b="0" i="0" u="none" strike="noStrike" cap="none" dirty="0">
              <a:solidFill>
                <a:schemeClr val="dk1"/>
              </a:solidFill>
              <a:latin typeface="Calibri"/>
              <a:ea typeface="Calibri"/>
              <a:cs typeface="Calibri"/>
              <a:sym typeface="Calibri"/>
            </a:endParaRPr>
          </a:p>
        </p:txBody>
      </p:sp>
      <p:sp>
        <p:nvSpPr>
          <p:cNvPr id="441" name="Google Shape;441;p21"/>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42" name="Google Shape;442;p21"/>
          <p:cNvSpPr txBox="1"/>
          <p:nvPr/>
        </p:nvSpPr>
        <p:spPr>
          <a:xfrm>
            <a:off x="480060" y="925830"/>
            <a:ext cx="356616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C0392B"/>
                </a:solidFill>
                <a:latin typeface="游ゴシック" panose="020B0400000000000000" pitchFamily="50" charset="-128"/>
                <a:ea typeface="游ゴシック" panose="020B0400000000000000" pitchFamily="50" charset="-128"/>
                <a:sym typeface="Arial"/>
              </a:rPr>
              <a:t>テーブルフォーマットなし（S3のみ）</a:t>
            </a:r>
            <a:endParaRPr sz="1350" b="0" i="0" u="none" strike="noStrike" cap="none" dirty="0">
              <a:solidFill>
                <a:schemeClr val="dk1"/>
              </a:solidFill>
              <a:latin typeface="Calibri"/>
              <a:ea typeface="Calibri"/>
              <a:cs typeface="Calibri"/>
              <a:sym typeface="Calibri"/>
            </a:endParaRPr>
          </a:p>
        </p:txBody>
      </p:sp>
      <p:sp>
        <p:nvSpPr>
          <p:cNvPr id="443" name="Google Shape;443;p21"/>
          <p:cNvSpPr/>
          <p:nvPr/>
        </p:nvSpPr>
        <p:spPr>
          <a:xfrm>
            <a:off x="480060" y="1234440"/>
            <a:ext cx="3566160" cy="1508760"/>
          </a:xfrm>
          <a:prstGeom prst="roundRect">
            <a:avLst>
              <a:gd name="adj" fmla="val 16667"/>
            </a:avLst>
          </a:prstGeom>
          <a:solidFill>
            <a:srgbClr val="FDF0E8"/>
          </a:solidFill>
          <a:ln w="12700" cap="flat" cmpd="sng">
            <a:solidFill>
              <a:srgbClr val="E0C0A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102850" tIns="102850" rIns="68550" bIns="34275" anchor="ctr"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333333"/>
                </a:solidFill>
                <a:latin typeface="游ゴシック" panose="020B0400000000000000" pitchFamily="50" charset="-128"/>
                <a:ea typeface="游ゴシック" panose="020B0400000000000000" pitchFamily="50" charset="-128"/>
                <a:sym typeface="Arial"/>
              </a:rPr>
              <a:t>S3バケット</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675"/>
              <a:buFont typeface="Arial"/>
              <a:buNone/>
            </a:pPr>
            <a:r>
              <a:rPr lang="ja" sz="675" b="0" i="0" u="none" strike="noStrike" cap="none" dirty="0">
                <a:solidFill>
                  <a:srgbClr val="666666"/>
                </a:solidFill>
                <a:latin typeface="游ゴシック" panose="020B0400000000000000" pitchFamily="50" charset="-128"/>
                <a:ea typeface="游ゴシック" panose="020B0400000000000000" pitchFamily="50" charset="-128"/>
                <a:sym typeface="Arial"/>
              </a:rPr>
              <a:t>📄 data/year=2024/month=01/part-001.parquet</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675"/>
              <a:buFont typeface="Arial"/>
              <a:buNone/>
            </a:pPr>
            <a:r>
              <a:rPr lang="ja" sz="675" b="0" i="0" u="none" strike="noStrike" cap="none" dirty="0">
                <a:solidFill>
                  <a:srgbClr val="666666"/>
                </a:solidFill>
                <a:latin typeface="游ゴシック" panose="020B0400000000000000" pitchFamily="50" charset="-128"/>
                <a:ea typeface="游ゴシック" panose="020B0400000000000000" pitchFamily="50" charset="-128"/>
                <a:sym typeface="Arial"/>
              </a:rPr>
              <a:t>📄 data/year=2024/month=02/part-002.parquet</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675"/>
              <a:buFont typeface="Arial"/>
              <a:buNone/>
            </a:pPr>
            <a:r>
              <a:rPr lang="ja" sz="675" b="0" i="0" u="none" strike="noStrike" cap="none" dirty="0">
                <a:solidFill>
                  <a:srgbClr val="666666"/>
                </a:solidFill>
                <a:latin typeface="游ゴシック" panose="020B0400000000000000" pitchFamily="50" charset="-128"/>
                <a:ea typeface="游ゴシック" panose="020B0400000000000000" pitchFamily="50" charset="-128"/>
                <a:sym typeface="Arial"/>
              </a:rPr>
              <a:t>📄 data/year=2024/month=03/part-003.parquet</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675"/>
              <a:buFont typeface="Arial"/>
              <a:buNone/>
            </a:pPr>
            <a:r>
              <a:rPr lang="ja" sz="675" b="0" i="0" u="none" strike="noStrike" cap="none" dirty="0">
                <a:solidFill>
                  <a:srgbClr val="666666"/>
                </a:solidFill>
                <a:latin typeface="游ゴシック" panose="020B0400000000000000" pitchFamily="50" charset="-128"/>
                <a:ea typeface="游ゴシック" panose="020B0400000000000000" pitchFamily="50" charset="-128"/>
                <a:sym typeface="Arial"/>
              </a:rPr>
              <a:t>📄 ...</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1350"/>
              <a:buFont typeface="Arial"/>
              <a:buNone/>
            </a:pPr>
            <a:endParaRPr sz="1350" b="0" i="0" u="none" strike="noStrike" cap="none" dirty="0">
              <a:solidFill>
                <a:schemeClr val="lt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750"/>
              <a:buFont typeface="Arial"/>
              <a:buNone/>
            </a:pPr>
            <a:r>
              <a:rPr lang="ja" sz="750" b="1" i="0" u="none" strike="noStrike" cap="none" dirty="0">
                <a:solidFill>
                  <a:srgbClr val="C0392B"/>
                </a:solidFill>
                <a:latin typeface="游ゴシック" panose="020B0400000000000000" pitchFamily="50" charset="-128"/>
                <a:ea typeface="游ゴシック" panose="020B0400000000000000" pitchFamily="50" charset="-128"/>
                <a:sym typeface="Arial"/>
              </a:rPr>
              <a:t>→ 単なるファイル置き場</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750"/>
              <a:buFont typeface="Arial"/>
              <a:buNone/>
            </a:pPr>
            <a:r>
              <a:rPr lang="ja" sz="750" b="1" i="0" u="none" strike="noStrike" cap="none" dirty="0">
                <a:solidFill>
                  <a:srgbClr val="C0392B"/>
                </a:solidFill>
                <a:latin typeface="游ゴシック" panose="020B0400000000000000" pitchFamily="50" charset="-128"/>
                <a:ea typeface="游ゴシック" panose="020B0400000000000000" pitchFamily="50" charset="-128"/>
                <a:sym typeface="Arial"/>
              </a:rPr>
              <a:t>→ SQLでの検索・更新・削除が不可能</a:t>
            </a:r>
            <a:endParaRPr sz="1350" b="0" i="0" u="none" strike="noStrike" cap="none" dirty="0">
              <a:solidFill>
                <a:schemeClr val="dk1"/>
              </a:solidFill>
              <a:latin typeface="Calibri"/>
              <a:ea typeface="Calibri"/>
              <a:cs typeface="Calibri"/>
              <a:sym typeface="Calibri"/>
            </a:endParaRPr>
          </a:p>
        </p:txBody>
      </p:sp>
      <p:sp>
        <p:nvSpPr>
          <p:cNvPr id="444" name="Google Shape;444;p21"/>
          <p:cNvSpPr txBox="1"/>
          <p:nvPr/>
        </p:nvSpPr>
        <p:spPr>
          <a:xfrm>
            <a:off x="4697730" y="925830"/>
            <a:ext cx="397764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27724A"/>
                </a:solidFill>
                <a:latin typeface="游ゴシック" panose="020B0400000000000000" pitchFamily="50" charset="-128"/>
                <a:ea typeface="游ゴシック" panose="020B0400000000000000" pitchFamily="50" charset="-128"/>
                <a:sym typeface="Arial"/>
              </a:rPr>
              <a:t>テーブルフォーマットあり（Iceberg/Delta）</a:t>
            </a:r>
            <a:endParaRPr sz="1350" b="0" i="0" u="none" strike="noStrike" cap="none" dirty="0">
              <a:solidFill>
                <a:schemeClr val="dk1"/>
              </a:solidFill>
              <a:latin typeface="Calibri"/>
              <a:ea typeface="Calibri"/>
              <a:cs typeface="Calibri"/>
              <a:sym typeface="Calibri"/>
            </a:endParaRPr>
          </a:p>
        </p:txBody>
      </p:sp>
      <p:sp>
        <p:nvSpPr>
          <p:cNvPr id="445" name="Google Shape;445;p21"/>
          <p:cNvSpPr/>
          <p:nvPr/>
        </p:nvSpPr>
        <p:spPr>
          <a:xfrm>
            <a:off x="4697730" y="1234440"/>
            <a:ext cx="3977640" cy="1508760"/>
          </a:xfrm>
          <a:prstGeom prst="roundRect">
            <a:avLst>
              <a:gd name="adj" fmla="val 16667"/>
            </a:avLst>
          </a:prstGeom>
          <a:solidFill>
            <a:srgbClr val="E8F5E9"/>
          </a:solidFill>
          <a:ln w="12700" cap="flat" cmpd="sng">
            <a:solidFill>
              <a:srgbClr val="A0D0A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102850" tIns="102850" rIns="68550" bIns="34275" anchor="ctr"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333333"/>
                </a:solidFill>
                <a:latin typeface="游ゴシック" panose="020B0400000000000000" pitchFamily="50" charset="-128"/>
                <a:ea typeface="游ゴシック" panose="020B0400000000000000" pitchFamily="50" charset="-128"/>
                <a:sym typeface="Arial"/>
              </a:rPr>
              <a:t>S3 + メタデータ層</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 スキーマ管理  — 列の追加・変更を安全に実行</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 ACIDトランザクション  — 途中で壊れない書き込み保証</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 Time Travel  — 過去のデータに遡れる（監査対応）</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 パーティション管理  — 高速検索のための自動分割</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45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 行レベルの更新・削除  — RDBのようなUPDATE/DELETE</a:t>
            </a:r>
            <a:endParaRPr sz="1350" b="0" i="0" u="none" strike="noStrike" cap="none" dirty="0">
              <a:solidFill>
                <a:schemeClr val="dk1"/>
              </a:solidFill>
              <a:latin typeface="Calibri"/>
              <a:ea typeface="Calibri"/>
              <a:cs typeface="Calibri"/>
              <a:sym typeface="Calibri"/>
            </a:endParaRPr>
          </a:p>
        </p:txBody>
      </p:sp>
      <p:sp>
        <p:nvSpPr>
          <p:cNvPr id="446" name="Google Shape;446;p21"/>
          <p:cNvSpPr/>
          <p:nvPr/>
        </p:nvSpPr>
        <p:spPr>
          <a:xfrm>
            <a:off x="4354830" y="925830"/>
            <a:ext cx="10287" cy="1988820"/>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47" name="Google Shape;447;p21"/>
          <p:cNvSpPr txBox="1"/>
          <p:nvPr/>
        </p:nvSpPr>
        <p:spPr>
          <a:xfrm>
            <a:off x="480060" y="2983229"/>
            <a:ext cx="78867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A1A1A"/>
                </a:solidFill>
                <a:latin typeface="游ゴシック" panose="020B0400000000000000" pitchFamily="50" charset="-128"/>
                <a:ea typeface="游ゴシック" panose="020B0400000000000000" pitchFamily="50" charset="-128"/>
                <a:sym typeface="Arial"/>
              </a:rPr>
              <a:t>主要フォーマット3種の位置づけ</a:t>
            </a:r>
            <a:endParaRPr sz="1350" b="0" i="0" u="none" strike="noStrike" cap="none" dirty="0">
              <a:solidFill>
                <a:schemeClr val="dk1"/>
              </a:solidFill>
              <a:latin typeface="Calibri"/>
              <a:ea typeface="Calibri"/>
              <a:cs typeface="Calibri"/>
              <a:sym typeface="Calibri"/>
            </a:endParaRPr>
          </a:p>
        </p:txBody>
      </p:sp>
      <p:graphicFrame>
        <p:nvGraphicFramePr>
          <p:cNvPr id="448" name="Google Shape;448;p21"/>
          <p:cNvGraphicFramePr/>
          <p:nvPr/>
        </p:nvGraphicFramePr>
        <p:xfrm>
          <a:off x="480061" y="3257550"/>
          <a:ext cx="8161050" cy="1325980"/>
        </p:xfrm>
        <a:graphic>
          <a:graphicData uri="http://schemas.openxmlformats.org/drawingml/2006/table">
            <a:tbl>
              <a:tblPr>
                <a:noFill/>
                <a:tableStyleId>{831F8A93-CA79-4AF6-B420-68E9A51CCC31}</a:tableStyleId>
              </a:tblPr>
              <a:tblGrid>
                <a:gridCol w="10973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gridCol w="2263150">
                  <a:extLst>
                    <a:ext uri="{9D8B030D-6E8A-4147-A177-3AD203B41FA5}">
                      <a16:colId xmlns:a16="http://schemas.microsoft.com/office/drawing/2014/main" val="20003"/>
                    </a:ext>
                  </a:extLst>
                </a:gridCol>
              </a:tblGrid>
              <a:tr h="274325">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dirty="0">
                        <a:latin typeface="游ゴシック" panose="020B0400000000000000" pitchFamily="50" charset="-128"/>
                        <a:ea typeface="游ゴシック" panose="020B0400000000000000" pitchFamily="50" charset="-128"/>
                      </a:endParaRPr>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Apache Iceberg</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Delta Lake</a:t>
                      </a:r>
                      <a:endParaRPr sz="1400" u="none" strike="noStrike" cap="none" dirty="0"/>
                    </a:p>
                  </a:txBody>
                  <a:tcPr marL="68600" marR="68600" marT="34300" marB="34300">
                    <a:solidFill>
                      <a:srgbClr val="2E7D32"/>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Apache Hudi</a:t>
                      </a:r>
                      <a:endParaRPr sz="1400" u="none" strike="noStrike" cap="none" dirty="0"/>
                    </a:p>
                  </a:txBody>
                  <a:tcPr marL="68600" marR="68600" marT="34300" marB="34300">
                    <a:solidFill>
                      <a:srgbClr val="666666"/>
                    </a:solidFill>
                  </a:tcPr>
                </a:tc>
                <a:extLst>
                  <a:ext uri="{0D108BD9-81ED-4DB2-BD59-A6C34878D82A}">
                    <a16:rowId xmlns:a16="http://schemas.microsoft.com/office/drawing/2014/main" val="10000"/>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起源</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Netflix → Apache財団</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Databricks → Linux Foundation</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Uber → Apache財団</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1"/>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位置づけ</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業界標準の互換フォーマット</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Spark環境での最高性能</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ストリーミング特化（ニッチ）</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2"/>
                  </a:ext>
                </a:extLst>
              </a:tr>
              <a:tr h="274325">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採用状況</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975社以上（2026年）</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Snowflake/Athena/BigQuery対応</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Databricksエコシステム中心</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Spark上での性能は最速</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採用企業は限定的</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リアルタイムUpsertに強い</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3"/>
                  </a:ext>
                </a:extLst>
              </a:tr>
              <a:tr h="274325">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相互運用</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マルチエンジン対応が最も広い</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ベンダー中立性 ◎</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UniFormでIceberg互換を実現</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Databricks利用時のデフォルト</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Iceberg互換を自ら追加</a:t>
                      </a:r>
                      <a:br>
                        <a:rPr lang="ja" sz="700" u="none" strike="noStrike" cap="none" dirty="0">
                          <a:latin typeface="游ゴシック" panose="020B0400000000000000" pitchFamily="50" charset="-128"/>
                          <a:ea typeface="游ゴシック" panose="020B0400000000000000" pitchFamily="50" charset="-128"/>
                        </a:rPr>
                      </a:br>
                      <a:r>
                        <a:rPr lang="ja" sz="700" u="none" strike="noStrike" cap="none" dirty="0">
                          <a:latin typeface="游ゴシック" panose="020B0400000000000000" pitchFamily="50" charset="-128"/>
                          <a:ea typeface="游ゴシック" panose="020B0400000000000000" pitchFamily="50" charset="-128"/>
                        </a:rPr>
                        <a:t>本PJでは選択肢外</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4"/>
                  </a:ext>
                </a:extLst>
              </a:tr>
            </a:tbl>
          </a:graphicData>
        </a:graphic>
      </p:graphicFrame>
      <p:sp>
        <p:nvSpPr>
          <p:cNvPr id="449" name="Google Shape;449;p21"/>
          <p:cNvSpPr txBox="1"/>
          <p:nvPr/>
        </p:nvSpPr>
        <p:spPr>
          <a:xfrm>
            <a:off x="8366760" y="4834890"/>
            <a:ext cx="548640" cy="161552"/>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4</a:t>
            </a:r>
            <a:endParaRPr sz="1350" b="0" i="0" u="none" strike="noStrike" cap="none" dirty="0">
              <a:solidFill>
                <a:schemeClr val="dk1"/>
              </a:solidFill>
              <a:latin typeface="Calibri"/>
              <a:ea typeface="Calibri"/>
              <a:cs typeface="Calibri"/>
              <a:sym typeface="Calibri"/>
            </a:endParaRPr>
          </a:p>
        </p:txBody>
      </p:sp>
      <p:sp>
        <p:nvSpPr>
          <p:cNvPr id="450" name="Google Shape;450;p21"/>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別紙A-2</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451" name="Google Shape;451;p21"/>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452" name="Google Shape;452;p21"/>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453" name="Google Shape;453;p21"/>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別紙A-2</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22"/>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59" name="Google Shape;459;p22"/>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2</a:t>
            </a:r>
            <a:endParaRPr sz="1350" b="0" i="0" u="none" strike="noStrike" cap="none" dirty="0">
              <a:solidFill>
                <a:schemeClr val="dk1"/>
              </a:solidFill>
              <a:latin typeface="Calibri"/>
              <a:ea typeface="Calibri"/>
              <a:cs typeface="Calibri"/>
              <a:sym typeface="Calibri"/>
            </a:endParaRPr>
          </a:p>
        </p:txBody>
      </p:sp>
      <p:sp>
        <p:nvSpPr>
          <p:cNvPr id="460" name="Google Shape;460;p22"/>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Calibri"/>
                <a:ea typeface="Calibri"/>
                <a:cs typeface="Calibri"/>
                <a:sym typeface="Calibri"/>
              </a:rPr>
              <a:t>補足：</a:t>
            </a: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UniFormによる「フォーマット」の収束</a:t>
            </a:r>
            <a:endParaRPr sz="1350" b="0" i="0" u="none" strike="noStrike" cap="none" dirty="0">
              <a:solidFill>
                <a:schemeClr val="dk1"/>
              </a:solidFill>
              <a:latin typeface="Calibri"/>
              <a:ea typeface="Calibri"/>
              <a:cs typeface="Calibri"/>
              <a:sym typeface="Calibri"/>
            </a:endParaRPr>
          </a:p>
        </p:txBody>
      </p:sp>
      <p:sp>
        <p:nvSpPr>
          <p:cNvPr id="461" name="Google Shape;461;p22"/>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Delta Lakeで書き込み → 自動でIcebergメタデータ生成 → 外部エンジンからIcebergとして読取り可能</a:t>
            </a:r>
            <a:endParaRPr sz="1350" b="0" i="0" u="none" strike="noStrike" cap="none" dirty="0">
              <a:solidFill>
                <a:schemeClr val="dk1"/>
              </a:solidFill>
              <a:latin typeface="Calibri"/>
              <a:ea typeface="Calibri"/>
              <a:cs typeface="Calibri"/>
              <a:sym typeface="Calibri"/>
            </a:endParaRPr>
          </a:p>
        </p:txBody>
      </p:sp>
      <p:sp>
        <p:nvSpPr>
          <p:cNvPr id="462" name="Google Shape;462;p22"/>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63" name="Google Shape;463;p22"/>
          <p:cNvSpPr txBox="1"/>
          <p:nvPr/>
        </p:nvSpPr>
        <p:spPr>
          <a:xfrm>
            <a:off x="480060" y="925830"/>
            <a:ext cx="37719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C0392B"/>
                </a:solidFill>
                <a:latin typeface="游ゴシック" panose="020B0400000000000000" pitchFamily="50" charset="-128"/>
                <a:ea typeface="游ゴシック" panose="020B0400000000000000" pitchFamily="50" charset="-128"/>
                <a:sym typeface="Arial"/>
              </a:rPr>
              <a:t>以前の状況：二者択一</a:t>
            </a:r>
            <a:endParaRPr sz="1350" b="0" i="0" u="none" strike="noStrike" cap="none" dirty="0">
              <a:solidFill>
                <a:schemeClr val="dk1"/>
              </a:solidFill>
              <a:latin typeface="Calibri"/>
              <a:ea typeface="Calibri"/>
              <a:cs typeface="Calibri"/>
              <a:sym typeface="Calibri"/>
            </a:endParaRPr>
          </a:p>
        </p:txBody>
      </p:sp>
      <p:sp>
        <p:nvSpPr>
          <p:cNvPr id="464" name="Google Shape;464;p22"/>
          <p:cNvSpPr/>
          <p:nvPr/>
        </p:nvSpPr>
        <p:spPr>
          <a:xfrm>
            <a:off x="548640" y="1268730"/>
            <a:ext cx="1508760" cy="480060"/>
          </a:xfrm>
          <a:prstGeom prst="roundRect">
            <a:avLst>
              <a:gd name="adj" fmla="val 16667"/>
            </a:avLst>
          </a:prstGeom>
          <a:solidFill>
            <a:srgbClr val="E5DFEC"/>
          </a:solidFill>
          <a:ln w="1270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Databricks</a:t>
            </a:r>
            <a:b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b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 Delta Lake推進</a:t>
            </a:r>
            <a:endParaRPr sz="1350" b="0" i="0" u="none" strike="noStrike" cap="none" dirty="0">
              <a:solidFill>
                <a:schemeClr val="dk1"/>
              </a:solidFill>
              <a:latin typeface="Calibri"/>
              <a:ea typeface="Calibri"/>
              <a:cs typeface="Calibri"/>
              <a:sym typeface="Calibri"/>
            </a:endParaRPr>
          </a:p>
        </p:txBody>
      </p:sp>
      <p:sp>
        <p:nvSpPr>
          <p:cNvPr id="465" name="Google Shape;465;p22"/>
          <p:cNvSpPr/>
          <p:nvPr/>
        </p:nvSpPr>
        <p:spPr>
          <a:xfrm>
            <a:off x="548640" y="1885950"/>
            <a:ext cx="1508760" cy="480060"/>
          </a:xfrm>
          <a:prstGeom prst="roundRect">
            <a:avLst>
              <a:gd name="adj" fmla="val 16667"/>
            </a:avLst>
          </a:prstGeom>
          <a:solidFill>
            <a:srgbClr val="E0F0FF"/>
          </a:solidFill>
          <a:ln w="12700" cap="flat" cmpd="sng">
            <a:solidFill>
              <a:srgbClr val="29B5E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296BB8"/>
                </a:solidFill>
                <a:latin typeface="游ゴシック" panose="020B0400000000000000" pitchFamily="50" charset="-128"/>
                <a:ea typeface="游ゴシック" panose="020B0400000000000000" pitchFamily="50" charset="-128"/>
                <a:sym typeface="Arial"/>
              </a:rPr>
              <a:t>Snowflake</a:t>
            </a:r>
            <a:br>
              <a:rPr lang="ja" sz="750" b="1" i="0" u="none" strike="noStrike" cap="none" dirty="0">
                <a:solidFill>
                  <a:srgbClr val="296BB8"/>
                </a:solidFill>
                <a:latin typeface="游ゴシック" panose="020B0400000000000000" pitchFamily="50" charset="-128"/>
                <a:ea typeface="游ゴシック" panose="020B0400000000000000" pitchFamily="50" charset="-128"/>
                <a:sym typeface="Arial"/>
              </a:rPr>
            </a:br>
            <a:r>
              <a:rPr lang="ja" sz="750" b="1" i="0" u="none" strike="noStrike" cap="none" dirty="0">
                <a:solidFill>
                  <a:srgbClr val="296BB8"/>
                </a:solidFill>
                <a:latin typeface="游ゴシック" panose="020B0400000000000000" pitchFamily="50" charset="-128"/>
                <a:ea typeface="游ゴシック" panose="020B0400000000000000" pitchFamily="50" charset="-128"/>
                <a:sym typeface="Arial"/>
              </a:rPr>
              <a:t>→ Iceberg推進</a:t>
            </a:r>
            <a:endParaRPr sz="1350" b="0" i="0" u="none" strike="noStrike" cap="none" dirty="0">
              <a:solidFill>
                <a:schemeClr val="dk1"/>
              </a:solidFill>
              <a:latin typeface="Calibri"/>
              <a:ea typeface="Calibri"/>
              <a:cs typeface="Calibri"/>
              <a:sym typeface="Calibri"/>
            </a:endParaRPr>
          </a:p>
        </p:txBody>
      </p:sp>
      <p:sp>
        <p:nvSpPr>
          <p:cNvPr id="466" name="Google Shape;466;p22"/>
          <p:cNvSpPr/>
          <p:nvPr/>
        </p:nvSpPr>
        <p:spPr>
          <a:xfrm>
            <a:off x="2468880" y="1440180"/>
            <a:ext cx="1508760" cy="685800"/>
          </a:xfrm>
          <a:prstGeom prst="roundRect">
            <a:avLst>
              <a:gd name="adj" fmla="val 16667"/>
            </a:avLst>
          </a:prstGeom>
          <a:solidFill>
            <a:srgbClr val="FDEDED"/>
          </a:solidFill>
          <a:ln w="12700" cap="flat" cmpd="sng">
            <a:solidFill>
              <a:srgbClr val="C0392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0" i="0" u="none" strike="noStrike" cap="none" dirty="0">
                <a:solidFill>
                  <a:srgbClr val="C0392B"/>
                </a:solidFill>
                <a:latin typeface="游ゴシック" panose="020B0400000000000000" pitchFamily="50" charset="-128"/>
                <a:ea typeface="游ゴシック" panose="020B0400000000000000" pitchFamily="50" charset="-128"/>
                <a:sym typeface="Arial"/>
              </a:rPr>
              <a:t>ユーザー</a:t>
            </a:r>
            <a:br>
              <a:rPr lang="ja" sz="675" b="0" i="0" u="none" strike="noStrike" cap="none" dirty="0">
                <a:solidFill>
                  <a:srgbClr val="C0392B"/>
                </a:solidFill>
                <a:latin typeface="游ゴシック" panose="020B0400000000000000" pitchFamily="50" charset="-128"/>
                <a:ea typeface="游ゴシック" panose="020B0400000000000000" pitchFamily="50" charset="-128"/>
                <a:sym typeface="Arial"/>
              </a:rPr>
            </a:br>
            <a:r>
              <a:rPr lang="ja" sz="675" b="0" i="0" u="none" strike="noStrike" cap="none" dirty="0">
                <a:solidFill>
                  <a:srgbClr val="C0392B"/>
                </a:solidFill>
                <a:latin typeface="游ゴシック" panose="020B0400000000000000" pitchFamily="50" charset="-128"/>
                <a:ea typeface="游ゴシック" panose="020B0400000000000000" pitchFamily="50" charset="-128"/>
                <a:sym typeface="Arial"/>
              </a:rPr>
              <a:t>「どちらを選ぶ？」</a:t>
            </a:r>
            <a:br>
              <a:rPr lang="ja" sz="675" b="0" i="0" u="none" strike="noStrike" cap="none" dirty="0">
                <a:solidFill>
                  <a:srgbClr val="C0392B"/>
                </a:solidFill>
                <a:latin typeface="游ゴシック" panose="020B0400000000000000" pitchFamily="50" charset="-128"/>
                <a:ea typeface="游ゴシック" panose="020B0400000000000000" pitchFamily="50" charset="-128"/>
                <a:sym typeface="Arial"/>
              </a:rPr>
            </a:br>
            <a:r>
              <a:rPr lang="ja" sz="675" b="0" i="0" u="none" strike="noStrike" cap="none" dirty="0">
                <a:solidFill>
                  <a:srgbClr val="C0392B"/>
                </a:solidFill>
                <a:latin typeface="游ゴシック" panose="020B0400000000000000" pitchFamily="50" charset="-128"/>
                <a:ea typeface="游ゴシック" panose="020B0400000000000000" pitchFamily="50" charset="-128"/>
                <a:sym typeface="Arial"/>
              </a:rPr>
              <a:t>互換性は？ロックイン？</a:t>
            </a:r>
            <a:endParaRPr sz="1350" b="0" i="0" u="none" strike="noStrike" cap="none" dirty="0">
              <a:solidFill>
                <a:schemeClr val="dk1"/>
              </a:solidFill>
              <a:latin typeface="Calibri"/>
              <a:ea typeface="Calibri"/>
              <a:cs typeface="Calibri"/>
              <a:sym typeface="Calibri"/>
            </a:endParaRPr>
          </a:p>
        </p:txBody>
      </p:sp>
      <p:sp>
        <p:nvSpPr>
          <p:cNvPr id="467" name="Google Shape;467;p22"/>
          <p:cNvSpPr/>
          <p:nvPr/>
        </p:nvSpPr>
        <p:spPr>
          <a:xfrm>
            <a:off x="2125980" y="1474470"/>
            <a:ext cx="274320" cy="137160"/>
          </a:xfrm>
          <a:prstGeom prst="rightArrow">
            <a:avLst>
              <a:gd name="adj1" fmla="val 50000"/>
              <a:gd name="adj2" fmla="val 50000"/>
            </a:avLst>
          </a:prstGeom>
          <a:solidFill>
            <a:srgbClr val="666666"/>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68" name="Google Shape;468;p22"/>
          <p:cNvSpPr/>
          <p:nvPr/>
        </p:nvSpPr>
        <p:spPr>
          <a:xfrm>
            <a:off x="2125980" y="2057400"/>
            <a:ext cx="274320" cy="137160"/>
          </a:xfrm>
          <a:prstGeom prst="rightArrow">
            <a:avLst>
              <a:gd name="adj1" fmla="val 50000"/>
              <a:gd name="adj2" fmla="val 50000"/>
            </a:avLst>
          </a:prstGeom>
          <a:solidFill>
            <a:srgbClr val="666666"/>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69" name="Google Shape;469;p22"/>
          <p:cNvSpPr/>
          <p:nvPr/>
        </p:nvSpPr>
        <p:spPr>
          <a:xfrm>
            <a:off x="4354830" y="925830"/>
            <a:ext cx="10287" cy="1714500"/>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70" name="Google Shape;470;p22"/>
          <p:cNvSpPr txBox="1"/>
          <p:nvPr/>
        </p:nvSpPr>
        <p:spPr>
          <a:xfrm>
            <a:off x="4594860" y="925830"/>
            <a:ext cx="41148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27724A"/>
                </a:solidFill>
                <a:latin typeface="游ゴシック" panose="020B0400000000000000" pitchFamily="50" charset="-128"/>
                <a:ea typeface="游ゴシック" panose="020B0400000000000000" pitchFamily="50" charset="-128"/>
                <a:sym typeface="Arial"/>
              </a:rPr>
              <a:t>現在：UniForm（2024年6月GA）で解決</a:t>
            </a:r>
            <a:endParaRPr sz="1350" b="0" i="0" u="none" strike="noStrike" cap="none" dirty="0">
              <a:solidFill>
                <a:schemeClr val="dk1"/>
              </a:solidFill>
              <a:latin typeface="Calibri"/>
              <a:ea typeface="Calibri"/>
              <a:cs typeface="Calibri"/>
              <a:sym typeface="Calibri"/>
            </a:endParaRPr>
          </a:p>
        </p:txBody>
      </p:sp>
      <p:sp>
        <p:nvSpPr>
          <p:cNvPr id="471" name="Google Shape;471;p22"/>
          <p:cNvSpPr/>
          <p:nvPr/>
        </p:nvSpPr>
        <p:spPr>
          <a:xfrm>
            <a:off x="4663440" y="1268730"/>
            <a:ext cx="1165860" cy="891540"/>
          </a:xfrm>
          <a:prstGeom prst="roundRect">
            <a:avLst>
              <a:gd name="adj" fmla="val 16667"/>
            </a:avLst>
          </a:prstGeom>
          <a:solidFill>
            <a:srgbClr val="E5DFEC"/>
          </a:solidFill>
          <a:ln w="1905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Delta Lakeで</a:t>
            </a:r>
            <a:b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b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書き込み</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30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Databricks上で</a:t>
            </a:r>
            <a:b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最高性能</a:t>
            </a:r>
            <a:endParaRPr sz="1350" b="0" i="0" u="none" strike="noStrike" cap="none" dirty="0">
              <a:solidFill>
                <a:schemeClr val="dk1"/>
              </a:solidFill>
              <a:latin typeface="Calibri"/>
              <a:ea typeface="Calibri"/>
              <a:cs typeface="Calibri"/>
              <a:sym typeface="Calibri"/>
            </a:endParaRPr>
          </a:p>
        </p:txBody>
      </p:sp>
      <p:sp>
        <p:nvSpPr>
          <p:cNvPr id="472" name="Google Shape;472;p22"/>
          <p:cNvSpPr/>
          <p:nvPr/>
        </p:nvSpPr>
        <p:spPr>
          <a:xfrm>
            <a:off x="5897880" y="1577340"/>
            <a:ext cx="342900" cy="171450"/>
          </a:xfrm>
          <a:prstGeom prst="rightArrow">
            <a:avLst>
              <a:gd name="adj1" fmla="val 50000"/>
              <a:gd name="adj2" fmla="val 50000"/>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73" name="Google Shape;473;p22"/>
          <p:cNvSpPr/>
          <p:nvPr/>
        </p:nvSpPr>
        <p:spPr>
          <a:xfrm>
            <a:off x="6309360" y="1268730"/>
            <a:ext cx="1165860" cy="891540"/>
          </a:xfrm>
          <a:prstGeom prst="roundRect">
            <a:avLst>
              <a:gd name="adj" fmla="val 16667"/>
            </a:avLst>
          </a:prstGeom>
          <a:solidFill>
            <a:srgbClr val="FFF3E0"/>
          </a:solidFill>
          <a:ln w="25400" cap="flat" cmpd="sng">
            <a:solidFill>
              <a:srgbClr val="FF980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E65100"/>
                </a:solidFill>
                <a:latin typeface="游ゴシック" panose="020B0400000000000000" pitchFamily="50" charset="-128"/>
                <a:ea typeface="游ゴシック" panose="020B0400000000000000" pitchFamily="50" charset="-128"/>
                <a:sym typeface="Arial"/>
              </a:rPr>
              <a:t>UniForm</a:t>
            </a:r>
            <a:br>
              <a:rPr lang="ja" sz="750" b="1" i="0" u="none" strike="noStrike" cap="none" dirty="0">
                <a:solidFill>
                  <a:srgbClr val="E65100"/>
                </a:solidFill>
                <a:latin typeface="游ゴシック" panose="020B0400000000000000" pitchFamily="50" charset="-128"/>
                <a:ea typeface="游ゴシック" panose="020B0400000000000000" pitchFamily="50" charset="-128"/>
                <a:sym typeface="Arial"/>
              </a:rPr>
            </a:br>
            <a:r>
              <a:rPr lang="ja" sz="750" b="1" i="0" u="none" strike="noStrike" cap="none" dirty="0">
                <a:solidFill>
                  <a:srgbClr val="E65100"/>
                </a:solidFill>
                <a:latin typeface="游ゴシック" panose="020B0400000000000000" pitchFamily="50" charset="-128"/>
                <a:ea typeface="游ゴシック" panose="020B0400000000000000" pitchFamily="50" charset="-128"/>
                <a:sym typeface="Arial"/>
              </a:rPr>
              <a:t>自動変換</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30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メタデータのみ</a:t>
            </a:r>
            <a:b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データ複製なし</a:t>
            </a:r>
            <a:endParaRPr sz="1350" b="0" i="0" u="none" strike="noStrike" cap="none" dirty="0">
              <a:solidFill>
                <a:schemeClr val="dk1"/>
              </a:solidFill>
              <a:latin typeface="Calibri"/>
              <a:ea typeface="Calibri"/>
              <a:cs typeface="Calibri"/>
              <a:sym typeface="Calibri"/>
            </a:endParaRPr>
          </a:p>
        </p:txBody>
      </p:sp>
      <p:sp>
        <p:nvSpPr>
          <p:cNvPr id="474" name="Google Shape;474;p22"/>
          <p:cNvSpPr/>
          <p:nvPr/>
        </p:nvSpPr>
        <p:spPr>
          <a:xfrm>
            <a:off x="7543800" y="1577340"/>
            <a:ext cx="342900" cy="171450"/>
          </a:xfrm>
          <a:prstGeom prst="rightArrow">
            <a:avLst>
              <a:gd name="adj1" fmla="val 50000"/>
              <a:gd name="adj2" fmla="val 50000"/>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75" name="Google Shape;475;p22"/>
          <p:cNvSpPr/>
          <p:nvPr/>
        </p:nvSpPr>
        <p:spPr>
          <a:xfrm>
            <a:off x="7955280" y="1268730"/>
            <a:ext cx="1028700" cy="891540"/>
          </a:xfrm>
          <a:prstGeom prst="roundRect">
            <a:avLst>
              <a:gd name="adj" fmla="val 16667"/>
            </a:avLst>
          </a:prstGeom>
          <a:solidFill>
            <a:srgbClr val="E8F5E9"/>
          </a:solidFill>
          <a:ln w="19050" cap="flat" cmpd="sng">
            <a:solidFill>
              <a:srgbClr val="27724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548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27724A"/>
                </a:solidFill>
                <a:latin typeface="游ゴシック" panose="020B0400000000000000" pitchFamily="50" charset="-128"/>
                <a:ea typeface="游ゴシック" panose="020B0400000000000000" pitchFamily="50" charset="-128"/>
                <a:sym typeface="Arial"/>
              </a:rPr>
              <a:t>Icebergとして</a:t>
            </a:r>
            <a:br>
              <a:rPr lang="ja" sz="750" b="1" i="0" u="none" strike="noStrike" cap="none" dirty="0">
                <a:solidFill>
                  <a:srgbClr val="27724A"/>
                </a:solidFill>
                <a:latin typeface="游ゴシック" panose="020B0400000000000000" pitchFamily="50" charset="-128"/>
                <a:ea typeface="游ゴシック" panose="020B0400000000000000" pitchFamily="50" charset="-128"/>
                <a:sym typeface="Arial"/>
              </a:rPr>
            </a:br>
            <a:r>
              <a:rPr lang="ja" sz="750" b="1" i="0" u="none" strike="noStrike" cap="none" dirty="0">
                <a:solidFill>
                  <a:srgbClr val="27724A"/>
                </a:solidFill>
                <a:latin typeface="游ゴシック" panose="020B0400000000000000" pitchFamily="50" charset="-128"/>
                <a:ea typeface="游ゴシック" panose="020B0400000000000000" pitchFamily="50" charset="-128"/>
                <a:sym typeface="Arial"/>
              </a:rPr>
              <a:t>読取り可能</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15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Snowflake</a:t>
            </a:r>
            <a:b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Athena</a:t>
            </a:r>
            <a:b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b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Trino 等</a:t>
            </a:r>
            <a:endParaRPr sz="1350" b="0" i="0" u="none" strike="noStrike" cap="none" dirty="0">
              <a:solidFill>
                <a:schemeClr val="dk1"/>
              </a:solidFill>
              <a:latin typeface="Calibri"/>
              <a:ea typeface="Calibri"/>
              <a:cs typeface="Calibri"/>
              <a:sym typeface="Calibri"/>
            </a:endParaRPr>
          </a:p>
        </p:txBody>
      </p:sp>
      <p:sp>
        <p:nvSpPr>
          <p:cNvPr id="476" name="Google Shape;476;p22"/>
          <p:cNvSpPr txBox="1"/>
          <p:nvPr/>
        </p:nvSpPr>
        <p:spPr>
          <a:xfrm>
            <a:off x="480060" y="2811779"/>
            <a:ext cx="82296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A1A1A"/>
                </a:solidFill>
                <a:latin typeface="游ゴシック" panose="020B0400000000000000" pitchFamily="50" charset="-128"/>
                <a:ea typeface="游ゴシック" panose="020B0400000000000000" pitchFamily="50" charset="-128"/>
                <a:sym typeface="Arial"/>
              </a:rPr>
              <a:t>UniFormの制約事項（要認識）</a:t>
            </a:r>
            <a:endParaRPr sz="1350" b="0" i="0" u="none" strike="noStrike" cap="none" dirty="0">
              <a:solidFill>
                <a:schemeClr val="dk1"/>
              </a:solidFill>
              <a:latin typeface="Calibri"/>
              <a:ea typeface="Calibri"/>
              <a:cs typeface="Calibri"/>
              <a:sym typeface="Calibri"/>
            </a:endParaRPr>
          </a:p>
        </p:txBody>
      </p:sp>
      <p:graphicFrame>
        <p:nvGraphicFramePr>
          <p:cNvPr id="477" name="Google Shape;477;p22"/>
          <p:cNvGraphicFramePr/>
          <p:nvPr/>
        </p:nvGraphicFramePr>
        <p:xfrm>
          <a:off x="480060" y="3086100"/>
          <a:ext cx="7886700" cy="1200250"/>
        </p:xfrm>
        <a:graphic>
          <a:graphicData uri="http://schemas.openxmlformats.org/drawingml/2006/table">
            <a:tbl>
              <a:tblPr>
                <a:noFill/>
                <a:tableStyleId>{831F8A93-CA79-4AF6-B420-68E9A51CCC31}</a:tableStyleId>
              </a:tblPr>
              <a:tblGrid>
                <a:gridCol w="137160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40050">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制約</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内容</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影響度</a:t>
                      </a:r>
                      <a:endParaRPr sz="1400" u="none" strike="noStrike" cap="none" dirty="0"/>
                    </a:p>
                  </a:txBody>
                  <a:tcPr marL="68600" marR="68600" marT="34300" marB="34300">
                    <a:solidFill>
                      <a:srgbClr val="1B3A5C"/>
                    </a:solidFill>
                  </a:tcPr>
                </a:tc>
                <a:extLst>
                  <a:ext uri="{0D108BD9-81ED-4DB2-BD59-A6C34878D82A}">
                    <a16:rowId xmlns:a16="http://schemas.microsoft.com/office/drawing/2014/main" val="10000"/>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読み取り専用</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外部エンジンからの書き込み不可。書き込みはDatabricks/Delta経由のみ</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中</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1"/>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メタデータの遅延</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Icebergメタデータは非同期生成。書き込み直後は一瞬のタイムラグあり</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低</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2"/>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性能ペナルティ</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Snowflakeからの読み取りはネイティブ比で約20%の性能低下</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中</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3"/>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Databricks固有機能</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UniFormはオープンな業界標準ではなく、Databricks固有の機能</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要認識</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4"/>
                  </a:ext>
                </a:extLst>
              </a:tr>
            </a:tbl>
          </a:graphicData>
        </a:graphic>
      </p:graphicFrame>
      <p:sp>
        <p:nvSpPr>
          <p:cNvPr id="478" name="Google Shape;478;p22"/>
          <p:cNvSpPr/>
          <p:nvPr/>
        </p:nvSpPr>
        <p:spPr>
          <a:xfrm>
            <a:off x="411480" y="4389120"/>
            <a:ext cx="34290" cy="514350"/>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79" name="Google Shape;479;p22"/>
          <p:cNvSpPr/>
          <p:nvPr/>
        </p:nvSpPr>
        <p:spPr>
          <a:xfrm>
            <a:off x="445770" y="4389120"/>
            <a:ext cx="8263890" cy="514350"/>
          </a:xfrm>
          <a:prstGeom prst="rect">
            <a:avLst/>
          </a:prstGeom>
          <a:solidFill>
            <a:srgbClr val="E8EFF5"/>
          </a:solidFill>
          <a:ln>
            <a:noFill/>
          </a:ln>
          <a:effectLst>
            <a:outerShdw blurRad="40000" dist="23000" dir="5400000" rotWithShape="0">
              <a:srgbClr val="000000">
                <a:alpha val="34901"/>
              </a:srgbClr>
            </a:outerShdw>
          </a:effectLst>
        </p:spPr>
        <p:txBody>
          <a:bodyPr spcFirstLastPara="1" wrap="square" lIns="1028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結論: Databricks利用時：Delta Lake + UniForm（Iceberg互換）を推奨。</a:t>
            </a:r>
            <a:endParaRPr sz="1350" b="0" i="0" u="none" strike="noStrike" cap="none" dirty="0">
              <a:solidFill>
                <a:schemeClr val="lt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Databricksを書き込みプラットフォームとする前提で二者択一が不要に。マルチプラットフォーム時：Icebergを標準化。ベンダー中立性が最も高い。</a:t>
            </a:r>
            <a:endParaRPr sz="1350" b="0" i="0" u="none" strike="noStrike" cap="none" dirty="0">
              <a:solidFill>
                <a:schemeClr val="dk1"/>
              </a:solidFill>
              <a:latin typeface="Calibri"/>
              <a:ea typeface="Calibri"/>
              <a:cs typeface="Calibri"/>
              <a:sym typeface="Calibri"/>
            </a:endParaRPr>
          </a:p>
        </p:txBody>
      </p:sp>
      <p:sp>
        <p:nvSpPr>
          <p:cNvPr id="480" name="Google Shape;480;p22"/>
          <p:cNvSpPr txBox="1"/>
          <p:nvPr/>
        </p:nvSpPr>
        <p:spPr>
          <a:xfrm>
            <a:off x="8366760" y="4834890"/>
            <a:ext cx="548640" cy="161552"/>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5</a:t>
            </a:r>
            <a:endParaRPr sz="1350" b="0" i="0" u="none" strike="noStrike" cap="none" dirty="0">
              <a:solidFill>
                <a:schemeClr val="dk1"/>
              </a:solidFill>
              <a:latin typeface="Calibri"/>
              <a:ea typeface="Calibri"/>
              <a:cs typeface="Calibri"/>
              <a:sym typeface="Calibri"/>
            </a:endParaRPr>
          </a:p>
        </p:txBody>
      </p:sp>
      <p:sp>
        <p:nvSpPr>
          <p:cNvPr id="481" name="Google Shape;481;p22"/>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別紙A-3</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482" name="Google Shape;482;p22"/>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483" name="Google Shape;483;p22"/>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484" name="Google Shape;484;p22"/>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別紙A-3</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23"/>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90" name="Google Shape;490;p23"/>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3</a:t>
            </a:r>
            <a:endParaRPr sz="1350" b="0" i="0" u="none" strike="noStrike" cap="none" dirty="0">
              <a:solidFill>
                <a:schemeClr val="dk1"/>
              </a:solidFill>
              <a:latin typeface="Calibri"/>
              <a:ea typeface="Calibri"/>
              <a:cs typeface="Calibri"/>
              <a:sym typeface="Calibri"/>
            </a:endParaRPr>
          </a:p>
        </p:txBody>
      </p:sp>
      <p:sp>
        <p:nvSpPr>
          <p:cNvPr id="491" name="Google Shape;491;p23"/>
          <p:cNvSpPr txBox="1"/>
          <p:nvPr/>
        </p:nvSpPr>
        <p:spPr>
          <a:xfrm>
            <a:off x="925830" y="171451"/>
            <a:ext cx="744093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プラットフォーム比較：Databricks vs Snowflake vs AWS Native</a:t>
            </a:r>
            <a:endParaRPr sz="1350" b="0" i="0" u="none" strike="noStrike" cap="none" dirty="0">
              <a:solidFill>
                <a:schemeClr val="dk1"/>
              </a:solidFill>
              <a:latin typeface="Calibri"/>
              <a:ea typeface="Calibri"/>
              <a:cs typeface="Calibri"/>
              <a:sym typeface="Calibri"/>
            </a:endParaRPr>
          </a:p>
        </p:txBody>
      </p:sp>
      <p:sp>
        <p:nvSpPr>
          <p:cNvPr id="492" name="Google Shape;492;p23"/>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PySpark互換性・AI拡張性・ガバナンスの観点で評価</a:t>
            </a:r>
            <a:endParaRPr sz="1350" b="0" i="0" u="none" strike="noStrike" cap="none" dirty="0">
              <a:solidFill>
                <a:schemeClr val="dk1"/>
              </a:solidFill>
              <a:latin typeface="Calibri"/>
              <a:ea typeface="Calibri"/>
              <a:cs typeface="Calibri"/>
              <a:sym typeface="Calibri"/>
            </a:endParaRPr>
          </a:p>
        </p:txBody>
      </p:sp>
      <p:sp>
        <p:nvSpPr>
          <p:cNvPr id="493" name="Google Shape;493;p23"/>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494" name="Google Shape;494;p23"/>
          <p:cNvSpPr/>
          <p:nvPr/>
        </p:nvSpPr>
        <p:spPr>
          <a:xfrm>
            <a:off x="480060" y="1330452"/>
            <a:ext cx="2606040" cy="589788"/>
          </a:xfrm>
          <a:prstGeom prst="roundRect">
            <a:avLst>
              <a:gd name="adj" fmla="val 16667"/>
            </a:avLst>
          </a:prstGeom>
          <a:solidFill>
            <a:srgbClr val="5F497A"/>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dirty="0">
                <a:solidFill>
                  <a:srgbClr val="FFFFFF"/>
                </a:solidFill>
                <a:latin typeface="游ゴシック" panose="020B0400000000000000" pitchFamily="50" charset="-128"/>
                <a:ea typeface="游ゴシック" panose="020B0400000000000000" pitchFamily="50" charset="-128"/>
                <a:sym typeface="Arial"/>
              </a:rPr>
              <a:t>Databricks</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750"/>
              <a:buFont typeface="Arial"/>
              <a:buNone/>
            </a:pPr>
            <a:r>
              <a:rPr lang="ja" sz="750" b="0" i="0" u="none" strike="noStrike" cap="none" dirty="0">
                <a:solidFill>
                  <a:srgbClr val="FFFFFF"/>
                </a:solidFill>
                <a:latin typeface="游ゴシック" panose="020B0400000000000000" pitchFamily="50" charset="-128"/>
                <a:ea typeface="游ゴシック" panose="020B0400000000000000" pitchFamily="50" charset="-128"/>
                <a:sym typeface="Arial"/>
              </a:rPr>
              <a:t>データエンジニアリング + AI の統合環境</a:t>
            </a:r>
            <a:endParaRPr sz="750" b="0" i="0" u="none" strike="noStrike" cap="none" dirty="0">
              <a:solidFill>
                <a:schemeClr val="lt1"/>
              </a:solidFill>
              <a:latin typeface="Calibri"/>
              <a:ea typeface="Calibri"/>
              <a:cs typeface="Calibri"/>
              <a:sym typeface="Calibri"/>
            </a:endParaRPr>
          </a:p>
        </p:txBody>
      </p:sp>
      <p:sp>
        <p:nvSpPr>
          <p:cNvPr id="495" name="Google Shape;495;p23"/>
          <p:cNvSpPr/>
          <p:nvPr/>
        </p:nvSpPr>
        <p:spPr>
          <a:xfrm>
            <a:off x="3291839" y="1330452"/>
            <a:ext cx="2606040" cy="589788"/>
          </a:xfrm>
          <a:prstGeom prst="roundRect">
            <a:avLst>
              <a:gd name="adj" fmla="val 16667"/>
            </a:avLst>
          </a:prstGeom>
          <a:solidFill>
            <a:srgbClr val="31859B"/>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dirty="0">
                <a:solidFill>
                  <a:srgbClr val="FFFFFF"/>
                </a:solidFill>
                <a:latin typeface="游ゴシック" panose="020B0400000000000000" pitchFamily="50" charset="-128"/>
                <a:ea typeface="游ゴシック" panose="020B0400000000000000" pitchFamily="50" charset="-128"/>
                <a:sym typeface="Arial"/>
              </a:rPr>
              <a:t>Snowflake</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750"/>
              <a:buFont typeface="Arial"/>
              <a:buNone/>
            </a:pPr>
            <a:r>
              <a:rPr lang="ja" sz="750" b="0" i="0" u="none" strike="noStrike" cap="none" dirty="0">
                <a:solidFill>
                  <a:srgbClr val="FFFFFF"/>
                </a:solidFill>
                <a:latin typeface="游ゴシック" panose="020B0400000000000000" pitchFamily="50" charset="-128"/>
                <a:ea typeface="游ゴシック" panose="020B0400000000000000" pitchFamily="50" charset="-128"/>
                <a:sym typeface="Arial"/>
              </a:rPr>
              <a:t>SQLの王者。シンプルで速い</a:t>
            </a:r>
            <a:endParaRPr sz="750" b="0" i="0" u="none" strike="noStrike" cap="none" dirty="0">
              <a:solidFill>
                <a:schemeClr val="lt1"/>
              </a:solidFill>
              <a:latin typeface="Calibri"/>
              <a:ea typeface="Calibri"/>
              <a:cs typeface="Calibri"/>
              <a:sym typeface="Calibri"/>
            </a:endParaRPr>
          </a:p>
        </p:txBody>
      </p:sp>
      <p:sp>
        <p:nvSpPr>
          <p:cNvPr id="496" name="Google Shape;496;p23"/>
          <p:cNvSpPr/>
          <p:nvPr/>
        </p:nvSpPr>
        <p:spPr>
          <a:xfrm>
            <a:off x="6103619" y="1330452"/>
            <a:ext cx="2606040" cy="589788"/>
          </a:xfrm>
          <a:prstGeom prst="roundRect">
            <a:avLst>
              <a:gd name="adj" fmla="val 16667"/>
            </a:avLst>
          </a:prstGeom>
          <a:solidFill>
            <a:srgbClr val="E36C09"/>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dirty="0">
                <a:solidFill>
                  <a:srgbClr val="FFFFFF"/>
                </a:solidFill>
                <a:latin typeface="游ゴシック" panose="020B0400000000000000" pitchFamily="50" charset="-128"/>
                <a:ea typeface="游ゴシック" panose="020B0400000000000000" pitchFamily="50" charset="-128"/>
                <a:sym typeface="Arial"/>
              </a:rPr>
              <a:t>AWS Native</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750"/>
              <a:buFont typeface="Arial"/>
              <a:buNone/>
            </a:pPr>
            <a:r>
              <a:rPr lang="ja" sz="750" b="0" i="0" u="none" strike="noStrike" cap="none" dirty="0">
                <a:solidFill>
                  <a:srgbClr val="FFFFFF"/>
                </a:solidFill>
                <a:latin typeface="游ゴシック" panose="020B0400000000000000" pitchFamily="50" charset="-128"/>
                <a:ea typeface="游ゴシック" panose="020B0400000000000000" pitchFamily="50" charset="-128"/>
                <a:sym typeface="Arial"/>
              </a:rPr>
              <a:t>部品を自分で組み立てる最安構成</a:t>
            </a:r>
            <a:endParaRPr sz="750" b="0" i="0" u="none" strike="noStrike" cap="none" dirty="0">
              <a:solidFill>
                <a:schemeClr val="lt1"/>
              </a:solidFill>
              <a:latin typeface="Calibri"/>
              <a:ea typeface="Calibri"/>
              <a:cs typeface="Calibri"/>
              <a:sym typeface="Calibri"/>
            </a:endParaRPr>
          </a:p>
        </p:txBody>
      </p:sp>
      <p:graphicFrame>
        <p:nvGraphicFramePr>
          <p:cNvPr id="497" name="Google Shape;497;p23"/>
          <p:cNvGraphicFramePr/>
          <p:nvPr/>
        </p:nvGraphicFramePr>
        <p:xfrm>
          <a:off x="480060" y="2170557"/>
          <a:ext cx="7886700" cy="2160450"/>
        </p:xfrm>
        <a:graphic>
          <a:graphicData uri="http://schemas.openxmlformats.org/drawingml/2006/table">
            <a:tbl>
              <a:tblPr>
                <a:noFill/>
                <a:tableStyleId>{831F8A93-CA79-4AF6-B420-68E9A51CCC31}</a:tableStyleId>
              </a:tblPr>
              <a:tblGrid>
                <a:gridCol w="1508750">
                  <a:extLst>
                    <a:ext uri="{9D8B030D-6E8A-4147-A177-3AD203B41FA5}">
                      <a16:colId xmlns:a16="http://schemas.microsoft.com/office/drawing/2014/main" val="20000"/>
                    </a:ext>
                  </a:extLst>
                </a:gridCol>
                <a:gridCol w="226315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240050">
                <a:tc>
                  <a:txBody>
                    <a:bodyPr/>
                    <a:lstStyle/>
                    <a:p>
                      <a:pPr marL="0" marR="0" lvl="0" indent="0" algn="ctr" rtl="0">
                        <a:lnSpc>
                          <a:spcPct val="100000"/>
                        </a:lnSpc>
                        <a:spcBef>
                          <a:spcPts val="0"/>
                        </a:spcBef>
                        <a:spcAft>
                          <a:spcPts val="0"/>
                        </a:spcAft>
                        <a:buClr>
                          <a:schemeClr val="lt1"/>
                        </a:buClr>
                        <a:buSzPts val="700"/>
                        <a:buFont typeface="Calibri"/>
                        <a:buNone/>
                      </a:pPr>
                      <a:r>
                        <a:rPr lang="ja" sz="700" u="none" strike="noStrike" cap="none" dirty="0">
                          <a:solidFill>
                            <a:schemeClr val="lt1"/>
                          </a:solidFill>
                          <a:latin typeface="游ゴシック" panose="020B0400000000000000" pitchFamily="50" charset="-128"/>
                          <a:ea typeface="游ゴシック" panose="020B0400000000000000" pitchFamily="50" charset="-128"/>
                        </a:rPr>
                        <a:t>評価軸</a:t>
                      </a:r>
                      <a:endParaRPr sz="1400" u="none" strike="noStrike" cap="none" dirty="0">
                        <a:solidFill>
                          <a:schemeClr val="lt1"/>
                        </a:solidFill>
                      </a:endParaRPr>
                    </a:p>
                  </a:txBody>
                  <a:tcPr marL="68600" marR="68600" marT="34300" marB="34300" anchor="ctr">
                    <a:solidFill>
                      <a:srgbClr val="262626"/>
                    </a:solidFill>
                  </a:tcPr>
                </a:tc>
                <a:tc>
                  <a:txBody>
                    <a:bodyPr/>
                    <a:lstStyle/>
                    <a:p>
                      <a:pPr marL="0" marR="0" lvl="0" indent="0" algn="ctr" rtl="0">
                        <a:lnSpc>
                          <a:spcPct val="100000"/>
                        </a:lnSpc>
                        <a:spcBef>
                          <a:spcPts val="0"/>
                        </a:spcBef>
                        <a:spcAft>
                          <a:spcPts val="0"/>
                        </a:spcAft>
                        <a:buClr>
                          <a:schemeClr val="lt1"/>
                        </a:buClr>
                        <a:buSzPts val="700"/>
                        <a:buFont typeface="Calibri"/>
                        <a:buNone/>
                      </a:pPr>
                      <a:r>
                        <a:rPr lang="ja" sz="700" u="none" strike="noStrike" cap="none" dirty="0">
                          <a:solidFill>
                            <a:schemeClr val="lt1"/>
                          </a:solidFill>
                          <a:latin typeface="游ゴシック" panose="020B0400000000000000" pitchFamily="50" charset="-128"/>
                          <a:ea typeface="游ゴシック" panose="020B0400000000000000" pitchFamily="50" charset="-128"/>
                        </a:rPr>
                        <a:t>Databricks</a:t>
                      </a:r>
                      <a:endParaRPr sz="1400" u="none" strike="noStrike" cap="none" dirty="0">
                        <a:solidFill>
                          <a:schemeClr val="lt1"/>
                        </a:solidFill>
                      </a:endParaRPr>
                    </a:p>
                  </a:txBody>
                  <a:tcPr marL="68600" marR="68600" marT="34300" marB="34300" anchor="ctr">
                    <a:solidFill>
                      <a:srgbClr val="5F497A"/>
                    </a:solidFill>
                  </a:tcPr>
                </a:tc>
                <a:tc>
                  <a:txBody>
                    <a:bodyPr/>
                    <a:lstStyle/>
                    <a:p>
                      <a:pPr marL="0" marR="0" lvl="0" indent="0" algn="ctr" rtl="0">
                        <a:lnSpc>
                          <a:spcPct val="100000"/>
                        </a:lnSpc>
                        <a:spcBef>
                          <a:spcPts val="0"/>
                        </a:spcBef>
                        <a:spcAft>
                          <a:spcPts val="0"/>
                        </a:spcAft>
                        <a:buClr>
                          <a:schemeClr val="lt1"/>
                        </a:buClr>
                        <a:buSzPts val="700"/>
                        <a:buFont typeface="Calibri"/>
                        <a:buNone/>
                      </a:pPr>
                      <a:r>
                        <a:rPr lang="ja" sz="700" u="none" strike="noStrike" cap="none" dirty="0">
                          <a:solidFill>
                            <a:schemeClr val="lt1"/>
                          </a:solidFill>
                          <a:latin typeface="游ゴシック" panose="020B0400000000000000" pitchFamily="50" charset="-128"/>
                          <a:ea typeface="游ゴシック" panose="020B0400000000000000" pitchFamily="50" charset="-128"/>
                        </a:rPr>
                        <a:t>Snowflake</a:t>
                      </a:r>
                      <a:endParaRPr sz="1400" u="none" strike="noStrike" cap="none" dirty="0">
                        <a:solidFill>
                          <a:schemeClr val="lt1"/>
                        </a:solidFill>
                      </a:endParaRPr>
                    </a:p>
                  </a:txBody>
                  <a:tcPr marL="68600" marR="68600" marT="34300" marB="34300" anchor="ctr">
                    <a:solidFill>
                      <a:srgbClr val="31859B"/>
                    </a:solidFill>
                  </a:tcPr>
                </a:tc>
                <a:tc>
                  <a:txBody>
                    <a:bodyPr/>
                    <a:lstStyle/>
                    <a:p>
                      <a:pPr marL="0" marR="0" lvl="0" indent="0" algn="ctr" rtl="0">
                        <a:lnSpc>
                          <a:spcPct val="100000"/>
                        </a:lnSpc>
                        <a:spcBef>
                          <a:spcPts val="0"/>
                        </a:spcBef>
                        <a:spcAft>
                          <a:spcPts val="0"/>
                        </a:spcAft>
                        <a:buClr>
                          <a:schemeClr val="lt1"/>
                        </a:buClr>
                        <a:buSzPts val="700"/>
                        <a:buFont typeface="Calibri"/>
                        <a:buNone/>
                      </a:pPr>
                      <a:r>
                        <a:rPr lang="ja" sz="700" u="none" strike="noStrike" cap="none" dirty="0">
                          <a:solidFill>
                            <a:schemeClr val="lt1"/>
                          </a:solidFill>
                          <a:latin typeface="游ゴシック" panose="020B0400000000000000" pitchFamily="50" charset="-128"/>
                          <a:ea typeface="游ゴシック" panose="020B0400000000000000" pitchFamily="50" charset="-128"/>
                        </a:rPr>
                        <a:t>AWS Native</a:t>
                      </a:r>
                      <a:endParaRPr sz="1400" u="none" strike="noStrike" cap="none" dirty="0">
                        <a:solidFill>
                          <a:schemeClr val="lt1"/>
                        </a:solidFill>
                      </a:endParaRPr>
                    </a:p>
                  </a:txBody>
                  <a:tcPr marL="68600" marR="68600" marT="34300" marB="34300" anchor="ctr">
                    <a:solidFill>
                      <a:srgbClr val="E36C09"/>
                    </a:solidFill>
                  </a:tcPr>
                </a:tc>
                <a:extLst>
                  <a:ext uri="{0D108BD9-81ED-4DB2-BD59-A6C34878D82A}">
                    <a16:rowId xmlns:a16="http://schemas.microsoft.com/office/drawing/2014/main" val="10000"/>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PySpark互換性</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そのまま動く</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Snowparkへ書き換え</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EMR/Glueで動く</a:t>
                      </a:r>
                      <a:endParaRPr sz="1400" u="none" strike="noStrike" cap="none" dirty="0"/>
                    </a:p>
                  </a:txBody>
                  <a:tcPr marL="68600" marR="68600" marT="34300" marB="34300" anchor="ctr">
                    <a:solidFill>
                      <a:srgbClr val="FFFFFF"/>
                    </a:solidFill>
                  </a:tcPr>
                </a:tc>
                <a:extLst>
                  <a:ext uri="{0D108BD9-81ED-4DB2-BD59-A6C34878D82A}">
                    <a16:rowId xmlns:a16="http://schemas.microsoft.com/office/drawing/2014/main" val="10001"/>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AI/ML</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MLflow, Vector Search等 統合</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Cortex AI 限定的</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SageMaker+Bedrock</a:t>
                      </a:r>
                      <a:endParaRPr sz="1400" u="none" strike="noStrike" cap="none" dirty="0"/>
                    </a:p>
                  </a:txBody>
                  <a:tcPr marL="68600" marR="68600" marT="34300" marB="34300" anchor="ctr">
                    <a:solidFill>
                      <a:srgbClr val="F5F5F5"/>
                    </a:solidFill>
                  </a:tcPr>
                </a:tc>
                <a:extLst>
                  <a:ext uri="{0D108BD9-81ED-4DB2-BD59-A6C34878D82A}">
                    <a16:rowId xmlns:a16="http://schemas.microsoft.com/office/drawing/2014/main" val="10002"/>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SQL分析性能</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十分高速</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最速クラス</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Athena/Redshift</a:t>
                      </a:r>
                      <a:endParaRPr sz="1400" u="none" strike="noStrike" cap="none" dirty="0"/>
                    </a:p>
                  </a:txBody>
                  <a:tcPr marL="68600" marR="68600" marT="34300" marB="34300" anchor="ctr">
                    <a:solidFill>
                      <a:srgbClr val="FFFFFF"/>
                    </a:solidFill>
                  </a:tcPr>
                </a:tc>
                <a:extLst>
                  <a:ext uri="{0D108BD9-81ED-4DB2-BD59-A6C34878D82A}">
                    <a16:rowId xmlns:a16="http://schemas.microsoft.com/office/drawing/2014/main" val="10003"/>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ガバナンス</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Unity Catalog統合管理</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Horizon（SF内は強い）</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Lake Formation</a:t>
                      </a:r>
                      <a:endParaRPr sz="1400" u="none" strike="noStrike" cap="none" dirty="0"/>
                    </a:p>
                  </a:txBody>
                  <a:tcPr marL="68600" marR="68600" marT="34300" marB="34300" anchor="ctr">
                    <a:solidFill>
                      <a:srgbClr val="F5F5F5"/>
                    </a:solidFill>
                  </a:tcPr>
                </a:tc>
                <a:extLst>
                  <a:ext uri="{0D108BD9-81ED-4DB2-BD59-A6C34878D82A}">
                    <a16:rowId xmlns:a16="http://schemas.microsoft.com/office/drawing/2014/main" val="10004"/>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オープン性</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UC(コアOSS), Delta+Iceberg</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独自形式+Apache Polaris</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OSSベース</a:t>
                      </a:r>
                      <a:endParaRPr sz="1400" u="none" strike="noStrike" cap="none" dirty="0"/>
                    </a:p>
                  </a:txBody>
                  <a:tcPr marL="68600" marR="68600" marT="34300" marB="34300" anchor="ctr">
                    <a:solidFill>
                      <a:srgbClr val="FFFFFF"/>
                    </a:solidFill>
                  </a:tcPr>
                </a:tc>
                <a:extLst>
                  <a:ext uri="{0D108BD9-81ED-4DB2-BD59-A6C34878D82A}">
                    <a16:rowId xmlns:a16="http://schemas.microsoft.com/office/drawing/2014/main" val="10005"/>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運用負荷</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サーバーレス化進行中</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フルマネージド</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自前構築・運用</a:t>
                      </a:r>
                      <a:endParaRPr sz="1400" u="none" strike="noStrike" cap="none" dirty="0"/>
                    </a:p>
                  </a:txBody>
                  <a:tcPr marL="68600" marR="68600" marT="34300" marB="34300" anchor="ctr">
                    <a:solidFill>
                      <a:srgbClr val="F5F5F5"/>
                    </a:solidFill>
                  </a:tcPr>
                </a:tc>
                <a:extLst>
                  <a:ext uri="{0D108BD9-81ED-4DB2-BD59-A6C34878D82A}">
                    <a16:rowId xmlns:a16="http://schemas.microsoft.com/office/drawing/2014/main" val="10006"/>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コスト構造</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中〜高（DBU+インフラ二重）</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中（クレジット制）</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低〜中（従量+人件費）</a:t>
                      </a:r>
                      <a:endParaRPr sz="1400" u="none" strike="noStrike" cap="none" dirty="0"/>
                    </a:p>
                  </a:txBody>
                  <a:tcPr marL="68600" marR="68600" marT="34300" marB="34300" anchor="ctr">
                    <a:solidFill>
                      <a:srgbClr val="FFFFFF"/>
                    </a:solidFill>
                  </a:tcPr>
                </a:tc>
                <a:extLst>
                  <a:ext uri="{0D108BD9-81ED-4DB2-BD59-A6C34878D82A}">
                    <a16:rowId xmlns:a16="http://schemas.microsoft.com/office/drawing/2014/main" val="10007"/>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必要人材</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2名〜（データエンジニア）</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1-2名（SQL人材）</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3-4名（インフラ+データ）</a:t>
                      </a:r>
                      <a:endParaRPr sz="1400" u="none" strike="noStrike" cap="none" dirty="0"/>
                    </a:p>
                  </a:txBody>
                  <a:tcPr marL="68600" marR="68600" marT="34300" marB="34300" anchor="ctr">
                    <a:solidFill>
                      <a:srgbClr val="F5F5F5"/>
                    </a:solidFill>
                  </a:tcPr>
                </a:tc>
                <a:extLst>
                  <a:ext uri="{0D108BD9-81ED-4DB2-BD59-A6C34878D82A}">
                    <a16:rowId xmlns:a16="http://schemas.microsoft.com/office/drawing/2014/main" val="10008"/>
                  </a:ext>
                </a:extLst>
              </a:tr>
            </a:tbl>
          </a:graphicData>
        </a:graphic>
      </p:graphicFrame>
      <p:sp>
        <p:nvSpPr>
          <p:cNvPr id="498" name="Google Shape;498;p23"/>
          <p:cNvSpPr txBox="1"/>
          <p:nvPr/>
        </p:nvSpPr>
        <p:spPr>
          <a:xfrm>
            <a:off x="8366760" y="4834890"/>
            <a:ext cx="548640" cy="161552"/>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6</a:t>
            </a:r>
            <a:endParaRPr sz="1350" b="0" i="0" u="none" strike="noStrike" cap="none" dirty="0">
              <a:solidFill>
                <a:schemeClr val="dk1"/>
              </a:solidFill>
              <a:latin typeface="Calibri"/>
              <a:ea typeface="Calibri"/>
              <a:cs typeface="Calibri"/>
              <a:sym typeface="Calibri"/>
            </a:endParaRPr>
          </a:p>
        </p:txBody>
      </p:sp>
      <p:sp>
        <p:nvSpPr>
          <p:cNvPr id="499" name="Google Shape;499;p23"/>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別紙A-4</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500" name="Google Shape;500;p23"/>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501" name="Google Shape;501;p23"/>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502" name="Google Shape;502;p23"/>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別紙A-4</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24"/>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08" name="Google Shape;508;p24"/>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3</a:t>
            </a:r>
            <a:endParaRPr sz="1350" b="0" i="0" u="none" strike="noStrike" cap="none" dirty="0">
              <a:solidFill>
                <a:schemeClr val="dk1"/>
              </a:solidFill>
              <a:latin typeface="Calibri"/>
              <a:ea typeface="Calibri"/>
              <a:cs typeface="Calibri"/>
              <a:sym typeface="Calibri"/>
            </a:endParaRPr>
          </a:p>
        </p:txBody>
      </p:sp>
      <p:sp>
        <p:nvSpPr>
          <p:cNvPr id="509" name="Google Shape;509;p24"/>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本プロジェクトにおける各プラットフォームの評価</a:t>
            </a:r>
            <a:endParaRPr sz="1350" b="0" i="0" u="none" strike="noStrike" cap="none" dirty="0">
              <a:solidFill>
                <a:schemeClr val="dk1"/>
              </a:solidFill>
              <a:latin typeface="Calibri"/>
              <a:ea typeface="Calibri"/>
              <a:cs typeface="Calibri"/>
              <a:sym typeface="Calibri"/>
            </a:endParaRPr>
          </a:p>
        </p:txBody>
      </p:sp>
      <p:sp>
        <p:nvSpPr>
          <p:cNvPr id="510" name="Google Shape;510;p24"/>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Foundry移行の要件に照らした適合度</a:t>
            </a:r>
            <a:endParaRPr sz="1350" b="0" i="0" u="none" strike="noStrike" cap="none" dirty="0">
              <a:solidFill>
                <a:schemeClr val="dk1"/>
              </a:solidFill>
              <a:latin typeface="Calibri"/>
              <a:ea typeface="Calibri"/>
              <a:cs typeface="Calibri"/>
              <a:sym typeface="Calibri"/>
            </a:endParaRPr>
          </a:p>
        </p:txBody>
      </p:sp>
      <p:sp>
        <p:nvSpPr>
          <p:cNvPr id="511" name="Google Shape;511;p24"/>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12" name="Google Shape;512;p24"/>
          <p:cNvSpPr/>
          <p:nvPr/>
        </p:nvSpPr>
        <p:spPr>
          <a:xfrm>
            <a:off x="491490" y="1099852"/>
            <a:ext cx="2537460" cy="461201"/>
          </a:xfrm>
          <a:prstGeom prst="roundRect">
            <a:avLst>
              <a:gd name="adj" fmla="val 16667"/>
            </a:avLst>
          </a:prstGeom>
          <a:solidFill>
            <a:srgbClr val="5F497A"/>
          </a:solidFill>
          <a:ln>
            <a:noFill/>
          </a:ln>
          <a:effectLst>
            <a:outerShdw blurRad="40000" dist="23000" dir="5400000" rotWithShape="0">
              <a:srgbClr val="000000">
                <a:alpha val="34901"/>
              </a:srgbClr>
            </a:outerShdw>
          </a:effectLst>
        </p:spPr>
        <p:txBody>
          <a:bodyPr spcFirstLastPara="1" wrap="square" lIns="102850" tIns="41125" rIns="68550"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ja" sz="900" b="1" i="0" u="none" strike="noStrike" cap="none" dirty="0">
                <a:solidFill>
                  <a:srgbClr val="FFFFFF"/>
                </a:solidFill>
                <a:latin typeface="游ゴシック" panose="020B0400000000000000" pitchFamily="50" charset="-128"/>
                <a:ea typeface="游ゴシック" panose="020B0400000000000000" pitchFamily="50" charset="-128"/>
                <a:sym typeface="Arial"/>
              </a:rPr>
              <a:t>Databricks    </a:t>
            </a:r>
            <a:endParaRPr sz="900" b="1" i="0" u="none" strike="noStrike" cap="none" dirty="0">
              <a:solidFill>
                <a:srgbClr val="FFFFFF"/>
              </a:solidFill>
              <a:latin typeface="游ゴシック" panose="020B0400000000000000" pitchFamily="50" charset="-128"/>
              <a:ea typeface="游ゴシック" panose="020B0400000000000000" pitchFamily="50" charset="-128"/>
              <a:sym typeface="Arial"/>
            </a:endParaRPr>
          </a:p>
          <a:p>
            <a:pPr marL="0" marR="0" lvl="0" indent="0" algn="ctr" rtl="0">
              <a:lnSpc>
                <a:spcPct val="100000"/>
              </a:lnSpc>
              <a:spcBef>
                <a:spcPts val="0"/>
              </a:spcBef>
              <a:spcAft>
                <a:spcPts val="0"/>
              </a:spcAft>
              <a:buClr>
                <a:srgbClr val="000000"/>
              </a:buClr>
              <a:buSzPts val="900"/>
              <a:buFont typeface="Arial"/>
              <a:buNone/>
            </a:pPr>
            <a:r>
              <a:rPr lang="ja" sz="900" b="1" i="0" u="none" strike="noStrike" cap="none" dirty="0">
                <a:solidFill>
                  <a:srgbClr val="FFFFFF"/>
                </a:solidFill>
                <a:latin typeface="游ゴシック" panose="020B0400000000000000" pitchFamily="50" charset="-128"/>
                <a:ea typeface="游ゴシック" panose="020B0400000000000000" pitchFamily="50" charset="-128"/>
                <a:sym typeface="Arial"/>
              </a:rPr>
              <a:t>◎ 最も適合度が高い</a:t>
            </a:r>
            <a:endParaRPr sz="1350" b="0" i="0" u="none" strike="noStrike" cap="none" dirty="0">
              <a:solidFill>
                <a:schemeClr val="lt1"/>
              </a:solidFill>
              <a:latin typeface="Calibri"/>
              <a:ea typeface="Calibri"/>
              <a:cs typeface="Calibri"/>
              <a:sym typeface="Calibri"/>
            </a:endParaRPr>
          </a:p>
        </p:txBody>
      </p:sp>
      <p:sp>
        <p:nvSpPr>
          <p:cNvPr id="513" name="Google Shape;513;p24"/>
          <p:cNvSpPr/>
          <p:nvPr/>
        </p:nvSpPr>
        <p:spPr>
          <a:xfrm>
            <a:off x="3268980" y="1099852"/>
            <a:ext cx="2537460" cy="461201"/>
          </a:xfrm>
          <a:prstGeom prst="roundRect">
            <a:avLst>
              <a:gd name="adj" fmla="val 16667"/>
            </a:avLst>
          </a:prstGeom>
          <a:solidFill>
            <a:srgbClr val="31859B"/>
          </a:solidFill>
          <a:ln>
            <a:noFill/>
          </a:ln>
          <a:effectLst>
            <a:outerShdw blurRad="40000" dist="23000" dir="5400000" rotWithShape="0">
              <a:srgbClr val="000000">
                <a:alpha val="34901"/>
              </a:srgbClr>
            </a:outerShdw>
          </a:effectLst>
        </p:spPr>
        <p:txBody>
          <a:bodyPr spcFirstLastPara="1" wrap="square" lIns="102850" tIns="41125" rIns="68550"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ja" sz="900" b="1" i="0" u="none" strike="noStrike" cap="none" dirty="0">
                <a:solidFill>
                  <a:srgbClr val="FFFFFF"/>
                </a:solidFill>
                <a:latin typeface="游ゴシック" panose="020B0400000000000000" pitchFamily="50" charset="-128"/>
                <a:ea typeface="游ゴシック" panose="020B0400000000000000" pitchFamily="50" charset="-128"/>
                <a:sym typeface="Arial"/>
              </a:rPr>
              <a:t>Snowflake    </a:t>
            </a:r>
            <a:endParaRPr sz="900" b="1" i="0" u="none" strike="noStrike" cap="none" dirty="0">
              <a:solidFill>
                <a:srgbClr val="FFFFFF"/>
              </a:solidFill>
              <a:latin typeface="游ゴシック" panose="020B0400000000000000" pitchFamily="50" charset="-128"/>
              <a:ea typeface="游ゴシック" panose="020B0400000000000000" pitchFamily="50" charset="-128"/>
              <a:sym typeface="Arial"/>
            </a:endParaRPr>
          </a:p>
          <a:p>
            <a:pPr marL="0" marR="0" lvl="0" indent="0" algn="ctr" rtl="0">
              <a:lnSpc>
                <a:spcPct val="100000"/>
              </a:lnSpc>
              <a:spcBef>
                <a:spcPts val="0"/>
              </a:spcBef>
              <a:spcAft>
                <a:spcPts val="0"/>
              </a:spcAft>
              <a:buClr>
                <a:srgbClr val="000000"/>
              </a:buClr>
              <a:buSzPts val="900"/>
              <a:buFont typeface="Arial"/>
              <a:buNone/>
            </a:pPr>
            <a:r>
              <a:rPr lang="ja" sz="900" b="1" i="0" u="none" strike="noStrike" cap="none" dirty="0">
                <a:solidFill>
                  <a:srgbClr val="FFFFFF"/>
                </a:solidFill>
                <a:latin typeface="游ゴシック" panose="020B0400000000000000" pitchFamily="50" charset="-128"/>
                <a:ea typeface="游ゴシック" panose="020B0400000000000000" pitchFamily="50" charset="-128"/>
                <a:sym typeface="Arial"/>
              </a:rPr>
              <a:t>△ 本プロジェクトでは不利</a:t>
            </a:r>
            <a:endParaRPr sz="1350" b="0" i="0" u="none" strike="noStrike" cap="none" dirty="0">
              <a:solidFill>
                <a:schemeClr val="lt1"/>
              </a:solidFill>
              <a:latin typeface="Calibri"/>
              <a:ea typeface="Calibri"/>
              <a:cs typeface="Calibri"/>
              <a:sym typeface="Calibri"/>
            </a:endParaRPr>
          </a:p>
        </p:txBody>
      </p:sp>
      <p:sp>
        <p:nvSpPr>
          <p:cNvPr id="514" name="Google Shape;514;p24"/>
          <p:cNvSpPr/>
          <p:nvPr/>
        </p:nvSpPr>
        <p:spPr>
          <a:xfrm>
            <a:off x="6046470" y="1099852"/>
            <a:ext cx="2537460" cy="461201"/>
          </a:xfrm>
          <a:prstGeom prst="roundRect">
            <a:avLst>
              <a:gd name="adj" fmla="val 16667"/>
            </a:avLst>
          </a:prstGeom>
          <a:solidFill>
            <a:srgbClr val="E36C09"/>
          </a:solidFill>
          <a:ln>
            <a:noFill/>
          </a:ln>
          <a:effectLst>
            <a:outerShdw blurRad="40000" dist="23000" dir="5400000" rotWithShape="0">
              <a:srgbClr val="000000">
                <a:alpha val="34901"/>
              </a:srgbClr>
            </a:outerShdw>
          </a:effectLst>
        </p:spPr>
        <p:txBody>
          <a:bodyPr spcFirstLastPara="1" wrap="square" lIns="102850" tIns="41125" rIns="68550"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ja" sz="900" b="1" i="0" u="none" strike="noStrike" cap="none" dirty="0">
                <a:solidFill>
                  <a:srgbClr val="FFFFFF"/>
                </a:solidFill>
                <a:latin typeface="游ゴシック" panose="020B0400000000000000" pitchFamily="50" charset="-128"/>
                <a:ea typeface="游ゴシック" panose="020B0400000000000000" pitchFamily="50" charset="-128"/>
                <a:sym typeface="Arial"/>
              </a:rPr>
              <a:t>AWS Native    </a:t>
            </a:r>
            <a:endParaRPr sz="900" b="1" i="0" u="none" strike="noStrike" cap="none" dirty="0">
              <a:solidFill>
                <a:srgbClr val="FFFFFF"/>
              </a:solidFill>
              <a:latin typeface="游ゴシック" panose="020B0400000000000000" pitchFamily="50" charset="-128"/>
              <a:ea typeface="游ゴシック" panose="020B0400000000000000" pitchFamily="50" charset="-128"/>
              <a:sym typeface="Arial"/>
            </a:endParaRPr>
          </a:p>
          <a:p>
            <a:pPr marL="0" marR="0" lvl="0" indent="0" algn="ctr" rtl="0">
              <a:lnSpc>
                <a:spcPct val="100000"/>
              </a:lnSpc>
              <a:spcBef>
                <a:spcPts val="0"/>
              </a:spcBef>
              <a:spcAft>
                <a:spcPts val="0"/>
              </a:spcAft>
              <a:buClr>
                <a:srgbClr val="000000"/>
              </a:buClr>
              <a:buSzPts val="900"/>
              <a:buFont typeface="Arial"/>
              <a:buNone/>
            </a:pPr>
            <a:r>
              <a:rPr lang="ja" sz="900" b="1" i="0" u="none" strike="noStrike" cap="none" dirty="0">
                <a:solidFill>
                  <a:srgbClr val="FFFFFF"/>
                </a:solidFill>
                <a:latin typeface="游ゴシック" panose="020B0400000000000000" pitchFamily="50" charset="-128"/>
                <a:ea typeface="游ゴシック" panose="020B0400000000000000" pitchFamily="50" charset="-128"/>
                <a:sym typeface="Arial"/>
              </a:rPr>
              <a:t>○ 安いが運用が重い</a:t>
            </a:r>
            <a:endParaRPr sz="1350" b="0" i="0" u="none" strike="noStrike" cap="none" dirty="0">
              <a:solidFill>
                <a:schemeClr val="lt1"/>
              </a:solidFill>
              <a:latin typeface="Calibri"/>
              <a:ea typeface="Calibri"/>
              <a:cs typeface="Calibri"/>
              <a:sym typeface="Calibri"/>
            </a:endParaRPr>
          </a:p>
        </p:txBody>
      </p:sp>
      <p:graphicFrame>
        <p:nvGraphicFramePr>
          <p:cNvPr id="515" name="Google Shape;515;p24"/>
          <p:cNvGraphicFramePr/>
          <p:nvPr/>
        </p:nvGraphicFramePr>
        <p:xfrm>
          <a:off x="491490" y="1767649"/>
          <a:ext cx="8161050" cy="2141475"/>
        </p:xfrm>
        <a:graphic>
          <a:graphicData uri="http://schemas.openxmlformats.org/drawingml/2006/table">
            <a:tbl>
              <a:tblPr>
                <a:noFill/>
                <a:tableStyleId>{831F8A93-CA79-4AF6-B420-68E9A51CCC31}</a:tableStyleId>
              </a:tblPr>
              <a:tblGrid>
                <a:gridCol w="1234450">
                  <a:extLst>
                    <a:ext uri="{9D8B030D-6E8A-4147-A177-3AD203B41FA5}">
                      <a16:colId xmlns:a16="http://schemas.microsoft.com/office/drawing/2014/main" val="20000"/>
                    </a:ext>
                  </a:extLst>
                </a:gridCol>
                <a:gridCol w="2331725">
                  <a:extLst>
                    <a:ext uri="{9D8B030D-6E8A-4147-A177-3AD203B41FA5}">
                      <a16:colId xmlns:a16="http://schemas.microsoft.com/office/drawing/2014/main" val="20001"/>
                    </a:ext>
                  </a:extLst>
                </a:gridCol>
                <a:gridCol w="2331725">
                  <a:extLst>
                    <a:ext uri="{9D8B030D-6E8A-4147-A177-3AD203B41FA5}">
                      <a16:colId xmlns:a16="http://schemas.microsoft.com/office/drawing/2014/main" val="20002"/>
                    </a:ext>
                  </a:extLst>
                </a:gridCol>
                <a:gridCol w="2263150">
                  <a:extLst>
                    <a:ext uri="{9D8B030D-6E8A-4147-A177-3AD203B41FA5}">
                      <a16:colId xmlns:a16="http://schemas.microsoft.com/office/drawing/2014/main" val="20003"/>
                    </a:ext>
                  </a:extLst>
                </a:gridCol>
              </a:tblGrid>
              <a:tr h="293925">
                <a:tc>
                  <a:txBody>
                    <a:bodyPr/>
                    <a:lstStyle/>
                    <a:p>
                      <a:pPr marL="0" marR="0" lvl="0" indent="0" algn="l" rtl="0">
                        <a:lnSpc>
                          <a:spcPct val="100000"/>
                        </a:lnSpc>
                        <a:spcBef>
                          <a:spcPts val="0"/>
                        </a:spcBef>
                        <a:spcAft>
                          <a:spcPts val="0"/>
                        </a:spcAft>
                        <a:buClr>
                          <a:schemeClr val="lt1"/>
                        </a:buClr>
                        <a:buSzPts val="600"/>
                        <a:buFont typeface="Calibri"/>
                        <a:buNone/>
                      </a:pPr>
                      <a:r>
                        <a:rPr lang="ja" sz="600" u="none" strike="noStrike" cap="none" dirty="0">
                          <a:solidFill>
                            <a:schemeClr val="lt1"/>
                          </a:solidFill>
                          <a:latin typeface="游ゴシック" panose="020B0400000000000000" pitchFamily="50" charset="-128"/>
                          <a:ea typeface="游ゴシック" panose="020B0400000000000000" pitchFamily="50" charset="-128"/>
                        </a:rPr>
                        <a:t>評価軸</a:t>
                      </a:r>
                      <a:endParaRPr sz="1400" u="none" strike="noStrike" cap="none" dirty="0">
                        <a:solidFill>
                          <a:schemeClr val="lt1"/>
                        </a:solidFill>
                      </a:endParaRPr>
                    </a:p>
                  </a:txBody>
                  <a:tcPr marL="68600" marR="68600" marT="34300" marB="34300" anchor="ctr">
                    <a:solidFill>
                      <a:srgbClr val="1B3A5C"/>
                    </a:solidFill>
                  </a:tcPr>
                </a:tc>
                <a:tc>
                  <a:txBody>
                    <a:bodyPr/>
                    <a:lstStyle/>
                    <a:p>
                      <a:pPr marL="0" marR="0" lvl="0" indent="0" algn="ctr" rtl="0">
                        <a:lnSpc>
                          <a:spcPct val="100000"/>
                        </a:lnSpc>
                        <a:spcBef>
                          <a:spcPts val="0"/>
                        </a:spcBef>
                        <a:spcAft>
                          <a:spcPts val="0"/>
                        </a:spcAft>
                        <a:buClr>
                          <a:schemeClr val="lt1"/>
                        </a:buClr>
                        <a:buSzPts val="600"/>
                        <a:buFont typeface="Calibri"/>
                        <a:buNone/>
                      </a:pPr>
                      <a:r>
                        <a:rPr lang="ja" sz="600" u="none" strike="noStrike" cap="none" dirty="0">
                          <a:solidFill>
                            <a:schemeClr val="lt1"/>
                          </a:solidFill>
                          <a:latin typeface="游ゴシック" panose="020B0400000000000000" pitchFamily="50" charset="-128"/>
                          <a:ea typeface="游ゴシック" panose="020B0400000000000000" pitchFamily="50" charset="-128"/>
                        </a:rPr>
                        <a:t>Databricks</a:t>
                      </a:r>
                      <a:endParaRPr sz="1400" u="none" strike="noStrike" cap="none" dirty="0">
                        <a:solidFill>
                          <a:schemeClr val="lt1"/>
                        </a:solidFill>
                      </a:endParaRPr>
                    </a:p>
                  </a:txBody>
                  <a:tcPr marL="68600" marR="68600" marT="34300" marB="34300" anchor="ctr">
                    <a:solidFill>
                      <a:srgbClr val="5F497A"/>
                    </a:solidFill>
                  </a:tcPr>
                </a:tc>
                <a:tc>
                  <a:txBody>
                    <a:bodyPr/>
                    <a:lstStyle/>
                    <a:p>
                      <a:pPr marL="0" marR="0" lvl="0" indent="0" algn="ctr" rtl="0">
                        <a:lnSpc>
                          <a:spcPct val="100000"/>
                        </a:lnSpc>
                        <a:spcBef>
                          <a:spcPts val="0"/>
                        </a:spcBef>
                        <a:spcAft>
                          <a:spcPts val="0"/>
                        </a:spcAft>
                        <a:buClr>
                          <a:schemeClr val="lt1"/>
                        </a:buClr>
                        <a:buSzPts val="600"/>
                        <a:buFont typeface="Calibri"/>
                        <a:buNone/>
                      </a:pPr>
                      <a:r>
                        <a:rPr lang="ja" sz="600" u="none" strike="noStrike" cap="none" dirty="0">
                          <a:solidFill>
                            <a:schemeClr val="lt1"/>
                          </a:solidFill>
                          <a:latin typeface="游ゴシック" panose="020B0400000000000000" pitchFamily="50" charset="-128"/>
                          <a:ea typeface="游ゴシック" panose="020B0400000000000000" pitchFamily="50" charset="-128"/>
                        </a:rPr>
                        <a:t>Snowflake</a:t>
                      </a:r>
                      <a:endParaRPr sz="1400" u="none" strike="noStrike" cap="none" dirty="0">
                        <a:solidFill>
                          <a:schemeClr val="lt1"/>
                        </a:solidFill>
                      </a:endParaRPr>
                    </a:p>
                  </a:txBody>
                  <a:tcPr marL="68600" marR="68600" marT="34300" marB="34300" anchor="ctr">
                    <a:solidFill>
                      <a:srgbClr val="31859B"/>
                    </a:solidFill>
                  </a:tcPr>
                </a:tc>
                <a:tc>
                  <a:txBody>
                    <a:bodyPr/>
                    <a:lstStyle/>
                    <a:p>
                      <a:pPr marL="0" marR="0" lvl="0" indent="0" algn="ctr" rtl="0">
                        <a:lnSpc>
                          <a:spcPct val="100000"/>
                        </a:lnSpc>
                        <a:spcBef>
                          <a:spcPts val="0"/>
                        </a:spcBef>
                        <a:spcAft>
                          <a:spcPts val="0"/>
                        </a:spcAft>
                        <a:buClr>
                          <a:schemeClr val="lt1"/>
                        </a:buClr>
                        <a:buSzPts val="600"/>
                        <a:buFont typeface="Calibri"/>
                        <a:buNone/>
                      </a:pPr>
                      <a:r>
                        <a:rPr lang="ja" sz="600" u="none" strike="noStrike" cap="none" dirty="0">
                          <a:solidFill>
                            <a:schemeClr val="lt1"/>
                          </a:solidFill>
                          <a:latin typeface="游ゴシック" panose="020B0400000000000000" pitchFamily="50" charset="-128"/>
                          <a:ea typeface="游ゴシック" panose="020B0400000000000000" pitchFamily="50" charset="-128"/>
                        </a:rPr>
                        <a:t>AWS Native</a:t>
                      </a:r>
                      <a:endParaRPr sz="1400" u="none" strike="noStrike" cap="none" dirty="0">
                        <a:solidFill>
                          <a:schemeClr val="lt1"/>
                        </a:solidFill>
                      </a:endParaRPr>
                    </a:p>
                  </a:txBody>
                  <a:tcPr marL="68600" marR="68600" marT="34300" marB="34300" anchor="ctr">
                    <a:solidFill>
                      <a:srgbClr val="E36C09"/>
                    </a:solidFill>
                  </a:tcPr>
                </a:tc>
                <a:extLst>
                  <a:ext uri="{0D108BD9-81ED-4DB2-BD59-A6C34878D82A}">
                    <a16:rowId xmlns:a16="http://schemas.microsoft.com/office/drawing/2014/main" val="10000"/>
                  </a:ext>
                </a:extLst>
              </a:tr>
              <a:tr h="307925">
                <a:tc>
                  <a:txBody>
                    <a:bodyPr/>
                    <a:lstStyle/>
                    <a:p>
                      <a:pPr marL="0" marR="0" lvl="0" indent="0" algn="l" rtl="0">
                        <a:lnSpc>
                          <a:spcPct val="100000"/>
                        </a:lnSpc>
                        <a:spcBef>
                          <a:spcPts val="0"/>
                        </a:spcBef>
                        <a:spcAft>
                          <a:spcPts val="0"/>
                        </a:spcAft>
                        <a:buClr>
                          <a:schemeClr val="dk1"/>
                        </a:buClr>
                        <a:buSzPts val="600"/>
                        <a:buFont typeface="Calibri"/>
                        <a:buNone/>
                      </a:pPr>
                      <a:r>
                        <a:rPr lang="ja" sz="600" u="none" strike="noStrike" cap="none" dirty="0">
                          <a:latin typeface="游ゴシック" panose="020B0400000000000000" pitchFamily="50" charset="-128"/>
                          <a:ea typeface="游ゴシック" panose="020B0400000000000000" pitchFamily="50" charset="-128"/>
                        </a:rPr>
                        <a:t>PySpark互換性</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chemeClr val="dk1"/>
                        </a:buClr>
                        <a:buSzPts val="600"/>
                        <a:buFont typeface="Calibri"/>
                        <a:buNone/>
                      </a:pPr>
                      <a:r>
                        <a:rPr lang="ja" sz="600" u="none" strike="noStrike" cap="none" dirty="0">
                          <a:latin typeface="游ゴシック" panose="020B0400000000000000" pitchFamily="50" charset="-128"/>
                          <a:ea typeface="游ゴシック" panose="020B0400000000000000" pitchFamily="50" charset="-128"/>
                        </a:rPr>
                        <a:t>◎  そのまま動作</a:t>
                      </a:r>
                      <a:br>
                        <a:rPr lang="ja" sz="600" u="none" strike="noStrike" cap="none" dirty="0">
                          <a:latin typeface="游ゴシック" panose="020B0400000000000000" pitchFamily="50" charset="-128"/>
                          <a:ea typeface="游ゴシック" panose="020B0400000000000000" pitchFamily="50" charset="-128"/>
                        </a:rPr>
                      </a:br>
                      <a:r>
                        <a:rPr lang="ja" sz="600" u="none" strike="noStrike" cap="none" dirty="0">
                          <a:latin typeface="游ゴシック" panose="020B0400000000000000" pitchFamily="50" charset="-128"/>
                          <a:ea typeface="游ゴシック" panose="020B0400000000000000" pitchFamily="50" charset="-128"/>
                        </a:rPr>
                        <a:t>（デコレーター除去のみ）</a:t>
                      </a:r>
                      <a:endParaRPr sz="1400" u="none" strike="noStrike" cap="none" dirty="0"/>
                    </a:p>
                  </a:txBody>
                  <a:tcPr marL="68600" marR="68600" marT="34300" marB="34300" anchor="ctr">
                    <a:solidFill>
                      <a:srgbClr val="EAF1DD"/>
                    </a:solidFill>
                  </a:tcPr>
                </a:tc>
                <a:tc>
                  <a:txBody>
                    <a:bodyPr/>
                    <a:lstStyle/>
                    <a:p>
                      <a:pPr marL="0" marR="0" lvl="0" indent="0" algn="l" rtl="0">
                        <a:lnSpc>
                          <a:spcPct val="100000"/>
                        </a:lnSpc>
                        <a:spcBef>
                          <a:spcPts val="0"/>
                        </a:spcBef>
                        <a:spcAft>
                          <a:spcPts val="0"/>
                        </a:spcAft>
                        <a:buClr>
                          <a:schemeClr val="dk1"/>
                        </a:buClr>
                        <a:buSzPts val="600"/>
                        <a:buFont typeface="Calibri"/>
                        <a:buNone/>
                      </a:pPr>
                      <a:r>
                        <a:rPr lang="ja" sz="600" u="none" strike="noStrike" cap="none" dirty="0">
                          <a:latin typeface="游ゴシック" panose="020B0400000000000000" pitchFamily="50" charset="-128"/>
                          <a:ea typeface="游ゴシック" panose="020B0400000000000000" pitchFamily="50" charset="-128"/>
                        </a:rPr>
                        <a:t>×  Snowparkへ全面書き換え</a:t>
                      </a:r>
                      <a:br>
                        <a:rPr lang="ja" sz="600" u="none" strike="noStrike" cap="none" dirty="0">
                          <a:latin typeface="游ゴシック" panose="020B0400000000000000" pitchFamily="50" charset="-128"/>
                          <a:ea typeface="游ゴシック" panose="020B0400000000000000" pitchFamily="50" charset="-128"/>
                        </a:rPr>
                      </a:br>
                      <a:r>
                        <a:rPr lang="ja" sz="600" u="none" strike="noStrike" cap="none" dirty="0">
                          <a:latin typeface="游ゴシック" panose="020B0400000000000000" pitchFamily="50" charset="-128"/>
                          <a:ea typeface="游ゴシック" panose="020B0400000000000000" pitchFamily="50" charset="-128"/>
                        </a:rPr>
                        <a:t>RDD/UDF/ML全て移植が必要</a:t>
                      </a:r>
                      <a:endParaRPr sz="1400" u="none" strike="noStrike" cap="none" dirty="0"/>
                    </a:p>
                  </a:txBody>
                  <a:tcPr marL="68600" marR="68600" marT="34300" marB="34300" anchor="ctr">
                    <a:solidFill>
                      <a:srgbClr val="F2DADA"/>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EMR上で動作可能</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ただしGlue PySpark は制約あり</a:t>
                      </a:r>
                      <a:endParaRPr sz="1400" u="none" strike="noStrike" cap="none" dirty="0"/>
                    </a:p>
                  </a:txBody>
                  <a:tcPr marL="68600" marR="68600" marT="34300" marB="34300" anchor="ctr">
                    <a:solidFill>
                      <a:srgbClr val="FFFFFF"/>
                    </a:solidFill>
                  </a:tcPr>
                </a:tc>
                <a:extLst>
                  <a:ext uri="{0D108BD9-81ED-4DB2-BD59-A6C34878D82A}">
                    <a16:rowId xmlns:a16="http://schemas.microsoft.com/office/drawing/2014/main" val="10001"/>
                  </a:ext>
                </a:extLst>
              </a:tr>
              <a:tr h="307925">
                <a:tc>
                  <a:txBody>
                    <a:bodyPr/>
                    <a:lstStyle/>
                    <a:p>
                      <a:pPr marL="0" marR="0" lvl="0" indent="0" algn="l" rtl="0">
                        <a:lnSpc>
                          <a:spcPct val="100000"/>
                        </a:lnSpc>
                        <a:spcBef>
                          <a:spcPts val="0"/>
                        </a:spcBef>
                        <a:spcAft>
                          <a:spcPts val="0"/>
                        </a:spcAft>
                        <a:buClr>
                          <a:srgbClr val="1A1A1A"/>
                        </a:buClr>
                        <a:buSzPts val="600"/>
                        <a:buFont typeface="Arial"/>
                        <a:buNone/>
                      </a:pP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AI/ML拡張性</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chemeClr val="dk1"/>
                        </a:buClr>
                        <a:buSzPts val="600"/>
                        <a:buFont typeface="Calibri"/>
                        <a:buNone/>
                      </a:pPr>
                      <a:r>
                        <a:rPr lang="ja" sz="600" u="none" strike="noStrike" cap="none" dirty="0">
                          <a:latin typeface="游ゴシック" panose="020B0400000000000000" pitchFamily="50" charset="-128"/>
                          <a:ea typeface="游ゴシック" panose="020B0400000000000000" pitchFamily="50" charset="-128"/>
                        </a:rPr>
                        <a:t>◎  MLflow, Vector Search</a:t>
                      </a:r>
                      <a:br>
                        <a:rPr lang="ja" sz="600" u="none" strike="noStrike" cap="none" dirty="0">
                          <a:latin typeface="游ゴシック" panose="020B0400000000000000" pitchFamily="50" charset="-128"/>
                          <a:ea typeface="游ゴシック" panose="020B0400000000000000" pitchFamily="50" charset="-128"/>
                        </a:rPr>
                      </a:br>
                      <a:r>
                        <a:rPr lang="ja" sz="600" u="none" strike="noStrike" cap="none" dirty="0">
                          <a:latin typeface="游ゴシック" panose="020B0400000000000000" pitchFamily="50" charset="-128"/>
                          <a:ea typeface="游ゴシック" panose="020B0400000000000000" pitchFamily="50" charset="-128"/>
                        </a:rPr>
                        <a:t>Model Serving, Feature Store</a:t>
                      </a:r>
                      <a:endParaRPr sz="1400" u="none" strike="noStrike" cap="none" dirty="0"/>
                    </a:p>
                  </a:txBody>
                  <a:tcPr marL="68600" marR="68600" marT="34300" marB="34300" anchor="ctr">
                    <a:solidFill>
                      <a:srgbClr val="EAF1DD"/>
                    </a:solidFill>
                  </a:tcPr>
                </a:tc>
                <a:tc>
                  <a:txBody>
                    <a:bodyPr/>
                    <a:lstStyle/>
                    <a:p>
                      <a:pPr marL="0" marR="0" lvl="0" indent="0" algn="l" rtl="0">
                        <a:lnSpc>
                          <a:spcPct val="100000"/>
                        </a:lnSpc>
                        <a:spcBef>
                          <a:spcPts val="0"/>
                        </a:spcBef>
                        <a:spcAft>
                          <a:spcPts val="0"/>
                        </a:spcAft>
                        <a:buClr>
                          <a:schemeClr val="dk1"/>
                        </a:buClr>
                        <a:buSzPts val="600"/>
                        <a:buFont typeface="Calibri"/>
                        <a:buNone/>
                      </a:pPr>
                      <a:r>
                        <a:rPr lang="ja" sz="600" u="none" strike="noStrike" cap="none" dirty="0">
                          <a:latin typeface="游ゴシック" panose="020B0400000000000000" pitchFamily="50" charset="-128"/>
                          <a:ea typeface="游ゴシック" panose="020B0400000000000000" pitchFamily="50" charset="-128"/>
                        </a:rPr>
                        <a:t>△  Cortex ML は発展途上</a:t>
                      </a:r>
                      <a:br>
                        <a:rPr lang="ja" sz="600" u="none" strike="noStrike" cap="none" dirty="0">
                          <a:latin typeface="游ゴシック" panose="020B0400000000000000" pitchFamily="50" charset="-128"/>
                          <a:ea typeface="游ゴシック" panose="020B0400000000000000" pitchFamily="50" charset="-128"/>
                        </a:rPr>
                      </a:br>
                      <a:r>
                        <a:rPr lang="ja" sz="600" u="none" strike="noStrike" cap="none" dirty="0">
                          <a:latin typeface="游ゴシック" panose="020B0400000000000000" pitchFamily="50" charset="-128"/>
                          <a:ea typeface="游ゴシック" panose="020B0400000000000000" pitchFamily="50" charset="-128"/>
                        </a:rPr>
                        <a:t>Databricksに比べ機能限定的</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chemeClr val="dk1"/>
                        </a:buClr>
                        <a:buSzPts val="600"/>
                        <a:buFont typeface="Calibri"/>
                        <a:buNone/>
                      </a:pPr>
                      <a:r>
                        <a:rPr lang="ja" sz="600" u="none" strike="noStrike" cap="none" dirty="0">
                          <a:latin typeface="游ゴシック" panose="020B0400000000000000" pitchFamily="50" charset="-128"/>
                          <a:ea typeface="游ゴシック" panose="020B0400000000000000" pitchFamily="50" charset="-128"/>
                        </a:rPr>
                        <a:t>○  SageMaker連携可能</a:t>
                      </a:r>
                      <a:br>
                        <a:rPr lang="ja" sz="600" u="none" strike="noStrike" cap="none" dirty="0">
                          <a:latin typeface="游ゴシック" panose="020B0400000000000000" pitchFamily="50" charset="-128"/>
                          <a:ea typeface="游ゴシック" panose="020B0400000000000000" pitchFamily="50" charset="-128"/>
                        </a:rPr>
                      </a:br>
                      <a:r>
                        <a:rPr lang="ja" sz="600" u="none" strike="noStrike" cap="none" dirty="0">
                          <a:latin typeface="游ゴシック" panose="020B0400000000000000" pitchFamily="50" charset="-128"/>
                          <a:ea typeface="游ゴシック" panose="020B0400000000000000" pitchFamily="50" charset="-128"/>
                        </a:rPr>
                        <a:t>ただし統合度は低い</a:t>
                      </a:r>
                      <a:endParaRPr sz="1400" u="none" strike="noStrike" cap="none" dirty="0"/>
                    </a:p>
                  </a:txBody>
                  <a:tcPr marL="68600" marR="68600" marT="34300" marB="34300" anchor="ctr">
                    <a:solidFill>
                      <a:srgbClr val="F5F5F5"/>
                    </a:solidFill>
                  </a:tcPr>
                </a:tc>
                <a:extLst>
                  <a:ext uri="{0D108BD9-81ED-4DB2-BD59-A6C34878D82A}">
                    <a16:rowId xmlns:a16="http://schemas.microsoft.com/office/drawing/2014/main" val="10002"/>
                  </a:ext>
                </a:extLst>
              </a:tr>
              <a:tr h="307925">
                <a:tc>
                  <a:txBody>
                    <a:bodyPr/>
                    <a:lstStyle/>
                    <a:p>
                      <a:pPr marL="0" marR="0" lvl="0" indent="0" algn="l" rtl="0">
                        <a:lnSpc>
                          <a:spcPct val="100000"/>
                        </a:lnSpc>
                        <a:spcBef>
                          <a:spcPts val="0"/>
                        </a:spcBef>
                        <a:spcAft>
                          <a:spcPts val="0"/>
                        </a:spcAft>
                        <a:buClr>
                          <a:srgbClr val="1A1A1A"/>
                        </a:buClr>
                        <a:buSzPts val="600"/>
                        <a:buFont typeface="Arial"/>
                        <a:buNone/>
                      </a:pP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ベンダーロックイン</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chemeClr val="dk1"/>
                        </a:buClr>
                        <a:buSzPts val="600"/>
                        <a:buFont typeface="Calibri"/>
                        <a:buNone/>
                      </a:pPr>
                      <a:r>
                        <a:rPr lang="ja" sz="600" u="none" strike="noStrike" cap="none" dirty="0">
                          <a:latin typeface="游ゴシック" panose="020B0400000000000000" pitchFamily="50" charset="-128"/>
                          <a:ea typeface="游ゴシック" panose="020B0400000000000000" pitchFamily="50" charset="-128"/>
                        </a:rPr>
                        <a:t>○  Unity Catalog OSS化</a:t>
                      </a:r>
                      <a:br>
                        <a:rPr lang="ja" sz="600" u="none" strike="noStrike" cap="none" dirty="0">
                          <a:latin typeface="游ゴシック" panose="020B0400000000000000" pitchFamily="50" charset="-128"/>
                          <a:ea typeface="游ゴシック" panose="020B0400000000000000" pitchFamily="50" charset="-128"/>
                        </a:rPr>
                      </a:br>
                      <a:r>
                        <a:rPr lang="ja" sz="600" u="none" strike="noStrike" cap="none" dirty="0">
                          <a:latin typeface="游ゴシック" panose="020B0400000000000000" pitchFamily="50" charset="-128"/>
                          <a:ea typeface="游ゴシック" panose="020B0400000000000000" pitchFamily="50" charset="-128"/>
                        </a:rPr>
                        <a:t>で懸念が大幅に軽減</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chemeClr val="dk1"/>
                        </a:buClr>
                        <a:buSzPts val="600"/>
                        <a:buFont typeface="Calibri"/>
                        <a:buNone/>
                      </a:pPr>
                      <a:r>
                        <a:rPr lang="ja" sz="600" u="none" strike="noStrike" cap="none" dirty="0">
                          <a:latin typeface="游ゴシック" panose="020B0400000000000000" pitchFamily="50" charset="-128"/>
                          <a:ea typeface="游ゴシック" panose="020B0400000000000000" pitchFamily="50" charset="-128"/>
                        </a:rPr>
                        <a:t>×  独自形式でデータ保持</a:t>
                      </a:r>
                      <a:br>
                        <a:rPr lang="ja" sz="600" u="none" strike="noStrike" cap="none" dirty="0">
                          <a:latin typeface="游ゴシック" panose="020B0400000000000000" pitchFamily="50" charset="-128"/>
                          <a:ea typeface="游ゴシック" panose="020B0400000000000000" pitchFamily="50" charset="-128"/>
                        </a:rPr>
                      </a:br>
                      <a:r>
                        <a:rPr lang="ja" sz="600" u="none" strike="noStrike" cap="none" dirty="0">
                          <a:latin typeface="游ゴシック" panose="020B0400000000000000" pitchFamily="50" charset="-128"/>
                          <a:ea typeface="游ゴシック" panose="020B0400000000000000" pitchFamily="50" charset="-128"/>
                        </a:rPr>
                        <a:t>エクスポートにコスト発生</a:t>
                      </a:r>
                      <a:endParaRPr sz="1400" u="none" strike="noStrike" cap="none" dirty="0"/>
                    </a:p>
                  </a:txBody>
                  <a:tcPr marL="68600" marR="68600" marT="34300" marB="34300" anchor="ctr">
                    <a:solidFill>
                      <a:srgbClr val="F2DADA"/>
                    </a:solidFill>
                  </a:tcPr>
                </a:tc>
                <a:tc>
                  <a:txBody>
                    <a:bodyPr/>
                    <a:lstStyle/>
                    <a:p>
                      <a:pPr marL="0" marR="0" lvl="0" indent="0" algn="l" rtl="0">
                        <a:lnSpc>
                          <a:spcPct val="100000"/>
                        </a:lnSpc>
                        <a:spcBef>
                          <a:spcPts val="0"/>
                        </a:spcBef>
                        <a:spcAft>
                          <a:spcPts val="0"/>
                        </a:spcAft>
                        <a:buClr>
                          <a:schemeClr val="dk1"/>
                        </a:buClr>
                        <a:buSzPts val="600"/>
                        <a:buFont typeface="Calibri"/>
                        <a:buNone/>
                      </a:pPr>
                      <a:r>
                        <a:rPr lang="ja" sz="600" u="none" strike="noStrike" cap="none" dirty="0">
                          <a:latin typeface="游ゴシック" panose="020B0400000000000000" pitchFamily="50" charset="-128"/>
                          <a:ea typeface="游ゴシック" panose="020B0400000000000000" pitchFamily="50" charset="-128"/>
                        </a:rPr>
                        <a:t>◎  OSSベース</a:t>
                      </a:r>
                      <a:br>
                        <a:rPr lang="ja" sz="600" u="none" strike="noStrike" cap="none" dirty="0">
                          <a:latin typeface="游ゴシック" panose="020B0400000000000000" pitchFamily="50" charset="-128"/>
                          <a:ea typeface="游ゴシック" panose="020B0400000000000000" pitchFamily="50" charset="-128"/>
                        </a:rPr>
                      </a:br>
                      <a:r>
                        <a:rPr lang="ja" sz="600" u="none" strike="noStrike" cap="none" dirty="0">
                          <a:latin typeface="游ゴシック" panose="020B0400000000000000" pitchFamily="50" charset="-128"/>
                          <a:ea typeface="游ゴシック" panose="020B0400000000000000" pitchFamily="50" charset="-128"/>
                        </a:rPr>
                        <a:t>S3 + Iceberg で中立性高い</a:t>
                      </a:r>
                      <a:endParaRPr sz="1400" u="none" strike="noStrike" cap="none" dirty="0"/>
                    </a:p>
                  </a:txBody>
                  <a:tcPr marL="68600" marR="68600" marT="34300" marB="34300" anchor="ctr">
                    <a:solidFill>
                      <a:srgbClr val="EAF1DD"/>
                    </a:solidFill>
                  </a:tcPr>
                </a:tc>
                <a:extLst>
                  <a:ext uri="{0D108BD9-81ED-4DB2-BD59-A6C34878D82A}">
                    <a16:rowId xmlns:a16="http://schemas.microsoft.com/office/drawing/2014/main" val="10003"/>
                  </a:ext>
                </a:extLst>
              </a:tr>
              <a:tr h="307925">
                <a:tc>
                  <a:txBody>
                    <a:bodyPr/>
                    <a:lstStyle/>
                    <a:p>
                      <a:pPr marL="0" marR="0" lvl="0" indent="0" algn="l" rtl="0">
                        <a:lnSpc>
                          <a:spcPct val="100000"/>
                        </a:lnSpc>
                        <a:spcBef>
                          <a:spcPts val="0"/>
                        </a:spcBef>
                        <a:spcAft>
                          <a:spcPts val="0"/>
                        </a:spcAft>
                        <a:buClr>
                          <a:srgbClr val="1A1A1A"/>
                        </a:buClr>
                        <a:buSzPts val="600"/>
                        <a:buFont typeface="Arial"/>
                        <a:buNone/>
                      </a:pP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運用負荷</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chemeClr val="dk1"/>
                        </a:buClr>
                        <a:buSzPts val="600"/>
                        <a:buFont typeface="Calibri"/>
                        <a:buNone/>
                      </a:pPr>
                      <a:r>
                        <a:rPr lang="ja" sz="600" u="none" strike="noStrike" cap="none" dirty="0">
                          <a:latin typeface="游ゴシック" panose="020B0400000000000000" pitchFamily="50" charset="-128"/>
                          <a:ea typeface="游ゴシック" panose="020B0400000000000000" pitchFamily="50" charset="-128"/>
                        </a:rPr>
                        <a:t>◎  統合プラットフォーム</a:t>
                      </a:r>
                      <a:br>
                        <a:rPr lang="ja" sz="600" u="none" strike="noStrike" cap="none" dirty="0">
                          <a:latin typeface="游ゴシック" panose="020B0400000000000000" pitchFamily="50" charset="-128"/>
                          <a:ea typeface="游ゴシック" panose="020B0400000000000000" pitchFamily="50" charset="-128"/>
                        </a:rPr>
                      </a:br>
                      <a:r>
                        <a:rPr lang="ja" sz="600" u="none" strike="noStrike" cap="none" dirty="0">
                          <a:latin typeface="游ゴシック" panose="020B0400000000000000" pitchFamily="50" charset="-128"/>
                          <a:ea typeface="游ゴシック" panose="020B0400000000000000" pitchFamily="50" charset="-128"/>
                        </a:rPr>
                        <a:t>Foundryに最も近い体験</a:t>
                      </a:r>
                      <a:endParaRPr sz="1400" u="none" strike="noStrike" cap="none" dirty="0"/>
                    </a:p>
                  </a:txBody>
                  <a:tcPr marL="68600" marR="68600" marT="34300" marB="34300" anchor="ctr">
                    <a:solidFill>
                      <a:srgbClr val="EAF1DD"/>
                    </a:solidFill>
                  </a:tcPr>
                </a:tc>
                <a:tc>
                  <a:txBody>
                    <a:bodyPr/>
                    <a:lstStyle/>
                    <a:p>
                      <a:pPr marL="0" marR="0" lvl="0" indent="0" algn="l" rtl="0">
                        <a:lnSpc>
                          <a:spcPct val="100000"/>
                        </a:lnSpc>
                        <a:spcBef>
                          <a:spcPts val="0"/>
                        </a:spcBef>
                        <a:spcAft>
                          <a:spcPts val="0"/>
                        </a:spcAft>
                        <a:buClr>
                          <a:schemeClr val="dk1"/>
                        </a:buClr>
                        <a:buSzPts val="600"/>
                        <a:buFont typeface="Calibri"/>
                        <a:buNone/>
                      </a:pPr>
                      <a:r>
                        <a:rPr lang="ja" sz="600" u="none" strike="noStrike" cap="none" dirty="0">
                          <a:latin typeface="游ゴシック" panose="020B0400000000000000" pitchFamily="50" charset="-128"/>
                          <a:ea typeface="游ゴシック" panose="020B0400000000000000" pitchFamily="50" charset="-128"/>
                        </a:rPr>
                        <a:t>◎  フルマネージド</a:t>
                      </a:r>
                      <a:br>
                        <a:rPr lang="ja" sz="600" u="none" strike="noStrike" cap="none" dirty="0">
                          <a:latin typeface="游ゴシック" panose="020B0400000000000000" pitchFamily="50" charset="-128"/>
                          <a:ea typeface="游ゴシック" panose="020B0400000000000000" pitchFamily="50" charset="-128"/>
                        </a:rPr>
                      </a:br>
                      <a:r>
                        <a:rPr lang="ja" sz="600" u="none" strike="noStrike" cap="none" dirty="0">
                          <a:latin typeface="游ゴシック" panose="020B0400000000000000" pitchFamily="50" charset="-128"/>
                          <a:ea typeface="游ゴシック" panose="020B0400000000000000" pitchFamily="50" charset="-128"/>
                        </a:rPr>
                        <a:t>運用負荷は最小</a:t>
                      </a:r>
                      <a:endParaRPr sz="1400" u="none" strike="noStrike" cap="none" dirty="0"/>
                    </a:p>
                  </a:txBody>
                  <a:tcPr marL="68600" marR="68600" marT="34300" marB="34300" anchor="ctr">
                    <a:solidFill>
                      <a:srgbClr val="EAF1DD"/>
                    </a:solidFill>
                  </a:tcPr>
                </a:tc>
                <a:tc>
                  <a:txBody>
                    <a:bodyPr/>
                    <a:lstStyle/>
                    <a:p>
                      <a:pPr marL="0" marR="0" lvl="0" indent="0" algn="l" rtl="0">
                        <a:lnSpc>
                          <a:spcPct val="100000"/>
                        </a:lnSpc>
                        <a:spcBef>
                          <a:spcPts val="0"/>
                        </a:spcBef>
                        <a:spcAft>
                          <a:spcPts val="0"/>
                        </a:spcAft>
                        <a:buClr>
                          <a:schemeClr val="dk1"/>
                        </a:buClr>
                        <a:buSzPts val="600"/>
                        <a:buFont typeface="Calibri"/>
                        <a:buNone/>
                      </a:pPr>
                      <a:r>
                        <a:rPr lang="ja" sz="600" u="none" strike="noStrike" cap="none" dirty="0">
                          <a:latin typeface="游ゴシック" panose="020B0400000000000000" pitchFamily="50" charset="-128"/>
                          <a:ea typeface="游ゴシック" panose="020B0400000000000000" pitchFamily="50" charset="-128"/>
                        </a:rPr>
                        <a:t>×  6-8個のサービス統合</a:t>
                      </a:r>
                      <a:br>
                        <a:rPr lang="ja" sz="600" u="none" strike="noStrike" cap="none" dirty="0">
                          <a:latin typeface="游ゴシック" panose="020B0400000000000000" pitchFamily="50" charset="-128"/>
                          <a:ea typeface="游ゴシック" panose="020B0400000000000000" pitchFamily="50" charset="-128"/>
                        </a:rPr>
                      </a:br>
                      <a:r>
                        <a:rPr lang="ja" sz="600" u="none" strike="noStrike" cap="none" dirty="0">
                          <a:latin typeface="游ゴシック" panose="020B0400000000000000" pitchFamily="50" charset="-128"/>
                          <a:ea typeface="游ゴシック" panose="020B0400000000000000" pitchFamily="50" charset="-128"/>
                        </a:rPr>
                        <a:t>障害切り分けが複雑</a:t>
                      </a:r>
                      <a:endParaRPr sz="1400" u="none" strike="noStrike" cap="none" dirty="0"/>
                    </a:p>
                  </a:txBody>
                  <a:tcPr marL="68600" marR="68600" marT="34300" marB="34300" anchor="ctr">
                    <a:solidFill>
                      <a:srgbClr val="F2DADA"/>
                    </a:solidFill>
                  </a:tcPr>
                </a:tc>
                <a:extLst>
                  <a:ext uri="{0D108BD9-81ED-4DB2-BD59-A6C34878D82A}">
                    <a16:rowId xmlns:a16="http://schemas.microsoft.com/office/drawing/2014/main" val="10004"/>
                  </a:ext>
                </a:extLst>
              </a:tr>
              <a:tr h="307925">
                <a:tc>
                  <a:txBody>
                    <a:bodyPr/>
                    <a:lstStyle/>
                    <a:p>
                      <a:pPr marL="0" marR="0" lvl="0" indent="0" algn="l" rtl="0">
                        <a:lnSpc>
                          <a:spcPct val="100000"/>
                        </a:lnSpc>
                        <a:spcBef>
                          <a:spcPts val="0"/>
                        </a:spcBef>
                        <a:spcAft>
                          <a:spcPts val="0"/>
                        </a:spcAft>
                        <a:buClr>
                          <a:srgbClr val="1A1A1A"/>
                        </a:buClr>
                        <a:buSzPts val="600"/>
                        <a:buFont typeface="Arial"/>
                        <a:buNone/>
                      </a:pP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人材確保</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chemeClr val="dk1"/>
                        </a:buClr>
                        <a:buSzPts val="600"/>
                        <a:buFont typeface="Calibri"/>
                        <a:buNone/>
                      </a:pPr>
                      <a:r>
                        <a:rPr lang="ja" sz="600" u="none" strike="noStrike" cap="none" dirty="0">
                          <a:latin typeface="游ゴシック" panose="020B0400000000000000" pitchFamily="50" charset="-128"/>
                          <a:ea typeface="游ゴシック" panose="020B0400000000000000" pitchFamily="50" charset="-128"/>
                        </a:rPr>
                        <a:t>○  Spark/Python人材</a:t>
                      </a:r>
                      <a:br>
                        <a:rPr lang="ja" sz="600" u="none" strike="noStrike" cap="none" dirty="0">
                          <a:latin typeface="游ゴシック" panose="020B0400000000000000" pitchFamily="50" charset="-128"/>
                          <a:ea typeface="游ゴシック" panose="020B0400000000000000" pitchFamily="50" charset="-128"/>
                        </a:rPr>
                      </a:br>
                      <a:r>
                        <a:rPr lang="ja" sz="600" u="none" strike="noStrike" cap="none" dirty="0">
                          <a:latin typeface="游ゴシック" panose="020B0400000000000000" pitchFamily="50" charset="-128"/>
                          <a:ea typeface="游ゴシック" panose="020B0400000000000000" pitchFamily="50" charset="-128"/>
                        </a:rPr>
                        <a:t>市場に比較的多い</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SQL中心で敷居は低い</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ただしSnowpark人材は少数</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chemeClr val="dk1"/>
                        </a:buClr>
                        <a:buSzPts val="600"/>
                        <a:buFont typeface="Calibri"/>
                        <a:buNone/>
                      </a:pPr>
                      <a:r>
                        <a:rPr lang="ja" sz="600" u="none" strike="noStrike" cap="none" dirty="0">
                          <a:latin typeface="游ゴシック" panose="020B0400000000000000" pitchFamily="50" charset="-128"/>
                          <a:ea typeface="游ゴシック" panose="020B0400000000000000" pitchFamily="50" charset="-128"/>
                        </a:rPr>
                        <a:t>△  AWSインフラスキル</a:t>
                      </a:r>
                      <a:br>
                        <a:rPr lang="ja" sz="600" u="none" strike="noStrike" cap="none" dirty="0">
                          <a:latin typeface="游ゴシック" panose="020B0400000000000000" pitchFamily="50" charset="-128"/>
                          <a:ea typeface="游ゴシック" panose="020B0400000000000000" pitchFamily="50" charset="-128"/>
                        </a:rPr>
                      </a:br>
                      <a:r>
                        <a:rPr lang="ja" sz="600" u="none" strike="noStrike" cap="none" dirty="0">
                          <a:latin typeface="游ゴシック" panose="020B0400000000000000" pitchFamily="50" charset="-128"/>
                          <a:ea typeface="游ゴシック" panose="020B0400000000000000" pitchFamily="50" charset="-128"/>
                        </a:rPr>
                        <a:t>全サービス横断の人材が困難</a:t>
                      </a:r>
                      <a:endParaRPr sz="1400" u="none" strike="noStrike" cap="none" dirty="0"/>
                    </a:p>
                  </a:txBody>
                  <a:tcPr marL="68600" marR="68600" marT="34300" marB="34300" anchor="ctr">
                    <a:solidFill>
                      <a:srgbClr val="FFFFFF"/>
                    </a:solidFill>
                  </a:tcPr>
                </a:tc>
                <a:extLst>
                  <a:ext uri="{0D108BD9-81ED-4DB2-BD59-A6C34878D82A}">
                    <a16:rowId xmlns:a16="http://schemas.microsoft.com/office/drawing/2014/main" val="10005"/>
                  </a:ext>
                </a:extLst>
              </a:tr>
              <a:tr h="307925">
                <a:tc>
                  <a:txBody>
                    <a:bodyPr/>
                    <a:lstStyle/>
                    <a:p>
                      <a:pPr marL="0" marR="0" lvl="0" indent="0" algn="l" rtl="0">
                        <a:lnSpc>
                          <a:spcPct val="100000"/>
                        </a:lnSpc>
                        <a:spcBef>
                          <a:spcPts val="0"/>
                        </a:spcBef>
                        <a:spcAft>
                          <a:spcPts val="0"/>
                        </a:spcAft>
                        <a:buClr>
                          <a:srgbClr val="1A1A1A"/>
                        </a:buClr>
                        <a:buSzPts val="600"/>
                        <a:buFont typeface="Arial"/>
                        <a:buNone/>
                      </a:pP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コスト</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中程度</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Commit割引で最適化可能</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高め</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PySpark書き換え工数も加算</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chemeClr val="dk1"/>
                        </a:buClr>
                        <a:buSzPts val="600"/>
                        <a:buFont typeface="Calibri"/>
                        <a:buNone/>
                      </a:pPr>
                      <a:r>
                        <a:rPr lang="ja" sz="600" u="none" strike="noStrike" cap="none" dirty="0">
                          <a:latin typeface="游ゴシック" panose="020B0400000000000000" pitchFamily="50" charset="-128"/>
                          <a:ea typeface="游ゴシック" panose="020B0400000000000000" pitchFamily="50" charset="-128"/>
                        </a:rPr>
                        <a:t>○  最安</a:t>
                      </a:r>
                      <a:br>
                        <a:rPr lang="ja" sz="600" u="none" strike="noStrike" cap="none" dirty="0">
                          <a:latin typeface="游ゴシック" panose="020B0400000000000000" pitchFamily="50" charset="-128"/>
                          <a:ea typeface="游ゴシック" panose="020B0400000000000000" pitchFamily="50" charset="-128"/>
                        </a:rPr>
                      </a:br>
                      <a:r>
                        <a:rPr lang="ja" sz="600" u="none" strike="noStrike" cap="none" dirty="0">
                          <a:latin typeface="游ゴシック" panose="020B0400000000000000" pitchFamily="50" charset="-128"/>
                          <a:ea typeface="游ゴシック" panose="020B0400000000000000" pitchFamily="50" charset="-128"/>
                        </a:rPr>
                        <a:t>ただし人件費含むと差は縮小</a:t>
                      </a:r>
                      <a:endParaRPr sz="1400" u="none" strike="noStrike" cap="none" dirty="0"/>
                    </a:p>
                  </a:txBody>
                  <a:tcPr marL="68600" marR="68600" marT="34300" marB="34300" anchor="ctr">
                    <a:solidFill>
                      <a:srgbClr val="F5F5F5"/>
                    </a:solidFill>
                  </a:tcPr>
                </a:tc>
                <a:extLst>
                  <a:ext uri="{0D108BD9-81ED-4DB2-BD59-A6C34878D82A}">
                    <a16:rowId xmlns:a16="http://schemas.microsoft.com/office/drawing/2014/main" val="10006"/>
                  </a:ext>
                </a:extLst>
              </a:tr>
            </a:tbl>
          </a:graphicData>
        </a:graphic>
      </p:graphicFrame>
      <p:sp>
        <p:nvSpPr>
          <p:cNvPr id="516" name="Google Shape;516;p24"/>
          <p:cNvSpPr/>
          <p:nvPr/>
        </p:nvSpPr>
        <p:spPr>
          <a:xfrm>
            <a:off x="411480" y="4217670"/>
            <a:ext cx="34290" cy="651510"/>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17" name="Google Shape;517;p24"/>
          <p:cNvSpPr/>
          <p:nvPr/>
        </p:nvSpPr>
        <p:spPr>
          <a:xfrm>
            <a:off x="445770" y="4217670"/>
            <a:ext cx="8263890" cy="651510"/>
          </a:xfrm>
          <a:prstGeom prst="rect">
            <a:avLst/>
          </a:prstGeom>
          <a:solidFill>
            <a:srgbClr val="E8EFF5"/>
          </a:solidFill>
          <a:ln>
            <a:noFill/>
          </a:ln>
          <a:effectLst>
            <a:outerShdw blurRad="40000" dist="23000" dir="5400000" rotWithShape="0">
              <a:srgbClr val="000000">
                <a:alpha val="34901"/>
              </a:srgbClr>
            </a:outerShdw>
          </a:effectLst>
        </p:spPr>
        <p:txBody>
          <a:bodyPr spcFirstLastPara="1" wrap="square" lIns="1028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結論：</a:t>
            </a:r>
            <a:r>
              <a:rPr lang="ja-JP" altLang="en-US" sz="750" b="1" i="0" u="none" strike="noStrike" cap="none" dirty="0">
                <a:solidFill>
                  <a:srgbClr val="1B3A5C"/>
                </a:solidFill>
                <a:latin typeface="游ゴシック" panose="020B0400000000000000" pitchFamily="50" charset="-128"/>
                <a:ea typeface="游ゴシック" panose="020B0400000000000000" pitchFamily="50" charset="-128"/>
                <a:sym typeface="Arial"/>
              </a:rPr>
              <a:t>現時点の技術評価では</a:t>
            </a:r>
            <a:r>
              <a:rPr lang="en" altLang="ja-JP" sz="750" b="1" i="0" u="none" strike="noStrike" cap="none" dirty="0">
                <a:solidFill>
                  <a:srgbClr val="1B3A5C"/>
                </a:solidFill>
                <a:latin typeface="游ゴシック" panose="020B0400000000000000" pitchFamily="50" charset="-128"/>
                <a:ea typeface="游ゴシック" panose="020B0400000000000000" pitchFamily="50" charset="-128"/>
                <a:sym typeface="Arial"/>
              </a:rPr>
              <a:t>Databricks</a:t>
            </a:r>
            <a:r>
              <a:rPr lang="ja-JP" altLang="en-US" sz="750" b="1" i="0" u="none" strike="noStrike" cap="none" dirty="0">
                <a:solidFill>
                  <a:srgbClr val="1B3A5C"/>
                </a:solidFill>
                <a:latin typeface="游ゴシック" panose="020B0400000000000000" pitchFamily="50" charset="-128"/>
                <a:ea typeface="游ゴシック" panose="020B0400000000000000" pitchFamily="50" charset="-128"/>
                <a:sym typeface="Arial"/>
              </a:rPr>
              <a:t>が最有力候補</a:t>
            </a:r>
            <a:endParaRPr lang="en-US" altLang="ja-JP" sz="750" b="1" i="0" u="none" strike="noStrike" cap="none" dirty="0">
              <a:solidFill>
                <a:srgbClr val="1B3A5C"/>
              </a:solidFill>
              <a:latin typeface="游ゴシック" panose="020B0400000000000000" pitchFamily="50" charset="-128"/>
              <a:ea typeface="游ゴシック" panose="020B0400000000000000" pitchFamily="50" charset="-128"/>
              <a:sym typeface="Arial"/>
            </a:endParaRPr>
          </a:p>
          <a:p>
            <a:pPr marL="0" marR="0" lvl="0" indent="0" algn="ctr" rtl="0">
              <a:lnSpc>
                <a:spcPct val="100000"/>
              </a:lnSpc>
              <a:spcBef>
                <a:spcPts val="0"/>
              </a:spcBef>
              <a:spcAft>
                <a:spcPts val="0"/>
              </a:spcAft>
              <a:buClr>
                <a:srgbClr val="000000"/>
              </a:buClr>
              <a:buSzPts val="750"/>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PySpark互換性、AI拡張性、Unity Catalogのオープン性が、Foundry移行の要件に最も合致する。</a:t>
            </a:r>
            <a:b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b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SnowflakeはPySpark書き換えコスト大、AWS NativeはOSS運用工数が見えにくいリスクあり。</a:t>
            </a:r>
            <a:endParaRPr sz="1350" b="0" i="0" u="none" strike="noStrike" cap="none" dirty="0">
              <a:solidFill>
                <a:schemeClr val="dk1"/>
              </a:solidFill>
              <a:latin typeface="Calibri"/>
              <a:ea typeface="Calibri"/>
              <a:cs typeface="Calibri"/>
              <a:sym typeface="Calibri"/>
            </a:endParaRPr>
          </a:p>
        </p:txBody>
      </p:sp>
      <p:sp>
        <p:nvSpPr>
          <p:cNvPr id="518" name="Google Shape;518;p24"/>
          <p:cNvSpPr txBox="1"/>
          <p:nvPr/>
        </p:nvSpPr>
        <p:spPr>
          <a:xfrm>
            <a:off x="8366760" y="4834890"/>
            <a:ext cx="548640" cy="161552"/>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7</a:t>
            </a:r>
            <a:endParaRPr sz="1350" b="0" i="0" u="none" strike="noStrike" cap="none" dirty="0">
              <a:solidFill>
                <a:schemeClr val="dk1"/>
              </a:solidFill>
              <a:latin typeface="Calibri"/>
              <a:ea typeface="Calibri"/>
              <a:cs typeface="Calibri"/>
              <a:sym typeface="Calibri"/>
            </a:endParaRPr>
          </a:p>
        </p:txBody>
      </p:sp>
      <p:sp>
        <p:nvSpPr>
          <p:cNvPr id="519" name="Google Shape;519;p24"/>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別紙A-5</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520" name="Google Shape;520;p24"/>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521" name="Google Shape;521;p24"/>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522" name="Google Shape;522;p24"/>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別紙A-5</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25"/>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28" name="Google Shape;528;p25"/>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3</a:t>
            </a:r>
            <a:endParaRPr sz="1350" b="0" i="0" u="none" strike="noStrike" cap="none" dirty="0">
              <a:solidFill>
                <a:schemeClr val="lt1"/>
              </a:solidFill>
              <a:latin typeface="Calibri"/>
              <a:ea typeface="Calibri"/>
              <a:cs typeface="Calibri"/>
              <a:sym typeface="Calibri"/>
            </a:endParaRPr>
          </a:p>
        </p:txBody>
      </p:sp>
      <p:sp>
        <p:nvSpPr>
          <p:cNvPr id="529" name="Google Shape;529;p25"/>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BI層にSnowflakeを挟む必要性</a:t>
            </a:r>
            <a:endParaRPr sz="1350" b="0" i="0" u="none" strike="noStrike" cap="none" dirty="0">
              <a:solidFill>
                <a:schemeClr val="dk1"/>
              </a:solidFill>
              <a:latin typeface="Calibri"/>
              <a:ea typeface="Calibri"/>
              <a:cs typeface="Calibri"/>
              <a:sym typeface="Calibri"/>
            </a:endParaRPr>
          </a:p>
        </p:txBody>
      </p:sp>
      <p:sp>
        <p:nvSpPr>
          <p:cNvPr id="530" name="Google Shape;530;p25"/>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よくあるパターン（Databricks ETL + Snowflake）は必要か？</a:t>
            </a:r>
            <a:endParaRPr sz="1350" b="0" i="0" u="none" strike="noStrike" cap="none" dirty="0">
              <a:solidFill>
                <a:schemeClr val="dk1"/>
              </a:solidFill>
              <a:latin typeface="Calibri"/>
              <a:ea typeface="Calibri"/>
              <a:cs typeface="Calibri"/>
              <a:sym typeface="Calibri"/>
            </a:endParaRPr>
          </a:p>
        </p:txBody>
      </p:sp>
      <p:sp>
        <p:nvSpPr>
          <p:cNvPr id="531" name="Google Shape;531;p25"/>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32" name="Google Shape;532;p25"/>
          <p:cNvSpPr txBox="1"/>
          <p:nvPr/>
        </p:nvSpPr>
        <p:spPr>
          <a:xfrm>
            <a:off x="480060" y="891540"/>
            <a:ext cx="82296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1" i="0" u="none" strike="noStrike" cap="none" dirty="0">
                <a:solidFill>
                  <a:srgbClr val="1A1A1A"/>
                </a:solidFill>
                <a:latin typeface="游ゴシック" panose="020B0400000000000000" pitchFamily="50" charset="-128"/>
                <a:ea typeface="游ゴシック" panose="020B0400000000000000" pitchFamily="50" charset="-128"/>
                <a:sym typeface="Arial"/>
              </a:rPr>
              <a:t>以前はTableau同時多数接続にSnowflakeを挟むメリットがあったが、現在は性能差は実運用では少なく、コストと手間だけ重くなる設計。</a:t>
            </a:r>
            <a:endParaRPr sz="1350" b="0" i="0" u="none" strike="noStrike" cap="none" dirty="0">
              <a:solidFill>
                <a:schemeClr val="dk1"/>
              </a:solidFill>
              <a:latin typeface="Calibri"/>
              <a:ea typeface="Calibri"/>
              <a:cs typeface="Calibri"/>
              <a:sym typeface="Calibri"/>
            </a:endParaRPr>
          </a:p>
        </p:txBody>
      </p:sp>
      <p:sp>
        <p:nvSpPr>
          <p:cNvPr id="533" name="Google Shape;533;p25"/>
          <p:cNvSpPr txBox="1"/>
          <p:nvPr/>
        </p:nvSpPr>
        <p:spPr>
          <a:xfrm>
            <a:off x="480060" y="1200150"/>
            <a:ext cx="3771900" cy="1846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666666"/>
                </a:solidFill>
                <a:latin typeface="游ゴシック" panose="020B0400000000000000" pitchFamily="50" charset="-128"/>
                <a:ea typeface="游ゴシック" panose="020B0400000000000000" pitchFamily="50" charset="-128"/>
                <a:sym typeface="Arial"/>
              </a:rPr>
              <a:t>パターンA：Snowflakeを挟む構成</a:t>
            </a:r>
            <a:endParaRPr sz="1350" b="0" i="0" u="none" strike="noStrike" cap="none" dirty="0">
              <a:solidFill>
                <a:schemeClr val="dk1"/>
              </a:solidFill>
              <a:latin typeface="Calibri"/>
              <a:ea typeface="Calibri"/>
              <a:cs typeface="Calibri"/>
              <a:sym typeface="Calibri"/>
            </a:endParaRPr>
          </a:p>
        </p:txBody>
      </p:sp>
      <p:sp>
        <p:nvSpPr>
          <p:cNvPr id="534" name="Google Shape;534;p25"/>
          <p:cNvSpPr/>
          <p:nvPr/>
        </p:nvSpPr>
        <p:spPr>
          <a:xfrm>
            <a:off x="548640" y="1440180"/>
            <a:ext cx="1028700" cy="582930"/>
          </a:xfrm>
          <a:prstGeom prst="roundRect">
            <a:avLst>
              <a:gd name="adj" fmla="val 16667"/>
            </a:avLst>
          </a:prstGeom>
          <a:solidFill>
            <a:srgbClr val="5F497A"/>
          </a:solidFill>
          <a:ln>
            <a:noFill/>
          </a:ln>
          <a:effectLst>
            <a:outerShdw blurRad="40000" dist="23000" dir="5400000" rotWithShape="0">
              <a:srgbClr val="000000">
                <a:alpha val="34901"/>
              </a:srgbClr>
            </a:outerShdw>
          </a:effectLst>
        </p:spPr>
        <p:txBody>
          <a:bodyPr spcFirstLastPara="1" wrap="square" lIns="41125" tIns="548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Databricks</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75"/>
              </a:spcBef>
              <a:spcAft>
                <a:spcPts val="0"/>
              </a:spcAft>
              <a:buClr>
                <a:srgbClr val="000000"/>
              </a:buClr>
              <a:buSzPts val="525"/>
              <a:buFont typeface="Arial"/>
              <a:buNone/>
            </a:pPr>
            <a:r>
              <a:rPr lang="ja" sz="525" b="0" i="0" u="none" strike="noStrike" cap="none" dirty="0">
                <a:solidFill>
                  <a:srgbClr val="E0E0E0"/>
                </a:solidFill>
                <a:latin typeface="游ゴシック" panose="020B0400000000000000" pitchFamily="50" charset="-128"/>
                <a:ea typeface="游ゴシック" panose="020B0400000000000000" pitchFamily="50" charset="-128"/>
                <a:sym typeface="Arial"/>
              </a:rPr>
              <a:t>ETL / データ加工</a:t>
            </a:r>
            <a:endParaRPr sz="1350" b="0" i="0" u="none" strike="noStrike" cap="none" dirty="0">
              <a:solidFill>
                <a:schemeClr val="dk1"/>
              </a:solidFill>
              <a:latin typeface="Calibri"/>
              <a:ea typeface="Calibri"/>
              <a:cs typeface="Calibri"/>
              <a:sym typeface="Calibri"/>
            </a:endParaRPr>
          </a:p>
        </p:txBody>
      </p:sp>
      <p:sp>
        <p:nvSpPr>
          <p:cNvPr id="535" name="Google Shape;535;p25"/>
          <p:cNvSpPr/>
          <p:nvPr/>
        </p:nvSpPr>
        <p:spPr>
          <a:xfrm>
            <a:off x="1783080" y="1440180"/>
            <a:ext cx="1028700" cy="582930"/>
          </a:xfrm>
          <a:prstGeom prst="roundRect">
            <a:avLst>
              <a:gd name="adj" fmla="val 16667"/>
            </a:avLst>
          </a:prstGeom>
          <a:solidFill>
            <a:srgbClr val="29B5E8"/>
          </a:solidFill>
          <a:ln>
            <a:noFill/>
          </a:ln>
          <a:effectLst>
            <a:outerShdw blurRad="40000" dist="23000" dir="5400000" rotWithShape="0">
              <a:srgbClr val="000000">
                <a:alpha val="34901"/>
              </a:srgbClr>
            </a:outerShdw>
          </a:effectLst>
        </p:spPr>
        <p:txBody>
          <a:bodyPr spcFirstLastPara="1" wrap="square" lIns="41125" tIns="548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Snowflake</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75"/>
              </a:spcBef>
              <a:spcAft>
                <a:spcPts val="0"/>
              </a:spcAft>
              <a:buClr>
                <a:srgbClr val="000000"/>
              </a:buClr>
              <a:buSzPts val="525"/>
              <a:buFont typeface="Arial"/>
              <a:buNone/>
            </a:pPr>
            <a:r>
              <a:rPr lang="ja" sz="525" b="0" i="0" u="none" strike="noStrike" cap="none" dirty="0">
                <a:solidFill>
                  <a:srgbClr val="E0E0E0"/>
                </a:solidFill>
                <a:latin typeface="游ゴシック" panose="020B0400000000000000" pitchFamily="50" charset="-128"/>
                <a:ea typeface="游ゴシック" panose="020B0400000000000000" pitchFamily="50" charset="-128"/>
                <a:sym typeface="Arial"/>
              </a:rPr>
              <a:t>BIサービング層</a:t>
            </a:r>
            <a:endParaRPr sz="1350" b="0" i="0" u="none" strike="noStrike" cap="none" dirty="0">
              <a:solidFill>
                <a:schemeClr val="dk1"/>
              </a:solidFill>
              <a:latin typeface="Calibri"/>
              <a:ea typeface="Calibri"/>
              <a:cs typeface="Calibri"/>
              <a:sym typeface="Calibri"/>
            </a:endParaRPr>
          </a:p>
        </p:txBody>
      </p:sp>
      <p:sp>
        <p:nvSpPr>
          <p:cNvPr id="536" name="Google Shape;536;p25"/>
          <p:cNvSpPr/>
          <p:nvPr/>
        </p:nvSpPr>
        <p:spPr>
          <a:xfrm>
            <a:off x="3017520" y="1440180"/>
            <a:ext cx="1028700" cy="582930"/>
          </a:xfrm>
          <a:prstGeom prst="roundRect">
            <a:avLst>
              <a:gd name="adj" fmla="val 16667"/>
            </a:avLst>
          </a:prstGeom>
          <a:solidFill>
            <a:schemeClr val="accent6"/>
          </a:solidFill>
          <a:ln>
            <a:noFill/>
          </a:ln>
          <a:effectLst>
            <a:outerShdw blurRad="40000" dist="23000" dir="5400000" rotWithShape="0">
              <a:srgbClr val="000000">
                <a:alpha val="34901"/>
              </a:srgbClr>
            </a:outerShdw>
          </a:effectLst>
        </p:spPr>
        <p:txBody>
          <a:bodyPr spcFirstLastPara="1" wrap="square" lIns="41125" tIns="548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Tableau</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75"/>
              </a:spcBef>
              <a:spcAft>
                <a:spcPts val="0"/>
              </a:spcAft>
              <a:buClr>
                <a:srgbClr val="000000"/>
              </a:buClr>
              <a:buSzPts val="525"/>
              <a:buFont typeface="Arial"/>
              <a:buNone/>
            </a:pPr>
            <a:r>
              <a:rPr lang="ja" sz="525" b="0" i="0" u="none" strike="noStrike" cap="none" dirty="0">
                <a:solidFill>
                  <a:srgbClr val="E0E0E0"/>
                </a:solidFill>
                <a:latin typeface="游ゴシック" panose="020B0400000000000000" pitchFamily="50" charset="-128"/>
                <a:ea typeface="游ゴシック" panose="020B0400000000000000" pitchFamily="50" charset="-128"/>
                <a:sym typeface="Arial"/>
              </a:rPr>
              <a:t>ダッシュボード</a:t>
            </a:r>
            <a:endParaRPr sz="1350" b="0" i="0" u="none" strike="noStrike" cap="none" dirty="0">
              <a:solidFill>
                <a:schemeClr val="dk1"/>
              </a:solidFill>
              <a:latin typeface="Calibri"/>
              <a:ea typeface="Calibri"/>
              <a:cs typeface="Calibri"/>
              <a:sym typeface="Calibri"/>
            </a:endParaRPr>
          </a:p>
        </p:txBody>
      </p:sp>
      <p:sp>
        <p:nvSpPr>
          <p:cNvPr id="537" name="Google Shape;537;p25"/>
          <p:cNvSpPr/>
          <p:nvPr/>
        </p:nvSpPr>
        <p:spPr>
          <a:xfrm>
            <a:off x="1611630" y="1611630"/>
            <a:ext cx="137160" cy="102870"/>
          </a:xfrm>
          <a:prstGeom prst="rightArrow">
            <a:avLst>
              <a:gd name="adj1" fmla="val 50000"/>
              <a:gd name="adj2" fmla="val 50000"/>
            </a:avLst>
          </a:prstGeom>
          <a:solidFill>
            <a:srgbClr val="666666"/>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38" name="Google Shape;538;p25"/>
          <p:cNvSpPr/>
          <p:nvPr/>
        </p:nvSpPr>
        <p:spPr>
          <a:xfrm>
            <a:off x="2846070" y="1611630"/>
            <a:ext cx="137160" cy="102870"/>
          </a:xfrm>
          <a:prstGeom prst="rightArrow">
            <a:avLst>
              <a:gd name="adj1" fmla="val 50000"/>
              <a:gd name="adj2" fmla="val 50000"/>
            </a:avLst>
          </a:prstGeom>
          <a:solidFill>
            <a:srgbClr val="666666"/>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39" name="Google Shape;539;p25"/>
          <p:cNvSpPr/>
          <p:nvPr/>
        </p:nvSpPr>
        <p:spPr>
          <a:xfrm>
            <a:off x="548640" y="2091690"/>
            <a:ext cx="3497580" cy="274320"/>
          </a:xfrm>
          <a:prstGeom prst="rect">
            <a:avLst/>
          </a:prstGeom>
          <a:solidFill>
            <a:srgbClr val="FDEDED"/>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C0392B"/>
                </a:solidFill>
                <a:latin typeface="游ゴシック" panose="020B0400000000000000" pitchFamily="50" charset="-128"/>
                <a:ea typeface="游ゴシック" panose="020B0400000000000000" pitchFamily="50" charset="-128"/>
                <a:sym typeface="Arial"/>
              </a:rPr>
              <a:t>⚠ Snowflake追加コスト：年間 1,500-3,000万円（ライセンス + 同期パイプライン構築・運用）</a:t>
            </a:r>
            <a:endParaRPr sz="1350" b="0" i="0" u="none" strike="noStrike" cap="none" dirty="0">
              <a:solidFill>
                <a:schemeClr val="dk1"/>
              </a:solidFill>
              <a:latin typeface="Calibri"/>
              <a:ea typeface="Calibri"/>
              <a:cs typeface="Calibri"/>
              <a:sym typeface="Calibri"/>
            </a:endParaRPr>
          </a:p>
        </p:txBody>
      </p:sp>
      <p:sp>
        <p:nvSpPr>
          <p:cNvPr id="540" name="Google Shape;540;p25"/>
          <p:cNvSpPr txBox="1"/>
          <p:nvPr/>
        </p:nvSpPr>
        <p:spPr>
          <a:xfrm>
            <a:off x="4697730" y="1200150"/>
            <a:ext cx="3977640" cy="1846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27724A"/>
                </a:solidFill>
                <a:latin typeface="游ゴシック" panose="020B0400000000000000" pitchFamily="50" charset="-128"/>
                <a:ea typeface="游ゴシック" panose="020B0400000000000000" pitchFamily="50" charset="-128"/>
                <a:sym typeface="Arial"/>
              </a:rPr>
              <a:t>パターンB：直接接続（推奨）</a:t>
            </a:r>
            <a:endParaRPr sz="1350" b="0" i="0" u="none" strike="noStrike" cap="none" dirty="0">
              <a:solidFill>
                <a:schemeClr val="dk1"/>
              </a:solidFill>
              <a:latin typeface="Calibri"/>
              <a:ea typeface="Calibri"/>
              <a:cs typeface="Calibri"/>
              <a:sym typeface="Calibri"/>
            </a:endParaRPr>
          </a:p>
        </p:txBody>
      </p:sp>
      <p:sp>
        <p:nvSpPr>
          <p:cNvPr id="541" name="Google Shape;541;p25"/>
          <p:cNvSpPr/>
          <p:nvPr/>
        </p:nvSpPr>
        <p:spPr>
          <a:xfrm>
            <a:off x="4937760" y="1440180"/>
            <a:ext cx="1371600" cy="58293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41125" tIns="548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Databricks</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75"/>
              </a:spcBef>
              <a:spcAft>
                <a:spcPts val="0"/>
              </a:spcAft>
              <a:buClr>
                <a:srgbClr val="000000"/>
              </a:buClr>
              <a:buSzPts val="525"/>
              <a:buFont typeface="Arial"/>
              <a:buNone/>
            </a:pPr>
            <a:r>
              <a:rPr lang="ja" sz="525" b="0" i="0" u="none" strike="noStrike" cap="none" dirty="0">
                <a:solidFill>
                  <a:srgbClr val="E0E0E0"/>
                </a:solidFill>
                <a:latin typeface="游ゴシック" panose="020B0400000000000000" pitchFamily="50" charset="-128"/>
                <a:ea typeface="游ゴシック" panose="020B0400000000000000" pitchFamily="50" charset="-128"/>
                <a:sym typeface="Arial"/>
              </a:rPr>
              <a:t>ETL + SQL Warehouse</a:t>
            </a:r>
            <a:endParaRPr sz="1350" b="0" i="0" u="none" strike="noStrike" cap="none" dirty="0">
              <a:solidFill>
                <a:schemeClr val="dk1"/>
              </a:solidFill>
              <a:latin typeface="Calibri"/>
              <a:ea typeface="Calibri"/>
              <a:cs typeface="Calibri"/>
              <a:sym typeface="Calibri"/>
            </a:endParaRPr>
          </a:p>
        </p:txBody>
      </p:sp>
      <p:sp>
        <p:nvSpPr>
          <p:cNvPr id="542" name="Google Shape;542;p25"/>
          <p:cNvSpPr/>
          <p:nvPr/>
        </p:nvSpPr>
        <p:spPr>
          <a:xfrm>
            <a:off x="6720840" y="1440180"/>
            <a:ext cx="1371600" cy="582930"/>
          </a:xfrm>
          <a:prstGeom prst="roundRect">
            <a:avLst>
              <a:gd name="adj" fmla="val 16667"/>
            </a:avLst>
          </a:prstGeom>
          <a:solidFill>
            <a:schemeClr val="accent6"/>
          </a:solidFill>
          <a:ln>
            <a:noFill/>
          </a:ln>
          <a:effectLst>
            <a:outerShdw blurRad="40000" dist="23000" dir="5400000" rotWithShape="0">
              <a:srgbClr val="000000">
                <a:alpha val="34901"/>
              </a:srgbClr>
            </a:outerShdw>
          </a:effectLst>
        </p:spPr>
        <p:txBody>
          <a:bodyPr spcFirstLastPara="1" wrap="square" lIns="41125" tIns="548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Tableau</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75"/>
              </a:spcBef>
              <a:spcAft>
                <a:spcPts val="0"/>
              </a:spcAft>
              <a:buClr>
                <a:srgbClr val="000000"/>
              </a:buClr>
              <a:buSzPts val="525"/>
              <a:buFont typeface="Arial"/>
              <a:buNone/>
            </a:pPr>
            <a:r>
              <a:rPr lang="ja" sz="525" b="0" i="0" u="none" strike="noStrike" cap="none" dirty="0">
                <a:solidFill>
                  <a:srgbClr val="E0E0E0"/>
                </a:solidFill>
                <a:latin typeface="游ゴシック" panose="020B0400000000000000" pitchFamily="50" charset="-128"/>
                <a:ea typeface="游ゴシック" panose="020B0400000000000000" pitchFamily="50" charset="-128"/>
                <a:sym typeface="Arial"/>
              </a:rPr>
              <a:t>ダッシュボード</a:t>
            </a:r>
            <a:endParaRPr sz="1350" b="0" i="0" u="none" strike="noStrike" cap="none" dirty="0">
              <a:solidFill>
                <a:schemeClr val="dk1"/>
              </a:solidFill>
              <a:latin typeface="Calibri"/>
              <a:ea typeface="Calibri"/>
              <a:cs typeface="Calibri"/>
              <a:sym typeface="Calibri"/>
            </a:endParaRPr>
          </a:p>
        </p:txBody>
      </p:sp>
      <p:sp>
        <p:nvSpPr>
          <p:cNvPr id="543" name="Google Shape;543;p25"/>
          <p:cNvSpPr/>
          <p:nvPr/>
        </p:nvSpPr>
        <p:spPr>
          <a:xfrm>
            <a:off x="6377940" y="1611630"/>
            <a:ext cx="274320" cy="102870"/>
          </a:xfrm>
          <a:prstGeom prst="rightArrow">
            <a:avLst>
              <a:gd name="adj1" fmla="val 50000"/>
              <a:gd name="adj2" fmla="val 50000"/>
            </a:avLst>
          </a:prstGeom>
          <a:solidFill>
            <a:srgbClr val="27724A"/>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44" name="Google Shape;544;p25"/>
          <p:cNvSpPr/>
          <p:nvPr/>
        </p:nvSpPr>
        <p:spPr>
          <a:xfrm>
            <a:off x="4937760" y="2091690"/>
            <a:ext cx="3154680" cy="274320"/>
          </a:xfrm>
          <a:prstGeom prst="rect">
            <a:avLst/>
          </a:prstGeom>
          <a:solidFill>
            <a:srgbClr val="E8F5E9"/>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 シンプル。追加コストなし。年間 1,500-3,000万円を削減</a:t>
            </a:r>
            <a:endParaRPr sz="1350" b="0" i="0" u="none" strike="noStrike" cap="none" dirty="0">
              <a:solidFill>
                <a:schemeClr val="dk1"/>
              </a:solidFill>
              <a:latin typeface="Calibri"/>
              <a:ea typeface="Calibri"/>
              <a:cs typeface="Calibri"/>
              <a:sym typeface="Calibri"/>
            </a:endParaRPr>
          </a:p>
        </p:txBody>
      </p:sp>
      <p:sp>
        <p:nvSpPr>
          <p:cNvPr id="545" name="Google Shape;545;p25"/>
          <p:cNvSpPr txBox="1"/>
          <p:nvPr/>
        </p:nvSpPr>
        <p:spPr>
          <a:xfrm>
            <a:off x="480060" y="2537460"/>
            <a:ext cx="82296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A1A1A"/>
                </a:solidFill>
                <a:latin typeface="游ゴシック" panose="020B0400000000000000" pitchFamily="50" charset="-128"/>
                <a:ea typeface="游ゴシック" panose="020B0400000000000000" pitchFamily="50" charset="-128"/>
                <a:sym typeface="Arial"/>
              </a:rPr>
              <a:t>ポイント：「登録ユーザー数」と「同時接続数」は全く異なる</a:t>
            </a:r>
            <a:endParaRPr sz="1350" b="0" i="0" u="none" strike="noStrike" cap="none" dirty="0">
              <a:solidFill>
                <a:schemeClr val="dk1"/>
              </a:solidFill>
              <a:latin typeface="Calibri"/>
              <a:ea typeface="Calibri"/>
              <a:cs typeface="Calibri"/>
              <a:sym typeface="Calibri"/>
            </a:endParaRPr>
          </a:p>
        </p:txBody>
      </p:sp>
      <p:graphicFrame>
        <p:nvGraphicFramePr>
          <p:cNvPr id="546" name="Google Shape;546;p25"/>
          <p:cNvGraphicFramePr/>
          <p:nvPr/>
        </p:nvGraphicFramePr>
        <p:xfrm>
          <a:off x="480060" y="2811779"/>
          <a:ext cx="7886700" cy="1200250"/>
        </p:xfrm>
        <a:graphic>
          <a:graphicData uri="http://schemas.openxmlformats.org/drawingml/2006/table">
            <a:tbl>
              <a:tblPr>
                <a:noFill/>
                <a:tableStyleId>{831F8A93-CA79-4AF6-B420-68E9A51CCC31}</a:tableStyleId>
              </a:tblPr>
              <a:tblGrid>
                <a:gridCol w="150875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006350">
                  <a:extLst>
                    <a:ext uri="{9D8B030D-6E8A-4147-A177-3AD203B41FA5}">
                      <a16:colId xmlns:a16="http://schemas.microsoft.com/office/drawing/2014/main" val="20002"/>
                    </a:ext>
                  </a:extLst>
                </a:gridCol>
              </a:tblGrid>
              <a:tr h="240050">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指標</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推定値</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根拠</a:t>
                      </a:r>
                      <a:endParaRPr sz="1400" u="none" strike="noStrike" cap="none" dirty="0"/>
                    </a:p>
                  </a:txBody>
                  <a:tcPr marL="68600" marR="68600" marT="34300" marB="34300">
                    <a:solidFill>
                      <a:srgbClr val="1B3A5C"/>
                    </a:solidFill>
                  </a:tcPr>
                </a:tc>
                <a:extLst>
                  <a:ext uri="{0D108BD9-81ED-4DB2-BD59-A6C34878D82A}">
                    <a16:rowId xmlns:a16="http://schemas.microsoft.com/office/drawing/2014/main" val="10000"/>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登録ユーザー</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800 - 1,000人</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施設長700名 + 本部スタッフ</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1"/>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日次アクティブ率</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20 - 30%</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施設長は毎日閲覧しない。週次/月次チェックが多い</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2"/>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ピーク同時接続</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40 - 80人</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朝の業務開始時、月初レポート確認時が最大</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3"/>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平常時同時接続</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10 - 30人</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4"/>
                  </a:ext>
                </a:extLst>
              </a:tr>
            </a:tbl>
          </a:graphicData>
        </a:graphic>
      </p:graphicFrame>
      <p:sp>
        <p:nvSpPr>
          <p:cNvPr id="547" name="Google Shape;547;p25"/>
          <p:cNvSpPr txBox="1"/>
          <p:nvPr/>
        </p:nvSpPr>
        <p:spPr>
          <a:xfrm>
            <a:off x="480060" y="4164917"/>
            <a:ext cx="3771900" cy="1846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1A1A1A"/>
                </a:solidFill>
                <a:latin typeface="游ゴシック" panose="020B0400000000000000" pitchFamily="50" charset="-128"/>
                <a:ea typeface="游ゴシック" panose="020B0400000000000000" pitchFamily="50" charset="-128"/>
                <a:sym typeface="Arial"/>
              </a:rPr>
              <a:t>Databricks SQL Serverlessの同時実行能力</a:t>
            </a:r>
            <a:endParaRPr sz="1350" b="0" i="0" u="none" strike="noStrike" cap="none" dirty="0">
              <a:solidFill>
                <a:schemeClr val="dk1"/>
              </a:solidFill>
              <a:latin typeface="Calibri"/>
              <a:ea typeface="Calibri"/>
              <a:cs typeface="Calibri"/>
              <a:sym typeface="Calibri"/>
            </a:endParaRPr>
          </a:p>
        </p:txBody>
      </p:sp>
      <p:sp>
        <p:nvSpPr>
          <p:cNvPr id="548" name="Google Shape;548;p25"/>
          <p:cNvSpPr txBox="1"/>
          <p:nvPr/>
        </p:nvSpPr>
        <p:spPr>
          <a:xfrm>
            <a:off x="480060" y="4217670"/>
            <a:ext cx="3771900" cy="748893"/>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150"/>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10並行クエリ/クラスター × 自動スケーリング</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ピーク80人 → 8クラスターで対応（自動）</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上限: 1,000並行クエリ — 全く問題なし</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225"/>
              </a:spcBef>
              <a:spcAft>
                <a:spcPts val="0"/>
              </a:spcAft>
              <a:buClr>
                <a:srgbClr val="000000"/>
              </a:buClr>
              <a:buSzPts val="600"/>
              <a:buFont typeface="Arial"/>
              <a:buNone/>
            </a:pPr>
            <a:r>
              <a:rPr lang="ja" sz="600" b="1" i="0" u="none" strike="noStrike" cap="none" dirty="0">
                <a:solidFill>
                  <a:srgbClr val="1B3A5C"/>
                </a:solidFill>
                <a:latin typeface="游ゴシック" panose="020B0400000000000000" pitchFamily="50" charset="-128"/>
                <a:ea typeface="游ゴシック" panose="020B0400000000000000" pitchFamily="50" charset="-128"/>
                <a:sym typeface="Arial"/>
              </a:rPr>
              <a:t>2025年: 実ワークロード5倍高速化を達成</a:t>
            </a:r>
            <a:endParaRPr sz="1350" b="0" i="0" u="none" strike="noStrike" cap="none" dirty="0">
              <a:solidFill>
                <a:schemeClr val="dk1"/>
              </a:solidFill>
              <a:latin typeface="Calibri"/>
              <a:ea typeface="Calibri"/>
              <a:cs typeface="Calibri"/>
              <a:sym typeface="Calibri"/>
            </a:endParaRPr>
          </a:p>
        </p:txBody>
      </p:sp>
      <p:sp>
        <p:nvSpPr>
          <p:cNvPr id="549" name="Google Shape;549;p25"/>
          <p:cNvSpPr txBox="1"/>
          <p:nvPr/>
        </p:nvSpPr>
        <p:spPr>
          <a:xfrm>
            <a:off x="4697730" y="4164917"/>
            <a:ext cx="3977640" cy="184636"/>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1A1A1A"/>
                </a:solidFill>
                <a:latin typeface="游ゴシック" panose="020B0400000000000000" pitchFamily="50" charset="-128"/>
                <a:ea typeface="游ゴシック" panose="020B0400000000000000" pitchFamily="50" charset="-128"/>
                <a:sym typeface="Arial"/>
              </a:rPr>
              <a:t>さらにTableau Extractで同時接続問題自体が消える</a:t>
            </a:r>
            <a:endParaRPr sz="1350" b="0" i="0" u="none" strike="noStrike" cap="none" dirty="0">
              <a:solidFill>
                <a:schemeClr val="dk1"/>
              </a:solidFill>
              <a:latin typeface="Calibri"/>
              <a:ea typeface="Calibri"/>
              <a:cs typeface="Calibri"/>
              <a:sym typeface="Calibri"/>
            </a:endParaRPr>
          </a:p>
        </p:txBody>
      </p:sp>
      <p:sp>
        <p:nvSpPr>
          <p:cNvPr id="550" name="Google Shape;550;p25"/>
          <p:cNvSpPr txBox="1"/>
          <p:nvPr/>
        </p:nvSpPr>
        <p:spPr>
          <a:xfrm>
            <a:off x="4697730" y="4217670"/>
            <a:ext cx="3977640" cy="748893"/>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150"/>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4ダッシュボードはいずれも日次バッチ更新で十分</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Extract: 定期的にデータをTableau Serverにキャッシュ</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800人がアクセスしてもDatabricksへの負荷はゼロ</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225"/>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Snowflakeを挟む理由が完全になくなる</a:t>
            </a:r>
            <a:endParaRPr sz="1350" b="0" i="0" u="none" strike="noStrike" cap="none" dirty="0">
              <a:solidFill>
                <a:schemeClr val="dk1"/>
              </a:solidFill>
              <a:latin typeface="Calibri"/>
              <a:ea typeface="Calibri"/>
              <a:cs typeface="Calibri"/>
              <a:sym typeface="Calibri"/>
            </a:endParaRPr>
          </a:p>
        </p:txBody>
      </p:sp>
      <p:sp>
        <p:nvSpPr>
          <p:cNvPr id="551" name="Google Shape;551;p25"/>
          <p:cNvSpPr txBox="1"/>
          <p:nvPr/>
        </p:nvSpPr>
        <p:spPr>
          <a:xfrm>
            <a:off x="8366760" y="4834890"/>
            <a:ext cx="548640" cy="161552"/>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8</a:t>
            </a:r>
            <a:endParaRPr sz="1350" b="0" i="0" u="none" strike="noStrike" cap="none" dirty="0">
              <a:solidFill>
                <a:schemeClr val="dk1"/>
              </a:solidFill>
              <a:latin typeface="Calibri"/>
              <a:ea typeface="Calibri"/>
              <a:cs typeface="Calibri"/>
              <a:sym typeface="Calibri"/>
            </a:endParaRPr>
          </a:p>
        </p:txBody>
      </p:sp>
      <p:sp>
        <p:nvSpPr>
          <p:cNvPr id="552" name="Google Shape;552;p25"/>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別紙A-6</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553" name="Google Shape;553;p25"/>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554" name="Google Shape;554;p25"/>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555" name="Google Shape;555;p25"/>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別紙A-6</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26"/>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61" name="Google Shape;561;p26"/>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4</a:t>
            </a:r>
            <a:endParaRPr sz="1350" b="0" i="0" u="none" strike="noStrike" cap="none" dirty="0">
              <a:solidFill>
                <a:schemeClr val="dk1"/>
              </a:solidFill>
              <a:latin typeface="Calibri"/>
              <a:ea typeface="Calibri"/>
              <a:cs typeface="Calibri"/>
              <a:sym typeface="Calibri"/>
            </a:endParaRPr>
          </a:p>
        </p:txBody>
      </p:sp>
      <p:sp>
        <p:nvSpPr>
          <p:cNvPr id="562" name="Google Shape;562;p26"/>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オーケストレーション：構成パターンの比較</a:t>
            </a:r>
            <a:endParaRPr sz="1350" b="0" i="0" u="none" strike="noStrike" cap="none" dirty="0">
              <a:solidFill>
                <a:schemeClr val="dk1"/>
              </a:solidFill>
              <a:latin typeface="Calibri"/>
              <a:ea typeface="Calibri"/>
              <a:cs typeface="Calibri"/>
              <a:sym typeface="Calibri"/>
            </a:endParaRPr>
          </a:p>
        </p:txBody>
      </p:sp>
      <p:sp>
        <p:nvSpPr>
          <p:cNvPr id="563" name="Google Shape;563;p26"/>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Databricks中心であればLakeflow単体が最もシンプルかつ推奨。外部連携の複雑度に応じて構成を選択</a:t>
            </a:r>
            <a:endParaRPr sz="1350" b="0" i="0" u="none" strike="noStrike" cap="none" dirty="0">
              <a:solidFill>
                <a:schemeClr val="dk1"/>
              </a:solidFill>
              <a:latin typeface="Calibri"/>
              <a:ea typeface="Calibri"/>
              <a:cs typeface="Calibri"/>
              <a:sym typeface="Calibri"/>
            </a:endParaRPr>
          </a:p>
        </p:txBody>
      </p:sp>
      <p:sp>
        <p:nvSpPr>
          <p:cNvPr id="564" name="Google Shape;564;p26"/>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65" name="Google Shape;565;p26"/>
          <p:cNvSpPr txBox="1"/>
          <p:nvPr/>
        </p:nvSpPr>
        <p:spPr>
          <a:xfrm>
            <a:off x="480060" y="891541"/>
            <a:ext cx="2537460" cy="173094"/>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75"/>
              <a:buFont typeface="Arial"/>
              <a:buNone/>
            </a:pPr>
            <a:r>
              <a:rPr lang="ja" sz="675" b="1" i="0" u="none" strike="noStrike" cap="none" dirty="0">
                <a:solidFill>
                  <a:srgbClr val="666666"/>
                </a:solidFill>
                <a:latin typeface="游ゴシック" panose="020B0400000000000000" pitchFamily="50" charset="-128"/>
                <a:ea typeface="游ゴシック" panose="020B0400000000000000" pitchFamily="50" charset="-128"/>
                <a:sym typeface="Arial"/>
              </a:rPr>
              <a:t>パターン1</a:t>
            </a:r>
            <a:endParaRPr sz="1350" b="0" i="0" u="none" strike="noStrike" cap="none" dirty="0">
              <a:solidFill>
                <a:schemeClr val="dk1"/>
              </a:solidFill>
              <a:latin typeface="Calibri"/>
              <a:ea typeface="Calibri"/>
              <a:cs typeface="Calibri"/>
              <a:sym typeface="Calibri"/>
            </a:endParaRPr>
          </a:p>
        </p:txBody>
      </p:sp>
      <p:sp>
        <p:nvSpPr>
          <p:cNvPr id="566" name="Google Shape;566;p26"/>
          <p:cNvSpPr txBox="1"/>
          <p:nvPr/>
        </p:nvSpPr>
        <p:spPr>
          <a:xfrm>
            <a:off x="480060" y="1042417"/>
            <a:ext cx="2537460" cy="23080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ja" sz="1050" b="1" i="0" u="none" strike="noStrike" cap="none" dirty="0">
                <a:solidFill>
                  <a:srgbClr val="1A1A1A"/>
                </a:solidFill>
                <a:latin typeface="游ゴシック" panose="020B0400000000000000" pitchFamily="50" charset="-128"/>
                <a:ea typeface="游ゴシック" panose="020B0400000000000000" pitchFamily="50" charset="-128"/>
                <a:sym typeface="Arial"/>
              </a:rPr>
              <a:t>Lakeflow 単体 (databricks)</a:t>
            </a:r>
            <a:endParaRPr sz="1350" b="0" i="0" u="none" strike="noStrike" cap="none" dirty="0">
              <a:solidFill>
                <a:schemeClr val="dk1"/>
              </a:solidFill>
              <a:latin typeface="Calibri"/>
              <a:ea typeface="Calibri"/>
              <a:cs typeface="Calibri"/>
              <a:sym typeface="Calibri"/>
            </a:endParaRPr>
          </a:p>
        </p:txBody>
      </p:sp>
      <p:sp>
        <p:nvSpPr>
          <p:cNvPr id="567" name="Google Shape;567;p26"/>
          <p:cNvSpPr/>
          <p:nvPr/>
        </p:nvSpPr>
        <p:spPr>
          <a:xfrm>
            <a:off x="2323147" y="930974"/>
            <a:ext cx="660083" cy="171450"/>
          </a:xfrm>
          <a:prstGeom prst="roundRect">
            <a:avLst>
              <a:gd name="adj" fmla="val 16667"/>
            </a:avLst>
          </a:prstGeom>
          <a:solidFill>
            <a:srgbClr val="00B050"/>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FFFFFF"/>
                </a:solidFill>
                <a:latin typeface="游ゴシック" panose="020B0400000000000000" pitchFamily="50" charset="-128"/>
                <a:ea typeface="游ゴシック" panose="020B0400000000000000" pitchFamily="50" charset="-128"/>
                <a:sym typeface="Arial"/>
              </a:rPr>
              <a:t>推奨</a:t>
            </a:r>
            <a:endParaRPr sz="675" b="0" i="0" u="none" strike="noStrike" cap="none" dirty="0">
              <a:solidFill>
                <a:schemeClr val="lt1"/>
              </a:solidFill>
              <a:latin typeface="Calibri"/>
              <a:ea typeface="Calibri"/>
              <a:cs typeface="Calibri"/>
              <a:sym typeface="Calibri"/>
            </a:endParaRPr>
          </a:p>
        </p:txBody>
      </p:sp>
      <p:sp>
        <p:nvSpPr>
          <p:cNvPr id="568" name="Google Shape;568;p26"/>
          <p:cNvSpPr/>
          <p:nvPr/>
        </p:nvSpPr>
        <p:spPr>
          <a:xfrm>
            <a:off x="480060" y="1303020"/>
            <a:ext cx="2537460" cy="1440180"/>
          </a:xfrm>
          <a:prstGeom prst="roundRect">
            <a:avLst>
              <a:gd name="adj" fmla="val 16667"/>
            </a:avLst>
          </a:prstGeom>
          <a:solidFill>
            <a:srgbClr val="F5F5F5"/>
          </a:solidFill>
          <a:ln w="9525" cap="flat" cmpd="sng">
            <a:solidFill>
              <a:srgbClr val="E8E8E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69" name="Google Shape;569;p26"/>
          <p:cNvSpPr/>
          <p:nvPr/>
        </p:nvSpPr>
        <p:spPr>
          <a:xfrm>
            <a:off x="548640" y="1385316"/>
            <a:ext cx="2400300" cy="582930"/>
          </a:xfrm>
          <a:prstGeom prst="roundRect">
            <a:avLst>
              <a:gd name="adj" fmla="val 16667"/>
            </a:avLst>
          </a:prstGeom>
          <a:solidFill>
            <a:srgbClr val="FFFFFF"/>
          </a:solidFill>
          <a:ln w="1905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548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Lakeflow Jobs</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バッチETL</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ストリーミング</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ML推論</a:t>
            </a:r>
            <a:endParaRPr sz="1350" b="0" i="0" u="none" strike="noStrike" cap="none" dirty="0">
              <a:solidFill>
                <a:schemeClr val="dk1"/>
              </a:solidFill>
              <a:latin typeface="Calibri"/>
              <a:ea typeface="Calibri"/>
              <a:cs typeface="Calibri"/>
              <a:sym typeface="Calibri"/>
            </a:endParaRPr>
          </a:p>
        </p:txBody>
      </p:sp>
      <p:sp>
        <p:nvSpPr>
          <p:cNvPr id="570" name="Google Shape;570;p26"/>
          <p:cNvSpPr/>
          <p:nvPr/>
        </p:nvSpPr>
        <p:spPr>
          <a:xfrm>
            <a:off x="1645920" y="1968246"/>
            <a:ext cx="205740" cy="123444"/>
          </a:xfrm>
          <a:prstGeom prst="downArrow">
            <a:avLst>
              <a:gd name="adj1" fmla="val 50000"/>
              <a:gd name="adj2" fmla="val 50000"/>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71" name="Google Shape;571;p26"/>
          <p:cNvSpPr/>
          <p:nvPr/>
        </p:nvSpPr>
        <p:spPr>
          <a:xfrm>
            <a:off x="548640" y="2091690"/>
            <a:ext cx="2400300" cy="582930"/>
          </a:xfrm>
          <a:prstGeom prst="roundRect">
            <a:avLst>
              <a:gd name="adj" fmla="val 16667"/>
            </a:avLst>
          </a:prstGeom>
          <a:solidFill>
            <a:srgbClr val="FFFFFF"/>
          </a:solidFill>
          <a:ln w="19050" cap="flat" cmpd="sng">
            <a:solidFill>
              <a:srgbClr val="2D5F8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548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2D5F8A"/>
                </a:solidFill>
                <a:latin typeface="游ゴシック" panose="020B0400000000000000" pitchFamily="50" charset="-128"/>
                <a:ea typeface="游ゴシック" panose="020B0400000000000000" pitchFamily="50" charset="-128"/>
                <a:sym typeface="Arial"/>
              </a:rPr>
              <a:t>Lakeflow Pipelines</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宣言的ETL</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品質チェック</a:t>
            </a:r>
            <a:endParaRPr sz="1350" b="0" i="0" u="none" strike="noStrike" cap="none" dirty="0">
              <a:solidFill>
                <a:schemeClr val="dk1"/>
              </a:solidFill>
              <a:latin typeface="Calibri"/>
              <a:ea typeface="Calibri"/>
              <a:cs typeface="Calibri"/>
              <a:sym typeface="Calibri"/>
            </a:endParaRPr>
          </a:p>
        </p:txBody>
      </p:sp>
      <p:sp>
        <p:nvSpPr>
          <p:cNvPr id="572" name="Google Shape;572;p26"/>
          <p:cNvSpPr txBox="1"/>
          <p:nvPr/>
        </p:nvSpPr>
        <p:spPr>
          <a:xfrm>
            <a:off x="3257550" y="891541"/>
            <a:ext cx="2537460" cy="173094"/>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75"/>
              <a:buFont typeface="Arial"/>
              <a:buNone/>
            </a:pPr>
            <a:r>
              <a:rPr lang="ja" sz="675" b="1" i="0" u="none" strike="noStrike" cap="none" dirty="0">
                <a:solidFill>
                  <a:srgbClr val="666666"/>
                </a:solidFill>
                <a:latin typeface="游ゴシック" panose="020B0400000000000000" pitchFamily="50" charset="-128"/>
                <a:ea typeface="游ゴシック" panose="020B0400000000000000" pitchFamily="50" charset="-128"/>
                <a:sym typeface="Arial"/>
              </a:rPr>
              <a:t>パターン2</a:t>
            </a:r>
            <a:endParaRPr sz="1350" b="0" i="0" u="none" strike="noStrike" cap="none" dirty="0">
              <a:solidFill>
                <a:schemeClr val="dk1"/>
              </a:solidFill>
              <a:latin typeface="Calibri"/>
              <a:ea typeface="Calibri"/>
              <a:cs typeface="Calibri"/>
              <a:sym typeface="Calibri"/>
            </a:endParaRPr>
          </a:p>
        </p:txBody>
      </p:sp>
      <p:sp>
        <p:nvSpPr>
          <p:cNvPr id="573" name="Google Shape;573;p26"/>
          <p:cNvSpPr txBox="1"/>
          <p:nvPr/>
        </p:nvSpPr>
        <p:spPr>
          <a:xfrm>
            <a:off x="3257550" y="1042417"/>
            <a:ext cx="2537460" cy="23080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ja" sz="1050" b="1" i="0" u="none" strike="noStrike" cap="none" dirty="0">
                <a:solidFill>
                  <a:srgbClr val="1A1A1A"/>
                </a:solidFill>
                <a:latin typeface="游ゴシック" panose="020B0400000000000000" pitchFamily="50" charset="-128"/>
                <a:ea typeface="游ゴシック" panose="020B0400000000000000" pitchFamily="50" charset="-128"/>
                <a:sym typeface="Arial"/>
              </a:rPr>
              <a:t>Lakeflow + Airflow</a:t>
            </a:r>
            <a:endParaRPr sz="1350" b="0" i="0" u="none" strike="noStrike" cap="none" dirty="0">
              <a:solidFill>
                <a:schemeClr val="dk1"/>
              </a:solidFill>
              <a:latin typeface="Calibri"/>
              <a:ea typeface="Calibri"/>
              <a:cs typeface="Calibri"/>
              <a:sym typeface="Calibri"/>
            </a:endParaRPr>
          </a:p>
        </p:txBody>
      </p:sp>
      <p:sp>
        <p:nvSpPr>
          <p:cNvPr id="574" name="Google Shape;574;p26"/>
          <p:cNvSpPr/>
          <p:nvPr/>
        </p:nvSpPr>
        <p:spPr>
          <a:xfrm>
            <a:off x="4663440" y="930974"/>
            <a:ext cx="1097280" cy="185166"/>
          </a:xfrm>
          <a:prstGeom prst="roundRect">
            <a:avLst>
              <a:gd name="adj" fmla="val 16667"/>
            </a:avLst>
          </a:prstGeom>
          <a:solidFill>
            <a:srgbClr val="5F497A"/>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FFFFFF"/>
                </a:solidFill>
                <a:latin typeface="游ゴシック" panose="020B0400000000000000" pitchFamily="50" charset="-128"/>
                <a:ea typeface="游ゴシック" panose="020B0400000000000000" pitchFamily="50" charset="-128"/>
                <a:sym typeface="Arial"/>
              </a:rPr>
              <a:t>外部連携が複雑な場合</a:t>
            </a:r>
            <a:endParaRPr sz="675" b="0" i="0" u="none" strike="noStrike" cap="none" dirty="0">
              <a:solidFill>
                <a:schemeClr val="lt1"/>
              </a:solidFill>
              <a:latin typeface="Calibri"/>
              <a:ea typeface="Calibri"/>
              <a:cs typeface="Calibri"/>
              <a:sym typeface="Calibri"/>
            </a:endParaRPr>
          </a:p>
        </p:txBody>
      </p:sp>
      <p:sp>
        <p:nvSpPr>
          <p:cNvPr id="575" name="Google Shape;575;p26"/>
          <p:cNvSpPr/>
          <p:nvPr/>
        </p:nvSpPr>
        <p:spPr>
          <a:xfrm>
            <a:off x="3257550" y="1303020"/>
            <a:ext cx="2537460" cy="1440180"/>
          </a:xfrm>
          <a:prstGeom prst="roundRect">
            <a:avLst>
              <a:gd name="adj" fmla="val 16667"/>
            </a:avLst>
          </a:prstGeom>
          <a:solidFill>
            <a:srgbClr val="F5F5F5"/>
          </a:solidFill>
          <a:ln w="9525" cap="flat" cmpd="sng">
            <a:solidFill>
              <a:srgbClr val="E8E8E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76" name="Google Shape;576;p26"/>
          <p:cNvSpPr/>
          <p:nvPr/>
        </p:nvSpPr>
        <p:spPr>
          <a:xfrm>
            <a:off x="3326130" y="1385316"/>
            <a:ext cx="2400300" cy="582930"/>
          </a:xfrm>
          <a:prstGeom prst="roundRect">
            <a:avLst>
              <a:gd name="adj" fmla="val 16667"/>
            </a:avLst>
          </a:prstGeom>
          <a:solidFill>
            <a:srgbClr val="FFFFFF"/>
          </a:solidFill>
          <a:ln w="1905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548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Lakeflow Jobs</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Databricks内ETL</a:t>
            </a:r>
            <a:endParaRPr sz="1350" b="0" i="0" u="none" strike="noStrike" cap="none" dirty="0">
              <a:solidFill>
                <a:schemeClr val="dk1"/>
              </a:solidFill>
              <a:latin typeface="Calibri"/>
              <a:ea typeface="Calibri"/>
              <a:cs typeface="Calibri"/>
              <a:sym typeface="Calibri"/>
            </a:endParaRPr>
          </a:p>
        </p:txBody>
      </p:sp>
      <p:sp>
        <p:nvSpPr>
          <p:cNvPr id="577" name="Google Shape;577;p26"/>
          <p:cNvSpPr/>
          <p:nvPr/>
        </p:nvSpPr>
        <p:spPr>
          <a:xfrm>
            <a:off x="4423410" y="1968246"/>
            <a:ext cx="205740" cy="123444"/>
          </a:xfrm>
          <a:prstGeom prst="downArrow">
            <a:avLst>
              <a:gd name="adj1" fmla="val 50000"/>
              <a:gd name="adj2" fmla="val 50000"/>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78" name="Google Shape;578;p26"/>
          <p:cNvSpPr/>
          <p:nvPr/>
        </p:nvSpPr>
        <p:spPr>
          <a:xfrm>
            <a:off x="3326130" y="2091690"/>
            <a:ext cx="2400300" cy="582930"/>
          </a:xfrm>
          <a:prstGeom prst="roundRect">
            <a:avLst>
              <a:gd name="adj" fmla="val 16667"/>
            </a:avLst>
          </a:prstGeom>
          <a:solidFill>
            <a:srgbClr val="FFFFFF"/>
          </a:solidFill>
          <a:ln w="19050" cap="flat" cmpd="sng">
            <a:solidFill>
              <a:srgbClr val="666666"/>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548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666666"/>
                </a:solidFill>
                <a:latin typeface="游ゴシック" panose="020B0400000000000000" pitchFamily="50" charset="-128"/>
                <a:ea typeface="游ゴシック" panose="020B0400000000000000" pitchFamily="50" charset="-128"/>
                <a:sym typeface="Arial"/>
              </a:rPr>
              <a:t>Airflow DAG</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外部API連携</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クロスシステム依存</a:t>
            </a:r>
            <a:endParaRPr sz="1350" b="0" i="0" u="none" strike="noStrike" cap="none" dirty="0">
              <a:solidFill>
                <a:schemeClr val="dk1"/>
              </a:solidFill>
              <a:latin typeface="Calibri"/>
              <a:ea typeface="Calibri"/>
              <a:cs typeface="Calibri"/>
              <a:sym typeface="Calibri"/>
            </a:endParaRPr>
          </a:p>
        </p:txBody>
      </p:sp>
      <p:sp>
        <p:nvSpPr>
          <p:cNvPr id="579" name="Google Shape;579;p26"/>
          <p:cNvSpPr txBox="1"/>
          <p:nvPr/>
        </p:nvSpPr>
        <p:spPr>
          <a:xfrm>
            <a:off x="6035040" y="891541"/>
            <a:ext cx="2537460" cy="173094"/>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75"/>
              <a:buFont typeface="Arial"/>
              <a:buNone/>
            </a:pPr>
            <a:r>
              <a:rPr lang="ja" sz="675" b="1" i="0" u="none" strike="noStrike" cap="none" dirty="0">
                <a:solidFill>
                  <a:srgbClr val="666666"/>
                </a:solidFill>
                <a:latin typeface="游ゴシック" panose="020B0400000000000000" pitchFamily="50" charset="-128"/>
                <a:ea typeface="游ゴシック" panose="020B0400000000000000" pitchFamily="50" charset="-128"/>
                <a:sym typeface="Arial"/>
              </a:rPr>
              <a:t>パターン3</a:t>
            </a:r>
            <a:endParaRPr sz="1350" b="0" i="0" u="none" strike="noStrike" cap="none" dirty="0">
              <a:solidFill>
                <a:schemeClr val="dk1"/>
              </a:solidFill>
              <a:latin typeface="Calibri"/>
              <a:ea typeface="Calibri"/>
              <a:cs typeface="Calibri"/>
              <a:sym typeface="Calibri"/>
            </a:endParaRPr>
          </a:p>
        </p:txBody>
      </p:sp>
      <p:sp>
        <p:nvSpPr>
          <p:cNvPr id="580" name="Google Shape;580;p26"/>
          <p:cNvSpPr txBox="1"/>
          <p:nvPr/>
        </p:nvSpPr>
        <p:spPr>
          <a:xfrm>
            <a:off x="6035040" y="1042417"/>
            <a:ext cx="2537460" cy="23080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ja" sz="1050" b="1" i="0" u="none" strike="noStrike" cap="none" dirty="0">
                <a:solidFill>
                  <a:srgbClr val="1A1A1A"/>
                </a:solidFill>
                <a:latin typeface="游ゴシック" panose="020B0400000000000000" pitchFamily="50" charset="-128"/>
                <a:ea typeface="游ゴシック" panose="020B0400000000000000" pitchFamily="50" charset="-128"/>
                <a:sym typeface="Arial"/>
              </a:rPr>
              <a:t>Airflow/Dagster 一本化</a:t>
            </a:r>
            <a:endParaRPr sz="1350" b="0" i="0" u="none" strike="noStrike" cap="none" dirty="0">
              <a:solidFill>
                <a:schemeClr val="dk1"/>
              </a:solidFill>
              <a:latin typeface="Calibri"/>
              <a:ea typeface="Calibri"/>
              <a:cs typeface="Calibri"/>
              <a:sym typeface="Calibri"/>
            </a:endParaRPr>
          </a:p>
        </p:txBody>
      </p:sp>
      <p:sp>
        <p:nvSpPr>
          <p:cNvPr id="581" name="Google Shape;581;p26"/>
          <p:cNvSpPr/>
          <p:nvPr/>
        </p:nvSpPr>
        <p:spPr>
          <a:xfrm>
            <a:off x="7708392" y="930974"/>
            <a:ext cx="829818" cy="185166"/>
          </a:xfrm>
          <a:prstGeom prst="roundRect">
            <a:avLst>
              <a:gd name="adj" fmla="val 16667"/>
            </a:avLst>
          </a:prstGeom>
          <a:solidFill>
            <a:srgbClr val="666666"/>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FFFFFF"/>
                </a:solidFill>
                <a:latin typeface="游ゴシック" panose="020B0400000000000000" pitchFamily="50" charset="-128"/>
                <a:ea typeface="游ゴシック" panose="020B0400000000000000" pitchFamily="50" charset="-128"/>
                <a:sym typeface="Arial"/>
              </a:rPr>
              <a:t>統一管理を重視</a:t>
            </a:r>
            <a:endParaRPr sz="675" b="0" i="0" u="none" strike="noStrike" cap="none" dirty="0">
              <a:solidFill>
                <a:schemeClr val="lt1"/>
              </a:solidFill>
              <a:latin typeface="Calibri"/>
              <a:ea typeface="Calibri"/>
              <a:cs typeface="Calibri"/>
              <a:sym typeface="Calibri"/>
            </a:endParaRPr>
          </a:p>
        </p:txBody>
      </p:sp>
      <p:sp>
        <p:nvSpPr>
          <p:cNvPr id="582" name="Google Shape;582;p26"/>
          <p:cNvSpPr/>
          <p:nvPr/>
        </p:nvSpPr>
        <p:spPr>
          <a:xfrm>
            <a:off x="6035040" y="1303020"/>
            <a:ext cx="2537460" cy="1440180"/>
          </a:xfrm>
          <a:prstGeom prst="roundRect">
            <a:avLst>
              <a:gd name="adj" fmla="val 16667"/>
            </a:avLst>
          </a:prstGeom>
          <a:solidFill>
            <a:srgbClr val="F5F5F5"/>
          </a:solidFill>
          <a:ln w="9525" cap="flat" cmpd="sng">
            <a:solidFill>
              <a:srgbClr val="E8E8E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83" name="Google Shape;583;p26"/>
          <p:cNvSpPr/>
          <p:nvPr/>
        </p:nvSpPr>
        <p:spPr>
          <a:xfrm>
            <a:off x="6103620" y="1385316"/>
            <a:ext cx="2400300" cy="582930"/>
          </a:xfrm>
          <a:prstGeom prst="roundRect">
            <a:avLst>
              <a:gd name="adj" fmla="val 16667"/>
            </a:avLst>
          </a:prstGeom>
          <a:solidFill>
            <a:srgbClr val="FFFFFF"/>
          </a:solidFill>
          <a:ln w="19050" cap="flat" cmpd="sng">
            <a:solidFill>
              <a:srgbClr val="666666"/>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548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666666"/>
                </a:solidFill>
                <a:latin typeface="游ゴシック" panose="020B0400000000000000" pitchFamily="50" charset="-128"/>
                <a:ea typeface="游ゴシック" panose="020B0400000000000000" pitchFamily="50" charset="-128"/>
                <a:sym typeface="Arial"/>
              </a:rPr>
              <a:t>外部オーケストレーター</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全ジョブ統合管理</a:t>
            </a:r>
            <a:endParaRPr sz="1350" b="0" i="0" u="none" strike="noStrike" cap="none" dirty="0">
              <a:solidFill>
                <a:schemeClr val="dk1"/>
              </a:solidFill>
              <a:latin typeface="Calibri"/>
              <a:ea typeface="Calibri"/>
              <a:cs typeface="Calibri"/>
              <a:sym typeface="Calibri"/>
            </a:endParaRPr>
          </a:p>
        </p:txBody>
      </p:sp>
      <p:sp>
        <p:nvSpPr>
          <p:cNvPr id="584" name="Google Shape;584;p26"/>
          <p:cNvSpPr/>
          <p:nvPr/>
        </p:nvSpPr>
        <p:spPr>
          <a:xfrm>
            <a:off x="7200900" y="1968246"/>
            <a:ext cx="205740" cy="123444"/>
          </a:xfrm>
          <a:prstGeom prst="downArrow">
            <a:avLst>
              <a:gd name="adj1" fmla="val 50000"/>
              <a:gd name="adj2" fmla="val 50000"/>
            </a:avLst>
          </a:prstGeom>
          <a:solidFill>
            <a:srgbClr val="666666"/>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85" name="Google Shape;585;p26"/>
          <p:cNvSpPr/>
          <p:nvPr/>
        </p:nvSpPr>
        <p:spPr>
          <a:xfrm>
            <a:off x="6103620" y="2091690"/>
            <a:ext cx="2400300" cy="582930"/>
          </a:xfrm>
          <a:prstGeom prst="roundRect">
            <a:avLst>
              <a:gd name="adj" fmla="val 16667"/>
            </a:avLst>
          </a:prstGeom>
          <a:solidFill>
            <a:srgbClr val="FFFFFF"/>
          </a:solidFill>
          <a:ln w="19050" cap="flat" cmpd="sng">
            <a:solidFill>
              <a:srgbClr val="2D5F8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548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2D5F8A"/>
                </a:solidFill>
                <a:latin typeface="游ゴシック" panose="020B0400000000000000" pitchFamily="50" charset="-128"/>
                <a:ea typeface="游ゴシック" panose="020B0400000000000000" pitchFamily="50" charset="-128"/>
                <a:sym typeface="Arial"/>
              </a:rPr>
              <a:t>Databricks API呼出</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7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 Spark Job投入のみ</a:t>
            </a:r>
            <a:endParaRPr sz="1350" b="0" i="0" u="none" strike="noStrike" cap="none" dirty="0">
              <a:solidFill>
                <a:schemeClr val="dk1"/>
              </a:solidFill>
              <a:latin typeface="Calibri"/>
              <a:ea typeface="Calibri"/>
              <a:cs typeface="Calibri"/>
              <a:sym typeface="Calibri"/>
            </a:endParaRPr>
          </a:p>
        </p:txBody>
      </p:sp>
      <p:graphicFrame>
        <p:nvGraphicFramePr>
          <p:cNvPr id="586" name="Google Shape;586;p26"/>
          <p:cNvGraphicFramePr/>
          <p:nvPr/>
        </p:nvGraphicFramePr>
        <p:xfrm>
          <a:off x="480061" y="2983229"/>
          <a:ext cx="8161050" cy="1440300"/>
        </p:xfrm>
        <a:graphic>
          <a:graphicData uri="http://schemas.openxmlformats.org/drawingml/2006/table">
            <a:tbl>
              <a:tblPr>
                <a:noFill/>
                <a:tableStyleId>{831F8A93-CA79-4AF6-B420-68E9A51CCC31}</a:tableStyleId>
              </a:tblPr>
              <a:tblGrid>
                <a:gridCol w="1371600">
                  <a:extLst>
                    <a:ext uri="{9D8B030D-6E8A-4147-A177-3AD203B41FA5}">
                      <a16:colId xmlns:a16="http://schemas.microsoft.com/office/drawing/2014/main" val="20000"/>
                    </a:ext>
                  </a:extLst>
                </a:gridCol>
                <a:gridCol w="2263150">
                  <a:extLst>
                    <a:ext uri="{9D8B030D-6E8A-4147-A177-3AD203B41FA5}">
                      <a16:colId xmlns:a16="http://schemas.microsoft.com/office/drawing/2014/main" val="20001"/>
                    </a:ext>
                  </a:extLst>
                </a:gridCol>
                <a:gridCol w="2263150">
                  <a:extLst>
                    <a:ext uri="{9D8B030D-6E8A-4147-A177-3AD203B41FA5}">
                      <a16:colId xmlns:a16="http://schemas.microsoft.com/office/drawing/2014/main" val="20002"/>
                    </a:ext>
                  </a:extLst>
                </a:gridCol>
                <a:gridCol w="2263150">
                  <a:extLst>
                    <a:ext uri="{9D8B030D-6E8A-4147-A177-3AD203B41FA5}">
                      <a16:colId xmlns:a16="http://schemas.microsoft.com/office/drawing/2014/main" val="20003"/>
                    </a:ext>
                  </a:extLst>
                </a:gridCol>
              </a:tblGrid>
              <a:tr h="240050">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評価軸</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パターン1：Lakeflow単体</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パターン2：Lakeflow + Airflow</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パターン3：外部一本化</a:t>
                      </a:r>
                      <a:endParaRPr sz="1400" u="none" strike="noStrike" cap="none" dirty="0"/>
                    </a:p>
                  </a:txBody>
                  <a:tcPr marL="68600" marR="68600" marT="34300" marB="34300">
                    <a:solidFill>
                      <a:srgbClr val="1B3A5C"/>
                    </a:solidFill>
                  </a:tcPr>
                </a:tc>
                <a:extLst>
                  <a:ext uri="{0D108BD9-81ED-4DB2-BD59-A6C34878D82A}">
                    <a16:rowId xmlns:a16="http://schemas.microsoft.com/office/drawing/2014/main" val="10000"/>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運用負荷</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最小（フルマネージド）</a:t>
                      </a:r>
                      <a:endParaRPr sz="1400" u="none" strike="noStrike" cap="none" dirty="0"/>
                    </a:p>
                  </a:txBody>
                  <a:tcPr marL="68600" marR="68600" marT="34300" marB="34300">
                    <a:solidFill>
                      <a:srgbClr val="EAF7E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2ツール運用が必要</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外部ツール運用が増加</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1"/>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Unity Catalog統合</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ネイティブ統合</a:t>
                      </a:r>
                      <a:endParaRPr sz="1400" u="none" strike="noStrike" cap="none" dirty="0"/>
                    </a:p>
                  </a:txBody>
                  <a:tcPr marL="68600" marR="68600" marT="34300" marB="34300">
                    <a:solidFill>
                      <a:srgbClr val="EAF7E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Databricks内は統合</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API経由のみ</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2"/>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外部システム連携</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複雑な場合に不便</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Airflowで柔軟に対応</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全システム一元管理</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3"/>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セットアップ</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追加構築不要</a:t>
                      </a:r>
                      <a:endParaRPr sz="1400" u="none" strike="noStrike" cap="none" dirty="0"/>
                    </a:p>
                  </a:txBody>
                  <a:tcPr marL="68600" marR="68600" marT="34300" marB="34300">
                    <a:solidFill>
                      <a:srgbClr val="EAF7E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Airflow環境の構築が必要</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専用環境の構築が必要</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4"/>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コスト</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Databricks内で完結</a:t>
                      </a:r>
                      <a:endParaRPr sz="1400" u="none" strike="noStrike" cap="none" dirty="0"/>
                    </a:p>
                  </a:txBody>
                  <a:tcPr marL="68600" marR="68600" marT="34300" marB="34300">
                    <a:solidFill>
                      <a:srgbClr val="EAF7E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Airflow運用コスト追加</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外部ツールコスト追加</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5"/>
                  </a:ext>
                </a:extLst>
              </a:tr>
            </a:tbl>
          </a:graphicData>
        </a:graphic>
      </p:graphicFrame>
      <p:sp>
        <p:nvSpPr>
          <p:cNvPr id="587" name="Google Shape;587;p26"/>
          <p:cNvSpPr/>
          <p:nvPr/>
        </p:nvSpPr>
        <p:spPr>
          <a:xfrm>
            <a:off x="411480" y="4491990"/>
            <a:ext cx="34290" cy="445770"/>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88" name="Google Shape;588;p26"/>
          <p:cNvSpPr/>
          <p:nvPr/>
        </p:nvSpPr>
        <p:spPr>
          <a:xfrm>
            <a:off x="445770" y="4491990"/>
            <a:ext cx="8263890" cy="445770"/>
          </a:xfrm>
          <a:prstGeom prst="rect">
            <a:avLst/>
          </a:prstGeom>
          <a:solidFill>
            <a:srgbClr val="E8EFF5"/>
          </a:solidFill>
          <a:ln>
            <a:noFill/>
          </a:ln>
          <a:effectLst>
            <a:outerShdw blurRad="40000" dist="23000" dir="5400000" rotWithShape="0">
              <a:srgbClr val="000000">
                <a:alpha val="34901"/>
              </a:srgbClr>
            </a:outerShdw>
          </a:effectLst>
        </p:spPr>
        <p:txBody>
          <a:bodyPr spcFirstLastPara="1" wrap="square" lIns="1028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結論：Databricks中心であればLakeflow単体を推奨</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フルマネージドで運用負荷が低く、Unity Catalogとの統合も深い。外部システム連携が複雑な場合のみAirflowを追加。</a:t>
            </a:r>
            <a:endParaRPr sz="1350" b="0" i="0" u="none" strike="noStrike" cap="none" dirty="0">
              <a:solidFill>
                <a:schemeClr val="dk1"/>
              </a:solidFill>
              <a:latin typeface="Calibri"/>
              <a:ea typeface="Calibri"/>
              <a:cs typeface="Calibri"/>
              <a:sym typeface="Calibri"/>
            </a:endParaRPr>
          </a:p>
        </p:txBody>
      </p:sp>
      <p:sp>
        <p:nvSpPr>
          <p:cNvPr id="589" name="Google Shape;589;p26"/>
          <p:cNvSpPr txBox="1"/>
          <p:nvPr/>
        </p:nvSpPr>
        <p:spPr>
          <a:xfrm>
            <a:off x="8366760" y="4834890"/>
            <a:ext cx="548640" cy="161552"/>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10</a:t>
            </a:r>
            <a:endParaRPr sz="1350" b="0" i="0" u="none" strike="noStrike" cap="none" dirty="0">
              <a:solidFill>
                <a:schemeClr val="dk1"/>
              </a:solidFill>
              <a:latin typeface="Calibri"/>
              <a:ea typeface="Calibri"/>
              <a:cs typeface="Calibri"/>
              <a:sym typeface="Calibri"/>
            </a:endParaRPr>
          </a:p>
        </p:txBody>
      </p:sp>
      <p:sp>
        <p:nvSpPr>
          <p:cNvPr id="590" name="Google Shape;590;p26"/>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別紙A-7</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591" name="Google Shape;591;p26"/>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592" name="Google Shape;592;p26"/>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593" name="Google Shape;593;p26"/>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別紙A-7</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27"/>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599" name="Google Shape;599;p27"/>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5</a:t>
            </a:r>
            <a:endParaRPr sz="1350" b="0" i="0" u="none" strike="noStrike" cap="none" dirty="0">
              <a:solidFill>
                <a:schemeClr val="dk1"/>
              </a:solidFill>
              <a:latin typeface="Calibri"/>
              <a:ea typeface="Calibri"/>
              <a:cs typeface="Calibri"/>
              <a:sym typeface="Calibri"/>
            </a:endParaRPr>
          </a:p>
        </p:txBody>
      </p:sp>
      <p:sp>
        <p:nvSpPr>
          <p:cNvPr id="600" name="Google Shape;600;p27"/>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データ変換：Foundry PySpark パイプラインの移植戦略</a:t>
            </a:r>
            <a:endParaRPr sz="1350" b="0" i="0" u="none" strike="noStrike" cap="none" dirty="0">
              <a:solidFill>
                <a:schemeClr val="dk1"/>
              </a:solidFill>
              <a:latin typeface="Calibri"/>
              <a:ea typeface="Calibri"/>
              <a:cs typeface="Calibri"/>
              <a:sym typeface="Calibri"/>
            </a:endParaRPr>
          </a:p>
        </p:txBody>
      </p:sp>
      <p:sp>
        <p:nvSpPr>
          <p:cNvPr id="601" name="Google Shape;601;p27"/>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既存のPySparkコードはDatabricksへほぼそのまま移植可能。追加ツールの導入は不要</a:t>
            </a:r>
            <a:endParaRPr sz="1350" b="0" i="0" u="none" strike="noStrike" cap="none" dirty="0">
              <a:solidFill>
                <a:schemeClr val="dk1"/>
              </a:solidFill>
              <a:latin typeface="Calibri"/>
              <a:ea typeface="Calibri"/>
              <a:cs typeface="Calibri"/>
              <a:sym typeface="Calibri"/>
            </a:endParaRPr>
          </a:p>
        </p:txBody>
      </p:sp>
      <p:sp>
        <p:nvSpPr>
          <p:cNvPr id="602" name="Google Shape;602;p27"/>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03" name="Google Shape;603;p27"/>
          <p:cNvSpPr txBox="1"/>
          <p:nvPr/>
        </p:nvSpPr>
        <p:spPr>
          <a:xfrm>
            <a:off x="531495" y="1219010"/>
            <a:ext cx="4560570" cy="207719"/>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ja" sz="900" b="1" i="0" u="none" strike="noStrike" cap="none" dirty="0">
                <a:solidFill>
                  <a:srgbClr val="1A1A1A"/>
                </a:solidFill>
                <a:latin typeface="游ゴシック" panose="020B0400000000000000" pitchFamily="50" charset="-128"/>
                <a:ea typeface="游ゴシック" panose="020B0400000000000000" pitchFamily="50" charset="-128"/>
                <a:sym typeface="Arial"/>
              </a:rPr>
              <a:t>移植の全体像</a:t>
            </a:r>
            <a:endParaRPr sz="1350" b="0" i="0" u="none" strike="noStrike" cap="none" dirty="0">
              <a:solidFill>
                <a:schemeClr val="dk1"/>
              </a:solidFill>
              <a:latin typeface="Calibri"/>
              <a:ea typeface="Calibri"/>
              <a:cs typeface="Calibri"/>
              <a:sym typeface="Calibri"/>
            </a:endParaRPr>
          </a:p>
        </p:txBody>
      </p:sp>
      <p:sp>
        <p:nvSpPr>
          <p:cNvPr id="604" name="Google Shape;604;p27"/>
          <p:cNvSpPr/>
          <p:nvPr/>
        </p:nvSpPr>
        <p:spPr>
          <a:xfrm>
            <a:off x="531495" y="1604352"/>
            <a:ext cx="1920240" cy="1028700"/>
          </a:xfrm>
          <a:prstGeom prst="roundRect">
            <a:avLst>
              <a:gd name="adj" fmla="val 16667"/>
            </a:avLst>
          </a:prstGeom>
          <a:solidFill>
            <a:srgbClr val="E8E8E8"/>
          </a:solidFill>
          <a:ln w="19050" cap="flat" cmpd="sng">
            <a:solidFill>
              <a:srgbClr val="78787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787878"/>
                </a:solidFill>
                <a:latin typeface="游ゴシック" panose="020B0400000000000000" pitchFamily="50" charset="-128"/>
                <a:ea typeface="游ゴシック" panose="020B0400000000000000" pitchFamily="50" charset="-128"/>
                <a:sym typeface="Arial"/>
              </a:rPr>
              <a:t>現行：Foundry</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1350"/>
              <a:buFont typeface="Arial"/>
              <a:buNone/>
            </a:pPr>
            <a:endParaRPr sz="1350" b="0" i="0" u="none" strike="noStrike" cap="none" dirty="0">
              <a:solidFill>
                <a:schemeClr val="lt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@transform_df</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@configure</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Foundry固有デコレーター</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PySpark DataFrame API</a:t>
            </a:r>
            <a:endParaRPr sz="1350" b="0" i="0" u="none" strike="noStrike" cap="none" dirty="0">
              <a:solidFill>
                <a:schemeClr val="dk1"/>
              </a:solidFill>
              <a:latin typeface="Calibri"/>
              <a:ea typeface="Calibri"/>
              <a:cs typeface="Calibri"/>
              <a:sym typeface="Calibri"/>
            </a:endParaRPr>
          </a:p>
        </p:txBody>
      </p:sp>
      <p:sp>
        <p:nvSpPr>
          <p:cNvPr id="605" name="Google Shape;605;p27"/>
          <p:cNvSpPr/>
          <p:nvPr/>
        </p:nvSpPr>
        <p:spPr>
          <a:xfrm>
            <a:off x="2554605" y="1947252"/>
            <a:ext cx="480060" cy="240030"/>
          </a:xfrm>
          <a:prstGeom prst="rightArrow">
            <a:avLst>
              <a:gd name="adj1" fmla="val 50000"/>
              <a:gd name="adj2" fmla="val 50000"/>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06" name="Google Shape;606;p27"/>
          <p:cNvSpPr txBox="1"/>
          <p:nvPr/>
        </p:nvSpPr>
        <p:spPr>
          <a:xfrm>
            <a:off x="2417445" y="2221573"/>
            <a:ext cx="822960" cy="230802"/>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525"/>
              <a:buFont typeface="Arial"/>
              <a:buNone/>
            </a:pPr>
            <a:r>
              <a:rPr lang="ja" sz="525" b="1" i="0" u="none" strike="noStrike" cap="none" dirty="0">
                <a:solidFill>
                  <a:srgbClr val="1B3A5C"/>
                </a:solidFill>
                <a:latin typeface="游ゴシック" panose="020B0400000000000000" pitchFamily="50" charset="-128"/>
                <a:ea typeface="游ゴシック" panose="020B0400000000000000" pitchFamily="50" charset="-128"/>
                <a:sym typeface="Arial"/>
              </a:rPr>
              <a:t>デコレーター</a:t>
            </a:r>
            <a:br>
              <a:rPr lang="ja" sz="525" b="1" i="0" u="none" strike="noStrike" cap="none" dirty="0">
                <a:solidFill>
                  <a:srgbClr val="1B3A5C"/>
                </a:solidFill>
                <a:latin typeface="游ゴシック" panose="020B0400000000000000" pitchFamily="50" charset="-128"/>
                <a:ea typeface="游ゴシック" panose="020B0400000000000000" pitchFamily="50" charset="-128"/>
                <a:sym typeface="Arial"/>
              </a:rPr>
            </a:br>
            <a:r>
              <a:rPr lang="ja" sz="525" b="1" i="0" u="none" strike="noStrike" cap="none" dirty="0">
                <a:solidFill>
                  <a:srgbClr val="1B3A5C"/>
                </a:solidFill>
                <a:latin typeface="游ゴシック" panose="020B0400000000000000" pitchFamily="50" charset="-128"/>
                <a:ea typeface="游ゴシック" panose="020B0400000000000000" pitchFamily="50" charset="-128"/>
                <a:sym typeface="Arial"/>
              </a:rPr>
              <a:t>除去のみ</a:t>
            </a:r>
            <a:endParaRPr sz="1350" b="0" i="0" u="none" strike="noStrike" cap="none" dirty="0">
              <a:solidFill>
                <a:schemeClr val="dk1"/>
              </a:solidFill>
              <a:latin typeface="Calibri"/>
              <a:ea typeface="Calibri"/>
              <a:cs typeface="Calibri"/>
              <a:sym typeface="Calibri"/>
            </a:endParaRPr>
          </a:p>
        </p:txBody>
      </p:sp>
      <p:sp>
        <p:nvSpPr>
          <p:cNvPr id="607" name="Google Shape;607;p27"/>
          <p:cNvSpPr/>
          <p:nvPr/>
        </p:nvSpPr>
        <p:spPr>
          <a:xfrm>
            <a:off x="3171825" y="1604352"/>
            <a:ext cx="1920240" cy="1028700"/>
          </a:xfrm>
          <a:prstGeom prst="roundRect">
            <a:avLst>
              <a:gd name="adj" fmla="val 16667"/>
            </a:avLst>
          </a:prstGeom>
          <a:solidFill>
            <a:srgbClr val="E8EFF5"/>
          </a:solidFill>
          <a:ln w="2540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1B3A5C"/>
                </a:solidFill>
                <a:latin typeface="游ゴシック" panose="020B0400000000000000" pitchFamily="50" charset="-128"/>
                <a:ea typeface="游ゴシック" panose="020B0400000000000000" pitchFamily="50" charset="-128"/>
                <a:sym typeface="Arial"/>
              </a:rPr>
              <a:t>移行先：Databricks</a:t>
            </a:r>
            <a:endParaRPr sz="1350" b="0" i="0" u="none" strike="noStrike" cap="none" dirty="0">
              <a:solidFill>
                <a:schemeClr val="lt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1350"/>
              <a:buFont typeface="Arial"/>
              <a:buNone/>
            </a:pPr>
            <a:endParaRPr sz="1350" b="0" i="0" u="none" strike="noStrike" cap="none" dirty="0">
              <a:solidFill>
                <a:schemeClr val="lt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PySpark DataFrame API</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（そのまま動作）</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Lakeflow Pipelines</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225"/>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Databricks Notebooks</a:t>
            </a:r>
            <a:endParaRPr sz="1350" b="0" i="0" u="none" strike="noStrike" cap="none" dirty="0">
              <a:solidFill>
                <a:schemeClr val="dk1"/>
              </a:solidFill>
              <a:latin typeface="Calibri"/>
              <a:ea typeface="Calibri"/>
              <a:cs typeface="Calibri"/>
              <a:sym typeface="Calibri"/>
            </a:endParaRPr>
          </a:p>
        </p:txBody>
      </p:sp>
      <p:sp>
        <p:nvSpPr>
          <p:cNvPr id="608" name="Google Shape;608;p27"/>
          <p:cNvSpPr txBox="1"/>
          <p:nvPr/>
        </p:nvSpPr>
        <p:spPr>
          <a:xfrm>
            <a:off x="5486400" y="891540"/>
            <a:ext cx="3429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1" i="0" u="none" strike="noStrike" cap="none" dirty="0">
                <a:solidFill>
                  <a:srgbClr val="1A1A1A"/>
                </a:solidFill>
                <a:latin typeface="游ゴシック" panose="020B0400000000000000" pitchFamily="50" charset="-128"/>
                <a:ea typeface="游ゴシック" panose="020B0400000000000000" pitchFamily="50" charset="-128"/>
                <a:sym typeface="Arial"/>
              </a:rPr>
              <a:t>Databricksが標準提供する機能（追加ツール不要）</a:t>
            </a:r>
            <a:endParaRPr sz="1350" b="0" i="0" u="none" strike="noStrike" cap="none" dirty="0">
              <a:solidFill>
                <a:schemeClr val="dk1"/>
              </a:solidFill>
              <a:latin typeface="Calibri"/>
              <a:ea typeface="Calibri"/>
              <a:cs typeface="Calibri"/>
              <a:sym typeface="Calibri"/>
            </a:endParaRPr>
          </a:p>
        </p:txBody>
      </p:sp>
      <p:sp>
        <p:nvSpPr>
          <p:cNvPr id="609" name="Google Shape;609;p27"/>
          <p:cNvSpPr/>
          <p:nvPr/>
        </p:nvSpPr>
        <p:spPr>
          <a:xfrm>
            <a:off x="5486400" y="1114425"/>
            <a:ext cx="1097280" cy="288036"/>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FFFFFF"/>
                </a:solidFill>
                <a:latin typeface="游ゴシック" panose="020B0400000000000000" pitchFamily="50" charset="-128"/>
                <a:ea typeface="游ゴシック" panose="020B0400000000000000" pitchFamily="50" charset="-128"/>
                <a:sym typeface="Arial"/>
              </a:rPr>
              <a:t>IDE / 開発環境</a:t>
            </a:r>
            <a:endParaRPr sz="1350" b="0" i="0" u="none" strike="noStrike" cap="none" dirty="0">
              <a:solidFill>
                <a:schemeClr val="dk1"/>
              </a:solidFill>
              <a:latin typeface="Calibri"/>
              <a:ea typeface="Calibri"/>
              <a:cs typeface="Calibri"/>
              <a:sym typeface="Calibri"/>
            </a:endParaRPr>
          </a:p>
        </p:txBody>
      </p:sp>
      <p:sp>
        <p:nvSpPr>
          <p:cNvPr id="610" name="Google Shape;610;p27"/>
          <p:cNvSpPr txBox="1"/>
          <p:nvPr/>
        </p:nvSpPr>
        <p:spPr>
          <a:xfrm>
            <a:off x="6652260" y="1128141"/>
            <a:ext cx="2185988"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333333"/>
                </a:solidFill>
                <a:latin typeface="游ゴシック" panose="020B0400000000000000" pitchFamily="50" charset="-128"/>
                <a:ea typeface="游ゴシック" panose="020B0400000000000000" pitchFamily="50" charset="-128"/>
                <a:sym typeface="Arial"/>
              </a:rPr>
              <a:t>Databricks Notebooks + SQL Editor</a:t>
            </a:r>
            <a:endParaRPr sz="1350" b="0" i="0" u="none" strike="noStrike" cap="none" dirty="0">
              <a:solidFill>
                <a:schemeClr val="dk1"/>
              </a:solidFill>
              <a:latin typeface="Calibri"/>
              <a:ea typeface="Calibri"/>
              <a:cs typeface="Calibri"/>
              <a:sym typeface="Calibri"/>
            </a:endParaRPr>
          </a:p>
        </p:txBody>
      </p:sp>
      <p:sp>
        <p:nvSpPr>
          <p:cNvPr id="611" name="Google Shape;611;p27"/>
          <p:cNvSpPr txBox="1"/>
          <p:nvPr/>
        </p:nvSpPr>
        <p:spPr>
          <a:xfrm>
            <a:off x="6652260" y="1251585"/>
            <a:ext cx="2057400" cy="150011"/>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Foundry Code Repositoriesの代替</a:t>
            </a:r>
            <a:endParaRPr sz="1350" b="0" i="0" u="none" strike="noStrike" cap="none" dirty="0">
              <a:solidFill>
                <a:schemeClr val="dk1"/>
              </a:solidFill>
              <a:latin typeface="Calibri"/>
              <a:ea typeface="Calibri"/>
              <a:cs typeface="Calibri"/>
              <a:sym typeface="Calibri"/>
            </a:endParaRPr>
          </a:p>
        </p:txBody>
      </p:sp>
      <p:sp>
        <p:nvSpPr>
          <p:cNvPr id="612" name="Google Shape;612;p27"/>
          <p:cNvSpPr/>
          <p:nvPr/>
        </p:nvSpPr>
        <p:spPr>
          <a:xfrm>
            <a:off x="5486400" y="1462469"/>
            <a:ext cx="1097280" cy="288036"/>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FFFFFF"/>
                </a:solidFill>
                <a:latin typeface="游ゴシック" panose="020B0400000000000000" pitchFamily="50" charset="-128"/>
                <a:ea typeface="游ゴシック" panose="020B0400000000000000" pitchFamily="50" charset="-128"/>
                <a:sym typeface="Arial"/>
              </a:rPr>
              <a:t>ジョブ管理</a:t>
            </a:r>
            <a:endParaRPr sz="1350" b="0" i="0" u="none" strike="noStrike" cap="none" dirty="0">
              <a:solidFill>
                <a:schemeClr val="dk1"/>
              </a:solidFill>
              <a:latin typeface="Calibri"/>
              <a:ea typeface="Calibri"/>
              <a:cs typeface="Calibri"/>
              <a:sym typeface="Calibri"/>
            </a:endParaRPr>
          </a:p>
        </p:txBody>
      </p:sp>
      <p:sp>
        <p:nvSpPr>
          <p:cNvPr id="613" name="Google Shape;613;p27"/>
          <p:cNvSpPr txBox="1"/>
          <p:nvPr/>
        </p:nvSpPr>
        <p:spPr>
          <a:xfrm>
            <a:off x="6652260" y="1476185"/>
            <a:ext cx="13716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333333"/>
                </a:solidFill>
                <a:latin typeface="游ゴシック" panose="020B0400000000000000" pitchFamily="50" charset="-128"/>
                <a:ea typeface="游ゴシック" panose="020B0400000000000000" pitchFamily="50" charset="-128"/>
                <a:sym typeface="Arial"/>
              </a:rPr>
              <a:t>Lakeflow Jobs（サーバーレス）</a:t>
            </a:r>
            <a:endParaRPr sz="1350" b="0" i="0" u="none" strike="noStrike" cap="none" dirty="0">
              <a:solidFill>
                <a:schemeClr val="dk1"/>
              </a:solidFill>
              <a:latin typeface="Calibri"/>
              <a:ea typeface="Calibri"/>
              <a:cs typeface="Calibri"/>
              <a:sym typeface="Calibri"/>
            </a:endParaRPr>
          </a:p>
        </p:txBody>
      </p:sp>
      <p:sp>
        <p:nvSpPr>
          <p:cNvPr id="614" name="Google Shape;614;p27"/>
          <p:cNvSpPr txBox="1"/>
          <p:nvPr/>
        </p:nvSpPr>
        <p:spPr>
          <a:xfrm>
            <a:off x="6652260" y="1599629"/>
            <a:ext cx="2057400" cy="150011"/>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Foundryビルドシステムの代替</a:t>
            </a:r>
            <a:endParaRPr sz="1350" b="0" i="0" u="none" strike="noStrike" cap="none" dirty="0">
              <a:solidFill>
                <a:schemeClr val="dk1"/>
              </a:solidFill>
              <a:latin typeface="Calibri"/>
              <a:ea typeface="Calibri"/>
              <a:cs typeface="Calibri"/>
              <a:sym typeface="Calibri"/>
            </a:endParaRPr>
          </a:p>
        </p:txBody>
      </p:sp>
      <p:sp>
        <p:nvSpPr>
          <p:cNvPr id="615" name="Google Shape;615;p27"/>
          <p:cNvSpPr/>
          <p:nvPr/>
        </p:nvSpPr>
        <p:spPr>
          <a:xfrm>
            <a:off x="5486400" y="1810512"/>
            <a:ext cx="1097280" cy="288036"/>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FFFFFF"/>
                </a:solidFill>
                <a:latin typeface="游ゴシック" panose="020B0400000000000000" pitchFamily="50" charset="-128"/>
                <a:ea typeface="游ゴシック" panose="020B0400000000000000" pitchFamily="50" charset="-128"/>
                <a:sym typeface="Arial"/>
              </a:rPr>
              <a:t>宣言的ETL</a:t>
            </a:r>
            <a:endParaRPr sz="1350" b="0" i="0" u="none" strike="noStrike" cap="none" dirty="0">
              <a:solidFill>
                <a:schemeClr val="dk1"/>
              </a:solidFill>
              <a:latin typeface="Calibri"/>
              <a:ea typeface="Calibri"/>
              <a:cs typeface="Calibri"/>
              <a:sym typeface="Calibri"/>
            </a:endParaRPr>
          </a:p>
        </p:txBody>
      </p:sp>
      <p:sp>
        <p:nvSpPr>
          <p:cNvPr id="616" name="Google Shape;616;p27"/>
          <p:cNvSpPr txBox="1"/>
          <p:nvPr/>
        </p:nvSpPr>
        <p:spPr>
          <a:xfrm>
            <a:off x="6652260" y="1824228"/>
            <a:ext cx="13716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333333"/>
                </a:solidFill>
                <a:latin typeface="游ゴシック" panose="020B0400000000000000" pitchFamily="50" charset="-128"/>
                <a:ea typeface="游ゴシック" panose="020B0400000000000000" pitchFamily="50" charset="-128"/>
                <a:sym typeface="Arial"/>
              </a:rPr>
              <a:t>Lakeflow Declarative Pipelines</a:t>
            </a:r>
            <a:endParaRPr sz="1350" b="0" i="0" u="none" strike="noStrike" cap="none" dirty="0">
              <a:solidFill>
                <a:schemeClr val="dk1"/>
              </a:solidFill>
              <a:latin typeface="Calibri"/>
              <a:ea typeface="Calibri"/>
              <a:cs typeface="Calibri"/>
              <a:sym typeface="Calibri"/>
            </a:endParaRPr>
          </a:p>
        </p:txBody>
      </p:sp>
      <p:sp>
        <p:nvSpPr>
          <p:cNvPr id="617" name="Google Shape;617;p27"/>
          <p:cNvSpPr txBox="1"/>
          <p:nvPr/>
        </p:nvSpPr>
        <p:spPr>
          <a:xfrm>
            <a:off x="6652260" y="1947672"/>
            <a:ext cx="2057400" cy="150011"/>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パイプライン定義・自動実行</a:t>
            </a:r>
            <a:endParaRPr sz="1350" b="0" i="0" u="none" strike="noStrike" cap="none" dirty="0">
              <a:solidFill>
                <a:schemeClr val="dk1"/>
              </a:solidFill>
              <a:latin typeface="Calibri"/>
              <a:ea typeface="Calibri"/>
              <a:cs typeface="Calibri"/>
              <a:sym typeface="Calibri"/>
            </a:endParaRPr>
          </a:p>
        </p:txBody>
      </p:sp>
      <p:sp>
        <p:nvSpPr>
          <p:cNvPr id="618" name="Google Shape;618;p27"/>
          <p:cNvSpPr/>
          <p:nvPr/>
        </p:nvSpPr>
        <p:spPr>
          <a:xfrm>
            <a:off x="5486400" y="2158556"/>
            <a:ext cx="1097280" cy="288036"/>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FFFFFF"/>
                </a:solidFill>
                <a:latin typeface="游ゴシック" panose="020B0400000000000000" pitchFamily="50" charset="-128"/>
                <a:ea typeface="游ゴシック" panose="020B0400000000000000" pitchFamily="50" charset="-128"/>
                <a:sym typeface="Arial"/>
              </a:rPr>
              <a:t>CI/CD</a:t>
            </a:r>
            <a:endParaRPr sz="1350" b="0" i="0" u="none" strike="noStrike" cap="none" dirty="0">
              <a:solidFill>
                <a:schemeClr val="dk1"/>
              </a:solidFill>
              <a:latin typeface="Calibri"/>
              <a:ea typeface="Calibri"/>
              <a:cs typeface="Calibri"/>
              <a:sym typeface="Calibri"/>
            </a:endParaRPr>
          </a:p>
        </p:txBody>
      </p:sp>
      <p:sp>
        <p:nvSpPr>
          <p:cNvPr id="619" name="Google Shape;619;p27"/>
          <p:cNvSpPr txBox="1"/>
          <p:nvPr/>
        </p:nvSpPr>
        <p:spPr>
          <a:xfrm>
            <a:off x="6652260" y="2172271"/>
            <a:ext cx="20574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333333"/>
                </a:solidFill>
                <a:latin typeface="游ゴシック" panose="020B0400000000000000" pitchFamily="50" charset="-128"/>
                <a:ea typeface="游ゴシック" panose="020B0400000000000000" pitchFamily="50" charset="-128"/>
                <a:sym typeface="Arial"/>
              </a:rPr>
              <a:t>Databricks Asset Bundles + GitHub Actions</a:t>
            </a:r>
            <a:endParaRPr sz="1350" b="0" i="0" u="none" strike="noStrike" cap="none" dirty="0">
              <a:solidFill>
                <a:schemeClr val="dk1"/>
              </a:solidFill>
              <a:latin typeface="Calibri"/>
              <a:ea typeface="Calibri"/>
              <a:cs typeface="Calibri"/>
              <a:sym typeface="Calibri"/>
            </a:endParaRPr>
          </a:p>
        </p:txBody>
      </p:sp>
      <p:sp>
        <p:nvSpPr>
          <p:cNvPr id="620" name="Google Shape;620;p27"/>
          <p:cNvSpPr txBox="1"/>
          <p:nvPr/>
        </p:nvSpPr>
        <p:spPr>
          <a:xfrm>
            <a:off x="6652260" y="2295716"/>
            <a:ext cx="2057400" cy="150011"/>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Code Repositoriesの PR→ビルドの代替</a:t>
            </a:r>
            <a:endParaRPr sz="1350" b="0" i="0" u="none" strike="noStrike" cap="none" dirty="0">
              <a:solidFill>
                <a:schemeClr val="dk1"/>
              </a:solidFill>
              <a:latin typeface="Calibri"/>
              <a:ea typeface="Calibri"/>
              <a:cs typeface="Calibri"/>
              <a:sym typeface="Calibri"/>
            </a:endParaRPr>
          </a:p>
        </p:txBody>
      </p:sp>
      <p:sp>
        <p:nvSpPr>
          <p:cNvPr id="621" name="Google Shape;621;p27"/>
          <p:cNvSpPr/>
          <p:nvPr/>
        </p:nvSpPr>
        <p:spPr>
          <a:xfrm>
            <a:off x="5486400" y="2506599"/>
            <a:ext cx="1097280" cy="288036"/>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FFFFFF"/>
                </a:solidFill>
                <a:latin typeface="游ゴシック" panose="020B0400000000000000" pitchFamily="50" charset="-128"/>
                <a:ea typeface="游ゴシック" panose="020B0400000000000000" pitchFamily="50" charset="-128"/>
                <a:sym typeface="Arial"/>
              </a:rPr>
              <a:t>リネージ</a:t>
            </a:r>
            <a:endParaRPr sz="1350" b="0" i="0" u="none" strike="noStrike" cap="none" dirty="0">
              <a:solidFill>
                <a:schemeClr val="dk1"/>
              </a:solidFill>
              <a:latin typeface="Calibri"/>
              <a:ea typeface="Calibri"/>
              <a:cs typeface="Calibri"/>
              <a:sym typeface="Calibri"/>
            </a:endParaRPr>
          </a:p>
        </p:txBody>
      </p:sp>
      <p:sp>
        <p:nvSpPr>
          <p:cNvPr id="622" name="Google Shape;622;p27"/>
          <p:cNvSpPr txBox="1"/>
          <p:nvPr/>
        </p:nvSpPr>
        <p:spPr>
          <a:xfrm>
            <a:off x="6652260" y="2520315"/>
            <a:ext cx="20574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333333"/>
                </a:solidFill>
                <a:latin typeface="游ゴシック" panose="020B0400000000000000" pitchFamily="50" charset="-128"/>
                <a:ea typeface="游ゴシック" panose="020B0400000000000000" pitchFamily="50" charset="-128"/>
                <a:sym typeface="Arial"/>
              </a:rPr>
              <a:t>Unity Catalog（PySpark列レベル対応）</a:t>
            </a:r>
            <a:endParaRPr sz="1350" b="0" i="0" u="none" strike="noStrike" cap="none" dirty="0">
              <a:solidFill>
                <a:schemeClr val="dk1"/>
              </a:solidFill>
              <a:latin typeface="Calibri"/>
              <a:ea typeface="Calibri"/>
              <a:cs typeface="Calibri"/>
              <a:sym typeface="Calibri"/>
            </a:endParaRPr>
          </a:p>
        </p:txBody>
      </p:sp>
      <p:sp>
        <p:nvSpPr>
          <p:cNvPr id="623" name="Google Shape;623;p27"/>
          <p:cNvSpPr txBox="1"/>
          <p:nvPr/>
        </p:nvSpPr>
        <p:spPr>
          <a:xfrm>
            <a:off x="6652260" y="2643759"/>
            <a:ext cx="2057400" cy="150011"/>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Foundry自動リネージの代替</a:t>
            </a:r>
            <a:endParaRPr sz="1350" b="0" i="0" u="none" strike="noStrike" cap="none" dirty="0">
              <a:solidFill>
                <a:schemeClr val="dk1"/>
              </a:solidFill>
              <a:latin typeface="Calibri"/>
              <a:ea typeface="Calibri"/>
              <a:cs typeface="Calibri"/>
              <a:sym typeface="Calibri"/>
            </a:endParaRPr>
          </a:p>
        </p:txBody>
      </p:sp>
      <p:sp>
        <p:nvSpPr>
          <p:cNvPr id="624" name="Google Shape;624;p27"/>
          <p:cNvSpPr/>
          <p:nvPr/>
        </p:nvSpPr>
        <p:spPr>
          <a:xfrm>
            <a:off x="5486400" y="2854643"/>
            <a:ext cx="1097280" cy="288036"/>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FFFFFF"/>
                </a:solidFill>
                <a:latin typeface="游ゴシック" panose="020B0400000000000000" pitchFamily="50" charset="-128"/>
                <a:ea typeface="游ゴシック" panose="020B0400000000000000" pitchFamily="50" charset="-128"/>
                <a:sym typeface="Arial"/>
              </a:rPr>
              <a:t>テスト</a:t>
            </a:r>
            <a:endParaRPr sz="1350" b="0" i="0" u="none" strike="noStrike" cap="none" dirty="0">
              <a:solidFill>
                <a:schemeClr val="dk1"/>
              </a:solidFill>
              <a:latin typeface="Calibri"/>
              <a:ea typeface="Calibri"/>
              <a:cs typeface="Calibri"/>
              <a:sym typeface="Calibri"/>
            </a:endParaRPr>
          </a:p>
        </p:txBody>
      </p:sp>
      <p:sp>
        <p:nvSpPr>
          <p:cNvPr id="625" name="Google Shape;625;p27"/>
          <p:cNvSpPr txBox="1"/>
          <p:nvPr/>
        </p:nvSpPr>
        <p:spPr>
          <a:xfrm>
            <a:off x="6652260" y="2868359"/>
            <a:ext cx="13716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dirty="0">
                <a:solidFill>
                  <a:srgbClr val="333333"/>
                </a:solidFill>
                <a:latin typeface="游ゴシック" panose="020B0400000000000000" pitchFamily="50" charset="-128"/>
                <a:ea typeface="游ゴシック" panose="020B0400000000000000" pitchFamily="50" charset="-128"/>
                <a:sym typeface="Arial"/>
              </a:rPr>
              <a:t>Databricks DLT Expectations</a:t>
            </a:r>
            <a:endParaRPr sz="1350" b="0" i="0" u="none" strike="noStrike" cap="none" dirty="0">
              <a:solidFill>
                <a:schemeClr val="dk1"/>
              </a:solidFill>
              <a:latin typeface="Calibri"/>
              <a:ea typeface="Calibri"/>
              <a:cs typeface="Calibri"/>
              <a:sym typeface="Calibri"/>
            </a:endParaRPr>
          </a:p>
        </p:txBody>
      </p:sp>
      <p:sp>
        <p:nvSpPr>
          <p:cNvPr id="626" name="Google Shape;626;p27"/>
          <p:cNvSpPr txBox="1"/>
          <p:nvPr/>
        </p:nvSpPr>
        <p:spPr>
          <a:xfrm>
            <a:off x="6652260" y="2991803"/>
            <a:ext cx="2057400" cy="150011"/>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525"/>
              <a:buFont typeface="Arial"/>
              <a:buNone/>
            </a:pPr>
            <a:r>
              <a:rPr lang="ja" sz="525" b="0" i="0" u="none" strike="noStrike" cap="none" dirty="0">
                <a:solidFill>
                  <a:srgbClr val="666666"/>
                </a:solidFill>
                <a:latin typeface="游ゴシック" panose="020B0400000000000000" pitchFamily="50" charset="-128"/>
                <a:ea typeface="游ゴシック" panose="020B0400000000000000" pitchFamily="50" charset="-128"/>
                <a:sym typeface="Arial"/>
              </a:rPr>
              <a:t>データ品質チェックの自動化</a:t>
            </a:r>
            <a:endParaRPr sz="1350" b="0" i="0" u="none" strike="noStrike" cap="none" dirty="0">
              <a:solidFill>
                <a:schemeClr val="dk1"/>
              </a:solidFill>
              <a:latin typeface="Calibri"/>
              <a:ea typeface="Calibri"/>
              <a:cs typeface="Calibri"/>
              <a:sym typeface="Calibri"/>
            </a:endParaRPr>
          </a:p>
        </p:txBody>
      </p:sp>
      <p:sp>
        <p:nvSpPr>
          <p:cNvPr id="627" name="Google Shape;627;p27"/>
          <p:cNvSpPr txBox="1"/>
          <p:nvPr/>
        </p:nvSpPr>
        <p:spPr>
          <a:xfrm>
            <a:off x="480060" y="3188970"/>
            <a:ext cx="82296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A1A1A"/>
                </a:solidFill>
                <a:latin typeface="游ゴシック" panose="020B0400000000000000" pitchFamily="50" charset="-128"/>
                <a:ea typeface="游ゴシック" panose="020B0400000000000000" pitchFamily="50" charset="-128"/>
                <a:sym typeface="Arial"/>
              </a:rPr>
              <a:t>Foundry → Databricks：機能対応マッピング</a:t>
            </a:r>
            <a:endParaRPr sz="1350" b="0" i="0" u="none" strike="noStrike" cap="none" dirty="0">
              <a:solidFill>
                <a:schemeClr val="dk1"/>
              </a:solidFill>
              <a:latin typeface="Calibri"/>
              <a:ea typeface="Calibri"/>
              <a:cs typeface="Calibri"/>
              <a:sym typeface="Calibri"/>
            </a:endParaRPr>
          </a:p>
        </p:txBody>
      </p:sp>
      <p:graphicFrame>
        <p:nvGraphicFramePr>
          <p:cNvPr id="628" name="Google Shape;628;p27"/>
          <p:cNvGraphicFramePr/>
          <p:nvPr/>
        </p:nvGraphicFramePr>
        <p:xfrm>
          <a:off x="480060" y="3429000"/>
          <a:ext cx="8298200" cy="1497450"/>
        </p:xfrm>
        <a:graphic>
          <a:graphicData uri="http://schemas.openxmlformats.org/drawingml/2006/table">
            <a:tbl>
              <a:tblPr>
                <a:noFill/>
                <a:tableStyleId>{831F8A93-CA79-4AF6-B420-68E9A51CCC31}</a:tableStyleId>
              </a:tblPr>
              <a:tblGrid>
                <a:gridCol w="1508750">
                  <a:extLst>
                    <a:ext uri="{9D8B030D-6E8A-4147-A177-3AD203B41FA5}">
                      <a16:colId xmlns:a16="http://schemas.microsoft.com/office/drawing/2014/main" val="20000"/>
                    </a:ext>
                  </a:extLst>
                </a:gridCol>
                <a:gridCol w="2263150">
                  <a:extLst>
                    <a:ext uri="{9D8B030D-6E8A-4147-A177-3AD203B41FA5}">
                      <a16:colId xmlns:a16="http://schemas.microsoft.com/office/drawing/2014/main" val="20001"/>
                    </a:ext>
                  </a:extLst>
                </a:gridCol>
                <a:gridCol w="1234450">
                  <a:extLst>
                    <a:ext uri="{9D8B030D-6E8A-4147-A177-3AD203B41FA5}">
                      <a16:colId xmlns:a16="http://schemas.microsoft.com/office/drawing/2014/main" val="20002"/>
                    </a:ext>
                  </a:extLst>
                </a:gridCol>
                <a:gridCol w="3291850">
                  <a:extLst>
                    <a:ext uri="{9D8B030D-6E8A-4147-A177-3AD203B41FA5}">
                      <a16:colId xmlns:a16="http://schemas.microsoft.com/office/drawing/2014/main" val="20003"/>
                    </a:ext>
                  </a:extLst>
                </a:gridCol>
              </a:tblGrid>
              <a:tr h="240050">
                <a:tc>
                  <a:txBody>
                    <a:bodyPr/>
                    <a:lstStyle/>
                    <a:p>
                      <a:pPr marL="0" marR="0" lvl="0" indent="0" algn="l" rtl="0">
                        <a:lnSpc>
                          <a:spcPct val="100000"/>
                        </a:lnSpc>
                        <a:spcBef>
                          <a:spcPts val="0"/>
                        </a:spcBef>
                        <a:spcAft>
                          <a:spcPts val="0"/>
                        </a:spcAft>
                        <a:buClr>
                          <a:srgbClr val="FFFFFF"/>
                        </a:buClr>
                        <a:buSzPts val="600"/>
                        <a:buFont typeface="Arial"/>
                        <a:buNone/>
                      </a:pPr>
                      <a:r>
                        <a:rPr lang="ja" sz="6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Foundry機能</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600"/>
                        <a:buFont typeface="Arial"/>
                        <a:buNone/>
                      </a:pPr>
                      <a:r>
                        <a:rPr lang="ja" sz="6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Databricksでの対応</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600"/>
                        <a:buFont typeface="Arial"/>
                        <a:buNone/>
                      </a:pPr>
                      <a:r>
                        <a:rPr lang="ja" sz="6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移植工数</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600"/>
                        <a:buFont typeface="Arial"/>
                        <a:buNone/>
                      </a:pPr>
                      <a:r>
                        <a:rPr lang="ja" sz="6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備考</a:t>
                      </a:r>
                      <a:endParaRPr sz="1400" u="none" strike="noStrike" cap="none" dirty="0"/>
                    </a:p>
                  </a:txBody>
                  <a:tcPr marL="68600" marR="68600" marT="34300" marB="34300">
                    <a:solidFill>
                      <a:srgbClr val="1B3A5C"/>
                    </a:solidFill>
                  </a:tcPr>
                </a:tc>
                <a:extLst>
                  <a:ext uri="{0D108BD9-81ED-4DB2-BD59-A6C34878D82A}">
                    <a16:rowId xmlns:a16="http://schemas.microsoft.com/office/drawing/2014/main" val="10000"/>
                  </a:ext>
                </a:extLst>
              </a:tr>
              <a:tr h="251475">
                <a:tc>
                  <a:txBody>
                    <a:bodyPr/>
                    <a:lstStyle/>
                    <a:p>
                      <a:pPr marL="0" marR="0" lvl="0" indent="0" algn="l" rtl="0">
                        <a:lnSpc>
                          <a:spcPct val="100000"/>
                        </a:lnSpc>
                        <a:spcBef>
                          <a:spcPts val="0"/>
                        </a:spcBef>
                        <a:spcAft>
                          <a:spcPts val="0"/>
                        </a:spcAft>
                        <a:buClr>
                          <a:srgbClr val="1A1A1A"/>
                        </a:buClr>
                        <a:buSzPts val="600"/>
                        <a:buFont typeface="Arial"/>
                        <a:buNone/>
                      </a:pP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PySpark パイプライン</a:t>
                      </a:r>
                      <a:b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b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（@transform_df等）</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PySpark on Databricks</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低</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デコレーター除去のみ</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コアロジックはそのまま動作</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1"/>
                  </a:ext>
                </a:extLst>
              </a:tr>
              <a:tr h="251475">
                <a:tc>
                  <a:txBody>
                    <a:bodyPr/>
                    <a:lstStyle/>
                    <a:p>
                      <a:pPr marL="0" marR="0" lvl="0" indent="0" algn="l" rtl="0">
                        <a:lnSpc>
                          <a:spcPct val="100000"/>
                        </a:lnSpc>
                        <a:spcBef>
                          <a:spcPts val="0"/>
                        </a:spcBef>
                        <a:spcAft>
                          <a:spcPts val="0"/>
                        </a:spcAft>
                        <a:buClr>
                          <a:srgbClr val="1A1A1A"/>
                        </a:buClr>
                        <a:buSzPts val="600"/>
                        <a:buFont typeface="Arial"/>
                        <a:buNone/>
                      </a:pP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Code Repositories</a:t>
                      </a:r>
                      <a:b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b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（Git + ビルド一体化）</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GitHub + Databricks Asset Bundles</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Lakeflow Jobs</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中</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CI/CDパイプライン構築</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RFP提案にこの工数が含まれているか要確認</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2"/>
                  </a:ext>
                </a:extLst>
              </a:tr>
              <a:tr h="251475">
                <a:tc>
                  <a:txBody>
                    <a:bodyPr/>
                    <a:lstStyle/>
                    <a:p>
                      <a:pPr marL="0" marR="0" lvl="0" indent="0" algn="l" rtl="0">
                        <a:lnSpc>
                          <a:spcPct val="100000"/>
                        </a:lnSpc>
                        <a:spcBef>
                          <a:spcPts val="0"/>
                        </a:spcBef>
                        <a:spcAft>
                          <a:spcPts val="0"/>
                        </a:spcAft>
                        <a:buClr>
                          <a:srgbClr val="1A1A1A"/>
                        </a:buClr>
                        <a:buSzPts val="600"/>
                        <a:buFont typeface="Arial"/>
                        <a:buNone/>
                      </a:pP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ブランチベースの</a:t>
                      </a:r>
                      <a:b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b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データ開発</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スキーマ分離 + 開発/本番</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プロモーションフロー</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中〜高</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運用フロー再設計</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Foundry最大の差別化機能。完全代替は困難</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開発→本番の運用ルール再設計が必要</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3"/>
                  </a:ext>
                </a:extLst>
              </a:tr>
              <a:tr h="251475">
                <a:tc>
                  <a:txBody>
                    <a:bodyPr/>
                    <a:lstStyle/>
                    <a:p>
                      <a:pPr marL="0" marR="0" lvl="0" indent="0" algn="l" rtl="0">
                        <a:lnSpc>
                          <a:spcPct val="100000"/>
                        </a:lnSpc>
                        <a:spcBef>
                          <a:spcPts val="0"/>
                        </a:spcBef>
                        <a:spcAft>
                          <a:spcPts val="0"/>
                        </a:spcAft>
                        <a:buClr>
                          <a:srgbClr val="1A1A1A"/>
                        </a:buClr>
                        <a:buSzPts val="600"/>
                        <a:buFont typeface="Arial"/>
                        <a:buNone/>
                      </a:pP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自動データバージョニング</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Iceberg/Delta Time Travel</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 VACUUMポリシー設計</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低</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保持期間の設計のみ</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「全ビルド無期限保持」は非現実的</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スナップショット保持ポリシーの設計が必要</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4"/>
                  </a:ext>
                </a:extLst>
              </a:tr>
              <a:tr h="251475">
                <a:tc>
                  <a:txBody>
                    <a:bodyPr/>
                    <a:lstStyle/>
                    <a:p>
                      <a:pPr marL="0" marR="0" lvl="0" indent="0" algn="l" rtl="0">
                        <a:lnSpc>
                          <a:spcPct val="100000"/>
                        </a:lnSpc>
                        <a:spcBef>
                          <a:spcPts val="0"/>
                        </a:spcBef>
                        <a:spcAft>
                          <a:spcPts val="0"/>
                        </a:spcAft>
                        <a:buClr>
                          <a:srgbClr val="1A1A1A"/>
                        </a:buClr>
                        <a:buSzPts val="600"/>
                        <a:buFont typeface="Arial"/>
                        <a:buNone/>
                      </a:pPr>
                      <a:r>
                        <a:rPr lang="ja" sz="6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自動データリネージ</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Unity Catalog Lineage</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（PySpark列レベル対応）</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なし</a:t>
                      </a:r>
                      <a:b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自動で動作</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600"/>
                        <a:buFont typeface="Arial"/>
                        <a:buNone/>
                      </a:pPr>
                      <a:r>
                        <a:rPr lang="ja" sz="6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.toPandas()やRDD操作のみ非対応</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5"/>
                  </a:ext>
                </a:extLst>
              </a:tr>
            </a:tbl>
          </a:graphicData>
        </a:graphic>
      </p:graphicFrame>
      <p:sp>
        <p:nvSpPr>
          <p:cNvPr id="629" name="Google Shape;629;p27"/>
          <p:cNvSpPr txBox="1"/>
          <p:nvPr/>
        </p:nvSpPr>
        <p:spPr>
          <a:xfrm>
            <a:off x="8366760" y="4834890"/>
            <a:ext cx="548640" cy="161552"/>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11</a:t>
            </a:r>
            <a:endParaRPr sz="1350" b="0" i="0" u="none" strike="noStrike" cap="none" dirty="0">
              <a:solidFill>
                <a:schemeClr val="dk1"/>
              </a:solidFill>
              <a:latin typeface="Calibri"/>
              <a:ea typeface="Calibri"/>
              <a:cs typeface="Calibri"/>
              <a:sym typeface="Calibri"/>
            </a:endParaRPr>
          </a:p>
        </p:txBody>
      </p:sp>
      <p:sp>
        <p:nvSpPr>
          <p:cNvPr id="630" name="Google Shape;630;p27"/>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別紙A-8</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631" name="Google Shape;631;p27"/>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632" name="Google Shape;632;p27"/>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633" name="Google Shape;633;p27"/>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別紙A-8</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28"/>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39" name="Google Shape;639;p28"/>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6</a:t>
            </a:r>
            <a:endParaRPr sz="1350" b="0" i="0" u="none" strike="noStrike" cap="none" dirty="0">
              <a:solidFill>
                <a:schemeClr val="dk1"/>
              </a:solidFill>
              <a:latin typeface="Calibri"/>
              <a:ea typeface="Calibri"/>
              <a:cs typeface="Calibri"/>
              <a:sym typeface="Calibri"/>
            </a:endParaRPr>
          </a:p>
        </p:txBody>
      </p:sp>
      <p:sp>
        <p:nvSpPr>
          <p:cNvPr id="640" name="Google Shape;640;p28"/>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セマンティックレイヤー：Ontology代替の要否</a:t>
            </a:r>
            <a:endParaRPr sz="1350" b="0" i="0" u="none" strike="noStrike" cap="none" dirty="0">
              <a:solidFill>
                <a:schemeClr val="dk1"/>
              </a:solidFill>
              <a:latin typeface="Calibri"/>
              <a:ea typeface="Calibri"/>
              <a:cs typeface="Calibri"/>
              <a:sym typeface="Calibri"/>
            </a:endParaRPr>
          </a:p>
        </p:txBody>
      </p:sp>
      <p:sp>
        <p:nvSpPr>
          <p:cNvPr id="641" name="Google Shape;641;p28"/>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ビジネス用語の定義・計算ロジックを一箇所で管理する層。FoundryのOntologyに相当</a:t>
            </a:r>
            <a:endParaRPr sz="1350" b="0" i="0" u="none" strike="noStrike" cap="none" dirty="0">
              <a:solidFill>
                <a:schemeClr val="dk1"/>
              </a:solidFill>
              <a:latin typeface="Calibri"/>
              <a:ea typeface="Calibri"/>
              <a:cs typeface="Calibri"/>
              <a:sym typeface="Calibri"/>
            </a:endParaRPr>
          </a:p>
        </p:txBody>
      </p:sp>
      <p:sp>
        <p:nvSpPr>
          <p:cNvPr id="642" name="Google Shape;642;p28"/>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43" name="Google Shape;643;p28"/>
          <p:cNvSpPr txBox="1"/>
          <p:nvPr/>
        </p:nvSpPr>
        <p:spPr>
          <a:xfrm>
            <a:off x="480060" y="891540"/>
            <a:ext cx="363474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1" i="0" u="none" strike="noStrike" cap="none" dirty="0">
                <a:solidFill>
                  <a:srgbClr val="C0392B"/>
                </a:solidFill>
                <a:latin typeface="游ゴシック" panose="020B0400000000000000" pitchFamily="50" charset="-128"/>
                <a:ea typeface="游ゴシック" panose="020B0400000000000000" pitchFamily="50" charset="-128"/>
                <a:sym typeface="Arial"/>
              </a:rPr>
              <a:t>セマンティックレイヤーなし</a:t>
            </a:r>
            <a:endParaRPr sz="1350" b="0" i="0" u="none" strike="noStrike" cap="none" dirty="0">
              <a:solidFill>
                <a:schemeClr val="dk1"/>
              </a:solidFill>
              <a:latin typeface="Calibri"/>
              <a:ea typeface="Calibri"/>
              <a:cs typeface="Calibri"/>
              <a:sym typeface="Calibri"/>
            </a:endParaRPr>
          </a:p>
        </p:txBody>
      </p:sp>
      <p:sp>
        <p:nvSpPr>
          <p:cNvPr id="644" name="Google Shape;644;p28"/>
          <p:cNvSpPr/>
          <p:nvPr/>
        </p:nvSpPr>
        <p:spPr>
          <a:xfrm>
            <a:off x="548640" y="1165860"/>
            <a:ext cx="822960" cy="288036"/>
          </a:xfrm>
          <a:prstGeom prst="roundRect">
            <a:avLst>
              <a:gd name="adj" fmla="val 16667"/>
            </a:avLst>
          </a:prstGeom>
          <a:solidFill>
            <a:srgbClr val="FDEDED"/>
          </a:solidFill>
          <a:ln w="9525" cap="flat" cmpd="sng">
            <a:solidFill>
              <a:srgbClr val="C0392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C0392B"/>
                </a:solidFill>
                <a:latin typeface="游ゴシック" panose="020B0400000000000000" pitchFamily="50" charset="-128"/>
                <a:ea typeface="游ゴシック" panose="020B0400000000000000" pitchFamily="50" charset="-128"/>
                <a:sym typeface="Arial"/>
              </a:rPr>
              <a:t>Tableau</a:t>
            </a:r>
            <a:endParaRPr sz="1350" b="0" i="0" u="none" strike="noStrike" cap="none" dirty="0">
              <a:solidFill>
                <a:schemeClr val="dk1"/>
              </a:solidFill>
              <a:latin typeface="Calibri"/>
              <a:ea typeface="Calibri"/>
              <a:cs typeface="Calibri"/>
              <a:sym typeface="Calibri"/>
            </a:endParaRPr>
          </a:p>
        </p:txBody>
      </p:sp>
      <p:sp>
        <p:nvSpPr>
          <p:cNvPr id="645" name="Google Shape;645;p28"/>
          <p:cNvSpPr txBox="1"/>
          <p:nvPr/>
        </p:nvSpPr>
        <p:spPr>
          <a:xfrm>
            <a:off x="1474470" y="1200150"/>
            <a:ext cx="24003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入居率 = 入居者数 / 定員  (定義A)</a:t>
            </a:r>
            <a:endParaRPr sz="1350" b="0" i="0" u="none" strike="noStrike" cap="none" dirty="0">
              <a:solidFill>
                <a:schemeClr val="dk1"/>
              </a:solidFill>
              <a:latin typeface="Calibri"/>
              <a:ea typeface="Calibri"/>
              <a:cs typeface="Calibri"/>
              <a:sym typeface="Calibri"/>
            </a:endParaRPr>
          </a:p>
        </p:txBody>
      </p:sp>
      <p:sp>
        <p:nvSpPr>
          <p:cNvPr id="646" name="Google Shape;646;p28"/>
          <p:cNvSpPr/>
          <p:nvPr/>
        </p:nvSpPr>
        <p:spPr>
          <a:xfrm>
            <a:off x="548640" y="1543050"/>
            <a:ext cx="822960" cy="288036"/>
          </a:xfrm>
          <a:prstGeom prst="roundRect">
            <a:avLst>
              <a:gd name="adj" fmla="val 16667"/>
            </a:avLst>
          </a:prstGeom>
          <a:solidFill>
            <a:srgbClr val="FDEDED"/>
          </a:solidFill>
          <a:ln w="9525" cap="flat" cmpd="sng">
            <a:solidFill>
              <a:srgbClr val="C0392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C0392B"/>
                </a:solidFill>
                <a:latin typeface="游ゴシック" panose="020B0400000000000000" pitchFamily="50" charset="-128"/>
                <a:ea typeface="游ゴシック" panose="020B0400000000000000" pitchFamily="50" charset="-128"/>
                <a:sym typeface="Arial"/>
              </a:rPr>
              <a:t>AIチャット</a:t>
            </a:r>
            <a:endParaRPr sz="1350" b="0" i="0" u="none" strike="noStrike" cap="none" dirty="0">
              <a:solidFill>
                <a:schemeClr val="dk1"/>
              </a:solidFill>
              <a:latin typeface="Calibri"/>
              <a:ea typeface="Calibri"/>
              <a:cs typeface="Calibri"/>
              <a:sym typeface="Calibri"/>
            </a:endParaRPr>
          </a:p>
        </p:txBody>
      </p:sp>
      <p:sp>
        <p:nvSpPr>
          <p:cNvPr id="647" name="Google Shape;647;p28"/>
          <p:cNvSpPr txBox="1"/>
          <p:nvPr/>
        </p:nvSpPr>
        <p:spPr>
          <a:xfrm>
            <a:off x="1474470" y="1577340"/>
            <a:ext cx="24003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入居率 = 入居者数 / ベッド数  (定義B（微妙に違う）)</a:t>
            </a:r>
            <a:endParaRPr sz="1350" b="0" i="0" u="none" strike="noStrike" cap="none" dirty="0">
              <a:solidFill>
                <a:schemeClr val="dk1"/>
              </a:solidFill>
              <a:latin typeface="Calibri"/>
              <a:ea typeface="Calibri"/>
              <a:cs typeface="Calibri"/>
              <a:sym typeface="Calibri"/>
            </a:endParaRPr>
          </a:p>
        </p:txBody>
      </p:sp>
      <p:sp>
        <p:nvSpPr>
          <p:cNvPr id="648" name="Google Shape;648;p28"/>
          <p:cNvSpPr/>
          <p:nvPr/>
        </p:nvSpPr>
        <p:spPr>
          <a:xfrm>
            <a:off x="548640" y="1920240"/>
            <a:ext cx="822960" cy="288036"/>
          </a:xfrm>
          <a:prstGeom prst="roundRect">
            <a:avLst>
              <a:gd name="adj" fmla="val 16667"/>
            </a:avLst>
          </a:prstGeom>
          <a:solidFill>
            <a:srgbClr val="FDEDED"/>
          </a:solidFill>
          <a:ln w="9525" cap="flat" cmpd="sng">
            <a:solidFill>
              <a:srgbClr val="C0392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C0392B"/>
                </a:solidFill>
                <a:latin typeface="游ゴシック" panose="020B0400000000000000" pitchFamily="50" charset="-128"/>
                <a:ea typeface="游ゴシック" panose="020B0400000000000000" pitchFamily="50" charset="-128"/>
                <a:sym typeface="Arial"/>
              </a:rPr>
              <a:t>Excelレポート</a:t>
            </a:r>
            <a:endParaRPr sz="1350" b="0" i="0" u="none" strike="noStrike" cap="none" dirty="0">
              <a:solidFill>
                <a:schemeClr val="dk1"/>
              </a:solidFill>
              <a:latin typeface="Calibri"/>
              <a:ea typeface="Calibri"/>
              <a:cs typeface="Calibri"/>
              <a:sym typeface="Calibri"/>
            </a:endParaRPr>
          </a:p>
        </p:txBody>
      </p:sp>
      <p:sp>
        <p:nvSpPr>
          <p:cNvPr id="649" name="Google Shape;649;p28"/>
          <p:cNvSpPr txBox="1"/>
          <p:nvPr/>
        </p:nvSpPr>
        <p:spPr>
          <a:xfrm>
            <a:off x="1474470" y="1954530"/>
            <a:ext cx="2400300" cy="161552"/>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333333"/>
                </a:solidFill>
                <a:latin typeface="游ゴシック" panose="020B0400000000000000" pitchFamily="50" charset="-128"/>
                <a:ea typeface="游ゴシック" panose="020B0400000000000000" pitchFamily="50" charset="-128"/>
                <a:sym typeface="Arial"/>
              </a:rPr>
              <a:t>入居率 = ???  (定義C（不明）)</a:t>
            </a:r>
            <a:endParaRPr sz="1350" b="0" i="0" u="none" strike="noStrike" cap="none" dirty="0">
              <a:solidFill>
                <a:schemeClr val="dk1"/>
              </a:solidFill>
              <a:latin typeface="Calibri"/>
              <a:ea typeface="Calibri"/>
              <a:cs typeface="Calibri"/>
              <a:sym typeface="Calibri"/>
            </a:endParaRPr>
          </a:p>
        </p:txBody>
      </p:sp>
      <p:sp>
        <p:nvSpPr>
          <p:cNvPr id="650" name="Google Shape;650;p28"/>
          <p:cNvSpPr/>
          <p:nvPr/>
        </p:nvSpPr>
        <p:spPr>
          <a:xfrm>
            <a:off x="548640" y="2263140"/>
            <a:ext cx="3429000" cy="274320"/>
          </a:xfrm>
          <a:prstGeom prst="rect">
            <a:avLst/>
          </a:prstGeom>
          <a:solidFill>
            <a:srgbClr val="FDEDED"/>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C0392B"/>
                </a:solidFill>
                <a:latin typeface="游ゴシック" panose="020B0400000000000000" pitchFamily="50" charset="-128"/>
                <a:ea typeface="游ゴシック" panose="020B0400000000000000" pitchFamily="50" charset="-128"/>
                <a:sym typeface="Arial"/>
              </a:rPr>
              <a:t>→ 数値が合わない。信頼を失う</a:t>
            </a:r>
            <a:endParaRPr sz="1350" b="0" i="0" u="none" strike="noStrike" cap="none" dirty="0">
              <a:solidFill>
                <a:schemeClr val="dk1"/>
              </a:solidFill>
              <a:latin typeface="Calibri"/>
              <a:ea typeface="Calibri"/>
              <a:cs typeface="Calibri"/>
              <a:sym typeface="Calibri"/>
            </a:endParaRPr>
          </a:p>
        </p:txBody>
      </p:sp>
      <p:sp>
        <p:nvSpPr>
          <p:cNvPr id="651" name="Google Shape;651;p28"/>
          <p:cNvSpPr/>
          <p:nvPr/>
        </p:nvSpPr>
        <p:spPr>
          <a:xfrm>
            <a:off x="4251960" y="891540"/>
            <a:ext cx="10287" cy="1783080"/>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52" name="Google Shape;652;p28"/>
          <p:cNvSpPr txBox="1"/>
          <p:nvPr/>
        </p:nvSpPr>
        <p:spPr>
          <a:xfrm>
            <a:off x="4457700" y="891540"/>
            <a:ext cx="41148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1" i="0" u="none" strike="noStrike" cap="none" dirty="0">
                <a:solidFill>
                  <a:srgbClr val="27724A"/>
                </a:solidFill>
                <a:latin typeface="游ゴシック" panose="020B0400000000000000" pitchFamily="50" charset="-128"/>
                <a:ea typeface="游ゴシック" panose="020B0400000000000000" pitchFamily="50" charset="-128"/>
                <a:sym typeface="Arial"/>
              </a:rPr>
              <a:t>セマンティックレイヤーあり</a:t>
            </a:r>
            <a:endParaRPr sz="1350" b="0" i="0" u="none" strike="noStrike" cap="none" dirty="0">
              <a:solidFill>
                <a:schemeClr val="dk1"/>
              </a:solidFill>
              <a:latin typeface="Calibri"/>
              <a:ea typeface="Calibri"/>
              <a:cs typeface="Calibri"/>
              <a:sym typeface="Calibri"/>
            </a:endParaRPr>
          </a:p>
        </p:txBody>
      </p:sp>
      <p:sp>
        <p:nvSpPr>
          <p:cNvPr id="653" name="Google Shape;653;p28"/>
          <p:cNvSpPr/>
          <p:nvPr/>
        </p:nvSpPr>
        <p:spPr>
          <a:xfrm>
            <a:off x="5349240" y="1165860"/>
            <a:ext cx="2400300" cy="445770"/>
          </a:xfrm>
          <a:prstGeom prst="roundRect">
            <a:avLst>
              <a:gd name="adj" fmla="val 16667"/>
            </a:avLst>
          </a:prstGeom>
          <a:solidFill>
            <a:srgbClr val="1B3A5C"/>
          </a:solidFill>
          <a:ln w="1270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セマンティックレイヤー</a:t>
            </a:r>
            <a:endParaRPr sz="135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75"/>
              </a:spcBef>
              <a:spcAft>
                <a:spcPts val="0"/>
              </a:spcAft>
              <a:buClr>
                <a:srgbClr val="000000"/>
              </a:buClr>
              <a:buSzPts val="600"/>
              <a:buFont typeface="Arial"/>
              <a:buNone/>
            </a:pPr>
            <a:r>
              <a:rPr lang="ja" sz="600" b="0" i="0" u="none" strike="noStrike" cap="none" dirty="0">
                <a:solidFill>
                  <a:srgbClr val="C0D0E0"/>
                </a:solidFill>
                <a:latin typeface="游ゴシック" panose="020B0400000000000000" pitchFamily="50" charset="-128"/>
                <a:ea typeface="游ゴシック" panose="020B0400000000000000" pitchFamily="50" charset="-128"/>
                <a:sym typeface="Arial"/>
              </a:rPr>
              <a:t>入居率 = 入居者数 / 定員（唯一の定義）</a:t>
            </a:r>
            <a:endParaRPr sz="1350" b="0" i="0" u="none" strike="noStrike" cap="none" dirty="0">
              <a:solidFill>
                <a:schemeClr val="dk1"/>
              </a:solidFill>
              <a:latin typeface="Calibri"/>
              <a:ea typeface="Calibri"/>
              <a:cs typeface="Calibri"/>
              <a:sym typeface="Calibri"/>
            </a:endParaRPr>
          </a:p>
        </p:txBody>
      </p:sp>
      <p:sp>
        <p:nvSpPr>
          <p:cNvPr id="654" name="Google Shape;654;p28"/>
          <p:cNvSpPr/>
          <p:nvPr/>
        </p:nvSpPr>
        <p:spPr>
          <a:xfrm>
            <a:off x="5657850" y="1611630"/>
            <a:ext cx="20574" cy="240030"/>
          </a:xfrm>
          <a:prstGeom prst="rect">
            <a:avLst/>
          </a:prstGeom>
          <a:solidFill>
            <a:srgbClr val="27724A"/>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55" name="Google Shape;655;p28"/>
          <p:cNvSpPr/>
          <p:nvPr/>
        </p:nvSpPr>
        <p:spPr>
          <a:xfrm>
            <a:off x="5349240" y="1851660"/>
            <a:ext cx="685800" cy="274320"/>
          </a:xfrm>
          <a:prstGeom prst="roundRect">
            <a:avLst>
              <a:gd name="adj" fmla="val 16667"/>
            </a:avLst>
          </a:prstGeom>
          <a:solidFill>
            <a:srgbClr val="E8F5E9"/>
          </a:solidFill>
          <a:ln w="12700" cap="flat" cmpd="sng">
            <a:solidFill>
              <a:srgbClr val="27724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Tableau</a:t>
            </a:r>
            <a:endParaRPr sz="1350" b="0" i="0" u="none" strike="noStrike" cap="none" dirty="0">
              <a:solidFill>
                <a:schemeClr val="dk1"/>
              </a:solidFill>
              <a:latin typeface="Calibri"/>
              <a:ea typeface="Calibri"/>
              <a:cs typeface="Calibri"/>
              <a:sym typeface="Calibri"/>
            </a:endParaRPr>
          </a:p>
        </p:txBody>
      </p:sp>
      <p:sp>
        <p:nvSpPr>
          <p:cNvPr id="656" name="Google Shape;656;p28"/>
          <p:cNvSpPr/>
          <p:nvPr/>
        </p:nvSpPr>
        <p:spPr>
          <a:xfrm>
            <a:off x="6515100" y="1611630"/>
            <a:ext cx="20574" cy="240030"/>
          </a:xfrm>
          <a:prstGeom prst="rect">
            <a:avLst/>
          </a:prstGeom>
          <a:solidFill>
            <a:srgbClr val="27724A"/>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57" name="Google Shape;657;p28"/>
          <p:cNvSpPr/>
          <p:nvPr/>
        </p:nvSpPr>
        <p:spPr>
          <a:xfrm>
            <a:off x="6206490" y="1851660"/>
            <a:ext cx="685800" cy="274320"/>
          </a:xfrm>
          <a:prstGeom prst="roundRect">
            <a:avLst>
              <a:gd name="adj" fmla="val 16667"/>
            </a:avLst>
          </a:prstGeom>
          <a:solidFill>
            <a:srgbClr val="E8F5E9"/>
          </a:solidFill>
          <a:ln w="12700" cap="flat" cmpd="sng">
            <a:solidFill>
              <a:srgbClr val="27724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AIチャット</a:t>
            </a:r>
            <a:endParaRPr sz="1350" b="0" i="0" u="none" strike="noStrike" cap="none" dirty="0">
              <a:solidFill>
                <a:schemeClr val="dk1"/>
              </a:solidFill>
              <a:latin typeface="Calibri"/>
              <a:ea typeface="Calibri"/>
              <a:cs typeface="Calibri"/>
              <a:sym typeface="Calibri"/>
            </a:endParaRPr>
          </a:p>
        </p:txBody>
      </p:sp>
      <p:sp>
        <p:nvSpPr>
          <p:cNvPr id="658" name="Google Shape;658;p28"/>
          <p:cNvSpPr/>
          <p:nvPr/>
        </p:nvSpPr>
        <p:spPr>
          <a:xfrm>
            <a:off x="7372350" y="1611630"/>
            <a:ext cx="20574" cy="240030"/>
          </a:xfrm>
          <a:prstGeom prst="rect">
            <a:avLst/>
          </a:prstGeom>
          <a:solidFill>
            <a:srgbClr val="27724A"/>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59" name="Google Shape;659;p28"/>
          <p:cNvSpPr/>
          <p:nvPr/>
        </p:nvSpPr>
        <p:spPr>
          <a:xfrm>
            <a:off x="7063740" y="1851660"/>
            <a:ext cx="685800" cy="274320"/>
          </a:xfrm>
          <a:prstGeom prst="roundRect">
            <a:avLst>
              <a:gd name="adj" fmla="val 16667"/>
            </a:avLst>
          </a:prstGeom>
          <a:solidFill>
            <a:srgbClr val="E8F5E9"/>
          </a:solidFill>
          <a:ln w="12700" cap="flat" cmpd="sng">
            <a:solidFill>
              <a:srgbClr val="27724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27724A"/>
                </a:solidFill>
                <a:latin typeface="游ゴシック" panose="020B0400000000000000" pitchFamily="50" charset="-128"/>
                <a:ea typeface="游ゴシック" panose="020B0400000000000000" pitchFamily="50" charset="-128"/>
                <a:sym typeface="Arial"/>
              </a:rPr>
              <a:t>Excel</a:t>
            </a:r>
            <a:endParaRPr sz="1350" b="0" i="0" u="none" strike="noStrike" cap="none" dirty="0">
              <a:solidFill>
                <a:schemeClr val="dk1"/>
              </a:solidFill>
              <a:latin typeface="Calibri"/>
              <a:ea typeface="Calibri"/>
              <a:cs typeface="Calibri"/>
              <a:sym typeface="Calibri"/>
            </a:endParaRPr>
          </a:p>
        </p:txBody>
      </p:sp>
      <p:sp>
        <p:nvSpPr>
          <p:cNvPr id="660" name="Google Shape;660;p28"/>
          <p:cNvSpPr/>
          <p:nvPr/>
        </p:nvSpPr>
        <p:spPr>
          <a:xfrm>
            <a:off x="4457700" y="2263140"/>
            <a:ext cx="4114800" cy="274320"/>
          </a:xfrm>
          <a:prstGeom prst="rect">
            <a:avLst/>
          </a:prstGeom>
          <a:solidFill>
            <a:srgbClr val="E8F5E9"/>
          </a:solidFill>
          <a:ln>
            <a:noFill/>
          </a:ln>
          <a:effectLst>
            <a:outerShdw blurRad="40000" dist="23000" dir="5400000" rotWithShape="0">
              <a:srgbClr val="000000">
                <a:alpha val="34901"/>
              </a:srgbClr>
            </a:outerShdw>
          </a:effectLst>
        </p:spPr>
        <p:txBody>
          <a:bodyPr spcFirstLastPara="1" wrap="square" lIns="68550" tIns="4112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27724A"/>
                </a:solidFill>
                <a:latin typeface="游ゴシック" panose="020B0400000000000000" pitchFamily="50" charset="-128"/>
                <a:ea typeface="游ゴシック" panose="020B0400000000000000" pitchFamily="50" charset="-128"/>
                <a:sym typeface="Arial"/>
              </a:rPr>
              <a:t>→ すべて同じ数値。Single Source of Truth</a:t>
            </a:r>
            <a:endParaRPr sz="1350" b="0" i="0" u="none" strike="noStrike" cap="none" dirty="0">
              <a:solidFill>
                <a:schemeClr val="dk1"/>
              </a:solidFill>
              <a:latin typeface="Calibri"/>
              <a:ea typeface="Calibri"/>
              <a:cs typeface="Calibri"/>
              <a:sym typeface="Calibri"/>
            </a:endParaRPr>
          </a:p>
        </p:txBody>
      </p:sp>
      <p:sp>
        <p:nvSpPr>
          <p:cNvPr id="661" name="Google Shape;661;p28"/>
          <p:cNvSpPr txBox="1"/>
          <p:nvPr/>
        </p:nvSpPr>
        <p:spPr>
          <a:xfrm>
            <a:off x="480060" y="2743200"/>
            <a:ext cx="78867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A1A1A"/>
                </a:solidFill>
                <a:latin typeface="游ゴシック" panose="020B0400000000000000" pitchFamily="50" charset="-128"/>
                <a:ea typeface="游ゴシック" panose="020B0400000000000000" pitchFamily="50" charset="-128"/>
                <a:sym typeface="Arial"/>
              </a:rPr>
              <a:t>必要性の判断基準</a:t>
            </a:r>
            <a:endParaRPr sz="1350" b="0" i="0" u="none" strike="noStrike" cap="none" dirty="0">
              <a:solidFill>
                <a:schemeClr val="dk1"/>
              </a:solidFill>
              <a:latin typeface="Calibri"/>
              <a:ea typeface="Calibri"/>
              <a:cs typeface="Calibri"/>
              <a:sym typeface="Calibri"/>
            </a:endParaRPr>
          </a:p>
        </p:txBody>
      </p:sp>
      <p:graphicFrame>
        <p:nvGraphicFramePr>
          <p:cNvPr id="662" name="Google Shape;662;p28"/>
          <p:cNvGraphicFramePr/>
          <p:nvPr/>
        </p:nvGraphicFramePr>
        <p:xfrm>
          <a:off x="480060" y="2957512"/>
          <a:ext cx="7886700" cy="1242160"/>
        </p:xfrm>
        <a:graphic>
          <a:graphicData uri="http://schemas.openxmlformats.org/drawingml/2006/table">
            <a:tbl>
              <a:tblPr>
                <a:noFill/>
                <a:tableStyleId>{831F8A93-CA79-4AF6-B420-68E9A51CCC31}</a:tableStyleId>
              </a:tblPr>
              <a:tblGrid>
                <a:gridCol w="24003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3771900">
                  <a:extLst>
                    <a:ext uri="{9D8B030D-6E8A-4147-A177-3AD203B41FA5}">
                      <a16:colId xmlns:a16="http://schemas.microsoft.com/office/drawing/2014/main" val="20002"/>
                    </a:ext>
                  </a:extLst>
                </a:gridCol>
              </a:tblGrid>
              <a:tr h="240050">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ユースケース</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セマンティックレイヤー</a:t>
                      </a:r>
                      <a:endParaRPr sz="1400" u="none" strike="noStrike" cap="none" dirty="0"/>
                    </a:p>
                  </a:txBody>
                  <a:tcPr marL="68600" marR="68600" marT="34300" marB="34300">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理由</a:t>
                      </a:r>
                      <a:endParaRPr sz="1400" u="none" strike="noStrike" cap="none" dirty="0"/>
                    </a:p>
                  </a:txBody>
                  <a:tcPr marL="68600" marR="68600" marT="34300" marB="34300">
                    <a:solidFill>
                      <a:srgbClr val="1B3A5C"/>
                    </a:solidFill>
                  </a:tcPr>
                </a:tc>
                <a:extLst>
                  <a:ext uri="{0D108BD9-81ED-4DB2-BD59-A6C34878D82A}">
                    <a16:rowId xmlns:a16="http://schemas.microsoft.com/office/drawing/2014/main" val="10000"/>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ダッシュボード4つのみ（現状維持）</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不要（後から追加可能）</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Tableauの計算フィールドで十分</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1"/>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ダッシュボード増加（10+）</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推奨</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計算定義の食い違い防止</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2"/>
                  </a:ext>
                </a:extLst>
              </a:tr>
              <a:tr h="274325">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AIチャット（自然言語分析）</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実質必須</a:t>
                      </a:r>
                      <a:endParaRPr sz="1400" u="none" strike="noStrike" cap="none" dirty="0"/>
                    </a:p>
                  </a:txBody>
                  <a:tcPr marL="68600" marR="68600" marT="34300" marB="34300">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セマンティック層によりAIのSQL精度が約3倍向上</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（学術研究: 16%→54%）</a:t>
                      </a:r>
                      <a:endParaRPr sz="1400" u="none" strike="noStrike" cap="none" dirty="0"/>
                    </a:p>
                  </a:txBody>
                  <a:tcPr marL="68600" marR="68600" marT="34300" marB="34300">
                    <a:solidFill>
                      <a:srgbClr val="FFFFFF"/>
                    </a:solidFill>
                  </a:tcPr>
                </a:tc>
                <a:extLst>
                  <a:ext uri="{0D108BD9-81ED-4DB2-BD59-A6C34878D82A}">
                    <a16:rowId xmlns:a16="http://schemas.microsoft.com/office/drawing/2014/main" val="10003"/>
                  </a:ext>
                </a:extLst>
              </a:tr>
              <a:tr h="240050">
                <a:tc>
                  <a:txBody>
                    <a:bodyPr/>
                    <a:lstStyle/>
                    <a:p>
                      <a:pPr marL="0" marR="0" lvl="0" indent="0" algn="l" rtl="0">
                        <a:lnSpc>
                          <a:spcPct val="100000"/>
                        </a:lnSpc>
                        <a:spcBef>
                          <a:spcPts val="0"/>
                        </a:spcBef>
                        <a:spcAft>
                          <a:spcPts val="0"/>
                        </a:spcAft>
                        <a:buClr>
                          <a:srgbClr val="1A1A1A"/>
                        </a:buClr>
                        <a:buSzPts val="700"/>
                        <a:buFont typeface="Arial"/>
                        <a:buNone/>
                      </a:pPr>
                      <a:r>
                        <a:rPr lang="ja" sz="700" b="1" u="none" strike="noStrike" cap="none" dirty="0">
                          <a:solidFill>
                            <a:srgbClr val="1A1A1A"/>
                          </a:solidFill>
                          <a:latin typeface="游ゴシック" panose="020B0400000000000000" pitchFamily="50" charset="-128"/>
                          <a:ea typeface="游ゴシック" panose="020B0400000000000000" pitchFamily="50" charset="-128"/>
                          <a:cs typeface="Arial"/>
                          <a:sym typeface="Arial"/>
                        </a:rPr>
                        <a:t>予測AI + 自動レポート</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必須</a:t>
                      </a:r>
                      <a:endParaRPr sz="1400" u="none" strike="noStrike" cap="none" dirty="0"/>
                    </a:p>
                  </a:txBody>
                  <a:tcPr marL="68600" marR="68600" marT="34300" marB="34300">
                    <a:solidFill>
                      <a:srgbClr val="F5F5F5"/>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Feature Storeとの連携も必要</a:t>
                      </a:r>
                      <a:endParaRPr sz="1400" u="none" strike="noStrike" cap="none" dirty="0"/>
                    </a:p>
                  </a:txBody>
                  <a:tcPr marL="68600" marR="68600" marT="34300" marB="34300">
                    <a:solidFill>
                      <a:srgbClr val="F5F5F5"/>
                    </a:solidFill>
                  </a:tcPr>
                </a:tc>
                <a:extLst>
                  <a:ext uri="{0D108BD9-81ED-4DB2-BD59-A6C34878D82A}">
                    <a16:rowId xmlns:a16="http://schemas.microsoft.com/office/drawing/2014/main" val="10004"/>
                  </a:ext>
                </a:extLst>
              </a:tr>
            </a:tbl>
          </a:graphicData>
        </a:graphic>
      </p:graphicFrame>
      <p:sp>
        <p:nvSpPr>
          <p:cNvPr id="663" name="Google Shape;663;p28"/>
          <p:cNvSpPr txBox="1"/>
          <p:nvPr/>
        </p:nvSpPr>
        <p:spPr>
          <a:xfrm>
            <a:off x="480060" y="4346258"/>
            <a:ext cx="2057400" cy="173094"/>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675"/>
              <a:buFont typeface="Arial"/>
              <a:buNone/>
            </a:pPr>
            <a:r>
              <a:rPr lang="ja" sz="675" b="1" i="0" u="none" strike="noStrike" cap="none" dirty="0">
                <a:solidFill>
                  <a:srgbClr val="1A1A1A"/>
                </a:solidFill>
                <a:latin typeface="游ゴシック" panose="020B0400000000000000" pitchFamily="50" charset="-128"/>
                <a:ea typeface="游ゴシック" panose="020B0400000000000000" pitchFamily="50" charset="-128"/>
                <a:sym typeface="Arial"/>
              </a:rPr>
              <a:t>主な選択肢：</a:t>
            </a:r>
            <a:endParaRPr sz="1350" b="0" i="0" u="none" strike="noStrike" cap="none" dirty="0">
              <a:solidFill>
                <a:schemeClr val="dk1"/>
              </a:solidFill>
              <a:latin typeface="Calibri"/>
              <a:ea typeface="Calibri"/>
              <a:cs typeface="Calibri"/>
              <a:sym typeface="Calibri"/>
            </a:endParaRPr>
          </a:p>
        </p:txBody>
      </p:sp>
      <p:sp>
        <p:nvSpPr>
          <p:cNvPr id="664" name="Google Shape;664;p28"/>
          <p:cNvSpPr/>
          <p:nvPr/>
        </p:nvSpPr>
        <p:spPr>
          <a:xfrm>
            <a:off x="1140143" y="4321156"/>
            <a:ext cx="1851660" cy="187364"/>
          </a:xfrm>
          <a:prstGeom prst="roundRect">
            <a:avLst>
              <a:gd name="adj" fmla="val 16667"/>
            </a:avLst>
          </a:prstGeom>
          <a:solidFill>
            <a:schemeClr val="lt1"/>
          </a:solidFill>
          <a:ln w="12700" cap="flat" cmpd="sng">
            <a:solidFill>
              <a:srgbClr val="E8E8E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20550"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1B3A5C"/>
                </a:solidFill>
                <a:latin typeface="游ゴシック" panose="020B0400000000000000" pitchFamily="50" charset="-128"/>
                <a:ea typeface="游ゴシック" panose="020B0400000000000000" pitchFamily="50" charset="-128"/>
                <a:sym typeface="Arial"/>
              </a:rPr>
              <a:t>Databricks Metric Views</a:t>
            </a:r>
            <a:r>
              <a:rPr lang="ja" sz="525" b="1" i="0" u="none" strike="noStrike" cap="none" dirty="0">
                <a:solidFill>
                  <a:srgbClr val="666666"/>
                </a:solidFill>
                <a:latin typeface="游ゴシック" panose="020B0400000000000000" pitchFamily="50" charset="-128"/>
                <a:ea typeface="游ゴシック" panose="020B0400000000000000" pitchFamily="50" charset="-128"/>
                <a:sym typeface="Arial"/>
              </a:rPr>
              <a:t>  UC統合・GA済み</a:t>
            </a:r>
            <a:endParaRPr sz="1350" b="0" i="0" u="none" strike="noStrike" cap="none" dirty="0">
              <a:solidFill>
                <a:schemeClr val="dk1"/>
              </a:solidFill>
              <a:latin typeface="Calibri"/>
              <a:ea typeface="Calibri"/>
              <a:cs typeface="Calibri"/>
              <a:sym typeface="Calibri"/>
            </a:endParaRPr>
          </a:p>
        </p:txBody>
      </p:sp>
      <p:sp>
        <p:nvSpPr>
          <p:cNvPr id="665" name="Google Shape;665;p28"/>
          <p:cNvSpPr/>
          <p:nvPr/>
        </p:nvSpPr>
        <p:spPr>
          <a:xfrm>
            <a:off x="3197543" y="4321156"/>
            <a:ext cx="1851660" cy="187364"/>
          </a:xfrm>
          <a:prstGeom prst="roundRect">
            <a:avLst>
              <a:gd name="adj" fmla="val 16667"/>
            </a:avLst>
          </a:prstGeom>
          <a:solidFill>
            <a:schemeClr val="lt1"/>
          </a:solidFill>
          <a:ln w="12700" cap="flat" cmpd="sng">
            <a:solidFill>
              <a:srgbClr val="E8E8E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20550"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1B3A5C"/>
                </a:solidFill>
                <a:latin typeface="游ゴシック" panose="020B0400000000000000" pitchFamily="50" charset="-128"/>
                <a:ea typeface="游ゴシック" panose="020B0400000000000000" pitchFamily="50" charset="-128"/>
                <a:sym typeface="Arial"/>
              </a:rPr>
              <a:t>dbt MetricFlow</a:t>
            </a:r>
            <a:r>
              <a:rPr lang="ja" sz="525" b="1" i="0" u="none" strike="noStrike" cap="none" dirty="0">
                <a:solidFill>
                  <a:srgbClr val="666666"/>
                </a:solidFill>
                <a:latin typeface="游ゴシック" panose="020B0400000000000000" pitchFamily="50" charset="-128"/>
                <a:ea typeface="游ゴシック" panose="020B0400000000000000" pitchFamily="50" charset="-128"/>
                <a:sym typeface="Arial"/>
              </a:rPr>
              <a:t>  OSS (Apache 2.0)</a:t>
            </a:r>
            <a:endParaRPr sz="1350" b="0" i="0" u="none" strike="noStrike" cap="none" dirty="0">
              <a:solidFill>
                <a:schemeClr val="dk1"/>
              </a:solidFill>
              <a:latin typeface="Calibri"/>
              <a:ea typeface="Calibri"/>
              <a:cs typeface="Calibri"/>
              <a:sym typeface="Calibri"/>
            </a:endParaRPr>
          </a:p>
        </p:txBody>
      </p:sp>
      <p:sp>
        <p:nvSpPr>
          <p:cNvPr id="666" name="Google Shape;666;p28"/>
          <p:cNvSpPr/>
          <p:nvPr/>
        </p:nvSpPr>
        <p:spPr>
          <a:xfrm>
            <a:off x="5254943" y="4321156"/>
            <a:ext cx="1851660" cy="187364"/>
          </a:xfrm>
          <a:prstGeom prst="roundRect">
            <a:avLst>
              <a:gd name="adj" fmla="val 16667"/>
            </a:avLst>
          </a:prstGeom>
          <a:solidFill>
            <a:schemeClr val="lt1"/>
          </a:solidFill>
          <a:ln w="12700" cap="flat" cmpd="sng">
            <a:solidFill>
              <a:srgbClr val="E8E8E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54850" tIns="20550" rIns="6855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dirty="0">
                <a:solidFill>
                  <a:srgbClr val="1B3A5C"/>
                </a:solidFill>
                <a:latin typeface="游ゴシック" panose="020B0400000000000000" pitchFamily="50" charset="-128"/>
                <a:ea typeface="游ゴシック" panose="020B0400000000000000" pitchFamily="50" charset="-128"/>
                <a:sym typeface="Arial"/>
              </a:rPr>
              <a:t>Cube.dev</a:t>
            </a:r>
            <a:r>
              <a:rPr lang="ja" sz="525" b="1" i="0" u="none" strike="noStrike" cap="none" dirty="0">
                <a:solidFill>
                  <a:srgbClr val="666666"/>
                </a:solidFill>
                <a:latin typeface="游ゴシック" panose="020B0400000000000000" pitchFamily="50" charset="-128"/>
                <a:ea typeface="游ゴシック" panose="020B0400000000000000" pitchFamily="50" charset="-128"/>
                <a:sym typeface="Arial"/>
              </a:rPr>
              <a:t>  OLAP高速化</a:t>
            </a:r>
            <a:endParaRPr sz="1350" b="0" i="0" u="none" strike="noStrike" cap="none" dirty="0">
              <a:solidFill>
                <a:schemeClr val="dk1"/>
              </a:solidFill>
              <a:latin typeface="Calibri"/>
              <a:ea typeface="Calibri"/>
              <a:cs typeface="Calibri"/>
              <a:sym typeface="Calibri"/>
            </a:endParaRPr>
          </a:p>
        </p:txBody>
      </p:sp>
      <p:sp>
        <p:nvSpPr>
          <p:cNvPr id="667" name="Google Shape;667;p28"/>
          <p:cNvSpPr/>
          <p:nvPr/>
        </p:nvSpPr>
        <p:spPr>
          <a:xfrm>
            <a:off x="411480" y="4594860"/>
            <a:ext cx="34290" cy="377190"/>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68" name="Google Shape;668;p28"/>
          <p:cNvSpPr/>
          <p:nvPr/>
        </p:nvSpPr>
        <p:spPr>
          <a:xfrm>
            <a:off x="445770" y="4594860"/>
            <a:ext cx="8263890" cy="377190"/>
          </a:xfrm>
          <a:prstGeom prst="rect">
            <a:avLst/>
          </a:prstGeom>
          <a:solidFill>
            <a:srgbClr val="E8EFF5"/>
          </a:solidFill>
          <a:ln>
            <a:noFill/>
          </a:ln>
          <a:effectLst>
            <a:outerShdw blurRad="40000" dist="23000" dir="5400000" rotWithShape="0">
              <a:srgbClr val="000000">
                <a:alpha val="34901"/>
              </a:srgbClr>
            </a:outerShdw>
          </a:effectLst>
        </p:spPr>
        <p:txBody>
          <a:bodyPr spcFirstLastPara="1" wrap="square" lIns="1028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結論：初期構築では不要。AIチャットをスコープに入れる場合は初期から設計が必要。</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Databricks利用時はMetric Views（Unity Catalog内蔵、2025年後半GA）が最もシンプルな選択肢。</a:t>
            </a:r>
            <a:endParaRPr sz="1350" b="0" i="0" u="none" strike="noStrike" cap="none" dirty="0">
              <a:solidFill>
                <a:schemeClr val="dk1"/>
              </a:solidFill>
              <a:latin typeface="Calibri"/>
              <a:ea typeface="Calibri"/>
              <a:cs typeface="Calibri"/>
              <a:sym typeface="Calibri"/>
            </a:endParaRPr>
          </a:p>
        </p:txBody>
      </p:sp>
      <p:sp>
        <p:nvSpPr>
          <p:cNvPr id="669" name="Google Shape;669;p28"/>
          <p:cNvSpPr txBox="1"/>
          <p:nvPr/>
        </p:nvSpPr>
        <p:spPr>
          <a:xfrm>
            <a:off x="8366760" y="4834890"/>
            <a:ext cx="548640" cy="161552"/>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11</a:t>
            </a:r>
            <a:endParaRPr sz="1350" b="0" i="0" u="none" strike="noStrike" cap="none" dirty="0">
              <a:solidFill>
                <a:schemeClr val="dk1"/>
              </a:solidFill>
              <a:latin typeface="Calibri"/>
              <a:ea typeface="Calibri"/>
              <a:cs typeface="Calibri"/>
              <a:sym typeface="Calibri"/>
            </a:endParaRPr>
          </a:p>
        </p:txBody>
      </p:sp>
      <p:sp>
        <p:nvSpPr>
          <p:cNvPr id="670" name="Google Shape;670;p28"/>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別紙A-9</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671" name="Google Shape;671;p28"/>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672" name="Google Shape;672;p28"/>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673" name="Google Shape;673;p28"/>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別紙A-9</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29"/>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79" name="Google Shape;679;p29"/>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7</a:t>
            </a:r>
            <a:endParaRPr sz="1350" b="0" i="0" u="none" strike="noStrike" cap="none" dirty="0">
              <a:solidFill>
                <a:schemeClr val="dk1"/>
              </a:solidFill>
              <a:latin typeface="Calibri"/>
              <a:ea typeface="Calibri"/>
              <a:cs typeface="Calibri"/>
              <a:sym typeface="Calibri"/>
            </a:endParaRPr>
          </a:p>
        </p:txBody>
      </p:sp>
      <p:sp>
        <p:nvSpPr>
          <p:cNvPr id="680" name="Google Shape;680;p29"/>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データガバナンス：Foundry機能の代替マッピング</a:t>
            </a:r>
            <a:endParaRPr sz="1350" b="0" i="0" u="none" strike="noStrike" cap="none" dirty="0">
              <a:solidFill>
                <a:schemeClr val="dk1"/>
              </a:solidFill>
              <a:latin typeface="Calibri"/>
              <a:ea typeface="Calibri"/>
              <a:cs typeface="Calibri"/>
              <a:sym typeface="Calibri"/>
            </a:endParaRPr>
          </a:p>
        </p:txBody>
      </p:sp>
      <p:sp>
        <p:nvSpPr>
          <p:cNvPr id="681" name="Google Shape;681;p29"/>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Foundryで統合的に動作していたガバナンス機能を、Unity Catalogでどう代替するか</a:t>
            </a:r>
            <a:endParaRPr sz="1350" b="0" i="0" u="none" strike="noStrike" cap="none" dirty="0">
              <a:solidFill>
                <a:schemeClr val="dk1"/>
              </a:solidFill>
              <a:latin typeface="Calibri"/>
              <a:ea typeface="Calibri"/>
              <a:cs typeface="Calibri"/>
              <a:sym typeface="Calibri"/>
            </a:endParaRPr>
          </a:p>
        </p:txBody>
      </p:sp>
      <p:sp>
        <p:nvSpPr>
          <p:cNvPr id="682" name="Google Shape;682;p29"/>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graphicFrame>
        <p:nvGraphicFramePr>
          <p:cNvPr id="683" name="Google Shape;683;p29"/>
          <p:cNvGraphicFramePr/>
          <p:nvPr/>
        </p:nvGraphicFramePr>
        <p:xfrm>
          <a:off x="480061" y="925830"/>
          <a:ext cx="8161050" cy="2012825"/>
        </p:xfrm>
        <a:graphic>
          <a:graphicData uri="http://schemas.openxmlformats.org/drawingml/2006/table">
            <a:tbl>
              <a:tblPr>
                <a:noFill/>
                <a:tableStyleId>{831F8A93-CA79-4AF6-B420-68E9A51CCC31}</a:tableStyleId>
              </a:tblPr>
              <a:tblGrid>
                <a:gridCol w="1726425">
                  <a:extLst>
                    <a:ext uri="{9D8B030D-6E8A-4147-A177-3AD203B41FA5}">
                      <a16:colId xmlns:a16="http://schemas.microsoft.com/office/drawing/2014/main" val="20000"/>
                    </a:ext>
                  </a:extLst>
                </a:gridCol>
                <a:gridCol w="1918250">
                  <a:extLst>
                    <a:ext uri="{9D8B030D-6E8A-4147-A177-3AD203B41FA5}">
                      <a16:colId xmlns:a16="http://schemas.microsoft.com/office/drawing/2014/main" val="20001"/>
                    </a:ext>
                  </a:extLst>
                </a:gridCol>
                <a:gridCol w="1620075">
                  <a:extLst>
                    <a:ext uri="{9D8B030D-6E8A-4147-A177-3AD203B41FA5}">
                      <a16:colId xmlns:a16="http://schemas.microsoft.com/office/drawing/2014/main" val="20002"/>
                    </a:ext>
                  </a:extLst>
                </a:gridCol>
                <a:gridCol w="636125">
                  <a:extLst>
                    <a:ext uri="{9D8B030D-6E8A-4147-A177-3AD203B41FA5}">
                      <a16:colId xmlns:a16="http://schemas.microsoft.com/office/drawing/2014/main" val="20003"/>
                    </a:ext>
                  </a:extLst>
                </a:gridCol>
                <a:gridCol w="2260175">
                  <a:extLst>
                    <a:ext uri="{9D8B030D-6E8A-4147-A177-3AD203B41FA5}">
                      <a16:colId xmlns:a16="http://schemas.microsoft.com/office/drawing/2014/main" val="20004"/>
                    </a:ext>
                  </a:extLst>
                </a:gridCol>
              </a:tblGrid>
              <a:tr h="281800">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Foundry機能</a:t>
                      </a:r>
                      <a:endParaRPr sz="1400" u="none" strike="noStrike" cap="none" dirty="0"/>
                    </a:p>
                  </a:txBody>
                  <a:tcPr marL="68600" marR="68600" marT="34300" marB="34300" anchor="ctr">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役割</a:t>
                      </a:r>
                      <a:endParaRPr sz="1400" u="none" strike="noStrike" cap="none" dirty="0"/>
                    </a:p>
                  </a:txBody>
                  <a:tcPr marL="68600" marR="68600" marT="34300" marB="34300" anchor="ctr">
                    <a:solidFill>
                      <a:srgbClr val="1B3A5C"/>
                    </a:solidFill>
                  </a:tcPr>
                </a:tc>
                <a:tc>
                  <a:txBody>
                    <a:bodyPr/>
                    <a:lstStyle/>
                    <a:p>
                      <a:pPr marL="0" marR="0" lvl="0" indent="0" algn="l" rtl="0">
                        <a:lnSpc>
                          <a:spcPct val="100000"/>
                        </a:lnSpc>
                        <a:spcBef>
                          <a:spcPts val="0"/>
                        </a:spcBef>
                        <a:spcAft>
                          <a:spcPts val="0"/>
                        </a:spcAft>
                        <a:buClr>
                          <a:srgbClr val="FFFFFF"/>
                        </a:buClr>
                        <a:buSzPts val="700"/>
                        <a:buFont typeface="Arial"/>
                        <a:buNone/>
                      </a:pPr>
                      <a:r>
                        <a:rPr lang="ja" sz="700" b="1" u="none" strike="noStrike" cap="none" dirty="0">
                          <a:solidFill>
                            <a:srgbClr val="FFFFFF"/>
                          </a:solidFill>
                          <a:latin typeface="游ゴシック" panose="020B0400000000000000" pitchFamily="50" charset="-128"/>
                          <a:ea typeface="游ゴシック" panose="020B0400000000000000" pitchFamily="50" charset="-128"/>
                          <a:cs typeface="Arial"/>
                          <a:sym typeface="Arial"/>
                        </a:rPr>
                        <a:t>Unity Catalogでの代替</a:t>
                      </a:r>
                      <a:endParaRPr sz="1400" u="none" strike="noStrike" cap="none" dirty="0"/>
                    </a:p>
                  </a:txBody>
                  <a:tcPr marL="68600" marR="68600" marT="34300" marB="34300" anchor="ctr">
                    <a:solidFill>
                      <a:srgbClr val="1B3A5C"/>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solidFill>
                            <a:schemeClr val="lt1"/>
                          </a:solidFill>
                          <a:latin typeface="游ゴシック" panose="020B0400000000000000" pitchFamily="50" charset="-128"/>
                          <a:ea typeface="游ゴシック" panose="020B0400000000000000" pitchFamily="50" charset="-128"/>
                        </a:rPr>
                        <a:t>対応度</a:t>
                      </a:r>
                      <a:endParaRPr sz="1400" u="none" strike="noStrike" cap="none" dirty="0">
                        <a:solidFill>
                          <a:schemeClr val="lt1"/>
                        </a:solidFill>
                      </a:endParaRPr>
                    </a:p>
                  </a:txBody>
                  <a:tcPr marL="68600" marR="68600" marT="34300" marB="34300" anchor="ctr">
                    <a:solidFill>
                      <a:srgbClr val="1B3A5C"/>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solidFill>
                            <a:schemeClr val="lt1"/>
                          </a:solidFill>
                          <a:latin typeface="游ゴシック" panose="020B0400000000000000" pitchFamily="50" charset="-128"/>
                          <a:ea typeface="游ゴシック" panose="020B0400000000000000" pitchFamily="50" charset="-128"/>
                        </a:rPr>
                        <a:t>ギャップ / 注意点</a:t>
                      </a:r>
                      <a:endParaRPr sz="1400" u="none" strike="noStrike" cap="none" dirty="0">
                        <a:solidFill>
                          <a:schemeClr val="lt1"/>
                        </a:solidFill>
                      </a:endParaRPr>
                    </a:p>
                  </a:txBody>
                  <a:tcPr marL="68600" marR="68600" marT="34300" marB="34300" anchor="ctr">
                    <a:solidFill>
                      <a:srgbClr val="1B3A5C"/>
                    </a:solidFill>
                  </a:tcPr>
                </a:tc>
                <a:extLst>
                  <a:ext uri="{0D108BD9-81ED-4DB2-BD59-A6C34878D82A}">
                    <a16:rowId xmlns:a16="http://schemas.microsoft.com/office/drawing/2014/main" val="10000"/>
                  </a:ext>
                </a:extLst>
              </a:tr>
              <a:tr h="322050">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Markings（タグ自動伝播）</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データ分類タグの自動伝播</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Tags（手動 or API設定）</a:t>
                      </a:r>
                      <a:endParaRPr sz="1400" u="none" strike="noStrike" cap="none" dirty="0"/>
                    </a:p>
                  </a:txBody>
                  <a:tcPr marL="68600" marR="68600" marT="34300" marB="34300" anchor="ctr">
                    <a:solidFill>
                      <a:srgbClr val="FFFFFF"/>
                    </a:solidFill>
                  </a:tcPr>
                </a:tc>
                <a:tc>
                  <a:txBody>
                    <a:bodyPr/>
                    <a:lstStyle/>
                    <a:p>
                      <a:pPr marL="0" marR="0" lvl="0" indent="0" algn="ctr"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a:t>
                      </a:r>
                      <a:endParaRPr sz="1400" u="none" strike="noStrike" cap="none" dirty="0"/>
                    </a:p>
                  </a:txBody>
                  <a:tcPr marL="68600" marR="68600" marT="34300" marB="34300" anchor="ctr">
                    <a:solidFill>
                      <a:srgbClr val="FDF0E8"/>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自動伝播なし — CI/CDでタグ付け</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ルールを自動化する運用設計が必要</a:t>
                      </a:r>
                      <a:endParaRPr sz="1400" u="none" strike="noStrike" cap="none" dirty="0"/>
                    </a:p>
                  </a:txBody>
                  <a:tcPr marL="68600" marR="68600" marT="34300" marB="34300" anchor="ctr">
                    <a:solidFill>
                      <a:srgbClr val="FFFFFF"/>
                    </a:solidFill>
                  </a:tcPr>
                </a:tc>
                <a:extLst>
                  <a:ext uri="{0D108BD9-81ED-4DB2-BD59-A6C34878D82A}">
                    <a16:rowId xmlns:a16="http://schemas.microsoft.com/office/drawing/2014/main" val="10001"/>
                  </a:ext>
                </a:extLst>
              </a:tr>
              <a:tr h="322050">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RLS（行レベルセキュリティ）</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施設ごとのアクセス制御（700施設）</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行フィルタ + 列マスキング</a:t>
                      </a:r>
                      <a:endParaRPr sz="1400" u="none" strike="noStrike" cap="none" dirty="0"/>
                    </a:p>
                  </a:txBody>
                  <a:tcPr marL="68600" marR="68600" marT="34300" marB="34300" anchor="ctr">
                    <a:solidFill>
                      <a:srgbClr val="F5F5F5"/>
                    </a:solidFill>
                  </a:tcPr>
                </a:tc>
                <a:tc>
                  <a:txBody>
                    <a:bodyPr/>
                    <a:lstStyle/>
                    <a:p>
                      <a:pPr marL="0" marR="0" lvl="0" indent="0" algn="ctr"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a:t>
                      </a:r>
                      <a:endParaRPr sz="1400" u="none" strike="noStrike" cap="none" dirty="0"/>
                    </a:p>
                  </a:txBody>
                  <a:tcPr marL="68600" marR="68600" marT="34300" marB="34300" anchor="ctr">
                    <a:solidFill>
                      <a:srgbClr val="EAF7E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対応可能。動的RLSも実装可</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Foundryと同等のきめ細かい制御</a:t>
                      </a:r>
                      <a:endParaRPr sz="1400" u="none" strike="noStrike" cap="none" dirty="0"/>
                    </a:p>
                  </a:txBody>
                  <a:tcPr marL="68600" marR="68600" marT="34300" marB="34300" anchor="ctr">
                    <a:solidFill>
                      <a:srgbClr val="F5F5F5"/>
                    </a:solidFill>
                  </a:tcPr>
                </a:tc>
                <a:extLst>
                  <a:ext uri="{0D108BD9-81ED-4DB2-BD59-A6C34878D82A}">
                    <a16:rowId xmlns:a16="http://schemas.microsoft.com/office/drawing/2014/main" val="10002"/>
                  </a:ext>
                </a:extLst>
              </a:tr>
              <a:tr h="322050">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自動リネージ</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データの来歴を自動追跡</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SQL: 自動追跡</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PySpark: 自動追跡（GA済）</a:t>
                      </a:r>
                      <a:endParaRPr sz="1400" u="none" strike="noStrike" cap="none" dirty="0"/>
                    </a:p>
                  </a:txBody>
                  <a:tcPr marL="68600" marR="68600" marT="34300" marB="34300" anchor="ctr">
                    <a:solidFill>
                      <a:srgbClr val="FFFFFF"/>
                    </a:solidFill>
                  </a:tcPr>
                </a:tc>
                <a:tc>
                  <a:txBody>
                    <a:bodyPr/>
                    <a:lstStyle/>
                    <a:p>
                      <a:pPr marL="0" marR="0" lvl="0" indent="0" algn="ctr"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a:t>
                      </a:r>
                      <a:endParaRPr sz="1400" u="none" strike="noStrike" cap="none" dirty="0"/>
                    </a:p>
                  </a:txBody>
                  <a:tcPr marL="68600" marR="68600" marT="34300" marB="34300" anchor="ctr">
                    <a:solidFill>
                      <a:srgbClr val="EAF7E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PySpark lineageはUnity Catalogで</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自動追跡。toPandas/RDDは非対応</a:t>
                      </a:r>
                      <a:endParaRPr sz="1400" u="none" strike="noStrike" cap="none" dirty="0"/>
                    </a:p>
                  </a:txBody>
                  <a:tcPr marL="68600" marR="68600" marT="34300" marB="34300" anchor="ctr">
                    <a:solidFill>
                      <a:srgbClr val="FFFFFF"/>
                    </a:solidFill>
                  </a:tcPr>
                </a:tc>
                <a:extLst>
                  <a:ext uri="{0D108BD9-81ED-4DB2-BD59-A6C34878D82A}">
                    <a16:rowId xmlns:a16="http://schemas.microsoft.com/office/drawing/2014/main" val="10003"/>
                  </a:ext>
                </a:extLst>
              </a:tr>
              <a:tr h="322050">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監査ログ</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誰が何にアクセスしたかの記録</a:t>
                      </a:r>
                      <a:endParaRPr sz="1400" u="none" strike="noStrike" cap="none" dirty="0"/>
                    </a:p>
                  </a:txBody>
                  <a:tcPr marL="68600" marR="68600" marT="34300" marB="34300" anchor="ctr">
                    <a:solidFill>
                      <a:srgbClr val="F5F5F5"/>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System Tables</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（Audit Logs）</a:t>
                      </a:r>
                      <a:endParaRPr sz="1400" u="none" strike="noStrike" cap="none" dirty="0"/>
                    </a:p>
                  </a:txBody>
                  <a:tcPr marL="68600" marR="68600" marT="34300" marB="34300" anchor="ctr">
                    <a:solidFill>
                      <a:srgbClr val="F5F5F5"/>
                    </a:solidFill>
                  </a:tcPr>
                </a:tc>
                <a:tc>
                  <a:txBody>
                    <a:bodyPr/>
                    <a:lstStyle/>
                    <a:p>
                      <a:pPr marL="0" marR="0" lvl="0" indent="0" algn="ctr"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a:t>
                      </a:r>
                      <a:endParaRPr sz="1400" u="none" strike="noStrike" cap="none" dirty="0"/>
                    </a:p>
                  </a:txBody>
                  <a:tcPr marL="68600" marR="68600" marT="34300" marB="34300" anchor="ctr">
                    <a:solidFill>
                      <a:srgbClr val="EAF7ED"/>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対応可能。SQLで柔軟に分析可</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Foundryより分析の自由度が高い</a:t>
                      </a:r>
                      <a:endParaRPr sz="1400" u="none" strike="noStrike" cap="none" dirty="0"/>
                    </a:p>
                  </a:txBody>
                  <a:tcPr marL="68600" marR="68600" marT="34300" marB="34300" anchor="ctr">
                    <a:solidFill>
                      <a:srgbClr val="F5F5F5"/>
                    </a:solidFill>
                  </a:tcPr>
                </a:tc>
                <a:extLst>
                  <a:ext uri="{0D108BD9-81ED-4DB2-BD59-A6C34878D82A}">
                    <a16:rowId xmlns:a16="http://schemas.microsoft.com/office/drawing/2014/main" val="10004"/>
                  </a:ext>
                </a:extLst>
              </a:tr>
              <a:tr h="442825">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PII検出（Sensitive Data Scanner）</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個人情報の自動検出・マスキング</a:t>
                      </a:r>
                      <a:endParaRPr sz="1400" u="none" strike="noStrike" cap="none" dirty="0"/>
                    </a:p>
                  </a:txBody>
                  <a:tcPr marL="68600" marR="68600" marT="34300" marB="34300" anchor="ctr">
                    <a:solidFill>
                      <a:srgbClr val="FFFFFF"/>
                    </a:solidFill>
                  </a:tcPr>
                </a:tc>
                <a:tc>
                  <a:txBody>
                    <a:bodyPr/>
                    <a:lstStyle/>
                    <a:p>
                      <a:pPr marL="0" marR="0" lvl="0" indent="0" algn="l"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Presidio（OSS）</a:t>
                      </a:r>
                      <a:b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b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or AWS Macie</a:t>
                      </a:r>
                      <a:endParaRPr sz="1400" u="none" strike="noStrike" cap="none" dirty="0"/>
                    </a:p>
                  </a:txBody>
                  <a:tcPr marL="68600" marR="68600" marT="34300" marB="34300" anchor="ctr">
                    <a:solidFill>
                      <a:srgbClr val="FFFFFF"/>
                    </a:solidFill>
                  </a:tcPr>
                </a:tc>
                <a:tc>
                  <a:txBody>
                    <a:bodyPr/>
                    <a:lstStyle/>
                    <a:p>
                      <a:pPr marL="0" marR="0" lvl="0" indent="0" algn="ctr" rtl="0">
                        <a:lnSpc>
                          <a:spcPct val="100000"/>
                        </a:lnSpc>
                        <a:spcBef>
                          <a:spcPts val="0"/>
                        </a:spcBef>
                        <a:spcAft>
                          <a:spcPts val="0"/>
                        </a:spcAft>
                        <a:buClr>
                          <a:srgbClr val="333333"/>
                        </a:buClr>
                        <a:buSzPts val="700"/>
                        <a:buFont typeface="Arial"/>
                        <a:buNone/>
                      </a:pPr>
                      <a:r>
                        <a:rPr lang="ja" sz="700" u="none" strike="noStrike" cap="none" dirty="0">
                          <a:solidFill>
                            <a:srgbClr val="333333"/>
                          </a:solidFill>
                          <a:latin typeface="游ゴシック" panose="020B0400000000000000" pitchFamily="50" charset="-128"/>
                          <a:ea typeface="游ゴシック" panose="020B0400000000000000" pitchFamily="50" charset="-128"/>
                          <a:cs typeface="Arial"/>
                          <a:sym typeface="Arial"/>
                        </a:rPr>
                        <a:t>△</a:t>
                      </a:r>
                      <a:endParaRPr sz="1400" u="none" strike="noStrike" cap="none" dirty="0"/>
                    </a:p>
                  </a:txBody>
                  <a:tcPr marL="68600" marR="68600" marT="34300" marB="34300" anchor="ctr">
                    <a:solidFill>
                      <a:srgbClr val="FDF0E8"/>
                    </a:solidFill>
                  </a:tcPr>
                </a:tc>
                <a:tc>
                  <a:txBody>
                    <a:bodyPr/>
                    <a:lstStyle/>
                    <a:p>
                      <a:pPr marL="0" marR="0" lvl="0" indent="0" algn="l" rtl="0">
                        <a:lnSpc>
                          <a:spcPct val="100000"/>
                        </a:lnSpc>
                        <a:spcBef>
                          <a:spcPts val="0"/>
                        </a:spcBef>
                        <a:spcAft>
                          <a:spcPts val="0"/>
                        </a:spcAft>
                        <a:buClr>
                          <a:schemeClr val="dk1"/>
                        </a:buClr>
                        <a:buSzPts val="700"/>
                        <a:buFont typeface="Calibri"/>
                        <a:buNone/>
                      </a:pPr>
                      <a:r>
                        <a:rPr lang="ja" sz="700" u="none" strike="noStrike" cap="none" dirty="0">
                          <a:latin typeface="游ゴシック" panose="020B0400000000000000" pitchFamily="50" charset="-128"/>
                          <a:ea typeface="游ゴシック" panose="020B0400000000000000" pitchFamily="50" charset="-128"/>
                        </a:rPr>
                        <a:t>別途導入・設定が必要</a:t>
                      </a:r>
                      <a:br>
                        <a:rPr lang="ja" sz="700" u="none" strike="noStrike" cap="none" dirty="0">
                          <a:latin typeface="游ゴシック" panose="020B0400000000000000" pitchFamily="50" charset="-128"/>
                          <a:ea typeface="游ゴシック" panose="020B0400000000000000" pitchFamily="50" charset="-128"/>
                        </a:rPr>
                      </a:br>
                      <a:r>
                        <a:rPr lang="ja" sz="700" u="none" strike="noStrike" cap="none" dirty="0">
                          <a:latin typeface="游ゴシック" panose="020B0400000000000000" pitchFamily="50" charset="-128"/>
                          <a:ea typeface="游ゴシック" panose="020B0400000000000000" pitchFamily="50" charset="-128"/>
                        </a:rPr>
                        <a:t>介護データは要配慮個人情報 — 必須</a:t>
                      </a:r>
                      <a:endParaRPr sz="1400" u="none" strike="noStrike" cap="none" dirty="0"/>
                    </a:p>
                  </a:txBody>
                  <a:tcPr marL="68600" marR="68600" marT="34300" marB="34300" anchor="ctr">
                    <a:solidFill>
                      <a:srgbClr val="FFFFFF"/>
                    </a:solidFill>
                  </a:tcPr>
                </a:tc>
                <a:extLst>
                  <a:ext uri="{0D108BD9-81ED-4DB2-BD59-A6C34878D82A}">
                    <a16:rowId xmlns:a16="http://schemas.microsoft.com/office/drawing/2014/main" val="10005"/>
                  </a:ext>
                </a:extLst>
              </a:tr>
            </a:tbl>
          </a:graphicData>
        </a:graphic>
      </p:graphicFrame>
      <p:sp>
        <p:nvSpPr>
          <p:cNvPr id="684" name="Google Shape;684;p29"/>
          <p:cNvSpPr/>
          <p:nvPr/>
        </p:nvSpPr>
        <p:spPr>
          <a:xfrm>
            <a:off x="411480" y="3086100"/>
            <a:ext cx="34290" cy="548640"/>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85" name="Google Shape;685;p29"/>
          <p:cNvSpPr/>
          <p:nvPr/>
        </p:nvSpPr>
        <p:spPr>
          <a:xfrm>
            <a:off x="445770" y="3086100"/>
            <a:ext cx="8263890" cy="548640"/>
          </a:xfrm>
          <a:prstGeom prst="rect">
            <a:avLst/>
          </a:prstGeom>
          <a:solidFill>
            <a:srgbClr val="E8EFF5"/>
          </a:solidFill>
          <a:ln>
            <a:noFill/>
          </a:ln>
          <a:effectLst>
            <a:outerShdw blurRad="40000" dist="23000" dir="5400000" rotWithShape="0">
              <a:srgbClr val="000000">
                <a:alpha val="34901"/>
              </a:srgbClr>
            </a:outerShdw>
          </a:effectLst>
        </p:spPr>
        <p:txBody>
          <a:bodyPr spcFirstLastPara="1" wrap="square" lIns="1028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1B3A5C"/>
                </a:solidFill>
                <a:latin typeface="游ゴシック" panose="020B0400000000000000" pitchFamily="50" charset="-128"/>
                <a:ea typeface="游ゴシック" panose="020B0400000000000000" pitchFamily="50" charset="-128"/>
                <a:sym typeface="Arial"/>
              </a:rPr>
              <a:t>Unity Catalogの位置づけ</a:t>
            </a:r>
            <a:endParaRPr sz="1350" b="0" i="0" u="none" strike="noStrike" cap="none" dirty="0">
              <a:solidFill>
                <a:schemeClr val="lt1"/>
              </a:solidFill>
              <a:latin typeface="Calibri"/>
              <a:ea typeface="Calibri"/>
              <a:cs typeface="Calibri"/>
              <a:sym typeface="Calibri"/>
            </a:endParaRPr>
          </a:p>
          <a:p>
            <a:pPr marL="0" marR="0" lvl="0" indent="0" algn="l" rtl="0">
              <a:lnSpc>
                <a:spcPct val="100000"/>
              </a:lnSpc>
              <a:spcBef>
                <a:spcPts val="300"/>
              </a:spcBef>
              <a:spcAft>
                <a:spcPts val="0"/>
              </a:spcAft>
              <a:buClr>
                <a:srgbClr val="000000"/>
              </a:buClr>
              <a:buSzPts val="675"/>
              <a:buFont typeface="Arial"/>
              <a:buNone/>
            </a:pPr>
            <a:r>
              <a:rPr lang="ja" sz="675" b="0" i="0" u="none" strike="noStrike" cap="none" dirty="0">
                <a:solidFill>
                  <a:srgbClr val="333333"/>
                </a:solidFill>
                <a:latin typeface="游ゴシック" panose="020B0400000000000000" pitchFamily="50" charset="-128"/>
                <a:ea typeface="游ゴシック" panose="020B0400000000000000" pitchFamily="50" charset="-128"/>
                <a:sym typeface="Arial"/>
              </a:rPr>
              <a:t>コアカタログ機能はApache 2.0でOSS化。ただし高度なガバナンス（列リネージ、動的ポリシー、PII分類）はDatabricks商用版が必要。</a:t>
            </a:r>
            <a:endParaRPr sz="1350" b="0" i="0" u="none" strike="noStrike" cap="none" dirty="0">
              <a:solidFill>
                <a:schemeClr val="dk1"/>
              </a:solidFill>
              <a:latin typeface="Calibri"/>
              <a:ea typeface="Calibri"/>
              <a:cs typeface="Calibri"/>
              <a:sym typeface="Calibri"/>
            </a:endParaRPr>
          </a:p>
        </p:txBody>
      </p:sp>
      <p:sp>
        <p:nvSpPr>
          <p:cNvPr id="686" name="Google Shape;686;p29"/>
          <p:cNvSpPr/>
          <p:nvPr/>
        </p:nvSpPr>
        <p:spPr>
          <a:xfrm>
            <a:off x="480060" y="3806190"/>
            <a:ext cx="2537460" cy="745932"/>
          </a:xfrm>
          <a:prstGeom prst="roundRect">
            <a:avLst>
              <a:gd name="adj" fmla="val 16667"/>
            </a:avLst>
          </a:prstGeom>
          <a:solidFill>
            <a:srgbClr val="FFFFFF"/>
          </a:solidFill>
          <a:ln w="25400" cap="flat" cmpd="sng">
            <a:solidFill>
              <a:srgbClr val="27724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102850" tIns="54850" rIns="68550" bIns="34275" anchor="t"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27724A"/>
                </a:solidFill>
                <a:latin typeface="游ゴシック" panose="020B0400000000000000" pitchFamily="50" charset="-128"/>
                <a:ea typeface="游ゴシック" panose="020B0400000000000000" pitchFamily="50" charset="-128"/>
                <a:sym typeface="Arial"/>
              </a:rPr>
              <a:t>◎ そのまま代替可能</a:t>
            </a:r>
            <a:endParaRPr sz="1350" b="0" i="0" u="none" strike="noStrike" cap="none" dirty="0">
              <a:solidFill>
                <a:schemeClr val="lt1"/>
              </a:solidFill>
              <a:latin typeface="Calibri"/>
              <a:ea typeface="Calibri"/>
              <a:cs typeface="Calibri"/>
              <a:sym typeface="Calibri"/>
            </a:endParaRPr>
          </a:p>
          <a:p>
            <a:pPr marL="128588" marR="0" lvl="0" indent="-128588" algn="l" rtl="0">
              <a:lnSpc>
                <a:spcPct val="100000"/>
              </a:lnSpc>
              <a:spcBef>
                <a:spcPts val="150"/>
              </a:spcBef>
              <a:spcAft>
                <a:spcPts val="0"/>
              </a:spcAft>
              <a:buClr>
                <a:schemeClr val="dk1"/>
              </a:buClr>
              <a:buSzPts val="900"/>
              <a:buFont typeface="Arial"/>
              <a:buChar char="•"/>
            </a:pPr>
            <a:r>
              <a:rPr lang="ja" sz="675" b="1" i="0" u="none" strike="noStrike" cap="none" dirty="0">
                <a:solidFill>
                  <a:schemeClr val="dk1"/>
                </a:solidFill>
                <a:latin typeface="游ゴシック" panose="020B0400000000000000" pitchFamily="50" charset="-128"/>
                <a:ea typeface="游ゴシック" panose="020B0400000000000000" pitchFamily="50" charset="-128"/>
                <a:sym typeface="Arial"/>
              </a:rPr>
              <a:t>RLS</a:t>
            </a:r>
            <a:endParaRPr sz="1350" b="1" i="0" u="none" strike="noStrike" cap="none" dirty="0">
              <a:solidFill>
                <a:schemeClr val="dk1"/>
              </a:solidFill>
              <a:latin typeface="Calibri"/>
              <a:ea typeface="Calibri"/>
              <a:cs typeface="Calibri"/>
              <a:sym typeface="Calibri"/>
            </a:endParaRPr>
          </a:p>
          <a:p>
            <a:pPr marL="128588" marR="0" lvl="0" indent="-128588" algn="l" rtl="0">
              <a:lnSpc>
                <a:spcPct val="100000"/>
              </a:lnSpc>
              <a:spcBef>
                <a:spcPts val="300"/>
              </a:spcBef>
              <a:spcAft>
                <a:spcPts val="0"/>
              </a:spcAft>
              <a:buClr>
                <a:schemeClr val="dk1"/>
              </a:buClr>
              <a:buSzPts val="900"/>
              <a:buFont typeface="Arial"/>
              <a:buChar char="•"/>
            </a:pPr>
            <a:r>
              <a:rPr lang="ja" sz="675" b="1" i="0" u="none" strike="noStrike" cap="none" dirty="0">
                <a:solidFill>
                  <a:schemeClr val="dk1"/>
                </a:solidFill>
                <a:latin typeface="游ゴシック" panose="020B0400000000000000" pitchFamily="50" charset="-128"/>
                <a:ea typeface="游ゴシック" panose="020B0400000000000000" pitchFamily="50" charset="-128"/>
                <a:sym typeface="Arial"/>
              </a:rPr>
              <a:t>監査ログ</a:t>
            </a:r>
            <a:endParaRPr sz="1350" b="1" i="0" u="none" strike="noStrike" cap="none" dirty="0">
              <a:solidFill>
                <a:schemeClr val="dk1"/>
              </a:solidFill>
              <a:latin typeface="Calibri"/>
              <a:ea typeface="Calibri"/>
              <a:cs typeface="Calibri"/>
              <a:sym typeface="Calibri"/>
            </a:endParaRPr>
          </a:p>
        </p:txBody>
      </p:sp>
      <p:sp>
        <p:nvSpPr>
          <p:cNvPr id="687" name="Google Shape;687;p29"/>
          <p:cNvSpPr/>
          <p:nvPr/>
        </p:nvSpPr>
        <p:spPr>
          <a:xfrm>
            <a:off x="3257550" y="3806190"/>
            <a:ext cx="2537460" cy="745932"/>
          </a:xfrm>
          <a:prstGeom prst="roundRect">
            <a:avLst>
              <a:gd name="adj" fmla="val 16667"/>
            </a:avLst>
          </a:prstGeom>
          <a:solidFill>
            <a:srgbClr val="FFFFFF"/>
          </a:solidFill>
          <a:ln w="25400" cap="flat" cmpd="sng">
            <a:solidFill>
              <a:srgbClr val="1B3A5C"/>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102850" tIns="54850" rIns="68550" bIns="34275" anchor="t"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1B3A5C"/>
                </a:solidFill>
                <a:latin typeface="游ゴシック" panose="020B0400000000000000" pitchFamily="50" charset="-128"/>
                <a:ea typeface="游ゴシック" panose="020B0400000000000000" pitchFamily="50" charset="-128"/>
                <a:sym typeface="Arial"/>
              </a:rPr>
              <a:t>○ 運用設計で対応</a:t>
            </a:r>
            <a:endParaRPr sz="1350" b="0" i="0" u="none" strike="noStrike" cap="none" dirty="0">
              <a:solidFill>
                <a:schemeClr val="lt1"/>
              </a:solidFill>
              <a:latin typeface="Calibri"/>
              <a:ea typeface="Calibri"/>
              <a:cs typeface="Calibri"/>
              <a:sym typeface="Calibri"/>
            </a:endParaRPr>
          </a:p>
          <a:p>
            <a:pPr marL="128588" marR="0" lvl="0" indent="-128588" algn="l" rtl="0">
              <a:lnSpc>
                <a:spcPct val="100000"/>
              </a:lnSpc>
              <a:spcBef>
                <a:spcPts val="150"/>
              </a:spcBef>
              <a:spcAft>
                <a:spcPts val="0"/>
              </a:spcAft>
              <a:buClr>
                <a:schemeClr val="dk1"/>
              </a:buClr>
              <a:buSzPts val="900"/>
              <a:buFont typeface="Arial"/>
              <a:buChar char="•"/>
            </a:pPr>
            <a:r>
              <a:rPr lang="ja" sz="675" b="1" i="0" u="none" strike="noStrike" cap="none" dirty="0">
                <a:solidFill>
                  <a:schemeClr val="dk1"/>
                </a:solidFill>
                <a:latin typeface="游ゴシック" panose="020B0400000000000000" pitchFamily="50" charset="-128"/>
                <a:ea typeface="游ゴシック" panose="020B0400000000000000" pitchFamily="50" charset="-128"/>
                <a:sym typeface="Arial"/>
              </a:rPr>
              <a:t>Markings</a:t>
            </a:r>
            <a:endParaRPr sz="1350" b="1" i="0" u="none" strike="noStrike" cap="none" dirty="0">
              <a:solidFill>
                <a:schemeClr val="dk1"/>
              </a:solidFill>
              <a:latin typeface="Calibri"/>
              <a:ea typeface="Calibri"/>
              <a:cs typeface="Calibri"/>
              <a:sym typeface="Calibri"/>
            </a:endParaRPr>
          </a:p>
          <a:p>
            <a:pPr marL="128588" marR="0" lvl="0" indent="-128588" algn="l" rtl="0">
              <a:lnSpc>
                <a:spcPct val="100000"/>
              </a:lnSpc>
              <a:spcBef>
                <a:spcPts val="300"/>
              </a:spcBef>
              <a:spcAft>
                <a:spcPts val="0"/>
              </a:spcAft>
              <a:buClr>
                <a:schemeClr val="dk1"/>
              </a:buClr>
              <a:buSzPts val="900"/>
              <a:buFont typeface="Arial"/>
              <a:buChar char="•"/>
            </a:pPr>
            <a:r>
              <a:rPr lang="ja" sz="675" b="1" i="0" u="none" strike="noStrike" cap="none" dirty="0">
                <a:solidFill>
                  <a:schemeClr val="dk1"/>
                </a:solidFill>
                <a:latin typeface="游ゴシック" panose="020B0400000000000000" pitchFamily="50" charset="-128"/>
                <a:ea typeface="游ゴシック" panose="020B0400000000000000" pitchFamily="50" charset="-128"/>
                <a:sym typeface="Arial"/>
              </a:rPr>
              <a:t>リネージ</a:t>
            </a:r>
            <a:endParaRPr sz="1350" b="1" i="0" u="none" strike="noStrike" cap="none" dirty="0">
              <a:solidFill>
                <a:schemeClr val="dk1"/>
              </a:solidFill>
              <a:latin typeface="Calibri"/>
              <a:ea typeface="Calibri"/>
              <a:cs typeface="Calibri"/>
              <a:sym typeface="Calibri"/>
            </a:endParaRPr>
          </a:p>
        </p:txBody>
      </p:sp>
      <p:sp>
        <p:nvSpPr>
          <p:cNvPr id="688" name="Google Shape;688;p29"/>
          <p:cNvSpPr/>
          <p:nvPr/>
        </p:nvSpPr>
        <p:spPr>
          <a:xfrm>
            <a:off x="6035040" y="3806190"/>
            <a:ext cx="2537460" cy="745932"/>
          </a:xfrm>
          <a:prstGeom prst="roundRect">
            <a:avLst>
              <a:gd name="adj" fmla="val 16667"/>
            </a:avLst>
          </a:prstGeom>
          <a:solidFill>
            <a:srgbClr val="FFFFFF"/>
          </a:solidFill>
          <a:ln w="25400" cap="flat" cmpd="sng">
            <a:solidFill>
              <a:srgbClr val="E67E22"/>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102850" tIns="54850" rIns="68550" bIns="34275" anchor="t"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E67E22"/>
                </a:solidFill>
                <a:latin typeface="游ゴシック" panose="020B0400000000000000" pitchFamily="50" charset="-128"/>
                <a:ea typeface="游ゴシック" panose="020B0400000000000000" pitchFamily="50" charset="-128"/>
                <a:sym typeface="Arial"/>
              </a:rPr>
              <a:t>△ 別途ツール導入</a:t>
            </a:r>
            <a:endParaRPr sz="1350" b="0" i="0" u="none" strike="noStrike" cap="none" dirty="0">
              <a:solidFill>
                <a:schemeClr val="lt1"/>
              </a:solidFill>
              <a:latin typeface="Calibri"/>
              <a:ea typeface="Calibri"/>
              <a:cs typeface="Calibri"/>
              <a:sym typeface="Calibri"/>
            </a:endParaRPr>
          </a:p>
          <a:p>
            <a:pPr marL="128588" marR="0" lvl="0" indent="-128588" algn="l" rtl="0">
              <a:lnSpc>
                <a:spcPct val="100000"/>
              </a:lnSpc>
              <a:spcBef>
                <a:spcPts val="150"/>
              </a:spcBef>
              <a:spcAft>
                <a:spcPts val="0"/>
              </a:spcAft>
              <a:buClr>
                <a:schemeClr val="dk1"/>
              </a:buClr>
              <a:buSzPts val="900"/>
              <a:buFont typeface="Arial"/>
              <a:buChar char="•"/>
            </a:pPr>
            <a:r>
              <a:rPr lang="ja" sz="675" b="1" i="0" u="none" strike="noStrike" cap="none" dirty="0">
                <a:solidFill>
                  <a:schemeClr val="dk1"/>
                </a:solidFill>
                <a:latin typeface="游ゴシック" panose="020B0400000000000000" pitchFamily="50" charset="-128"/>
                <a:ea typeface="游ゴシック" panose="020B0400000000000000" pitchFamily="50" charset="-128"/>
                <a:sym typeface="Arial"/>
              </a:rPr>
              <a:t>PII検出</a:t>
            </a:r>
            <a:endParaRPr sz="1350" b="1" i="0" u="none" strike="noStrike" cap="none" dirty="0">
              <a:solidFill>
                <a:schemeClr val="dk1"/>
              </a:solidFill>
              <a:latin typeface="Calibri"/>
              <a:ea typeface="Calibri"/>
              <a:cs typeface="Calibri"/>
              <a:sym typeface="Calibri"/>
            </a:endParaRPr>
          </a:p>
        </p:txBody>
      </p:sp>
      <p:sp>
        <p:nvSpPr>
          <p:cNvPr id="689" name="Google Shape;689;p29"/>
          <p:cNvSpPr txBox="1"/>
          <p:nvPr/>
        </p:nvSpPr>
        <p:spPr>
          <a:xfrm>
            <a:off x="8366760" y="4834890"/>
            <a:ext cx="548640" cy="161552"/>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13</a:t>
            </a:r>
            <a:endParaRPr sz="1350" b="0" i="0" u="none" strike="noStrike" cap="none" dirty="0">
              <a:solidFill>
                <a:schemeClr val="dk1"/>
              </a:solidFill>
              <a:latin typeface="Calibri"/>
              <a:ea typeface="Calibri"/>
              <a:cs typeface="Calibri"/>
              <a:sym typeface="Calibri"/>
            </a:endParaRPr>
          </a:p>
        </p:txBody>
      </p:sp>
      <p:sp>
        <p:nvSpPr>
          <p:cNvPr id="690" name="Google Shape;690;p29"/>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別紙B-1</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691" name="Google Shape;691;p29"/>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692" name="Google Shape;692;p29"/>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693" name="Google Shape;693;p29"/>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別紙B-1</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30"/>
          <p:cNvSpPr/>
          <p:nvPr/>
        </p:nvSpPr>
        <p:spPr>
          <a:xfrm>
            <a:off x="5614988" y="3360420"/>
            <a:ext cx="2657475" cy="1028700"/>
          </a:xfrm>
          <a:prstGeom prst="roundRect">
            <a:avLst>
              <a:gd name="adj" fmla="val 8334"/>
            </a:avLst>
          </a:prstGeom>
          <a:solidFill>
            <a:srgbClr val="F2DADA"/>
          </a:solidFill>
          <a:ln w="9525" cap="flat" cmpd="sng">
            <a:solidFill>
              <a:schemeClr val="accent2"/>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699" name="Google Shape;699;p30"/>
          <p:cNvSpPr/>
          <p:nvPr/>
        </p:nvSpPr>
        <p:spPr>
          <a:xfrm>
            <a:off x="1" y="0"/>
            <a:ext cx="9143771" cy="41148"/>
          </a:xfrm>
          <a:prstGeom prst="rect">
            <a:avLst/>
          </a:prstGeom>
          <a:solidFill>
            <a:srgbClr val="1B3A5C"/>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00" name="Google Shape;700;p30"/>
          <p:cNvSpPr/>
          <p:nvPr/>
        </p:nvSpPr>
        <p:spPr>
          <a:xfrm>
            <a:off x="411480" y="240030"/>
            <a:ext cx="377190" cy="37719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ja" sz="1500" b="1" i="0" u="none" strike="noStrike" cap="none" dirty="0">
                <a:solidFill>
                  <a:srgbClr val="FFFFFF"/>
                </a:solidFill>
                <a:latin typeface="游ゴシック" panose="020B0400000000000000" pitchFamily="50" charset="-128"/>
                <a:ea typeface="游ゴシック" panose="020B0400000000000000" pitchFamily="50" charset="-128"/>
                <a:sym typeface="Arial"/>
              </a:rPr>
              <a:t>8</a:t>
            </a:r>
            <a:endParaRPr sz="1350" b="0" i="0" u="none" strike="noStrike" cap="none" dirty="0">
              <a:solidFill>
                <a:schemeClr val="dk1"/>
              </a:solidFill>
              <a:latin typeface="Calibri"/>
              <a:ea typeface="Calibri"/>
              <a:cs typeface="Calibri"/>
              <a:sym typeface="Calibri"/>
            </a:endParaRPr>
          </a:p>
        </p:txBody>
      </p:sp>
      <p:sp>
        <p:nvSpPr>
          <p:cNvPr id="701" name="Google Shape;701;p30"/>
          <p:cNvSpPr txBox="1"/>
          <p:nvPr/>
        </p:nvSpPr>
        <p:spPr>
          <a:xfrm>
            <a:off x="925830" y="171451"/>
            <a:ext cx="6858000" cy="346218"/>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 sz="1800" b="1" i="0" u="none" strike="noStrike" cap="none" dirty="0">
                <a:solidFill>
                  <a:srgbClr val="1A1A1A"/>
                </a:solidFill>
                <a:latin typeface="游ゴシック" panose="020B0400000000000000" pitchFamily="50" charset="-128"/>
                <a:ea typeface="游ゴシック" panose="020B0400000000000000" pitchFamily="50" charset="-128"/>
                <a:sym typeface="Arial"/>
              </a:rPr>
              <a:t>推奨技術スタック：総括</a:t>
            </a:r>
            <a:endParaRPr sz="1350" b="0" i="0" u="none" strike="noStrike" cap="none" dirty="0">
              <a:solidFill>
                <a:schemeClr val="dk1"/>
              </a:solidFill>
              <a:latin typeface="Calibri"/>
              <a:ea typeface="Calibri"/>
              <a:cs typeface="Calibri"/>
              <a:sym typeface="Calibri"/>
            </a:endParaRPr>
          </a:p>
        </p:txBody>
      </p:sp>
      <p:sp>
        <p:nvSpPr>
          <p:cNvPr id="702" name="Google Shape;702;p30"/>
          <p:cNvSpPr txBox="1"/>
          <p:nvPr/>
        </p:nvSpPr>
        <p:spPr>
          <a:xfrm>
            <a:off x="925830" y="493776"/>
            <a:ext cx="68580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JP" altLang="en-US" sz="825" b="0" i="0" u="none" strike="noStrike" cap="none" dirty="0">
                <a:solidFill>
                  <a:srgbClr val="666666"/>
                </a:solidFill>
                <a:latin typeface="游ゴシック" panose="020B0400000000000000" pitchFamily="50" charset="-128"/>
                <a:ea typeface="游ゴシック" panose="020B0400000000000000" pitchFamily="50" charset="-128"/>
                <a:sym typeface="Arial"/>
              </a:rPr>
              <a:t>現時点の推奨技術スタック（</a:t>
            </a:r>
            <a:r>
              <a:rPr lang="en" altLang="ja" sz="825" b="0" i="0" u="none" strike="noStrike" cap="none" dirty="0">
                <a:solidFill>
                  <a:srgbClr val="666666"/>
                </a:solidFill>
                <a:latin typeface="游ゴシック" panose="020B0400000000000000" pitchFamily="50" charset="-128"/>
                <a:ea typeface="游ゴシック" panose="020B0400000000000000" pitchFamily="50" charset="-128"/>
                <a:sym typeface="Arial"/>
              </a:rPr>
              <a:t>RFP</a:t>
            </a:r>
            <a:r>
              <a:rPr lang="ja-JP" altLang="en-US" sz="825" b="0" i="0" u="none" strike="noStrike" cap="none" dirty="0">
                <a:solidFill>
                  <a:srgbClr val="666666"/>
                </a:solidFill>
                <a:latin typeface="游ゴシック" panose="020B0400000000000000" pitchFamily="50" charset="-128"/>
                <a:ea typeface="游ゴシック" panose="020B0400000000000000" pitchFamily="50" charset="-128"/>
                <a:sym typeface="Arial"/>
              </a:rPr>
              <a:t>での検証前提）</a:t>
            </a:r>
            <a:endParaRPr sz="1350" b="0" i="0" u="none" strike="noStrike" cap="none" dirty="0">
              <a:solidFill>
                <a:schemeClr val="dk1"/>
              </a:solidFill>
              <a:latin typeface="Calibri"/>
              <a:ea typeface="Calibri"/>
              <a:cs typeface="Calibri"/>
              <a:sym typeface="Calibri"/>
            </a:endParaRPr>
          </a:p>
        </p:txBody>
      </p:sp>
      <p:sp>
        <p:nvSpPr>
          <p:cNvPr id="703" name="Google Shape;703;p30"/>
          <p:cNvSpPr/>
          <p:nvPr/>
        </p:nvSpPr>
        <p:spPr>
          <a:xfrm>
            <a:off x="411480" y="754380"/>
            <a:ext cx="8298180" cy="10287"/>
          </a:xfrm>
          <a:prstGeom prst="rect">
            <a:avLst/>
          </a:prstGeom>
          <a:solidFill>
            <a:srgbClr val="E8E8E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04" name="Google Shape;704;p30"/>
          <p:cNvSpPr/>
          <p:nvPr/>
        </p:nvSpPr>
        <p:spPr>
          <a:xfrm>
            <a:off x="548640" y="857250"/>
            <a:ext cx="1645920" cy="377190"/>
          </a:xfrm>
          <a:prstGeom prst="roundRect">
            <a:avLst>
              <a:gd name="adj" fmla="val 16667"/>
            </a:avLst>
          </a:prstGeom>
          <a:solidFill>
            <a:srgbClr val="7B1FA2"/>
          </a:solidFill>
          <a:ln>
            <a:noFill/>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BI / 分析</a:t>
            </a:r>
            <a:endParaRPr sz="1350" b="0" i="0" u="none" strike="noStrike" cap="none" dirty="0">
              <a:solidFill>
                <a:schemeClr val="dk1"/>
              </a:solidFill>
              <a:latin typeface="Calibri"/>
              <a:ea typeface="Calibri"/>
              <a:cs typeface="Calibri"/>
              <a:sym typeface="Calibri"/>
            </a:endParaRPr>
          </a:p>
        </p:txBody>
      </p:sp>
      <p:sp>
        <p:nvSpPr>
          <p:cNvPr id="705" name="Google Shape;705;p30"/>
          <p:cNvSpPr/>
          <p:nvPr/>
        </p:nvSpPr>
        <p:spPr>
          <a:xfrm>
            <a:off x="2263140" y="960120"/>
            <a:ext cx="274320" cy="150876"/>
          </a:xfrm>
          <a:prstGeom prst="rightArrow">
            <a:avLst>
              <a:gd name="adj1" fmla="val 50000"/>
              <a:gd name="adj2" fmla="val 50000"/>
            </a:avLst>
          </a:prstGeom>
          <a:solidFill>
            <a:srgbClr val="7B1FA2"/>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06" name="Google Shape;706;p30"/>
          <p:cNvSpPr/>
          <p:nvPr/>
        </p:nvSpPr>
        <p:spPr>
          <a:xfrm>
            <a:off x="2640330" y="857250"/>
            <a:ext cx="2743200" cy="377190"/>
          </a:xfrm>
          <a:prstGeom prst="roundRect">
            <a:avLst>
              <a:gd name="adj" fmla="val 16667"/>
            </a:avLst>
          </a:prstGeom>
          <a:solidFill>
            <a:srgbClr val="FFFFFF"/>
          </a:solidFill>
          <a:ln w="19050" cap="flat" cmpd="sng">
            <a:solidFill>
              <a:srgbClr val="7B1FA2"/>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82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333333"/>
                </a:solidFill>
                <a:latin typeface="游ゴシック" panose="020B0400000000000000" pitchFamily="50" charset="-128"/>
                <a:ea typeface="游ゴシック" panose="020B0400000000000000" pitchFamily="50" charset="-128"/>
                <a:sym typeface="Arial"/>
              </a:rPr>
              <a:t>Tableau（既存維持）</a:t>
            </a:r>
            <a:endParaRPr sz="1350" b="0" i="0" u="none" strike="noStrike" cap="none" dirty="0">
              <a:solidFill>
                <a:schemeClr val="dk1"/>
              </a:solidFill>
              <a:latin typeface="Calibri"/>
              <a:ea typeface="Calibri"/>
              <a:cs typeface="Calibri"/>
              <a:sym typeface="Calibri"/>
            </a:endParaRPr>
          </a:p>
        </p:txBody>
      </p:sp>
      <p:sp>
        <p:nvSpPr>
          <p:cNvPr id="707" name="Google Shape;707;p30"/>
          <p:cNvSpPr/>
          <p:nvPr/>
        </p:nvSpPr>
        <p:spPr>
          <a:xfrm>
            <a:off x="548640" y="1337310"/>
            <a:ext cx="1645920" cy="377190"/>
          </a:xfrm>
          <a:prstGeom prst="roundRect">
            <a:avLst>
              <a:gd name="adj" fmla="val 16667"/>
            </a:avLst>
          </a:prstGeom>
          <a:solidFill>
            <a:srgbClr val="9C27B0"/>
          </a:solidFill>
          <a:ln>
            <a:noFill/>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セマンティック</a:t>
            </a:r>
            <a:endParaRPr sz="1350" b="0" i="0" u="none" strike="noStrike" cap="none" dirty="0">
              <a:solidFill>
                <a:schemeClr val="dk1"/>
              </a:solidFill>
              <a:latin typeface="Calibri"/>
              <a:ea typeface="Calibri"/>
              <a:cs typeface="Calibri"/>
              <a:sym typeface="Calibri"/>
            </a:endParaRPr>
          </a:p>
        </p:txBody>
      </p:sp>
      <p:sp>
        <p:nvSpPr>
          <p:cNvPr id="708" name="Google Shape;708;p30"/>
          <p:cNvSpPr/>
          <p:nvPr/>
        </p:nvSpPr>
        <p:spPr>
          <a:xfrm>
            <a:off x="2263140" y="1440180"/>
            <a:ext cx="274320" cy="150876"/>
          </a:xfrm>
          <a:prstGeom prst="rightArrow">
            <a:avLst>
              <a:gd name="adj1" fmla="val 50000"/>
              <a:gd name="adj2" fmla="val 50000"/>
            </a:avLst>
          </a:prstGeom>
          <a:solidFill>
            <a:srgbClr val="9C27B0"/>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09" name="Google Shape;709;p30"/>
          <p:cNvSpPr/>
          <p:nvPr/>
        </p:nvSpPr>
        <p:spPr>
          <a:xfrm>
            <a:off x="2640330" y="1337310"/>
            <a:ext cx="2743200" cy="377190"/>
          </a:xfrm>
          <a:prstGeom prst="roundRect">
            <a:avLst>
              <a:gd name="adj" fmla="val 16667"/>
            </a:avLst>
          </a:prstGeom>
          <a:solidFill>
            <a:srgbClr val="D8D8D8"/>
          </a:solidFill>
          <a:ln w="19050" cap="flat" cmpd="sng">
            <a:solidFill>
              <a:srgbClr val="9C27B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82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7F7F7F"/>
                </a:solidFill>
                <a:latin typeface="游ゴシック" panose="020B0400000000000000" pitchFamily="50" charset="-128"/>
                <a:ea typeface="游ゴシック" panose="020B0400000000000000" pitchFamily="50" charset="-128"/>
                <a:sym typeface="Arial"/>
              </a:rPr>
              <a:t>初期は不要 → AI導入時 Metric Views</a:t>
            </a:r>
            <a:r>
              <a:rPr lang="ja" sz="675" b="1" i="0" u="none" strike="noStrike" cap="none" dirty="0">
                <a:solidFill>
                  <a:srgbClr val="7F7F7F"/>
                </a:solidFill>
                <a:latin typeface="Calibri"/>
                <a:ea typeface="Calibri"/>
                <a:cs typeface="Calibri"/>
                <a:sym typeface="Calibri"/>
              </a:rPr>
              <a:t>等を検討</a:t>
            </a:r>
            <a:endParaRPr sz="1350" b="0" i="0" u="none" strike="noStrike" cap="none" dirty="0">
              <a:solidFill>
                <a:schemeClr val="dk1"/>
              </a:solidFill>
              <a:latin typeface="Calibri"/>
              <a:ea typeface="Calibri"/>
              <a:cs typeface="Calibri"/>
              <a:sym typeface="Calibri"/>
            </a:endParaRPr>
          </a:p>
        </p:txBody>
      </p:sp>
      <p:sp>
        <p:nvSpPr>
          <p:cNvPr id="710" name="Google Shape;710;p30"/>
          <p:cNvSpPr/>
          <p:nvPr/>
        </p:nvSpPr>
        <p:spPr>
          <a:xfrm>
            <a:off x="548640" y="1817370"/>
            <a:ext cx="1645920" cy="377190"/>
          </a:xfrm>
          <a:prstGeom prst="roundRect">
            <a:avLst>
              <a:gd name="adj" fmla="val 16667"/>
            </a:avLst>
          </a:prstGeom>
          <a:solidFill>
            <a:srgbClr val="1565C0"/>
          </a:solidFill>
          <a:ln>
            <a:noFill/>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データ変換</a:t>
            </a:r>
            <a:endParaRPr sz="1350" b="0" i="0" u="none" strike="noStrike" cap="none" dirty="0">
              <a:solidFill>
                <a:schemeClr val="dk1"/>
              </a:solidFill>
              <a:latin typeface="Calibri"/>
              <a:ea typeface="Calibri"/>
              <a:cs typeface="Calibri"/>
              <a:sym typeface="Calibri"/>
            </a:endParaRPr>
          </a:p>
        </p:txBody>
      </p:sp>
      <p:sp>
        <p:nvSpPr>
          <p:cNvPr id="711" name="Google Shape;711;p30"/>
          <p:cNvSpPr/>
          <p:nvPr/>
        </p:nvSpPr>
        <p:spPr>
          <a:xfrm>
            <a:off x="2263140" y="1920240"/>
            <a:ext cx="274320" cy="150876"/>
          </a:xfrm>
          <a:prstGeom prst="rightArrow">
            <a:avLst>
              <a:gd name="adj1" fmla="val 50000"/>
              <a:gd name="adj2" fmla="val 50000"/>
            </a:avLst>
          </a:prstGeom>
          <a:solidFill>
            <a:srgbClr val="1565C0"/>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12" name="Google Shape;712;p30"/>
          <p:cNvSpPr/>
          <p:nvPr/>
        </p:nvSpPr>
        <p:spPr>
          <a:xfrm>
            <a:off x="2640330" y="1817370"/>
            <a:ext cx="2743200" cy="377190"/>
          </a:xfrm>
          <a:prstGeom prst="roundRect">
            <a:avLst>
              <a:gd name="adj" fmla="val 16667"/>
            </a:avLst>
          </a:prstGeom>
          <a:solidFill>
            <a:srgbClr val="FFFFFF"/>
          </a:solidFill>
          <a:ln w="19050" cap="flat" cmpd="sng">
            <a:solidFill>
              <a:srgbClr val="1565C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82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333333"/>
                </a:solidFill>
                <a:latin typeface="游ゴシック" panose="020B0400000000000000" pitchFamily="50" charset="-128"/>
                <a:ea typeface="游ゴシック" panose="020B0400000000000000" pitchFamily="50" charset="-128"/>
                <a:sym typeface="Arial"/>
              </a:rPr>
              <a:t>PySpark（Python）+ dbt Core（SQL）</a:t>
            </a:r>
            <a:endParaRPr sz="1350" b="0" i="0" u="none" strike="noStrike" cap="none" dirty="0">
              <a:solidFill>
                <a:schemeClr val="lt1"/>
              </a:solidFill>
              <a:latin typeface="Calibri"/>
              <a:ea typeface="Calibri"/>
              <a:cs typeface="Calibri"/>
              <a:sym typeface="Calibri"/>
            </a:endParaRPr>
          </a:p>
        </p:txBody>
      </p:sp>
      <p:sp>
        <p:nvSpPr>
          <p:cNvPr id="713" name="Google Shape;713;p30"/>
          <p:cNvSpPr/>
          <p:nvPr/>
        </p:nvSpPr>
        <p:spPr>
          <a:xfrm>
            <a:off x="548640" y="2297430"/>
            <a:ext cx="1645920" cy="377190"/>
          </a:xfrm>
          <a:prstGeom prst="roundRect">
            <a:avLst>
              <a:gd name="adj" fmla="val 16667"/>
            </a:avLst>
          </a:prstGeom>
          <a:solidFill>
            <a:srgbClr val="009688"/>
          </a:solidFill>
          <a:ln>
            <a:noFill/>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オーケストレーション</a:t>
            </a:r>
            <a:endParaRPr sz="1350" b="0" i="0" u="none" strike="noStrike" cap="none" dirty="0">
              <a:solidFill>
                <a:schemeClr val="dk1"/>
              </a:solidFill>
              <a:latin typeface="Calibri"/>
              <a:ea typeface="Calibri"/>
              <a:cs typeface="Calibri"/>
              <a:sym typeface="Calibri"/>
            </a:endParaRPr>
          </a:p>
        </p:txBody>
      </p:sp>
      <p:sp>
        <p:nvSpPr>
          <p:cNvPr id="714" name="Google Shape;714;p30"/>
          <p:cNvSpPr/>
          <p:nvPr/>
        </p:nvSpPr>
        <p:spPr>
          <a:xfrm>
            <a:off x="2263140" y="2400300"/>
            <a:ext cx="274320" cy="150876"/>
          </a:xfrm>
          <a:prstGeom prst="rightArrow">
            <a:avLst>
              <a:gd name="adj1" fmla="val 50000"/>
              <a:gd name="adj2" fmla="val 50000"/>
            </a:avLst>
          </a:prstGeom>
          <a:solidFill>
            <a:srgbClr val="009688"/>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15" name="Google Shape;715;p30"/>
          <p:cNvSpPr/>
          <p:nvPr/>
        </p:nvSpPr>
        <p:spPr>
          <a:xfrm>
            <a:off x="2640330" y="2297430"/>
            <a:ext cx="2743200" cy="377190"/>
          </a:xfrm>
          <a:prstGeom prst="roundRect">
            <a:avLst>
              <a:gd name="adj" fmla="val 16667"/>
            </a:avLst>
          </a:prstGeom>
          <a:solidFill>
            <a:srgbClr val="FFFFFF"/>
          </a:solidFill>
          <a:ln w="19050" cap="flat" cmpd="sng">
            <a:solidFill>
              <a:srgbClr val="00968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82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333333"/>
                </a:solidFill>
                <a:latin typeface="游ゴシック" panose="020B0400000000000000" pitchFamily="50" charset="-128"/>
                <a:ea typeface="游ゴシック" panose="020B0400000000000000" pitchFamily="50" charset="-128"/>
                <a:sym typeface="Arial"/>
              </a:rPr>
              <a:t>Lakeflow Jobs（+ 必要時 Airflow）</a:t>
            </a:r>
            <a:endParaRPr sz="1350" b="0" i="0" u="none" strike="noStrike" cap="none" dirty="0">
              <a:solidFill>
                <a:schemeClr val="dk1"/>
              </a:solidFill>
              <a:latin typeface="Calibri"/>
              <a:ea typeface="Calibri"/>
              <a:cs typeface="Calibri"/>
              <a:sym typeface="Calibri"/>
            </a:endParaRPr>
          </a:p>
        </p:txBody>
      </p:sp>
      <p:sp>
        <p:nvSpPr>
          <p:cNvPr id="716" name="Google Shape;716;p30"/>
          <p:cNvSpPr/>
          <p:nvPr/>
        </p:nvSpPr>
        <p:spPr>
          <a:xfrm>
            <a:off x="548640" y="2777490"/>
            <a:ext cx="1645920" cy="377190"/>
          </a:xfrm>
          <a:prstGeom prst="roundRect">
            <a:avLst>
              <a:gd name="adj" fmla="val 16667"/>
            </a:avLst>
          </a:prstGeom>
          <a:solidFill>
            <a:srgbClr val="2E7D32"/>
          </a:solidFill>
          <a:ln>
            <a:noFill/>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ガバナンス</a:t>
            </a:r>
            <a:endParaRPr sz="1350" b="0" i="0" u="none" strike="noStrike" cap="none" dirty="0">
              <a:solidFill>
                <a:schemeClr val="dk1"/>
              </a:solidFill>
              <a:latin typeface="Calibri"/>
              <a:ea typeface="Calibri"/>
              <a:cs typeface="Calibri"/>
              <a:sym typeface="Calibri"/>
            </a:endParaRPr>
          </a:p>
        </p:txBody>
      </p:sp>
      <p:sp>
        <p:nvSpPr>
          <p:cNvPr id="717" name="Google Shape;717;p30"/>
          <p:cNvSpPr/>
          <p:nvPr/>
        </p:nvSpPr>
        <p:spPr>
          <a:xfrm>
            <a:off x="2263140" y="2880360"/>
            <a:ext cx="274320" cy="150876"/>
          </a:xfrm>
          <a:prstGeom prst="rightArrow">
            <a:avLst>
              <a:gd name="adj1" fmla="val 50000"/>
              <a:gd name="adj2" fmla="val 50000"/>
            </a:avLst>
          </a:prstGeom>
          <a:solidFill>
            <a:srgbClr val="2E7D32"/>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18" name="Google Shape;718;p30"/>
          <p:cNvSpPr/>
          <p:nvPr/>
        </p:nvSpPr>
        <p:spPr>
          <a:xfrm>
            <a:off x="2640330" y="2777490"/>
            <a:ext cx="2743200" cy="377190"/>
          </a:xfrm>
          <a:prstGeom prst="roundRect">
            <a:avLst>
              <a:gd name="adj" fmla="val 16667"/>
            </a:avLst>
          </a:prstGeom>
          <a:solidFill>
            <a:srgbClr val="FFFFFF"/>
          </a:solidFill>
          <a:ln w="19050" cap="flat" cmpd="sng">
            <a:solidFill>
              <a:srgbClr val="2E7D32"/>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82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333333"/>
                </a:solidFill>
                <a:latin typeface="游ゴシック" panose="020B0400000000000000" pitchFamily="50" charset="-128"/>
                <a:ea typeface="游ゴシック" panose="020B0400000000000000" pitchFamily="50" charset="-128"/>
                <a:sym typeface="Arial"/>
              </a:rPr>
              <a:t>Unity Catalog（データ + ML + AI 統合管理）</a:t>
            </a:r>
            <a:endParaRPr sz="1350" b="0" i="0" u="none" strike="noStrike" cap="none" dirty="0">
              <a:solidFill>
                <a:schemeClr val="dk1"/>
              </a:solidFill>
              <a:latin typeface="Calibri"/>
              <a:ea typeface="Calibri"/>
              <a:cs typeface="Calibri"/>
              <a:sym typeface="Calibri"/>
            </a:endParaRPr>
          </a:p>
        </p:txBody>
      </p:sp>
      <p:sp>
        <p:nvSpPr>
          <p:cNvPr id="719" name="Google Shape;719;p30"/>
          <p:cNvSpPr/>
          <p:nvPr/>
        </p:nvSpPr>
        <p:spPr>
          <a:xfrm>
            <a:off x="548640" y="3257550"/>
            <a:ext cx="1645920" cy="377190"/>
          </a:xfrm>
          <a:prstGeom prst="roundRect">
            <a:avLst>
              <a:gd name="adj" fmla="val 16667"/>
            </a:avLst>
          </a:prstGeom>
          <a:solidFill>
            <a:srgbClr val="33691E"/>
          </a:solidFill>
          <a:ln>
            <a:noFill/>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テーブルフォーマット</a:t>
            </a:r>
            <a:endParaRPr sz="1350" b="0" i="0" u="none" strike="noStrike" cap="none" dirty="0">
              <a:solidFill>
                <a:schemeClr val="dk1"/>
              </a:solidFill>
              <a:latin typeface="Calibri"/>
              <a:ea typeface="Calibri"/>
              <a:cs typeface="Calibri"/>
              <a:sym typeface="Calibri"/>
            </a:endParaRPr>
          </a:p>
        </p:txBody>
      </p:sp>
      <p:sp>
        <p:nvSpPr>
          <p:cNvPr id="720" name="Google Shape;720;p30"/>
          <p:cNvSpPr/>
          <p:nvPr/>
        </p:nvSpPr>
        <p:spPr>
          <a:xfrm>
            <a:off x="2263140" y="3360420"/>
            <a:ext cx="274320" cy="150876"/>
          </a:xfrm>
          <a:prstGeom prst="rightArrow">
            <a:avLst>
              <a:gd name="adj1" fmla="val 50000"/>
              <a:gd name="adj2" fmla="val 50000"/>
            </a:avLst>
          </a:prstGeom>
          <a:solidFill>
            <a:srgbClr val="33691E"/>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21" name="Google Shape;721;p30"/>
          <p:cNvSpPr/>
          <p:nvPr/>
        </p:nvSpPr>
        <p:spPr>
          <a:xfrm>
            <a:off x="2640330" y="3257550"/>
            <a:ext cx="2743200" cy="377190"/>
          </a:xfrm>
          <a:prstGeom prst="roundRect">
            <a:avLst>
              <a:gd name="adj" fmla="val 16667"/>
            </a:avLst>
          </a:prstGeom>
          <a:solidFill>
            <a:srgbClr val="FFFFFF"/>
          </a:solidFill>
          <a:ln w="19050" cap="flat" cmpd="sng">
            <a:solidFill>
              <a:srgbClr val="33691E"/>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82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333333"/>
                </a:solidFill>
                <a:latin typeface="游ゴシック" panose="020B0400000000000000" pitchFamily="50" charset="-128"/>
                <a:ea typeface="游ゴシック" panose="020B0400000000000000" pitchFamily="50" charset="-128"/>
                <a:sym typeface="Arial"/>
              </a:rPr>
              <a:t>Delta Lake + UniForm（Iceberg互換）</a:t>
            </a:r>
            <a:endParaRPr sz="1350" b="0" i="0" u="none" strike="noStrike" cap="none" dirty="0">
              <a:solidFill>
                <a:schemeClr val="dk1"/>
              </a:solidFill>
              <a:latin typeface="Calibri"/>
              <a:ea typeface="Calibri"/>
              <a:cs typeface="Calibri"/>
              <a:sym typeface="Calibri"/>
            </a:endParaRPr>
          </a:p>
        </p:txBody>
      </p:sp>
      <p:sp>
        <p:nvSpPr>
          <p:cNvPr id="722" name="Google Shape;722;p30"/>
          <p:cNvSpPr/>
          <p:nvPr/>
        </p:nvSpPr>
        <p:spPr>
          <a:xfrm>
            <a:off x="548640" y="3737610"/>
            <a:ext cx="1645920" cy="377190"/>
          </a:xfrm>
          <a:prstGeom prst="roundRect">
            <a:avLst>
              <a:gd name="adj" fmla="val 16667"/>
            </a:avLst>
          </a:prstGeom>
          <a:solidFill>
            <a:srgbClr val="4E342E"/>
          </a:solidFill>
          <a:ln>
            <a:noFill/>
          </a:ln>
          <a:effectLst>
            <a:outerShdw blurRad="40000" dist="23000" dir="5400000" rotWithShape="0">
              <a:srgbClr val="000000">
                <a:alpha val="34901"/>
              </a:srgbClr>
            </a:outerShdw>
          </a:effectLst>
        </p:spPr>
        <p:txBody>
          <a:bodyPr spcFirstLastPara="1" wrap="square" lIns="68550" tIns="6855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ストレージ</a:t>
            </a:r>
            <a:endParaRPr sz="1350" b="0" i="0" u="none" strike="noStrike" cap="none" dirty="0">
              <a:solidFill>
                <a:schemeClr val="dk1"/>
              </a:solidFill>
              <a:latin typeface="Calibri"/>
              <a:ea typeface="Calibri"/>
              <a:cs typeface="Calibri"/>
              <a:sym typeface="Calibri"/>
            </a:endParaRPr>
          </a:p>
        </p:txBody>
      </p:sp>
      <p:sp>
        <p:nvSpPr>
          <p:cNvPr id="723" name="Google Shape;723;p30"/>
          <p:cNvSpPr/>
          <p:nvPr/>
        </p:nvSpPr>
        <p:spPr>
          <a:xfrm>
            <a:off x="2263140" y="3840480"/>
            <a:ext cx="274320" cy="150876"/>
          </a:xfrm>
          <a:prstGeom prst="rightArrow">
            <a:avLst>
              <a:gd name="adj1" fmla="val 50000"/>
              <a:gd name="adj2" fmla="val 50000"/>
            </a:avLst>
          </a:prstGeom>
          <a:solidFill>
            <a:srgbClr val="4E342E"/>
          </a:solidFill>
          <a:ln>
            <a:noFill/>
          </a:ln>
          <a:effectLst>
            <a:outerShdw blurRad="40000" dist="23000" dir="5400000" rotWithShape="0">
              <a:srgbClr val="000000">
                <a:alpha val="34901"/>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724" name="Google Shape;724;p30"/>
          <p:cNvSpPr/>
          <p:nvPr/>
        </p:nvSpPr>
        <p:spPr>
          <a:xfrm>
            <a:off x="2640330" y="3737610"/>
            <a:ext cx="2743200" cy="377190"/>
          </a:xfrm>
          <a:prstGeom prst="roundRect">
            <a:avLst>
              <a:gd name="adj" fmla="val 16667"/>
            </a:avLst>
          </a:prstGeom>
          <a:solidFill>
            <a:srgbClr val="FFFFFF"/>
          </a:solidFill>
          <a:ln w="19050" cap="flat" cmpd="sng">
            <a:solidFill>
              <a:srgbClr val="4E342E"/>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50" tIns="82275" rIns="68550" bIns="34275" anchor="ctr" anchorCtr="0">
            <a:noAutofit/>
          </a:bodyPr>
          <a:lstStyle/>
          <a:p>
            <a:pPr marL="0" marR="0" lvl="0" indent="0" algn="ctr" rtl="0">
              <a:lnSpc>
                <a:spcPct val="100000"/>
              </a:lnSpc>
              <a:spcBef>
                <a:spcPts val="0"/>
              </a:spcBef>
              <a:spcAft>
                <a:spcPts val="0"/>
              </a:spcAft>
              <a:buClr>
                <a:srgbClr val="000000"/>
              </a:buClr>
              <a:buSzPts val="675"/>
              <a:buFont typeface="Arial"/>
              <a:buNone/>
            </a:pPr>
            <a:r>
              <a:rPr lang="ja" sz="675" b="1" i="0" u="none" strike="noStrike" cap="none" dirty="0">
                <a:solidFill>
                  <a:srgbClr val="333333"/>
                </a:solidFill>
                <a:latin typeface="游ゴシック" panose="020B0400000000000000" pitchFamily="50" charset="-128"/>
                <a:ea typeface="游ゴシック" panose="020B0400000000000000" pitchFamily="50" charset="-128"/>
                <a:sym typeface="Arial"/>
              </a:rPr>
              <a:t>S3 + Lakehouseアーキテクチャ</a:t>
            </a:r>
            <a:endParaRPr sz="1350" b="0" i="0" u="none" strike="noStrike" cap="none" dirty="0">
              <a:solidFill>
                <a:schemeClr val="lt1"/>
              </a:solidFill>
              <a:latin typeface="Calibri"/>
              <a:ea typeface="Calibri"/>
              <a:cs typeface="Calibri"/>
              <a:sym typeface="Calibri"/>
            </a:endParaRPr>
          </a:p>
        </p:txBody>
      </p:sp>
      <p:sp>
        <p:nvSpPr>
          <p:cNvPr id="725" name="Google Shape;725;p30"/>
          <p:cNvSpPr/>
          <p:nvPr/>
        </p:nvSpPr>
        <p:spPr>
          <a:xfrm>
            <a:off x="2640330" y="4286250"/>
            <a:ext cx="2743200" cy="308610"/>
          </a:xfrm>
          <a:prstGeom prst="roundRect">
            <a:avLst>
              <a:gd name="adj" fmla="val 16667"/>
            </a:avLst>
          </a:prstGeom>
          <a:solidFill>
            <a:srgbClr val="1B3A5C"/>
          </a:solidFill>
          <a:ln>
            <a:noFill/>
          </a:ln>
          <a:effectLst>
            <a:outerShdw blurRad="40000" dist="23000" dir="5400000" rotWithShape="0">
              <a:srgbClr val="000000">
                <a:alpha val="34901"/>
              </a:srgbClr>
            </a:outerShdw>
          </a:effectLst>
        </p:spPr>
        <p:txBody>
          <a:bodyPr spcFirstLastPara="1" wrap="square" lIns="68550" tIns="54850" rIns="68550" bIns="34275" anchor="ctr" anchorCtr="0">
            <a:noAutofit/>
          </a:bodyPr>
          <a:lstStyle/>
          <a:p>
            <a:pPr marL="0" marR="0" lvl="0" indent="0" algn="ctr" rtl="0">
              <a:lnSpc>
                <a:spcPct val="100000"/>
              </a:lnSpc>
              <a:spcBef>
                <a:spcPts val="0"/>
              </a:spcBef>
              <a:spcAft>
                <a:spcPts val="0"/>
              </a:spcAft>
              <a:buClr>
                <a:srgbClr val="000000"/>
              </a:buClr>
              <a:buSzPts val="825"/>
              <a:buFont typeface="Arial"/>
              <a:buNone/>
            </a:pPr>
            <a:r>
              <a:rPr lang="ja" sz="825" b="1" i="0" u="none" strike="noStrike" cap="none" dirty="0">
                <a:solidFill>
                  <a:srgbClr val="FFFFFF"/>
                </a:solidFill>
                <a:latin typeface="游ゴシック" panose="020B0400000000000000" pitchFamily="50" charset="-128"/>
                <a:ea typeface="游ゴシック" panose="020B0400000000000000" pitchFamily="50" charset="-128"/>
                <a:sym typeface="Arial"/>
              </a:rPr>
              <a:t>基盤：Databricks Lakehouse Platform</a:t>
            </a:r>
            <a:endParaRPr sz="1350" b="0" i="0" u="none" strike="noStrike" cap="none" dirty="0">
              <a:solidFill>
                <a:schemeClr val="dk1"/>
              </a:solidFill>
              <a:latin typeface="Calibri"/>
              <a:ea typeface="Calibri"/>
              <a:cs typeface="Calibri"/>
              <a:sym typeface="Calibri"/>
            </a:endParaRPr>
          </a:p>
        </p:txBody>
      </p:sp>
      <p:sp>
        <p:nvSpPr>
          <p:cNvPr id="726" name="Google Shape;726;p30"/>
          <p:cNvSpPr txBox="1"/>
          <p:nvPr/>
        </p:nvSpPr>
        <p:spPr>
          <a:xfrm>
            <a:off x="5692140" y="857250"/>
            <a:ext cx="3086100" cy="20771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A1A1A"/>
                </a:solidFill>
                <a:latin typeface="游ゴシック" panose="020B0400000000000000" pitchFamily="50" charset="-128"/>
                <a:ea typeface="游ゴシック" panose="020B0400000000000000" pitchFamily="50" charset="-128"/>
                <a:sym typeface="Arial"/>
              </a:rPr>
              <a:t>この構成のメリット</a:t>
            </a:r>
            <a:endParaRPr sz="1350" b="0" i="0" u="none" strike="noStrike" cap="none" dirty="0">
              <a:solidFill>
                <a:schemeClr val="dk1"/>
              </a:solidFill>
              <a:latin typeface="Calibri"/>
              <a:ea typeface="Calibri"/>
              <a:cs typeface="Calibri"/>
              <a:sym typeface="Calibri"/>
            </a:endParaRPr>
          </a:p>
        </p:txBody>
      </p:sp>
      <p:sp>
        <p:nvSpPr>
          <p:cNvPr id="727" name="Google Shape;727;p30"/>
          <p:cNvSpPr/>
          <p:nvPr/>
        </p:nvSpPr>
        <p:spPr>
          <a:xfrm>
            <a:off x="5760720" y="1165860"/>
            <a:ext cx="240030" cy="240030"/>
          </a:xfrm>
          <a:prstGeom prst="ellipse">
            <a:avLst/>
          </a:prstGeom>
          <a:solidFill>
            <a:srgbClr val="1B3A5C"/>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1</a:t>
            </a:r>
            <a:endParaRPr sz="1350" b="0" i="0" u="none" strike="noStrike" cap="none" dirty="0">
              <a:solidFill>
                <a:schemeClr val="dk1"/>
              </a:solidFill>
              <a:latin typeface="Calibri"/>
              <a:ea typeface="Calibri"/>
              <a:cs typeface="Calibri"/>
              <a:sym typeface="Calibri"/>
            </a:endParaRPr>
          </a:p>
        </p:txBody>
      </p:sp>
      <p:sp>
        <p:nvSpPr>
          <p:cNvPr id="728" name="Google Shape;728;p30"/>
          <p:cNvSpPr txBox="1"/>
          <p:nvPr/>
        </p:nvSpPr>
        <p:spPr>
          <a:xfrm>
            <a:off x="6103620" y="1152144"/>
            <a:ext cx="2606040" cy="27696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1A1A1A"/>
                </a:solidFill>
                <a:latin typeface="游ゴシック" panose="020B0400000000000000" pitchFamily="50" charset="-128"/>
                <a:ea typeface="游ゴシック" panose="020B0400000000000000" pitchFamily="50" charset="-128"/>
                <a:sym typeface="Arial"/>
              </a:rPr>
              <a:t>PySpark移植コスト最小</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Foundryデコレーター除去のみでほぼ動作</a:t>
            </a:r>
            <a:endParaRPr sz="1350" b="0" i="0" u="none" strike="noStrike" cap="none" dirty="0">
              <a:solidFill>
                <a:schemeClr val="dk1"/>
              </a:solidFill>
              <a:latin typeface="Calibri"/>
              <a:ea typeface="Calibri"/>
              <a:cs typeface="Calibri"/>
              <a:sym typeface="Calibri"/>
            </a:endParaRPr>
          </a:p>
        </p:txBody>
      </p:sp>
      <p:sp>
        <p:nvSpPr>
          <p:cNvPr id="729" name="Google Shape;729;p30"/>
          <p:cNvSpPr/>
          <p:nvPr/>
        </p:nvSpPr>
        <p:spPr>
          <a:xfrm>
            <a:off x="5760720" y="1611630"/>
            <a:ext cx="240030" cy="240030"/>
          </a:xfrm>
          <a:prstGeom prst="ellipse">
            <a:avLst/>
          </a:prstGeom>
          <a:solidFill>
            <a:srgbClr val="1B3A5C"/>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2</a:t>
            </a:r>
            <a:endParaRPr sz="1350" b="0" i="0" u="none" strike="noStrike" cap="none" dirty="0">
              <a:solidFill>
                <a:schemeClr val="dk1"/>
              </a:solidFill>
              <a:latin typeface="Calibri"/>
              <a:ea typeface="Calibri"/>
              <a:cs typeface="Calibri"/>
              <a:sym typeface="Calibri"/>
            </a:endParaRPr>
          </a:p>
        </p:txBody>
      </p:sp>
      <p:sp>
        <p:nvSpPr>
          <p:cNvPr id="730" name="Google Shape;730;p30"/>
          <p:cNvSpPr txBox="1"/>
          <p:nvPr/>
        </p:nvSpPr>
        <p:spPr>
          <a:xfrm>
            <a:off x="6103620" y="1597914"/>
            <a:ext cx="2606040" cy="27696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1A1A1A"/>
                </a:solidFill>
                <a:latin typeface="游ゴシック" panose="020B0400000000000000" pitchFamily="50" charset="-128"/>
                <a:ea typeface="游ゴシック" panose="020B0400000000000000" pitchFamily="50" charset="-128"/>
                <a:sym typeface="Arial"/>
              </a:rPr>
              <a:t>ツール数最小</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Databricks + dbt + Tableau の3つが中核</a:t>
            </a:r>
            <a:endParaRPr sz="1350" b="0" i="0" u="none" strike="noStrike" cap="none" dirty="0">
              <a:solidFill>
                <a:schemeClr val="dk1"/>
              </a:solidFill>
              <a:latin typeface="Calibri"/>
              <a:ea typeface="Calibri"/>
              <a:cs typeface="Calibri"/>
              <a:sym typeface="Calibri"/>
            </a:endParaRPr>
          </a:p>
        </p:txBody>
      </p:sp>
      <p:sp>
        <p:nvSpPr>
          <p:cNvPr id="731" name="Google Shape;731;p30"/>
          <p:cNvSpPr/>
          <p:nvPr/>
        </p:nvSpPr>
        <p:spPr>
          <a:xfrm>
            <a:off x="5760720" y="2057400"/>
            <a:ext cx="240030" cy="240030"/>
          </a:xfrm>
          <a:prstGeom prst="ellipse">
            <a:avLst/>
          </a:prstGeom>
          <a:solidFill>
            <a:srgbClr val="1B3A5C"/>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3</a:t>
            </a:r>
            <a:endParaRPr sz="1350" b="0" i="0" u="none" strike="noStrike" cap="none" dirty="0">
              <a:solidFill>
                <a:schemeClr val="dk1"/>
              </a:solidFill>
              <a:latin typeface="Calibri"/>
              <a:ea typeface="Calibri"/>
              <a:cs typeface="Calibri"/>
              <a:sym typeface="Calibri"/>
            </a:endParaRPr>
          </a:p>
        </p:txBody>
      </p:sp>
      <p:sp>
        <p:nvSpPr>
          <p:cNvPr id="732" name="Google Shape;732;p30"/>
          <p:cNvSpPr txBox="1"/>
          <p:nvPr/>
        </p:nvSpPr>
        <p:spPr>
          <a:xfrm>
            <a:off x="6103620" y="2043684"/>
            <a:ext cx="2606040" cy="27696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1A1A1A"/>
                </a:solidFill>
                <a:latin typeface="游ゴシック" panose="020B0400000000000000" pitchFamily="50" charset="-128"/>
                <a:ea typeface="游ゴシック" panose="020B0400000000000000" pitchFamily="50" charset="-128"/>
                <a:sym typeface="Arial"/>
              </a:rPr>
              <a:t>ロックイン回避</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UC(OSS) + Delta+UniForm(Iceberg互換)</a:t>
            </a:r>
            <a:endParaRPr sz="1350" b="0" i="0" u="none" strike="noStrike" cap="none" dirty="0">
              <a:solidFill>
                <a:schemeClr val="dk1"/>
              </a:solidFill>
              <a:latin typeface="Calibri"/>
              <a:ea typeface="Calibri"/>
              <a:cs typeface="Calibri"/>
              <a:sym typeface="Calibri"/>
            </a:endParaRPr>
          </a:p>
        </p:txBody>
      </p:sp>
      <p:sp>
        <p:nvSpPr>
          <p:cNvPr id="733" name="Google Shape;733;p30"/>
          <p:cNvSpPr/>
          <p:nvPr/>
        </p:nvSpPr>
        <p:spPr>
          <a:xfrm>
            <a:off x="5760720" y="2503170"/>
            <a:ext cx="240030" cy="240030"/>
          </a:xfrm>
          <a:prstGeom prst="ellipse">
            <a:avLst/>
          </a:prstGeom>
          <a:solidFill>
            <a:srgbClr val="1B3A5C"/>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4</a:t>
            </a:r>
            <a:endParaRPr sz="1350" b="0" i="0" u="none" strike="noStrike" cap="none" dirty="0">
              <a:solidFill>
                <a:schemeClr val="dk1"/>
              </a:solidFill>
              <a:latin typeface="Calibri"/>
              <a:ea typeface="Calibri"/>
              <a:cs typeface="Calibri"/>
              <a:sym typeface="Calibri"/>
            </a:endParaRPr>
          </a:p>
        </p:txBody>
      </p:sp>
      <p:sp>
        <p:nvSpPr>
          <p:cNvPr id="734" name="Google Shape;734;p30"/>
          <p:cNvSpPr txBox="1"/>
          <p:nvPr/>
        </p:nvSpPr>
        <p:spPr>
          <a:xfrm>
            <a:off x="6103620" y="2489454"/>
            <a:ext cx="2606040" cy="27696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1A1A1A"/>
                </a:solidFill>
                <a:latin typeface="游ゴシック" panose="020B0400000000000000" pitchFamily="50" charset="-128"/>
                <a:ea typeface="游ゴシック" panose="020B0400000000000000" pitchFamily="50" charset="-128"/>
                <a:sym typeface="Arial"/>
              </a:rPr>
              <a:t>AI拡張性</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MLflow, Vector Search, Model Serving統合済み</a:t>
            </a:r>
            <a:endParaRPr sz="1350" b="0" i="0" u="none" strike="noStrike" cap="none" dirty="0">
              <a:solidFill>
                <a:schemeClr val="dk1"/>
              </a:solidFill>
              <a:latin typeface="Calibri"/>
              <a:ea typeface="Calibri"/>
              <a:cs typeface="Calibri"/>
              <a:sym typeface="Calibri"/>
            </a:endParaRPr>
          </a:p>
        </p:txBody>
      </p:sp>
      <p:sp>
        <p:nvSpPr>
          <p:cNvPr id="735" name="Google Shape;735;p30"/>
          <p:cNvSpPr/>
          <p:nvPr/>
        </p:nvSpPr>
        <p:spPr>
          <a:xfrm>
            <a:off x="5760720" y="2948940"/>
            <a:ext cx="240030" cy="240030"/>
          </a:xfrm>
          <a:prstGeom prst="ellipse">
            <a:avLst/>
          </a:prstGeom>
          <a:solidFill>
            <a:srgbClr val="1B3A5C"/>
          </a:solidFill>
          <a:ln>
            <a:noFill/>
          </a:ln>
          <a:effectLst>
            <a:outerShdw blurRad="40000" dist="23000" dir="5400000" rotWithShape="0">
              <a:srgbClr val="000000">
                <a:alpha val="34901"/>
              </a:srgbClr>
            </a:outerShdw>
          </a:effectLst>
        </p:spPr>
        <p:txBody>
          <a:bodyPr spcFirstLastPara="1" wrap="square" lIns="68550" tIns="13700" rIns="68550" bIns="34275" anchor="ctr" anchorCtr="0">
            <a:noAutofit/>
          </a:bodyPr>
          <a:lstStyle/>
          <a:p>
            <a:pPr marL="0" marR="0" lvl="0" indent="0" algn="ctr" rtl="0">
              <a:lnSpc>
                <a:spcPct val="100000"/>
              </a:lnSpc>
              <a:spcBef>
                <a:spcPts val="0"/>
              </a:spcBef>
              <a:spcAft>
                <a:spcPts val="0"/>
              </a:spcAft>
              <a:buClr>
                <a:srgbClr val="000000"/>
              </a:buClr>
              <a:buSzPts val="750"/>
              <a:buFont typeface="Arial"/>
              <a:buNone/>
            </a:pPr>
            <a:r>
              <a:rPr lang="ja" sz="750" b="1" i="0" u="none" strike="noStrike" cap="none" dirty="0">
                <a:solidFill>
                  <a:srgbClr val="FFFFFF"/>
                </a:solidFill>
                <a:latin typeface="游ゴシック" panose="020B0400000000000000" pitchFamily="50" charset="-128"/>
                <a:ea typeface="游ゴシック" panose="020B0400000000000000" pitchFamily="50" charset="-128"/>
                <a:sym typeface="Arial"/>
              </a:rPr>
              <a:t>5</a:t>
            </a:r>
            <a:endParaRPr sz="1350" b="0" i="0" u="none" strike="noStrike" cap="none" dirty="0">
              <a:solidFill>
                <a:schemeClr val="dk1"/>
              </a:solidFill>
              <a:latin typeface="Calibri"/>
              <a:ea typeface="Calibri"/>
              <a:cs typeface="Calibri"/>
              <a:sym typeface="Calibri"/>
            </a:endParaRPr>
          </a:p>
        </p:txBody>
      </p:sp>
      <p:sp>
        <p:nvSpPr>
          <p:cNvPr id="736" name="Google Shape;736;p30"/>
          <p:cNvSpPr txBox="1"/>
          <p:nvPr/>
        </p:nvSpPr>
        <p:spPr>
          <a:xfrm>
            <a:off x="6103620" y="2935224"/>
            <a:ext cx="2606040" cy="276969"/>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750"/>
              <a:buFont typeface="Arial"/>
              <a:buNone/>
            </a:pPr>
            <a:r>
              <a:rPr lang="ja" sz="750" b="1" i="0" u="none" strike="noStrike" cap="none" dirty="0">
                <a:solidFill>
                  <a:srgbClr val="1A1A1A"/>
                </a:solidFill>
                <a:latin typeface="游ゴシック" panose="020B0400000000000000" pitchFamily="50" charset="-128"/>
                <a:ea typeface="游ゴシック" panose="020B0400000000000000" pitchFamily="50" charset="-128"/>
                <a:sym typeface="Arial"/>
              </a:rPr>
              <a:t>運用人材</a:t>
            </a:r>
            <a:endParaRPr sz="135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2名程度（データエンジニア中心）で運用可能</a:t>
            </a:r>
            <a:endParaRPr sz="1350" b="0" i="0" u="none" strike="noStrike" cap="none" dirty="0">
              <a:solidFill>
                <a:schemeClr val="dk1"/>
              </a:solidFill>
              <a:latin typeface="Calibri"/>
              <a:ea typeface="Calibri"/>
              <a:cs typeface="Calibri"/>
              <a:sym typeface="Calibri"/>
            </a:endParaRPr>
          </a:p>
        </p:txBody>
      </p:sp>
      <p:sp>
        <p:nvSpPr>
          <p:cNvPr id="737" name="Google Shape;737;p30"/>
          <p:cNvSpPr txBox="1"/>
          <p:nvPr/>
        </p:nvSpPr>
        <p:spPr>
          <a:xfrm>
            <a:off x="5692140" y="3497580"/>
            <a:ext cx="3086100" cy="196177"/>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25"/>
              <a:buFont typeface="Arial"/>
              <a:buNone/>
            </a:pPr>
            <a:r>
              <a:rPr lang="ja" sz="825" b="1" i="0" u="none" strike="noStrike" cap="none" dirty="0">
                <a:solidFill>
                  <a:srgbClr val="C0392B"/>
                </a:solidFill>
                <a:latin typeface="游ゴシック" panose="020B0400000000000000" pitchFamily="50" charset="-128"/>
                <a:ea typeface="游ゴシック" panose="020B0400000000000000" pitchFamily="50" charset="-128"/>
                <a:sym typeface="Arial"/>
              </a:rPr>
              <a:t>リスク・注意点</a:t>
            </a:r>
            <a:endParaRPr sz="1350" b="0" i="0" u="none" strike="noStrike" cap="none" dirty="0">
              <a:solidFill>
                <a:schemeClr val="dk1"/>
              </a:solidFill>
              <a:latin typeface="Calibri"/>
              <a:ea typeface="Calibri"/>
              <a:cs typeface="Calibri"/>
              <a:sym typeface="Calibri"/>
            </a:endParaRPr>
          </a:p>
        </p:txBody>
      </p:sp>
      <p:sp>
        <p:nvSpPr>
          <p:cNvPr id="738" name="Google Shape;738;p30"/>
          <p:cNvSpPr txBox="1"/>
          <p:nvPr/>
        </p:nvSpPr>
        <p:spPr>
          <a:xfrm>
            <a:off x="5692140" y="3703321"/>
            <a:ext cx="3086100" cy="484269"/>
          </a:xfrm>
          <a:prstGeom prst="rect">
            <a:avLst/>
          </a:prstGeom>
          <a:noFill/>
          <a:ln>
            <a:noFill/>
          </a:ln>
        </p:spPr>
        <p:txBody>
          <a:bodyPr spcFirstLastPara="1" wrap="square" lIns="68550" tIns="34275" rIns="68550" bIns="34275" anchor="t" anchorCtr="0">
            <a:spAutoFit/>
          </a:bodyPr>
          <a:lstStyle/>
          <a:p>
            <a:pPr marL="128588" marR="0" lvl="0" indent="-128588" algn="l" rtl="0">
              <a:lnSpc>
                <a:spcPct val="100000"/>
              </a:lnSpc>
              <a:spcBef>
                <a:spcPts val="0"/>
              </a:spcBef>
              <a:spcAft>
                <a:spcPts val="0"/>
              </a:spcAft>
              <a:buClr>
                <a:srgbClr val="333333"/>
              </a:buClr>
              <a:buSzPts val="1050"/>
              <a:buFont typeface="Arial"/>
              <a:buChar char="•"/>
            </a:pPr>
            <a:r>
              <a:rPr lang="ja" sz="788" b="0" i="0" u="none" strike="noStrike" cap="none" dirty="0">
                <a:solidFill>
                  <a:srgbClr val="333333"/>
                </a:solidFill>
                <a:latin typeface="游ゴシック" panose="020B0400000000000000" pitchFamily="50" charset="-128"/>
                <a:ea typeface="游ゴシック" panose="020B0400000000000000" pitchFamily="50" charset="-128"/>
                <a:sym typeface="Arial"/>
              </a:rPr>
              <a:t>DBU単価の不透明性 — 見積段階で開示を要求</a:t>
            </a:r>
            <a:endParaRPr sz="788" b="0" i="0" u="none" strike="noStrike" cap="none" dirty="0">
              <a:solidFill>
                <a:schemeClr val="dk1"/>
              </a:solidFill>
              <a:latin typeface="Calibri"/>
              <a:ea typeface="Calibri"/>
              <a:cs typeface="Calibri"/>
              <a:sym typeface="Calibri"/>
            </a:endParaRPr>
          </a:p>
          <a:p>
            <a:pPr marL="128588" marR="0" lvl="0" indent="-128588" algn="l" rtl="0">
              <a:lnSpc>
                <a:spcPct val="100000"/>
              </a:lnSpc>
              <a:spcBef>
                <a:spcPts val="225"/>
              </a:spcBef>
              <a:spcAft>
                <a:spcPts val="0"/>
              </a:spcAft>
              <a:buClr>
                <a:srgbClr val="333333"/>
              </a:buClr>
              <a:buSzPts val="1050"/>
              <a:buFont typeface="Arial"/>
              <a:buChar char="•"/>
            </a:pPr>
            <a:r>
              <a:rPr lang="ja" sz="788" b="0" i="0" u="none" strike="noStrike" cap="none" dirty="0">
                <a:solidFill>
                  <a:srgbClr val="333333"/>
                </a:solidFill>
                <a:latin typeface="游ゴシック" panose="020B0400000000000000" pitchFamily="50" charset="-128"/>
                <a:ea typeface="游ゴシック" panose="020B0400000000000000" pitchFamily="50" charset="-128"/>
                <a:sym typeface="Arial"/>
              </a:rPr>
              <a:t>Markings自動伝播の欠如 — CI/CD自動化で補完</a:t>
            </a:r>
            <a:endParaRPr sz="788" b="0" i="0" u="none" strike="noStrike" cap="none" dirty="0">
              <a:solidFill>
                <a:schemeClr val="dk1"/>
              </a:solidFill>
              <a:latin typeface="Calibri"/>
              <a:ea typeface="Calibri"/>
              <a:cs typeface="Calibri"/>
              <a:sym typeface="Calibri"/>
            </a:endParaRPr>
          </a:p>
          <a:p>
            <a:pPr marL="128588" marR="0" lvl="0" indent="-128588" algn="l" rtl="0">
              <a:lnSpc>
                <a:spcPct val="100000"/>
              </a:lnSpc>
              <a:spcBef>
                <a:spcPts val="225"/>
              </a:spcBef>
              <a:spcAft>
                <a:spcPts val="0"/>
              </a:spcAft>
              <a:buClr>
                <a:srgbClr val="333333"/>
              </a:buClr>
              <a:buSzPts val="1050"/>
              <a:buFont typeface="Arial"/>
              <a:buChar char="•"/>
            </a:pPr>
            <a:r>
              <a:rPr lang="ja" sz="788" b="0" i="0" u="none" strike="noStrike" cap="none" dirty="0">
                <a:solidFill>
                  <a:srgbClr val="333333"/>
                </a:solidFill>
                <a:latin typeface="游ゴシック" panose="020B0400000000000000" pitchFamily="50" charset="-128"/>
                <a:ea typeface="游ゴシック" panose="020B0400000000000000" pitchFamily="50" charset="-128"/>
                <a:sym typeface="Arial"/>
              </a:rPr>
              <a:t>ストレージ膨張 — VACUUMポリシーの設計必須</a:t>
            </a:r>
            <a:endParaRPr sz="788" b="0" i="0" u="none" strike="noStrike" cap="none" dirty="0">
              <a:solidFill>
                <a:schemeClr val="dk1"/>
              </a:solidFill>
              <a:latin typeface="游ゴシック" panose="020B0400000000000000" pitchFamily="50" charset="-128"/>
              <a:ea typeface="游ゴシック" panose="020B0400000000000000" pitchFamily="50" charset="-128"/>
              <a:sym typeface="Arial"/>
            </a:endParaRPr>
          </a:p>
        </p:txBody>
      </p:sp>
      <p:sp>
        <p:nvSpPr>
          <p:cNvPr id="739" name="Google Shape;739;p30"/>
          <p:cNvSpPr txBox="1"/>
          <p:nvPr/>
        </p:nvSpPr>
        <p:spPr>
          <a:xfrm>
            <a:off x="8366760" y="4834890"/>
            <a:ext cx="548640" cy="161552"/>
          </a:xfrm>
          <a:prstGeom prst="rect">
            <a:avLst/>
          </a:prstGeom>
          <a:noFill/>
          <a:ln>
            <a:noFill/>
          </a:ln>
        </p:spPr>
        <p:txBody>
          <a:bodyPr spcFirstLastPara="1" wrap="square" lIns="68550" tIns="34275" rIns="68550"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ja" sz="600" b="0" i="0" u="none" strike="noStrike" cap="none" dirty="0">
                <a:solidFill>
                  <a:srgbClr val="666666"/>
                </a:solidFill>
                <a:latin typeface="游ゴシック" panose="020B0400000000000000" pitchFamily="50" charset="-128"/>
                <a:ea typeface="游ゴシック" panose="020B0400000000000000" pitchFamily="50" charset="-128"/>
                <a:sym typeface="Arial"/>
              </a:rPr>
              <a:t>13</a:t>
            </a:r>
            <a:endParaRPr sz="1350" b="0" i="0" u="none" strike="noStrike" cap="none" dirty="0">
              <a:solidFill>
                <a:schemeClr val="dk1"/>
              </a:solidFill>
              <a:latin typeface="Calibri"/>
              <a:ea typeface="Calibri"/>
              <a:cs typeface="Calibri"/>
              <a:sym typeface="Calibri"/>
            </a:endParaRPr>
          </a:p>
        </p:txBody>
      </p:sp>
      <p:sp>
        <p:nvSpPr>
          <p:cNvPr id="740" name="Google Shape;740;p30"/>
          <p:cNvSpPr txBox="1"/>
          <p:nvPr/>
        </p:nvSpPr>
        <p:spPr>
          <a:xfrm>
            <a:off x="7874000" y="177800"/>
            <a:ext cx="9144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ja"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rPr>
              <a:t>別紙C-1</a:t>
            </a:r>
            <a:endParaRPr sz="900" b="1" i="0" u="none" strike="noStrike" cap="none" dirty="0">
              <a:solidFill>
                <a:srgbClr val="1565C0"/>
              </a:solidFill>
              <a:latin typeface="游ゴシック" panose="020B0400000000000000" pitchFamily="50" charset="-128"/>
              <a:ea typeface="游ゴシック" panose="020B0400000000000000" pitchFamily="50" charset="-128"/>
              <a:cs typeface="Century Gothic"/>
              <a:sym typeface="Century Gothic"/>
            </a:endParaRPr>
          </a:p>
        </p:txBody>
      </p:sp>
      <p:cxnSp>
        <p:nvCxnSpPr>
          <p:cNvPr id="741" name="Google Shape;741;p30"/>
          <p:cNvCxnSpPr/>
          <p:nvPr/>
        </p:nvCxnSpPr>
        <p:spPr>
          <a:xfrm>
            <a:off x="0" y="4902200"/>
            <a:ext cx="9144000" cy="0"/>
          </a:xfrm>
          <a:prstGeom prst="straightConnector1">
            <a:avLst/>
          </a:prstGeom>
          <a:noFill/>
          <a:ln w="9525" cap="flat" cmpd="sng">
            <a:solidFill>
              <a:srgbClr val="CCCCCC"/>
            </a:solidFill>
            <a:prstDash val="solid"/>
            <a:miter lim="800000"/>
            <a:headEnd type="none" w="sm" len="sm"/>
            <a:tailEnd type="none" w="sm" len="sm"/>
          </a:ln>
        </p:spPr>
      </p:cxnSp>
      <p:sp>
        <p:nvSpPr>
          <p:cNvPr id="742" name="Google Shape;742;p30"/>
          <p:cNvSpPr txBox="1"/>
          <p:nvPr/>
        </p:nvSpPr>
        <p:spPr>
          <a:xfrm>
            <a:off x="355600" y="4953000"/>
            <a:ext cx="635000" cy="215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ACES</a:t>
            </a:r>
            <a:endParaRPr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endParaRPr>
          </a:p>
        </p:txBody>
      </p:sp>
      <p:sp>
        <p:nvSpPr>
          <p:cNvPr id="743" name="Google Shape;743;p30"/>
          <p:cNvSpPr txBox="1"/>
          <p:nvPr/>
        </p:nvSpPr>
        <p:spPr>
          <a:xfrm>
            <a:off x="7112000" y="4953000"/>
            <a:ext cx="1676400" cy="215403"/>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800"/>
              <a:buFont typeface="Arial"/>
              <a:buNone/>
            </a:pPr>
            <a:r>
              <a:rPr lang="ja" sz="800" b="0" i="0" u="none" strike="noStrike" cap="none" dirty="0">
                <a:solidFill>
                  <a:srgbClr val="888888"/>
                </a:solidFill>
                <a:latin typeface="游ゴシック" panose="020B0400000000000000" pitchFamily="50" charset="-128"/>
                <a:ea typeface="游ゴシック" panose="020B0400000000000000" pitchFamily="50" charset="-128"/>
                <a:cs typeface="Century Gothic"/>
                <a:sym typeface="Century Gothic"/>
              </a:rPr>
              <a:t>CONFIDENTIAL | 別紙C-1</a:t>
            </a:r>
            <a:endParaRPr sz="1400" b="0" i="0" u="none" strike="noStrike" cap="none" dirty="0">
              <a:solidFill>
                <a:srgbClr val="000000"/>
              </a:solidFill>
              <a:latin typeface="游ゴシック" panose="020B0400000000000000" pitchFamily="50" charset="-128"/>
              <a:ea typeface="游ゴシック" panose="020B0400000000000000" pitchFamily="50" charset="-128"/>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4E82AA4-86BF-4D40-BC02-138B69429CBF}">
  <we:reference id="wa200010001" version="1.0.0.1" store="en-US" storeType="OMEX"/>
  <we:alternateReferences>
    <we:reference id="wa200010001" version="1.0.0.1" store="en-US" storeType="OMEX"/>
  </we:alternateReferences>
  <we:properties>
    <we:property name="claude.fileId" value="&quot;49068d5e-d440-4f69-af3f-12f385180df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499</TotalTime>
  <Words>8427</Words>
  <Application>Microsoft Office PowerPoint</Application>
  <PresentationFormat>画面に合わせる (16:9)</PresentationFormat>
  <Paragraphs>1209</Paragraphs>
  <Slides>30</Slides>
  <Notes>30</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30</vt:i4>
      </vt:variant>
    </vt:vector>
  </HeadingPairs>
  <TitlesOfParts>
    <vt:vector size="36" baseType="lpstr">
      <vt:lpstr>游ゴシック</vt:lpstr>
      <vt:lpstr>Arial</vt:lpstr>
      <vt:lpstr>Century Gothic</vt:lpstr>
      <vt:lpstr>Calibri</vt:lpstr>
      <vt:lpstr>Office Theme</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yoshihisa_kawada</cp:lastModifiedBy>
  <cp:revision>85</cp:revision>
  <dcterms:modified xsi:type="dcterms:W3CDTF">2026-04-07T11:00:25Z</dcterms:modified>
</cp:coreProperties>
</file>